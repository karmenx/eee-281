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handoutMasterIdLst>
    <p:handoutMasterId r:id="rId50"/>
  </p:handoutMasterIdLst>
  <p:sldIdLst>
    <p:sldId id="256" r:id="rId2"/>
    <p:sldId id="291" r:id="rId3"/>
    <p:sldId id="296" r:id="rId4"/>
    <p:sldId id="338" r:id="rId5"/>
    <p:sldId id="339" r:id="rId6"/>
    <p:sldId id="318" r:id="rId7"/>
    <p:sldId id="342" r:id="rId8"/>
    <p:sldId id="343" r:id="rId9"/>
    <p:sldId id="344" r:id="rId10"/>
    <p:sldId id="347" r:id="rId11"/>
    <p:sldId id="332" r:id="rId12"/>
    <p:sldId id="348" r:id="rId13"/>
    <p:sldId id="349" r:id="rId14"/>
    <p:sldId id="366" r:id="rId15"/>
    <p:sldId id="333" r:id="rId16"/>
    <p:sldId id="354" r:id="rId17"/>
    <p:sldId id="353" r:id="rId18"/>
    <p:sldId id="352" r:id="rId19"/>
    <p:sldId id="351" r:id="rId20"/>
    <p:sldId id="350" r:id="rId21"/>
    <p:sldId id="319" r:id="rId22"/>
    <p:sldId id="356" r:id="rId23"/>
    <p:sldId id="355" r:id="rId24"/>
    <p:sldId id="334" r:id="rId25"/>
    <p:sldId id="364" r:id="rId26"/>
    <p:sldId id="365" r:id="rId27"/>
    <p:sldId id="297" r:id="rId28"/>
    <p:sldId id="321" r:id="rId29"/>
    <p:sldId id="320" r:id="rId30"/>
    <p:sldId id="329" r:id="rId31"/>
    <p:sldId id="328" r:id="rId32"/>
    <p:sldId id="322" r:id="rId33"/>
    <p:sldId id="323" r:id="rId34"/>
    <p:sldId id="335" r:id="rId35"/>
    <p:sldId id="358" r:id="rId36"/>
    <p:sldId id="357" r:id="rId37"/>
    <p:sldId id="324" r:id="rId38"/>
    <p:sldId id="359" r:id="rId39"/>
    <p:sldId id="360" r:id="rId40"/>
    <p:sldId id="361" r:id="rId41"/>
    <p:sldId id="325" r:id="rId42"/>
    <p:sldId id="331" r:id="rId43"/>
    <p:sldId id="330" r:id="rId44"/>
    <p:sldId id="336" r:id="rId45"/>
    <p:sldId id="337" r:id="rId46"/>
    <p:sldId id="326" r:id="rId47"/>
    <p:sldId id="362" r:id="rId48"/>
  </p:sldIdLst>
  <p:sldSz cx="9144000" cy="6858000" type="screen4x3"/>
  <p:notesSz cx="7099300" cy="102346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5">
          <p15:clr>
            <a:srgbClr val="A4A3A4"/>
          </p15:clr>
        </p15:guide>
        <p15:guide id="2" pos="2237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32" autoAdjust="0"/>
    <p:restoredTop sz="94660"/>
  </p:normalViewPr>
  <p:slideViewPr>
    <p:cSldViewPr>
      <p:cViewPr varScale="1">
        <p:scale>
          <a:sx n="116" d="100"/>
          <a:sy n="116" d="100"/>
        </p:scale>
        <p:origin x="1380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403"/>
    </p:cViewPr>
  </p:sorterViewPr>
  <p:notesViewPr>
    <p:cSldViewPr>
      <p:cViewPr varScale="1">
        <p:scale>
          <a:sx n="56" d="100"/>
          <a:sy n="56" d="100"/>
        </p:scale>
        <p:origin x="-1733" y="-101"/>
      </p:cViewPr>
      <p:guideLst>
        <p:guide orient="horz" pos="3225"/>
        <p:guide pos="2237"/>
      </p:guideLst>
    </p:cSldViewPr>
  </p:notesViewPr>
  <p:gridSpacing cx="38405" cy="384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4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5" Type="http://schemas.openxmlformats.org/officeDocument/2006/relationships/image" Target="../media/image17.wmf"/><Relationship Id="rId4" Type="http://schemas.openxmlformats.org/officeDocument/2006/relationships/image" Target="../media/image16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4" y="4"/>
            <a:ext cx="3076363" cy="511730"/>
          </a:xfrm>
          <a:prstGeom prst="rect">
            <a:avLst/>
          </a:prstGeom>
        </p:spPr>
        <p:txBody>
          <a:bodyPr vert="horz" lIns="100912" tIns="50454" rIns="100912" bIns="50454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296" y="4"/>
            <a:ext cx="3076363" cy="511730"/>
          </a:xfrm>
          <a:prstGeom prst="rect">
            <a:avLst/>
          </a:prstGeom>
        </p:spPr>
        <p:txBody>
          <a:bodyPr vert="horz" lIns="100912" tIns="50454" rIns="100912" bIns="50454" rtlCol="0"/>
          <a:lstStyle>
            <a:lvl1pPr algn="r">
              <a:defRPr sz="1300"/>
            </a:lvl1pPr>
          </a:lstStyle>
          <a:p>
            <a:fld id="{88317F73-780A-44BC-8CEB-6A904FAD50C3}" type="datetimeFigureOut">
              <a:rPr lang="en-US" smtClean="0"/>
              <a:pPr/>
              <a:t>10/4/2023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4" y="9721107"/>
            <a:ext cx="3076363" cy="511730"/>
          </a:xfrm>
          <a:prstGeom prst="rect">
            <a:avLst/>
          </a:prstGeom>
        </p:spPr>
        <p:txBody>
          <a:bodyPr vert="horz" lIns="100912" tIns="50454" rIns="100912" bIns="50454" rtlCol="0" anchor="b"/>
          <a:lstStyle>
            <a:lvl1pPr algn="l">
              <a:defRPr sz="1300"/>
            </a:lvl1pPr>
          </a:lstStyle>
          <a:p>
            <a:r>
              <a:rPr lang="en-US" dirty="0" smtClean="0"/>
              <a:t>Ali Muhtaroglu EEE-201 Fall 2009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296" y="9721107"/>
            <a:ext cx="3076363" cy="511730"/>
          </a:xfrm>
          <a:prstGeom prst="rect">
            <a:avLst/>
          </a:prstGeom>
        </p:spPr>
        <p:txBody>
          <a:bodyPr vert="horz" lIns="100912" tIns="50454" rIns="100912" bIns="50454" rtlCol="0" anchor="b"/>
          <a:lstStyle>
            <a:lvl1pPr algn="r">
              <a:defRPr sz="1300"/>
            </a:lvl1pPr>
          </a:lstStyle>
          <a:p>
            <a:fld id="{14CCCDEF-E892-426B-951E-3DF22639A05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5562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4" y="4"/>
            <a:ext cx="3076363" cy="511730"/>
          </a:xfrm>
          <a:prstGeom prst="rect">
            <a:avLst/>
          </a:prstGeom>
        </p:spPr>
        <p:txBody>
          <a:bodyPr vert="horz" lIns="100912" tIns="50454" rIns="100912" bIns="50454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6" y="4"/>
            <a:ext cx="3076363" cy="511730"/>
          </a:xfrm>
          <a:prstGeom prst="rect">
            <a:avLst/>
          </a:prstGeom>
        </p:spPr>
        <p:txBody>
          <a:bodyPr vert="horz" lIns="100912" tIns="50454" rIns="100912" bIns="50454" rtlCol="0"/>
          <a:lstStyle>
            <a:lvl1pPr algn="r">
              <a:defRPr sz="1300"/>
            </a:lvl1pPr>
          </a:lstStyle>
          <a:p>
            <a:fld id="{FEE8148B-16E5-4DB6-B21A-06F7282DA7B2}" type="datetimeFigureOut">
              <a:rPr lang="en-US" smtClean="0"/>
              <a:pPr/>
              <a:t>10/4/2023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6763"/>
            <a:ext cx="5118100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00912" tIns="50454" rIns="100912" bIns="5045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1" y="4861445"/>
            <a:ext cx="5679440" cy="4605577"/>
          </a:xfrm>
          <a:prstGeom prst="rect">
            <a:avLst/>
          </a:prstGeom>
        </p:spPr>
        <p:txBody>
          <a:bodyPr vert="horz" lIns="100912" tIns="50454" rIns="100912" bIns="5045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4" y="9721107"/>
            <a:ext cx="3076363" cy="511730"/>
          </a:xfrm>
          <a:prstGeom prst="rect">
            <a:avLst/>
          </a:prstGeom>
        </p:spPr>
        <p:txBody>
          <a:bodyPr vert="horz" lIns="100912" tIns="50454" rIns="100912" bIns="50454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6" y="9721107"/>
            <a:ext cx="3076363" cy="511730"/>
          </a:xfrm>
          <a:prstGeom prst="rect">
            <a:avLst/>
          </a:prstGeom>
        </p:spPr>
        <p:txBody>
          <a:bodyPr vert="horz" lIns="100912" tIns="50454" rIns="100912" bIns="50454" rtlCol="0" anchor="b"/>
          <a:lstStyle>
            <a:lvl1pPr algn="r">
              <a:defRPr sz="1300"/>
            </a:lvl1pPr>
          </a:lstStyle>
          <a:p>
            <a:fld id="{E15A28F2-8CAD-4F56-A39E-6A4BC478584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60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5A28F2-8CAD-4F56-A39E-6A4BC478584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071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085AD2-EAF9-44D4-9DC0-A904DACFF846}" type="datetimeFigureOut">
              <a:rPr lang="en-US"/>
              <a:pPr>
                <a:defRPr/>
              </a:pPr>
              <a:t>10/4/2023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03159B-6DED-40ED-899A-53891BB365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8082" y="0"/>
            <a:ext cx="1615918" cy="7022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8082" y="0"/>
            <a:ext cx="1615918" cy="702245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71111D4-87A2-4FF9-BF16-4D005677BA2C}" type="datetimeFigureOut">
              <a:rPr lang="en-US" smtClean="0"/>
              <a:pPr>
                <a:defRPr/>
              </a:pPr>
              <a:t>10/4/2023</a:t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6667500" y="6454776"/>
            <a:ext cx="2438400" cy="365125"/>
          </a:xfrm>
        </p:spPr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220A69-C4DD-4109-A3ED-37F087A1F132}" type="datetimeFigureOut">
              <a:rPr lang="en-US"/>
              <a:pPr>
                <a:defRPr/>
              </a:pPr>
              <a:t>10/4/2023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34C74F-BF3E-4F24-8B3C-16FB0EDD9D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2164C4-958C-45BC-BD54-965BB7070DEB}" type="datetimeFigureOut">
              <a:rPr lang="en-US"/>
              <a:pPr>
                <a:defRPr/>
              </a:pPr>
              <a:t>10/4/2023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9941DC-0B2E-48E2-A6F0-9636F82086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2E9F9-703D-4B2D-9EFE-5A284F223768}" type="datetimeFigureOut">
              <a:rPr lang="en-US"/>
              <a:pPr>
                <a:defRPr/>
              </a:pPr>
              <a:t>10/4/2023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915964-DF3F-4834-BE59-592FCDF52C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66C235-395A-448E-84C7-3296EFFFA653}" type="datetimeFigureOut">
              <a:rPr lang="en-US"/>
              <a:pPr>
                <a:defRPr/>
              </a:pPr>
              <a:t>10/4/2023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A6C548-C3D6-438F-AF28-F918C44420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2A89FF-37F9-41AE-A1AE-9FE9D4F65210}" type="datetimeFigureOut">
              <a:rPr lang="en-US"/>
              <a:pPr>
                <a:defRPr/>
              </a:pPr>
              <a:t>10/4/2023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D3E618-5168-46D8-9093-4FFD328E4C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C32A4D-DBA8-4AC9-A112-BADF4813838F}" type="datetimeFigureOut">
              <a:rPr lang="en-US"/>
              <a:pPr>
                <a:defRPr/>
              </a:pPr>
              <a:t>10/4/2023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5CE29A-235E-4102-A7BB-AC1422769E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8830A5-9CDD-4A01-AE6C-B7F774C547D9}" type="datetimeFigureOut">
              <a:rPr lang="en-US"/>
              <a:pPr>
                <a:defRPr/>
              </a:pPr>
              <a:t>10/4/2023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5B51D7-DCE0-49C4-9B0B-0EC664849A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180D80-6114-402D-A1C1-7E7B8DEED232}" type="datetimeFigureOut">
              <a:rPr lang="en-US"/>
              <a:pPr>
                <a:defRPr/>
              </a:pPr>
              <a:t>10/4/2023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6750E7-EF53-4816-BA7D-520B91DC7E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AFF668-FF27-4A48-BBBC-72969536306B}" type="datetimeFigureOut">
              <a:rPr lang="en-US"/>
              <a:pPr>
                <a:defRPr/>
              </a:pPr>
              <a:t>10/4/2023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E57CBA-45D2-49F3-AE4F-4082575BC8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1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571111D4-87A2-4FF9-BF16-4D005677BA2C}" type="datetimeFigureOut">
              <a:rPr lang="en-US"/>
              <a:pPr>
                <a:defRPr/>
              </a:pPr>
              <a:t>10/4/2023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A957CEED-90C7-4FD0-AB8C-14085BB9151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5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5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oleObject" Target="../embeddings/oleObject4.bin"/><Relationship Id="rId7" Type="http://schemas.openxmlformats.org/officeDocument/2006/relationships/image" Target="../media/image7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5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9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9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1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1.wm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2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3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13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4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12" Type="http://schemas.openxmlformats.org/officeDocument/2006/relationships/image" Target="../media/image1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4.wmf"/><Relationship Id="rId11" Type="http://schemas.openxmlformats.org/officeDocument/2006/relationships/oleObject" Target="../embeddings/oleObject20.bin"/><Relationship Id="rId5" Type="http://schemas.openxmlformats.org/officeDocument/2006/relationships/oleObject" Target="../embeddings/oleObject17.bin"/><Relationship Id="rId10" Type="http://schemas.openxmlformats.org/officeDocument/2006/relationships/image" Target="../media/image16.wmf"/><Relationship Id="rId4" Type="http://schemas.openxmlformats.org/officeDocument/2006/relationships/image" Target="../media/image13.wmf"/><Relationship Id="rId9" Type="http://schemas.openxmlformats.org/officeDocument/2006/relationships/oleObject" Target="../embeddings/oleObject19.bin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18.wmf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19.w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20.w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22.wmf"/><Relationship Id="rId5" Type="http://schemas.openxmlformats.org/officeDocument/2006/relationships/image" Target="../media/image21.wmf"/><Relationship Id="rId4" Type="http://schemas.openxmlformats.org/officeDocument/2006/relationships/image" Target="../media/image20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/>
          <a:lstStyle/>
          <a:p>
            <a:r>
              <a:rPr lang="tr-TR" sz="3200" dirty="0" smtClean="0"/>
              <a:t>Electrical Circuits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>EEE-2</a:t>
            </a:r>
            <a:r>
              <a:rPr lang="tr-TR" sz="3200" dirty="0" smtClean="0"/>
              <a:t>8</a:t>
            </a:r>
            <a:r>
              <a:rPr lang="en-US" sz="3200" dirty="0" smtClean="0"/>
              <a:t>1 Lecture Notes</a:t>
            </a:r>
          </a:p>
        </p:txBody>
      </p:sp>
      <p:sp>
        <p:nvSpPr>
          <p:cNvPr id="4099" name="Subtitle 2"/>
          <p:cNvSpPr>
            <a:spLocks noGrp="1"/>
          </p:cNvSpPr>
          <p:nvPr>
            <p:ph type="subTitle" idx="1"/>
          </p:nvPr>
        </p:nvSpPr>
        <p:spPr>
          <a:xfrm>
            <a:off x="1371600" y="2590800"/>
            <a:ext cx="6400800" cy="2209800"/>
          </a:xfrm>
        </p:spPr>
        <p:txBody>
          <a:bodyPr/>
          <a:lstStyle/>
          <a:p>
            <a:r>
              <a:rPr lang="tr-TR" sz="2000" dirty="0">
                <a:solidFill>
                  <a:schemeClr val="tx1"/>
                </a:solidFill>
              </a:rPr>
              <a:t>Dr. </a:t>
            </a:r>
            <a:r>
              <a:rPr lang="en-US" sz="2000" dirty="0" smtClean="0">
                <a:solidFill>
                  <a:schemeClr val="tx1"/>
                </a:solidFill>
              </a:rPr>
              <a:t>Özçel </a:t>
            </a:r>
            <a:r>
              <a:rPr lang="en-US" sz="2000" dirty="0" err="1" smtClean="0">
                <a:solidFill>
                  <a:schemeClr val="tx1"/>
                </a:solidFill>
              </a:rPr>
              <a:t>Cangül</a:t>
            </a:r>
            <a:endParaRPr lang="tr-TR" sz="2000" dirty="0">
              <a:solidFill>
                <a:schemeClr val="tx1"/>
              </a:solidFill>
            </a:endParaRPr>
          </a:p>
          <a:p>
            <a:r>
              <a:rPr lang="tr-TR" sz="2000" dirty="0">
                <a:solidFill>
                  <a:schemeClr val="tx1"/>
                </a:solidFill>
              </a:rPr>
              <a:t>Lecture Notes by </a:t>
            </a:r>
            <a:r>
              <a:rPr lang="en-US" sz="2000" dirty="0">
                <a:solidFill>
                  <a:schemeClr val="tx1"/>
                </a:solidFill>
              </a:rPr>
              <a:t>Dr. Ali </a:t>
            </a:r>
            <a:r>
              <a:rPr lang="en-US" sz="2000" dirty="0" err="1">
                <a:solidFill>
                  <a:schemeClr val="tx1"/>
                </a:solidFill>
              </a:rPr>
              <a:t>Muhtaroğlu</a:t>
            </a:r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 smtClean="0">
                <a:solidFill>
                  <a:schemeClr val="tx1"/>
                </a:solidFill>
              </a:rPr>
              <a:t>Fall 2023</a:t>
            </a:r>
          </a:p>
          <a:p>
            <a:r>
              <a:rPr lang="en-US" sz="2000" dirty="0" smtClean="0">
                <a:solidFill>
                  <a:schemeClr val="tx1"/>
                </a:solidFill>
              </a:rPr>
              <a:t>METU Northern Cyprus Campus</a:t>
            </a:r>
          </a:p>
        </p:txBody>
      </p:sp>
      <p:sp>
        <p:nvSpPr>
          <p:cNvPr id="4100" name="TextBox 3"/>
          <p:cNvSpPr txBox="1">
            <a:spLocks noChangeArrowheads="1"/>
          </p:cNvSpPr>
          <p:nvPr/>
        </p:nvSpPr>
        <p:spPr bwMode="auto">
          <a:xfrm>
            <a:off x="1691625" y="4734461"/>
            <a:ext cx="6183206" cy="13542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600" u="sng" dirty="0" smtClean="0">
                <a:latin typeface="Calibri" pitchFamily="34" charset="0"/>
              </a:rPr>
              <a:t>References:</a:t>
            </a:r>
          </a:p>
          <a:p>
            <a:r>
              <a:rPr lang="en-US" sz="1600" dirty="0" smtClean="0">
                <a:latin typeface="+mj-lt"/>
              </a:rPr>
              <a:t>Electric Circuits 10</a:t>
            </a:r>
            <a:r>
              <a:rPr lang="en-US" sz="1600" baseline="30000" dirty="0" smtClean="0">
                <a:latin typeface="+mj-lt"/>
              </a:rPr>
              <a:t>th</a:t>
            </a:r>
            <a:r>
              <a:rPr lang="en-US" sz="1600" dirty="0" smtClean="0">
                <a:latin typeface="+mj-lt"/>
              </a:rPr>
              <a:t> Ed. by </a:t>
            </a:r>
            <a:r>
              <a:rPr lang="tr-TR" sz="1600" dirty="0" smtClean="0">
                <a:latin typeface="+mj-lt"/>
              </a:rPr>
              <a:t>Nilsson &amp; Riedel</a:t>
            </a:r>
            <a:endParaRPr lang="en-US" sz="1600" dirty="0" smtClean="0">
              <a:latin typeface="+mj-lt"/>
            </a:endParaRPr>
          </a:p>
          <a:p>
            <a:r>
              <a:rPr lang="en-US" sz="1600" dirty="0" smtClean="0">
                <a:latin typeface="+mj-lt"/>
              </a:rPr>
              <a:t>Electrical Circuit Analysis 3</a:t>
            </a:r>
            <a:r>
              <a:rPr lang="en-US" sz="1600" baseline="30000" dirty="0" smtClean="0">
                <a:latin typeface="+mj-lt"/>
              </a:rPr>
              <a:t>rd</a:t>
            </a:r>
            <a:r>
              <a:rPr lang="en-US" sz="1600" dirty="0" smtClean="0">
                <a:latin typeface="+mj-lt"/>
              </a:rPr>
              <a:t> Ed. </a:t>
            </a:r>
            <a:r>
              <a:rPr lang="en-US" sz="1600" i="1" dirty="0" smtClean="0">
                <a:latin typeface="+mj-lt"/>
              </a:rPr>
              <a:t>by Johnson, Johnson, </a:t>
            </a:r>
            <a:r>
              <a:rPr lang="en-US" sz="1600" i="1" dirty="0" err="1" smtClean="0">
                <a:latin typeface="+mj-lt"/>
              </a:rPr>
              <a:t>Hilburn</a:t>
            </a:r>
            <a:r>
              <a:rPr lang="en-US" sz="1600" i="1" dirty="0" smtClean="0">
                <a:latin typeface="+mj-lt"/>
              </a:rPr>
              <a:t>, and Scott</a:t>
            </a:r>
          </a:p>
          <a:p>
            <a:r>
              <a:rPr lang="en-US" sz="1600" dirty="0" smtClean="0">
                <a:latin typeface="+mj-lt"/>
              </a:rPr>
              <a:t>Engineering Circuit Analysis 7</a:t>
            </a:r>
            <a:r>
              <a:rPr lang="en-US" sz="1600" baseline="30000" dirty="0" smtClean="0">
                <a:latin typeface="+mj-lt"/>
              </a:rPr>
              <a:t>th</a:t>
            </a:r>
            <a:r>
              <a:rPr lang="en-US" sz="1600" dirty="0" smtClean="0">
                <a:latin typeface="+mj-lt"/>
              </a:rPr>
              <a:t> Ed. </a:t>
            </a:r>
            <a:r>
              <a:rPr lang="en-US" sz="1600" i="1" dirty="0" smtClean="0">
                <a:latin typeface="+mj-lt"/>
              </a:rPr>
              <a:t>by </a:t>
            </a:r>
            <a:r>
              <a:rPr lang="en-US" sz="1600" i="1" dirty="0" err="1" smtClean="0">
                <a:latin typeface="+mj-lt"/>
              </a:rPr>
              <a:t>Hayt</a:t>
            </a:r>
            <a:r>
              <a:rPr lang="en-US" sz="1600" i="1" dirty="0" smtClean="0">
                <a:latin typeface="+mj-lt"/>
              </a:rPr>
              <a:t>, </a:t>
            </a:r>
            <a:r>
              <a:rPr lang="en-US" sz="1600" i="1" dirty="0" err="1" smtClean="0">
                <a:latin typeface="+mj-lt"/>
              </a:rPr>
              <a:t>Kemmerly</a:t>
            </a:r>
            <a:r>
              <a:rPr lang="en-US" sz="1600" i="1" dirty="0" smtClean="0">
                <a:latin typeface="+mj-lt"/>
              </a:rPr>
              <a:t>, and Durbin</a:t>
            </a:r>
          </a:p>
          <a:p>
            <a:r>
              <a:rPr lang="en-US" sz="1600" dirty="0" smtClean="0">
                <a:latin typeface="+mj-lt"/>
              </a:rPr>
              <a:t>Fundamentals of Electric Circuits </a:t>
            </a:r>
            <a:r>
              <a:rPr lang="en-US" sz="1600" i="1" dirty="0" smtClean="0">
                <a:latin typeface="+mj-lt"/>
              </a:rPr>
              <a:t>3</a:t>
            </a:r>
            <a:r>
              <a:rPr lang="en-US" sz="1600" baseline="30000" dirty="0" smtClean="0">
                <a:latin typeface="+mj-lt"/>
              </a:rPr>
              <a:t>rd</a:t>
            </a:r>
            <a:r>
              <a:rPr lang="en-US" sz="1600" dirty="0" smtClean="0">
                <a:latin typeface="+mj-lt"/>
              </a:rPr>
              <a:t> Ed. </a:t>
            </a:r>
            <a:r>
              <a:rPr lang="en-US" sz="1600" i="1" dirty="0" smtClean="0">
                <a:latin typeface="+mj-lt"/>
              </a:rPr>
              <a:t>by Alexander, and </a:t>
            </a:r>
            <a:r>
              <a:rPr lang="en-US" sz="1600" i="1" dirty="0" err="1" smtClean="0">
                <a:latin typeface="+mj-lt"/>
              </a:rPr>
              <a:t>Sadiku</a:t>
            </a:r>
            <a:endParaRPr lang="en-US" sz="1600" i="1" dirty="0" smtClean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419100" y="1790700"/>
            <a:ext cx="8229600" cy="2819400"/>
          </a:xfrm>
        </p:spPr>
        <p:txBody>
          <a:bodyPr/>
          <a:lstStyle/>
          <a:p>
            <a:r>
              <a:rPr lang="en-US" sz="3600" dirty="0" smtClean="0"/>
              <a:t>Introduction to Electrical Circuits</a:t>
            </a:r>
            <a:br>
              <a:rPr lang="en-US" sz="3600" dirty="0" smtClean="0"/>
            </a:b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i="1" dirty="0" smtClean="0"/>
              <a:t>Week </a:t>
            </a:r>
            <a:r>
              <a:rPr lang="en-US" sz="3600" i="1" dirty="0" smtClean="0"/>
              <a:t>1</a:t>
            </a:r>
            <a:r>
              <a:rPr lang="tr-TR" sz="3600" i="1" dirty="0" smtClean="0"/>
              <a:t/>
            </a:r>
            <a:br>
              <a:rPr lang="tr-TR" sz="3600" i="1" dirty="0" smtClean="0"/>
            </a:br>
            <a:r>
              <a:rPr lang="tr-TR" sz="3600" i="1" dirty="0"/>
              <a:t/>
            </a:r>
            <a:br>
              <a:rPr lang="tr-TR" sz="3600" i="1" dirty="0"/>
            </a:br>
            <a:r>
              <a:rPr lang="tr-TR" sz="3200" i="1" dirty="0" smtClean="0">
                <a:solidFill>
                  <a:srgbClr val="0000FF"/>
                </a:solidFill>
              </a:rPr>
              <a:t>Reading: </a:t>
            </a:r>
            <a:r>
              <a:rPr lang="tr-TR" sz="3200" i="1" dirty="0" err="1" smtClean="0">
                <a:solidFill>
                  <a:srgbClr val="0000FF"/>
                </a:solidFill>
              </a:rPr>
              <a:t>Nilsson</a:t>
            </a:r>
            <a:r>
              <a:rPr lang="tr-TR" sz="3200" i="1" dirty="0" smtClean="0">
                <a:solidFill>
                  <a:srgbClr val="0000FF"/>
                </a:solidFill>
              </a:rPr>
              <a:t> &amp; </a:t>
            </a:r>
            <a:r>
              <a:rPr lang="tr-TR" sz="3200" i="1" dirty="0" err="1" smtClean="0">
                <a:solidFill>
                  <a:srgbClr val="0000FF"/>
                </a:solidFill>
              </a:rPr>
              <a:t>Riedel</a:t>
            </a:r>
            <a:r>
              <a:rPr lang="tr-TR" sz="3200" i="1" dirty="0" smtClean="0">
                <a:solidFill>
                  <a:srgbClr val="0000FF"/>
                </a:solidFill>
              </a:rPr>
              <a:t> </a:t>
            </a:r>
            <a:r>
              <a:rPr lang="tr-TR" sz="3200" i="1" dirty="0" err="1" smtClean="0">
                <a:solidFill>
                  <a:srgbClr val="0000FF"/>
                </a:solidFill>
              </a:rPr>
              <a:t>Chapter</a:t>
            </a:r>
            <a:r>
              <a:rPr lang="tr-TR" sz="3200" i="1" dirty="0" smtClean="0">
                <a:solidFill>
                  <a:srgbClr val="0000FF"/>
                </a:solidFill>
              </a:rPr>
              <a:t> 1</a:t>
            </a:r>
            <a:endParaRPr lang="en-US" sz="3600" i="1" dirty="0" smtClean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457200" y="122237"/>
            <a:ext cx="8229600" cy="563563"/>
          </a:xfrm>
        </p:spPr>
        <p:txBody>
          <a:bodyPr/>
          <a:lstStyle/>
          <a:p>
            <a:r>
              <a:rPr lang="en-US" sz="2800" dirty="0" smtClean="0"/>
              <a:t>What is an Electrical Circuit ?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533400" y="838201"/>
            <a:ext cx="8229600" cy="5753099"/>
          </a:xfrm>
        </p:spPr>
        <p:txBody>
          <a:bodyPr/>
          <a:lstStyle/>
          <a:p>
            <a:pPr algn="just"/>
            <a:r>
              <a:rPr lang="en-US" sz="2400" dirty="0" smtClean="0"/>
              <a:t>A mathematical model for how physical circuits operate to transfer energy from one point to another</a:t>
            </a:r>
          </a:p>
          <a:p>
            <a:pPr algn="just"/>
            <a:endParaRPr lang="en-US" sz="2400" dirty="0" smtClean="0"/>
          </a:p>
          <a:p>
            <a:pPr lvl="1"/>
            <a:endParaRPr lang="en-US" sz="2000" dirty="0" smtClean="0"/>
          </a:p>
          <a:p>
            <a:pPr>
              <a:buNone/>
            </a:pPr>
            <a:endParaRPr lang="en-US" sz="3600" dirty="0" smtClean="0"/>
          </a:p>
          <a:p>
            <a:endParaRPr lang="en-US" sz="2000" dirty="0" smtClean="0"/>
          </a:p>
          <a:p>
            <a:pPr lvl="1">
              <a:buFont typeface="Arial" charset="0"/>
              <a:buNone/>
            </a:pPr>
            <a:endParaRPr lang="en-US" sz="2000" dirty="0" smtClean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457200" y="122237"/>
            <a:ext cx="8229600" cy="563563"/>
          </a:xfrm>
        </p:spPr>
        <p:txBody>
          <a:bodyPr/>
          <a:lstStyle/>
          <a:p>
            <a:r>
              <a:rPr lang="en-US" sz="2800" dirty="0" smtClean="0"/>
              <a:t>What is an Electrical Circuit ?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533400" y="838201"/>
            <a:ext cx="8229600" cy="5753099"/>
          </a:xfrm>
        </p:spPr>
        <p:txBody>
          <a:bodyPr/>
          <a:lstStyle/>
          <a:p>
            <a:pPr algn="just"/>
            <a:r>
              <a:rPr lang="en-US" sz="2400" dirty="0"/>
              <a:t>A mathematical model for how physical circuits operate to transfer energy from one point to another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Circuit theory can be used to analyze circuits instead of electromagnetic field theory if following assumptions can be made:</a:t>
            </a:r>
          </a:p>
          <a:p>
            <a:pPr marL="857250" lvl="1" indent="-457200" algn="just">
              <a:buFont typeface="+mj-lt"/>
              <a:buAutoNum type="arabicPeriod"/>
            </a:pPr>
            <a:r>
              <a:rPr lang="en-US" sz="2000" dirty="0"/>
              <a:t>Electric effects are instantaneous, which enables a lumped-parameter system model (resistors, capacitors, inductors, etc.)</a:t>
            </a:r>
          </a:p>
          <a:p>
            <a:pPr lvl="2" algn="just"/>
            <a:r>
              <a:rPr lang="en-US" sz="2000" dirty="0"/>
              <a:t>Signal wavelength, </a:t>
            </a:r>
            <a:r>
              <a:rPr lang="el-GR" sz="2000" dirty="0"/>
              <a:t>λ</a:t>
            </a:r>
            <a:r>
              <a:rPr lang="en-US" sz="2000" dirty="0"/>
              <a:t>=c/f  &gt; 10 x physical dimensions of power system e.g.  For 10</a:t>
            </a:r>
            <a:r>
              <a:rPr lang="en-US" sz="2000" baseline="30000" dirty="0"/>
              <a:t>9</a:t>
            </a:r>
            <a:r>
              <a:rPr lang="en-US" sz="2000" dirty="0"/>
              <a:t> Hz radio signal, </a:t>
            </a:r>
            <a:endParaRPr lang="tr-TR" sz="2000" dirty="0"/>
          </a:p>
          <a:p>
            <a:pPr marL="914400" lvl="2" indent="0" algn="just">
              <a:buNone/>
            </a:pPr>
            <a:r>
              <a:rPr lang="tr-TR" sz="2000" dirty="0"/>
              <a:t>	</a:t>
            </a:r>
            <a:r>
              <a:rPr lang="en-US" sz="2000" dirty="0"/>
              <a:t>dimension &lt; (3.10</a:t>
            </a:r>
            <a:r>
              <a:rPr lang="en-US" sz="2000" baseline="30000" dirty="0"/>
              <a:t>8</a:t>
            </a:r>
            <a:r>
              <a:rPr lang="tr-TR" sz="2000" dirty="0"/>
              <a:t> </a:t>
            </a:r>
            <a:r>
              <a:rPr lang="en-US" sz="2000" dirty="0"/>
              <a:t>m/s) / (10</a:t>
            </a:r>
            <a:r>
              <a:rPr lang="en-US" sz="2000" baseline="30000" dirty="0"/>
              <a:t>9</a:t>
            </a:r>
            <a:r>
              <a:rPr lang="en-US" sz="2000" dirty="0"/>
              <a:t> cycles/s . 10) </a:t>
            </a:r>
            <a:r>
              <a:rPr lang="en-US" sz="2000"/>
              <a:t>= </a:t>
            </a:r>
            <a:r>
              <a:rPr lang="en-US" sz="2000" smtClean="0"/>
              <a:t>0.03 m</a:t>
            </a:r>
            <a:endParaRPr lang="en-US" sz="2000" dirty="0"/>
          </a:p>
          <a:p>
            <a:pPr lvl="2" algn="just"/>
            <a:endParaRPr lang="en-US" sz="1800" dirty="0" smtClean="0"/>
          </a:p>
          <a:p>
            <a:pPr lvl="1"/>
            <a:endParaRPr lang="en-US" sz="2000" dirty="0" smtClean="0"/>
          </a:p>
          <a:p>
            <a:pPr>
              <a:buNone/>
            </a:pPr>
            <a:endParaRPr lang="en-US" sz="3600" dirty="0" smtClean="0"/>
          </a:p>
          <a:p>
            <a:endParaRPr lang="en-US" sz="2000" dirty="0" smtClean="0"/>
          </a:p>
          <a:p>
            <a:pPr lvl="1">
              <a:buFont typeface="Arial" charset="0"/>
              <a:buNone/>
            </a:pPr>
            <a:endParaRPr lang="en-US" sz="2000" dirty="0" smtClean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457200" y="122237"/>
            <a:ext cx="8229600" cy="563563"/>
          </a:xfrm>
        </p:spPr>
        <p:txBody>
          <a:bodyPr/>
          <a:lstStyle/>
          <a:p>
            <a:r>
              <a:rPr lang="en-US" sz="2800" dirty="0" smtClean="0"/>
              <a:t>What is an Electrical Circuit ?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533400" y="838201"/>
            <a:ext cx="8229600" cy="5753099"/>
          </a:xfrm>
        </p:spPr>
        <p:txBody>
          <a:bodyPr/>
          <a:lstStyle/>
          <a:p>
            <a:pPr algn="just"/>
            <a:r>
              <a:rPr lang="en-US" sz="2400" dirty="0" smtClean="0"/>
              <a:t>A mathematical model for how physical circuits operate to transfer energy from one point to another</a:t>
            </a:r>
          </a:p>
          <a:p>
            <a:pPr algn="just"/>
            <a:endParaRPr lang="en-US" sz="2400" dirty="0" smtClean="0"/>
          </a:p>
          <a:p>
            <a:pPr algn="just"/>
            <a:r>
              <a:rPr lang="en-US" sz="2400" dirty="0" smtClean="0"/>
              <a:t>Circuit theory can be used to analyze circuits instead of electromagnetic field theory if following assumptions can be made:</a:t>
            </a:r>
          </a:p>
          <a:p>
            <a:pPr marL="857250" lvl="1" indent="-457200" algn="just">
              <a:buFont typeface="+mj-lt"/>
              <a:buAutoNum type="arabicPeriod"/>
            </a:pPr>
            <a:r>
              <a:rPr lang="en-US" sz="2000" dirty="0" smtClean="0"/>
              <a:t>Electric effects are instantaneous, which enables a lumped-parameter system model (resistors, capacitors, inductors, etc.)</a:t>
            </a:r>
          </a:p>
          <a:p>
            <a:pPr lvl="2" algn="just"/>
            <a:r>
              <a:rPr lang="en-US" sz="2000" dirty="0" smtClean="0"/>
              <a:t>Signal wavelength, </a:t>
            </a:r>
            <a:r>
              <a:rPr lang="el-GR" sz="2000" dirty="0" smtClean="0"/>
              <a:t>λ</a:t>
            </a:r>
            <a:r>
              <a:rPr lang="en-US" sz="2000" dirty="0" smtClean="0"/>
              <a:t>=c/f  &gt; 10 x physical dimensions of power system e.g.  For 10</a:t>
            </a:r>
            <a:r>
              <a:rPr lang="en-US" sz="2000" baseline="30000" dirty="0" smtClean="0"/>
              <a:t>9</a:t>
            </a:r>
            <a:r>
              <a:rPr lang="en-US" sz="2000" dirty="0" smtClean="0"/>
              <a:t> Hz radio signal, </a:t>
            </a:r>
            <a:endParaRPr lang="tr-TR" sz="2000" dirty="0" smtClean="0"/>
          </a:p>
          <a:p>
            <a:pPr marL="914400" lvl="2" indent="0" algn="just">
              <a:buNone/>
            </a:pPr>
            <a:r>
              <a:rPr lang="tr-TR" sz="2000" dirty="0"/>
              <a:t>	</a:t>
            </a:r>
            <a:r>
              <a:rPr lang="en-US" sz="2000" dirty="0" smtClean="0"/>
              <a:t>dimension &lt; (3.10</a:t>
            </a:r>
            <a:r>
              <a:rPr lang="en-US" sz="2000" baseline="30000" dirty="0" smtClean="0"/>
              <a:t>8</a:t>
            </a:r>
            <a:r>
              <a:rPr lang="tr-TR" sz="2000" dirty="0" smtClean="0"/>
              <a:t> </a:t>
            </a:r>
            <a:r>
              <a:rPr lang="en-US" sz="2000" dirty="0" smtClean="0"/>
              <a:t>m/s) / (10</a:t>
            </a:r>
            <a:r>
              <a:rPr lang="en-US" sz="2000" baseline="30000" dirty="0" smtClean="0"/>
              <a:t>9</a:t>
            </a:r>
            <a:r>
              <a:rPr lang="en-US" sz="2000" dirty="0" smtClean="0"/>
              <a:t> cycles/s . 10) = 3 cm</a:t>
            </a:r>
          </a:p>
          <a:p>
            <a:pPr lvl="2" algn="just"/>
            <a:endParaRPr lang="en-US" sz="1800" dirty="0" smtClean="0"/>
          </a:p>
          <a:p>
            <a:pPr marL="914400" lvl="1" indent="-457200" algn="just">
              <a:buFont typeface="+mj-lt"/>
              <a:buAutoNum type="arabicPeriod"/>
            </a:pPr>
            <a:r>
              <a:rPr lang="en-US" sz="2000" dirty="0" smtClean="0"/>
              <a:t>Net charge on every component in the system is zero</a:t>
            </a:r>
          </a:p>
          <a:p>
            <a:pPr marL="914400" lvl="1" indent="-457200" algn="just">
              <a:buFont typeface="+mj-lt"/>
              <a:buAutoNum type="arabicPeriod"/>
            </a:pPr>
            <a:endParaRPr lang="en-US" sz="2000" dirty="0" smtClean="0"/>
          </a:p>
          <a:p>
            <a:pPr marL="914400" lvl="1" indent="-457200" algn="just">
              <a:buFont typeface="+mj-lt"/>
              <a:buAutoNum type="arabicPeriod"/>
            </a:pPr>
            <a:r>
              <a:rPr lang="en-US" sz="2000" dirty="0" smtClean="0"/>
              <a:t>No magnetic coupling between any pair of system components</a:t>
            </a:r>
          </a:p>
          <a:p>
            <a:pPr lvl="1"/>
            <a:endParaRPr lang="en-US" sz="2000" dirty="0" smtClean="0"/>
          </a:p>
          <a:p>
            <a:pPr>
              <a:buNone/>
            </a:pPr>
            <a:endParaRPr lang="en-US" sz="3600" dirty="0" smtClean="0"/>
          </a:p>
          <a:p>
            <a:endParaRPr lang="en-US" sz="2000" dirty="0" smtClean="0"/>
          </a:p>
          <a:p>
            <a:pPr lvl="1">
              <a:buFont typeface="Arial" charset="0"/>
              <a:buNone/>
            </a:pPr>
            <a:endParaRPr lang="en-US" sz="2000" dirty="0" smtClean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457200" y="122237"/>
            <a:ext cx="7239000" cy="563563"/>
          </a:xfrm>
        </p:spPr>
        <p:txBody>
          <a:bodyPr/>
          <a:lstStyle/>
          <a:p>
            <a:r>
              <a:rPr lang="en-US" sz="2800" dirty="0" smtClean="0"/>
              <a:t>Basic Electrical Engineering Design Flow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533400" y="838201"/>
            <a:ext cx="8229600" cy="5753099"/>
          </a:xfrm>
        </p:spPr>
        <p:txBody>
          <a:bodyPr/>
          <a:lstStyle/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endParaRPr lang="en-US" sz="2800" dirty="0" smtClean="0"/>
          </a:p>
          <a:p>
            <a:pPr lvl="0">
              <a:defRPr/>
            </a:pPr>
            <a:endParaRPr lang="en-US" sz="2400" dirty="0" smtClean="0"/>
          </a:p>
          <a:p>
            <a:endParaRPr lang="en-US" sz="2000" dirty="0" smtClean="0"/>
          </a:p>
          <a:p>
            <a:pPr lvl="1">
              <a:buFont typeface="Arial" charset="0"/>
              <a:buNone/>
            </a:pPr>
            <a:endParaRPr lang="en-US" sz="2000" dirty="0" smtClean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64" name="Down Arrow 63"/>
          <p:cNvSpPr/>
          <p:nvPr/>
        </p:nvSpPr>
        <p:spPr>
          <a:xfrm>
            <a:off x="2171700" y="1143000"/>
            <a:ext cx="4076700" cy="571500"/>
          </a:xfrm>
          <a:prstGeom prst="downArrow">
            <a:avLst>
              <a:gd name="adj1" fmla="val 50000"/>
              <a:gd name="adj2" fmla="val 66364"/>
            </a:avLst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3022687" y="762000"/>
            <a:ext cx="25780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+mj-lt"/>
              </a:rPr>
              <a:t>DESIGN SPECIFICATION</a:t>
            </a:r>
            <a:endParaRPr lang="en-US" sz="2000" dirty="0">
              <a:latin typeface="+mj-lt"/>
            </a:endParaRPr>
          </a:p>
        </p:txBody>
      </p:sp>
      <p:sp>
        <p:nvSpPr>
          <p:cNvPr id="66" name="Down Arrow 65"/>
          <p:cNvSpPr/>
          <p:nvPr/>
        </p:nvSpPr>
        <p:spPr>
          <a:xfrm flipV="1">
            <a:off x="2247900" y="4476690"/>
            <a:ext cx="4076700" cy="533400"/>
          </a:xfrm>
          <a:prstGeom prst="downArrow">
            <a:avLst>
              <a:gd name="adj1" fmla="val 50000"/>
              <a:gd name="adj2" fmla="val 66364"/>
            </a:avLst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992092" y="5048190"/>
            <a:ext cx="459920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  <a:latin typeface="+mj-lt"/>
              </a:rPr>
              <a:t>CIRCUIT ANALYSIS / ENGINEERING 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  <a:latin typeface="+mj-lt"/>
              </a:rPr>
              <a:t>(what this course is about)</a:t>
            </a:r>
            <a:endParaRPr lang="en-US" sz="2400" b="1" dirty="0">
              <a:solidFill>
                <a:srgbClr val="FF0000"/>
              </a:solidFill>
              <a:latin typeface="+mj-lt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457200" y="122237"/>
            <a:ext cx="7239000" cy="563563"/>
          </a:xfrm>
        </p:spPr>
        <p:txBody>
          <a:bodyPr/>
          <a:lstStyle/>
          <a:p>
            <a:r>
              <a:rPr lang="en-US" sz="2800" dirty="0" smtClean="0"/>
              <a:t>Basic Electrical Engineering Design Flow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533400" y="838201"/>
            <a:ext cx="8229600" cy="5753099"/>
          </a:xfrm>
        </p:spPr>
        <p:txBody>
          <a:bodyPr/>
          <a:lstStyle/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endParaRPr lang="en-US" sz="2800" dirty="0" smtClean="0"/>
          </a:p>
          <a:p>
            <a:pPr lvl="0">
              <a:defRPr/>
            </a:pPr>
            <a:endParaRPr lang="en-US" sz="2400" dirty="0" smtClean="0"/>
          </a:p>
          <a:p>
            <a:endParaRPr lang="en-US" sz="2000" dirty="0" smtClean="0"/>
          </a:p>
          <a:p>
            <a:pPr lvl="1">
              <a:buFont typeface="Arial" charset="0"/>
              <a:buNone/>
            </a:pPr>
            <a:endParaRPr lang="en-US" sz="2000" dirty="0" smtClean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990600" y="2247900"/>
            <a:ext cx="990600" cy="6477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Concept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4" name="Down Arrow 63"/>
          <p:cNvSpPr/>
          <p:nvPr/>
        </p:nvSpPr>
        <p:spPr>
          <a:xfrm>
            <a:off x="2171700" y="1143000"/>
            <a:ext cx="4076700" cy="571500"/>
          </a:xfrm>
          <a:prstGeom prst="downArrow">
            <a:avLst>
              <a:gd name="adj1" fmla="val 50000"/>
              <a:gd name="adj2" fmla="val 66364"/>
            </a:avLst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3022687" y="762000"/>
            <a:ext cx="25780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+mj-lt"/>
              </a:rPr>
              <a:t>DESIGN SPECIFICATION</a:t>
            </a:r>
            <a:endParaRPr lang="en-US" sz="2000" dirty="0">
              <a:latin typeface="+mj-lt"/>
            </a:endParaRPr>
          </a:p>
        </p:txBody>
      </p:sp>
      <p:sp>
        <p:nvSpPr>
          <p:cNvPr id="66" name="Down Arrow 65"/>
          <p:cNvSpPr/>
          <p:nvPr/>
        </p:nvSpPr>
        <p:spPr>
          <a:xfrm flipV="1">
            <a:off x="2247900" y="4476690"/>
            <a:ext cx="4076700" cy="533400"/>
          </a:xfrm>
          <a:prstGeom prst="downArrow">
            <a:avLst>
              <a:gd name="adj1" fmla="val 50000"/>
              <a:gd name="adj2" fmla="val 66364"/>
            </a:avLst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992092" y="5048190"/>
            <a:ext cx="459920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  <a:latin typeface="+mj-lt"/>
              </a:rPr>
              <a:t>CIRCUIT ANALYSIS / ENGINEERING 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  <a:latin typeface="+mj-lt"/>
              </a:rPr>
              <a:t>(what this course is about)</a:t>
            </a:r>
            <a:endParaRPr lang="en-US" sz="2400" b="1" dirty="0">
              <a:solidFill>
                <a:srgbClr val="FF0000"/>
              </a:solidFill>
              <a:latin typeface="+mj-lt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457200" y="122237"/>
            <a:ext cx="7239000" cy="563563"/>
          </a:xfrm>
        </p:spPr>
        <p:txBody>
          <a:bodyPr/>
          <a:lstStyle/>
          <a:p>
            <a:r>
              <a:rPr lang="en-US" sz="2800" dirty="0" smtClean="0"/>
              <a:t>Basic Electrical Engineering Design Flow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533400" y="838201"/>
            <a:ext cx="8229600" cy="5753099"/>
          </a:xfrm>
        </p:spPr>
        <p:txBody>
          <a:bodyPr/>
          <a:lstStyle/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endParaRPr lang="en-US" sz="2800" dirty="0" smtClean="0"/>
          </a:p>
          <a:p>
            <a:pPr lvl="0">
              <a:defRPr/>
            </a:pPr>
            <a:endParaRPr lang="en-US" sz="2400" dirty="0" smtClean="0"/>
          </a:p>
          <a:p>
            <a:endParaRPr lang="en-US" sz="2000" dirty="0" smtClean="0"/>
          </a:p>
          <a:p>
            <a:pPr lvl="1">
              <a:buFont typeface="Arial" charset="0"/>
              <a:buNone/>
            </a:pPr>
            <a:endParaRPr lang="en-US" sz="2000" dirty="0" smtClean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64" name="Down Arrow 63"/>
          <p:cNvSpPr/>
          <p:nvPr/>
        </p:nvSpPr>
        <p:spPr>
          <a:xfrm>
            <a:off x="2171700" y="1143000"/>
            <a:ext cx="4076700" cy="571500"/>
          </a:xfrm>
          <a:prstGeom prst="downArrow">
            <a:avLst>
              <a:gd name="adj1" fmla="val 50000"/>
              <a:gd name="adj2" fmla="val 66364"/>
            </a:avLst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3022687" y="762000"/>
            <a:ext cx="25780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+mj-lt"/>
              </a:rPr>
              <a:t>DESIGN SPECIFICATION</a:t>
            </a:r>
            <a:endParaRPr lang="en-US" sz="2000" dirty="0">
              <a:latin typeface="+mj-lt"/>
            </a:endParaRPr>
          </a:p>
        </p:txBody>
      </p:sp>
      <p:sp>
        <p:nvSpPr>
          <p:cNvPr id="66" name="Down Arrow 65"/>
          <p:cNvSpPr/>
          <p:nvPr/>
        </p:nvSpPr>
        <p:spPr>
          <a:xfrm flipV="1">
            <a:off x="2247900" y="4476690"/>
            <a:ext cx="4076700" cy="533400"/>
          </a:xfrm>
          <a:prstGeom prst="downArrow">
            <a:avLst>
              <a:gd name="adj1" fmla="val 50000"/>
              <a:gd name="adj2" fmla="val 66364"/>
            </a:avLst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992092" y="5048190"/>
            <a:ext cx="459920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  <a:latin typeface="+mj-lt"/>
              </a:rPr>
              <a:t>CIRCUIT ANALYSIS / ENGINEERING 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  <a:latin typeface="+mj-lt"/>
              </a:rPr>
              <a:t>(what this course is about)</a:t>
            </a:r>
            <a:endParaRPr lang="en-US" sz="2400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990600" y="2247900"/>
            <a:ext cx="990600" cy="6477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Concept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362200" y="2247900"/>
            <a:ext cx="2019300" cy="6477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Circuit Model/ Analysis/Simulation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1981200" y="2552700"/>
            <a:ext cx="381000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457200" y="122237"/>
            <a:ext cx="7239000" cy="563563"/>
          </a:xfrm>
        </p:spPr>
        <p:txBody>
          <a:bodyPr/>
          <a:lstStyle/>
          <a:p>
            <a:r>
              <a:rPr lang="en-US" sz="2800" dirty="0" smtClean="0"/>
              <a:t>Basic Electrical Engineering Design Flow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533400" y="838201"/>
            <a:ext cx="8229600" cy="5753099"/>
          </a:xfrm>
        </p:spPr>
        <p:txBody>
          <a:bodyPr/>
          <a:lstStyle/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endParaRPr lang="en-US" sz="2800" dirty="0" smtClean="0"/>
          </a:p>
          <a:p>
            <a:pPr lvl="0">
              <a:defRPr/>
            </a:pPr>
            <a:endParaRPr lang="en-US" sz="2400" dirty="0" smtClean="0"/>
          </a:p>
          <a:p>
            <a:endParaRPr lang="en-US" sz="2000" dirty="0" smtClean="0"/>
          </a:p>
          <a:p>
            <a:pPr lvl="1">
              <a:buFont typeface="Arial" charset="0"/>
              <a:buNone/>
            </a:pPr>
            <a:endParaRPr lang="en-US" sz="2000" dirty="0" smtClean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64" name="Down Arrow 63"/>
          <p:cNvSpPr/>
          <p:nvPr/>
        </p:nvSpPr>
        <p:spPr>
          <a:xfrm>
            <a:off x="2171700" y="1143000"/>
            <a:ext cx="4076700" cy="571500"/>
          </a:xfrm>
          <a:prstGeom prst="downArrow">
            <a:avLst>
              <a:gd name="adj1" fmla="val 50000"/>
              <a:gd name="adj2" fmla="val 66364"/>
            </a:avLst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3022687" y="762000"/>
            <a:ext cx="25780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+mj-lt"/>
              </a:rPr>
              <a:t>DESIGN SPECIFICATION</a:t>
            </a:r>
            <a:endParaRPr lang="en-US" sz="2000" dirty="0">
              <a:latin typeface="+mj-lt"/>
            </a:endParaRPr>
          </a:p>
        </p:txBody>
      </p:sp>
      <p:sp>
        <p:nvSpPr>
          <p:cNvPr id="66" name="Down Arrow 65"/>
          <p:cNvSpPr/>
          <p:nvPr/>
        </p:nvSpPr>
        <p:spPr>
          <a:xfrm flipV="1">
            <a:off x="2247900" y="4476690"/>
            <a:ext cx="4076700" cy="533400"/>
          </a:xfrm>
          <a:prstGeom prst="downArrow">
            <a:avLst>
              <a:gd name="adj1" fmla="val 50000"/>
              <a:gd name="adj2" fmla="val 66364"/>
            </a:avLst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992092" y="5048190"/>
            <a:ext cx="459920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  <a:latin typeface="+mj-lt"/>
              </a:rPr>
              <a:t>CIRCUIT ANALYSIS / ENGINEERING 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  <a:latin typeface="+mj-lt"/>
              </a:rPr>
              <a:t>(what this course is about)</a:t>
            </a:r>
            <a:endParaRPr lang="en-US" sz="2400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990600" y="2247900"/>
            <a:ext cx="990600" cy="6477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Concept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362200" y="2247900"/>
            <a:ext cx="2019300" cy="6477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Circuit Model/ Analysis/Simulation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914900" y="2247900"/>
            <a:ext cx="1143000" cy="64770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Physical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Prototype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438900" y="2247900"/>
            <a:ext cx="1181100" cy="64770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Validation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1981200" y="2552700"/>
            <a:ext cx="381000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6057900" y="2590800"/>
            <a:ext cx="381000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endCxn id="26" idx="1"/>
          </p:cNvCxnSpPr>
          <p:nvPr/>
        </p:nvCxnSpPr>
        <p:spPr>
          <a:xfrm>
            <a:off x="4381500" y="2552700"/>
            <a:ext cx="533400" cy="1905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457200" y="122237"/>
            <a:ext cx="7239000" cy="563563"/>
          </a:xfrm>
        </p:spPr>
        <p:txBody>
          <a:bodyPr/>
          <a:lstStyle/>
          <a:p>
            <a:r>
              <a:rPr lang="en-US" sz="2800" dirty="0" smtClean="0"/>
              <a:t>Basic Electrical Engineering Design Flow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533400" y="838201"/>
            <a:ext cx="8229600" cy="5753099"/>
          </a:xfrm>
        </p:spPr>
        <p:txBody>
          <a:bodyPr/>
          <a:lstStyle/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endParaRPr lang="en-US" sz="2800" dirty="0" smtClean="0"/>
          </a:p>
          <a:p>
            <a:pPr lvl="0">
              <a:defRPr/>
            </a:pPr>
            <a:endParaRPr lang="en-US" sz="2400" dirty="0" smtClean="0"/>
          </a:p>
          <a:p>
            <a:endParaRPr lang="en-US" sz="2000" dirty="0" smtClean="0"/>
          </a:p>
          <a:p>
            <a:pPr lvl="1">
              <a:buFont typeface="Arial" charset="0"/>
              <a:buNone/>
            </a:pPr>
            <a:endParaRPr lang="en-US" sz="2000" dirty="0" smtClean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64" name="Down Arrow 63"/>
          <p:cNvSpPr/>
          <p:nvPr/>
        </p:nvSpPr>
        <p:spPr>
          <a:xfrm>
            <a:off x="2171700" y="1143000"/>
            <a:ext cx="4076700" cy="571500"/>
          </a:xfrm>
          <a:prstGeom prst="downArrow">
            <a:avLst>
              <a:gd name="adj1" fmla="val 50000"/>
              <a:gd name="adj2" fmla="val 66364"/>
            </a:avLst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3022687" y="762000"/>
            <a:ext cx="25780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+mj-lt"/>
              </a:rPr>
              <a:t>DESIGN SPECIFICATION</a:t>
            </a:r>
            <a:endParaRPr lang="en-US" sz="2000" dirty="0">
              <a:latin typeface="+mj-lt"/>
            </a:endParaRPr>
          </a:p>
        </p:txBody>
      </p:sp>
      <p:sp>
        <p:nvSpPr>
          <p:cNvPr id="66" name="Down Arrow 65"/>
          <p:cNvSpPr/>
          <p:nvPr/>
        </p:nvSpPr>
        <p:spPr>
          <a:xfrm flipV="1">
            <a:off x="2247900" y="4476690"/>
            <a:ext cx="4076700" cy="533400"/>
          </a:xfrm>
          <a:prstGeom prst="downArrow">
            <a:avLst>
              <a:gd name="adj1" fmla="val 50000"/>
              <a:gd name="adj2" fmla="val 66364"/>
            </a:avLst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992092" y="5048190"/>
            <a:ext cx="459920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  <a:latin typeface="+mj-lt"/>
              </a:rPr>
              <a:t>CIRCUIT ANALYSIS / ENGINEERING 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  <a:latin typeface="+mj-lt"/>
              </a:rPr>
              <a:t>(what this course is about)</a:t>
            </a:r>
            <a:endParaRPr lang="en-US" sz="2400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990600" y="2247900"/>
            <a:ext cx="990600" cy="6477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Concept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362200" y="2247900"/>
            <a:ext cx="2019300" cy="6477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Circuit Model/ Analysis/Simulation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914900" y="2247900"/>
            <a:ext cx="1143000" cy="64770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Physical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Prototype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438900" y="2247900"/>
            <a:ext cx="1181100" cy="64770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Validation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1981200" y="2552700"/>
            <a:ext cx="381000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6057900" y="2590800"/>
            <a:ext cx="381000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6019800" y="3581400"/>
            <a:ext cx="1181100" cy="6477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Validation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733800" y="3581400"/>
            <a:ext cx="1905000" cy="6477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Physical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Design/Simulation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2" name="Straight Arrow Connector 31"/>
          <p:cNvCxnSpPr>
            <a:endCxn id="26" idx="1"/>
          </p:cNvCxnSpPr>
          <p:nvPr/>
        </p:nvCxnSpPr>
        <p:spPr>
          <a:xfrm>
            <a:off x="4381500" y="2552700"/>
            <a:ext cx="533400" cy="1905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5638800" y="3886200"/>
            <a:ext cx="381000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hape 49"/>
          <p:cNvCxnSpPr/>
          <p:nvPr/>
        </p:nvCxnSpPr>
        <p:spPr>
          <a:xfrm rot="10800000" flipV="1">
            <a:off x="3352800" y="2609850"/>
            <a:ext cx="4267200" cy="628650"/>
          </a:xfrm>
          <a:prstGeom prst="bentConnector3">
            <a:avLst>
              <a:gd name="adj1" fmla="val -2902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rot="5400000">
            <a:off x="3028950" y="3562350"/>
            <a:ext cx="647700" cy="15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3352800" y="3886200"/>
            <a:ext cx="381000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533400" y="838201"/>
            <a:ext cx="8229600" cy="5753099"/>
          </a:xfrm>
        </p:spPr>
        <p:txBody>
          <a:bodyPr/>
          <a:lstStyle/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endParaRPr lang="en-US" sz="2800" dirty="0" smtClean="0"/>
          </a:p>
          <a:p>
            <a:pPr lvl="0">
              <a:defRPr/>
            </a:pPr>
            <a:endParaRPr lang="en-US" sz="2400" dirty="0" smtClean="0"/>
          </a:p>
          <a:p>
            <a:endParaRPr lang="en-US" sz="2000" dirty="0" smtClean="0"/>
          </a:p>
          <a:p>
            <a:pPr lvl="1">
              <a:buFont typeface="Arial" charset="0"/>
              <a:buNone/>
            </a:pPr>
            <a:endParaRPr lang="en-US" sz="2000" dirty="0" smtClean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990600" y="2247900"/>
            <a:ext cx="990600" cy="6477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Concept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362200" y="2247900"/>
            <a:ext cx="2019300" cy="6477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Circuit Model/ Analysis/Simulation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914900" y="2247900"/>
            <a:ext cx="1143000" cy="64770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Physical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Prototype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438900" y="2247900"/>
            <a:ext cx="1181100" cy="64770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Validation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6" name="Straight Arrow Connector 35"/>
          <p:cNvCxnSpPr/>
          <p:nvPr/>
        </p:nvCxnSpPr>
        <p:spPr>
          <a:xfrm>
            <a:off x="1981200" y="2552700"/>
            <a:ext cx="381000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6057900" y="2590800"/>
            <a:ext cx="381000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6019800" y="3581400"/>
            <a:ext cx="1181100" cy="6477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Validation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733800" y="3581400"/>
            <a:ext cx="1905000" cy="6477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Physical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Design/Simulation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47" name="Straight Arrow Connector 46"/>
          <p:cNvCxnSpPr>
            <a:endCxn id="8" idx="1"/>
          </p:cNvCxnSpPr>
          <p:nvPr/>
        </p:nvCxnSpPr>
        <p:spPr>
          <a:xfrm>
            <a:off x="4381500" y="2552700"/>
            <a:ext cx="533400" cy="1905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>
            <a:off x="5638800" y="3886200"/>
            <a:ext cx="381000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hape 49"/>
          <p:cNvCxnSpPr/>
          <p:nvPr/>
        </p:nvCxnSpPr>
        <p:spPr>
          <a:xfrm rot="10800000" flipV="1">
            <a:off x="3352800" y="2609850"/>
            <a:ext cx="4267200" cy="628650"/>
          </a:xfrm>
          <a:prstGeom prst="bentConnector3">
            <a:avLst>
              <a:gd name="adj1" fmla="val -2902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rot="5400000">
            <a:off x="3028950" y="3562350"/>
            <a:ext cx="647700" cy="15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>
            <a:off x="3352800" y="3886200"/>
            <a:ext cx="381000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Down Arrow 63"/>
          <p:cNvSpPr/>
          <p:nvPr/>
        </p:nvSpPr>
        <p:spPr>
          <a:xfrm>
            <a:off x="2171700" y="1143000"/>
            <a:ext cx="4076700" cy="571500"/>
          </a:xfrm>
          <a:prstGeom prst="downArrow">
            <a:avLst>
              <a:gd name="adj1" fmla="val 50000"/>
              <a:gd name="adj2" fmla="val 66364"/>
            </a:avLst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3022687" y="762000"/>
            <a:ext cx="25780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+mj-lt"/>
              </a:rPr>
              <a:t>DESIGN SPECIFICATION</a:t>
            </a:r>
            <a:endParaRPr lang="en-US" sz="2000" dirty="0">
              <a:latin typeface="+mj-lt"/>
            </a:endParaRPr>
          </a:p>
        </p:txBody>
      </p:sp>
      <p:sp>
        <p:nvSpPr>
          <p:cNvPr id="66" name="Down Arrow 65"/>
          <p:cNvSpPr/>
          <p:nvPr/>
        </p:nvSpPr>
        <p:spPr>
          <a:xfrm flipV="1">
            <a:off x="2247900" y="4476690"/>
            <a:ext cx="4076700" cy="533400"/>
          </a:xfrm>
          <a:prstGeom prst="downArrow">
            <a:avLst>
              <a:gd name="adj1" fmla="val 50000"/>
              <a:gd name="adj2" fmla="val 66364"/>
            </a:avLst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/>
          <p:cNvSpPr txBox="1"/>
          <p:nvPr/>
        </p:nvSpPr>
        <p:spPr>
          <a:xfrm>
            <a:off x="1992092" y="5048190"/>
            <a:ext cx="459920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  <a:latin typeface="+mj-lt"/>
              </a:rPr>
              <a:t>CIRCUIT ANALYSIS / ENGINEERING 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  <a:latin typeface="+mj-lt"/>
              </a:rPr>
              <a:t>(what this course is about)</a:t>
            </a:r>
            <a:endParaRPr lang="en-US" sz="2400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73" name="Freeform 72"/>
          <p:cNvSpPr/>
          <p:nvPr/>
        </p:nvSpPr>
        <p:spPr>
          <a:xfrm>
            <a:off x="4610100" y="3321133"/>
            <a:ext cx="1933204" cy="222167"/>
          </a:xfrm>
          <a:custGeom>
            <a:avLst/>
            <a:gdLst>
              <a:gd name="connsiteX0" fmla="*/ 1959429 w 1959429"/>
              <a:gd name="connsiteY0" fmla="*/ 253340 h 277090"/>
              <a:gd name="connsiteX1" fmla="*/ 1175657 w 1959429"/>
              <a:gd name="connsiteY1" fmla="*/ 3958 h 277090"/>
              <a:gd name="connsiteX2" fmla="*/ 0 w 1959429"/>
              <a:gd name="connsiteY2" fmla="*/ 277090 h 277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59429" h="277090">
                <a:moveTo>
                  <a:pt x="1959429" y="253340"/>
                </a:moveTo>
                <a:cubicBezTo>
                  <a:pt x="1730828" y="126670"/>
                  <a:pt x="1502228" y="0"/>
                  <a:pt x="1175657" y="3958"/>
                </a:cubicBezTo>
                <a:cubicBezTo>
                  <a:pt x="849086" y="7916"/>
                  <a:pt x="424543" y="142503"/>
                  <a:pt x="0" y="277090"/>
                </a:cubicBezTo>
              </a:path>
            </a:pathLst>
          </a:custGeom>
          <a:ln w="28575">
            <a:solidFill>
              <a:schemeClr val="tx1"/>
            </a:solidFill>
            <a:prstDash val="sysDash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Freeform 75"/>
          <p:cNvSpPr/>
          <p:nvPr/>
        </p:nvSpPr>
        <p:spPr>
          <a:xfrm>
            <a:off x="5140037" y="2897579"/>
            <a:ext cx="298862" cy="439387"/>
          </a:xfrm>
          <a:custGeom>
            <a:avLst/>
            <a:gdLst>
              <a:gd name="connsiteX0" fmla="*/ 298862 w 298862"/>
              <a:gd name="connsiteY0" fmla="*/ 439387 h 439387"/>
              <a:gd name="connsiteX1" fmla="*/ 49480 w 298862"/>
              <a:gd name="connsiteY1" fmla="*/ 201881 h 439387"/>
              <a:gd name="connsiteX2" fmla="*/ 1979 w 298862"/>
              <a:gd name="connsiteY2" fmla="*/ 0 h 439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8862" h="439387">
                <a:moveTo>
                  <a:pt x="298862" y="439387"/>
                </a:moveTo>
                <a:cubicBezTo>
                  <a:pt x="198911" y="357249"/>
                  <a:pt x="98961" y="275112"/>
                  <a:pt x="49480" y="201881"/>
                </a:cubicBezTo>
                <a:cubicBezTo>
                  <a:pt x="0" y="128650"/>
                  <a:pt x="989" y="64325"/>
                  <a:pt x="1979" y="0"/>
                </a:cubicBezTo>
              </a:path>
            </a:pathLst>
          </a:custGeom>
          <a:ln w="28575">
            <a:solidFill>
              <a:schemeClr val="tx1"/>
            </a:solidFill>
            <a:prstDash val="sysDash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Freeform 76"/>
          <p:cNvSpPr/>
          <p:nvPr/>
        </p:nvSpPr>
        <p:spPr>
          <a:xfrm>
            <a:off x="2897579" y="2897579"/>
            <a:ext cx="2327564" cy="261257"/>
          </a:xfrm>
          <a:custGeom>
            <a:avLst/>
            <a:gdLst>
              <a:gd name="connsiteX0" fmla="*/ 2327564 w 2327564"/>
              <a:gd name="connsiteY0" fmla="*/ 261257 h 261257"/>
              <a:gd name="connsiteX1" fmla="*/ 1436915 w 2327564"/>
              <a:gd name="connsiteY1" fmla="*/ 130629 h 261257"/>
              <a:gd name="connsiteX2" fmla="*/ 356260 w 2327564"/>
              <a:gd name="connsiteY2" fmla="*/ 166255 h 261257"/>
              <a:gd name="connsiteX3" fmla="*/ 0 w 2327564"/>
              <a:gd name="connsiteY3" fmla="*/ 0 h 261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7564" h="261257">
                <a:moveTo>
                  <a:pt x="2327564" y="261257"/>
                </a:moveTo>
                <a:cubicBezTo>
                  <a:pt x="2046515" y="203860"/>
                  <a:pt x="1765466" y="146463"/>
                  <a:pt x="1436915" y="130629"/>
                </a:cubicBezTo>
                <a:cubicBezTo>
                  <a:pt x="1108364" y="114795"/>
                  <a:pt x="595746" y="188026"/>
                  <a:pt x="356260" y="166255"/>
                </a:cubicBezTo>
                <a:cubicBezTo>
                  <a:pt x="116774" y="144484"/>
                  <a:pt x="58387" y="72242"/>
                  <a:pt x="0" y="0"/>
                </a:cubicBezTo>
              </a:path>
            </a:pathLst>
          </a:custGeom>
          <a:ln w="28575">
            <a:solidFill>
              <a:schemeClr val="tx1"/>
            </a:solidFill>
            <a:prstDash val="sysDash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Freeform 77"/>
          <p:cNvSpPr/>
          <p:nvPr/>
        </p:nvSpPr>
        <p:spPr>
          <a:xfrm>
            <a:off x="1520042" y="2909455"/>
            <a:ext cx="1674420" cy="263236"/>
          </a:xfrm>
          <a:custGeom>
            <a:avLst/>
            <a:gdLst>
              <a:gd name="connsiteX0" fmla="*/ 1674420 w 1674420"/>
              <a:gd name="connsiteY0" fmla="*/ 154379 h 263236"/>
              <a:gd name="connsiteX1" fmla="*/ 522514 w 1674420"/>
              <a:gd name="connsiteY1" fmla="*/ 237506 h 263236"/>
              <a:gd name="connsiteX2" fmla="*/ 0 w 1674420"/>
              <a:gd name="connsiteY2" fmla="*/ 0 h 263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74420" h="263236">
                <a:moveTo>
                  <a:pt x="1674420" y="154379"/>
                </a:moveTo>
                <a:cubicBezTo>
                  <a:pt x="1238002" y="208807"/>
                  <a:pt x="801584" y="263236"/>
                  <a:pt x="522514" y="237506"/>
                </a:cubicBezTo>
                <a:cubicBezTo>
                  <a:pt x="243444" y="211776"/>
                  <a:pt x="121722" y="105888"/>
                  <a:pt x="0" y="0"/>
                </a:cubicBezTo>
              </a:path>
            </a:pathLst>
          </a:custGeom>
          <a:ln w="28575">
            <a:solidFill>
              <a:schemeClr val="tx1"/>
            </a:solidFill>
            <a:prstDash val="sysDash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Freeform 78"/>
          <p:cNvSpPr/>
          <p:nvPr/>
        </p:nvSpPr>
        <p:spPr>
          <a:xfrm>
            <a:off x="5219700" y="2019300"/>
            <a:ext cx="1790700" cy="190500"/>
          </a:xfrm>
          <a:custGeom>
            <a:avLst/>
            <a:gdLst>
              <a:gd name="connsiteX0" fmla="*/ 1615045 w 1615045"/>
              <a:gd name="connsiteY0" fmla="*/ 201880 h 201880"/>
              <a:gd name="connsiteX1" fmla="*/ 1128156 w 1615045"/>
              <a:gd name="connsiteY1" fmla="*/ 118753 h 201880"/>
              <a:gd name="connsiteX2" fmla="*/ 391886 w 1615045"/>
              <a:gd name="connsiteY2" fmla="*/ 11875 h 201880"/>
              <a:gd name="connsiteX3" fmla="*/ 0 w 1615045"/>
              <a:gd name="connsiteY3" fmla="*/ 190005 h 201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15045" h="201880">
                <a:moveTo>
                  <a:pt x="1615045" y="201880"/>
                </a:moveTo>
                <a:cubicBezTo>
                  <a:pt x="1465613" y="175160"/>
                  <a:pt x="1332016" y="150420"/>
                  <a:pt x="1128156" y="118753"/>
                </a:cubicBezTo>
                <a:cubicBezTo>
                  <a:pt x="924296" y="87086"/>
                  <a:pt x="579912" y="0"/>
                  <a:pt x="391886" y="11875"/>
                </a:cubicBezTo>
                <a:cubicBezTo>
                  <a:pt x="203860" y="23750"/>
                  <a:pt x="101930" y="106877"/>
                  <a:pt x="0" y="190005"/>
                </a:cubicBezTo>
              </a:path>
            </a:pathLst>
          </a:custGeom>
          <a:ln w="28575">
            <a:solidFill>
              <a:schemeClr val="tx1"/>
            </a:solidFill>
            <a:prstDash val="sysDash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Freeform 79"/>
          <p:cNvSpPr/>
          <p:nvPr/>
        </p:nvSpPr>
        <p:spPr>
          <a:xfrm>
            <a:off x="2945081" y="1943100"/>
            <a:ext cx="2693719" cy="289461"/>
          </a:xfrm>
          <a:custGeom>
            <a:avLst/>
            <a:gdLst>
              <a:gd name="connsiteX0" fmla="*/ 2327563 w 2327563"/>
              <a:gd name="connsiteY0" fmla="*/ 65314 h 243444"/>
              <a:gd name="connsiteX1" fmla="*/ 807522 w 2327563"/>
              <a:gd name="connsiteY1" fmla="*/ 29688 h 243444"/>
              <a:gd name="connsiteX2" fmla="*/ 0 w 2327563"/>
              <a:gd name="connsiteY2" fmla="*/ 243444 h 243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27563" h="243444">
                <a:moveTo>
                  <a:pt x="2327563" y="65314"/>
                </a:moveTo>
                <a:cubicBezTo>
                  <a:pt x="1761506" y="32657"/>
                  <a:pt x="1195449" y="0"/>
                  <a:pt x="807522" y="29688"/>
                </a:cubicBezTo>
                <a:cubicBezTo>
                  <a:pt x="419595" y="59376"/>
                  <a:pt x="209797" y="151410"/>
                  <a:pt x="0" y="243444"/>
                </a:cubicBezTo>
              </a:path>
            </a:pathLst>
          </a:custGeom>
          <a:ln w="28575">
            <a:solidFill>
              <a:schemeClr val="tx1"/>
            </a:solidFill>
            <a:prstDash val="sysDash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Freeform 80"/>
          <p:cNvSpPr/>
          <p:nvPr/>
        </p:nvSpPr>
        <p:spPr>
          <a:xfrm>
            <a:off x="1460664" y="1790700"/>
            <a:ext cx="2577935" cy="441861"/>
          </a:xfrm>
          <a:custGeom>
            <a:avLst/>
            <a:gdLst>
              <a:gd name="connsiteX0" fmla="*/ 2458192 w 2458192"/>
              <a:gd name="connsiteY0" fmla="*/ 144483 h 370114"/>
              <a:gd name="connsiteX1" fmla="*/ 760021 w 2458192"/>
              <a:gd name="connsiteY1" fmla="*/ 37605 h 370114"/>
              <a:gd name="connsiteX2" fmla="*/ 0 w 2458192"/>
              <a:gd name="connsiteY2" fmla="*/ 370114 h 370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58192" h="370114">
                <a:moveTo>
                  <a:pt x="2458192" y="144483"/>
                </a:moveTo>
                <a:cubicBezTo>
                  <a:pt x="1813956" y="72241"/>
                  <a:pt x="1169720" y="0"/>
                  <a:pt x="760021" y="37605"/>
                </a:cubicBezTo>
                <a:cubicBezTo>
                  <a:pt x="350322" y="75210"/>
                  <a:pt x="175161" y="222662"/>
                  <a:pt x="0" y="370114"/>
                </a:cubicBezTo>
              </a:path>
            </a:pathLst>
          </a:custGeom>
          <a:ln w="28575">
            <a:solidFill>
              <a:schemeClr val="tx1"/>
            </a:solidFill>
            <a:prstDash val="sysDash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2" name="Title 1"/>
          <p:cNvSpPr txBox="1">
            <a:spLocks/>
          </p:cNvSpPr>
          <p:nvPr/>
        </p:nvSpPr>
        <p:spPr bwMode="auto">
          <a:xfrm>
            <a:off x="457200" y="122237"/>
            <a:ext cx="7239000" cy="56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Basic Electrical Engineering Design Flow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533400" y="838201"/>
            <a:ext cx="8229600" cy="5753099"/>
          </a:xfrm>
        </p:spPr>
        <p:txBody>
          <a:bodyPr/>
          <a:lstStyle/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endParaRPr lang="en-US" sz="2800" dirty="0" smtClean="0"/>
          </a:p>
          <a:p>
            <a:pPr lvl="0">
              <a:defRPr/>
            </a:pPr>
            <a:endParaRPr lang="en-US" sz="2400" dirty="0" smtClean="0"/>
          </a:p>
          <a:p>
            <a:endParaRPr lang="en-US" sz="2000" dirty="0" smtClean="0"/>
          </a:p>
          <a:p>
            <a:pPr lvl="1">
              <a:buFont typeface="Arial" charset="0"/>
              <a:buNone/>
            </a:pPr>
            <a:endParaRPr lang="en-US" sz="2000" dirty="0" smtClean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64" name="Down Arrow 63"/>
          <p:cNvSpPr/>
          <p:nvPr/>
        </p:nvSpPr>
        <p:spPr>
          <a:xfrm>
            <a:off x="2171700" y="1143000"/>
            <a:ext cx="4076700" cy="571500"/>
          </a:xfrm>
          <a:prstGeom prst="downArrow">
            <a:avLst>
              <a:gd name="adj1" fmla="val 50000"/>
              <a:gd name="adj2" fmla="val 66364"/>
            </a:avLst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3022687" y="762000"/>
            <a:ext cx="25780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+mj-lt"/>
              </a:rPr>
              <a:t>DESIGN SPECIFICATION</a:t>
            </a:r>
            <a:endParaRPr lang="en-US" sz="2000" dirty="0">
              <a:latin typeface="+mj-lt"/>
            </a:endParaRPr>
          </a:p>
        </p:txBody>
      </p:sp>
      <p:sp>
        <p:nvSpPr>
          <p:cNvPr id="66" name="Down Arrow 65"/>
          <p:cNvSpPr/>
          <p:nvPr/>
        </p:nvSpPr>
        <p:spPr>
          <a:xfrm flipV="1">
            <a:off x="2247900" y="4476690"/>
            <a:ext cx="4076700" cy="533400"/>
          </a:xfrm>
          <a:prstGeom prst="downArrow">
            <a:avLst>
              <a:gd name="adj1" fmla="val 50000"/>
              <a:gd name="adj2" fmla="val 66364"/>
            </a:avLst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/>
          <p:cNvSpPr txBox="1"/>
          <p:nvPr/>
        </p:nvSpPr>
        <p:spPr>
          <a:xfrm>
            <a:off x="1992092" y="5048190"/>
            <a:ext cx="459920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  <a:latin typeface="+mj-lt"/>
              </a:rPr>
              <a:t>CIRCUIT ANALYSIS / ENGINEERING 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  <a:latin typeface="+mj-lt"/>
              </a:rPr>
              <a:t>(what this course is about)</a:t>
            </a:r>
            <a:endParaRPr lang="en-US" sz="2400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1115549" y="5947134"/>
            <a:ext cx="71049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Goal: Minimize the number and extend of “loops”</a:t>
            </a:r>
          </a:p>
          <a:p>
            <a:r>
              <a:rPr lang="en-US" sz="2000" b="1" dirty="0" smtClean="0"/>
              <a:t>from a later to an earlier stage of the design flow (Cost !)</a:t>
            </a:r>
            <a:endParaRPr lang="en-US" sz="2000" b="1" dirty="0"/>
          </a:p>
        </p:txBody>
      </p:sp>
      <p:sp>
        <p:nvSpPr>
          <p:cNvPr id="30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2" name="Title 1"/>
          <p:cNvSpPr txBox="1">
            <a:spLocks/>
          </p:cNvSpPr>
          <p:nvPr/>
        </p:nvSpPr>
        <p:spPr bwMode="auto">
          <a:xfrm>
            <a:off x="457200" y="122237"/>
            <a:ext cx="7239000" cy="56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Basic Electrical Engineering Design Flow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90600" y="2247900"/>
            <a:ext cx="990600" cy="6477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Concept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362200" y="2247900"/>
            <a:ext cx="2019300" cy="6477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Circuit Model/ Analysis/Simulation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914900" y="2247900"/>
            <a:ext cx="1143000" cy="64770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Physical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Prototype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438900" y="2247900"/>
            <a:ext cx="1181100" cy="64770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Validation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7" name="Straight Arrow Connector 36"/>
          <p:cNvCxnSpPr/>
          <p:nvPr/>
        </p:nvCxnSpPr>
        <p:spPr>
          <a:xfrm>
            <a:off x="1981200" y="2552700"/>
            <a:ext cx="381000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6057900" y="2590800"/>
            <a:ext cx="381000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6019800" y="3581400"/>
            <a:ext cx="1181100" cy="6477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Validation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3733800" y="3581400"/>
            <a:ext cx="1905000" cy="6477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Physical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Design/Simulation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44" name="Straight Arrow Connector 43"/>
          <p:cNvCxnSpPr>
            <a:endCxn id="34" idx="1"/>
          </p:cNvCxnSpPr>
          <p:nvPr/>
        </p:nvCxnSpPr>
        <p:spPr>
          <a:xfrm>
            <a:off x="4381500" y="2552700"/>
            <a:ext cx="533400" cy="1905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5638800" y="3886200"/>
            <a:ext cx="381000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hape 49"/>
          <p:cNvCxnSpPr/>
          <p:nvPr/>
        </p:nvCxnSpPr>
        <p:spPr>
          <a:xfrm rot="10800000" flipV="1">
            <a:off x="3352800" y="2609850"/>
            <a:ext cx="4267200" cy="628650"/>
          </a:xfrm>
          <a:prstGeom prst="bentConnector3">
            <a:avLst>
              <a:gd name="adj1" fmla="val -2902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rot="5400000">
            <a:off x="3028950" y="3562350"/>
            <a:ext cx="647700" cy="15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>
            <a:off x="3352800" y="3886200"/>
            <a:ext cx="381000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Freeform 51"/>
          <p:cNvSpPr/>
          <p:nvPr/>
        </p:nvSpPr>
        <p:spPr>
          <a:xfrm>
            <a:off x="4610100" y="3321133"/>
            <a:ext cx="1933204" cy="222167"/>
          </a:xfrm>
          <a:custGeom>
            <a:avLst/>
            <a:gdLst>
              <a:gd name="connsiteX0" fmla="*/ 1959429 w 1959429"/>
              <a:gd name="connsiteY0" fmla="*/ 253340 h 277090"/>
              <a:gd name="connsiteX1" fmla="*/ 1175657 w 1959429"/>
              <a:gd name="connsiteY1" fmla="*/ 3958 h 277090"/>
              <a:gd name="connsiteX2" fmla="*/ 0 w 1959429"/>
              <a:gd name="connsiteY2" fmla="*/ 277090 h 277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59429" h="277090">
                <a:moveTo>
                  <a:pt x="1959429" y="253340"/>
                </a:moveTo>
                <a:cubicBezTo>
                  <a:pt x="1730828" y="126670"/>
                  <a:pt x="1502228" y="0"/>
                  <a:pt x="1175657" y="3958"/>
                </a:cubicBezTo>
                <a:cubicBezTo>
                  <a:pt x="849086" y="7916"/>
                  <a:pt x="424543" y="142503"/>
                  <a:pt x="0" y="277090"/>
                </a:cubicBezTo>
              </a:path>
            </a:pathLst>
          </a:custGeom>
          <a:ln w="28575">
            <a:solidFill>
              <a:schemeClr val="tx1"/>
            </a:solidFill>
            <a:prstDash val="sysDash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Freeform 52"/>
          <p:cNvSpPr/>
          <p:nvPr/>
        </p:nvSpPr>
        <p:spPr>
          <a:xfrm>
            <a:off x="5140037" y="2897579"/>
            <a:ext cx="298862" cy="439387"/>
          </a:xfrm>
          <a:custGeom>
            <a:avLst/>
            <a:gdLst>
              <a:gd name="connsiteX0" fmla="*/ 298862 w 298862"/>
              <a:gd name="connsiteY0" fmla="*/ 439387 h 439387"/>
              <a:gd name="connsiteX1" fmla="*/ 49480 w 298862"/>
              <a:gd name="connsiteY1" fmla="*/ 201881 h 439387"/>
              <a:gd name="connsiteX2" fmla="*/ 1979 w 298862"/>
              <a:gd name="connsiteY2" fmla="*/ 0 h 439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8862" h="439387">
                <a:moveTo>
                  <a:pt x="298862" y="439387"/>
                </a:moveTo>
                <a:cubicBezTo>
                  <a:pt x="198911" y="357249"/>
                  <a:pt x="98961" y="275112"/>
                  <a:pt x="49480" y="201881"/>
                </a:cubicBezTo>
                <a:cubicBezTo>
                  <a:pt x="0" y="128650"/>
                  <a:pt x="989" y="64325"/>
                  <a:pt x="1979" y="0"/>
                </a:cubicBezTo>
              </a:path>
            </a:pathLst>
          </a:custGeom>
          <a:ln w="28575">
            <a:solidFill>
              <a:schemeClr val="tx1"/>
            </a:solidFill>
            <a:prstDash val="sysDash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 53"/>
          <p:cNvSpPr/>
          <p:nvPr/>
        </p:nvSpPr>
        <p:spPr>
          <a:xfrm>
            <a:off x="2897579" y="2897579"/>
            <a:ext cx="2327564" cy="261257"/>
          </a:xfrm>
          <a:custGeom>
            <a:avLst/>
            <a:gdLst>
              <a:gd name="connsiteX0" fmla="*/ 2327564 w 2327564"/>
              <a:gd name="connsiteY0" fmla="*/ 261257 h 261257"/>
              <a:gd name="connsiteX1" fmla="*/ 1436915 w 2327564"/>
              <a:gd name="connsiteY1" fmla="*/ 130629 h 261257"/>
              <a:gd name="connsiteX2" fmla="*/ 356260 w 2327564"/>
              <a:gd name="connsiteY2" fmla="*/ 166255 h 261257"/>
              <a:gd name="connsiteX3" fmla="*/ 0 w 2327564"/>
              <a:gd name="connsiteY3" fmla="*/ 0 h 261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7564" h="261257">
                <a:moveTo>
                  <a:pt x="2327564" y="261257"/>
                </a:moveTo>
                <a:cubicBezTo>
                  <a:pt x="2046515" y="203860"/>
                  <a:pt x="1765466" y="146463"/>
                  <a:pt x="1436915" y="130629"/>
                </a:cubicBezTo>
                <a:cubicBezTo>
                  <a:pt x="1108364" y="114795"/>
                  <a:pt x="595746" y="188026"/>
                  <a:pt x="356260" y="166255"/>
                </a:cubicBezTo>
                <a:cubicBezTo>
                  <a:pt x="116774" y="144484"/>
                  <a:pt x="58387" y="72242"/>
                  <a:pt x="0" y="0"/>
                </a:cubicBezTo>
              </a:path>
            </a:pathLst>
          </a:custGeom>
          <a:ln w="28575">
            <a:solidFill>
              <a:schemeClr val="tx1"/>
            </a:solidFill>
            <a:prstDash val="sysDash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reeform 54"/>
          <p:cNvSpPr/>
          <p:nvPr/>
        </p:nvSpPr>
        <p:spPr>
          <a:xfrm>
            <a:off x="1520042" y="2909455"/>
            <a:ext cx="1674420" cy="263236"/>
          </a:xfrm>
          <a:custGeom>
            <a:avLst/>
            <a:gdLst>
              <a:gd name="connsiteX0" fmla="*/ 1674420 w 1674420"/>
              <a:gd name="connsiteY0" fmla="*/ 154379 h 263236"/>
              <a:gd name="connsiteX1" fmla="*/ 522514 w 1674420"/>
              <a:gd name="connsiteY1" fmla="*/ 237506 h 263236"/>
              <a:gd name="connsiteX2" fmla="*/ 0 w 1674420"/>
              <a:gd name="connsiteY2" fmla="*/ 0 h 263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74420" h="263236">
                <a:moveTo>
                  <a:pt x="1674420" y="154379"/>
                </a:moveTo>
                <a:cubicBezTo>
                  <a:pt x="1238002" y="208807"/>
                  <a:pt x="801584" y="263236"/>
                  <a:pt x="522514" y="237506"/>
                </a:cubicBezTo>
                <a:cubicBezTo>
                  <a:pt x="243444" y="211776"/>
                  <a:pt x="121722" y="105888"/>
                  <a:pt x="0" y="0"/>
                </a:cubicBezTo>
              </a:path>
            </a:pathLst>
          </a:custGeom>
          <a:ln w="28575">
            <a:solidFill>
              <a:schemeClr val="tx1"/>
            </a:solidFill>
            <a:prstDash val="sysDash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eeform 55"/>
          <p:cNvSpPr/>
          <p:nvPr/>
        </p:nvSpPr>
        <p:spPr>
          <a:xfrm>
            <a:off x="5219700" y="2019300"/>
            <a:ext cx="1790700" cy="190500"/>
          </a:xfrm>
          <a:custGeom>
            <a:avLst/>
            <a:gdLst>
              <a:gd name="connsiteX0" fmla="*/ 1615045 w 1615045"/>
              <a:gd name="connsiteY0" fmla="*/ 201880 h 201880"/>
              <a:gd name="connsiteX1" fmla="*/ 1128156 w 1615045"/>
              <a:gd name="connsiteY1" fmla="*/ 118753 h 201880"/>
              <a:gd name="connsiteX2" fmla="*/ 391886 w 1615045"/>
              <a:gd name="connsiteY2" fmla="*/ 11875 h 201880"/>
              <a:gd name="connsiteX3" fmla="*/ 0 w 1615045"/>
              <a:gd name="connsiteY3" fmla="*/ 190005 h 201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15045" h="201880">
                <a:moveTo>
                  <a:pt x="1615045" y="201880"/>
                </a:moveTo>
                <a:cubicBezTo>
                  <a:pt x="1465613" y="175160"/>
                  <a:pt x="1332016" y="150420"/>
                  <a:pt x="1128156" y="118753"/>
                </a:cubicBezTo>
                <a:cubicBezTo>
                  <a:pt x="924296" y="87086"/>
                  <a:pt x="579912" y="0"/>
                  <a:pt x="391886" y="11875"/>
                </a:cubicBezTo>
                <a:cubicBezTo>
                  <a:pt x="203860" y="23750"/>
                  <a:pt x="101930" y="106877"/>
                  <a:pt x="0" y="190005"/>
                </a:cubicBezTo>
              </a:path>
            </a:pathLst>
          </a:custGeom>
          <a:ln w="28575">
            <a:solidFill>
              <a:schemeClr val="tx1"/>
            </a:solidFill>
            <a:prstDash val="sysDash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 57"/>
          <p:cNvSpPr/>
          <p:nvPr/>
        </p:nvSpPr>
        <p:spPr>
          <a:xfrm>
            <a:off x="2945081" y="1943100"/>
            <a:ext cx="2693719" cy="289461"/>
          </a:xfrm>
          <a:custGeom>
            <a:avLst/>
            <a:gdLst>
              <a:gd name="connsiteX0" fmla="*/ 2327563 w 2327563"/>
              <a:gd name="connsiteY0" fmla="*/ 65314 h 243444"/>
              <a:gd name="connsiteX1" fmla="*/ 807522 w 2327563"/>
              <a:gd name="connsiteY1" fmla="*/ 29688 h 243444"/>
              <a:gd name="connsiteX2" fmla="*/ 0 w 2327563"/>
              <a:gd name="connsiteY2" fmla="*/ 243444 h 243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27563" h="243444">
                <a:moveTo>
                  <a:pt x="2327563" y="65314"/>
                </a:moveTo>
                <a:cubicBezTo>
                  <a:pt x="1761506" y="32657"/>
                  <a:pt x="1195449" y="0"/>
                  <a:pt x="807522" y="29688"/>
                </a:cubicBezTo>
                <a:cubicBezTo>
                  <a:pt x="419595" y="59376"/>
                  <a:pt x="209797" y="151410"/>
                  <a:pt x="0" y="243444"/>
                </a:cubicBezTo>
              </a:path>
            </a:pathLst>
          </a:custGeom>
          <a:ln w="28575">
            <a:solidFill>
              <a:schemeClr val="tx1"/>
            </a:solidFill>
            <a:prstDash val="sysDash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 58"/>
          <p:cNvSpPr/>
          <p:nvPr/>
        </p:nvSpPr>
        <p:spPr>
          <a:xfrm>
            <a:off x="1460664" y="1790700"/>
            <a:ext cx="2577935" cy="441861"/>
          </a:xfrm>
          <a:custGeom>
            <a:avLst/>
            <a:gdLst>
              <a:gd name="connsiteX0" fmla="*/ 2458192 w 2458192"/>
              <a:gd name="connsiteY0" fmla="*/ 144483 h 370114"/>
              <a:gd name="connsiteX1" fmla="*/ 760021 w 2458192"/>
              <a:gd name="connsiteY1" fmla="*/ 37605 h 370114"/>
              <a:gd name="connsiteX2" fmla="*/ 0 w 2458192"/>
              <a:gd name="connsiteY2" fmla="*/ 370114 h 370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58192" h="370114">
                <a:moveTo>
                  <a:pt x="2458192" y="144483"/>
                </a:moveTo>
                <a:cubicBezTo>
                  <a:pt x="1813956" y="72241"/>
                  <a:pt x="1169720" y="0"/>
                  <a:pt x="760021" y="37605"/>
                </a:cubicBezTo>
                <a:cubicBezTo>
                  <a:pt x="350322" y="75210"/>
                  <a:pt x="175161" y="222662"/>
                  <a:pt x="0" y="370114"/>
                </a:cubicBezTo>
              </a:path>
            </a:pathLst>
          </a:custGeom>
          <a:ln w="28575">
            <a:solidFill>
              <a:schemeClr val="tx1"/>
            </a:solidFill>
            <a:prstDash val="sysDash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533400" y="838201"/>
            <a:ext cx="8229600" cy="5753099"/>
          </a:xfrm>
        </p:spPr>
        <p:txBody>
          <a:bodyPr/>
          <a:lstStyle/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endParaRPr lang="en-US" sz="2800" dirty="0" smtClean="0"/>
          </a:p>
          <a:p>
            <a:pPr lvl="0">
              <a:defRPr/>
            </a:pPr>
            <a:endParaRPr lang="en-US" sz="2400" dirty="0" smtClean="0"/>
          </a:p>
          <a:p>
            <a:endParaRPr lang="en-US" sz="2000" dirty="0" smtClean="0"/>
          </a:p>
          <a:p>
            <a:pPr lvl="1">
              <a:buFont typeface="Arial" charset="0"/>
              <a:buNone/>
            </a:pPr>
            <a:endParaRPr lang="en-US" sz="2000" dirty="0" smtClean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64" name="Down Arrow 63"/>
          <p:cNvSpPr/>
          <p:nvPr/>
        </p:nvSpPr>
        <p:spPr>
          <a:xfrm>
            <a:off x="2171700" y="1143000"/>
            <a:ext cx="4076700" cy="571500"/>
          </a:xfrm>
          <a:prstGeom prst="downArrow">
            <a:avLst>
              <a:gd name="adj1" fmla="val 50000"/>
              <a:gd name="adj2" fmla="val 66364"/>
            </a:avLst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3022687" y="762000"/>
            <a:ext cx="25780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+mj-lt"/>
              </a:rPr>
              <a:t>DESIGN SPECIFICATION</a:t>
            </a:r>
            <a:endParaRPr lang="en-US" sz="2000" dirty="0">
              <a:latin typeface="+mj-lt"/>
            </a:endParaRPr>
          </a:p>
        </p:txBody>
      </p:sp>
      <p:sp>
        <p:nvSpPr>
          <p:cNvPr id="66" name="Down Arrow 65"/>
          <p:cNvSpPr/>
          <p:nvPr/>
        </p:nvSpPr>
        <p:spPr>
          <a:xfrm flipV="1">
            <a:off x="2247900" y="4476690"/>
            <a:ext cx="4076700" cy="533400"/>
          </a:xfrm>
          <a:prstGeom prst="downArrow">
            <a:avLst>
              <a:gd name="adj1" fmla="val 50000"/>
              <a:gd name="adj2" fmla="val 66364"/>
            </a:avLst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/>
          <p:cNvSpPr txBox="1"/>
          <p:nvPr/>
        </p:nvSpPr>
        <p:spPr>
          <a:xfrm>
            <a:off x="1992092" y="5048190"/>
            <a:ext cx="459920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  <a:latin typeface="+mj-lt"/>
              </a:rPr>
              <a:t>CIRCUIT ANALYSIS / ENGINEERING 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  <a:latin typeface="+mj-lt"/>
              </a:rPr>
              <a:t>(what this course is about)</a:t>
            </a:r>
            <a:endParaRPr lang="en-US" sz="2400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30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2" name="Title 1"/>
          <p:cNvSpPr txBox="1">
            <a:spLocks/>
          </p:cNvSpPr>
          <p:nvPr/>
        </p:nvSpPr>
        <p:spPr bwMode="auto">
          <a:xfrm>
            <a:off x="457200" y="122237"/>
            <a:ext cx="7239000" cy="56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Basic Electrical Engineering Design Flow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90600" y="2247900"/>
            <a:ext cx="990600" cy="6477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Concept</a:t>
            </a:r>
            <a:endParaRPr lang="en-US" b="1" i="1" dirty="0">
              <a:solidFill>
                <a:srgbClr val="C00000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324100" y="2247900"/>
            <a:ext cx="2095500" cy="6477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Circuit Model/ Analysis/Simulation</a:t>
            </a:r>
            <a:endParaRPr lang="en-US" b="1" i="1" dirty="0">
              <a:solidFill>
                <a:srgbClr val="C00000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914900" y="2247900"/>
            <a:ext cx="1143000" cy="647700"/>
          </a:xfrm>
          <a:prstGeom prst="rect">
            <a:avLst/>
          </a:prstGeom>
          <a:noFill/>
          <a:ln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 smtClean="0">
                <a:solidFill>
                  <a:schemeClr val="tx2"/>
                </a:solidFill>
              </a:rPr>
              <a:t>Physical</a:t>
            </a:r>
          </a:p>
          <a:p>
            <a:pPr algn="ctr"/>
            <a:r>
              <a:rPr lang="en-US" b="1" i="1" dirty="0" smtClean="0">
                <a:solidFill>
                  <a:schemeClr val="tx2"/>
                </a:solidFill>
              </a:rPr>
              <a:t>Prototype</a:t>
            </a:r>
            <a:endParaRPr lang="en-US" b="1" i="1" dirty="0">
              <a:solidFill>
                <a:schemeClr val="tx2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438900" y="2247900"/>
            <a:ext cx="1181100" cy="647700"/>
          </a:xfrm>
          <a:prstGeom prst="rect">
            <a:avLst/>
          </a:prstGeom>
          <a:noFill/>
          <a:ln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 smtClean="0">
                <a:solidFill>
                  <a:schemeClr val="tx2"/>
                </a:solidFill>
              </a:rPr>
              <a:t>Validation</a:t>
            </a:r>
            <a:endParaRPr lang="en-US" b="1" i="1" dirty="0">
              <a:solidFill>
                <a:schemeClr val="tx2"/>
              </a:solidFill>
            </a:endParaRPr>
          </a:p>
        </p:txBody>
      </p:sp>
      <p:cxnSp>
        <p:nvCxnSpPr>
          <p:cNvPr id="37" name="Straight Arrow Connector 36"/>
          <p:cNvCxnSpPr>
            <a:endCxn id="33" idx="1"/>
          </p:cNvCxnSpPr>
          <p:nvPr/>
        </p:nvCxnSpPr>
        <p:spPr>
          <a:xfrm>
            <a:off x="1981200" y="2552700"/>
            <a:ext cx="342900" cy="1905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6057900" y="2590800"/>
            <a:ext cx="381000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6019800" y="3581400"/>
            <a:ext cx="1181100" cy="6477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Validation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3733800" y="3581400"/>
            <a:ext cx="1905000" cy="6477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Physical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Design/Simulation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44" name="Straight Arrow Connector 43"/>
          <p:cNvCxnSpPr>
            <a:stCxn id="33" idx="3"/>
            <a:endCxn id="34" idx="1"/>
          </p:cNvCxnSpPr>
          <p:nvPr/>
        </p:nvCxnSpPr>
        <p:spPr>
          <a:xfrm>
            <a:off x="4419600" y="2571750"/>
            <a:ext cx="495300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5638800" y="3886200"/>
            <a:ext cx="381000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hape 49"/>
          <p:cNvCxnSpPr/>
          <p:nvPr/>
        </p:nvCxnSpPr>
        <p:spPr>
          <a:xfrm rot="10800000" flipV="1">
            <a:off x="3352800" y="2609850"/>
            <a:ext cx="4267200" cy="628650"/>
          </a:xfrm>
          <a:prstGeom prst="bentConnector3">
            <a:avLst>
              <a:gd name="adj1" fmla="val -2902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rot="5400000">
            <a:off x="3028950" y="3562350"/>
            <a:ext cx="647700" cy="15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>
            <a:off x="3352800" y="3886200"/>
            <a:ext cx="381000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Freeform 51"/>
          <p:cNvSpPr/>
          <p:nvPr/>
        </p:nvSpPr>
        <p:spPr>
          <a:xfrm>
            <a:off x="4610100" y="3321133"/>
            <a:ext cx="1933204" cy="222167"/>
          </a:xfrm>
          <a:custGeom>
            <a:avLst/>
            <a:gdLst>
              <a:gd name="connsiteX0" fmla="*/ 1959429 w 1959429"/>
              <a:gd name="connsiteY0" fmla="*/ 253340 h 277090"/>
              <a:gd name="connsiteX1" fmla="*/ 1175657 w 1959429"/>
              <a:gd name="connsiteY1" fmla="*/ 3958 h 277090"/>
              <a:gd name="connsiteX2" fmla="*/ 0 w 1959429"/>
              <a:gd name="connsiteY2" fmla="*/ 277090 h 277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59429" h="277090">
                <a:moveTo>
                  <a:pt x="1959429" y="253340"/>
                </a:moveTo>
                <a:cubicBezTo>
                  <a:pt x="1730828" y="126670"/>
                  <a:pt x="1502228" y="0"/>
                  <a:pt x="1175657" y="3958"/>
                </a:cubicBezTo>
                <a:cubicBezTo>
                  <a:pt x="849086" y="7916"/>
                  <a:pt x="424543" y="142503"/>
                  <a:pt x="0" y="277090"/>
                </a:cubicBezTo>
              </a:path>
            </a:pathLst>
          </a:custGeom>
          <a:ln w="28575">
            <a:solidFill>
              <a:schemeClr val="tx1"/>
            </a:solidFill>
            <a:prstDash val="sysDash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Freeform 52"/>
          <p:cNvSpPr/>
          <p:nvPr/>
        </p:nvSpPr>
        <p:spPr>
          <a:xfrm>
            <a:off x="5140037" y="2897579"/>
            <a:ext cx="298862" cy="439387"/>
          </a:xfrm>
          <a:custGeom>
            <a:avLst/>
            <a:gdLst>
              <a:gd name="connsiteX0" fmla="*/ 298862 w 298862"/>
              <a:gd name="connsiteY0" fmla="*/ 439387 h 439387"/>
              <a:gd name="connsiteX1" fmla="*/ 49480 w 298862"/>
              <a:gd name="connsiteY1" fmla="*/ 201881 h 439387"/>
              <a:gd name="connsiteX2" fmla="*/ 1979 w 298862"/>
              <a:gd name="connsiteY2" fmla="*/ 0 h 439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8862" h="439387">
                <a:moveTo>
                  <a:pt x="298862" y="439387"/>
                </a:moveTo>
                <a:cubicBezTo>
                  <a:pt x="198911" y="357249"/>
                  <a:pt x="98961" y="275112"/>
                  <a:pt x="49480" y="201881"/>
                </a:cubicBezTo>
                <a:cubicBezTo>
                  <a:pt x="0" y="128650"/>
                  <a:pt x="989" y="64325"/>
                  <a:pt x="1979" y="0"/>
                </a:cubicBezTo>
              </a:path>
            </a:pathLst>
          </a:custGeom>
          <a:ln w="28575">
            <a:solidFill>
              <a:schemeClr val="tx1"/>
            </a:solidFill>
            <a:prstDash val="sysDash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 53"/>
          <p:cNvSpPr/>
          <p:nvPr/>
        </p:nvSpPr>
        <p:spPr>
          <a:xfrm>
            <a:off x="2897579" y="2897579"/>
            <a:ext cx="2327564" cy="261257"/>
          </a:xfrm>
          <a:custGeom>
            <a:avLst/>
            <a:gdLst>
              <a:gd name="connsiteX0" fmla="*/ 2327564 w 2327564"/>
              <a:gd name="connsiteY0" fmla="*/ 261257 h 261257"/>
              <a:gd name="connsiteX1" fmla="*/ 1436915 w 2327564"/>
              <a:gd name="connsiteY1" fmla="*/ 130629 h 261257"/>
              <a:gd name="connsiteX2" fmla="*/ 356260 w 2327564"/>
              <a:gd name="connsiteY2" fmla="*/ 166255 h 261257"/>
              <a:gd name="connsiteX3" fmla="*/ 0 w 2327564"/>
              <a:gd name="connsiteY3" fmla="*/ 0 h 261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7564" h="261257">
                <a:moveTo>
                  <a:pt x="2327564" y="261257"/>
                </a:moveTo>
                <a:cubicBezTo>
                  <a:pt x="2046515" y="203860"/>
                  <a:pt x="1765466" y="146463"/>
                  <a:pt x="1436915" y="130629"/>
                </a:cubicBezTo>
                <a:cubicBezTo>
                  <a:pt x="1108364" y="114795"/>
                  <a:pt x="595746" y="188026"/>
                  <a:pt x="356260" y="166255"/>
                </a:cubicBezTo>
                <a:cubicBezTo>
                  <a:pt x="116774" y="144484"/>
                  <a:pt x="58387" y="72242"/>
                  <a:pt x="0" y="0"/>
                </a:cubicBezTo>
              </a:path>
            </a:pathLst>
          </a:custGeom>
          <a:ln w="28575">
            <a:solidFill>
              <a:schemeClr val="tx1"/>
            </a:solidFill>
            <a:prstDash val="sysDash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reeform 54"/>
          <p:cNvSpPr/>
          <p:nvPr/>
        </p:nvSpPr>
        <p:spPr>
          <a:xfrm>
            <a:off x="1520042" y="2909455"/>
            <a:ext cx="1674420" cy="263236"/>
          </a:xfrm>
          <a:custGeom>
            <a:avLst/>
            <a:gdLst>
              <a:gd name="connsiteX0" fmla="*/ 1674420 w 1674420"/>
              <a:gd name="connsiteY0" fmla="*/ 154379 h 263236"/>
              <a:gd name="connsiteX1" fmla="*/ 522514 w 1674420"/>
              <a:gd name="connsiteY1" fmla="*/ 237506 h 263236"/>
              <a:gd name="connsiteX2" fmla="*/ 0 w 1674420"/>
              <a:gd name="connsiteY2" fmla="*/ 0 h 263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74420" h="263236">
                <a:moveTo>
                  <a:pt x="1674420" y="154379"/>
                </a:moveTo>
                <a:cubicBezTo>
                  <a:pt x="1238002" y="208807"/>
                  <a:pt x="801584" y="263236"/>
                  <a:pt x="522514" y="237506"/>
                </a:cubicBezTo>
                <a:cubicBezTo>
                  <a:pt x="243444" y="211776"/>
                  <a:pt x="121722" y="105888"/>
                  <a:pt x="0" y="0"/>
                </a:cubicBezTo>
              </a:path>
            </a:pathLst>
          </a:custGeom>
          <a:ln w="28575">
            <a:solidFill>
              <a:schemeClr val="tx1"/>
            </a:solidFill>
            <a:prstDash val="sysDash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eeform 55"/>
          <p:cNvSpPr/>
          <p:nvPr/>
        </p:nvSpPr>
        <p:spPr>
          <a:xfrm>
            <a:off x="5219700" y="2019300"/>
            <a:ext cx="1790700" cy="190500"/>
          </a:xfrm>
          <a:custGeom>
            <a:avLst/>
            <a:gdLst>
              <a:gd name="connsiteX0" fmla="*/ 1615045 w 1615045"/>
              <a:gd name="connsiteY0" fmla="*/ 201880 h 201880"/>
              <a:gd name="connsiteX1" fmla="*/ 1128156 w 1615045"/>
              <a:gd name="connsiteY1" fmla="*/ 118753 h 201880"/>
              <a:gd name="connsiteX2" fmla="*/ 391886 w 1615045"/>
              <a:gd name="connsiteY2" fmla="*/ 11875 h 201880"/>
              <a:gd name="connsiteX3" fmla="*/ 0 w 1615045"/>
              <a:gd name="connsiteY3" fmla="*/ 190005 h 201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15045" h="201880">
                <a:moveTo>
                  <a:pt x="1615045" y="201880"/>
                </a:moveTo>
                <a:cubicBezTo>
                  <a:pt x="1465613" y="175160"/>
                  <a:pt x="1332016" y="150420"/>
                  <a:pt x="1128156" y="118753"/>
                </a:cubicBezTo>
                <a:cubicBezTo>
                  <a:pt x="924296" y="87086"/>
                  <a:pt x="579912" y="0"/>
                  <a:pt x="391886" y="11875"/>
                </a:cubicBezTo>
                <a:cubicBezTo>
                  <a:pt x="203860" y="23750"/>
                  <a:pt x="101930" y="106877"/>
                  <a:pt x="0" y="190005"/>
                </a:cubicBezTo>
              </a:path>
            </a:pathLst>
          </a:custGeom>
          <a:ln w="28575">
            <a:solidFill>
              <a:schemeClr val="tx1"/>
            </a:solidFill>
            <a:prstDash val="sysDash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 57"/>
          <p:cNvSpPr/>
          <p:nvPr/>
        </p:nvSpPr>
        <p:spPr>
          <a:xfrm>
            <a:off x="2945081" y="1943100"/>
            <a:ext cx="2693719" cy="289461"/>
          </a:xfrm>
          <a:custGeom>
            <a:avLst/>
            <a:gdLst>
              <a:gd name="connsiteX0" fmla="*/ 2327563 w 2327563"/>
              <a:gd name="connsiteY0" fmla="*/ 65314 h 243444"/>
              <a:gd name="connsiteX1" fmla="*/ 807522 w 2327563"/>
              <a:gd name="connsiteY1" fmla="*/ 29688 h 243444"/>
              <a:gd name="connsiteX2" fmla="*/ 0 w 2327563"/>
              <a:gd name="connsiteY2" fmla="*/ 243444 h 243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27563" h="243444">
                <a:moveTo>
                  <a:pt x="2327563" y="65314"/>
                </a:moveTo>
                <a:cubicBezTo>
                  <a:pt x="1761506" y="32657"/>
                  <a:pt x="1195449" y="0"/>
                  <a:pt x="807522" y="29688"/>
                </a:cubicBezTo>
                <a:cubicBezTo>
                  <a:pt x="419595" y="59376"/>
                  <a:pt x="209797" y="151410"/>
                  <a:pt x="0" y="243444"/>
                </a:cubicBezTo>
              </a:path>
            </a:pathLst>
          </a:custGeom>
          <a:ln w="28575">
            <a:solidFill>
              <a:schemeClr val="tx1"/>
            </a:solidFill>
            <a:prstDash val="sysDash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 58"/>
          <p:cNvSpPr/>
          <p:nvPr/>
        </p:nvSpPr>
        <p:spPr>
          <a:xfrm>
            <a:off x="1460664" y="1790700"/>
            <a:ext cx="2577935" cy="441861"/>
          </a:xfrm>
          <a:custGeom>
            <a:avLst/>
            <a:gdLst>
              <a:gd name="connsiteX0" fmla="*/ 2458192 w 2458192"/>
              <a:gd name="connsiteY0" fmla="*/ 144483 h 370114"/>
              <a:gd name="connsiteX1" fmla="*/ 760021 w 2458192"/>
              <a:gd name="connsiteY1" fmla="*/ 37605 h 370114"/>
              <a:gd name="connsiteX2" fmla="*/ 0 w 2458192"/>
              <a:gd name="connsiteY2" fmla="*/ 370114 h 370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58192" h="370114">
                <a:moveTo>
                  <a:pt x="2458192" y="144483"/>
                </a:moveTo>
                <a:cubicBezTo>
                  <a:pt x="1813956" y="72241"/>
                  <a:pt x="1169720" y="0"/>
                  <a:pt x="760021" y="37605"/>
                </a:cubicBezTo>
                <a:cubicBezTo>
                  <a:pt x="350322" y="75210"/>
                  <a:pt x="175161" y="222662"/>
                  <a:pt x="0" y="370114"/>
                </a:cubicBezTo>
              </a:path>
            </a:pathLst>
          </a:custGeom>
          <a:ln w="28575">
            <a:solidFill>
              <a:schemeClr val="tx1"/>
            </a:solidFill>
            <a:prstDash val="sysDash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838200" y="3543300"/>
            <a:ext cx="21717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C00000"/>
                </a:solidFill>
              </a:rPr>
              <a:t>Main Focus of Lectures</a:t>
            </a:r>
            <a:endParaRPr lang="tr-TR" sz="2000" b="1" i="1" dirty="0">
              <a:solidFill>
                <a:srgbClr val="C00000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781800" y="914400"/>
            <a:ext cx="21717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chemeClr val="tx2"/>
                </a:solidFill>
              </a:rPr>
              <a:t>Main Focus of Labs</a:t>
            </a:r>
            <a:endParaRPr lang="tr-TR" sz="2000" b="1" i="1" dirty="0">
              <a:solidFill>
                <a:schemeClr val="tx2"/>
              </a:solidFill>
            </a:endParaRPr>
          </a:p>
        </p:txBody>
      </p:sp>
      <p:cxnSp>
        <p:nvCxnSpPr>
          <p:cNvPr id="47" name="Straight Connector 46"/>
          <p:cNvCxnSpPr/>
          <p:nvPr/>
        </p:nvCxnSpPr>
        <p:spPr>
          <a:xfrm rot="10800000" flipV="1">
            <a:off x="2095500" y="2895600"/>
            <a:ext cx="2324100" cy="6096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V="1">
            <a:off x="4914900" y="1638300"/>
            <a:ext cx="2095500" cy="57150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rot="16200000" flipV="1">
            <a:off x="7034971" y="1651829"/>
            <a:ext cx="598558" cy="57150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>
            <a:off x="990600" y="2857500"/>
            <a:ext cx="1066800" cy="6477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115549" y="5947134"/>
            <a:ext cx="71049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Goal: Minimize the number and extend of “loops”</a:t>
            </a:r>
          </a:p>
          <a:p>
            <a:r>
              <a:rPr lang="en-US" sz="2000" b="1" dirty="0" smtClean="0"/>
              <a:t>from a later to an earlier stage of the design flow (Cost !)</a:t>
            </a:r>
            <a:endParaRPr lang="en-US" sz="2000" b="1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2"/>
          <p:cNvSpPr>
            <a:spLocks noGrp="1"/>
          </p:cNvSpPr>
          <p:nvPr>
            <p:ph type="title"/>
          </p:nvPr>
        </p:nvSpPr>
        <p:spPr>
          <a:xfrm>
            <a:off x="458788" y="923925"/>
            <a:ext cx="8229600" cy="1143000"/>
          </a:xfrm>
        </p:spPr>
        <p:txBody>
          <a:bodyPr/>
          <a:lstStyle/>
          <a:p>
            <a:r>
              <a:rPr lang="tr-TR" altLang="en-US" smtClean="0"/>
              <a:t>Electrical Elements</a:t>
            </a:r>
            <a:endParaRPr lang="en-GB" altLang="en-US" smtClean="0"/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4131EA5-301C-45F9-8740-DBAF707715B2}" type="slidenum">
              <a:rPr lang="en-US" altLang="en-US" sz="1200" smtClean="0">
                <a:solidFill>
                  <a:srgbClr val="898989"/>
                </a:solidFill>
                <a:cs typeface="Arial" charset="0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200" smtClean="0">
              <a:solidFill>
                <a:srgbClr val="898989"/>
              </a:solidFill>
              <a:cs typeface="Arial" charset="0"/>
            </a:endParaRPr>
          </a:p>
        </p:txBody>
      </p:sp>
      <p:pic>
        <p:nvPicPr>
          <p:cNvPr id="512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6613" y="2238375"/>
            <a:ext cx="2384425" cy="370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91092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457200" y="122237"/>
            <a:ext cx="7924800" cy="1135063"/>
          </a:xfrm>
        </p:spPr>
        <p:txBody>
          <a:bodyPr/>
          <a:lstStyle/>
          <a:p>
            <a:r>
              <a:rPr lang="en-US" sz="2800" dirty="0" smtClean="0"/>
              <a:t>Basic Circuit Analysis Flow </a:t>
            </a:r>
            <a:br>
              <a:rPr lang="en-US" sz="2800" dirty="0" smtClean="0"/>
            </a:br>
            <a:r>
              <a:rPr lang="en-US" sz="2800" dirty="0" smtClean="0"/>
              <a:t>(what we will do in this class)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533400" y="838201"/>
            <a:ext cx="8229600" cy="5753099"/>
          </a:xfrm>
        </p:spPr>
        <p:txBody>
          <a:bodyPr/>
          <a:lstStyle/>
          <a:p>
            <a:endParaRPr lang="en-US" sz="2400" i="1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endParaRPr lang="en-US" sz="2800" dirty="0" smtClean="0"/>
          </a:p>
          <a:p>
            <a:pPr lvl="0">
              <a:defRPr/>
            </a:pPr>
            <a:endParaRPr lang="en-US" sz="2400" dirty="0" smtClean="0"/>
          </a:p>
          <a:p>
            <a:endParaRPr lang="en-US" sz="2000" dirty="0" smtClean="0"/>
          </a:p>
          <a:p>
            <a:pPr lvl="1">
              <a:buFont typeface="Arial" charset="0"/>
              <a:buNone/>
            </a:pPr>
            <a:endParaRPr lang="en-US" sz="2000" dirty="0" smtClean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47700" y="2057400"/>
            <a:ext cx="1219200" cy="1524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Problem Statement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457200" y="122237"/>
            <a:ext cx="7924800" cy="1135063"/>
          </a:xfrm>
        </p:spPr>
        <p:txBody>
          <a:bodyPr/>
          <a:lstStyle/>
          <a:p>
            <a:r>
              <a:rPr lang="en-US" sz="2800" dirty="0" smtClean="0"/>
              <a:t>Basic Circuit Analysis Flow </a:t>
            </a:r>
            <a:br>
              <a:rPr lang="en-US" sz="2800" dirty="0" smtClean="0"/>
            </a:br>
            <a:r>
              <a:rPr lang="en-US" sz="2800" dirty="0" smtClean="0"/>
              <a:t>(what we will do in this class)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533400" y="838201"/>
            <a:ext cx="8229600" cy="5753099"/>
          </a:xfrm>
        </p:spPr>
        <p:txBody>
          <a:bodyPr/>
          <a:lstStyle/>
          <a:p>
            <a:endParaRPr lang="en-US" sz="2400" i="1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endParaRPr lang="en-US" sz="2800" dirty="0" smtClean="0"/>
          </a:p>
          <a:p>
            <a:pPr lvl="0">
              <a:defRPr/>
            </a:pPr>
            <a:endParaRPr lang="en-US" sz="2400" dirty="0" smtClean="0"/>
          </a:p>
          <a:p>
            <a:endParaRPr lang="en-US" sz="2000" dirty="0" smtClean="0"/>
          </a:p>
          <a:p>
            <a:pPr lvl="1">
              <a:buFont typeface="Arial" charset="0"/>
              <a:buNone/>
            </a:pPr>
            <a:endParaRPr lang="en-US" sz="2000" dirty="0" smtClean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47700" y="2057400"/>
            <a:ext cx="1219200" cy="1524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Problem Statement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47900" y="2057400"/>
            <a:ext cx="1409700" cy="1524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Simplified circuit diagram (visual)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6" name="Straight Arrow Connector 35"/>
          <p:cNvCxnSpPr/>
          <p:nvPr/>
        </p:nvCxnSpPr>
        <p:spPr>
          <a:xfrm>
            <a:off x="1866900" y="2627312"/>
            <a:ext cx="381000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457200" y="122237"/>
            <a:ext cx="7924800" cy="1135063"/>
          </a:xfrm>
        </p:spPr>
        <p:txBody>
          <a:bodyPr/>
          <a:lstStyle/>
          <a:p>
            <a:r>
              <a:rPr lang="en-US" sz="2800" dirty="0" smtClean="0"/>
              <a:t>Basic Circuit Analysis Flow </a:t>
            </a:r>
            <a:br>
              <a:rPr lang="en-US" sz="2800" dirty="0" smtClean="0"/>
            </a:br>
            <a:r>
              <a:rPr lang="en-US" sz="2800" dirty="0" smtClean="0"/>
              <a:t>(what we will do in this class)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533400" y="838201"/>
            <a:ext cx="8229600" cy="5753099"/>
          </a:xfrm>
        </p:spPr>
        <p:txBody>
          <a:bodyPr/>
          <a:lstStyle/>
          <a:p>
            <a:endParaRPr lang="en-US" sz="2400" i="1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endParaRPr lang="en-US" sz="2800" dirty="0" smtClean="0"/>
          </a:p>
          <a:p>
            <a:pPr lvl="0">
              <a:defRPr/>
            </a:pPr>
            <a:endParaRPr lang="en-US" sz="2400" dirty="0" smtClean="0"/>
          </a:p>
          <a:p>
            <a:endParaRPr lang="en-US" sz="2000" dirty="0" smtClean="0"/>
          </a:p>
          <a:p>
            <a:pPr lvl="1">
              <a:buFont typeface="Arial" charset="0"/>
              <a:buNone/>
            </a:pPr>
            <a:endParaRPr lang="en-US" sz="2000" dirty="0" smtClean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47700" y="2057400"/>
            <a:ext cx="1219200" cy="1524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Problem Statement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47900" y="2057400"/>
            <a:ext cx="1409700" cy="1524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Simplified circuit diagram (visual)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038600" y="2057400"/>
            <a:ext cx="1219200" cy="1524000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Pick analysis method / apply creativity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6" name="Straight Arrow Connector 35"/>
          <p:cNvCxnSpPr/>
          <p:nvPr/>
        </p:nvCxnSpPr>
        <p:spPr>
          <a:xfrm>
            <a:off x="1866900" y="2627312"/>
            <a:ext cx="381000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>
            <a:off x="3657600" y="2627312"/>
            <a:ext cx="381000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457200" y="122237"/>
            <a:ext cx="7924800" cy="1135063"/>
          </a:xfrm>
        </p:spPr>
        <p:txBody>
          <a:bodyPr/>
          <a:lstStyle/>
          <a:p>
            <a:r>
              <a:rPr lang="en-US" sz="2800" dirty="0" smtClean="0"/>
              <a:t>Basic Circuit Analysis Flow </a:t>
            </a:r>
            <a:br>
              <a:rPr lang="en-US" sz="2800" dirty="0" smtClean="0"/>
            </a:br>
            <a:r>
              <a:rPr lang="en-US" sz="2800" dirty="0" smtClean="0"/>
              <a:t>(what we will do in this class)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533400" y="838201"/>
            <a:ext cx="8229600" cy="5753099"/>
          </a:xfrm>
        </p:spPr>
        <p:txBody>
          <a:bodyPr/>
          <a:lstStyle/>
          <a:p>
            <a:endParaRPr lang="en-US" sz="2400" i="1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endParaRPr lang="en-US" sz="2800" dirty="0" smtClean="0"/>
          </a:p>
          <a:p>
            <a:pPr lvl="0">
              <a:defRPr/>
            </a:pPr>
            <a:endParaRPr lang="en-US" sz="2400" dirty="0" smtClean="0"/>
          </a:p>
          <a:p>
            <a:endParaRPr lang="en-US" sz="2000" dirty="0" smtClean="0"/>
          </a:p>
          <a:p>
            <a:pPr lvl="1">
              <a:buFont typeface="Arial" charset="0"/>
              <a:buNone/>
            </a:pPr>
            <a:endParaRPr lang="en-US" sz="2000" dirty="0" smtClean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47700" y="2057400"/>
            <a:ext cx="1219200" cy="1524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Problem Statement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47900" y="2057400"/>
            <a:ext cx="1409700" cy="1524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Simplified circuit diagram (visual)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038600" y="2057400"/>
            <a:ext cx="1219200" cy="1524000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Pick analysis method / apply creativity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6" name="Straight Arrow Connector 35"/>
          <p:cNvCxnSpPr/>
          <p:nvPr/>
        </p:nvCxnSpPr>
        <p:spPr>
          <a:xfrm>
            <a:off x="1866900" y="2627312"/>
            <a:ext cx="381000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5257800" y="2628900"/>
            <a:ext cx="381000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>
            <a:off x="3657600" y="2627312"/>
            <a:ext cx="381000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638800" y="2057400"/>
            <a:ext cx="1066800" cy="1524000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Calculate a solution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457200" y="122237"/>
            <a:ext cx="7924800" cy="1135063"/>
          </a:xfrm>
        </p:spPr>
        <p:txBody>
          <a:bodyPr/>
          <a:lstStyle/>
          <a:p>
            <a:r>
              <a:rPr lang="en-US" sz="2800" dirty="0" smtClean="0"/>
              <a:t>Basic Circuit Analysis Flow </a:t>
            </a:r>
            <a:br>
              <a:rPr lang="en-US" sz="2800" dirty="0" smtClean="0"/>
            </a:br>
            <a:r>
              <a:rPr lang="en-US" sz="2800" dirty="0" smtClean="0"/>
              <a:t>(what we will do in this class)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533400" y="838201"/>
            <a:ext cx="8229600" cy="5753099"/>
          </a:xfrm>
        </p:spPr>
        <p:txBody>
          <a:bodyPr/>
          <a:lstStyle/>
          <a:p>
            <a:endParaRPr lang="en-US" sz="2400" i="1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endParaRPr lang="en-US" sz="2800" dirty="0" smtClean="0"/>
          </a:p>
          <a:p>
            <a:pPr lvl="0">
              <a:defRPr/>
            </a:pPr>
            <a:endParaRPr lang="en-US" sz="2400" dirty="0" smtClean="0"/>
          </a:p>
          <a:p>
            <a:endParaRPr lang="en-US" sz="2000" dirty="0" smtClean="0"/>
          </a:p>
          <a:p>
            <a:pPr lvl="1">
              <a:buFont typeface="Arial" charset="0"/>
              <a:buNone/>
            </a:pPr>
            <a:endParaRPr lang="en-US" sz="2000" dirty="0" smtClean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47700" y="2057400"/>
            <a:ext cx="1219200" cy="1524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Problem Statement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47900" y="2057400"/>
            <a:ext cx="1409700" cy="1524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Simplified circuit diagram (visual)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038600" y="2057400"/>
            <a:ext cx="1219200" cy="1524000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Pick analysis method / apply creativity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6" name="Straight Arrow Connector 35"/>
          <p:cNvCxnSpPr/>
          <p:nvPr/>
        </p:nvCxnSpPr>
        <p:spPr>
          <a:xfrm>
            <a:off x="1866900" y="2627312"/>
            <a:ext cx="381000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5257800" y="2628900"/>
            <a:ext cx="381000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>
            <a:off x="3657600" y="2627312"/>
            <a:ext cx="381000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638800" y="2057400"/>
            <a:ext cx="1066800" cy="1524000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Calculate a solution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6705600" y="2628900"/>
            <a:ext cx="381000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7086600" y="2057400"/>
            <a:ext cx="1447800" cy="1524000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Test solution based on intuition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(or simulate)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457200" y="122237"/>
            <a:ext cx="7924800" cy="1135063"/>
          </a:xfrm>
        </p:spPr>
        <p:txBody>
          <a:bodyPr/>
          <a:lstStyle/>
          <a:p>
            <a:r>
              <a:rPr lang="en-US" sz="2800" dirty="0" smtClean="0"/>
              <a:t>Basic Circuit Analysis Flow </a:t>
            </a:r>
            <a:br>
              <a:rPr lang="en-US" sz="2800" dirty="0" smtClean="0"/>
            </a:br>
            <a:r>
              <a:rPr lang="en-US" sz="2800" dirty="0" smtClean="0"/>
              <a:t>(what we will do in this class)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533400" y="838201"/>
            <a:ext cx="8229600" cy="5753099"/>
          </a:xfrm>
        </p:spPr>
        <p:txBody>
          <a:bodyPr/>
          <a:lstStyle/>
          <a:p>
            <a:endParaRPr lang="en-US" sz="2400" i="1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endParaRPr lang="en-US" sz="2800" dirty="0" smtClean="0"/>
          </a:p>
          <a:p>
            <a:pPr lvl="0">
              <a:defRPr/>
            </a:pPr>
            <a:endParaRPr lang="en-US" sz="2400" dirty="0" smtClean="0"/>
          </a:p>
          <a:p>
            <a:endParaRPr lang="en-US" sz="2000" dirty="0" smtClean="0"/>
          </a:p>
          <a:p>
            <a:pPr lvl="1">
              <a:buFont typeface="Arial" charset="0"/>
              <a:buNone/>
            </a:pPr>
            <a:endParaRPr lang="en-US" sz="2000" dirty="0" smtClean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47700" y="2057400"/>
            <a:ext cx="1219200" cy="1524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Problem Statement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47900" y="2057400"/>
            <a:ext cx="1409700" cy="1524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Simplified circuit diagram (visual)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038600" y="2057400"/>
            <a:ext cx="1219200" cy="1524000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Pick analysis method / apply creativity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6" name="Straight Arrow Connector 35"/>
          <p:cNvCxnSpPr/>
          <p:nvPr/>
        </p:nvCxnSpPr>
        <p:spPr>
          <a:xfrm>
            <a:off x="1866900" y="2627312"/>
            <a:ext cx="381000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5257800" y="2628900"/>
            <a:ext cx="381000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>
            <a:off x="3657600" y="2627312"/>
            <a:ext cx="381000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638800" y="2057400"/>
            <a:ext cx="1066800" cy="1524000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Calculate a solution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6705600" y="2628900"/>
            <a:ext cx="381000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7086600" y="2057400"/>
            <a:ext cx="1447800" cy="1524000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Test solution based on intuition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(or simulate)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4" name="Content Placeholder 2"/>
          <p:cNvSpPr txBox="1">
            <a:spLocks/>
          </p:cNvSpPr>
          <p:nvPr/>
        </p:nvSpPr>
        <p:spPr bwMode="auto">
          <a:xfrm>
            <a:off x="571500" y="4038600"/>
            <a:ext cx="82296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Understand how electrical circuits work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Learn design and analysis using </a:t>
            </a:r>
            <a:r>
              <a:rPr kumimoji="0" lang="en-US" sz="2400" b="0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lumped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element models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Develop theoretical knowledge and practical lab skills useful for characterizing first and second order circuits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lang="en-US" sz="2400" dirty="0" smtClean="0">
                <a:latin typeface="+mn-lt"/>
              </a:rPr>
              <a:t>Get an introduction to CAD tools for design and simulation work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457200" y="114301"/>
            <a:ext cx="8229600" cy="563563"/>
          </a:xfrm>
        </p:spPr>
        <p:txBody>
          <a:bodyPr/>
          <a:lstStyle/>
          <a:p>
            <a:r>
              <a:rPr lang="en-US" sz="2800" dirty="0" smtClean="0"/>
              <a:t>Charge : </a:t>
            </a:r>
            <a:r>
              <a:rPr lang="en-US" sz="2800" i="1" dirty="0" smtClean="0"/>
              <a:t>Q</a:t>
            </a:r>
            <a:r>
              <a:rPr lang="en-US" sz="2800" dirty="0" smtClean="0"/>
              <a:t> or </a:t>
            </a:r>
            <a:r>
              <a:rPr lang="en-US" sz="2800" i="1" dirty="0" smtClean="0"/>
              <a:t>q</a:t>
            </a:r>
            <a:r>
              <a:rPr lang="en-US" sz="2800" dirty="0" smtClean="0"/>
              <a:t>(t) if time varying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533400" y="723900"/>
            <a:ext cx="8229600" cy="5105400"/>
          </a:xfrm>
        </p:spPr>
        <p:txBody>
          <a:bodyPr/>
          <a:lstStyle/>
          <a:p>
            <a:r>
              <a:rPr lang="en-US" sz="2400" dirty="0" smtClean="0"/>
              <a:t>Atoms made up of protons (with positive charge), neutrons (neutral), and electrons (with negative charge)</a:t>
            </a:r>
          </a:p>
          <a:p>
            <a:pPr lvl="1"/>
            <a:r>
              <a:rPr lang="en-US" sz="2000" dirty="0" smtClean="0"/>
              <a:t>A charge is bipolar i.e. either positive or negative</a:t>
            </a:r>
          </a:p>
          <a:p>
            <a:r>
              <a:rPr lang="en-US" sz="2400" dirty="0" smtClean="0"/>
              <a:t>Unit of Charge : Coulomb (C)</a:t>
            </a:r>
          </a:p>
          <a:p>
            <a:pPr lvl="1">
              <a:buNone/>
            </a:pPr>
            <a:endParaRPr lang="en-US" sz="2000" dirty="0" smtClean="0"/>
          </a:p>
          <a:p>
            <a:pPr lvl="1">
              <a:buNone/>
            </a:pPr>
            <a:endParaRPr lang="en-US" sz="2000" dirty="0" smtClean="0"/>
          </a:p>
          <a:p>
            <a:pPr lvl="1">
              <a:buNone/>
            </a:pPr>
            <a:endParaRPr lang="en-US" sz="2000" dirty="0" smtClean="0"/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457200" y="114301"/>
            <a:ext cx="8229600" cy="563563"/>
          </a:xfrm>
        </p:spPr>
        <p:txBody>
          <a:bodyPr/>
          <a:lstStyle/>
          <a:p>
            <a:r>
              <a:rPr lang="en-US" sz="2800" dirty="0" smtClean="0"/>
              <a:t>Charge : </a:t>
            </a:r>
            <a:r>
              <a:rPr lang="en-US" sz="2800" i="1" dirty="0" smtClean="0"/>
              <a:t>Q</a:t>
            </a:r>
            <a:r>
              <a:rPr lang="en-US" sz="2800" dirty="0" smtClean="0"/>
              <a:t> or </a:t>
            </a:r>
            <a:r>
              <a:rPr lang="en-US" sz="2800" i="1" dirty="0" smtClean="0"/>
              <a:t>q</a:t>
            </a:r>
            <a:r>
              <a:rPr lang="en-US" sz="2800" dirty="0" smtClean="0"/>
              <a:t>(t) if time varying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533400" y="723900"/>
            <a:ext cx="8229600" cy="5105400"/>
          </a:xfrm>
        </p:spPr>
        <p:txBody>
          <a:bodyPr/>
          <a:lstStyle/>
          <a:p>
            <a:r>
              <a:rPr lang="en-US" sz="2400" dirty="0" smtClean="0"/>
              <a:t>Atoms made up of protons (with positive charge), neutrons (neutral), and electrons (with negative charge)</a:t>
            </a:r>
          </a:p>
          <a:p>
            <a:pPr lvl="1"/>
            <a:r>
              <a:rPr lang="en-US" sz="2000" dirty="0" smtClean="0"/>
              <a:t>A charge is bipolar i.e. either positive or negative</a:t>
            </a:r>
          </a:p>
          <a:p>
            <a:r>
              <a:rPr lang="en-US" sz="2400" dirty="0" smtClean="0"/>
              <a:t>Unit of Charge : Coulomb (C)</a:t>
            </a:r>
          </a:p>
          <a:p>
            <a:r>
              <a:rPr lang="en-US" sz="2400" dirty="0" smtClean="0"/>
              <a:t>An electron has 1.6022 x 10</a:t>
            </a:r>
            <a:r>
              <a:rPr lang="en-US" sz="2400" baseline="30000" dirty="0" smtClean="0"/>
              <a:t>-19</a:t>
            </a:r>
            <a:r>
              <a:rPr lang="en-US" sz="2400" dirty="0" smtClean="0"/>
              <a:t> coulomb</a:t>
            </a:r>
          </a:p>
          <a:p>
            <a:r>
              <a:rPr lang="en-US" sz="2400" dirty="0" smtClean="0"/>
              <a:t>6.24 x 10</a:t>
            </a:r>
            <a:r>
              <a:rPr lang="en-US" sz="2400" baseline="30000" dirty="0" smtClean="0"/>
              <a:t>18</a:t>
            </a:r>
            <a:r>
              <a:rPr lang="en-US" sz="2400" dirty="0" smtClean="0"/>
              <a:t> electrons carry a charge of 1 coulomb</a:t>
            </a:r>
          </a:p>
          <a:p>
            <a:pPr lvl="1">
              <a:buNone/>
            </a:pPr>
            <a:endParaRPr lang="en-US" sz="2000" dirty="0" smtClean="0"/>
          </a:p>
          <a:p>
            <a:pPr lvl="1">
              <a:buNone/>
            </a:pPr>
            <a:endParaRPr lang="en-US" sz="2000" dirty="0" smtClean="0"/>
          </a:p>
          <a:p>
            <a:pPr lvl="1">
              <a:buNone/>
            </a:pPr>
            <a:endParaRPr lang="en-US" sz="2000" dirty="0" smtClean="0"/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457200" y="114301"/>
            <a:ext cx="8229600" cy="563563"/>
          </a:xfrm>
        </p:spPr>
        <p:txBody>
          <a:bodyPr/>
          <a:lstStyle/>
          <a:p>
            <a:r>
              <a:rPr lang="en-US" sz="2800" dirty="0" smtClean="0"/>
              <a:t>Charge : </a:t>
            </a:r>
            <a:r>
              <a:rPr lang="en-US" sz="2800" i="1" dirty="0" smtClean="0"/>
              <a:t>Q</a:t>
            </a:r>
            <a:r>
              <a:rPr lang="en-US" sz="2800" dirty="0" smtClean="0"/>
              <a:t> or </a:t>
            </a:r>
            <a:r>
              <a:rPr lang="en-US" sz="2800" i="1" dirty="0" smtClean="0"/>
              <a:t>q</a:t>
            </a:r>
            <a:r>
              <a:rPr lang="en-US" sz="2800" dirty="0" smtClean="0"/>
              <a:t>(t) if time varying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533400" y="723900"/>
            <a:ext cx="8229600" cy="5105400"/>
          </a:xfrm>
        </p:spPr>
        <p:txBody>
          <a:bodyPr/>
          <a:lstStyle/>
          <a:p>
            <a:r>
              <a:rPr lang="en-US" sz="2400" dirty="0" smtClean="0"/>
              <a:t>Atoms made up of protons (with positive charge), neutrons (neutral), and electrons (with negative charge)</a:t>
            </a:r>
          </a:p>
          <a:p>
            <a:pPr lvl="1"/>
            <a:r>
              <a:rPr lang="en-US" sz="2000" dirty="0" smtClean="0"/>
              <a:t>A charge is bipolar i.e. either positive or negative</a:t>
            </a:r>
          </a:p>
          <a:p>
            <a:r>
              <a:rPr lang="en-US" sz="2400" dirty="0" smtClean="0"/>
              <a:t>Unit of Charge : Coulomb (C)</a:t>
            </a:r>
          </a:p>
          <a:p>
            <a:r>
              <a:rPr lang="en-US" sz="2400" dirty="0" smtClean="0"/>
              <a:t>An electron has 1.6022 x 10</a:t>
            </a:r>
            <a:r>
              <a:rPr lang="en-US" sz="2400" baseline="30000" dirty="0" smtClean="0"/>
              <a:t>-19</a:t>
            </a:r>
            <a:r>
              <a:rPr lang="en-US" sz="2400" dirty="0" smtClean="0"/>
              <a:t> coulomb</a:t>
            </a:r>
          </a:p>
          <a:p>
            <a:r>
              <a:rPr lang="en-US" sz="2400" dirty="0" smtClean="0"/>
              <a:t>6.24 x 10</a:t>
            </a:r>
            <a:r>
              <a:rPr lang="en-US" sz="2400" baseline="30000" dirty="0" smtClean="0"/>
              <a:t>18</a:t>
            </a:r>
            <a:r>
              <a:rPr lang="en-US" sz="2400" dirty="0" smtClean="0"/>
              <a:t> electrons carry a charge of 1 coulomb</a:t>
            </a:r>
          </a:p>
          <a:p>
            <a:r>
              <a:rPr lang="en-US" sz="2400" dirty="0" smtClean="0"/>
              <a:t>Electric circuits are used to move charges at desired rates through circuit elements</a:t>
            </a:r>
          </a:p>
          <a:p>
            <a:pPr lvl="1">
              <a:buNone/>
            </a:pPr>
            <a:r>
              <a:rPr lang="en-US" sz="2000" dirty="0" smtClean="0"/>
              <a:t>	</a:t>
            </a:r>
            <a:r>
              <a:rPr lang="en-US" sz="2400" dirty="0" smtClean="0"/>
              <a:t>Motion of charge  		Electric fluid (current)</a:t>
            </a:r>
          </a:p>
          <a:p>
            <a:pPr lvl="1">
              <a:buNone/>
            </a:pPr>
            <a:r>
              <a:rPr lang="en-US" sz="2400" dirty="0" smtClean="0"/>
              <a:t>	Separation of charge		Electric force (voltage)</a:t>
            </a:r>
          </a:p>
          <a:p>
            <a:r>
              <a:rPr lang="en-US" sz="2400" dirty="0" smtClean="0"/>
              <a:t>Convention in this course: Positive charge moves to negative charge</a:t>
            </a:r>
          </a:p>
          <a:p>
            <a:pPr lvl="1">
              <a:buNone/>
            </a:pPr>
            <a:endParaRPr lang="en-US" sz="2000" dirty="0" smtClean="0"/>
          </a:p>
          <a:p>
            <a:pPr lvl="1">
              <a:buNone/>
            </a:pPr>
            <a:endParaRPr lang="en-US" sz="2000" dirty="0" smtClean="0"/>
          </a:p>
          <a:p>
            <a:pPr lvl="1">
              <a:buNone/>
            </a:pPr>
            <a:endParaRPr lang="en-US" sz="2000" dirty="0" smtClean="0"/>
          </a:p>
        </p:txBody>
      </p:sp>
      <p:sp>
        <p:nvSpPr>
          <p:cNvPr id="7" name="Right Arrow 6"/>
          <p:cNvSpPr/>
          <p:nvPr/>
        </p:nvSpPr>
        <p:spPr>
          <a:xfrm>
            <a:off x="4080360" y="4152900"/>
            <a:ext cx="952500" cy="228600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4076700" y="4572000"/>
            <a:ext cx="952500" cy="228600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457200" y="114301"/>
            <a:ext cx="8229600" cy="563563"/>
          </a:xfrm>
        </p:spPr>
        <p:txBody>
          <a:bodyPr/>
          <a:lstStyle/>
          <a:p>
            <a:r>
              <a:rPr lang="en-US" sz="2800" dirty="0" smtClean="0"/>
              <a:t>Charge : </a:t>
            </a:r>
            <a:r>
              <a:rPr lang="en-US" sz="2800" i="1" dirty="0" smtClean="0"/>
              <a:t>Q</a:t>
            </a:r>
            <a:r>
              <a:rPr lang="en-US" sz="2800" dirty="0" smtClean="0"/>
              <a:t> or </a:t>
            </a:r>
            <a:r>
              <a:rPr lang="en-US" sz="2800" i="1" dirty="0" smtClean="0"/>
              <a:t>q</a:t>
            </a:r>
            <a:r>
              <a:rPr lang="en-US" sz="2800" dirty="0" smtClean="0"/>
              <a:t>(t) if time varying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533400" y="723900"/>
            <a:ext cx="8229600" cy="5105400"/>
          </a:xfrm>
        </p:spPr>
        <p:txBody>
          <a:bodyPr/>
          <a:lstStyle/>
          <a:p>
            <a:r>
              <a:rPr lang="en-US" sz="2400" dirty="0" smtClean="0"/>
              <a:t>Atoms made up of protons (with positive charge), neutrons (neutral), and electrons (with negative charge)</a:t>
            </a:r>
          </a:p>
          <a:p>
            <a:pPr lvl="1"/>
            <a:r>
              <a:rPr lang="en-US" sz="2000" dirty="0" smtClean="0"/>
              <a:t>A charge is bipolar i.e. either positive or negative</a:t>
            </a:r>
          </a:p>
          <a:p>
            <a:r>
              <a:rPr lang="en-US" sz="2400" dirty="0" smtClean="0"/>
              <a:t>Unit of Charge : Coulomb (C)</a:t>
            </a:r>
          </a:p>
          <a:p>
            <a:r>
              <a:rPr lang="en-US" sz="2400" dirty="0" smtClean="0"/>
              <a:t>An electron has 1.6022 x 10</a:t>
            </a:r>
            <a:r>
              <a:rPr lang="en-US" sz="2400" baseline="30000" dirty="0" smtClean="0"/>
              <a:t>-19</a:t>
            </a:r>
            <a:r>
              <a:rPr lang="en-US" sz="2400" dirty="0" smtClean="0"/>
              <a:t> coulomb</a:t>
            </a:r>
          </a:p>
          <a:p>
            <a:r>
              <a:rPr lang="en-US" sz="2400" dirty="0" smtClean="0"/>
              <a:t>6.24 x 10</a:t>
            </a:r>
            <a:r>
              <a:rPr lang="en-US" sz="2400" baseline="30000" dirty="0" smtClean="0"/>
              <a:t>18</a:t>
            </a:r>
            <a:r>
              <a:rPr lang="en-US" sz="2400" dirty="0" smtClean="0"/>
              <a:t> electrons carry a charge of 1 coulomb</a:t>
            </a:r>
          </a:p>
          <a:p>
            <a:r>
              <a:rPr lang="en-US" sz="2400" dirty="0" smtClean="0"/>
              <a:t>Electric circuits are used to move charges at desired rates through circuit elements</a:t>
            </a:r>
          </a:p>
          <a:p>
            <a:pPr lvl="1">
              <a:buNone/>
            </a:pPr>
            <a:r>
              <a:rPr lang="en-US" sz="2000" dirty="0" smtClean="0"/>
              <a:t>	</a:t>
            </a:r>
            <a:r>
              <a:rPr lang="en-US" sz="2400" dirty="0" smtClean="0"/>
              <a:t>Motion of charge  		Electric fluid (current)</a:t>
            </a:r>
          </a:p>
          <a:p>
            <a:pPr lvl="1">
              <a:buNone/>
            </a:pPr>
            <a:r>
              <a:rPr lang="en-US" sz="2400" dirty="0" smtClean="0"/>
              <a:t>	Separation of charge		Electric force (voltage)</a:t>
            </a:r>
          </a:p>
          <a:p>
            <a:r>
              <a:rPr lang="en-US" sz="2400" dirty="0" smtClean="0"/>
              <a:t>Convention in this course: Positive charge moves to negative charge</a:t>
            </a:r>
          </a:p>
          <a:p>
            <a:pPr lvl="1">
              <a:buNone/>
            </a:pPr>
            <a:endParaRPr lang="en-US" sz="2000" dirty="0" smtClean="0"/>
          </a:p>
          <a:p>
            <a:pPr lvl="1">
              <a:buNone/>
            </a:pPr>
            <a:endParaRPr lang="en-US" sz="2000" dirty="0" smtClean="0"/>
          </a:p>
          <a:p>
            <a:pPr lvl="1">
              <a:buNone/>
            </a:pPr>
            <a:endParaRPr lang="en-US" sz="2000" dirty="0" smtClean="0"/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4076700" y="4572000"/>
            <a:ext cx="952500" cy="228600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/>
          <p:cNvSpPr txBox="1">
            <a:spLocks/>
          </p:cNvSpPr>
          <p:nvPr/>
        </p:nvSpPr>
        <p:spPr bwMode="auto">
          <a:xfrm>
            <a:off x="457200" y="5608637"/>
            <a:ext cx="8229600" cy="56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Law of Conservation of Charge: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2500" y="6096000"/>
            <a:ext cx="72009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latin typeface="+mj-lt"/>
              </a:rPr>
              <a:t>Algebraic sum of electric charges in a system is constant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080360" y="4152900"/>
            <a:ext cx="952500" cy="228600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2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39878A1-22CF-4A5E-AE7A-67D0D788F284}" type="slidenum">
              <a:rPr lang="en-US" altLang="en-US" sz="1200" smtClean="0">
                <a:solidFill>
                  <a:srgbClr val="898989"/>
                </a:solidFill>
                <a:cs typeface="Arial" charset="0"/>
              </a:rPr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en-US" sz="1200" smtClean="0">
              <a:solidFill>
                <a:srgbClr val="898989"/>
              </a:solidFill>
              <a:cs typeface="Arial" charset="0"/>
            </a:endParaRPr>
          </a:p>
        </p:txBody>
      </p:sp>
      <p:sp>
        <p:nvSpPr>
          <p:cNvPr id="20" name="Text Box 391"/>
          <p:cNvSpPr txBox="1">
            <a:spLocks noChangeArrowheads="1"/>
          </p:cNvSpPr>
          <p:nvPr/>
        </p:nvSpPr>
        <p:spPr bwMode="auto">
          <a:xfrm>
            <a:off x="0" y="1450975"/>
            <a:ext cx="5510213" cy="762000"/>
          </a:xfrm>
          <a:prstGeom prst="rect">
            <a:avLst/>
          </a:prstGeom>
          <a:solidFill>
            <a:srgbClr val="000066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182563" eaLnBrk="1" hangingPunct="1">
              <a:defRPr/>
            </a:pPr>
            <a:r>
              <a:rPr lang="tr-TR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  <a:cs typeface="+mn-cs"/>
              </a:rPr>
              <a:t>Electron is assumed to be negatively charged</a:t>
            </a:r>
          </a:p>
          <a:p>
            <a:pPr marL="182563" eaLnBrk="1" hangingPunct="1">
              <a:defRPr/>
            </a:pPr>
            <a:r>
              <a:rPr lang="tr-TR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  <a:cs typeface="+mn-cs"/>
              </a:rPr>
              <a:t>Proton is assumed to be positive</a:t>
            </a:r>
            <a:r>
              <a:rPr lang="en-US" sz="2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  <a:cs typeface="+mn-cs"/>
              </a:rPr>
              <a:t>ly</a:t>
            </a:r>
            <a:r>
              <a:rPr lang="tr-TR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  <a:cs typeface="+mn-cs"/>
              </a:rPr>
              <a:t> charged</a:t>
            </a:r>
            <a:endParaRPr lang="en-US" sz="2200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+mn-cs"/>
            </a:endParaRPr>
          </a:p>
        </p:txBody>
      </p:sp>
      <p:sp>
        <p:nvSpPr>
          <p:cNvPr id="6148" name="Text Box 395"/>
          <p:cNvSpPr txBox="1">
            <a:spLocks noChangeArrowheads="1"/>
          </p:cNvSpPr>
          <p:nvPr/>
        </p:nvSpPr>
        <p:spPr bwMode="auto">
          <a:xfrm>
            <a:off x="1588" y="884238"/>
            <a:ext cx="5507037" cy="555625"/>
          </a:xfrm>
          <a:prstGeom prst="rect">
            <a:avLst/>
          </a:prstGeom>
          <a:solidFill>
            <a:srgbClr val="0000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000" tIns="118800" rIns="108000" bIns="118800">
            <a:spAutoFit/>
          </a:bodyPr>
          <a:lstStyle>
            <a:lvl1pPr marL="93663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tr-TR" altLang="en-US" sz="2400">
                <a:solidFill>
                  <a:srgbClr val="FFFF00"/>
                </a:solidFill>
                <a:latin typeface="Arial Black" pitchFamily="34" charset="0"/>
              </a:rPr>
              <a:t>Structure of atom</a:t>
            </a:r>
            <a:endParaRPr lang="tr-TR" altLang="en-US" sz="2400" i="1">
              <a:solidFill>
                <a:srgbClr val="FFFF00"/>
              </a:solidFill>
              <a:latin typeface="Arial Black" pitchFamily="34" charset="0"/>
              <a:sym typeface="Symbol" pitchFamily="18" charset="2"/>
            </a:endParaRPr>
          </a:p>
        </p:txBody>
      </p:sp>
      <p:grpSp>
        <p:nvGrpSpPr>
          <p:cNvPr id="6149" name="Group 412"/>
          <p:cNvGrpSpPr>
            <a:grpSpLocks/>
          </p:cNvGrpSpPr>
          <p:nvPr/>
        </p:nvGrpSpPr>
        <p:grpSpPr bwMode="auto">
          <a:xfrm>
            <a:off x="5589588" y="1368425"/>
            <a:ext cx="3554412" cy="2225675"/>
            <a:chOff x="3521" y="1233"/>
            <a:chExt cx="2239" cy="1220"/>
          </a:xfrm>
        </p:grpSpPr>
        <p:pic>
          <p:nvPicPr>
            <p:cNvPr id="6152" name="Picture 408" descr="Helium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1" y="1233"/>
              <a:ext cx="1449" cy="1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153" name="Line 402"/>
            <p:cNvSpPr>
              <a:spLocks noChangeShapeType="1"/>
            </p:cNvSpPr>
            <p:nvPr/>
          </p:nvSpPr>
          <p:spPr bwMode="auto">
            <a:xfrm flipV="1">
              <a:off x="4079" y="1587"/>
              <a:ext cx="424" cy="5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6154" name="Line 403"/>
            <p:cNvSpPr>
              <a:spLocks noChangeShapeType="1"/>
            </p:cNvSpPr>
            <p:nvPr/>
          </p:nvSpPr>
          <p:spPr bwMode="auto">
            <a:xfrm flipV="1">
              <a:off x="3705" y="1908"/>
              <a:ext cx="1229" cy="5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6155" name="Text Box 404"/>
            <p:cNvSpPr txBox="1">
              <a:spLocks noChangeArrowheads="1"/>
            </p:cNvSpPr>
            <p:nvPr/>
          </p:nvSpPr>
          <p:spPr bwMode="auto">
            <a:xfrm>
              <a:off x="3521" y="2072"/>
              <a:ext cx="637" cy="217"/>
            </a:xfrm>
            <a:prstGeom prst="rect">
              <a:avLst/>
            </a:prstGeom>
            <a:solidFill>
              <a:srgbClr val="CC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tr-TR" altLang="en-US" sz="1800">
                  <a:solidFill>
                    <a:srgbClr val="FFFFFF"/>
                  </a:solidFill>
                  <a:latin typeface="Arial" charset="0"/>
                </a:rPr>
                <a:t>Neutron</a:t>
              </a:r>
              <a:endParaRPr lang="en-US" altLang="en-US" sz="1800">
                <a:solidFill>
                  <a:srgbClr val="FFFFFF"/>
                </a:solidFill>
                <a:latin typeface="Arial" charset="0"/>
              </a:endParaRPr>
            </a:p>
          </p:txBody>
        </p:sp>
        <p:sp>
          <p:nvSpPr>
            <p:cNvPr id="6156" name="Line 405"/>
            <p:cNvSpPr>
              <a:spLocks noChangeShapeType="1"/>
            </p:cNvSpPr>
            <p:nvPr/>
          </p:nvSpPr>
          <p:spPr bwMode="auto">
            <a:xfrm>
              <a:off x="3922" y="2099"/>
              <a:ext cx="763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6157" name="Text Box 390"/>
            <p:cNvSpPr txBox="1">
              <a:spLocks noChangeArrowheads="1"/>
            </p:cNvSpPr>
            <p:nvPr/>
          </p:nvSpPr>
          <p:spPr bwMode="auto">
            <a:xfrm>
              <a:off x="3521" y="1814"/>
              <a:ext cx="630" cy="218"/>
            </a:xfrm>
            <a:prstGeom prst="rect">
              <a:avLst/>
            </a:prstGeom>
            <a:solidFill>
              <a:srgbClr val="CC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tr-TR" altLang="en-US" sz="1800">
                  <a:solidFill>
                    <a:srgbClr val="FFFFFF"/>
                  </a:solidFill>
                  <a:latin typeface="Arial" charset="0"/>
                </a:rPr>
                <a:t>Proton</a:t>
              </a:r>
              <a:endParaRPr lang="en-US" altLang="en-US" sz="1800">
                <a:solidFill>
                  <a:srgbClr val="FFFFFF"/>
                </a:solidFill>
                <a:latin typeface="Arial" charset="0"/>
              </a:endParaRPr>
            </a:p>
          </p:txBody>
        </p:sp>
        <p:sp>
          <p:nvSpPr>
            <p:cNvPr id="6158" name="Text Box 389"/>
            <p:cNvSpPr txBox="1">
              <a:spLocks noChangeArrowheads="1"/>
            </p:cNvSpPr>
            <p:nvPr/>
          </p:nvSpPr>
          <p:spPr bwMode="auto">
            <a:xfrm>
              <a:off x="3522" y="1456"/>
              <a:ext cx="641" cy="217"/>
            </a:xfrm>
            <a:prstGeom prst="rect">
              <a:avLst/>
            </a:prstGeom>
            <a:solidFill>
              <a:srgbClr val="CC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tr-TR" altLang="en-US" sz="1800">
                  <a:solidFill>
                    <a:srgbClr val="FFFFFF"/>
                  </a:solidFill>
                  <a:latin typeface="Arial" charset="0"/>
                </a:rPr>
                <a:t>Electron</a:t>
              </a:r>
              <a:endParaRPr lang="en-US" altLang="en-US" sz="1800">
                <a:solidFill>
                  <a:srgbClr val="FFFFFF"/>
                </a:solidFill>
                <a:latin typeface="Arial" charset="0"/>
              </a:endParaRPr>
            </a:p>
          </p:txBody>
        </p:sp>
        <p:sp>
          <p:nvSpPr>
            <p:cNvPr id="6159" name="Line 409"/>
            <p:cNvSpPr>
              <a:spLocks noChangeShapeType="1"/>
            </p:cNvSpPr>
            <p:nvPr/>
          </p:nvSpPr>
          <p:spPr bwMode="auto">
            <a:xfrm flipV="1">
              <a:off x="4661" y="1956"/>
              <a:ext cx="278" cy="144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sp>
        <p:nvSpPr>
          <p:cNvPr id="6150" name="Text Box 411"/>
          <p:cNvSpPr txBox="1">
            <a:spLocks noChangeArrowheads="1"/>
          </p:cNvSpPr>
          <p:nvPr/>
        </p:nvSpPr>
        <p:spPr bwMode="auto">
          <a:xfrm>
            <a:off x="5522913" y="884238"/>
            <a:ext cx="3621087" cy="542925"/>
          </a:xfrm>
          <a:prstGeom prst="rect">
            <a:avLst/>
          </a:prstGeom>
          <a:solidFill>
            <a:srgbClr val="CC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118800" bIns="118800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tr-TR" altLang="en-US" sz="1800">
                <a:solidFill>
                  <a:srgbClr val="FFFFFF"/>
                </a:solidFill>
                <a:latin typeface="Arial" charset="0"/>
              </a:rPr>
              <a:t>Helium Atom</a:t>
            </a:r>
            <a:endParaRPr lang="tr-TR" altLang="en-US" sz="1800">
              <a:solidFill>
                <a:srgbClr val="FFFFFF"/>
              </a:solidFill>
              <a:latin typeface="Arial" charset="0"/>
              <a:sym typeface="Symbol" pitchFamily="18" charset="2"/>
            </a:endParaRPr>
          </a:p>
        </p:txBody>
      </p:sp>
      <p:sp>
        <p:nvSpPr>
          <p:cNvPr id="6151" name="Title 1"/>
          <p:cNvSpPr>
            <a:spLocks noGrp="1"/>
          </p:cNvSpPr>
          <p:nvPr>
            <p:ph type="title"/>
          </p:nvPr>
        </p:nvSpPr>
        <p:spPr>
          <a:xfrm>
            <a:off x="38100" y="122238"/>
            <a:ext cx="7696200" cy="563562"/>
          </a:xfrm>
        </p:spPr>
        <p:txBody>
          <a:bodyPr/>
          <a:lstStyle/>
          <a:p>
            <a:pPr eaLnBrk="1" hangingPunct="1"/>
            <a:r>
              <a:rPr lang="en-US" altLang="en-US" sz="3200" smtClean="0"/>
              <a:t>Atom and Charge</a:t>
            </a:r>
          </a:p>
        </p:txBody>
      </p:sp>
    </p:spTree>
    <p:extLst>
      <p:ext uri="{BB962C8B-B14F-4D97-AF65-F5344CB8AC3E}">
        <p14:creationId xmlns:p14="http://schemas.microsoft.com/office/powerpoint/2010/main" val="3546696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2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6A7CCAB-14A4-4AFE-A25A-BCC48C27B58F}" type="slidenum">
              <a:rPr lang="en-US" altLang="en-US" sz="1200" smtClean="0">
                <a:solidFill>
                  <a:srgbClr val="898989"/>
                </a:solidFill>
                <a:cs typeface="Arial" charset="0"/>
              </a:rPr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en-US" sz="1200" smtClean="0">
              <a:solidFill>
                <a:srgbClr val="898989"/>
              </a:solidFill>
              <a:cs typeface="Arial" charset="0"/>
            </a:endParaRPr>
          </a:p>
        </p:txBody>
      </p:sp>
      <p:sp>
        <p:nvSpPr>
          <p:cNvPr id="20" name="Text Box 391"/>
          <p:cNvSpPr txBox="1">
            <a:spLocks noChangeArrowheads="1"/>
          </p:cNvSpPr>
          <p:nvPr/>
        </p:nvSpPr>
        <p:spPr bwMode="auto">
          <a:xfrm>
            <a:off x="0" y="1450975"/>
            <a:ext cx="5510213" cy="762000"/>
          </a:xfrm>
          <a:prstGeom prst="rect">
            <a:avLst/>
          </a:prstGeom>
          <a:solidFill>
            <a:srgbClr val="000066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182563" eaLnBrk="1" hangingPunct="1">
              <a:defRPr/>
            </a:pPr>
            <a:r>
              <a:rPr lang="tr-TR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  <a:cs typeface="+mn-cs"/>
              </a:rPr>
              <a:t>Electron is assumed to be negatively charged</a:t>
            </a:r>
          </a:p>
          <a:p>
            <a:pPr marL="182563" eaLnBrk="1" hangingPunct="1">
              <a:defRPr/>
            </a:pPr>
            <a:r>
              <a:rPr lang="tr-TR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  <a:cs typeface="+mn-cs"/>
              </a:rPr>
              <a:t>Proton is assumed to be </a:t>
            </a:r>
            <a:r>
              <a:rPr lang="tr-TR" sz="2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  <a:cs typeface="+mn-cs"/>
              </a:rPr>
              <a:t>positively </a:t>
            </a:r>
            <a:r>
              <a:rPr lang="tr-TR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  <a:cs typeface="+mn-cs"/>
              </a:rPr>
              <a:t>charged</a:t>
            </a:r>
            <a:endParaRPr lang="en-US" sz="2200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+mn-cs"/>
            </a:endParaRPr>
          </a:p>
        </p:txBody>
      </p:sp>
      <p:sp>
        <p:nvSpPr>
          <p:cNvPr id="7172" name="Text Box 395"/>
          <p:cNvSpPr txBox="1">
            <a:spLocks noChangeArrowheads="1"/>
          </p:cNvSpPr>
          <p:nvPr/>
        </p:nvSpPr>
        <p:spPr bwMode="auto">
          <a:xfrm>
            <a:off x="1588" y="884238"/>
            <a:ext cx="5507037" cy="555625"/>
          </a:xfrm>
          <a:prstGeom prst="rect">
            <a:avLst/>
          </a:prstGeom>
          <a:solidFill>
            <a:srgbClr val="0000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000" tIns="118800" rIns="108000" bIns="118800">
            <a:spAutoFit/>
          </a:bodyPr>
          <a:lstStyle>
            <a:lvl1pPr marL="93663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tr-TR" altLang="en-US" sz="2400">
                <a:solidFill>
                  <a:srgbClr val="FFFF00"/>
                </a:solidFill>
                <a:latin typeface="Arial Black" pitchFamily="34" charset="0"/>
              </a:rPr>
              <a:t>Structure of atom</a:t>
            </a:r>
            <a:endParaRPr lang="tr-TR" altLang="en-US" sz="2400" i="1">
              <a:solidFill>
                <a:srgbClr val="FFFF00"/>
              </a:solidFill>
              <a:latin typeface="Arial Black" pitchFamily="34" charset="0"/>
              <a:sym typeface="Symbol" pitchFamily="18" charset="2"/>
            </a:endParaRPr>
          </a:p>
        </p:txBody>
      </p:sp>
      <p:grpSp>
        <p:nvGrpSpPr>
          <p:cNvPr id="7173" name="Group 412"/>
          <p:cNvGrpSpPr>
            <a:grpSpLocks/>
          </p:cNvGrpSpPr>
          <p:nvPr/>
        </p:nvGrpSpPr>
        <p:grpSpPr bwMode="auto">
          <a:xfrm>
            <a:off x="5589588" y="1368425"/>
            <a:ext cx="3554412" cy="2225675"/>
            <a:chOff x="3521" y="1233"/>
            <a:chExt cx="2239" cy="1220"/>
          </a:xfrm>
        </p:grpSpPr>
        <p:pic>
          <p:nvPicPr>
            <p:cNvPr id="7415" name="Picture 408" descr="Helium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1" y="1233"/>
              <a:ext cx="1449" cy="1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416" name="Line 402"/>
            <p:cNvSpPr>
              <a:spLocks noChangeShapeType="1"/>
            </p:cNvSpPr>
            <p:nvPr/>
          </p:nvSpPr>
          <p:spPr bwMode="auto">
            <a:xfrm flipV="1">
              <a:off x="4079" y="1587"/>
              <a:ext cx="424" cy="5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7417" name="Line 403"/>
            <p:cNvSpPr>
              <a:spLocks noChangeShapeType="1"/>
            </p:cNvSpPr>
            <p:nvPr/>
          </p:nvSpPr>
          <p:spPr bwMode="auto">
            <a:xfrm flipV="1">
              <a:off x="3705" y="1908"/>
              <a:ext cx="1229" cy="5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7418" name="Text Box 404"/>
            <p:cNvSpPr txBox="1">
              <a:spLocks noChangeArrowheads="1"/>
            </p:cNvSpPr>
            <p:nvPr/>
          </p:nvSpPr>
          <p:spPr bwMode="auto">
            <a:xfrm>
              <a:off x="3521" y="2072"/>
              <a:ext cx="637" cy="217"/>
            </a:xfrm>
            <a:prstGeom prst="rect">
              <a:avLst/>
            </a:prstGeom>
            <a:solidFill>
              <a:srgbClr val="CC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tr-TR" altLang="en-US" sz="1800">
                  <a:solidFill>
                    <a:srgbClr val="FFFFFF"/>
                  </a:solidFill>
                  <a:latin typeface="Arial" charset="0"/>
                </a:rPr>
                <a:t>Neutron</a:t>
              </a:r>
              <a:endParaRPr lang="en-US" altLang="en-US" sz="1800">
                <a:solidFill>
                  <a:srgbClr val="FFFFFF"/>
                </a:solidFill>
                <a:latin typeface="Arial" charset="0"/>
              </a:endParaRPr>
            </a:p>
          </p:txBody>
        </p:sp>
        <p:sp>
          <p:nvSpPr>
            <p:cNvPr id="7419" name="Line 405"/>
            <p:cNvSpPr>
              <a:spLocks noChangeShapeType="1"/>
            </p:cNvSpPr>
            <p:nvPr/>
          </p:nvSpPr>
          <p:spPr bwMode="auto">
            <a:xfrm>
              <a:off x="3922" y="2099"/>
              <a:ext cx="763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7420" name="Text Box 390"/>
            <p:cNvSpPr txBox="1">
              <a:spLocks noChangeArrowheads="1"/>
            </p:cNvSpPr>
            <p:nvPr/>
          </p:nvSpPr>
          <p:spPr bwMode="auto">
            <a:xfrm>
              <a:off x="3521" y="1814"/>
              <a:ext cx="630" cy="218"/>
            </a:xfrm>
            <a:prstGeom prst="rect">
              <a:avLst/>
            </a:prstGeom>
            <a:solidFill>
              <a:srgbClr val="CC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tr-TR" altLang="en-US" sz="1800">
                  <a:solidFill>
                    <a:srgbClr val="FFFFFF"/>
                  </a:solidFill>
                  <a:latin typeface="Arial" charset="0"/>
                </a:rPr>
                <a:t>Proton</a:t>
              </a:r>
              <a:endParaRPr lang="en-US" altLang="en-US" sz="1800">
                <a:solidFill>
                  <a:srgbClr val="FFFFFF"/>
                </a:solidFill>
                <a:latin typeface="Arial" charset="0"/>
              </a:endParaRPr>
            </a:p>
          </p:txBody>
        </p:sp>
        <p:sp>
          <p:nvSpPr>
            <p:cNvPr id="7421" name="Text Box 389"/>
            <p:cNvSpPr txBox="1">
              <a:spLocks noChangeArrowheads="1"/>
            </p:cNvSpPr>
            <p:nvPr/>
          </p:nvSpPr>
          <p:spPr bwMode="auto">
            <a:xfrm>
              <a:off x="3522" y="1456"/>
              <a:ext cx="641" cy="217"/>
            </a:xfrm>
            <a:prstGeom prst="rect">
              <a:avLst/>
            </a:prstGeom>
            <a:solidFill>
              <a:srgbClr val="CC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tr-TR" altLang="en-US" sz="1800">
                  <a:solidFill>
                    <a:srgbClr val="FFFFFF"/>
                  </a:solidFill>
                  <a:latin typeface="Arial" charset="0"/>
                </a:rPr>
                <a:t>Electron</a:t>
              </a:r>
              <a:endParaRPr lang="en-US" altLang="en-US" sz="1800">
                <a:solidFill>
                  <a:srgbClr val="FFFFFF"/>
                </a:solidFill>
                <a:latin typeface="Arial" charset="0"/>
              </a:endParaRPr>
            </a:p>
          </p:txBody>
        </p:sp>
        <p:sp>
          <p:nvSpPr>
            <p:cNvPr id="7422" name="Line 409"/>
            <p:cNvSpPr>
              <a:spLocks noChangeShapeType="1"/>
            </p:cNvSpPr>
            <p:nvPr/>
          </p:nvSpPr>
          <p:spPr bwMode="auto">
            <a:xfrm flipV="1">
              <a:off x="4661" y="1956"/>
              <a:ext cx="278" cy="144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sp>
        <p:nvSpPr>
          <p:cNvPr id="7174" name="Text Box 411"/>
          <p:cNvSpPr txBox="1">
            <a:spLocks noChangeArrowheads="1"/>
          </p:cNvSpPr>
          <p:nvPr/>
        </p:nvSpPr>
        <p:spPr bwMode="auto">
          <a:xfrm>
            <a:off x="5522913" y="884238"/>
            <a:ext cx="3621087" cy="542925"/>
          </a:xfrm>
          <a:prstGeom prst="rect">
            <a:avLst/>
          </a:prstGeom>
          <a:solidFill>
            <a:srgbClr val="CC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118800" bIns="118800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tr-TR" altLang="en-US" sz="1800">
                <a:solidFill>
                  <a:srgbClr val="FFFFFF"/>
                </a:solidFill>
                <a:latin typeface="Arial" charset="0"/>
              </a:rPr>
              <a:t>Helium Atom</a:t>
            </a:r>
            <a:endParaRPr lang="tr-TR" altLang="en-US" sz="1800">
              <a:solidFill>
                <a:srgbClr val="FFFFFF"/>
              </a:solidFill>
              <a:latin typeface="Arial" charset="0"/>
              <a:sym typeface="Symbol" pitchFamily="18" charset="2"/>
            </a:endParaRPr>
          </a:p>
        </p:txBody>
      </p:sp>
      <p:sp>
        <p:nvSpPr>
          <p:cNvPr id="7175" name="Title 1"/>
          <p:cNvSpPr>
            <a:spLocks noGrp="1"/>
          </p:cNvSpPr>
          <p:nvPr>
            <p:ph type="title"/>
          </p:nvPr>
        </p:nvSpPr>
        <p:spPr>
          <a:xfrm>
            <a:off x="38100" y="122238"/>
            <a:ext cx="7696200" cy="563562"/>
          </a:xfrm>
        </p:spPr>
        <p:txBody>
          <a:bodyPr/>
          <a:lstStyle/>
          <a:p>
            <a:pPr eaLnBrk="1" hangingPunct="1"/>
            <a:r>
              <a:rPr lang="en-US" altLang="en-US" sz="3200" smtClean="0"/>
              <a:t>Atom and Charge</a:t>
            </a:r>
          </a:p>
        </p:txBody>
      </p:sp>
      <p:sp>
        <p:nvSpPr>
          <p:cNvPr id="7176" name="Text Box 3"/>
          <p:cNvSpPr txBox="1">
            <a:spLocks noChangeArrowheads="1"/>
          </p:cNvSpPr>
          <p:nvPr/>
        </p:nvSpPr>
        <p:spPr bwMode="auto">
          <a:xfrm>
            <a:off x="138113" y="4416425"/>
            <a:ext cx="5483225" cy="427038"/>
          </a:xfrm>
          <a:prstGeom prst="rect">
            <a:avLst/>
          </a:prstGeom>
          <a:solidFill>
            <a:srgbClr val="0000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82563" defTabSz="89535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defTabSz="8953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defTabSz="89535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defTabSz="89535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defTabSz="89535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89535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89535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89535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89535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tr-TR" altLang="en-US" sz="2200">
                <a:solidFill>
                  <a:srgbClr val="FFFF00"/>
                </a:solidFill>
                <a:latin typeface="Arial" charset="0"/>
              </a:rPr>
              <a:t>Unit of Electrical Charge Coulomb </a:t>
            </a:r>
          </a:p>
        </p:txBody>
      </p:sp>
      <p:grpSp>
        <p:nvGrpSpPr>
          <p:cNvPr id="7177" name="Group 236"/>
          <p:cNvGrpSpPr>
            <a:grpSpLocks/>
          </p:cNvGrpSpPr>
          <p:nvPr/>
        </p:nvGrpSpPr>
        <p:grpSpPr bwMode="auto">
          <a:xfrm>
            <a:off x="5818188" y="4144963"/>
            <a:ext cx="3059112" cy="1717675"/>
            <a:chOff x="1346" y="1108"/>
            <a:chExt cx="3158" cy="1603"/>
          </a:xfrm>
        </p:grpSpPr>
        <p:grpSp>
          <p:nvGrpSpPr>
            <p:cNvPr id="7184" name="Group 4"/>
            <p:cNvGrpSpPr>
              <a:grpSpLocks/>
            </p:cNvGrpSpPr>
            <p:nvPr/>
          </p:nvGrpSpPr>
          <p:grpSpPr bwMode="auto">
            <a:xfrm>
              <a:off x="3603" y="1987"/>
              <a:ext cx="245" cy="257"/>
              <a:chOff x="3354" y="1740"/>
              <a:chExt cx="624" cy="660"/>
            </a:xfrm>
          </p:grpSpPr>
          <p:sp>
            <p:nvSpPr>
              <p:cNvPr id="7413" name="Oval 5"/>
              <p:cNvSpPr>
                <a:spLocks noChangeArrowheads="1"/>
              </p:cNvSpPr>
              <p:nvPr/>
            </p:nvSpPr>
            <p:spPr bwMode="auto">
              <a:xfrm>
                <a:off x="3354" y="1740"/>
                <a:ext cx="624" cy="660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tr-TR" altLang="en-US" sz="2400">
                  <a:latin typeface="Arial" charset="0"/>
                </a:endParaRPr>
              </a:p>
            </p:txBody>
          </p:sp>
          <p:sp>
            <p:nvSpPr>
              <p:cNvPr id="7414" name="Line 6"/>
              <p:cNvSpPr>
                <a:spLocks noChangeShapeType="1"/>
              </p:cNvSpPr>
              <p:nvPr/>
            </p:nvSpPr>
            <p:spPr bwMode="auto">
              <a:xfrm flipV="1">
                <a:off x="3543" y="2084"/>
                <a:ext cx="262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185" name="Group 7"/>
            <p:cNvGrpSpPr>
              <a:grpSpLocks/>
            </p:cNvGrpSpPr>
            <p:nvPr/>
          </p:nvGrpSpPr>
          <p:grpSpPr bwMode="auto">
            <a:xfrm>
              <a:off x="3236" y="2010"/>
              <a:ext cx="248" cy="255"/>
              <a:chOff x="3354" y="1740"/>
              <a:chExt cx="624" cy="660"/>
            </a:xfrm>
          </p:grpSpPr>
          <p:sp>
            <p:nvSpPr>
              <p:cNvPr id="7411" name="Oval 8"/>
              <p:cNvSpPr>
                <a:spLocks noChangeArrowheads="1"/>
              </p:cNvSpPr>
              <p:nvPr/>
            </p:nvSpPr>
            <p:spPr bwMode="auto">
              <a:xfrm>
                <a:off x="3354" y="1740"/>
                <a:ext cx="624" cy="660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tr-TR" altLang="en-US" sz="2400">
                  <a:latin typeface="Arial" charset="0"/>
                </a:endParaRPr>
              </a:p>
            </p:txBody>
          </p:sp>
          <p:sp>
            <p:nvSpPr>
              <p:cNvPr id="7412" name="Line 9"/>
              <p:cNvSpPr>
                <a:spLocks noChangeShapeType="1"/>
              </p:cNvSpPr>
              <p:nvPr/>
            </p:nvSpPr>
            <p:spPr bwMode="auto">
              <a:xfrm flipV="1">
                <a:off x="3543" y="2084"/>
                <a:ext cx="262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186" name="Group 10"/>
            <p:cNvGrpSpPr>
              <a:grpSpLocks/>
            </p:cNvGrpSpPr>
            <p:nvPr/>
          </p:nvGrpSpPr>
          <p:grpSpPr bwMode="auto">
            <a:xfrm>
              <a:off x="2590" y="2099"/>
              <a:ext cx="248" cy="231"/>
              <a:chOff x="3354" y="1740"/>
              <a:chExt cx="624" cy="660"/>
            </a:xfrm>
          </p:grpSpPr>
          <p:sp>
            <p:nvSpPr>
              <p:cNvPr id="7409" name="Oval 11"/>
              <p:cNvSpPr>
                <a:spLocks noChangeArrowheads="1"/>
              </p:cNvSpPr>
              <p:nvPr/>
            </p:nvSpPr>
            <p:spPr bwMode="auto">
              <a:xfrm>
                <a:off x="3354" y="1740"/>
                <a:ext cx="624" cy="660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tr-TR" altLang="en-US" sz="2400">
                  <a:latin typeface="Arial" charset="0"/>
                </a:endParaRPr>
              </a:p>
            </p:txBody>
          </p:sp>
          <p:sp>
            <p:nvSpPr>
              <p:cNvPr id="7410" name="Line 12"/>
              <p:cNvSpPr>
                <a:spLocks noChangeShapeType="1"/>
              </p:cNvSpPr>
              <p:nvPr/>
            </p:nvSpPr>
            <p:spPr bwMode="auto">
              <a:xfrm flipV="1">
                <a:off x="3543" y="2084"/>
                <a:ext cx="262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187" name="Group 13"/>
            <p:cNvGrpSpPr>
              <a:grpSpLocks/>
            </p:cNvGrpSpPr>
            <p:nvPr/>
          </p:nvGrpSpPr>
          <p:grpSpPr bwMode="auto">
            <a:xfrm>
              <a:off x="2813" y="2148"/>
              <a:ext cx="247" cy="229"/>
              <a:chOff x="3354" y="1740"/>
              <a:chExt cx="624" cy="660"/>
            </a:xfrm>
          </p:grpSpPr>
          <p:sp>
            <p:nvSpPr>
              <p:cNvPr id="7407" name="Oval 14"/>
              <p:cNvSpPr>
                <a:spLocks noChangeArrowheads="1"/>
              </p:cNvSpPr>
              <p:nvPr/>
            </p:nvSpPr>
            <p:spPr bwMode="auto">
              <a:xfrm>
                <a:off x="3354" y="1740"/>
                <a:ext cx="624" cy="660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tr-TR" altLang="en-US" sz="2400">
                  <a:latin typeface="Arial" charset="0"/>
                </a:endParaRPr>
              </a:p>
            </p:txBody>
          </p:sp>
          <p:sp>
            <p:nvSpPr>
              <p:cNvPr id="7408" name="Line 15"/>
              <p:cNvSpPr>
                <a:spLocks noChangeShapeType="1"/>
              </p:cNvSpPr>
              <p:nvPr/>
            </p:nvSpPr>
            <p:spPr bwMode="auto">
              <a:xfrm flipV="1">
                <a:off x="3543" y="2084"/>
                <a:ext cx="262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188" name="Group 16"/>
            <p:cNvGrpSpPr>
              <a:grpSpLocks/>
            </p:cNvGrpSpPr>
            <p:nvPr/>
          </p:nvGrpSpPr>
          <p:grpSpPr bwMode="auto">
            <a:xfrm>
              <a:off x="2441" y="2193"/>
              <a:ext cx="246" cy="231"/>
              <a:chOff x="3354" y="1740"/>
              <a:chExt cx="624" cy="660"/>
            </a:xfrm>
          </p:grpSpPr>
          <p:sp>
            <p:nvSpPr>
              <p:cNvPr id="7405" name="Oval 17"/>
              <p:cNvSpPr>
                <a:spLocks noChangeArrowheads="1"/>
              </p:cNvSpPr>
              <p:nvPr/>
            </p:nvSpPr>
            <p:spPr bwMode="auto">
              <a:xfrm>
                <a:off x="3354" y="1740"/>
                <a:ext cx="624" cy="660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tr-TR" altLang="en-US" sz="2400">
                  <a:latin typeface="Arial" charset="0"/>
                </a:endParaRPr>
              </a:p>
            </p:txBody>
          </p:sp>
          <p:sp>
            <p:nvSpPr>
              <p:cNvPr id="7406" name="Line 18"/>
              <p:cNvSpPr>
                <a:spLocks noChangeShapeType="1"/>
              </p:cNvSpPr>
              <p:nvPr/>
            </p:nvSpPr>
            <p:spPr bwMode="auto">
              <a:xfrm flipV="1">
                <a:off x="3543" y="2084"/>
                <a:ext cx="262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189" name="Group 19"/>
            <p:cNvGrpSpPr>
              <a:grpSpLocks/>
            </p:cNvGrpSpPr>
            <p:nvPr/>
          </p:nvGrpSpPr>
          <p:grpSpPr bwMode="auto">
            <a:xfrm>
              <a:off x="3077" y="2176"/>
              <a:ext cx="246" cy="229"/>
              <a:chOff x="3354" y="1740"/>
              <a:chExt cx="624" cy="660"/>
            </a:xfrm>
          </p:grpSpPr>
          <p:sp>
            <p:nvSpPr>
              <p:cNvPr id="7403" name="Oval 20"/>
              <p:cNvSpPr>
                <a:spLocks noChangeArrowheads="1"/>
              </p:cNvSpPr>
              <p:nvPr/>
            </p:nvSpPr>
            <p:spPr bwMode="auto">
              <a:xfrm>
                <a:off x="3354" y="1740"/>
                <a:ext cx="624" cy="660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tr-TR" altLang="en-US" sz="2400">
                  <a:latin typeface="Arial" charset="0"/>
                </a:endParaRPr>
              </a:p>
            </p:txBody>
          </p:sp>
          <p:sp>
            <p:nvSpPr>
              <p:cNvPr id="7404" name="Line 21"/>
              <p:cNvSpPr>
                <a:spLocks noChangeShapeType="1"/>
              </p:cNvSpPr>
              <p:nvPr/>
            </p:nvSpPr>
            <p:spPr bwMode="auto">
              <a:xfrm flipV="1">
                <a:off x="3543" y="2084"/>
                <a:ext cx="262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190" name="Group 22"/>
            <p:cNvGrpSpPr>
              <a:grpSpLocks/>
            </p:cNvGrpSpPr>
            <p:nvPr/>
          </p:nvGrpSpPr>
          <p:grpSpPr bwMode="auto">
            <a:xfrm>
              <a:off x="2412" y="2395"/>
              <a:ext cx="249" cy="229"/>
              <a:chOff x="3354" y="1740"/>
              <a:chExt cx="624" cy="660"/>
            </a:xfrm>
          </p:grpSpPr>
          <p:sp>
            <p:nvSpPr>
              <p:cNvPr id="7401" name="Oval 23"/>
              <p:cNvSpPr>
                <a:spLocks noChangeArrowheads="1"/>
              </p:cNvSpPr>
              <p:nvPr/>
            </p:nvSpPr>
            <p:spPr bwMode="auto">
              <a:xfrm>
                <a:off x="3354" y="1740"/>
                <a:ext cx="624" cy="660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tr-TR" altLang="en-US" sz="2400">
                  <a:latin typeface="Arial" charset="0"/>
                </a:endParaRPr>
              </a:p>
            </p:txBody>
          </p:sp>
          <p:sp>
            <p:nvSpPr>
              <p:cNvPr id="7402" name="Line 24"/>
              <p:cNvSpPr>
                <a:spLocks noChangeShapeType="1"/>
              </p:cNvSpPr>
              <p:nvPr/>
            </p:nvSpPr>
            <p:spPr bwMode="auto">
              <a:xfrm flipV="1">
                <a:off x="3543" y="2084"/>
                <a:ext cx="262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191" name="Group 25"/>
            <p:cNvGrpSpPr>
              <a:grpSpLocks/>
            </p:cNvGrpSpPr>
            <p:nvPr/>
          </p:nvGrpSpPr>
          <p:grpSpPr bwMode="auto">
            <a:xfrm>
              <a:off x="3309" y="2202"/>
              <a:ext cx="248" cy="229"/>
              <a:chOff x="3354" y="1740"/>
              <a:chExt cx="624" cy="660"/>
            </a:xfrm>
          </p:grpSpPr>
          <p:sp>
            <p:nvSpPr>
              <p:cNvPr id="7399" name="Oval 26"/>
              <p:cNvSpPr>
                <a:spLocks noChangeArrowheads="1"/>
              </p:cNvSpPr>
              <p:nvPr/>
            </p:nvSpPr>
            <p:spPr bwMode="auto">
              <a:xfrm>
                <a:off x="3354" y="1740"/>
                <a:ext cx="624" cy="660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tr-TR" altLang="en-US" sz="2400">
                  <a:latin typeface="Arial" charset="0"/>
                </a:endParaRPr>
              </a:p>
            </p:txBody>
          </p:sp>
          <p:sp>
            <p:nvSpPr>
              <p:cNvPr id="7400" name="Line 27"/>
              <p:cNvSpPr>
                <a:spLocks noChangeShapeType="1"/>
              </p:cNvSpPr>
              <p:nvPr/>
            </p:nvSpPr>
            <p:spPr bwMode="auto">
              <a:xfrm flipV="1">
                <a:off x="3543" y="2084"/>
                <a:ext cx="262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192" name="Group 28"/>
            <p:cNvGrpSpPr>
              <a:grpSpLocks/>
            </p:cNvGrpSpPr>
            <p:nvPr/>
          </p:nvGrpSpPr>
          <p:grpSpPr bwMode="auto">
            <a:xfrm>
              <a:off x="3131" y="2387"/>
              <a:ext cx="245" cy="231"/>
              <a:chOff x="3354" y="1740"/>
              <a:chExt cx="624" cy="660"/>
            </a:xfrm>
          </p:grpSpPr>
          <p:sp>
            <p:nvSpPr>
              <p:cNvPr id="7397" name="Oval 29"/>
              <p:cNvSpPr>
                <a:spLocks noChangeArrowheads="1"/>
              </p:cNvSpPr>
              <p:nvPr/>
            </p:nvSpPr>
            <p:spPr bwMode="auto">
              <a:xfrm>
                <a:off x="3354" y="1740"/>
                <a:ext cx="624" cy="660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tr-TR" altLang="en-US" sz="2400">
                  <a:latin typeface="Arial" charset="0"/>
                </a:endParaRPr>
              </a:p>
            </p:txBody>
          </p:sp>
          <p:sp>
            <p:nvSpPr>
              <p:cNvPr id="7398" name="Line 30"/>
              <p:cNvSpPr>
                <a:spLocks noChangeShapeType="1"/>
              </p:cNvSpPr>
              <p:nvPr/>
            </p:nvSpPr>
            <p:spPr bwMode="auto">
              <a:xfrm flipV="1">
                <a:off x="3543" y="2084"/>
                <a:ext cx="262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193" name="Group 31"/>
            <p:cNvGrpSpPr>
              <a:grpSpLocks/>
            </p:cNvGrpSpPr>
            <p:nvPr/>
          </p:nvGrpSpPr>
          <p:grpSpPr bwMode="auto">
            <a:xfrm>
              <a:off x="2952" y="2010"/>
              <a:ext cx="246" cy="229"/>
              <a:chOff x="3354" y="1740"/>
              <a:chExt cx="624" cy="660"/>
            </a:xfrm>
          </p:grpSpPr>
          <p:sp>
            <p:nvSpPr>
              <p:cNvPr id="7395" name="Oval 32"/>
              <p:cNvSpPr>
                <a:spLocks noChangeArrowheads="1"/>
              </p:cNvSpPr>
              <p:nvPr/>
            </p:nvSpPr>
            <p:spPr bwMode="auto">
              <a:xfrm>
                <a:off x="3354" y="1740"/>
                <a:ext cx="624" cy="660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tr-TR" altLang="en-US" sz="2400">
                  <a:latin typeface="Arial" charset="0"/>
                </a:endParaRPr>
              </a:p>
            </p:txBody>
          </p:sp>
          <p:sp>
            <p:nvSpPr>
              <p:cNvPr id="7396" name="Line 33"/>
              <p:cNvSpPr>
                <a:spLocks noChangeShapeType="1"/>
              </p:cNvSpPr>
              <p:nvPr/>
            </p:nvSpPr>
            <p:spPr bwMode="auto">
              <a:xfrm flipV="1">
                <a:off x="3543" y="2084"/>
                <a:ext cx="262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194" name="Group 34"/>
            <p:cNvGrpSpPr>
              <a:grpSpLocks/>
            </p:cNvGrpSpPr>
            <p:nvPr/>
          </p:nvGrpSpPr>
          <p:grpSpPr bwMode="auto">
            <a:xfrm>
              <a:off x="3376" y="2368"/>
              <a:ext cx="248" cy="229"/>
              <a:chOff x="3354" y="1740"/>
              <a:chExt cx="624" cy="660"/>
            </a:xfrm>
          </p:grpSpPr>
          <p:sp>
            <p:nvSpPr>
              <p:cNvPr id="7393" name="Oval 35"/>
              <p:cNvSpPr>
                <a:spLocks noChangeArrowheads="1"/>
              </p:cNvSpPr>
              <p:nvPr/>
            </p:nvSpPr>
            <p:spPr bwMode="auto">
              <a:xfrm>
                <a:off x="3354" y="1740"/>
                <a:ext cx="624" cy="660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tr-TR" altLang="en-US" sz="2400">
                  <a:latin typeface="Arial" charset="0"/>
                </a:endParaRPr>
              </a:p>
            </p:txBody>
          </p:sp>
          <p:sp>
            <p:nvSpPr>
              <p:cNvPr id="7394" name="Line 36"/>
              <p:cNvSpPr>
                <a:spLocks noChangeShapeType="1"/>
              </p:cNvSpPr>
              <p:nvPr/>
            </p:nvSpPr>
            <p:spPr bwMode="auto">
              <a:xfrm flipV="1">
                <a:off x="3543" y="2084"/>
                <a:ext cx="262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195" name="Group 37"/>
            <p:cNvGrpSpPr>
              <a:grpSpLocks/>
            </p:cNvGrpSpPr>
            <p:nvPr/>
          </p:nvGrpSpPr>
          <p:grpSpPr bwMode="auto">
            <a:xfrm>
              <a:off x="3550" y="2181"/>
              <a:ext cx="246" cy="250"/>
              <a:chOff x="3354" y="1740"/>
              <a:chExt cx="624" cy="660"/>
            </a:xfrm>
          </p:grpSpPr>
          <p:sp>
            <p:nvSpPr>
              <p:cNvPr id="7391" name="Oval 38"/>
              <p:cNvSpPr>
                <a:spLocks noChangeArrowheads="1"/>
              </p:cNvSpPr>
              <p:nvPr/>
            </p:nvSpPr>
            <p:spPr bwMode="auto">
              <a:xfrm>
                <a:off x="3354" y="1740"/>
                <a:ext cx="624" cy="660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tr-TR" altLang="en-US" sz="2400">
                  <a:latin typeface="Arial" charset="0"/>
                </a:endParaRPr>
              </a:p>
            </p:txBody>
          </p:sp>
          <p:sp>
            <p:nvSpPr>
              <p:cNvPr id="7392" name="Line 39"/>
              <p:cNvSpPr>
                <a:spLocks noChangeShapeType="1"/>
              </p:cNvSpPr>
              <p:nvPr/>
            </p:nvSpPr>
            <p:spPr bwMode="auto">
              <a:xfrm flipV="1">
                <a:off x="3543" y="2084"/>
                <a:ext cx="262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196" name="Group 40"/>
            <p:cNvGrpSpPr>
              <a:grpSpLocks/>
            </p:cNvGrpSpPr>
            <p:nvPr/>
          </p:nvGrpSpPr>
          <p:grpSpPr bwMode="auto">
            <a:xfrm>
              <a:off x="2857" y="2329"/>
              <a:ext cx="247" cy="255"/>
              <a:chOff x="3354" y="1740"/>
              <a:chExt cx="624" cy="660"/>
            </a:xfrm>
          </p:grpSpPr>
          <p:sp>
            <p:nvSpPr>
              <p:cNvPr id="7389" name="Oval 41"/>
              <p:cNvSpPr>
                <a:spLocks noChangeArrowheads="1"/>
              </p:cNvSpPr>
              <p:nvPr/>
            </p:nvSpPr>
            <p:spPr bwMode="auto">
              <a:xfrm>
                <a:off x="3354" y="1740"/>
                <a:ext cx="624" cy="660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tr-TR" altLang="en-US" sz="2400">
                  <a:latin typeface="Arial" charset="0"/>
                </a:endParaRPr>
              </a:p>
            </p:txBody>
          </p:sp>
          <p:sp>
            <p:nvSpPr>
              <p:cNvPr id="7390" name="Line 42"/>
              <p:cNvSpPr>
                <a:spLocks noChangeShapeType="1"/>
              </p:cNvSpPr>
              <p:nvPr/>
            </p:nvSpPr>
            <p:spPr bwMode="auto">
              <a:xfrm flipV="1">
                <a:off x="3543" y="2084"/>
                <a:ext cx="262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197" name="Group 43"/>
            <p:cNvGrpSpPr>
              <a:grpSpLocks/>
            </p:cNvGrpSpPr>
            <p:nvPr/>
          </p:nvGrpSpPr>
          <p:grpSpPr bwMode="auto">
            <a:xfrm>
              <a:off x="2684" y="2361"/>
              <a:ext cx="244" cy="257"/>
              <a:chOff x="3354" y="1740"/>
              <a:chExt cx="624" cy="660"/>
            </a:xfrm>
          </p:grpSpPr>
          <p:sp>
            <p:nvSpPr>
              <p:cNvPr id="7387" name="Oval 44"/>
              <p:cNvSpPr>
                <a:spLocks noChangeArrowheads="1"/>
              </p:cNvSpPr>
              <p:nvPr/>
            </p:nvSpPr>
            <p:spPr bwMode="auto">
              <a:xfrm>
                <a:off x="3354" y="1740"/>
                <a:ext cx="624" cy="660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tr-TR" altLang="en-US" sz="2400">
                  <a:latin typeface="Arial" charset="0"/>
                </a:endParaRPr>
              </a:p>
            </p:txBody>
          </p:sp>
          <p:sp>
            <p:nvSpPr>
              <p:cNvPr id="7388" name="Line 45"/>
              <p:cNvSpPr>
                <a:spLocks noChangeShapeType="1"/>
              </p:cNvSpPr>
              <p:nvPr/>
            </p:nvSpPr>
            <p:spPr bwMode="auto">
              <a:xfrm flipV="1">
                <a:off x="3543" y="2084"/>
                <a:ext cx="262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198" name="Group 46"/>
            <p:cNvGrpSpPr>
              <a:grpSpLocks/>
            </p:cNvGrpSpPr>
            <p:nvPr/>
          </p:nvGrpSpPr>
          <p:grpSpPr bwMode="auto">
            <a:xfrm>
              <a:off x="3615" y="2342"/>
              <a:ext cx="249" cy="255"/>
              <a:chOff x="3354" y="1740"/>
              <a:chExt cx="624" cy="660"/>
            </a:xfrm>
          </p:grpSpPr>
          <p:sp>
            <p:nvSpPr>
              <p:cNvPr id="7385" name="Oval 47"/>
              <p:cNvSpPr>
                <a:spLocks noChangeArrowheads="1"/>
              </p:cNvSpPr>
              <p:nvPr/>
            </p:nvSpPr>
            <p:spPr bwMode="auto">
              <a:xfrm>
                <a:off x="3354" y="1740"/>
                <a:ext cx="624" cy="660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tr-TR" altLang="en-US" sz="2400">
                  <a:latin typeface="Arial" charset="0"/>
                </a:endParaRPr>
              </a:p>
            </p:txBody>
          </p:sp>
          <p:sp>
            <p:nvSpPr>
              <p:cNvPr id="7386" name="Line 48"/>
              <p:cNvSpPr>
                <a:spLocks noChangeShapeType="1"/>
              </p:cNvSpPr>
              <p:nvPr/>
            </p:nvSpPr>
            <p:spPr bwMode="auto">
              <a:xfrm flipV="1">
                <a:off x="3543" y="2084"/>
                <a:ext cx="262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199" name="Group 49"/>
            <p:cNvGrpSpPr>
              <a:grpSpLocks/>
            </p:cNvGrpSpPr>
            <p:nvPr/>
          </p:nvGrpSpPr>
          <p:grpSpPr bwMode="auto">
            <a:xfrm>
              <a:off x="3820" y="2107"/>
              <a:ext cx="246" cy="257"/>
              <a:chOff x="3354" y="1740"/>
              <a:chExt cx="624" cy="660"/>
            </a:xfrm>
          </p:grpSpPr>
          <p:sp>
            <p:nvSpPr>
              <p:cNvPr id="7383" name="Oval 50"/>
              <p:cNvSpPr>
                <a:spLocks noChangeArrowheads="1"/>
              </p:cNvSpPr>
              <p:nvPr/>
            </p:nvSpPr>
            <p:spPr bwMode="auto">
              <a:xfrm>
                <a:off x="3354" y="1740"/>
                <a:ext cx="624" cy="660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tr-TR" altLang="en-US" sz="2400">
                  <a:latin typeface="Arial" charset="0"/>
                </a:endParaRPr>
              </a:p>
            </p:txBody>
          </p:sp>
          <p:sp>
            <p:nvSpPr>
              <p:cNvPr id="7384" name="Line 51"/>
              <p:cNvSpPr>
                <a:spLocks noChangeShapeType="1"/>
              </p:cNvSpPr>
              <p:nvPr/>
            </p:nvSpPr>
            <p:spPr bwMode="auto">
              <a:xfrm flipV="1">
                <a:off x="3543" y="2084"/>
                <a:ext cx="262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200" name="Group 52"/>
            <p:cNvGrpSpPr>
              <a:grpSpLocks/>
            </p:cNvGrpSpPr>
            <p:nvPr/>
          </p:nvGrpSpPr>
          <p:grpSpPr bwMode="auto">
            <a:xfrm>
              <a:off x="3844" y="2361"/>
              <a:ext cx="245" cy="257"/>
              <a:chOff x="3354" y="1740"/>
              <a:chExt cx="624" cy="660"/>
            </a:xfrm>
          </p:grpSpPr>
          <p:sp>
            <p:nvSpPr>
              <p:cNvPr id="7381" name="Oval 53"/>
              <p:cNvSpPr>
                <a:spLocks noChangeArrowheads="1"/>
              </p:cNvSpPr>
              <p:nvPr/>
            </p:nvSpPr>
            <p:spPr bwMode="auto">
              <a:xfrm>
                <a:off x="3354" y="1740"/>
                <a:ext cx="624" cy="660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tr-TR" altLang="en-US" sz="2400">
                  <a:latin typeface="Arial" charset="0"/>
                </a:endParaRPr>
              </a:p>
            </p:txBody>
          </p:sp>
          <p:sp>
            <p:nvSpPr>
              <p:cNvPr id="7382" name="Line 54"/>
              <p:cNvSpPr>
                <a:spLocks noChangeShapeType="1"/>
              </p:cNvSpPr>
              <p:nvPr/>
            </p:nvSpPr>
            <p:spPr bwMode="auto">
              <a:xfrm flipV="1">
                <a:off x="3543" y="2084"/>
                <a:ext cx="262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7201" name="Rectangle 55"/>
            <p:cNvSpPr>
              <a:spLocks noChangeArrowheads="1"/>
            </p:cNvSpPr>
            <p:nvPr/>
          </p:nvSpPr>
          <p:spPr bwMode="auto">
            <a:xfrm>
              <a:off x="1632" y="2652"/>
              <a:ext cx="2689" cy="32"/>
            </a:xfrm>
            <a:prstGeom prst="rect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tr-TR" altLang="en-US" sz="1800">
                <a:latin typeface="Arial" charset="0"/>
              </a:endParaRPr>
            </a:p>
          </p:txBody>
        </p:sp>
        <p:grpSp>
          <p:nvGrpSpPr>
            <p:cNvPr id="7202" name="Group 56"/>
            <p:cNvGrpSpPr>
              <a:grpSpLocks/>
            </p:cNvGrpSpPr>
            <p:nvPr/>
          </p:nvGrpSpPr>
          <p:grpSpPr bwMode="auto">
            <a:xfrm>
              <a:off x="1626" y="2280"/>
              <a:ext cx="248" cy="230"/>
              <a:chOff x="3354" y="1740"/>
              <a:chExt cx="624" cy="660"/>
            </a:xfrm>
          </p:grpSpPr>
          <p:sp>
            <p:nvSpPr>
              <p:cNvPr id="7379" name="Oval 57"/>
              <p:cNvSpPr>
                <a:spLocks noChangeArrowheads="1"/>
              </p:cNvSpPr>
              <p:nvPr/>
            </p:nvSpPr>
            <p:spPr bwMode="auto">
              <a:xfrm>
                <a:off x="3354" y="1740"/>
                <a:ext cx="624" cy="660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tr-TR" altLang="en-US" sz="2400">
                  <a:latin typeface="Arial" charset="0"/>
                </a:endParaRPr>
              </a:p>
            </p:txBody>
          </p:sp>
          <p:sp>
            <p:nvSpPr>
              <p:cNvPr id="7380" name="Line 58"/>
              <p:cNvSpPr>
                <a:spLocks noChangeShapeType="1"/>
              </p:cNvSpPr>
              <p:nvPr/>
            </p:nvSpPr>
            <p:spPr bwMode="auto">
              <a:xfrm flipV="1">
                <a:off x="3543" y="2084"/>
                <a:ext cx="262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203" name="Group 59"/>
            <p:cNvGrpSpPr>
              <a:grpSpLocks/>
            </p:cNvGrpSpPr>
            <p:nvPr/>
          </p:nvGrpSpPr>
          <p:grpSpPr bwMode="auto">
            <a:xfrm>
              <a:off x="2053" y="2383"/>
              <a:ext cx="244" cy="225"/>
              <a:chOff x="3354" y="1740"/>
              <a:chExt cx="624" cy="660"/>
            </a:xfrm>
          </p:grpSpPr>
          <p:sp>
            <p:nvSpPr>
              <p:cNvPr id="7377" name="Oval 60"/>
              <p:cNvSpPr>
                <a:spLocks noChangeArrowheads="1"/>
              </p:cNvSpPr>
              <p:nvPr/>
            </p:nvSpPr>
            <p:spPr bwMode="auto">
              <a:xfrm>
                <a:off x="3354" y="1740"/>
                <a:ext cx="624" cy="660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tr-TR" altLang="en-US" sz="2400">
                  <a:latin typeface="Arial" charset="0"/>
                </a:endParaRPr>
              </a:p>
            </p:txBody>
          </p:sp>
          <p:sp>
            <p:nvSpPr>
              <p:cNvPr id="7378" name="Line 61"/>
              <p:cNvSpPr>
                <a:spLocks noChangeShapeType="1"/>
              </p:cNvSpPr>
              <p:nvPr/>
            </p:nvSpPr>
            <p:spPr bwMode="auto">
              <a:xfrm flipV="1">
                <a:off x="3543" y="2084"/>
                <a:ext cx="262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204" name="Group 62"/>
            <p:cNvGrpSpPr>
              <a:grpSpLocks/>
            </p:cNvGrpSpPr>
            <p:nvPr/>
          </p:nvGrpSpPr>
          <p:grpSpPr bwMode="auto">
            <a:xfrm>
              <a:off x="2083" y="1772"/>
              <a:ext cx="245" cy="257"/>
              <a:chOff x="3354" y="1740"/>
              <a:chExt cx="624" cy="660"/>
            </a:xfrm>
          </p:grpSpPr>
          <p:sp>
            <p:nvSpPr>
              <p:cNvPr id="7375" name="Oval 63"/>
              <p:cNvSpPr>
                <a:spLocks noChangeArrowheads="1"/>
              </p:cNvSpPr>
              <p:nvPr/>
            </p:nvSpPr>
            <p:spPr bwMode="auto">
              <a:xfrm>
                <a:off x="3354" y="1740"/>
                <a:ext cx="624" cy="660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tr-TR" altLang="en-US" sz="2400">
                  <a:latin typeface="Arial" charset="0"/>
                </a:endParaRPr>
              </a:p>
            </p:txBody>
          </p:sp>
          <p:sp>
            <p:nvSpPr>
              <p:cNvPr id="7376" name="Line 64"/>
              <p:cNvSpPr>
                <a:spLocks noChangeShapeType="1"/>
              </p:cNvSpPr>
              <p:nvPr/>
            </p:nvSpPr>
            <p:spPr bwMode="auto">
              <a:xfrm flipV="1">
                <a:off x="3543" y="2084"/>
                <a:ext cx="262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205" name="Group 65"/>
            <p:cNvGrpSpPr>
              <a:grpSpLocks/>
            </p:cNvGrpSpPr>
            <p:nvPr/>
          </p:nvGrpSpPr>
          <p:grpSpPr bwMode="auto">
            <a:xfrm>
              <a:off x="2394" y="1624"/>
              <a:ext cx="248" cy="255"/>
              <a:chOff x="3354" y="1740"/>
              <a:chExt cx="624" cy="660"/>
            </a:xfrm>
          </p:grpSpPr>
          <p:sp>
            <p:nvSpPr>
              <p:cNvPr id="7373" name="Oval 66"/>
              <p:cNvSpPr>
                <a:spLocks noChangeArrowheads="1"/>
              </p:cNvSpPr>
              <p:nvPr/>
            </p:nvSpPr>
            <p:spPr bwMode="auto">
              <a:xfrm>
                <a:off x="3354" y="1740"/>
                <a:ext cx="624" cy="660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tr-TR" altLang="en-US" sz="2400">
                  <a:latin typeface="Arial" charset="0"/>
                </a:endParaRPr>
              </a:p>
            </p:txBody>
          </p:sp>
          <p:sp>
            <p:nvSpPr>
              <p:cNvPr id="7374" name="Line 67"/>
              <p:cNvSpPr>
                <a:spLocks noChangeShapeType="1"/>
              </p:cNvSpPr>
              <p:nvPr/>
            </p:nvSpPr>
            <p:spPr bwMode="auto">
              <a:xfrm flipV="1">
                <a:off x="3543" y="2084"/>
                <a:ext cx="262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206" name="Group 68"/>
            <p:cNvGrpSpPr>
              <a:grpSpLocks/>
            </p:cNvGrpSpPr>
            <p:nvPr/>
          </p:nvGrpSpPr>
          <p:grpSpPr bwMode="auto">
            <a:xfrm>
              <a:off x="3151" y="1767"/>
              <a:ext cx="248" cy="231"/>
              <a:chOff x="3354" y="1740"/>
              <a:chExt cx="624" cy="660"/>
            </a:xfrm>
          </p:grpSpPr>
          <p:sp>
            <p:nvSpPr>
              <p:cNvPr id="7371" name="Oval 69"/>
              <p:cNvSpPr>
                <a:spLocks noChangeArrowheads="1"/>
              </p:cNvSpPr>
              <p:nvPr/>
            </p:nvSpPr>
            <p:spPr bwMode="auto">
              <a:xfrm>
                <a:off x="3354" y="1740"/>
                <a:ext cx="624" cy="660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tr-TR" altLang="en-US" sz="2400">
                  <a:latin typeface="Arial" charset="0"/>
                </a:endParaRPr>
              </a:p>
            </p:txBody>
          </p:sp>
          <p:sp>
            <p:nvSpPr>
              <p:cNvPr id="7372" name="Line 70"/>
              <p:cNvSpPr>
                <a:spLocks noChangeShapeType="1"/>
              </p:cNvSpPr>
              <p:nvPr/>
            </p:nvSpPr>
            <p:spPr bwMode="auto">
              <a:xfrm flipV="1">
                <a:off x="3543" y="2084"/>
                <a:ext cx="262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207" name="Group 71"/>
            <p:cNvGrpSpPr>
              <a:grpSpLocks/>
            </p:cNvGrpSpPr>
            <p:nvPr/>
          </p:nvGrpSpPr>
          <p:grpSpPr bwMode="auto">
            <a:xfrm>
              <a:off x="2959" y="1532"/>
              <a:ext cx="247" cy="229"/>
              <a:chOff x="3354" y="1740"/>
              <a:chExt cx="624" cy="660"/>
            </a:xfrm>
          </p:grpSpPr>
          <p:sp>
            <p:nvSpPr>
              <p:cNvPr id="7369" name="Oval 72"/>
              <p:cNvSpPr>
                <a:spLocks noChangeArrowheads="1"/>
              </p:cNvSpPr>
              <p:nvPr/>
            </p:nvSpPr>
            <p:spPr bwMode="auto">
              <a:xfrm>
                <a:off x="3354" y="1740"/>
                <a:ext cx="624" cy="660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tr-TR" altLang="en-US" sz="2400">
                  <a:latin typeface="Arial" charset="0"/>
                </a:endParaRPr>
              </a:p>
            </p:txBody>
          </p:sp>
          <p:sp>
            <p:nvSpPr>
              <p:cNvPr id="7370" name="Line 73"/>
              <p:cNvSpPr>
                <a:spLocks noChangeShapeType="1"/>
              </p:cNvSpPr>
              <p:nvPr/>
            </p:nvSpPr>
            <p:spPr bwMode="auto">
              <a:xfrm flipV="1">
                <a:off x="3543" y="2084"/>
                <a:ext cx="262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208" name="Group 74"/>
            <p:cNvGrpSpPr>
              <a:grpSpLocks/>
            </p:cNvGrpSpPr>
            <p:nvPr/>
          </p:nvGrpSpPr>
          <p:grpSpPr bwMode="auto">
            <a:xfrm>
              <a:off x="2915" y="1754"/>
              <a:ext cx="246" cy="231"/>
              <a:chOff x="3354" y="1740"/>
              <a:chExt cx="624" cy="660"/>
            </a:xfrm>
          </p:grpSpPr>
          <p:sp>
            <p:nvSpPr>
              <p:cNvPr id="7367" name="Oval 75"/>
              <p:cNvSpPr>
                <a:spLocks noChangeArrowheads="1"/>
              </p:cNvSpPr>
              <p:nvPr/>
            </p:nvSpPr>
            <p:spPr bwMode="auto">
              <a:xfrm>
                <a:off x="3354" y="1740"/>
                <a:ext cx="624" cy="660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tr-TR" altLang="en-US" sz="2400">
                  <a:latin typeface="Arial" charset="0"/>
                </a:endParaRPr>
              </a:p>
            </p:txBody>
          </p:sp>
          <p:sp>
            <p:nvSpPr>
              <p:cNvPr id="7368" name="Line 76"/>
              <p:cNvSpPr>
                <a:spLocks noChangeShapeType="1"/>
              </p:cNvSpPr>
              <p:nvPr/>
            </p:nvSpPr>
            <p:spPr bwMode="auto">
              <a:xfrm flipV="1">
                <a:off x="3543" y="2084"/>
                <a:ext cx="262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209" name="Group 77"/>
            <p:cNvGrpSpPr>
              <a:grpSpLocks/>
            </p:cNvGrpSpPr>
            <p:nvPr/>
          </p:nvGrpSpPr>
          <p:grpSpPr bwMode="auto">
            <a:xfrm>
              <a:off x="2555" y="1790"/>
              <a:ext cx="246" cy="229"/>
              <a:chOff x="3354" y="1740"/>
              <a:chExt cx="624" cy="660"/>
            </a:xfrm>
          </p:grpSpPr>
          <p:sp>
            <p:nvSpPr>
              <p:cNvPr id="7365" name="Oval 78"/>
              <p:cNvSpPr>
                <a:spLocks noChangeArrowheads="1"/>
              </p:cNvSpPr>
              <p:nvPr/>
            </p:nvSpPr>
            <p:spPr bwMode="auto">
              <a:xfrm>
                <a:off x="3354" y="1740"/>
                <a:ext cx="624" cy="660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tr-TR" altLang="en-US" sz="2400">
                  <a:latin typeface="Arial" charset="0"/>
                </a:endParaRPr>
              </a:p>
            </p:txBody>
          </p:sp>
          <p:sp>
            <p:nvSpPr>
              <p:cNvPr id="7366" name="Line 79"/>
              <p:cNvSpPr>
                <a:spLocks noChangeShapeType="1"/>
              </p:cNvSpPr>
              <p:nvPr/>
            </p:nvSpPr>
            <p:spPr bwMode="auto">
              <a:xfrm flipV="1">
                <a:off x="3543" y="2084"/>
                <a:ext cx="262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210" name="Group 80"/>
            <p:cNvGrpSpPr>
              <a:grpSpLocks/>
            </p:cNvGrpSpPr>
            <p:nvPr/>
          </p:nvGrpSpPr>
          <p:grpSpPr bwMode="auto">
            <a:xfrm>
              <a:off x="3676" y="1786"/>
              <a:ext cx="249" cy="229"/>
              <a:chOff x="3354" y="1740"/>
              <a:chExt cx="624" cy="660"/>
            </a:xfrm>
          </p:grpSpPr>
          <p:sp>
            <p:nvSpPr>
              <p:cNvPr id="7363" name="Oval 81"/>
              <p:cNvSpPr>
                <a:spLocks noChangeArrowheads="1"/>
              </p:cNvSpPr>
              <p:nvPr/>
            </p:nvSpPr>
            <p:spPr bwMode="auto">
              <a:xfrm>
                <a:off x="3354" y="1740"/>
                <a:ext cx="624" cy="660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tr-TR" altLang="en-US" sz="2400">
                  <a:latin typeface="Arial" charset="0"/>
                </a:endParaRPr>
              </a:p>
            </p:txBody>
          </p:sp>
          <p:sp>
            <p:nvSpPr>
              <p:cNvPr id="7364" name="Line 82"/>
              <p:cNvSpPr>
                <a:spLocks noChangeShapeType="1"/>
              </p:cNvSpPr>
              <p:nvPr/>
            </p:nvSpPr>
            <p:spPr bwMode="auto">
              <a:xfrm flipV="1">
                <a:off x="3543" y="2084"/>
                <a:ext cx="262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211" name="Group 83"/>
            <p:cNvGrpSpPr>
              <a:grpSpLocks/>
            </p:cNvGrpSpPr>
            <p:nvPr/>
          </p:nvGrpSpPr>
          <p:grpSpPr bwMode="auto">
            <a:xfrm>
              <a:off x="2321" y="1816"/>
              <a:ext cx="248" cy="229"/>
              <a:chOff x="3354" y="1740"/>
              <a:chExt cx="624" cy="660"/>
            </a:xfrm>
          </p:grpSpPr>
          <p:sp>
            <p:nvSpPr>
              <p:cNvPr id="7361" name="Oval 84"/>
              <p:cNvSpPr>
                <a:spLocks noChangeArrowheads="1"/>
              </p:cNvSpPr>
              <p:nvPr/>
            </p:nvSpPr>
            <p:spPr bwMode="auto">
              <a:xfrm>
                <a:off x="3354" y="1740"/>
                <a:ext cx="624" cy="660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tr-TR" altLang="en-US" sz="2400">
                  <a:latin typeface="Arial" charset="0"/>
                </a:endParaRPr>
              </a:p>
            </p:txBody>
          </p:sp>
          <p:sp>
            <p:nvSpPr>
              <p:cNvPr id="7362" name="Line 85"/>
              <p:cNvSpPr>
                <a:spLocks noChangeShapeType="1"/>
              </p:cNvSpPr>
              <p:nvPr/>
            </p:nvSpPr>
            <p:spPr bwMode="auto">
              <a:xfrm flipV="1">
                <a:off x="3543" y="2084"/>
                <a:ext cx="262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212" name="Group 86"/>
            <p:cNvGrpSpPr>
              <a:grpSpLocks/>
            </p:cNvGrpSpPr>
            <p:nvPr/>
          </p:nvGrpSpPr>
          <p:grpSpPr bwMode="auto">
            <a:xfrm>
              <a:off x="2502" y="2001"/>
              <a:ext cx="245" cy="231"/>
              <a:chOff x="3354" y="1740"/>
              <a:chExt cx="624" cy="660"/>
            </a:xfrm>
          </p:grpSpPr>
          <p:sp>
            <p:nvSpPr>
              <p:cNvPr id="7359" name="Oval 87"/>
              <p:cNvSpPr>
                <a:spLocks noChangeArrowheads="1"/>
              </p:cNvSpPr>
              <p:nvPr/>
            </p:nvSpPr>
            <p:spPr bwMode="auto">
              <a:xfrm>
                <a:off x="3354" y="1740"/>
                <a:ext cx="624" cy="660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tr-TR" altLang="en-US" sz="2400">
                  <a:latin typeface="Arial" charset="0"/>
                </a:endParaRPr>
              </a:p>
            </p:txBody>
          </p:sp>
          <p:sp>
            <p:nvSpPr>
              <p:cNvPr id="7360" name="Line 88"/>
              <p:cNvSpPr>
                <a:spLocks noChangeShapeType="1"/>
              </p:cNvSpPr>
              <p:nvPr/>
            </p:nvSpPr>
            <p:spPr bwMode="auto">
              <a:xfrm flipV="1">
                <a:off x="3543" y="2084"/>
                <a:ext cx="262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213" name="Group 89"/>
            <p:cNvGrpSpPr>
              <a:grpSpLocks/>
            </p:cNvGrpSpPr>
            <p:nvPr/>
          </p:nvGrpSpPr>
          <p:grpSpPr bwMode="auto">
            <a:xfrm>
              <a:off x="2680" y="1624"/>
              <a:ext cx="246" cy="229"/>
              <a:chOff x="3354" y="1740"/>
              <a:chExt cx="624" cy="660"/>
            </a:xfrm>
          </p:grpSpPr>
          <p:sp>
            <p:nvSpPr>
              <p:cNvPr id="7357" name="Oval 90"/>
              <p:cNvSpPr>
                <a:spLocks noChangeArrowheads="1"/>
              </p:cNvSpPr>
              <p:nvPr/>
            </p:nvSpPr>
            <p:spPr bwMode="auto">
              <a:xfrm>
                <a:off x="3354" y="1740"/>
                <a:ext cx="624" cy="660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tr-TR" altLang="en-US" sz="2400">
                  <a:latin typeface="Arial" charset="0"/>
                </a:endParaRPr>
              </a:p>
            </p:txBody>
          </p:sp>
          <p:sp>
            <p:nvSpPr>
              <p:cNvPr id="7358" name="Line 91"/>
              <p:cNvSpPr>
                <a:spLocks noChangeShapeType="1"/>
              </p:cNvSpPr>
              <p:nvPr/>
            </p:nvSpPr>
            <p:spPr bwMode="auto">
              <a:xfrm flipV="1">
                <a:off x="3543" y="2084"/>
                <a:ext cx="262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214" name="Group 92"/>
            <p:cNvGrpSpPr>
              <a:grpSpLocks/>
            </p:cNvGrpSpPr>
            <p:nvPr/>
          </p:nvGrpSpPr>
          <p:grpSpPr bwMode="auto">
            <a:xfrm>
              <a:off x="2254" y="1982"/>
              <a:ext cx="248" cy="229"/>
              <a:chOff x="3354" y="1740"/>
              <a:chExt cx="624" cy="660"/>
            </a:xfrm>
          </p:grpSpPr>
          <p:sp>
            <p:nvSpPr>
              <p:cNvPr id="7355" name="Oval 93"/>
              <p:cNvSpPr>
                <a:spLocks noChangeArrowheads="1"/>
              </p:cNvSpPr>
              <p:nvPr/>
            </p:nvSpPr>
            <p:spPr bwMode="auto">
              <a:xfrm>
                <a:off x="3354" y="1740"/>
                <a:ext cx="624" cy="660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tr-TR" altLang="en-US" sz="2400">
                  <a:latin typeface="Arial" charset="0"/>
                </a:endParaRPr>
              </a:p>
            </p:txBody>
          </p:sp>
          <p:sp>
            <p:nvSpPr>
              <p:cNvPr id="7356" name="Line 94"/>
              <p:cNvSpPr>
                <a:spLocks noChangeShapeType="1"/>
              </p:cNvSpPr>
              <p:nvPr/>
            </p:nvSpPr>
            <p:spPr bwMode="auto">
              <a:xfrm flipV="1">
                <a:off x="3543" y="2084"/>
                <a:ext cx="262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215" name="Group 95"/>
            <p:cNvGrpSpPr>
              <a:grpSpLocks/>
            </p:cNvGrpSpPr>
            <p:nvPr/>
          </p:nvGrpSpPr>
          <p:grpSpPr bwMode="auto">
            <a:xfrm>
              <a:off x="2035" y="2024"/>
              <a:ext cx="246" cy="250"/>
              <a:chOff x="3354" y="1740"/>
              <a:chExt cx="624" cy="660"/>
            </a:xfrm>
          </p:grpSpPr>
          <p:sp>
            <p:nvSpPr>
              <p:cNvPr id="7353" name="Oval 96"/>
              <p:cNvSpPr>
                <a:spLocks noChangeArrowheads="1"/>
              </p:cNvSpPr>
              <p:nvPr/>
            </p:nvSpPr>
            <p:spPr bwMode="auto">
              <a:xfrm>
                <a:off x="3354" y="1740"/>
                <a:ext cx="624" cy="660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tr-TR" altLang="en-US" sz="2400">
                  <a:latin typeface="Arial" charset="0"/>
                </a:endParaRPr>
              </a:p>
            </p:txBody>
          </p:sp>
          <p:sp>
            <p:nvSpPr>
              <p:cNvPr id="7354" name="Line 97"/>
              <p:cNvSpPr>
                <a:spLocks noChangeShapeType="1"/>
              </p:cNvSpPr>
              <p:nvPr/>
            </p:nvSpPr>
            <p:spPr bwMode="auto">
              <a:xfrm flipV="1">
                <a:off x="3543" y="2084"/>
                <a:ext cx="262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216" name="Group 98"/>
            <p:cNvGrpSpPr>
              <a:grpSpLocks/>
            </p:cNvGrpSpPr>
            <p:nvPr/>
          </p:nvGrpSpPr>
          <p:grpSpPr bwMode="auto">
            <a:xfrm>
              <a:off x="2774" y="1943"/>
              <a:ext cx="247" cy="255"/>
              <a:chOff x="3354" y="1740"/>
              <a:chExt cx="624" cy="660"/>
            </a:xfrm>
          </p:grpSpPr>
          <p:sp>
            <p:nvSpPr>
              <p:cNvPr id="7351" name="Oval 99"/>
              <p:cNvSpPr>
                <a:spLocks noChangeArrowheads="1"/>
              </p:cNvSpPr>
              <p:nvPr/>
            </p:nvSpPr>
            <p:spPr bwMode="auto">
              <a:xfrm>
                <a:off x="3354" y="1740"/>
                <a:ext cx="624" cy="660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tr-TR" altLang="en-US" sz="2400">
                  <a:latin typeface="Arial" charset="0"/>
                </a:endParaRPr>
              </a:p>
            </p:txBody>
          </p:sp>
          <p:sp>
            <p:nvSpPr>
              <p:cNvPr id="7352" name="Line 100"/>
              <p:cNvSpPr>
                <a:spLocks noChangeShapeType="1"/>
              </p:cNvSpPr>
              <p:nvPr/>
            </p:nvSpPr>
            <p:spPr bwMode="auto">
              <a:xfrm flipV="1">
                <a:off x="3543" y="2084"/>
                <a:ext cx="262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217" name="Group 101"/>
            <p:cNvGrpSpPr>
              <a:grpSpLocks/>
            </p:cNvGrpSpPr>
            <p:nvPr/>
          </p:nvGrpSpPr>
          <p:grpSpPr bwMode="auto">
            <a:xfrm>
              <a:off x="2950" y="1975"/>
              <a:ext cx="244" cy="257"/>
              <a:chOff x="3354" y="1740"/>
              <a:chExt cx="624" cy="660"/>
            </a:xfrm>
          </p:grpSpPr>
          <p:sp>
            <p:nvSpPr>
              <p:cNvPr id="7349" name="Oval 102"/>
              <p:cNvSpPr>
                <a:spLocks noChangeArrowheads="1"/>
              </p:cNvSpPr>
              <p:nvPr/>
            </p:nvSpPr>
            <p:spPr bwMode="auto">
              <a:xfrm>
                <a:off x="3354" y="1740"/>
                <a:ext cx="624" cy="660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tr-TR" altLang="en-US" sz="2400">
                  <a:latin typeface="Arial" charset="0"/>
                </a:endParaRPr>
              </a:p>
            </p:txBody>
          </p:sp>
          <p:sp>
            <p:nvSpPr>
              <p:cNvPr id="7350" name="Line 103"/>
              <p:cNvSpPr>
                <a:spLocks noChangeShapeType="1"/>
              </p:cNvSpPr>
              <p:nvPr/>
            </p:nvSpPr>
            <p:spPr bwMode="auto">
              <a:xfrm flipV="1">
                <a:off x="3543" y="2084"/>
                <a:ext cx="262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218" name="Group 104"/>
            <p:cNvGrpSpPr>
              <a:grpSpLocks/>
            </p:cNvGrpSpPr>
            <p:nvPr/>
          </p:nvGrpSpPr>
          <p:grpSpPr bwMode="auto">
            <a:xfrm>
              <a:off x="1896" y="2209"/>
              <a:ext cx="249" cy="255"/>
              <a:chOff x="3354" y="1740"/>
              <a:chExt cx="624" cy="660"/>
            </a:xfrm>
          </p:grpSpPr>
          <p:sp>
            <p:nvSpPr>
              <p:cNvPr id="7347" name="Oval 105"/>
              <p:cNvSpPr>
                <a:spLocks noChangeArrowheads="1"/>
              </p:cNvSpPr>
              <p:nvPr/>
            </p:nvSpPr>
            <p:spPr bwMode="auto">
              <a:xfrm>
                <a:off x="3354" y="1740"/>
                <a:ext cx="624" cy="660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tr-TR" altLang="en-US" sz="2400">
                  <a:latin typeface="Arial" charset="0"/>
                </a:endParaRPr>
              </a:p>
            </p:txBody>
          </p:sp>
          <p:sp>
            <p:nvSpPr>
              <p:cNvPr id="7348" name="Line 106"/>
              <p:cNvSpPr>
                <a:spLocks noChangeShapeType="1"/>
              </p:cNvSpPr>
              <p:nvPr/>
            </p:nvSpPr>
            <p:spPr bwMode="auto">
              <a:xfrm flipV="1">
                <a:off x="3543" y="2084"/>
                <a:ext cx="262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219" name="Group 107"/>
            <p:cNvGrpSpPr>
              <a:grpSpLocks/>
            </p:cNvGrpSpPr>
            <p:nvPr/>
          </p:nvGrpSpPr>
          <p:grpSpPr bwMode="auto">
            <a:xfrm>
              <a:off x="1888" y="1769"/>
              <a:ext cx="246" cy="257"/>
              <a:chOff x="3354" y="1740"/>
              <a:chExt cx="624" cy="660"/>
            </a:xfrm>
          </p:grpSpPr>
          <p:sp>
            <p:nvSpPr>
              <p:cNvPr id="7345" name="Oval 108"/>
              <p:cNvSpPr>
                <a:spLocks noChangeArrowheads="1"/>
              </p:cNvSpPr>
              <p:nvPr/>
            </p:nvSpPr>
            <p:spPr bwMode="auto">
              <a:xfrm>
                <a:off x="3354" y="1740"/>
                <a:ext cx="624" cy="660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tr-TR" altLang="en-US" sz="2400">
                  <a:latin typeface="Arial" charset="0"/>
                </a:endParaRPr>
              </a:p>
            </p:txBody>
          </p:sp>
          <p:sp>
            <p:nvSpPr>
              <p:cNvPr id="7346" name="Line 109"/>
              <p:cNvSpPr>
                <a:spLocks noChangeShapeType="1"/>
              </p:cNvSpPr>
              <p:nvPr/>
            </p:nvSpPr>
            <p:spPr bwMode="auto">
              <a:xfrm flipV="1">
                <a:off x="3543" y="2084"/>
                <a:ext cx="262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220" name="Group 110"/>
            <p:cNvGrpSpPr>
              <a:grpSpLocks/>
            </p:cNvGrpSpPr>
            <p:nvPr/>
          </p:nvGrpSpPr>
          <p:grpSpPr bwMode="auto">
            <a:xfrm>
              <a:off x="1583" y="2011"/>
              <a:ext cx="245" cy="257"/>
              <a:chOff x="3354" y="1740"/>
              <a:chExt cx="624" cy="660"/>
            </a:xfrm>
          </p:grpSpPr>
          <p:sp>
            <p:nvSpPr>
              <p:cNvPr id="7343" name="Oval 111"/>
              <p:cNvSpPr>
                <a:spLocks noChangeArrowheads="1"/>
              </p:cNvSpPr>
              <p:nvPr/>
            </p:nvSpPr>
            <p:spPr bwMode="auto">
              <a:xfrm>
                <a:off x="3354" y="1740"/>
                <a:ext cx="624" cy="660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tr-TR" altLang="en-US" sz="2400">
                  <a:latin typeface="Arial" charset="0"/>
                </a:endParaRPr>
              </a:p>
            </p:txBody>
          </p:sp>
          <p:sp>
            <p:nvSpPr>
              <p:cNvPr id="7344" name="Line 112"/>
              <p:cNvSpPr>
                <a:spLocks noChangeShapeType="1"/>
              </p:cNvSpPr>
              <p:nvPr/>
            </p:nvSpPr>
            <p:spPr bwMode="auto">
              <a:xfrm flipV="1">
                <a:off x="3543" y="2084"/>
                <a:ext cx="262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221" name="Group 113"/>
            <p:cNvGrpSpPr>
              <a:grpSpLocks/>
            </p:cNvGrpSpPr>
            <p:nvPr/>
          </p:nvGrpSpPr>
          <p:grpSpPr bwMode="auto">
            <a:xfrm>
              <a:off x="2182" y="2194"/>
              <a:ext cx="248" cy="230"/>
              <a:chOff x="3354" y="1740"/>
              <a:chExt cx="624" cy="660"/>
            </a:xfrm>
          </p:grpSpPr>
          <p:sp>
            <p:nvSpPr>
              <p:cNvPr id="7341" name="Oval 114"/>
              <p:cNvSpPr>
                <a:spLocks noChangeArrowheads="1"/>
              </p:cNvSpPr>
              <p:nvPr/>
            </p:nvSpPr>
            <p:spPr bwMode="auto">
              <a:xfrm>
                <a:off x="3354" y="1740"/>
                <a:ext cx="624" cy="660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tr-TR" altLang="en-US" sz="2400">
                  <a:latin typeface="Arial" charset="0"/>
                </a:endParaRPr>
              </a:p>
            </p:txBody>
          </p:sp>
          <p:sp>
            <p:nvSpPr>
              <p:cNvPr id="7342" name="Line 115"/>
              <p:cNvSpPr>
                <a:spLocks noChangeShapeType="1"/>
              </p:cNvSpPr>
              <p:nvPr/>
            </p:nvSpPr>
            <p:spPr bwMode="auto">
              <a:xfrm flipV="1">
                <a:off x="3543" y="2084"/>
                <a:ext cx="262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222" name="Group 116"/>
            <p:cNvGrpSpPr>
              <a:grpSpLocks/>
            </p:cNvGrpSpPr>
            <p:nvPr/>
          </p:nvGrpSpPr>
          <p:grpSpPr bwMode="auto">
            <a:xfrm>
              <a:off x="3434" y="1809"/>
              <a:ext cx="244" cy="225"/>
              <a:chOff x="3354" y="1740"/>
              <a:chExt cx="624" cy="660"/>
            </a:xfrm>
          </p:grpSpPr>
          <p:sp>
            <p:nvSpPr>
              <p:cNvPr id="7339" name="Oval 117"/>
              <p:cNvSpPr>
                <a:spLocks noChangeArrowheads="1"/>
              </p:cNvSpPr>
              <p:nvPr/>
            </p:nvSpPr>
            <p:spPr bwMode="auto">
              <a:xfrm>
                <a:off x="3354" y="1740"/>
                <a:ext cx="624" cy="660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tr-TR" altLang="en-US" sz="2400">
                  <a:latin typeface="Arial" charset="0"/>
                </a:endParaRPr>
              </a:p>
            </p:txBody>
          </p:sp>
          <p:sp>
            <p:nvSpPr>
              <p:cNvPr id="7340" name="Line 118"/>
              <p:cNvSpPr>
                <a:spLocks noChangeShapeType="1"/>
              </p:cNvSpPr>
              <p:nvPr/>
            </p:nvSpPr>
            <p:spPr bwMode="auto">
              <a:xfrm flipV="1">
                <a:off x="3543" y="2084"/>
                <a:ext cx="262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7223" name="Rectangle 119"/>
            <p:cNvSpPr>
              <a:spLocks noChangeArrowheads="1"/>
            </p:cNvSpPr>
            <p:nvPr/>
          </p:nvSpPr>
          <p:spPr bwMode="auto">
            <a:xfrm rot="4306496" flipH="1">
              <a:off x="887" y="2110"/>
              <a:ext cx="1159" cy="27"/>
            </a:xfrm>
            <a:prstGeom prst="rect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tr-TR" altLang="en-US" sz="1800">
                <a:latin typeface="Arial" charset="0"/>
              </a:endParaRPr>
            </a:p>
          </p:txBody>
        </p:sp>
        <p:sp>
          <p:nvSpPr>
            <p:cNvPr id="7224" name="Rectangle 120"/>
            <p:cNvSpPr>
              <a:spLocks noChangeArrowheads="1"/>
            </p:cNvSpPr>
            <p:nvPr/>
          </p:nvSpPr>
          <p:spPr bwMode="auto">
            <a:xfrm rot="-4306496">
              <a:off x="3906" y="2118"/>
              <a:ext cx="1159" cy="27"/>
            </a:xfrm>
            <a:prstGeom prst="rect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tr-TR" altLang="en-US" sz="1800">
                <a:latin typeface="Arial" charset="0"/>
              </a:endParaRPr>
            </a:p>
          </p:txBody>
        </p:sp>
        <p:grpSp>
          <p:nvGrpSpPr>
            <p:cNvPr id="7225" name="Group 121"/>
            <p:cNvGrpSpPr>
              <a:grpSpLocks/>
            </p:cNvGrpSpPr>
            <p:nvPr/>
          </p:nvGrpSpPr>
          <p:grpSpPr bwMode="auto">
            <a:xfrm>
              <a:off x="3947" y="1790"/>
              <a:ext cx="245" cy="257"/>
              <a:chOff x="3354" y="1740"/>
              <a:chExt cx="624" cy="660"/>
            </a:xfrm>
          </p:grpSpPr>
          <p:sp>
            <p:nvSpPr>
              <p:cNvPr id="7337" name="Oval 122"/>
              <p:cNvSpPr>
                <a:spLocks noChangeArrowheads="1"/>
              </p:cNvSpPr>
              <p:nvPr/>
            </p:nvSpPr>
            <p:spPr bwMode="auto">
              <a:xfrm>
                <a:off x="3354" y="1740"/>
                <a:ext cx="624" cy="660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tr-TR" altLang="en-US" sz="2400">
                  <a:latin typeface="Arial" charset="0"/>
                </a:endParaRPr>
              </a:p>
            </p:txBody>
          </p:sp>
          <p:sp>
            <p:nvSpPr>
              <p:cNvPr id="7338" name="Line 123"/>
              <p:cNvSpPr>
                <a:spLocks noChangeShapeType="1"/>
              </p:cNvSpPr>
              <p:nvPr/>
            </p:nvSpPr>
            <p:spPr bwMode="auto">
              <a:xfrm flipV="1">
                <a:off x="3543" y="2084"/>
                <a:ext cx="262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226" name="Group 124"/>
            <p:cNvGrpSpPr>
              <a:grpSpLocks/>
            </p:cNvGrpSpPr>
            <p:nvPr/>
          </p:nvGrpSpPr>
          <p:grpSpPr bwMode="auto">
            <a:xfrm>
              <a:off x="3909" y="1372"/>
              <a:ext cx="248" cy="255"/>
              <a:chOff x="3354" y="1740"/>
              <a:chExt cx="624" cy="660"/>
            </a:xfrm>
          </p:grpSpPr>
          <p:sp>
            <p:nvSpPr>
              <p:cNvPr id="7335" name="Oval 125"/>
              <p:cNvSpPr>
                <a:spLocks noChangeArrowheads="1"/>
              </p:cNvSpPr>
              <p:nvPr/>
            </p:nvSpPr>
            <p:spPr bwMode="auto">
              <a:xfrm>
                <a:off x="3354" y="1740"/>
                <a:ext cx="624" cy="660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tr-TR" altLang="en-US" sz="2400">
                  <a:latin typeface="Arial" charset="0"/>
                </a:endParaRPr>
              </a:p>
            </p:txBody>
          </p:sp>
          <p:sp>
            <p:nvSpPr>
              <p:cNvPr id="7336" name="Line 126"/>
              <p:cNvSpPr>
                <a:spLocks noChangeShapeType="1"/>
              </p:cNvSpPr>
              <p:nvPr/>
            </p:nvSpPr>
            <p:spPr bwMode="auto">
              <a:xfrm flipV="1">
                <a:off x="3543" y="2084"/>
                <a:ext cx="262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227" name="Group 127"/>
            <p:cNvGrpSpPr>
              <a:grpSpLocks/>
            </p:cNvGrpSpPr>
            <p:nvPr/>
          </p:nvGrpSpPr>
          <p:grpSpPr bwMode="auto">
            <a:xfrm>
              <a:off x="3092" y="1331"/>
              <a:ext cx="248" cy="231"/>
              <a:chOff x="3354" y="1740"/>
              <a:chExt cx="624" cy="660"/>
            </a:xfrm>
          </p:grpSpPr>
          <p:sp>
            <p:nvSpPr>
              <p:cNvPr id="7333" name="Oval 128"/>
              <p:cNvSpPr>
                <a:spLocks noChangeArrowheads="1"/>
              </p:cNvSpPr>
              <p:nvPr/>
            </p:nvSpPr>
            <p:spPr bwMode="auto">
              <a:xfrm>
                <a:off x="3354" y="1740"/>
                <a:ext cx="624" cy="660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tr-TR" altLang="en-US" sz="2400">
                  <a:latin typeface="Arial" charset="0"/>
                </a:endParaRPr>
              </a:p>
            </p:txBody>
          </p:sp>
          <p:sp>
            <p:nvSpPr>
              <p:cNvPr id="7334" name="Line 129"/>
              <p:cNvSpPr>
                <a:spLocks noChangeShapeType="1"/>
              </p:cNvSpPr>
              <p:nvPr/>
            </p:nvSpPr>
            <p:spPr bwMode="auto">
              <a:xfrm flipV="1">
                <a:off x="3543" y="2084"/>
                <a:ext cx="262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228" name="Group 130"/>
            <p:cNvGrpSpPr>
              <a:grpSpLocks/>
            </p:cNvGrpSpPr>
            <p:nvPr/>
          </p:nvGrpSpPr>
          <p:grpSpPr bwMode="auto">
            <a:xfrm>
              <a:off x="1346" y="1409"/>
              <a:ext cx="247" cy="229"/>
              <a:chOff x="3354" y="1740"/>
              <a:chExt cx="624" cy="660"/>
            </a:xfrm>
          </p:grpSpPr>
          <p:sp>
            <p:nvSpPr>
              <p:cNvPr id="7331" name="Oval 131"/>
              <p:cNvSpPr>
                <a:spLocks noChangeArrowheads="1"/>
              </p:cNvSpPr>
              <p:nvPr/>
            </p:nvSpPr>
            <p:spPr bwMode="auto">
              <a:xfrm>
                <a:off x="3354" y="1740"/>
                <a:ext cx="624" cy="660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tr-TR" altLang="en-US" sz="2400">
                  <a:latin typeface="Arial" charset="0"/>
                </a:endParaRPr>
              </a:p>
            </p:txBody>
          </p:sp>
          <p:sp>
            <p:nvSpPr>
              <p:cNvPr id="7332" name="Line 132"/>
              <p:cNvSpPr>
                <a:spLocks noChangeShapeType="1"/>
              </p:cNvSpPr>
              <p:nvPr/>
            </p:nvSpPr>
            <p:spPr bwMode="auto">
              <a:xfrm flipV="1">
                <a:off x="3543" y="2084"/>
                <a:ext cx="262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229" name="Group 133"/>
            <p:cNvGrpSpPr>
              <a:grpSpLocks/>
            </p:cNvGrpSpPr>
            <p:nvPr/>
          </p:nvGrpSpPr>
          <p:grpSpPr bwMode="auto">
            <a:xfrm>
              <a:off x="3654" y="1408"/>
              <a:ext cx="246" cy="231"/>
              <a:chOff x="3354" y="1740"/>
              <a:chExt cx="624" cy="660"/>
            </a:xfrm>
          </p:grpSpPr>
          <p:sp>
            <p:nvSpPr>
              <p:cNvPr id="7329" name="Oval 134"/>
              <p:cNvSpPr>
                <a:spLocks noChangeArrowheads="1"/>
              </p:cNvSpPr>
              <p:nvPr/>
            </p:nvSpPr>
            <p:spPr bwMode="auto">
              <a:xfrm>
                <a:off x="3354" y="1740"/>
                <a:ext cx="624" cy="660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tr-TR" altLang="en-US" sz="2400">
                  <a:latin typeface="Arial" charset="0"/>
                </a:endParaRPr>
              </a:p>
            </p:txBody>
          </p:sp>
          <p:sp>
            <p:nvSpPr>
              <p:cNvPr id="7330" name="Line 135"/>
              <p:cNvSpPr>
                <a:spLocks noChangeShapeType="1"/>
              </p:cNvSpPr>
              <p:nvPr/>
            </p:nvSpPr>
            <p:spPr bwMode="auto">
              <a:xfrm flipV="1">
                <a:off x="3543" y="2084"/>
                <a:ext cx="262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230" name="Group 136"/>
            <p:cNvGrpSpPr>
              <a:grpSpLocks/>
            </p:cNvGrpSpPr>
            <p:nvPr/>
          </p:nvGrpSpPr>
          <p:grpSpPr bwMode="auto">
            <a:xfrm>
              <a:off x="3421" y="1979"/>
              <a:ext cx="246" cy="229"/>
              <a:chOff x="3354" y="1740"/>
              <a:chExt cx="624" cy="660"/>
            </a:xfrm>
          </p:grpSpPr>
          <p:sp>
            <p:nvSpPr>
              <p:cNvPr id="7327" name="Oval 137"/>
              <p:cNvSpPr>
                <a:spLocks noChangeArrowheads="1"/>
              </p:cNvSpPr>
              <p:nvPr/>
            </p:nvSpPr>
            <p:spPr bwMode="auto">
              <a:xfrm>
                <a:off x="3354" y="1740"/>
                <a:ext cx="624" cy="660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tr-TR" altLang="en-US" sz="2400">
                  <a:latin typeface="Arial" charset="0"/>
                </a:endParaRPr>
              </a:p>
            </p:txBody>
          </p:sp>
          <p:sp>
            <p:nvSpPr>
              <p:cNvPr id="7328" name="Line 138"/>
              <p:cNvSpPr>
                <a:spLocks noChangeShapeType="1"/>
              </p:cNvSpPr>
              <p:nvPr/>
            </p:nvSpPr>
            <p:spPr bwMode="auto">
              <a:xfrm flipV="1">
                <a:off x="3543" y="2084"/>
                <a:ext cx="262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231" name="Group 139"/>
            <p:cNvGrpSpPr>
              <a:grpSpLocks/>
            </p:cNvGrpSpPr>
            <p:nvPr/>
          </p:nvGrpSpPr>
          <p:grpSpPr bwMode="auto">
            <a:xfrm>
              <a:off x="4220" y="1452"/>
              <a:ext cx="249" cy="229"/>
              <a:chOff x="3354" y="1740"/>
              <a:chExt cx="624" cy="660"/>
            </a:xfrm>
          </p:grpSpPr>
          <p:sp>
            <p:nvSpPr>
              <p:cNvPr id="7325" name="Oval 140"/>
              <p:cNvSpPr>
                <a:spLocks noChangeArrowheads="1"/>
              </p:cNvSpPr>
              <p:nvPr/>
            </p:nvSpPr>
            <p:spPr bwMode="auto">
              <a:xfrm>
                <a:off x="3354" y="1740"/>
                <a:ext cx="624" cy="660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tr-TR" altLang="en-US" sz="2400">
                  <a:latin typeface="Arial" charset="0"/>
                </a:endParaRPr>
              </a:p>
            </p:txBody>
          </p:sp>
          <p:sp>
            <p:nvSpPr>
              <p:cNvPr id="7326" name="Line 141"/>
              <p:cNvSpPr>
                <a:spLocks noChangeShapeType="1"/>
              </p:cNvSpPr>
              <p:nvPr/>
            </p:nvSpPr>
            <p:spPr bwMode="auto">
              <a:xfrm flipV="1">
                <a:off x="3543" y="2084"/>
                <a:ext cx="262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232" name="Group 142"/>
            <p:cNvGrpSpPr>
              <a:grpSpLocks/>
            </p:cNvGrpSpPr>
            <p:nvPr/>
          </p:nvGrpSpPr>
          <p:grpSpPr bwMode="auto">
            <a:xfrm>
              <a:off x="3529" y="1229"/>
              <a:ext cx="248" cy="229"/>
              <a:chOff x="3354" y="1740"/>
              <a:chExt cx="624" cy="660"/>
            </a:xfrm>
          </p:grpSpPr>
          <p:sp>
            <p:nvSpPr>
              <p:cNvPr id="7323" name="Oval 143"/>
              <p:cNvSpPr>
                <a:spLocks noChangeArrowheads="1"/>
              </p:cNvSpPr>
              <p:nvPr/>
            </p:nvSpPr>
            <p:spPr bwMode="auto">
              <a:xfrm>
                <a:off x="3354" y="1740"/>
                <a:ext cx="624" cy="660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tr-TR" altLang="en-US" sz="2400">
                  <a:latin typeface="Arial" charset="0"/>
                </a:endParaRPr>
              </a:p>
            </p:txBody>
          </p:sp>
          <p:sp>
            <p:nvSpPr>
              <p:cNvPr id="7324" name="Line 144"/>
              <p:cNvSpPr>
                <a:spLocks noChangeShapeType="1"/>
              </p:cNvSpPr>
              <p:nvPr/>
            </p:nvSpPr>
            <p:spPr bwMode="auto">
              <a:xfrm flipV="1">
                <a:off x="3543" y="2084"/>
                <a:ext cx="262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233" name="Group 145"/>
            <p:cNvGrpSpPr>
              <a:grpSpLocks/>
            </p:cNvGrpSpPr>
            <p:nvPr/>
          </p:nvGrpSpPr>
          <p:grpSpPr bwMode="auto">
            <a:xfrm>
              <a:off x="2958" y="1138"/>
              <a:ext cx="245" cy="231"/>
              <a:chOff x="3354" y="1740"/>
              <a:chExt cx="624" cy="660"/>
            </a:xfrm>
          </p:grpSpPr>
          <p:sp>
            <p:nvSpPr>
              <p:cNvPr id="7321" name="Oval 146"/>
              <p:cNvSpPr>
                <a:spLocks noChangeArrowheads="1"/>
              </p:cNvSpPr>
              <p:nvPr/>
            </p:nvSpPr>
            <p:spPr bwMode="auto">
              <a:xfrm>
                <a:off x="3354" y="1740"/>
                <a:ext cx="624" cy="660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tr-TR" altLang="en-US" sz="2400">
                  <a:latin typeface="Arial" charset="0"/>
                </a:endParaRPr>
              </a:p>
            </p:txBody>
          </p:sp>
          <p:sp>
            <p:nvSpPr>
              <p:cNvPr id="7322" name="Line 147"/>
              <p:cNvSpPr>
                <a:spLocks noChangeShapeType="1"/>
              </p:cNvSpPr>
              <p:nvPr/>
            </p:nvSpPr>
            <p:spPr bwMode="auto">
              <a:xfrm flipV="1">
                <a:off x="3543" y="2084"/>
                <a:ext cx="262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234" name="Group 148"/>
            <p:cNvGrpSpPr>
              <a:grpSpLocks/>
            </p:cNvGrpSpPr>
            <p:nvPr/>
          </p:nvGrpSpPr>
          <p:grpSpPr bwMode="auto">
            <a:xfrm>
              <a:off x="1780" y="1185"/>
              <a:ext cx="246" cy="229"/>
              <a:chOff x="3354" y="1740"/>
              <a:chExt cx="624" cy="660"/>
            </a:xfrm>
          </p:grpSpPr>
          <p:sp>
            <p:nvSpPr>
              <p:cNvPr id="7319" name="Oval 149"/>
              <p:cNvSpPr>
                <a:spLocks noChangeArrowheads="1"/>
              </p:cNvSpPr>
              <p:nvPr/>
            </p:nvSpPr>
            <p:spPr bwMode="auto">
              <a:xfrm>
                <a:off x="3354" y="1740"/>
                <a:ext cx="624" cy="660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tr-TR" altLang="en-US" sz="2400">
                  <a:latin typeface="Arial" charset="0"/>
                </a:endParaRPr>
              </a:p>
            </p:txBody>
          </p:sp>
          <p:sp>
            <p:nvSpPr>
              <p:cNvPr id="7320" name="Line 150"/>
              <p:cNvSpPr>
                <a:spLocks noChangeShapeType="1"/>
              </p:cNvSpPr>
              <p:nvPr/>
            </p:nvSpPr>
            <p:spPr bwMode="auto">
              <a:xfrm flipV="1">
                <a:off x="3543" y="2084"/>
                <a:ext cx="262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235" name="Group 151"/>
            <p:cNvGrpSpPr>
              <a:grpSpLocks/>
            </p:cNvGrpSpPr>
            <p:nvPr/>
          </p:nvGrpSpPr>
          <p:grpSpPr bwMode="auto">
            <a:xfrm>
              <a:off x="3720" y="2171"/>
              <a:ext cx="248" cy="229"/>
              <a:chOff x="3354" y="1740"/>
              <a:chExt cx="624" cy="660"/>
            </a:xfrm>
          </p:grpSpPr>
          <p:sp>
            <p:nvSpPr>
              <p:cNvPr id="7317" name="Oval 152"/>
              <p:cNvSpPr>
                <a:spLocks noChangeArrowheads="1"/>
              </p:cNvSpPr>
              <p:nvPr/>
            </p:nvSpPr>
            <p:spPr bwMode="auto">
              <a:xfrm>
                <a:off x="3354" y="1740"/>
                <a:ext cx="624" cy="660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tr-TR" altLang="en-US" sz="2400">
                  <a:latin typeface="Arial" charset="0"/>
                </a:endParaRPr>
              </a:p>
            </p:txBody>
          </p:sp>
          <p:sp>
            <p:nvSpPr>
              <p:cNvPr id="7318" name="Line 153"/>
              <p:cNvSpPr>
                <a:spLocks noChangeShapeType="1"/>
              </p:cNvSpPr>
              <p:nvPr/>
            </p:nvSpPr>
            <p:spPr bwMode="auto">
              <a:xfrm flipV="1">
                <a:off x="3543" y="2084"/>
                <a:ext cx="262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236" name="Group 154"/>
            <p:cNvGrpSpPr>
              <a:grpSpLocks/>
            </p:cNvGrpSpPr>
            <p:nvPr/>
          </p:nvGrpSpPr>
          <p:grpSpPr bwMode="auto">
            <a:xfrm>
              <a:off x="3894" y="1984"/>
              <a:ext cx="246" cy="250"/>
              <a:chOff x="3354" y="1740"/>
              <a:chExt cx="624" cy="660"/>
            </a:xfrm>
          </p:grpSpPr>
          <p:sp>
            <p:nvSpPr>
              <p:cNvPr id="7315" name="Oval 155"/>
              <p:cNvSpPr>
                <a:spLocks noChangeArrowheads="1"/>
              </p:cNvSpPr>
              <p:nvPr/>
            </p:nvSpPr>
            <p:spPr bwMode="auto">
              <a:xfrm>
                <a:off x="3354" y="1740"/>
                <a:ext cx="624" cy="660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tr-TR" altLang="en-US" sz="2400">
                  <a:latin typeface="Arial" charset="0"/>
                </a:endParaRPr>
              </a:p>
            </p:txBody>
          </p:sp>
          <p:sp>
            <p:nvSpPr>
              <p:cNvPr id="7316" name="Line 156"/>
              <p:cNvSpPr>
                <a:spLocks noChangeShapeType="1"/>
              </p:cNvSpPr>
              <p:nvPr/>
            </p:nvSpPr>
            <p:spPr bwMode="auto">
              <a:xfrm flipV="1">
                <a:off x="3543" y="2084"/>
                <a:ext cx="262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237" name="Group 157"/>
            <p:cNvGrpSpPr>
              <a:grpSpLocks/>
            </p:cNvGrpSpPr>
            <p:nvPr/>
          </p:nvGrpSpPr>
          <p:grpSpPr bwMode="auto">
            <a:xfrm>
              <a:off x="2460" y="1203"/>
              <a:ext cx="247" cy="255"/>
              <a:chOff x="3354" y="1740"/>
              <a:chExt cx="624" cy="660"/>
            </a:xfrm>
          </p:grpSpPr>
          <p:sp>
            <p:nvSpPr>
              <p:cNvPr id="7313" name="Oval 158"/>
              <p:cNvSpPr>
                <a:spLocks noChangeArrowheads="1"/>
              </p:cNvSpPr>
              <p:nvPr/>
            </p:nvSpPr>
            <p:spPr bwMode="auto">
              <a:xfrm>
                <a:off x="3354" y="1740"/>
                <a:ext cx="624" cy="660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tr-TR" altLang="en-US" sz="2400">
                  <a:latin typeface="Arial" charset="0"/>
                </a:endParaRPr>
              </a:p>
            </p:txBody>
          </p:sp>
          <p:sp>
            <p:nvSpPr>
              <p:cNvPr id="7314" name="Line 159"/>
              <p:cNvSpPr>
                <a:spLocks noChangeShapeType="1"/>
              </p:cNvSpPr>
              <p:nvPr/>
            </p:nvSpPr>
            <p:spPr bwMode="auto">
              <a:xfrm flipV="1">
                <a:off x="3543" y="2084"/>
                <a:ext cx="262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238" name="Group 160"/>
            <p:cNvGrpSpPr>
              <a:grpSpLocks/>
            </p:cNvGrpSpPr>
            <p:nvPr/>
          </p:nvGrpSpPr>
          <p:grpSpPr bwMode="auto">
            <a:xfrm>
              <a:off x="2693" y="1159"/>
              <a:ext cx="244" cy="257"/>
              <a:chOff x="3354" y="1740"/>
              <a:chExt cx="624" cy="660"/>
            </a:xfrm>
          </p:grpSpPr>
          <p:sp>
            <p:nvSpPr>
              <p:cNvPr id="7311" name="Oval 161"/>
              <p:cNvSpPr>
                <a:spLocks noChangeArrowheads="1"/>
              </p:cNvSpPr>
              <p:nvPr/>
            </p:nvSpPr>
            <p:spPr bwMode="auto">
              <a:xfrm>
                <a:off x="3354" y="1740"/>
                <a:ext cx="624" cy="660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tr-TR" altLang="en-US" sz="2400">
                  <a:latin typeface="Arial" charset="0"/>
                </a:endParaRPr>
              </a:p>
            </p:txBody>
          </p:sp>
          <p:sp>
            <p:nvSpPr>
              <p:cNvPr id="7312" name="Line 162"/>
              <p:cNvSpPr>
                <a:spLocks noChangeShapeType="1"/>
              </p:cNvSpPr>
              <p:nvPr/>
            </p:nvSpPr>
            <p:spPr bwMode="auto">
              <a:xfrm flipV="1">
                <a:off x="3543" y="2084"/>
                <a:ext cx="262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239" name="Group 163"/>
            <p:cNvGrpSpPr>
              <a:grpSpLocks/>
            </p:cNvGrpSpPr>
            <p:nvPr/>
          </p:nvGrpSpPr>
          <p:grpSpPr bwMode="auto">
            <a:xfrm>
              <a:off x="3959" y="2145"/>
              <a:ext cx="249" cy="255"/>
              <a:chOff x="3354" y="1740"/>
              <a:chExt cx="624" cy="660"/>
            </a:xfrm>
          </p:grpSpPr>
          <p:sp>
            <p:nvSpPr>
              <p:cNvPr id="7309" name="Oval 164"/>
              <p:cNvSpPr>
                <a:spLocks noChangeArrowheads="1"/>
              </p:cNvSpPr>
              <p:nvPr/>
            </p:nvSpPr>
            <p:spPr bwMode="auto">
              <a:xfrm>
                <a:off x="3354" y="1740"/>
                <a:ext cx="624" cy="660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tr-TR" altLang="en-US" sz="2400">
                  <a:latin typeface="Arial" charset="0"/>
                </a:endParaRPr>
              </a:p>
            </p:txBody>
          </p:sp>
          <p:sp>
            <p:nvSpPr>
              <p:cNvPr id="7310" name="Line 165"/>
              <p:cNvSpPr>
                <a:spLocks noChangeShapeType="1"/>
              </p:cNvSpPr>
              <p:nvPr/>
            </p:nvSpPr>
            <p:spPr bwMode="auto">
              <a:xfrm flipV="1">
                <a:off x="3543" y="2084"/>
                <a:ext cx="262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240" name="Group 166"/>
            <p:cNvGrpSpPr>
              <a:grpSpLocks/>
            </p:cNvGrpSpPr>
            <p:nvPr/>
          </p:nvGrpSpPr>
          <p:grpSpPr bwMode="auto">
            <a:xfrm>
              <a:off x="4164" y="1910"/>
              <a:ext cx="246" cy="257"/>
              <a:chOff x="3354" y="1740"/>
              <a:chExt cx="624" cy="660"/>
            </a:xfrm>
          </p:grpSpPr>
          <p:sp>
            <p:nvSpPr>
              <p:cNvPr id="7307" name="Oval 167"/>
              <p:cNvSpPr>
                <a:spLocks noChangeArrowheads="1"/>
              </p:cNvSpPr>
              <p:nvPr/>
            </p:nvSpPr>
            <p:spPr bwMode="auto">
              <a:xfrm>
                <a:off x="3354" y="1740"/>
                <a:ext cx="624" cy="660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tr-TR" altLang="en-US" sz="2400">
                  <a:latin typeface="Arial" charset="0"/>
                </a:endParaRPr>
              </a:p>
            </p:txBody>
          </p:sp>
          <p:sp>
            <p:nvSpPr>
              <p:cNvPr id="7308" name="Line 168"/>
              <p:cNvSpPr>
                <a:spLocks noChangeShapeType="1"/>
              </p:cNvSpPr>
              <p:nvPr/>
            </p:nvSpPr>
            <p:spPr bwMode="auto">
              <a:xfrm flipV="1">
                <a:off x="3543" y="2084"/>
                <a:ext cx="262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241" name="Group 169"/>
            <p:cNvGrpSpPr>
              <a:grpSpLocks/>
            </p:cNvGrpSpPr>
            <p:nvPr/>
          </p:nvGrpSpPr>
          <p:grpSpPr bwMode="auto">
            <a:xfrm>
              <a:off x="4188" y="2164"/>
              <a:ext cx="245" cy="257"/>
              <a:chOff x="3354" y="1740"/>
              <a:chExt cx="624" cy="660"/>
            </a:xfrm>
          </p:grpSpPr>
          <p:sp>
            <p:nvSpPr>
              <p:cNvPr id="7305" name="Oval 170"/>
              <p:cNvSpPr>
                <a:spLocks noChangeArrowheads="1"/>
              </p:cNvSpPr>
              <p:nvPr/>
            </p:nvSpPr>
            <p:spPr bwMode="auto">
              <a:xfrm>
                <a:off x="3354" y="1740"/>
                <a:ext cx="624" cy="660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tr-TR" altLang="en-US" sz="2400">
                  <a:latin typeface="Arial" charset="0"/>
                </a:endParaRPr>
              </a:p>
            </p:txBody>
          </p:sp>
          <p:sp>
            <p:nvSpPr>
              <p:cNvPr id="7306" name="Line 171"/>
              <p:cNvSpPr>
                <a:spLocks noChangeShapeType="1"/>
              </p:cNvSpPr>
              <p:nvPr/>
            </p:nvSpPr>
            <p:spPr bwMode="auto">
              <a:xfrm flipV="1">
                <a:off x="3543" y="2084"/>
                <a:ext cx="262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242" name="Group 172"/>
            <p:cNvGrpSpPr>
              <a:grpSpLocks/>
            </p:cNvGrpSpPr>
            <p:nvPr/>
          </p:nvGrpSpPr>
          <p:grpSpPr bwMode="auto">
            <a:xfrm>
              <a:off x="1794" y="2400"/>
              <a:ext cx="248" cy="230"/>
              <a:chOff x="3354" y="1740"/>
              <a:chExt cx="624" cy="660"/>
            </a:xfrm>
          </p:grpSpPr>
          <p:sp>
            <p:nvSpPr>
              <p:cNvPr id="7303" name="Oval 173"/>
              <p:cNvSpPr>
                <a:spLocks noChangeArrowheads="1"/>
              </p:cNvSpPr>
              <p:nvPr/>
            </p:nvSpPr>
            <p:spPr bwMode="auto">
              <a:xfrm>
                <a:off x="3354" y="1740"/>
                <a:ext cx="624" cy="660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tr-TR" altLang="en-US" sz="2400">
                  <a:latin typeface="Arial" charset="0"/>
                </a:endParaRPr>
              </a:p>
            </p:txBody>
          </p:sp>
          <p:sp>
            <p:nvSpPr>
              <p:cNvPr id="7304" name="Line 174"/>
              <p:cNvSpPr>
                <a:spLocks noChangeShapeType="1"/>
              </p:cNvSpPr>
              <p:nvPr/>
            </p:nvSpPr>
            <p:spPr bwMode="auto">
              <a:xfrm flipV="1">
                <a:off x="3543" y="2084"/>
                <a:ext cx="262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243" name="Group 175"/>
            <p:cNvGrpSpPr>
              <a:grpSpLocks/>
            </p:cNvGrpSpPr>
            <p:nvPr/>
          </p:nvGrpSpPr>
          <p:grpSpPr bwMode="auto">
            <a:xfrm>
              <a:off x="4260" y="1681"/>
              <a:ext cx="244" cy="225"/>
              <a:chOff x="3354" y="1740"/>
              <a:chExt cx="624" cy="660"/>
            </a:xfrm>
          </p:grpSpPr>
          <p:sp>
            <p:nvSpPr>
              <p:cNvPr id="7301" name="Oval 176"/>
              <p:cNvSpPr>
                <a:spLocks noChangeArrowheads="1"/>
              </p:cNvSpPr>
              <p:nvPr/>
            </p:nvSpPr>
            <p:spPr bwMode="auto">
              <a:xfrm>
                <a:off x="3354" y="1740"/>
                <a:ext cx="624" cy="660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tr-TR" altLang="en-US" sz="2400">
                  <a:latin typeface="Arial" charset="0"/>
                </a:endParaRPr>
              </a:p>
            </p:txBody>
          </p:sp>
          <p:sp>
            <p:nvSpPr>
              <p:cNvPr id="7302" name="Line 177"/>
              <p:cNvSpPr>
                <a:spLocks noChangeShapeType="1"/>
              </p:cNvSpPr>
              <p:nvPr/>
            </p:nvSpPr>
            <p:spPr bwMode="auto">
              <a:xfrm flipV="1">
                <a:off x="3543" y="2084"/>
                <a:ext cx="262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244" name="Group 178"/>
            <p:cNvGrpSpPr>
              <a:grpSpLocks/>
            </p:cNvGrpSpPr>
            <p:nvPr/>
          </p:nvGrpSpPr>
          <p:grpSpPr bwMode="auto">
            <a:xfrm>
              <a:off x="2862" y="1346"/>
              <a:ext cx="245" cy="257"/>
              <a:chOff x="3354" y="1740"/>
              <a:chExt cx="624" cy="660"/>
            </a:xfrm>
          </p:grpSpPr>
          <p:sp>
            <p:nvSpPr>
              <p:cNvPr id="7299" name="Oval 179"/>
              <p:cNvSpPr>
                <a:spLocks noChangeArrowheads="1"/>
              </p:cNvSpPr>
              <p:nvPr/>
            </p:nvSpPr>
            <p:spPr bwMode="auto">
              <a:xfrm>
                <a:off x="3354" y="1740"/>
                <a:ext cx="624" cy="660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tr-TR" altLang="en-US" sz="2400">
                  <a:latin typeface="Arial" charset="0"/>
                </a:endParaRPr>
              </a:p>
            </p:txBody>
          </p:sp>
          <p:sp>
            <p:nvSpPr>
              <p:cNvPr id="7300" name="Line 180"/>
              <p:cNvSpPr>
                <a:spLocks noChangeShapeType="1"/>
              </p:cNvSpPr>
              <p:nvPr/>
            </p:nvSpPr>
            <p:spPr bwMode="auto">
              <a:xfrm flipV="1">
                <a:off x="3543" y="2084"/>
                <a:ext cx="262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245" name="Group 181"/>
            <p:cNvGrpSpPr>
              <a:grpSpLocks/>
            </p:cNvGrpSpPr>
            <p:nvPr/>
          </p:nvGrpSpPr>
          <p:grpSpPr bwMode="auto">
            <a:xfrm>
              <a:off x="2127" y="1539"/>
              <a:ext cx="248" cy="255"/>
              <a:chOff x="3354" y="1740"/>
              <a:chExt cx="624" cy="660"/>
            </a:xfrm>
          </p:grpSpPr>
          <p:sp>
            <p:nvSpPr>
              <p:cNvPr id="7297" name="Oval 182"/>
              <p:cNvSpPr>
                <a:spLocks noChangeArrowheads="1"/>
              </p:cNvSpPr>
              <p:nvPr/>
            </p:nvSpPr>
            <p:spPr bwMode="auto">
              <a:xfrm>
                <a:off x="3354" y="1740"/>
                <a:ext cx="624" cy="660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tr-TR" altLang="en-US" sz="2400">
                  <a:latin typeface="Arial" charset="0"/>
                </a:endParaRPr>
              </a:p>
            </p:txBody>
          </p:sp>
          <p:sp>
            <p:nvSpPr>
              <p:cNvPr id="7298" name="Line 183"/>
              <p:cNvSpPr>
                <a:spLocks noChangeShapeType="1"/>
              </p:cNvSpPr>
              <p:nvPr/>
            </p:nvSpPr>
            <p:spPr bwMode="auto">
              <a:xfrm flipV="1">
                <a:off x="3543" y="2084"/>
                <a:ext cx="262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246" name="Group 184"/>
            <p:cNvGrpSpPr>
              <a:grpSpLocks/>
            </p:cNvGrpSpPr>
            <p:nvPr/>
          </p:nvGrpSpPr>
          <p:grpSpPr bwMode="auto">
            <a:xfrm>
              <a:off x="3495" y="1570"/>
              <a:ext cx="248" cy="231"/>
              <a:chOff x="3354" y="1740"/>
              <a:chExt cx="624" cy="660"/>
            </a:xfrm>
          </p:grpSpPr>
          <p:sp>
            <p:nvSpPr>
              <p:cNvPr id="7295" name="Oval 185"/>
              <p:cNvSpPr>
                <a:spLocks noChangeArrowheads="1"/>
              </p:cNvSpPr>
              <p:nvPr/>
            </p:nvSpPr>
            <p:spPr bwMode="auto">
              <a:xfrm>
                <a:off x="3354" y="1740"/>
                <a:ext cx="624" cy="660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tr-TR" altLang="en-US" sz="2400">
                  <a:latin typeface="Arial" charset="0"/>
                </a:endParaRPr>
              </a:p>
            </p:txBody>
          </p:sp>
          <p:sp>
            <p:nvSpPr>
              <p:cNvPr id="7296" name="Line 186"/>
              <p:cNvSpPr>
                <a:spLocks noChangeShapeType="1"/>
              </p:cNvSpPr>
              <p:nvPr/>
            </p:nvSpPr>
            <p:spPr bwMode="auto">
              <a:xfrm flipV="1">
                <a:off x="3543" y="2084"/>
                <a:ext cx="262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247" name="Group 187"/>
            <p:cNvGrpSpPr>
              <a:grpSpLocks/>
            </p:cNvGrpSpPr>
            <p:nvPr/>
          </p:nvGrpSpPr>
          <p:grpSpPr bwMode="auto">
            <a:xfrm>
              <a:off x="3303" y="1335"/>
              <a:ext cx="247" cy="229"/>
              <a:chOff x="3354" y="1740"/>
              <a:chExt cx="624" cy="660"/>
            </a:xfrm>
          </p:grpSpPr>
          <p:sp>
            <p:nvSpPr>
              <p:cNvPr id="7293" name="Oval 188"/>
              <p:cNvSpPr>
                <a:spLocks noChangeArrowheads="1"/>
              </p:cNvSpPr>
              <p:nvPr/>
            </p:nvSpPr>
            <p:spPr bwMode="auto">
              <a:xfrm>
                <a:off x="3354" y="1740"/>
                <a:ext cx="624" cy="660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tr-TR" altLang="en-US" sz="2400">
                  <a:latin typeface="Arial" charset="0"/>
                </a:endParaRPr>
              </a:p>
            </p:txBody>
          </p:sp>
          <p:sp>
            <p:nvSpPr>
              <p:cNvPr id="7294" name="Line 189"/>
              <p:cNvSpPr>
                <a:spLocks noChangeShapeType="1"/>
              </p:cNvSpPr>
              <p:nvPr/>
            </p:nvSpPr>
            <p:spPr bwMode="auto">
              <a:xfrm flipV="1">
                <a:off x="3543" y="2084"/>
                <a:ext cx="262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248" name="Group 190"/>
            <p:cNvGrpSpPr>
              <a:grpSpLocks/>
            </p:cNvGrpSpPr>
            <p:nvPr/>
          </p:nvGrpSpPr>
          <p:grpSpPr bwMode="auto">
            <a:xfrm>
              <a:off x="3259" y="1557"/>
              <a:ext cx="246" cy="231"/>
              <a:chOff x="3354" y="1740"/>
              <a:chExt cx="624" cy="660"/>
            </a:xfrm>
          </p:grpSpPr>
          <p:sp>
            <p:nvSpPr>
              <p:cNvPr id="7291" name="Oval 191"/>
              <p:cNvSpPr>
                <a:spLocks noChangeArrowheads="1"/>
              </p:cNvSpPr>
              <p:nvPr/>
            </p:nvSpPr>
            <p:spPr bwMode="auto">
              <a:xfrm>
                <a:off x="3354" y="1740"/>
                <a:ext cx="624" cy="660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tr-TR" altLang="en-US" sz="2400">
                  <a:latin typeface="Arial" charset="0"/>
                </a:endParaRPr>
              </a:p>
            </p:txBody>
          </p:sp>
          <p:sp>
            <p:nvSpPr>
              <p:cNvPr id="7292" name="Line 192"/>
              <p:cNvSpPr>
                <a:spLocks noChangeShapeType="1"/>
              </p:cNvSpPr>
              <p:nvPr/>
            </p:nvSpPr>
            <p:spPr bwMode="auto">
              <a:xfrm flipV="1">
                <a:off x="3543" y="2084"/>
                <a:ext cx="262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249" name="Group 193"/>
            <p:cNvGrpSpPr>
              <a:grpSpLocks/>
            </p:cNvGrpSpPr>
            <p:nvPr/>
          </p:nvGrpSpPr>
          <p:grpSpPr bwMode="auto">
            <a:xfrm>
              <a:off x="2135" y="1259"/>
              <a:ext cx="246" cy="229"/>
              <a:chOff x="3354" y="1740"/>
              <a:chExt cx="624" cy="660"/>
            </a:xfrm>
          </p:grpSpPr>
          <p:sp>
            <p:nvSpPr>
              <p:cNvPr id="7289" name="Oval 194"/>
              <p:cNvSpPr>
                <a:spLocks noChangeArrowheads="1"/>
              </p:cNvSpPr>
              <p:nvPr/>
            </p:nvSpPr>
            <p:spPr bwMode="auto">
              <a:xfrm>
                <a:off x="3354" y="1740"/>
                <a:ext cx="624" cy="660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tr-TR" altLang="en-US" sz="2400">
                  <a:latin typeface="Arial" charset="0"/>
                </a:endParaRPr>
              </a:p>
            </p:txBody>
          </p:sp>
          <p:sp>
            <p:nvSpPr>
              <p:cNvPr id="7290" name="Line 195"/>
              <p:cNvSpPr>
                <a:spLocks noChangeShapeType="1"/>
              </p:cNvSpPr>
              <p:nvPr/>
            </p:nvSpPr>
            <p:spPr bwMode="auto">
              <a:xfrm flipV="1">
                <a:off x="3543" y="2084"/>
                <a:ext cx="262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250" name="Group 196"/>
            <p:cNvGrpSpPr>
              <a:grpSpLocks/>
            </p:cNvGrpSpPr>
            <p:nvPr/>
          </p:nvGrpSpPr>
          <p:grpSpPr bwMode="auto">
            <a:xfrm>
              <a:off x="4020" y="1589"/>
              <a:ext cx="249" cy="229"/>
              <a:chOff x="3354" y="1740"/>
              <a:chExt cx="624" cy="660"/>
            </a:xfrm>
          </p:grpSpPr>
          <p:sp>
            <p:nvSpPr>
              <p:cNvPr id="7287" name="Oval 197"/>
              <p:cNvSpPr>
                <a:spLocks noChangeArrowheads="1"/>
              </p:cNvSpPr>
              <p:nvPr/>
            </p:nvSpPr>
            <p:spPr bwMode="auto">
              <a:xfrm>
                <a:off x="3354" y="1740"/>
                <a:ext cx="624" cy="660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tr-TR" altLang="en-US" sz="2400">
                  <a:latin typeface="Arial" charset="0"/>
                </a:endParaRPr>
              </a:p>
            </p:txBody>
          </p:sp>
          <p:sp>
            <p:nvSpPr>
              <p:cNvPr id="7288" name="Line 198"/>
              <p:cNvSpPr>
                <a:spLocks noChangeShapeType="1"/>
              </p:cNvSpPr>
              <p:nvPr/>
            </p:nvSpPr>
            <p:spPr bwMode="auto">
              <a:xfrm flipV="1">
                <a:off x="3543" y="2084"/>
                <a:ext cx="262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251" name="Group 199"/>
            <p:cNvGrpSpPr>
              <a:grpSpLocks/>
            </p:cNvGrpSpPr>
            <p:nvPr/>
          </p:nvGrpSpPr>
          <p:grpSpPr bwMode="auto">
            <a:xfrm>
              <a:off x="1789" y="1536"/>
              <a:ext cx="248" cy="229"/>
              <a:chOff x="3354" y="1740"/>
              <a:chExt cx="624" cy="660"/>
            </a:xfrm>
          </p:grpSpPr>
          <p:sp>
            <p:nvSpPr>
              <p:cNvPr id="7285" name="Oval 200"/>
              <p:cNvSpPr>
                <a:spLocks noChangeArrowheads="1"/>
              </p:cNvSpPr>
              <p:nvPr/>
            </p:nvSpPr>
            <p:spPr bwMode="auto">
              <a:xfrm>
                <a:off x="3354" y="1740"/>
                <a:ext cx="624" cy="660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tr-TR" altLang="en-US" sz="2400">
                  <a:latin typeface="Arial" charset="0"/>
                </a:endParaRPr>
              </a:p>
            </p:txBody>
          </p:sp>
          <p:sp>
            <p:nvSpPr>
              <p:cNvPr id="7286" name="Line 201"/>
              <p:cNvSpPr>
                <a:spLocks noChangeShapeType="1"/>
              </p:cNvSpPr>
              <p:nvPr/>
            </p:nvSpPr>
            <p:spPr bwMode="auto">
              <a:xfrm flipV="1">
                <a:off x="3543" y="2084"/>
                <a:ext cx="262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252" name="Group 202"/>
            <p:cNvGrpSpPr>
              <a:grpSpLocks/>
            </p:cNvGrpSpPr>
            <p:nvPr/>
          </p:nvGrpSpPr>
          <p:grpSpPr bwMode="auto">
            <a:xfrm>
              <a:off x="4068" y="2398"/>
              <a:ext cx="245" cy="231"/>
              <a:chOff x="3354" y="1740"/>
              <a:chExt cx="624" cy="660"/>
            </a:xfrm>
          </p:grpSpPr>
          <p:sp>
            <p:nvSpPr>
              <p:cNvPr id="7283" name="Oval 203"/>
              <p:cNvSpPr>
                <a:spLocks noChangeArrowheads="1"/>
              </p:cNvSpPr>
              <p:nvPr/>
            </p:nvSpPr>
            <p:spPr bwMode="auto">
              <a:xfrm>
                <a:off x="3354" y="1740"/>
                <a:ext cx="624" cy="660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tr-TR" altLang="en-US" sz="2400">
                  <a:latin typeface="Arial" charset="0"/>
                </a:endParaRPr>
              </a:p>
            </p:txBody>
          </p:sp>
          <p:sp>
            <p:nvSpPr>
              <p:cNvPr id="7284" name="Line 204"/>
              <p:cNvSpPr>
                <a:spLocks noChangeShapeType="1"/>
              </p:cNvSpPr>
              <p:nvPr/>
            </p:nvSpPr>
            <p:spPr bwMode="auto">
              <a:xfrm flipV="1">
                <a:off x="3543" y="2084"/>
                <a:ext cx="262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253" name="Group 205"/>
            <p:cNvGrpSpPr>
              <a:grpSpLocks/>
            </p:cNvGrpSpPr>
            <p:nvPr/>
          </p:nvGrpSpPr>
          <p:grpSpPr bwMode="auto">
            <a:xfrm>
              <a:off x="2624" y="1398"/>
              <a:ext cx="246" cy="229"/>
              <a:chOff x="3354" y="1740"/>
              <a:chExt cx="624" cy="660"/>
            </a:xfrm>
          </p:grpSpPr>
          <p:sp>
            <p:nvSpPr>
              <p:cNvPr id="7281" name="Oval 206"/>
              <p:cNvSpPr>
                <a:spLocks noChangeArrowheads="1"/>
              </p:cNvSpPr>
              <p:nvPr/>
            </p:nvSpPr>
            <p:spPr bwMode="auto">
              <a:xfrm>
                <a:off x="3354" y="1740"/>
                <a:ext cx="624" cy="660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tr-TR" altLang="en-US" sz="2400">
                  <a:latin typeface="Arial" charset="0"/>
                </a:endParaRPr>
              </a:p>
            </p:txBody>
          </p:sp>
          <p:sp>
            <p:nvSpPr>
              <p:cNvPr id="7282" name="Line 207"/>
              <p:cNvSpPr>
                <a:spLocks noChangeShapeType="1"/>
              </p:cNvSpPr>
              <p:nvPr/>
            </p:nvSpPr>
            <p:spPr bwMode="auto">
              <a:xfrm flipV="1">
                <a:off x="3543" y="2084"/>
                <a:ext cx="262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254" name="Group 208"/>
            <p:cNvGrpSpPr>
              <a:grpSpLocks/>
            </p:cNvGrpSpPr>
            <p:nvPr/>
          </p:nvGrpSpPr>
          <p:grpSpPr bwMode="auto">
            <a:xfrm>
              <a:off x="1934" y="1380"/>
              <a:ext cx="248" cy="229"/>
              <a:chOff x="3354" y="1740"/>
              <a:chExt cx="624" cy="660"/>
            </a:xfrm>
          </p:grpSpPr>
          <p:sp>
            <p:nvSpPr>
              <p:cNvPr id="7279" name="Oval 209"/>
              <p:cNvSpPr>
                <a:spLocks noChangeArrowheads="1"/>
              </p:cNvSpPr>
              <p:nvPr/>
            </p:nvSpPr>
            <p:spPr bwMode="auto">
              <a:xfrm>
                <a:off x="3354" y="1740"/>
                <a:ext cx="624" cy="660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tr-TR" altLang="en-US" sz="2400">
                  <a:latin typeface="Arial" charset="0"/>
                </a:endParaRPr>
              </a:p>
            </p:txBody>
          </p:sp>
          <p:sp>
            <p:nvSpPr>
              <p:cNvPr id="7280" name="Line 210"/>
              <p:cNvSpPr>
                <a:spLocks noChangeShapeType="1"/>
              </p:cNvSpPr>
              <p:nvPr/>
            </p:nvSpPr>
            <p:spPr bwMode="auto">
              <a:xfrm flipV="1">
                <a:off x="3543" y="2084"/>
                <a:ext cx="262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255" name="Group 211"/>
            <p:cNvGrpSpPr>
              <a:grpSpLocks/>
            </p:cNvGrpSpPr>
            <p:nvPr/>
          </p:nvGrpSpPr>
          <p:grpSpPr bwMode="auto">
            <a:xfrm>
              <a:off x="1485" y="1809"/>
              <a:ext cx="246" cy="250"/>
              <a:chOff x="3354" y="1740"/>
              <a:chExt cx="624" cy="660"/>
            </a:xfrm>
          </p:grpSpPr>
          <p:sp>
            <p:nvSpPr>
              <p:cNvPr id="7277" name="Oval 212"/>
              <p:cNvSpPr>
                <a:spLocks noChangeArrowheads="1"/>
              </p:cNvSpPr>
              <p:nvPr/>
            </p:nvSpPr>
            <p:spPr bwMode="auto">
              <a:xfrm>
                <a:off x="3354" y="1740"/>
                <a:ext cx="624" cy="660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tr-TR" altLang="en-US" sz="2400">
                  <a:latin typeface="Arial" charset="0"/>
                </a:endParaRPr>
              </a:p>
            </p:txBody>
          </p:sp>
          <p:sp>
            <p:nvSpPr>
              <p:cNvPr id="7278" name="Line 213"/>
              <p:cNvSpPr>
                <a:spLocks noChangeShapeType="1"/>
              </p:cNvSpPr>
              <p:nvPr/>
            </p:nvSpPr>
            <p:spPr bwMode="auto">
              <a:xfrm flipV="1">
                <a:off x="3543" y="2084"/>
                <a:ext cx="262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256" name="Group 214"/>
            <p:cNvGrpSpPr>
              <a:grpSpLocks/>
            </p:cNvGrpSpPr>
            <p:nvPr/>
          </p:nvGrpSpPr>
          <p:grpSpPr bwMode="auto">
            <a:xfrm>
              <a:off x="1695" y="1693"/>
              <a:ext cx="247" cy="255"/>
              <a:chOff x="3354" y="1740"/>
              <a:chExt cx="624" cy="660"/>
            </a:xfrm>
          </p:grpSpPr>
          <p:sp>
            <p:nvSpPr>
              <p:cNvPr id="7275" name="Oval 215"/>
              <p:cNvSpPr>
                <a:spLocks noChangeArrowheads="1"/>
              </p:cNvSpPr>
              <p:nvPr/>
            </p:nvSpPr>
            <p:spPr bwMode="auto">
              <a:xfrm>
                <a:off x="3354" y="1740"/>
                <a:ext cx="624" cy="660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tr-TR" altLang="en-US" sz="2400">
                  <a:latin typeface="Arial" charset="0"/>
                </a:endParaRPr>
              </a:p>
            </p:txBody>
          </p:sp>
          <p:sp>
            <p:nvSpPr>
              <p:cNvPr id="7276" name="Line 216"/>
              <p:cNvSpPr>
                <a:spLocks noChangeShapeType="1"/>
              </p:cNvSpPr>
              <p:nvPr/>
            </p:nvSpPr>
            <p:spPr bwMode="auto">
              <a:xfrm flipV="1">
                <a:off x="3543" y="2084"/>
                <a:ext cx="262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257" name="Group 217"/>
            <p:cNvGrpSpPr>
              <a:grpSpLocks/>
            </p:cNvGrpSpPr>
            <p:nvPr/>
          </p:nvGrpSpPr>
          <p:grpSpPr bwMode="auto">
            <a:xfrm>
              <a:off x="3217" y="1108"/>
              <a:ext cx="244" cy="257"/>
              <a:chOff x="3354" y="1740"/>
              <a:chExt cx="624" cy="660"/>
            </a:xfrm>
          </p:grpSpPr>
          <p:sp>
            <p:nvSpPr>
              <p:cNvPr id="7273" name="Oval 218"/>
              <p:cNvSpPr>
                <a:spLocks noChangeArrowheads="1"/>
              </p:cNvSpPr>
              <p:nvPr/>
            </p:nvSpPr>
            <p:spPr bwMode="auto">
              <a:xfrm>
                <a:off x="3354" y="1740"/>
                <a:ext cx="624" cy="660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tr-TR" altLang="en-US" sz="2400">
                  <a:latin typeface="Arial" charset="0"/>
                </a:endParaRPr>
              </a:p>
            </p:txBody>
          </p:sp>
          <p:sp>
            <p:nvSpPr>
              <p:cNvPr id="7274" name="Line 219"/>
              <p:cNvSpPr>
                <a:spLocks noChangeShapeType="1"/>
              </p:cNvSpPr>
              <p:nvPr/>
            </p:nvSpPr>
            <p:spPr bwMode="auto">
              <a:xfrm flipV="1">
                <a:off x="3543" y="2084"/>
                <a:ext cx="262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258" name="Group 220"/>
            <p:cNvGrpSpPr>
              <a:grpSpLocks/>
            </p:cNvGrpSpPr>
            <p:nvPr/>
          </p:nvGrpSpPr>
          <p:grpSpPr bwMode="auto">
            <a:xfrm>
              <a:off x="2322" y="1412"/>
              <a:ext cx="249" cy="255"/>
              <a:chOff x="3354" y="1740"/>
              <a:chExt cx="624" cy="660"/>
            </a:xfrm>
          </p:grpSpPr>
          <p:sp>
            <p:nvSpPr>
              <p:cNvPr id="7271" name="Oval 221"/>
              <p:cNvSpPr>
                <a:spLocks noChangeArrowheads="1"/>
              </p:cNvSpPr>
              <p:nvPr/>
            </p:nvSpPr>
            <p:spPr bwMode="auto">
              <a:xfrm>
                <a:off x="3354" y="1740"/>
                <a:ext cx="624" cy="660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tr-TR" altLang="en-US" sz="2400">
                  <a:latin typeface="Arial" charset="0"/>
                </a:endParaRPr>
              </a:p>
            </p:txBody>
          </p:sp>
          <p:sp>
            <p:nvSpPr>
              <p:cNvPr id="7272" name="Line 222"/>
              <p:cNvSpPr>
                <a:spLocks noChangeShapeType="1"/>
              </p:cNvSpPr>
              <p:nvPr/>
            </p:nvSpPr>
            <p:spPr bwMode="auto">
              <a:xfrm flipV="1">
                <a:off x="3543" y="2084"/>
                <a:ext cx="262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259" name="Group 223"/>
            <p:cNvGrpSpPr>
              <a:grpSpLocks/>
            </p:cNvGrpSpPr>
            <p:nvPr/>
          </p:nvGrpSpPr>
          <p:grpSpPr bwMode="auto">
            <a:xfrm>
              <a:off x="1492" y="1590"/>
              <a:ext cx="246" cy="257"/>
              <a:chOff x="3354" y="1740"/>
              <a:chExt cx="624" cy="660"/>
            </a:xfrm>
          </p:grpSpPr>
          <p:sp>
            <p:nvSpPr>
              <p:cNvPr id="7269" name="Oval 224"/>
              <p:cNvSpPr>
                <a:spLocks noChangeArrowheads="1"/>
              </p:cNvSpPr>
              <p:nvPr/>
            </p:nvSpPr>
            <p:spPr bwMode="auto">
              <a:xfrm>
                <a:off x="3354" y="1740"/>
                <a:ext cx="624" cy="660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tr-TR" altLang="en-US" sz="2400">
                  <a:latin typeface="Arial" charset="0"/>
                </a:endParaRPr>
              </a:p>
            </p:txBody>
          </p:sp>
          <p:sp>
            <p:nvSpPr>
              <p:cNvPr id="7270" name="Line 225"/>
              <p:cNvSpPr>
                <a:spLocks noChangeShapeType="1"/>
              </p:cNvSpPr>
              <p:nvPr/>
            </p:nvSpPr>
            <p:spPr bwMode="auto">
              <a:xfrm flipV="1">
                <a:off x="3543" y="2084"/>
                <a:ext cx="262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260" name="Group 226"/>
            <p:cNvGrpSpPr>
              <a:grpSpLocks/>
            </p:cNvGrpSpPr>
            <p:nvPr/>
          </p:nvGrpSpPr>
          <p:grpSpPr bwMode="auto">
            <a:xfrm>
              <a:off x="1763" y="1996"/>
              <a:ext cx="245" cy="257"/>
              <a:chOff x="3354" y="1740"/>
              <a:chExt cx="624" cy="660"/>
            </a:xfrm>
          </p:grpSpPr>
          <p:sp>
            <p:nvSpPr>
              <p:cNvPr id="7267" name="Oval 227"/>
              <p:cNvSpPr>
                <a:spLocks noChangeArrowheads="1"/>
              </p:cNvSpPr>
              <p:nvPr/>
            </p:nvSpPr>
            <p:spPr bwMode="auto">
              <a:xfrm>
                <a:off x="3354" y="1740"/>
                <a:ext cx="624" cy="660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tr-TR" altLang="en-US" sz="2400">
                  <a:latin typeface="Arial" charset="0"/>
                </a:endParaRPr>
              </a:p>
            </p:txBody>
          </p:sp>
          <p:sp>
            <p:nvSpPr>
              <p:cNvPr id="7268" name="Line 228"/>
              <p:cNvSpPr>
                <a:spLocks noChangeShapeType="1"/>
              </p:cNvSpPr>
              <p:nvPr/>
            </p:nvSpPr>
            <p:spPr bwMode="auto">
              <a:xfrm flipV="1">
                <a:off x="3543" y="2084"/>
                <a:ext cx="262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261" name="Group 229"/>
            <p:cNvGrpSpPr>
              <a:grpSpLocks/>
            </p:cNvGrpSpPr>
            <p:nvPr/>
          </p:nvGrpSpPr>
          <p:grpSpPr bwMode="auto">
            <a:xfrm>
              <a:off x="1609" y="1373"/>
              <a:ext cx="248" cy="230"/>
              <a:chOff x="3354" y="1740"/>
              <a:chExt cx="624" cy="660"/>
            </a:xfrm>
          </p:grpSpPr>
          <p:sp>
            <p:nvSpPr>
              <p:cNvPr id="7265" name="Oval 230"/>
              <p:cNvSpPr>
                <a:spLocks noChangeArrowheads="1"/>
              </p:cNvSpPr>
              <p:nvPr/>
            </p:nvSpPr>
            <p:spPr bwMode="auto">
              <a:xfrm>
                <a:off x="3354" y="1740"/>
                <a:ext cx="624" cy="660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tr-TR" altLang="en-US" sz="2400">
                  <a:latin typeface="Arial" charset="0"/>
                </a:endParaRPr>
              </a:p>
            </p:txBody>
          </p:sp>
          <p:sp>
            <p:nvSpPr>
              <p:cNvPr id="7266" name="Line 231"/>
              <p:cNvSpPr>
                <a:spLocks noChangeShapeType="1"/>
              </p:cNvSpPr>
              <p:nvPr/>
            </p:nvSpPr>
            <p:spPr bwMode="auto">
              <a:xfrm flipV="1">
                <a:off x="3543" y="2084"/>
                <a:ext cx="262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262" name="Group 232"/>
            <p:cNvGrpSpPr>
              <a:grpSpLocks/>
            </p:cNvGrpSpPr>
            <p:nvPr/>
          </p:nvGrpSpPr>
          <p:grpSpPr bwMode="auto">
            <a:xfrm>
              <a:off x="3778" y="1612"/>
              <a:ext cx="244" cy="225"/>
              <a:chOff x="3354" y="1740"/>
              <a:chExt cx="624" cy="660"/>
            </a:xfrm>
          </p:grpSpPr>
          <p:sp>
            <p:nvSpPr>
              <p:cNvPr id="7263" name="Oval 233"/>
              <p:cNvSpPr>
                <a:spLocks noChangeArrowheads="1"/>
              </p:cNvSpPr>
              <p:nvPr/>
            </p:nvSpPr>
            <p:spPr bwMode="auto">
              <a:xfrm>
                <a:off x="3354" y="1740"/>
                <a:ext cx="624" cy="660"/>
              </a:xfrm>
              <a:prstGeom prst="ellipse">
                <a:avLst/>
              </a:prstGeom>
              <a:solidFill>
                <a:srgbClr val="FF0000"/>
              </a:solidFill>
              <a:ln w="317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tr-TR" altLang="en-US" sz="2400">
                  <a:latin typeface="Arial" charset="0"/>
                </a:endParaRPr>
              </a:p>
            </p:txBody>
          </p:sp>
          <p:sp>
            <p:nvSpPr>
              <p:cNvPr id="7264" name="Line 234"/>
              <p:cNvSpPr>
                <a:spLocks noChangeShapeType="1"/>
              </p:cNvSpPr>
              <p:nvPr/>
            </p:nvSpPr>
            <p:spPr bwMode="auto">
              <a:xfrm flipV="1">
                <a:off x="3543" y="2084"/>
                <a:ext cx="262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</p:grpSp>
      <p:sp>
        <p:nvSpPr>
          <p:cNvPr id="7178" name="Text Box 237"/>
          <p:cNvSpPr txBox="1">
            <a:spLocks noChangeArrowheads="1"/>
          </p:cNvSpPr>
          <p:nvPr/>
        </p:nvSpPr>
        <p:spPr bwMode="auto">
          <a:xfrm>
            <a:off x="138113" y="3852863"/>
            <a:ext cx="5487987" cy="555625"/>
          </a:xfrm>
          <a:prstGeom prst="rect">
            <a:avLst/>
          </a:prstGeom>
          <a:solidFill>
            <a:srgbClr val="0000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000" tIns="118800" rIns="108000" bIns="118800">
            <a:spAutoFit/>
          </a:bodyPr>
          <a:lstStyle>
            <a:lvl1pPr marL="93663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tr-TR" altLang="en-US" sz="2400">
                <a:solidFill>
                  <a:srgbClr val="FFFF00"/>
                </a:solidFill>
                <a:latin typeface="Arial Black" pitchFamily="34" charset="0"/>
              </a:rPr>
              <a:t>Definition</a:t>
            </a:r>
            <a:endParaRPr lang="tr-TR" altLang="en-US" sz="2400" i="1">
              <a:solidFill>
                <a:srgbClr val="FFFF00"/>
              </a:solidFill>
              <a:latin typeface="Arial Black" pitchFamily="34" charset="0"/>
              <a:sym typeface="Symbol" pitchFamily="18" charset="2"/>
            </a:endParaRPr>
          </a:p>
        </p:txBody>
      </p:sp>
      <p:grpSp>
        <p:nvGrpSpPr>
          <p:cNvPr id="7179" name="Group 240"/>
          <p:cNvGrpSpPr>
            <a:grpSpLocks/>
          </p:cNvGrpSpPr>
          <p:nvPr/>
        </p:nvGrpSpPr>
        <p:grpSpPr bwMode="auto">
          <a:xfrm>
            <a:off x="138113" y="4872038"/>
            <a:ext cx="5483225" cy="1604962"/>
            <a:chOff x="0" y="1626"/>
            <a:chExt cx="3454" cy="1011"/>
          </a:xfrm>
        </p:grpSpPr>
        <p:sp>
          <p:nvSpPr>
            <p:cNvPr id="270" name="Text Box 238"/>
            <p:cNvSpPr txBox="1">
              <a:spLocks noChangeArrowheads="1"/>
            </p:cNvSpPr>
            <p:nvPr/>
          </p:nvSpPr>
          <p:spPr bwMode="auto">
            <a:xfrm>
              <a:off x="0" y="1626"/>
              <a:ext cx="3454" cy="1011"/>
            </a:xfrm>
            <a:prstGeom prst="rect">
              <a:avLst/>
            </a:prstGeom>
            <a:solidFill>
              <a:srgbClr val="000066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tIns="190800" bIns="118800">
              <a:spAutoFit/>
            </a:bodyPr>
            <a:lstStyle/>
            <a:p>
              <a:pPr marL="182563" defTabSz="895350" eaLnBrk="1" hangingPunct="1">
                <a:defRPr/>
              </a:pPr>
              <a:r>
                <a:rPr lang="tr-TR" i="1" dirty="0">
                  <a:solidFill>
                    <a:srgbClr val="FFFF00"/>
                  </a:solidFill>
                  <a:latin typeface="Arial Narrow" pitchFamily="34" charset="0"/>
                  <a:cs typeface="+mn-cs"/>
                </a:rPr>
                <a:t>6.3 x 10</a:t>
              </a:r>
              <a:r>
                <a:rPr lang="tr-TR" i="1" baseline="30000" dirty="0">
                  <a:solidFill>
                    <a:srgbClr val="FFFF00"/>
                  </a:solidFill>
                  <a:latin typeface="Arial Narrow" pitchFamily="34" charset="0"/>
                  <a:cs typeface="+mn-cs"/>
                </a:rPr>
                <a:t>18</a:t>
              </a:r>
              <a:r>
                <a:rPr lang="tr-TR" i="1" dirty="0">
                  <a:solidFill>
                    <a:srgbClr val="FFFF00"/>
                  </a:solidFill>
                  <a:latin typeface="Arial Narrow" pitchFamily="34" charset="0"/>
                  <a:cs typeface="+mn-cs"/>
                </a:rPr>
                <a:t> electrons = 1 Coulomb</a:t>
              </a:r>
            </a:p>
            <a:p>
              <a:pPr marL="182563" defTabSz="895350" eaLnBrk="1" hangingPunct="1">
                <a:defRPr/>
              </a:pPr>
              <a:r>
                <a:rPr lang="tr-TR" i="1" dirty="0">
                  <a:solidFill>
                    <a:srgbClr val="FFFF00"/>
                  </a:solidFill>
                  <a:latin typeface="Arial Narrow" pitchFamily="34" charset="0"/>
                  <a:cs typeface="+mn-cs"/>
                </a:rPr>
                <a:t>or</a:t>
              </a:r>
            </a:p>
            <a:p>
              <a:pPr marL="182563" defTabSz="895350" eaLnBrk="1" hangingPunct="1">
                <a:defRPr/>
              </a:pPr>
              <a:r>
                <a:rPr lang="tr-TR" i="1" dirty="0">
                  <a:solidFill>
                    <a:srgbClr val="FFFF00"/>
                  </a:solidFill>
                  <a:latin typeface="Arial Narrow" pitchFamily="34" charset="0"/>
                  <a:cs typeface="+mn-cs"/>
                </a:rPr>
                <a:t>Electrical charge / electron = 1/ (6.3 x 10</a:t>
              </a:r>
              <a:r>
                <a:rPr lang="tr-TR" i="1" baseline="30000" dirty="0">
                  <a:solidFill>
                    <a:srgbClr val="FFFF00"/>
                  </a:solidFill>
                  <a:latin typeface="Arial Narrow" pitchFamily="34" charset="0"/>
                  <a:cs typeface="+mn-cs"/>
                </a:rPr>
                <a:t>18</a:t>
              </a:r>
              <a:r>
                <a:rPr lang="tr-TR" i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 Narrow" pitchFamily="34" charset="0"/>
                  <a:cs typeface="+mn-cs"/>
                </a:rPr>
                <a:t>) Coulomb</a:t>
              </a:r>
              <a:endParaRPr lang="tr-TR" i="1" dirty="0">
                <a:solidFill>
                  <a:srgbClr val="FFFF00"/>
                </a:solidFill>
                <a:latin typeface="Arial Narrow" pitchFamily="34" charset="0"/>
                <a:cs typeface="+mn-cs"/>
              </a:endParaRPr>
            </a:p>
            <a:p>
              <a:pPr marL="182563" defTabSz="895350" eaLnBrk="1" hangingPunct="1">
                <a:defRPr/>
              </a:pPr>
              <a:r>
                <a:rPr lang="tr-TR" i="1" dirty="0">
                  <a:solidFill>
                    <a:srgbClr val="FFFF00"/>
                  </a:solidFill>
                  <a:latin typeface="Arial Narrow" pitchFamily="34" charset="0"/>
                  <a:cs typeface="+mn-cs"/>
                </a:rPr>
                <a:t>                                               = 1.602 x 10</a:t>
              </a:r>
              <a:r>
                <a:rPr lang="tr-TR" i="1" baseline="30000" dirty="0">
                  <a:solidFill>
                    <a:srgbClr val="FFFF00"/>
                  </a:solidFill>
                  <a:latin typeface="Arial Narrow" pitchFamily="34" charset="0"/>
                  <a:cs typeface="+mn-cs"/>
                </a:rPr>
                <a:t>-19    </a:t>
              </a:r>
              <a:r>
                <a:rPr lang="tr-TR" i="1" dirty="0">
                  <a:solidFill>
                    <a:srgbClr val="FFFF00"/>
                  </a:solidFill>
                  <a:latin typeface="Arial Narrow" pitchFamily="34" charset="0"/>
                  <a:cs typeface="+mn-cs"/>
                </a:rPr>
                <a:t>Coulomb</a:t>
              </a:r>
            </a:p>
            <a:p>
              <a:pPr marL="182563" defTabSz="895350" eaLnBrk="1" hangingPunct="1">
                <a:defRPr/>
              </a:pPr>
              <a:endParaRPr lang="en-US" i="1" baseline="30000" dirty="0">
                <a:solidFill>
                  <a:srgbClr val="FFFF00"/>
                </a:solidFill>
                <a:cs typeface="+mn-cs"/>
              </a:endParaRPr>
            </a:p>
          </p:txBody>
        </p:sp>
        <p:sp>
          <p:nvSpPr>
            <p:cNvPr id="7183" name="Rectangle 239"/>
            <p:cNvSpPr>
              <a:spLocks noChangeArrowheads="1"/>
            </p:cNvSpPr>
            <p:nvPr/>
          </p:nvSpPr>
          <p:spPr bwMode="auto">
            <a:xfrm>
              <a:off x="1216" y="1626"/>
              <a:ext cx="89" cy="174"/>
            </a:xfrm>
            <a:prstGeom prst="rect">
              <a:avLst/>
            </a:prstGeom>
            <a:solidFill>
              <a:srgbClr val="0000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tr-TR" altLang="en-US" sz="1800" i="1">
                  <a:solidFill>
                    <a:srgbClr val="FFFF00"/>
                  </a:solidFill>
                  <a:latin typeface="Arial" charset="0"/>
                  <a:sym typeface="Symbol" pitchFamily="18" charset="2"/>
                </a:rPr>
                <a:t></a:t>
              </a:r>
            </a:p>
          </p:txBody>
        </p:sp>
      </p:grpSp>
      <p:pic>
        <p:nvPicPr>
          <p:cNvPr id="7180" name="Picture 25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63" y="3446463"/>
            <a:ext cx="6229350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81" name="Rectangle 1"/>
          <p:cNvSpPr>
            <a:spLocks noChangeArrowheads="1"/>
          </p:cNvSpPr>
          <p:nvPr/>
        </p:nvSpPr>
        <p:spPr bwMode="auto">
          <a:xfrm>
            <a:off x="138113" y="2357438"/>
            <a:ext cx="4572000" cy="92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charset="0"/>
              </a:rPr>
              <a:t>Atoms made up of protons (with positive charge), neutrons (neutral), and electrons (with negative charge)</a:t>
            </a:r>
            <a:endParaRPr lang="en-GB" altLang="en-US" sz="180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7479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457200" y="114301"/>
            <a:ext cx="8229600" cy="563563"/>
          </a:xfrm>
        </p:spPr>
        <p:txBody>
          <a:bodyPr/>
          <a:lstStyle/>
          <a:p>
            <a:r>
              <a:rPr lang="en-US" sz="2800" dirty="0" smtClean="0"/>
              <a:t>Current : </a:t>
            </a:r>
            <a:r>
              <a:rPr lang="en-US" sz="2800" i="1" dirty="0" smtClean="0"/>
              <a:t>I</a:t>
            </a:r>
            <a:r>
              <a:rPr lang="en-US" sz="2800" dirty="0" smtClean="0"/>
              <a:t> or </a:t>
            </a:r>
            <a:r>
              <a:rPr lang="en-US" sz="2800" i="1" dirty="0" err="1" smtClean="0"/>
              <a:t>i</a:t>
            </a:r>
            <a:r>
              <a:rPr lang="en-US" sz="2800" dirty="0" smtClean="0"/>
              <a:t>(t) if time varying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533400" y="838200"/>
            <a:ext cx="8229600" cy="5410199"/>
          </a:xfrm>
        </p:spPr>
        <p:txBody>
          <a:bodyPr/>
          <a:lstStyle/>
          <a:p>
            <a:r>
              <a:rPr lang="en-US" sz="2400" dirty="0" smtClean="0"/>
              <a:t>Current is time rate of change of charge:</a:t>
            </a:r>
          </a:p>
          <a:p>
            <a:r>
              <a:rPr lang="en-US" sz="2400" dirty="0" smtClean="0"/>
              <a:t>Unit of Current: Ampere (A)</a:t>
            </a:r>
          </a:p>
          <a:p>
            <a:pPr lvl="1">
              <a:buNone/>
            </a:pPr>
            <a:r>
              <a:rPr lang="en-US" sz="2400" dirty="0" smtClean="0"/>
              <a:t>  1 A = 1 C/s</a:t>
            </a:r>
          </a:p>
          <a:p>
            <a:pPr lvl="1"/>
            <a:endParaRPr lang="en-US" sz="2400" dirty="0" smtClean="0"/>
          </a:p>
          <a:p>
            <a:r>
              <a:rPr lang="en-US" sz="2400" dirty="0" smtClean="0"/>
              <a:t>Current has a magnitude and direction</a:t>
            </a:r>
          </a:p>
          <a:p>
            <a:pPr>
              <a:buNone/>
            </a:pPr>
            <a:endParaRPr lang="en-US" sz="2400" dirty="0" smtClean="0"/>
          </a:p>
          <a:p>
            <a:r>
              <a:rPr lang="en-US" sz="2400" dirty="0" smtClean="0"/>
              <a:t>Total  charge entering the element between time t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 and t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:</a:t>
            </a:r>
          </a:p>
          <a:p>
            <a:endParaRPr lang="en-US" sz="2400" dirty="0" smtClean="0"/>
          </a:p>
          <a:p>
            <a:pPr lvl="1">
              <a:buFont typeface="Arial" charset="0"/>
              <a:buNone/>
            </a:pPr>
            <a:endParaRPr lang="en-US" sz="2000" dirty="0" smtClean="0"/>
          </a:p>
        </p:txBody>
      </p:sp>
      <p:graphicFrame>
        <p:nvGraphicFramePr>
          <p:cNvPr id="79873" name="Object 1"/>
          <p:cNvGraphicFramePr>
            <a:graphicFrameLocks noChangeAspect="1"/>
          </p:cNvGraphicFramePr>
          <p:nvPr/>
        </p:nvGraphicFramePr>
        <p:xfrm>
          <a:off x="6134100" y="647700"/>
          <a:ext cx="1495425" cy="8626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893" name="Equation" r:id="rId3" imgW="368280" imgH="330120" progId="Equation.3">
                  <p:embed/>
                </p:oleObj>
              </mc:Choice>
              <mc:Fallback>
                <p:oleObj name="Equation" r:id="rId3" imgW="368280" imgH="33012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4100" y="647700"/>
                        <a:ext cx="1495425" cy="86260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2"/>
          <p:cNvSpPr/>
          <p:nvPr/>
        </p:nvSpPr>
        <p:spPr>
          <a:xfrm rot="5400000">
            <a:off x="7296150" y="2724150"/>
            <a:ext cx="304800" cy="800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/>
          <p:cNvCxnSpPr>
            <a:stCxn id="13" idx="0"/>
          </p:cNvCxnSpPr>
          <p:nvPr/>
        </p:nvCxnSpPr>
        <p:spPr>
          <a:xfrm rot="10800000" flipH="1" flipV="1">
            <a:off x="7848600" y="3124200"/>
            <a:ext cx="380206" cy="79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6210300" y="3124200"/>
            <a:ext cx="838200" cy="15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6362700" y="2933700"/>
            <a:ext cx="571500" cy="15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088638" y="2602468"/>
            <a:ext cx="2696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 err="1" smtClean="0"/>
              <a:t>i</a:t>
            </a:r>
            <a:endParaRPr lang="en-US" sz="2400" b="1" i="1" dirty="0"/>
          </a:p>
        </p:txBody>
      </p:sp>
      <p:sp>
        <p:nvSpPr>
          <p:cNvPr id="35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6667500" y="6454776"/>
            <a:ext cx="2438400" cy="365125"/>
          </a:xfrm>
        </p:spPr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457200" y="114301"/>
            <a:ext cx="8229600" cy="563563"/>
          </a:xfrm>
        </p:spPr>
        <p:txBody>
          <a:bodyPr/>
          <a:lstStyle/>
          <a:p>
            <a:r>
              <a:rPr lang="en-US" sz="2800" dirty="0" smtClean="0"/>
              <a:t>Current : </a:t>
            </a:r>
            <a:r>
              <a:rPr lang="en-US" sz="2800" i="1" dirty="0" smtClean="0"/>
              <a:t>I</a:t>
            </a:r>
            <a:r>
              <a:rPr lang="en-US" sz="2800" dirty="0" smtClean="0"/>
              <a:t> or </a:t>
            </a:r>
            <a:r>
              <a:rPr lang="en-US" sz="2800" i="1" dirty="0" err="1" smtClean="0"/>
              <a:t>i</a:t>
            </a:r>
            <a:r>
              <a:rPr lang="en-US" sz="2800" dirty="0" smtClean="0"/>
              <a:t>(t) if time varying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533400" y="838200"/>
            <a:ext cx="8229600" cy="5410199"/>
          </a:xfrm>
        </p:spPr>
        <p:txBody>
          <a:bodyPr/>
          <a:lstStyle/>
          <a:p>
            <a:r>
              <a:rPr lang="en-US" sz="2400" dirty="0" smtClean="0"/>
              <a:t>Current is time rate of change of charge:</a:t>
            </a:r>
          </a:p>
          <a:p>
            <a:r>
              <a:rPr lang="en-US" sz="2400" dirty="0" smtClean="0"/>
              <a:t>Unit of Current: Ampere (A)</a:t>
            </a:r>
          </a:p>
          <a:p>
            <a:pPr lvl="1">
              <a:buNone/>
            </a:pPr>
            <a:r>
              <a:rPr lang="en-US" sz="2400" dirty="0" smtClean="0"/>
              <a:t>  1 A = 1 C/s</a:t>
            </a:r>
          </a:p>
          <a:p>
            <a:pPr lvl="1"/>
            <a:endParaRPr lang="en-US" sz="2400" dirty="0" smtClean="0"/>
          </a:p>
          <a:p>
            <a:r>
              <a:rPr lang="en-US" sz="2400" dirty="0" smtClean="0"/>
              <a:t>Current has a magnitude and direction</a:t>
            </a:r>
          </a:p>
          <a:p>
            <a:pPr>
              <a:buNone/>
            </a:pPr>
            <a:endParaRPr lang="en-US" sz="2400" dirty="0" smtClean="0"/>
          </a:p>
          <a:p>
            <a:r>
              <a:rPr lang="en-US" sz="2400" dirty="0" smtClean="0"/>
              <a:t>Total  charge entering the element between time t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 and t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:</a:t>
            </a:r>
          </a:p>
          <a:p>
            <a:endParaRPr lang="en-US" sz="2400" dirty="0" smtClean="0"/>
          </a:p>
          <a:p>
            <a:pPr lvl="1">
              <a:buFont typeface="Arial" charset="0"/>
              <a:buNone/>
            </a:pPr>
            <a:endParaRPr lang="en-US" sz="2000" dirty="0" smtClean="0"/>
          </a:p>
        </p:txBody>
      </p:sp>
      <p:graphicFrame>
        <p:nvGraphicFramePr>
          <p:cNvPr id="79873" name="Object 1"/>
          <p:cNvGraphicFramePr>
            <a:graphicFrameLocks noChangeAspect="1"/>
          </p:cNvGraphicFramePr>
          <p:nvPr/>
        </p:nvGraphicFramePr>
        <p:xfrm>
          <a:off x="6134100" y="647700"/>
          <a:ext cx="1495425" cy="8626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114" name="Equation" r:id="rId3" imgW="368280" imgH="330120" progId="Equation.3">
                  <p:embed/>
                </p:oleObj>
              </mc:Choice>
              <mc:Fallback>
                <p:oleObj name="Equation" r:id="rId3" imgW="368280" imgH="33012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4100" y="647700"/>
                        <a:ext cx="1495425" cy="86260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2"/>
          <p:cNvSpPr/>
          <p:nvPr/>
        </p:nvSpPr>
        <p:spPr>
          <a:xfrm rot="5400000">
            <a:off x="7296150" y="2724150"/>
            <a:ext cx="304800" cy="800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/>
          <p:cNvCxnSpPr>
            <a:stCxn id="13" idx="0"/>
          </p:cNvCxnSpPr>
          <p:nvPr/>
        </p:nvCxnSpPr>
        <p:spPr>
          <a:xfrm rot="10800000" flipH="1" flipV="1">
            <a:off x="7848600" y="3124200"/>
            <a:ext cx="380206" cy="79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6210300" y="3124200"/>
            <a:ext cx="838200" cy="15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6362700" y="2933700"/>
            <a:ext cx="571500" cy="15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088638" y="2602468"/>
            <a:ext cx="2696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 err="1" smtClean="0"/>
              <a:t>i</a:t>
            </a:r>
            <a:endParaRPr lang="en-US" sz="2400" b="1" i="1" dirty="0"/>
          </a:p>
        </p:txBody>
      </p:sp>
      <p:graphicFrame>
        <p:nvGraphicFramePr>
          <p:cNvPr id="79874" name="Object 2"/>
          <p:cNvGraphicFramePr>
            <a:graphicFrameLocks noChangeAspect="1"/>
          </p:cNvGraphicFramePr>
          <p:nvPr/>
        </p:nvGraphicFramePr>
        <p:xfrm>
          <a:off x="1752600" y="3797524"/>
          <a:ext cx="5213350" cy="11173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115" name="Equation" r:id="rId5" imgW="1409400" imgH="469800" progId="Equation.3">
                  <p:embed/>
                </p:oleObj>
              </mc:Choice>
              <mc:Fallback>
                <p:oleObj name="Equation" r:id="rId5" imgW="1409400" imgH="4698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3797524"/>
                        <a:ext cx="5213350" cy="111737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6667500" y="6454776"/>
            <a:ext cx="2438400" cy="365125"/>
          </a:xfrm>
        </p:spPr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  <p:sp>
        <p:nvSpPr>
          <p:cNvPr id="16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457200" y="114301"/>
            <a:ext cx="8229600" cy="563563"/>
          </a:xfrm>
        </p:spPr>
        <p:txBody>
          <a:bodyPr/>
          <a:lstStyle/>
          <a:p>
            <a:r>
              <a:rPr lang="en-US" sz="2800" dirty="0" smtClean="0"/>
              <a:t>Current : </a:t>
            </a:r>
            <a:r>
              <a:rPr lang="en-US" sz="2800" i="1" dirty="0" smtClean="0"/>
              <a:t>I</a:t>
            </a:r>
            <a:r>
              <a:rPr lang="en-US" sz="2800" dirty="0" smtClean="0"/>
              <a:t> or </a:t>
            </a:r>
            <a:r>
              <a:rPr lang="en-US" sz="2800" i="1" dirty="0" err="1" smtClean="0"/>
              <a:t>i</a:t>
            </a:r>
            <a:r>
              <a:rPr lang="en-US" sz="2800" dirty="0" smtClean="0"/>
              <a:t>(t) if time varying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533400" y="838200"/>
            <a:ext cx="8229600" cy="5410199"/>
          </a:xfrm>
        </p:spPr>
        <p:txBody>
          <a:bodyPr/>
          <a:lstStyle/>
          <a:p>
            <a:r>
              <a:rPr lang="en-US" sz="2400" dirty="0" smtClean="0"/>
              <a:t>Current is time rate of change of charge:</a:t>
            </a:r>
          </a:p>
          <a:p>
            <a:r>
              <a:rPr lang="en-US" sz="2400" dirty="0" smtClean="0"/>
              <a:t>Unit of Current: Ampere (A)</a:t>
            </a:r>
          </a:p>
          <a:p>
            <a:pPr lvl="1">
              <a:buNone/>
            </a:pPr>
            <a:r>
              <a:rPr lang="en-US" sz="2400" dirty="0" smtClean="0"/>
              <a:t>  1 A = 1 C/s</a:t>
            </a:r>
          </a:p>
          <a:p>
            <a:pPr lvl="1"/>
            <a:endParaRPr lang="en-US" sz="2400" dirty="0" smtClean="0"/>
          </a:p>
          <a:p>
            <a:r>
              <a:rPr lang="en-US" sz="2400" dirty="0" smtClean="0"/>
              <a:t>Current has a magnitude and direction</a:t>
            </a:r>
          </a:p>
          <a:p>
            <a:pPr>
              <a:buNone/>
            </a:pPr>
            <a:endParaRPr lang="en-US" sz="2400" dirty="0" smtClean="0"/>
          </a:p>
          <a:p>
            <a:r>
              <a:rPr lang="en-US" sz="2400" dirty="0" smtClean="0"/>
              <a:t>Total  charge entering the element between time t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 and t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:</a:t>
            </a:r>
          </a:p>
          <a:p>
            <a:endParaRPr lang="en-US" sz="2400" dirty="0" smtClean="0"/>
          </a:p>
          <a:p>
            <a:pPr lvl="1">
              <a:buFont typeface="Arial" charset="0"/>
              <a:buNone/>
            </a:pPr>
            <a:endParaRPr lang="en-US" sz="2000" dirty="0" smtClean="0"/>
          </a:p>
        </p:txBody>
      </p:sp>
      <p:graphicFrame>
        <p:nvGraphicFramePr>
          <p:cNvPr id="79873" name="Object 1"/>
          <p:cNvGraphicFramePr>
            <a:graphicFrameLocks noChangeAspect="1"/>
          </p:cNvGraphicFramePr>
          <p:nvPr/>
        </p:nvGraphicFramePr>
        <p:xfrm>
          <a:off x="6134100" y="647700"/>
          <a:ext cx="1495425" cy="8626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090" name="Equation" r:id="rId3" imgW="368280" imgH="330120" progId="Equation.3">
                  <p:embed/>
                </p:oleObj>
              </mc:Choice>
              <mc:Fallback>
                <p:oleObj name="Equation" r:id="rId3" imgW="368280" imgH="33012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4100" y="647700"/>
                        <a:ext cx="1495425" cy="86260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2"/>
          <p:cNvSpPr/>
          <p:nvPr/>
        </p:nvSpPr>
        <p:spPr>
          <a:xfrm rot="5400000">
            <a:off x="7296150" y="2724150"/>
            <a:ext cx="304800" cy="800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/>
          <p:cNvCxnSpPr>
            <a:stCxn id="13" idx="0"/>
          </p:cNvCxnSpPr>
          <p:nvPr/>
        </p:nvCxnSpPr>
        <p:spPr>
          <a:xfrm rot="10800000" flipH="1" flipV="1">
            <a:off x="7848600" y="3124200"/>
            <a:ext cx="380206" cy="79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6210300" y="3124200"/>
            <a:ext cx="838200" cy="15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6362700" y="2933700"/>
            <a:ext cx="571500" cy="15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088638" y="2602468"/>
            <a:ext cx="2696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 err="1" smtClean="0"/>
              <a:t>i</a:t>
            </a:r>
            <a:endParaRPr lang="en-US" sz="2400" b="1" i="1" dirty="0"/>
          </a:p>
        </p:txBody>
      </p:sp>
      <p:graphicFrame>
        <p:nvGraphicFramePr>
          <p:cNvPr id="79874" name="Object 2"/>
          <p:cNvGraphicFramePr>
            <a:graphicFrameLocks noChangeAspect="1"/>
          </p:cNvGraphicFramePr>
          <p:nvPr/>
        </p:nvGraphicFramePr>
        <p:xfrm>
          <a:off x="1752600" y="3797524"/>
          <a:ext cx="5213350" cy="11173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091" name="Equation" r:id="rId5" imgW="1409400" imgH="469800" progId="Equation.3">
                  <p:embed/>
                </p:oleObj>
              </mc:Choice>
              <mc:Fallback>
                <p:oleObj name="Equation" r:id="rId5" imgW="1409400" imgH="4698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3797524"/>
                        <a:ext cx="5213350" cy="111737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9877" name="Picture 5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219700" y="4914900"/>
            <a:ext cx="2976562" cy="18446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9880" name="Picture 8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295400" y="4953000"/>
            <a:ext cx="3155950" cy="179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3" name="TextBox 32"/>
          <p:cNvSpPr txBox="1"/>
          <p:nvPr/>
        </p:nvSpPr>
        <p:spPr>
          <a:xfrm>
            <a:off x="628060" y="5030569"/>
            <a:ext cx="15055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Direct</a:t>
            </a:r>
          </a:p>
          <a:p>
            <a:r>
              <a:rPr lang="en-US" dirty="0" smtClean="0"/>
              <a:t>Current (DC)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7505700" y="4914900"/>
            <a:ext cx="14927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Alternating</a:t>
            </a:r>
          </a:p>
          <a:p>
            <a:r>
              <a:rPr lang="en-US" dirty="0" smtClean="0"/>
              <a:t>Current (AC)</a:t>
            </a:r>
            <a:endParaRPr lang="en-US" dirty="0"/>
          </a:p>
        </p:txBody>
      </p:sp>
      <p:sp>
        <p:nvSpPr>
          <p:cNvPr id="16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457200" y="114301"/>
            <a:ext cx="8229600" cy="563563"/>
          </a:xfrm>
        </p:spPr>
        <p:txBody>
          <a:bodyPr/>
          <a:lstStyle/>
          <a:p>
            <a:r>
              <a:rPr lang="en-US" sz="2800" dirty="0" smtClean="0"/>
              <a:t>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533400" y="723900"/>
            <a:ext cx="8229600" cy="5524500"/>
          </a:xfrm>
        </p:spPr>
        <p:txBody>
          <a:bodyPr/>
          <a:lstStyle/>
          <a:p>
            <a:pPr>
              <a:buNone/>
            </a:pPr>
            <a:r>
              <a:rPr lang="en-US" sz="2400" dirty="0" smtClean="0"/>
              <a:t>Determine charge entering a terminal between t=2 s and t=4 s if the current through the terminal is defined by the function:</a:t>
            </a:r>
            <a:endParaRPr lang="en-US" sz="2000" dirty="0" smtClean="0"/>
          </a:p>
        </p:txBody>
      </p:sp>
      <p:graphicFrame>
        <p:nvGraphicFramePr>
          <p:cNvPr id="137218" name="Object 2"/>
          <p:cNvGraphicFramePr>
            <a:graphicFrameLocks noChangeAspect="1"/>
          </p:cNvGraphicFramePr>
          <p:nvPr/>
        </p:nvGraphicFramePr>
        <p:xfrm>
          <a:off x="2514600" y="1638300"/>
          <a:ext cx="3711575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286" name="Equation" r:id="rId3" imgW="914400" imgH="228600" progId="Equation.3">
                  <p:embed/>
                </p:oleObj>
              </mc:Choice>
              <mc:Fallback>
                <p:oleObj name="Equation" r:id="rId3" imgW="914400" imgH="2286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1638300"/>
                        <a:ext cx="3711575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457200" y="114301"/>
            <a:ext cx="8229600" cy="563563"/>
          </a:xfrm>
        </p:spPr>
        <p:txBody>
          <a:bodyPr/>
          <a:lstStyle/>
          <a:p>
            <a:r>
              <a:rPr lang="en-US" sz="2800" dirty="0" smtClean="0"/>
              <a:t>Example</a:t>
            </a:r>
            <a:endParaRPr lang="en-US" sz="32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533400" y="723900"/>
            <a:ext cx="8229600" cy="5524500"/>
          </a:xfrm>
        </p:spPr>
        <p:txBody>
          <a:bodyPr/>
          <a:lstStyle/>
          <a:p>
            <a:pPr>
              <a:buNone/>
            </a:pPr>
            <a:r>
              <a:rPr lang="en-US" sz="2400" dirty="0" smtClean="0"/>
              <a:t>Determine charge entering a terminal between t=2 s and t=4 s if the current through the terminal is defined by the function:</a:t>
            </a:r>
            <a:endParaRPr lang="en-US" sz="2000" dirty="0" smtClean="0"/>
          </a:p>
        </p:txBody>
      </p:sp>
      <p:graphicFrame>
        <p:nvGraphicFramePr>
          <p:cNvPr id="137218" name="Object 2"/>
          <p:cNvGraphicFramePr>
            <a:graphicFrameLocks noChangeAspect="1"/>
          </p:cNvGraphicFramePr>
          <p:nvPr/>
        </p:nvGraphicFramePr>
        <p:xfrm>
          <a:off x="2514600" y="1638300"/>
          <a:ext cx="3711575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282" name="Equation" r:id="rId3" imgW="914400" imgH="228600" progId="Equation.3">
                  <p:embed/>
                </p:oleObj>
              </mc:Choice>
              <mc:Fallback>
                <p:oleObj name="Equation" r:id="rId3" imgW="914400" imgH="2286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1638300"/>
                        <a:ext cx="3711575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 bwMode="auto">
          <a:xfrm>
            <a:off x="457200" y="2979737"/>
            <a:ext cx="8229600" cy="56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Solution:</a:t>
            </a:r>
          </a:p>
        </p:txBody>
      </p:sp>
      <p:graphicFrame>
        <p:nvGraphicFramePr>
          <p:cNvPr id="138243" name="Object 3"/>
          <p:cNvGraphicFramePr>
            <a:graphicFrameLocks noChangeAspect="1"/>
          </p:cNvGraphicFramePr>
          <p:nvPr/>
        </p:nvGraphicFramePr>
        <p:xfrm>
          <a:off x="1257300" y="3848100"/>
          <a:ext cx="5670550" cy="208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283" name="Equation" r:id="rId5" imgW="1396800" imgH="799920" progId="Equation.3">
                  <p:embed/>
                </p:oleObj>
              </mc:Choice>
              <mc:Fallback>
                <p:oleObj name="Equation" r:id="rId5" imgW="1396800" imgH="79992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7300" y="3848100"/>
                        <a:ext cx="5670550" cy="2089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457200" y="114301"/>
            <a:ext cx="8229600" cy="563563"/>
          </a:xfrm>
        </p:spPr>
        <p:txBody>
          <a:bodyPr/>
          <a:lstStyle/>
          <a:p>
            <a:r>
              <a:rPr lang="en-US" sz="2800" dirty="0" smtClean="0"/>
              <a:t>Voltage : </a:t>
            </a:r>
            <a:r>
              <a:rPr lang="en-US" sz="2800" i="1" dirty="0" smtClean="0"/>
              <a:t>V</a:t>
            </a:r>
            <a:r>
              <a:rPr lang="en-US" sz="2800" dirty="0" smtClean="0"/>
              <a:t> or </a:t>
            </a:r>
            <a:r>
              <a:rPr lang="en-US" sz="2800" i="1" dirty="0" smtClean="0"/>
              <a:t>v</a:t>
            </a:r>
            <a:r>
              <a:rPr lang="en-US" sz="2800" dirty="0" smtClean="0"/>
              <a:t>(t) if time varying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533400" y="838200"/>
            <a:ext cx="8229600" cy="5410199"/>
          </a:xfrm>
        </p:spPr>
        <p:txBody>
          <a:bodyPr/>
          <a:lstStyle/>
          <a:p>
            <a:r>
              <a:rPr lang="en-US" sz="2400" dirty="0" smtClean="0"/>
              <a:t>Voltage, or electromotive force (</a:t>
            </a:r>
            <a:r>
              <a:rPr lang="en-US" sz="2400" dirty="0" err="1" smtClean="0"/>
              <a:t>emf</a:t>
            </a:r>
            <a:r>
              <a:rPr lang="en-US" sz="2400" dirty="0" smtClean="0"/>
              <a:t>), or potential difference between two points a and b is the energy needed to move a unit charge from point a to b:</a:t>
            </a:r>
          </a:p>
          <a:p>
            <a:pPr>
              <a:buNone/>
            </a:pPr>
            <a:endParaRPr lang="en-US" sz="2400" dirty="0" smtClean="0"/>
          </a:p>
          <a:p>
            <a:r>
              <a:rPr lang="en-US" sz="2400" dirty="0" smtClean="0"/>
              <a:t>Unit of Voltage: Volt (V)</a:t>
            </a:r>
          </a:p>
          <a:p>
            <a:pPr lvl="1">
              <a:buNone/>
            </a:pPr>
            <a:r>
              <a:rPr lang="en-US" sz="2400" dirty="0" smtClean="0"/>
              <a:t>  1 V = 1 Joules/Coulomb = 1 Newton-meter/Coulomb</a:t>
            </a:r>
          </a:p>
          <a:p>
            <a:pPr lvl="1"/>
            <a:endParaRPr lang="en-US" sz="2400" dirty="0" smtClean="0"/>
          </a:p>
          <a:p>
            <a:r>
              <a:rPr lang="en-US" sz="2400" dirty="0" smtClean="0"/>
              <a:t>Conventions:</a:t>
            </a:r>
          </a:p>
          <a:p>
            <a:pPr lvl="1"/>
            <a:endParaRPr lang="en-US" sz="2400" dirty="0" smtClean="0"/>
          </a:p>
          <a:p>
            <a:endParaRPr lang="en-US" sz="2400" dirty="0" smtClean="0"/>
          </a:p>
        </p:txBody>
      </p:sp>
      <p:graphicFrame>
        <p:nvGraphicFramePr>
          <p:cNvPr id="132100" name="Object 4"/>
          <p:cNvGraphicFramePr>
            <a:graphicFrameLocks noChangeAspect="1"/>
          </p:cNvGraphicFramePr>
          <p:nvPr/>
        </p:nvGraphicFramePr>
        <p:xfrm>
          <a:off x="4694237" y="1638300"/>
          <a:ext cx="2011363" cy="92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120" name="Equation" r:id="rId3" imgW="495000" imgH="355320" progId="Equation.3">
                  <p:embed/>
                </p:oleObj>
              </mc:Choice>
              <mc:Fallback>
                <p:oleObj name="Equation" r:id="rId3" imgW="495000" imgH="35532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4237" y="1638300"/>
                        <a:ext cx="2011363" cy="928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Group 12"/>
          <p:cNvGrpSpPr/>
          <p:nvPr/>
        </p:nvGrpSpPr>
        <p:grpSpPr>
          <a:xfrm>
            <a:off x="1104900" y="4725194"/>
            <a:ext cx="304800" cy="1561306"/>
            <a:chOff x="1485900" y="4687094"/>
            <a:chExt cx="304800" cy="1561306"/>
          </a:xfrm>
        </p:grpSpPr>
        <p:sp>
          <p:nvSpPr>
            <p:cNvPr id="19" name="Rectangle 18"/>
            <p:cNvSpPr/>
            <p:nvPr/>
          </p:nvSpPr>
          <p:spPr>
            <a:xfrm>
              <a:off x="1485900" y="5067300"/>
              <a:ext cx="304800" cy="8001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" name="Straight Connector 19"/>
            <p:cNvCxnSpPr>
              <a:stCxn id="19" idx="0"/>
            </p:cNvCxnSpPr>
            <p:nvPr/>
          </p:nvCxnSpPr>
          <p:spPr>
            <a:xfrm rot="5400000" flipH="1" flipV="1">
              <a:off x="1448594" y="4876800"/>
              <a:ext cx="380206" cy="79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rot="5400000" flipH="1" flipV="1">
              <a:off x="1448594" y="6057106"/>
              <a:ext cx="381000" cy="158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12"/>
          <p:cNvGrpSpPr/>
          <p:nvPr/>
        </p:nvGrpSpPr>
        <p:grpSpPr>
          <a:xfrm>
            <a:off x="2286000" y="4724400"/>
            <a:ext cx="304800" cy="1561306"/>
            <a:chOff x="1485900" y="4687094"/>
            <a:chExt cx="304800" cy="1561306"/>
          </a:xfrm>
        </p:grpSpPr>
        <p:sp>
          <p:nvSpPr>
            <p:cNvPr id="28" name="Rectangle 27"/>
            <p:cNvSpPr/>
            <p:nvPr/>
          </p:nvSpPr>
          <p:spPr>
            <a:xfrm>
              <a:off x="1485900" y="5067300"/>
              <a:ext cx="304800" cy="8001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9" name="Straight Connector 28"/>
            <p:cNvCxnSpPr>
              <a:stCxn id="28" idx="0"/>
            </p:cNvCxnSpPr>
            <p:nvPr/>
          </p:nvCxnSpPr>
          <p:spPr>
            <a:xfrm rot="5400000" flipH="1" flipV="1">
              <a:off x="1448594" y="4876800"/>
              <a:ext cx="380206" cy="79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rot="5400000" flipH="1" flipV="1">
              <a:off x="1448594" y="6057106"/>
              <a:ext cx="381000" cy="158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/>
          <p:cNvSpPr txBox="1"/>
          <p:nvPr/>
        </p:nvSpPr>
        <p:spPr>
          <a:xfrm>
            <a:off x="2286000" y="4278868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2290346" y="6336268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762000" y="4800600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+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762000" y="5791200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-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647700" y="5269468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err="1" smtClean="0"/>
              <a:t>v</a:t>
            </a:r>
            <a:r>
              <a:rPr lang="en-US" b="1" i="1" baseline="-25000" dirty="0" err="1" smtClean="0"/>
              <a:t>o</a:t>
            </a:r>
            <a:endParaRPr lang="en-US" b="1" i="1" baseline="-25000" dirty="0"/>
          </a:p>
        </p:txBody>
      </p:sp>
      <p:grpSp>
        <p:nvGrpSpPr>
          <p:cNvPr id="52" name="Group 51"/>
          <p:cNvGrpSpPr/>
          <p:nvPr/>
        </p:nvGrpSpPr>
        <p:grpSpPr>
          <a:xfrm>
            <a:off x="1905000" y="4800600"/>
            <a:ext cx="319318" cy="1359932"/>
            <a:chOff x="1905000" y="4800600"/>
            <a:chExt cx="319318" cy="1359932"/>
          </a:xfrm>
        </p:grpSpPr>
        <p:sp>
          <p:nvSpPr>
            <p:cNvPr id="38" name="TextBox 37"/>
            <p:cNvSpPr txBox="1"/>
            <p:nvPr/>
          </p:nvSpPr>
          <p:spPr>
            <a:xfrm>
              <a:off x="1905000" y="4800600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+</a:t>
              </a:r>
              <a:endParaRPr lang="en-US" dirty="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905000" y="5791200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-</a:t>
              </a:r>
              <a:endParaRPr lang="en-US" dirty="0"/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1790700" y="5269468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err="1" smtClean="0"/>
              <a:t>v</a:t>
            </a:r>
            <a:r>
              <a:rPr lang="en-US" b="1" i="1" baseline="-25000" dirty="0" err="1" smtClean="0"/>
              <a:t>AB</a:t>
            </a:r>
            <a:endParaRPr lang="en-US" b="1" i="1" baseline="-25000" dirty="0"/>
          </a:p>
        </p:txBody>
      </p:sp>
      <p:sp>
        <p:nvSpPr>
          <p:cNvPr id="41" name="Oval 40"/>
          <p:cNvSpPr/>
          <p:nvPr/>
        </p:nvSpPr>
        <p:spPr>
          <a:xfrm>
            <a:off x="1219200" y="464820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1219200" y="628650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2400300" y="464820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2400300" y="628650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6667500" y="6454776"/>
            <a:ext cx="2438400" cy="365125"/>
          </a:xfrm>
        </p:spPr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  <p:sp>
        <p:nvSpPr>
          <p:cNvPr id="33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ounded Rectangle 104"/>
          <p:cNvSpPr/>
          <p:nvPr/>
        </p:nvSpPr>
        <p:spPr>
          <a:xfrm>
            <a:off x="3390900" y="3733800"/>
            <a:ext cx="2628900" cy="28575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ounded Rectangle 103"/>
          <p:cNvSpPr/>
          <p:nvPr/>
        </p:nvSpPr>
        <p:spPr>
          <a:xfrm>
            <a:off x="6324600" y="3733800"/>
            <a:ext cx="2628900" cy="28575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457200" y="114301"/>
            <a:ext cx="8229600" cy="563563"/>
          </a:xfrm>
        </p:spPr>
        <p:txBody>
          <a:bodyPr/>
          <a:lstStyle/>
          <a:p>
            <a:r>
              <a:rPr lang="en-US" sz="2800" dirty="0" smtClean="0"/>
              <a:t>Voltage : </a:t>
            </a:r>
            <a:r>
              <a:rPr lang="en-US" sz="2800" i="1" dirty="0" smtClean="0"/>
              <a:t>V</a:t>
            </a:r>
            <a:r>
              <a:rPr lang="en-US" sz="2800" dirty="0" smtClean="0"/>
              <a:t> or </a:t>
            </a:r>
            <a:r>
              <a:rPr lang="en-US" sz="2800" i="1" dirty="0" smtClean="0"/>
              <a:t>v</a:t>
            </a:r>
            <a:r>
              <a:rPr lang="en-US" sz="2800" dirty="0" smtClean="0"/>
              <a:t>(t) if time varying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533400" y="838200"/>
            <a:ext cx="8229600" cy="5410199"/>
          </a:xfrm>
        </p:spPr>
        <p:txBody>
          <a:bodyPr/>
          <a:lstStyle/>
          <a:p>
            <a:r>
              <a:rPr lang="en-US" sz="2400" dirty="0" smtClean="0"/>
              <a:t>Voltage, or electromotive force (</a:t>
            </a:r>
            <a:r>
              <a:rPr lang="en-US" sz="2400" dirty="0" err="1" smtClean="0"/>
              <a:t>emf</a:t>
            </a:r>
            <a:r>
              <a:rPr lang="en-US" sz="2400" dirty="0" smtClean="0"/>
              <a:t>), or potential difference between two points a and b is the energy needed to move a unit charge from point a to b:</a:t>
            </a:r>
          </a:p>
          <a:p>
            <a:pPr>
              <a:buNone/>
            </a:pPr>
            <a:endParaRPr lang="en-US" sz="2400" dirty="0" smtClean="0"/>
          </a:p>
          <a:p>
            <a:r>
              <a:rPr lang="en-US" sz="2400" dirty="0" smtClean="0"/>
              <a:t>Unit of Voltage: Volt (V)</a:t>
            </a:r>
          </a:p>
          <a:p>
            <a:pPr lvl="1">
              <a:buNone/>
            </a:pPr>
            <a:r>
              <a:rPr lang="en-US" sz="2400" dirty="0" smtClean="0"/>
              <a:t>  1 V = 1 Joules/Coulomb = 1 Newton-meter/Coulomb</a:t>
            </a:r>
          </a:p>
          <a:p>
            <a:pPr lvl="1"/>
            <a:endParaRPr lang="en-US" sz="2400" dirty="0" smtClean="0"/>
          </a:p>
          <a:p>
            <a:r>
              <a:rPr lang="en-US" sz="2400" dirty="0" smtClean="0"/>
              <a:t>Conventions:</a:t>
            </a:r>
          </a:p>
          <a:p>
            <a:pPr lvl="1"/>
            <a:endParaRPr lang="en-US" sz="2400" dirty="0" smtClean="0"/>
          </a:p>
          <a:p>
            <a:endParaRPr lang="en-US" sz="2400" dirty="0" smtClean="0"/>
          </a:p>
        </p:txBody>
      </p:sp>
      <p:graphicFrame>
        <p:nvGraphicFramePr>
          <p:cNvPr id="132100" name="Object 4"/>
          <p:cNvGraphicFramePr>
            <a:graphicFrameLocks noChangeAspect="1"/>
          </p:cNvGraphicFramePr>
          <p:nvPr/>
        </p:nvGraphicFramePr>
        <p:xfrm>
          <a:off x="4694237" y="1638300"/>
          <a:ext cx="2011363" cy="92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42" name="Equation" r:id="rId3" imgW="495000" imgH="355320" progId="Equation.3">
                  <p:embed/>
                </p:oleObj>
              </mc:Choice>
              <mc:Fallback>
                <p:oleObj name="Equation" r:id="rId3" imgW="495000" imgH="35532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4237" y="1638300"/>
                        <a:ext cx="2011363" cy="928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2"/>
          <p:cNvGrpSpPr/>
          <p:nvPr/>
        </p:nvGrpSpPr>
        <p:grpSpPr>
          <a:xfrm>
            <a:off x="1104900" y="4725194"/>
            <a:ext cx="304800" cy="1561306"/>
            <a:chOff x="1485900" y="4687094"/>
            <a:chExt cx="304800" cy="1561306"/>
          </a:xfrm>
        </p:grpSpPr>
        <p:sp>
          <p:nvSpPr>
            <p:cNvPr id="19" name="Rectangle 18"/>
            <p:cNvSpPr/>
            <p:nvPr/>
          </p:nvSpPr>
          <p:spPr>
            <a:xfrm>
              <a:off x="1485900" y="5067300"/>
              <a:ext cx="304800" cy="8001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" name="Straight Connector 19"/>
            <p:cNvCxnSpPr>
              <a:stCxn id="19" idx="0"/>
            </p:cNvCxnSpPr>
            <p:nvPr/>
          </p:nvCxnSpPr>
          <p:spPr>
            <a:xfrm rot="5400000" flipH="1" flipV="1">
              <a:off x="1448594" y="4876800"/>
              <a:ext cx="380206" cy="79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rot="5400000" flipH="1" flipV="1">
              <a:off x="1448594" y="6057106"/>
              <a:ext cx="381000" cy="158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12"/>
          <p:cNvGrpSpPr/>
          <p:nvPr/>
        </p:nvGrpSpPr>
        <p:grpSpPr>
          <a:xfrm>
            <a:off x="2286000" y="4724400"/>
            <a:ext cx="304800" cy="1561306"/>
            <a:chOff x="1485900" y="4687094"/>
            <a:chExt cx="304800" cy="1561306"/>
          </a:xfrm>
        </p:grpSpPr>
        <p:sp>
          <p:nvSpPr>
            <p:cNvPr id="28" name="Rectangle 27"/>
            <p:cNvSpPr/>
            <p:nvPr/>
          </p:nvSpPr>
          <p:spPr>
            <a:xfrm>
              <a:off x="1485900" y="5067300"/>
              <a:ext cx="304800" cy="8001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9" name="Straight Connector 28"/>
            <p:cNvCxnSpPr>
              <a:stCxn id="28" idx="0"/>
            </p:cNvCxnSpPr>
            <p:nvPr/>
          </p:nvCxnSpPr>
          <p:spPr>
            <a:xfrm rot="5400000" flipH="1" flipV="1">
              <a:off x="1448594" y="4876800"/>
              <a:ext cx="380206" cy="79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rot="5400000" flipH="1" flipV="1">
              <a:off x="1448594" y="6057106"/>
              <a:ext cx="381000" cy="158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/>
          <p:cNvSpPr txBox="1"/>
          <p:nvPr/>
        </p:nvSpPr>
        <p:spPr>
          <a:xfrm>
            <a:off x="2286000" y="4278868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2290346" y="6336268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762000" y="4800600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+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762000" y="5791200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-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647700" y="5269468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err="1" smtClean="0"/>
              <a:t>v</a:t>
            </a:r>
            <a:r>
              <a:rPr lang="en-US" b="1" i="1" baseline="-25000" dirty="0" err="1" smtClean="0"/>
              <a:t>o</a:t>
            </a:r>
            <a:endParaRPr lang="en-US" b="1" i="1" baseline="-25000" dirty="0"/>
          </a:p>
        </p:txBody>
      </p:sp>
      <p:grpSp>
        <p:nvGrpSpPr>
          <p:cNvPr id="4" name="Group 51"/>
          <p:cNvGrpSpPr/>
          <p:nvPr/>
        </p:nvGrpSpPr>
        <p:grpSpPr>
          <a:xfrm>
            <a:off x="1905000" y="4800600"/>
            <a:ext cx="319318" cy="1359932"/>
            <a:chOff x="1905000" y="4800600"/>
            <a:chExt cx="319318" cy="1359932"/>
          </a:xfrm>
        </p:grpSpPr>
        <p:sp>
          <p:nvSpPr>
            <p:cNvPr id="38" name="TextBox 37"/>
            <p:cNvSpPr txBox="1"/>
            <p:nvPr/>
          </p:nvSpPr>
          <p:spPr>
            <a:xfrm>
              <a:off x="1905000" y="4800600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+</a:t>
              </a:r>
              <a:endParaRPr lang="en-US" dirty="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905000" y="5791200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-</a:t>
              </a:r>
              <a:endParaRPr lang="en-US" dirty="0"/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1790700" y="5269468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err="1" smtClean="0"/>
              <a:t>v</a:t>
            </a:r>
            <a:r>
              <a:rPr lang="en-US" b="1" i="1" baseline="-25000" dirty="0" err="1" smtClean="0"/>
              <a:t>AB</a:t>
            </a:r>
            <a:endParaRPr lang="en-US" b="1" i="1" baseline="-25000" dirty="0"/>
          </a:p>
        </p:txBody>
      </p:sp>
      <p:sp>
        <p:nvSpPr>
          <p:cNvPr id="41" name="Oval 40"/>
          <p:cNvSpPr/>
          <p:nvPr/>
        </p:nvSpPr>
        <p:spPr>
          <a:xfrm>
            <a:off x="1219200" y="464820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1219200" y="628650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2400300" y="464820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2400300" y="628650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50"/>
          <p:cNvGrpSpPr/>
          <p:nvPr/>
        </p:nvGrpSpPr>
        <p:grpSpPr>
          <a:xfrm>
            <a:off x="3848100" y="4648200"/>
            <a:ext cx="304800" cy="1676400"/>
            <a:chOff x="3467100" y="4267200"/>
            <a:chExt cx="304800" cy="1676400"/>
          </a:xfrm>
        </p:grpSpPr>
        <p:grpSp>
          <p:nvGrpSpPr>
            <p:cNvPr id="6" name="Group 12"/>
            <p:cNvGrpSpPr/>
            <p:nvPr/>
          </p:nvGrpSpPr>
          <p:grpSpPr>
            <a:xfrm>
              <a:off x="3467100" y="4343400"/>
              <a:ext cx="304800" cy="1561306"/>
              <a:chOff x="1485900" y="4687094"/>
              <a:chExt cx="304800" cy="1561306"/>
            </a:xfrm>
          </p:grpSpPr>
          <p:sp>
            <p:nvSpPr>
              <p:cNvPr id="24" name="Rectangle 23"/>
              <p:cNvSpPr/>
              <p:nvPr/>
            </p:nvSpPr>
            <p:spPr>
              <a:xfrm>
                <a:off x="1485900" y="5067300"/>
                <a:ext cx="304800" cy="8001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5" name="Straight Connector 24"/>
              <p:cNvCxnSpPr>
                <a:stCxn id="24" idx="0"/>
              </p:cNvCxnSpPr>
              <p:nvPr/>
            </p:nvCxnSpPr>
            <p:spPr>
              <a:xfrm rot="5400000" flipH="1" flipV="1">
                <a:off x="1448594" y="4876800"/>
                <a:ext cx="380206" cy="79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 rot="5400000" flipH="1" flipV="1">
                <a:off x="1448594" y="6057106"/>
                <a:ext cx="381000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9" name="Oval 48"/>
            <p:cNvSpPr/>
            <p:nvPr/>
          </p:nvSpPr>
          <p:spPr>
            <a:xfrm>
              <a:off x="3581400" y="42672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/>
            <p:cNvSpPr/>
            <p:nvPr/>
          </p:nvSpPr>
          <p:spPr>
            <a:xfrm>
              <a:off x="3581400" y="58674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52"/>
          <p:cNvGrpSpPr/>
          <p:nvPr/>
        </p:nvGrpSpPr>
        <p:grpSpPr>
          <a:xfrm>
            <a:off x="3505200" y="4800600"/>
            <a:ext cx="319318" cy="1359932"/>
            <a:chOff x="1905000" y="4800600"/>
            <a:chExt cx="319318" cy="1359932"/>
          </a:xfrm>
        </p:grpSpPr>
        <p:sp>
          <p:nvSpPr>
            <p:cNvPr id="54" name="TextBox 53"/>
            <p:cNvSpPr txBox="1"/>
            <p:nvPr/>
          </p:nvSpPr>
          <p:spPr>
            <a:xfrm>
              <a:off x="1905000" y="4800600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+</a:t>
              </a:r>
              <a:endParaRPr lang="en-US" dirty="0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1905000" y="5791200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-</a:t>
              </a:r>
              <a:endParaRPr lang="en-US" dirty="0"/>
            </a:p>
          </p:txBody>
        </p:sp>
      </p:grpSp>
      <p:cxnSp>
        <p:nvCxnSpPr>
          <p:cNvPr id="57" name="Straight Arrow Connector 56"/>
          <p:cNvCxnSpPr/>
          <p:nvPr/>
        </p:nvCxnSpPr>
        <p:spPr>
          <a:xfrm rot="5400000">
            <a:off x="4056856" y="4857750"/>
            <a:ext cx="419894" cy="79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4343400" y="4686300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/>
              <a:t>I</a:t>
            </a:r>
            <a:endParaRPr lang="en-US" b="1" i="1" baseline="-25000" dirty="0"/>
          </a:p>
        </p:txBody>
      </p:sp>
      <p:sp>
        <p:nvSpPr>
          <p:cNvPr id="61" name="TextBox 60"/>
          <p:cNvSpPr txBox="1"/>
          <p:nvPr/>
        </p:nvSpPr>
        <p:spPr>
          <a:xfrm>
            <a:off x="3467100" y="5295900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/>
              <a:t>V</a:t>
            </a:r>
            <a:endParaRPr lang="en-US" b="1" i="1" baseline="-25000" dirty="0"/>
          </a:p>
        </p:txBody>
      </p:sp>
      <p:grpSp>
        <p:nvGrpSpPr>
          <p:cNvPr id="8" name="Group 61"/>
          <p:cNvGrpSpPr/>
          <p:nvPr/>
        </p:nvGrpSpPr>
        <p:grpSpPr>
          <a:xfrm flipV="1">
            <a:off x="5105400" y="4648200"/>
            <a:ext cx="304800" cy="1676400"/>
            <a:chOff x="3467100" y="4267200"/>
            <a:chExt cx="304800" cy="1676400"/>
          </a:xfrm>
        </p:grpSpPr>
        <p:grpSp>
          <p:nvGrpSpPr>
            <p:cNvPr id="9" name="Group 12"/>
            <p:cNvGrpSpPr/>
            <p:nvPr/>
          </p:nvGrpSpPr>
          <p:grpSpPr>
            <a:xfrm>
              <a:off x="3467100" y="4343400"/>
              <a:ext cx="304800" cy="1561306"/>
              <a:chOff x="1485900" y="4687094"/>
              <a:chExt cx="304800" cy="1561306"/>
            </a:xfrm>
          </p:grpSpPr>
          <p:sp>
            <p:nvSpPr>
              <p:cNvPr id="66" name="Rectangle 65"/>
              <p:cNvSpPr/>
              <p:nvPr/>
            </p:nvSpPr>
            <p:spPr>
              <a:xfrm>
                <a:off x="1485900" y="5067300"/>
                <a:ext cx="304800" cy="8001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7" name="Straight Connector 66"/>
              <p:cNvCxnSpPr>
                <a:stCxn id="66" idx="0"/>
              </p:cNvCxnSpPr>
              <p:nvPr/>
            </p:nvCxnSpPr>
            <p:spPr>
              <a:xfrm rot="5400000" flipH="1" flipV="1">
                <a:off x="1448594" y="4876800"/>
                <a:ext cx="380206" cy="79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/>
            </p:nvCxnSpPr>
            <p:spPr>
              <a:xfrm rot="5400000" flipH="1" flipV="1">
                <a:off x="1448594" y="6057106"/>
                <a:ext cx="381000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4" name="Oval 63"/>
            <p:cNvSpPr/>
            <p:nvPr/>
          </p:nvSpPr>
          <p:spPr>
            <a:xfrm>
              <a:off x="3581400" y="42672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64"/>
            <p:cNvSpPr/>
            <p:nvPr/>
          </p:nvSpPr>
          <p:spPr>
            <a:xfrm>
              <a:off x="3581400" y="58674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68"/>
          <p:cNvGrpSpPr/>
          <p:nvPr/>
        </p:nvGrpSpPr>
        <p:grpSpPr>
          <a:xfrm flipV="1">
            <a:off x="4762500" y="4800600"/>
            <a:ext cx="319318" cy="1359932"/>
            <a:chOff x="1905000" y="4800600"/>
            <a:chExt cx="319318" cy="1359932"/>
          </a:xfrm>
        </p:grpSpPr>
        <p:sp>
          <p:nvSpPr>
            <p:cNvPr id="70" name="TextBox 69"/>
            <p:cNvSpPr txBox="1"/>
            <p:nvPr/>
          </p:nvSpPr>
          <p:spPr>
            <a:xfrm>
              <a:off x="1905000" y="4800600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+</a:t>
              </a:r>
              <a:endParaRPr lang="en-US" dirty="0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1905000" y="5791200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-</a:t>
              </a:r>
              <a:endParaRPr lang="en-US" dirty="0"/>
            </a:p>
          </p:txBody>
        </p:sp>
      </p:grpSp>
      <p:cxnSp>
        <p:nvCxnSpPr>
          <p:cNvPr id="72" name="Straight Arrow Connector 71"/>
          <p:cNvCxnSpPr/>
          <p:nvPr/>
        </p:nvCxnSpPr>
        <p:spPr>
          <a:xfrm rot="16200000" flipV="1">
            <a:off x="5314156" y="4857750"/>
            <a:ext cx="419894" cy="79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 flipV="1">
            <a:off x="5600700" y="4686300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/>
              <a:t>I</a:t>
            </a:r>
            <a:endParaRPr lang="en-US" b="1" i="1" baseline="-25000" dirty="0"/>
          </a:p>
        </p:txBody>
      </p:sp>
      <p:sp>
        <p:nvSpPr>
          <p:cNvPr id="74" name="TextBox 73"/>
          <p:cNvSpPr txBox="1"/>
          <p:nvPr/>
        </p:nvSpPr>
        <p:spPr>
          <a:xfrm>
            <a:off x="4724400" y="5295900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/>
              <a:t>V</a:t>
            </a:r>
            <a:endParaRPr lang="en-US" b="1" i="1" baseline="-25000" dirty="0"/>
          </a:p>
        </p:txBody>
      </p:sp>
      <p:grpSp>
        <p:nvGrpSpPr>
          <p:cNvPr id="12" name="Group 74"/>
          <p:cNvGrpSpPr/>
          <p:nvPr/>
        </p:nvGrpSpPr>
        <p:grpSpPr>
          <a:xfrm>
            <a:off x="6799714" y="4648201"/>
            <a:ext cx="304800" cy="1676400"/>
            <a:chOff x="3467100" y="4267200"/>
            <a:chExt cx="304800" cy="1676400"/>
          </a:xfrm>
        </p:grpSpPr>
        <p:grpSp>
          <p:nvGrpSpPr>
            <p:cNvPr id="13" name="Group 12"/>
            <p:cNvGrpSpPr/>
            <p:nvPr/>
          </p:nvGrpSpPr>
          <p:grpSpPr>
            <a:xfrm>
              <a:off x="3467100" y="4343400"/>
              <a:ext cx="304800" cy="1561306"/>
              <a:chOff x="1485900" y="4687094"/>
              <a:chExt cx="304800" cy="1561306"/>
            </a:xfrm>
          </p:grpSpPr>
          <p:sp>
            <p:nvSpPr>
              <p:cNvPr id="79" name="Rectangle 78"/>
              <p:cNvSpPr/>
              <p:nvPr/>
            </p:nvSpPr>
            <p:spPr>
              <a:xfrm>
                <a:off x="1485900" y="5067300"/>
                <a:ext cx="304800" cy="8001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0" name="Straight Connector 79"/>
              <p:cNvCxnSpPr>
                <a:stCxn id="79" idx="0"/>
              </p:cNvCxnSpPr>
              <p:nvPr/>
            </p:nvCxnSpPr>
            <p:spPr>
              <a:xfrm rot="5400000" flipH="1" flipV="1">
                <a:off x="1448594" y="4876800"/>
                <a:ext cx="380206" cy="79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/>
              <p:cNvCxnSpPr/>
              <p:nvPr/>
            </p:nvCxnSpPr>
            <p:spPr>
              <a:xfrm rot="5400000" flipH="1" flipV="1">
                <a:off x="1448594" y="6057106"/>
                <a:ext cx="381000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7" name="Oval 76"/>
            <p:cNvSpPr/>
            <p:nvPr/>
          </p:nvSpPr>
          <p:spPr>
            <a:xfrm>
              <a:off x="3581400" y="42672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Oval 77"/>
            <p:cNvSpPr/>
            <p:nvPr/>
          </p:nvSpPr>
          <p:spPr>
            <a:xfrm>
              <a:off x="3581400" y="58674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81"/>
          <p:cNvGrpSpPr/>
          <p:nvPr/>
        </p:nvGrpSpPr>
        <p:grpSpPr>
          <a:xfrm>
            <a:off x="6456814" y="4800601"/>
            <a:ext cx="319318" cy="1359932"/>
            <a:chOff x="1905000" y="4800600"/>
            <a:chExt cx="319318" cy="1359932"/>
          </a:xfrm>
        </p:grpSpPr>
        <p:sp>
          <p:nvSpPr>
            <p:cNvPr id="83" name="TextBox 82"/>
            <p:cNvSpPr txBox="1"/>
            <p:nvPr/>
          </p:nvSpPr>
          <p:spPr>
            <a:xfrm>
              <a:off x="1905000" y="4800600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+</a:t>
              </a:r>
              <a:endParaRPr lang="en-US" dirty="0"/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1905000" y="5791200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-</a:t>
              </a:r>
              <a:endParaRPr lang="en-US" dirty="0"/>
            </a:p>
          </p:txBody>
        </p:sp>
      </p:grpSp>
      <p:cxnSp>
        <p:nvCxnSpPr>
          <p:cNvPr id="85" name="Straight Arrow Connector 84"/>
          <p:cNvCxnSpPr/>
          <p:nvPr/>
        </p:nvCxnSpPr>
        <p:spPr>
          <a:xfrm rot="16200000" flipV="1">
            <a:off x="7008470" y="4857751"/>
            <a:ext cx="419894" cy="79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7295014" y="4686301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/>
              <a:t>I</a:t>
            </a:r>
            <a:endParaRPr lang="en-US" b="1" i="1" baseline="-25000" dirty="0"/>
          </a:p>
        </p:txBody>
      </p:sp>
      <p:sp>
        <p:nvSpPr>
          <p:cNvPr id="87" name="TextBox 86"/>
          <p:cNvSpPr txBox="1"/>
          <p:nvPr/>
        </p:nvSpPr>
        <p:spPr>
          <a:xfrm>
            <a:off x="6418714" y="5295901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/>
              <a:t>V</a:t>
            </a:r>
            <a:endParaRPr lang="en-US" b="1" i="1" baseline="-25000" dirty="0"/>
          </a:p>
        </p:txBody>
      </p:sp>
      <p:grpSp>
        <p:nvGrpSpPr>
          <p:cNvPr id="15" name="Group 87"/>
          <p:cNvGrpSpPr/>
          <p:nvPr/>
        </p:nvGrpSpPr>
        <p:grpSpPr>
          <a:xfrm flipV="1">
            <a:off x="8057014" y="4648201"/>
            <a:ext cx="304800" cy="1676400"/>
            <a:chOff x="3467100" y="4267200"/>
            <a:chExt cx="304800" cy="1676400"/>
          </a:xfrm>
        </p:grpSpPr>
        <p:grpSp>
          <p:nvGrpSpPr>
            <p:cNvPr id="16" name="Group 12"/>
            <p:cNvGrpSpPr/>
            <p:nvPr/>
          </p:nvGrpSpPr>
          <p:grpSpPr>
            <a:xfrm>
              <a:off x="3467100" y="4343400"/>
              <a:ext cx="304800" cy="1561306"/>
              <a:chOff x="1485900" y="4687094"/>
              <a:chExt cx="304800" cy="1561306"/>
            </a:xfrm>
          </p:grpSpPr>
          <p:sp>
            <p:nvSpPr>
              <p:cNvPr id="92" name="Rectangle 91"/>
              <p:cNvSpPr/>
              <p:nvPr/>
            </p:nvSpPr>
            <p:spPr>
              <a:xfrm>
                <a:off x="1485900" y="5067300"/>
                <a:ext cx="304800" cy="8001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3" name="Straight Connector 92"/>
              <p:cNvCxnSpPr>
                <a:stCxn id="92" idx="0"/>
              </p:cNvCxnSpPr>
              <p:nvPr/>
            </p:nvCxnSpPr>
            <p:spPr>
              <a:xfrm rot="5400000" flipH="1" flipV="1">
                <a:off x="1448594" y="4876800"/>
                <a:ext cx="380206" cy="79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/>
              <p:cNvCxnSpPr/>
              <p:nvPr/>
            </p:nvCxnSpPr>
            <p:spPr>
              <a:xfrm rot="5400000" flipH="1" flipV="1">
                <a:off x="1448594" y="6057106"/>
                <a:ext cx="381000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0" name="Oval 89"/>
            <p:cNvSpPr/>
            <p:nvPr/>
          </p:nvSpPr>
          <p:spPr>
            <a:xfrm>
              <a:off x="3581400" y="42672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Oval 90"/>
            <p:cNvSpPr/>
            <p:nvPr/>
          </p:nvSpPr>
          <p:spPr>
            <a:xfrm>
              <a:off x="3581400" y="58674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94"/>
          <p:cNvGrpSpPr/>
          <p:nvPr/>
        </p:nvGrpSpPr>
        <p:grpSpPr>
          <a:xfrm flipV="1">
            <a:off x="7714114" y="4800601"/>
            <a:ext cx="319318" cy="1359932"/>
            <a:chOff x="1905000" y="4800600"/>
            <a:chExt cx="319318" cy="1359932"/>
          </a:xfrm>
        </p:grpSpPr>
        <p:sp>
          <p:nvSpPr>
            <p:cNvPr id="96" name="TextBox 95"/>
            <p:cNvSpPr txBox="1"/>
            <p:nvPr/>
          </p:nvSpPr>
          <p:spPr>
            <a:xfrm>
              <a:off x="1905000" y="4800600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+</a:t>
              </a:r>
              <a:endParaRPr lang="en-US" dirty="0"/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1905000" y="5791200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-</a:t>
              </a:r>
              <a:endParaRPr lang="en-US" dirty="0"/>
            </a:p>
          </p:txBody>
        </p:sp>
      </p:grpSp>
      <p:cxnSp>
        <p:nvCxnSpPr>
          <p:cNvPr id="98" name="Straight Arrow Connector 97"/>
          <p:cNvCxnSpPr/>
          <p:nvPr/>
        </p:nvCxnSpPr>
        <p:spPr>
          <a:xfrm rot="5400000">
            <a:off x="8265770" y="4857751"/>
            <a:ext cx="419894" cy="79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 flipV="1">
            <a:off x="8552314" y="4686301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/>
              <a:t>I</a:t>
            </a:r>
            <a:endParaRPr lang="en-US" b="1" i="1" baseline="-25000" dirty="0"/>
          </a:p>
        </p:txBody>
      </p:sp>
      <p:sp>
        <p:nvSpPr>
          <p:cNvPr id="100" name="TextBox 99"/>
          <p:cNvSpPr txBox="1"/>
          <p:nvPr/>
        </p:nvSpPr>
        <p:spPr>
          <a:xfrm>
            <a:off x="7676014" y="5295901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/>
              <a:t>V</a:t>
            </a:r>
            <a:endParaRPr lang="en-US" b="1" i="1" baseline="-25000" dirty="0"/>
          </a:p>
        </p:txBody>
      </p:sp>
      <p:sp>
        <p:nvSpPr>
          <p:cNvPr id="102" name="TextBox 101"/>
          <p:cNvSpPr txBox="1"/>
          <p:nvPr/>
        </p:nvSpPr>
        <p:spPr>
          <a:xfrm>
            <a:off x="3543300" y="3848100"/>
            <a:ext cx="24032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Energy Consumed by</a:t>
            </a:r>
          </a:p>
          <a:p>
            <a:r>
              <a:rPr lang="en-US" dirty="0" smtClean="0"/>
              <a:t>the Circuit Element:</a:t>
            </a:r>
            <a:endParaRPr lang="en-US" dirty="0"/>
          </a:p>
        </p:txBody>
      </p:sp>
      <p:sp>
        <p:nvSpPr>
          <p:cNvPr id="103" name="TextBox 102"/>
          <p:cNvSpPr txBox="1"/>
          <p:nvPr/>
        </p:nvSpPr>
        <p:spPr>
          <a:xfrm>
            <a:off x="6435978" y="3848100"/>
            <a:ext cx="22621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Energy Delivered by</a:t>
            </a:r>
          </a:p>
          <a:p>
            <a:r>
              <a:rPr lang="en-US" dirty="0" smtClean="0"/>
              <a:t>the Circuit Element:</a:t>
            </a:r>
            <a:endParaRPr lang="en-US" dirty="0"/>
          </a:p>
        </p:txBody>
      </p:sp>
      <p:sp>
        <p:nvSpPr>
          <p:cNvPr id="82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6667500" y="6454776"/>
            <a:ext cx="2438400" cy="365125"/>
          </a:xfrm>
        </p:spPr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  <p:sp>
        <p:nvSpPr>
          <p:cNvPr id="88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457200" y="114301"/>
            <a:ext cx="8229600" cy="609599"/>
          </a:xfrm>
        </p:spPr>
        <p:txBody>
          <a:bodyPr/>
          <a:lstStyle/>
          <a:p>
            <a:r>
              <a:rPr lang="en-US" sz="2800" dirty="0" smtClean="0"/>
              <a:t>Passive Sign Convention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647700" y="723901"/>
            <a:ext cx="7924800" cy="1866900"/>
          </a:xfrm>
        </p:spPr>
        <p:txBody>
          <a:bodyPr/>
          <a:lstStyle/>
          <a:p>
            <a:pPr algn="just">
              <a:buNone/>
            </a:pPr>
            <a:r>
              <a:rPr lang="en-US" sz="2400" dirty="0" smtClean="0"/>
              <a:t>When the current through an element is in the direction of the reference voltage drop across the element, a positive sign should be used in expressions relating the voltage to the current:</a:t>
            </a:r>
          </a:p>
          <a:p>
            <a:pPr lvl="1">
              <a:buNone/>
            </a:pPr>
            <a:r>
              <a:rPr lang="en-US" dirty="0" smtClean="0"/>
              <a:t>        v = </a:t>
            </a:r>
            <a:r>
              <a:rPr lang="en-US" i="1" dirty="0" smtClean="0">
                <a:solidFill>
                  <a:srgbClr val="C00000"/>
                </a:solidFill>
              </a:rPr>
              <a:t>+</a:t>
            </a:r>
            <a:r>
              <a:rPr lang="en-US" dirty="0" smtClean="0"/>
              <a:t>f(</a:t>
            </a:r>
            <a:r>
              <a:rPr lang="en-US" dirty="0" err="1" smtClean="0"/>
              <a:t>i</a:t>
            </a:r>
            <a:r>
              <a:rPr lang="en-US" dirty="0" smtClean="0"/>
              <a:t>)</a:t>
            </a:r>
            <a:endParaRPr lang="en-US" sz="2400" dirty="0" smtClean="0"/>
          </a:p>
        </p:txBody>
      </p:sp>
      <p:sp>
        <p:nvSpPr>
          <p:cNvPr id="82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6667500" y="6454776"/>
            <a:ext cx="2438400" cy="365125"/>
          </a:xfrm>
        </p:spPr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  <p:sp>
        <p:nvSpPr>
          <p:cNvPr id="88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104900" y="3009900"/>
            <a:ext cx="2628900" cy="28575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50"/>
          <p:cNvGrpSpPr/>
          <p:nvPr/>
        </p:nvGrpSpPr>
        <p:grpSpPr>
          <a:xfrm>
            <a:off x="1562100" y="3924300"/>
            <a:ext cx="304800" cy="1676400"/>
            <a:chOff x="3467100" y="4267200"/>
            <a:chExt cx="304800" cy="1676400"/>
          </a:xfrm>
        </p:grpSpPr>
        <p:grpSp>
          <p:nvGrpSpPr>
            <p:cNvPr id="10" name="Group 12"/>
            <p:cNvGrpSpPr/>
            <p:nvPr/>
          </p:nvGrpSpPr>
          <p:grpSpPr>
            <a:xfrm>
              <a:off x="3467100" y="4343400"/>
              <a:ext cx="304800" cy="1561306"/>
              <a:chOff x="1485900" y="4687094"/>
              <a:chExt cx="304800" cy="1561306"/>
            </a:xfrm>
          </p:grpSpPr>
          <p:sp>
            <p:nvSpPr>
              <p:cNvPr id="14" name="Rectangle 13"/>
              <p:cNvSpPr/>
              <p:nvPr/>
            </p:nvSpPr>
            <p:spPr>
              <a:xfrm>
                <a:off x="1485900" y="5067300"/>
                <a:ext cx="304800" cy="8001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5" name="Straight Connector 14"/>
              <p:cNvCxnSpPr>
                <a:stCxn id="14" idx="0"/>
              </p:cNvCxnSpPr>
              <p:nvPr/>
            </p:nvCxnSpPr>
            <p:spPr>
              <a:xfrm rot="5400000" flipH="1" flipV="1">
                <a:off x="1448594" y="4876800"/>
                <a:ext cx="380206" cy="79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 rot="5400000" flipH="1" flipV="1">
                <a:off x="1448594" y="6057106"/>
                <a:ext cx="381000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Oval 11"/>
            <p:cNvSpPr/>
            <p:nvPr/>
          </p:nvSpPr>
          <p:spPr>
            <a:xfrm>
              <a:off x="3581400" y="42672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3581400" y="58674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52"/>
          <p:cNvGrpSpPr/>
          <p:nvPr/>
        </p:nvGrpSpPr>
        <p:grpSpPr>
          <a:xfrm>
            <a:off x="1219200" y="4076700"/>
            <a:ext cx="319318" cy="1359932"/>
            <a:chOff x="1905000" y="4800600"/>
            <a:chExt cx="319318" cy="1359932"/>
          </a:xfrm>
        </p:grpSpPr>
        <p:sp>
          <p:nvSpPr>
            <p:cNvPr id="18" name="TextBox 17"/>
            <p:cNvSpPr txBox="1"/>
            <p:nvPr/>
          </p:nvSpPr>
          <p:spPr>
            <a:xfrm>
              <a:off x="1905000" y="4800600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+</a:t>
              </a:r>
              <a:endParaRPr lang="en-US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905000" y="5791200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-</a:t>
              </a:r>
              <a:endParaRPr lang="en-US" dirty="0"/>
            </a:p>
          </p:txBody>
        </p:sp>
      </p:grpSp>
      <p:cxnSp>
        <p:nvCxnSpPr>
          <p:cNvPr id="20" name="Straight Arrow Connector 19"/>
          <p:cNvCxnSpPr/>
          <p:nvPr/>
        </p:nvCxnSpPr>
        <p:spPr>
          <a:xfrm rot="5400000">
            <a:off x="1770856" y="4133850"/>
            <a:ext cx="419894" cy="79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057400" y="3962400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/>
              <a:t>I</a:t>
            </a:r>
            <a:endParaRPr lang="en-US" b="1" i="1" baseline="-25000" dirty="0"/>
          </a:p>
        </p:txBody>
      </p:sp>
      <p:sp>
        <p:nvSpPr>
          <p:cNvPr id="22" name="TextBox 21"/>
          <p:cNvSpPr txBox="1"/>
          <p:nvPr/>
        </p:nvSpPr>
        <p:spPr>
          <a:xfrm>
            <a:off x="1181100" y="4572000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/>
              <a:t>V</a:t>
            </a:r>
            <a:endParaRPr lang="en-US" b="1" i="1" baseline="-25000" dirty="0"/>
          </a:p>
        </p:txBody>
      </p:sp>
      <p:grpSp>
        <p:nvGrpSpPr>
          <p:cNvPr id="23" name="Group 61"/>
          <p:cNvGrpSpPr/>
          <p:nvPr/>
        </p:nvGrpSpPr>
        <p:grpSpPr>
          <a:xfrm flipV="1">
            <a:off x="2819400" y="3924300"/>
            <a:ext cx="304800" cy="1676400"/>
            <a:chOff x="3467100" y="4267200"/>
            <a:chExt cx="304800" cy="1676400"/>
          </a:xfrm>
        </p:grpSpPr>
        <p:grpSp>
          <p:nvGrpSpPr>
            <p:cNvPr id="24" name="Group 12"/>
            <p:cNvGrpSpPr/>
            <p:nvPr/>
          </p:nvGrpSpPr>
          <p:grpSpPr>
            <a:xfrm>
              <a:off x="3467100" y="4343400"/>
              <a:ext cx="304800" cy="1561306"/>
              <a:chOff x="1485900" y="4687094"/>
              <a:chExt cx="304800" cy="1561306"/>
            </a:xfrm>
          </p:grpSpPr>
          <p:sp>
            <p:nvSpPr>
              <p:cNvPr id="27" name="Rectangle 26"/>
              <p:cNvSpPr/>
              <p:nvPr/>
            </p:nvSpPr>
            <p:spPr>
              <a:xfrm>
                <a:off x="1485900" y="5067300"/>
                <a:ext cx="304800" cy="8001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8" name="Straight Connector 27"/>
              <p:cNvCxnSpPr>
                <a:stCxn id="27" idx="0"/>
              </p:cNvCxnSpPr>
              <p:nvPr/>
            </p:nvCxnSpPr>
            <p:spPr>
              <a:xfrm rot="5400000" flipH="1" flipV="1">
                <a:off x="1448594" y="4876800"/>
                <a:ext cx="380206" cy="79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>
              <a:xfrm rot="5400000" flipH="1" flipV="1">
                <a:off x="1448594" y="6057106"/>
                <a:ext cx="381000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5" name="Oval 24"/>
            <p:cNvSpPr/>
            <p:nvPr/>
          </p:nvSpPr>
          <p:spPr>
            <a:xfrm>
              <a:off x="3581400" y="42672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/>
            <p:cNvSpPr/>
            <p:nvPr/>
          </p:nvSpPr>
          <p:spPr>
            <a:xfrm>
              <a:off x="3581400" y="58674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68"/>
          <p:cNvGrpSpPr/>
          <p:nvPr/>
        </p:nvGrpSpPr>
        <p:grpSpPr>
          <a:xfrm flipV="1">
            <a:off x="2476500" y="4076700"/>
            <a:ext cx="319318" cy="1359932"/>
            <a:chOff x="1905000" y="4800600"/>
            <a:chExt cx="319318" cy="1359932"/>
          </a:xfrm>
        </p:grpSpPr>
        <p:sp>
          <p:nvSpPr>
            <p:cNvPr id="31" name="TextBox 30"/>
            <p:cNvSpPr txBox="1"/>
            <p:nvPr/>
          </p:nvSpPr>
          <p:spPr>
            <a:xfrm>
              <a:off x="1905000" y="4800600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+</a:t>
              </a:r>
              <a:endParaRPr lang="en-US" dirty="0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905000" y="5791200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-</a:t>
              </a:r>
              <a:endParaRPr lang="en-US" dirty="0"/>
            </a:p>
          </p:txBody>
        </p:sp>
      </p:grpSp>
      <p:cxnSp>
        <p:nvCxnSpPr>
          <p:cNvPr id="33" name="Straight Arrow Connector 32"/>
          <p:cNvCxnSpPr/>
          <p:nvPr/>
        </p:nvCxnSpPr>
        <p:spPr>
          <a:xfrm rot="16200000" flipV="1">
            <a:off x="3028156" y="4133850"/>
            <a:ext cx="419894" cy="79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 flipV="1">
            <a:off x="3314700" y="3962400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/>
              <a:t>I</a:t>
            </a:r>
            <a:endParaRPr lang="en-US" b="1" i="1" baseline="-25000" dirty="0"/>
          </a:p>
        </p:txBody>
      </p:sp>
      <p:sp>
        <p:nvSpPr>
          <p:cNvPr id="35" name="TextBox 34"/>
          <p:cNvSpPr txBox="1"/>
          <p:nvPr/>
        </p:nvSpPr>
        <p:spPr>
          <a:xfrm>
            <a:off x="2438400" y="4572000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/>
              <a:t>V</a:t>
            </a:r>
            <a:endParaRPr lang="en-US" b="1" i="1" baseline="-25000" dirty="0"/>
          </a:p>
        </p:txBody>
      </p:sp>
      <p:sp>
        <p:nvSpPr>
          <p:cNvPr id="36" name="TextBox 35"/>
          <p:cNvSpPr txBox="1"/>
          <p:nvPr/>
        </p:nvSpPr>
        <p:spPr>
          <a:xfrm>
            <a:off x="1257300" y="3124200"/>
            <a:ext cx="24032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Energy Consumed by</a:t>
            </a:r>
          </a:p>
          <a:p>
            <a:r>
              <a:rPr lang="en-US" dirty="0" smtClean="0"/>
              <a:t>the Circuit Element: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457200" y="114301"/>
            <a:ext cx="8229600" cy="609599"/>
          </a:xfrm>
        </p:spPr>
        <p:txBody>
          <a:bodyPr/>
          <a:lstStyle/>
          <a:p>
            <a:r>
              <a:rPr lang="en-US" sz="2800" dirty="0" smtClean="0"/>
              <a:t>Passive Sign Convention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647700" y="723901"/>
            <a:ext cx="7924800" cy="1866900"/>
          </a:xfrm>
        </p:spPr>
        <p:txBody>
          <a:bodyPr/>
          <a:lstStyle/>
          <a:p>
            <a:pPr algn="just">
              <a:buNone/>
            </a:pPr>
            <a:r>
              <a:rPr lang="en-US" sz="2400" dirty="0" smtClean="0"/>
              <a:t>When the current through an element is in the direction of the reference voltage drop across the element, a positive sign should be used in expressions relating the voltage to the current:				vice versa also true:</a:t>
            </a:r>
          </a:p>
          <a:p>
            <a:pPr lvl="1">
              <a:buNone/>
            </a:pPr>
            <a:r>
              <a:rPr lang="en-US" dirty="0" smtClean="0"/>
              <a:t>        v = </a:t>
            </a:r>
            <a:r>
              <a:rPr lang="en-US" i="1" dirty="0" smtClean="0">
                <a:solidFill>
                  <a:srgbClr val="C00000"/>
                </a:solidFill>
              </a:rPr>
              <a:t>+</a:t>
            </a:r>
            <a:r>
              <a:rPr lang="en-US" dirty="0" smtClean="0"/>
              <a:t>f(</a:t>
            </a:r>
            <a:r>
              <a:rPr lang="en-US" dirty="0" err="1" smtClean="0"/>
              <a:t>i</a:t>
            </a:r>
            <a:r>
              <a:rPr lang="en-US" dirty="0" smtClean="0"/>
              <a:t>)                                       v = </a:t>
            </a:r>
            <a:r>
              <a:rPr lang="en-US" i="1" dirty="0" smtClean="0">
                <a:solidFill>
                  <a:srgbClr val="C00000"/>
                </a:solidFill>
              </a:rPr>
              <a:t>-</a:t>
            </a:r>
            <a:r>
              <a:rPr lang="en-US" dirty="0" smtClean="0"/>
              <a:t>f(</a:t>
            </a:r>
            <a:r>
              <a:rPr lang="en-US" dirty="0" err="1" smtClean="0"/>
              <a:t>i</a:t>
            </a:r>
            <a:r>
              <a:rPr lang="en-US" dirty="0" smtClean="0"/>
              <a:t>)</a:t>
            </a:r>
          </a:p>
          <a:p>
            <a:endParaRPr lang="en-US" sz="2400" dirty="0" smtClean="0"/>
          </a:p>
        </p:txBody>
      </p:sp>
      <p:sp>
        <p:nvSpPr>
          <p:cNvPr id="82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6667500" y="6454776"/>
            <a:ext cx="2438400" cy="365125"/>
          </a:xfrm>
        </p:spPr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  <p:sp>
        <p:nvSpPr>
          <p:cNvPr id="88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1104900" y="3009900"/>
            <a:ext cx="2628900" cy="28575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50"/>
          <p:cNvGrpSpPr/>
          <p:nvPr/>
        </p:nvGrpSpPr>
        <p:grpSpPr>
          <a:xfrm>
            <a:off x="1562100" y="3924300"/>
            <a:ext cx="304800" cy="1676400"/>
            <a:chOff x="3467100" y="4267200"/>
            <a:chExt cx="304800" cy="1676400"/>
          </a:xfrm>
        </p:grpSpPr>
        <p:grpSp>
          <p:nvGrpSpPr>
            <p:cNvPr id="39" name="Group 12"/>
            <p:cNvGrpSpPr/>
            <p:nvPr/>
          </p:nvGrpSpPr>
          <p:grpSpPr>
            <a:xfrm>
              <a:off x="3467100" y="4343400"/>
              <a:ext cx="304800" cy="1561306"/>
              <a:chOff x="1485900" y="4687094"/>
              <a:chExt cx="304800" cy="1561306"/>
            </a:xfrm>
          </p:grpSpPr>
          <p:sp>
            <p:nvSpPr>
              <p:cNvPr id="42" name="Rectangle 41"/>
              <p:cNvSpPr/>
              <p:nvPr/>
            </p:nvSpPr>
            <p:spPr>
              <a:xfrm>
                <a:off x="1485900" y="5067300"/>
                <a:ext cx="304800" cy="8001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3" name="Straight Connector 42"/>
              <p:cNvCxnSpPr>
                <a:stCxn id="42" idx="0"/>
              </p:cNvCxnSpPr>
              <p:nvPr/>
            </p:nvCxnSpPr>
            <p:spPr>
              <a:xfrm rot="5400000" flipH="1" flipV="1">
                <a:off x="1448594" y="4876800"/>
                <a:ext cx="380206" cy="79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>
              <a:xfrm rot="5400000" flipH="1" flipV="1">
                <a:off x="1448594" y="6057106"/>
                <a:ext cx="381000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0" name="Oval 39"/>
            <p:cNvSpPr/>
            <p:nvPr/>
          </p:nvSpPr>
          <p:spPr>
            <a:xfrm>
              <a:off x="3581400" y="42672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/>
            <p:cNvSpPr/>
            <p:nvPr/>
          </p:nvSpPr>
          <p:spPr>
            <a:xfrm>
              <a:off x="3581400" y="58674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" name="Group 52"/>
          <p:cNvGrpSpPr/>
          <p:nvPr/>
        </p:nvGrpSpPr>
        <p:grpSpPr>
          <a:xfrm>
            <a:off x="1219200" y="4076700"/>
            <a:ext cx="319318" cy="1359932"/>
            <a:chOff x="1905000" y="4800600"/>
            <a:chExt cx="319318" cy="1359932"/>
          </a:xfrm>
        </p:grpSpPr>
        <p:sp>
          <p:nvSpPr>
            <p:cNvPr id="46" name="TextBox 45"/>
            <p:cNvSpPr txBox="1"/>
            <p:nvPr/>
          </p:nvSpPr>
          <p:spPr>
            <a:xfrm>
              <a:off x="1905000" y="4800600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+</a:t>
              </a:r>
              <a:endParaRPr lang="en-US" dirty="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905000" y="5791200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-</a:t>
              </a:r>
              <a:endParaRPr lang="en-US" dirty="0"/>
            </a:p>
          </p:txBody>
        </p:sp>
      </p:grpSp>
      <p:cxnSp>
        <p:nvCxnSpPr>
          <p:cNvPr id="48" name="Straight Arrow Connector 47"/>
          <p:cNvCxnSpPr/>
          <p:nvPr/>
        </p:nvCxnSpPr>
        <p:spPr>
          <a:xfrm rot="5400000">
            <a:off x="1770856" y="4133850"/>
            <a:ext cx="419894" cy="79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057400" y="3962400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/>
              <a:t>I</a:t>
            </a:r>
            <a:endParaRPr lang="en-US" b="1" i="1" baseline="-25000" dirty="0"/>
          </a:p>
        </p:txBody>
      </p:sp>
      <p:sp>
        <p:nvSpPr>
          <p:cNvPr id="50" name="TextBox 49"/>
          <p:cNvSpPr txBox="1"/>
          <p:nvPr/>
        </p:nvSpPr>
        <p:spPr>
          <a:xfrm>
            <a:off x="1181100" y="4572000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/>
              <a:t>V</a:t>
            </a:r>
            <a:endParaRPr lang="en-US" b="1" i="1" baseline="-25000" dirty="0"/>
          </a:p>
        </p:txBody>
      </p:sp>
      <p:grpSp>
        <p:nvGrpSpPr>
          <p:cNvPr id="51" name="Group 61"/>
          <p:cNvGrpSpPr/>
          <p:nvPr/>
        </p:nvGrpSpPr>
        <p:grpSpPr>
          <a:xfrm flipV="1">
            <a:off x="2819400" y="3924300"/>
            <a:ext cx="304800" cy="1676400"/>
            <a:chOff x="3467100" y="4267200"/>
            <a:chExt cx="304800" cy="1676400"/>
          </a:xfrm>
        </p:grpSpPr>
        <p:grpSp>
          <p:nvGrpSpPr>
            <p:cNvPr id="52" name="Group 12"/>
            <p:cNvGrpSpPr/>
            <p:nvPr/>
          </p:nvGrpSpPr>
          <p:grpSpPr>
            <a:xfrm>
              <a:off x="3467100" y="4343400"/>
              <a:ext cx="304800" cy="1561306"/>
              <a:chOff x="1485900" y="4687094"/>
              <a:chExt cx="304800" cy="1561306"/>
            </a:xfrm>
          </p:grpSpPr>
          <p:sp>
            <p:nvSpPr>
              <p:cNvPr id="55" name="Rectangle 54"/>
              <p:cNvSpPr/>
              <p:nvPr/>
            </p:nvSpPr>
            <p:spPr>
              <a:xfrm>
                <a:off x="1485900" y="5067300"/>
                <a:ext cx="304800" cy="8001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6" name="Straight Connector 55"/>
              <p:cNvCxnSpPr>
                <a:stCxn id="55" idx="0"/>
              </p:cNvCxnSpPr>
              <p:nvPr/>
            </p:nvCxnSpPr>
            <p:spPr>
              <a:xfrm rot="5400000" flipH="1" flipV="1">
                <a:off x="1448594" y="4876800"/>
                <a:ext cx="380206" cy="79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/>
              <p:cNvCxnSpPr/>
              <p:nvPr/>
            </p:nvCxnSpPr>
            <p:spPr>
              <a:xfrm rot="5400000" flipH="1" flipV="1">
                <a:off x="1448594" y="6057106"/>
                <a:ext cx="381000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3" name="Oval 52"/>
            <p:cNvSpPr/>
            <p:nvPr/>
          </p:nvSpPr>
          <p:spPr>
            <a:xfrm>
              <a:off x="3581400" y="42672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/>
            <p:cNvSpPr/>
            <p:nvPr/>
          </p:nvSpPr>
          <p:spPr>
            <a:xfrm>
              <a:off x="3581400" y="58674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8" name="Group 68"/>
          <p:cNvGrpSpPr/>
          <p:nvPr/>
        </p:nvGrpSpPr>
        <p:grpSpPr>
          <a:xfrm flipV="1">
            <a:off x="2476500" y="4076700"/>
            <a:ext cx="319318" cy="1359932"/>
            <a:chOff x="1905000" y="4800600"/>
            <a:chExt cx="319318" cy="1359932"/>
          </a:xfrm>
        </p:grpSpPr>
        <p:sp>
          <p:nvSpPr>
            <p:cNvPr id="59" name="TextBox 58"/>
            <p:cNvSpPr txBox="1"/>
            <p:nvPr/>
          </p:nvSpPr>
          <p:spPr>
            <a:xfrm>
              <a:off x="1905000" y="4800600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+</a:t>
              </a:r>
              <a:endParaRPr lang="en-US" dirty="0"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1905000" y="5791200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-</a:t>
              </a:r>
              <a:endParaRPr lang="en-US" dirty="0"/>
            </a:p>
          </p:txBody>
        </p:sp>
      </p:grpSp>
      <p:cxnSp>
        <p:nvCxnSpPr>
          <p:cNvPr id="61" name="Straight Arrow Connector 60"/>
          <p:cNvCxnSpPr/>
          <p:nvPr/>
        </p:nvCxnSpPr>
        <p:spPr>
          <a:xfrm rot="16200000" flipV="1">
            <a:off x="3028156" y="4133850"/>
            <a:ext cx="419894" cy="79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 flipV="1">
            <a:off x="3314700" y="3962400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/>
              <a:t>I</a:t>
            </a:r>
            <a:endParaRPr lang="en-US" b="1" i="1" baseline="-25000" dirty="0"/>
          </a:p>
        </p:txBody>
      </p:sp>
      <p:sp>
        <p:nvSpPr>
          <p:cNvPr id="63" name="TextBox 62"/>
          <p:cNvSpPr txBox="1"/>
          <p:nvPr/>
        </p:nvSpPr>
        <p:spPr>
          <a:xfrm>
            <a:off x="2438400" y="4572000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/>
              <a:t>V</a:t>
            </a:r>
            <a:endParaRPr lang="en-US" b="1" i="1" baseline="-25000" dirty="0"/>
          </a:p>
        </p:txBody>
      </p:sp>
      <p:sp>
        <p:nvSpPr>
          <p:cNvPr id="64" name="TextBox 63"/>
          <p:cNvSpPr txBox="1"/>
          <p:nvPr/>
        </p:nvSpPr>
        <p:spPr>
          <a:xfrm>
            <a:off x="1257300" y="3124200"/>
            <a:ext cx="24032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Energy Consumed by</a:t>
            </a:r>
          </a:p>
          <a:p>
            <a:r>
              <a:rPr lang="en-US" dirty="0" smtClean="0"/>
              <a:t>the Circuit Element:</a:t>
            </a:r>
            <a:endParaRPr lang="en-US" dirty="0"/>
          </a:p>
        </p:txBody>
      </p:sp>
      <p:sp>
        <p:nvSpPr>
          <p:cNvPr id="65" name="Rounded Rectangle 64"/>
          <p:cNvSpPr/>
          <p:nvPr/>
        </p:nvSpPr>
        <p:spPr>
          <a:xfrm>
            <a:off x="5334000" y="3009900"/>
            <a:ext cx="2628900" cy="28575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6" name="Group 74"/>
          <p:cNvGrpSpPr/>
          <p:nvPr/>
        </p:nvGrpSpPr>
        <p:grpSpPr>
          <a:xfrm>
            <a:off x="5809114" y="3924301"/>
            <a:ext cx="304800" cy="1676400"/>
            <a:chOff x="3467100" y="4267200"/>
            <a:chExt cx="304800" cy="1676400"/>
          </a:xfrm>
        </p:grpSpPr>
        <p:grpSp>
          <p:nvGrpSpPr>
            <p:cNvPr id="67" name="Group 12"/>
            <p:cNvGrpSpPr/>
            <p:nvPr/>
          </p:nvGrpSpPr>
          <p:grpSpPr>
            <a:xfrm>
              <a:off x="3467100" y="4343400"/>
              <a:ext cx="304800" cy="1561306"/>
              <a:chOff x="1485900" y="4687094"/>
              <a:chExt cx="304800" cy="1561306"/>
            </a:xfrm>
          </p:grpSpPr>
          <p:sp>
            <p:nvSpPr>
              <p:cNvPr id="70" name="Rectangle 69"/>
              <p:cNvSpPr/>
              <p:nvPr/>
            </p:nvSpPr>
            <p:spPr>
              <a:xfrm>
                <a:off x="1485900" y="5067300"/>
                <a:ext cx="304800" cy="8001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1" name="Straight Connector 70"/>
              <p:cNvCxnSpPr>
                <a:stCxn id="70" idx="0"/>
              </p:cNvCxnSpPr>
              <p:nvPr/>
            </p:nvCxnSpPr>
            <p:spPr>
              <a:xfrm rot="5400000" flipH="1" flipV="1">
                <a:off x="1448594" y="4876800"/>
                <a:ext cx="380206" cy="79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>
              <a:xfrm rot="5400000" flipH="1" flipV="1">
                <a:off x="1448594" y="6057106"/>
                <a:ext cx="381000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8" name="Oval 67"/>
            <p:cNvSpPr/>
            <p:nvPr/>
          </p:nvSpPr>
          <p:spPr>
            <a:xfrm>
              <a:off x="3581400" y="42672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/>
            <p:cNvSpPr/>
            <p:nvPr/>
          </p:nvSpPr>
          <p:spPr>
            <a:xfrm>
              <a:off x="3581400" y="58674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3" name="Group 81"/>
          <p:cNvGrpSpPr/>
          <p:nvPr/>
        </p:nvGrpSpPr>
        <p:grpSpPr>
          <a:xfrm>
            <a:off x="5466214" y="4076701"/>
            <a:ext cx="319318" cy="1359932"/>
            <a:chOff x="1905000" y="4800600"/>
            <a:chExt cx="319318" cy="1359932"/>
          </a:xfrm>
        </p:grpSpPr>
        <p:sp>
          <p:nvSpPr>
            <p:cNvPr id="74" name="TextBox 73"/>
            <p:cNvSpPr txBox="1"/>
            <p:nvPr/>
          </p:nvSpPr>
          <p:spPr>
            <a:xfrm>
              <a:off x="1905000" y="4800600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+</a:t>
              </a:r>
              <a:endParaRPr lang="en-US" dirty="0"/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1905000" y="5791200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-</a:t>
              </a:r>
              <a:endParaRPr lang="en-US" dirty="0"/>
            </a:p>
          </p:txBody>
        </p:sp>
      </p:grpSp>
      <p:cxnSp>
        <p:nvCxnSpPr>
          <p:cNvPr id="76" name="Straight Arrow Connector 75"/>
          <p:cNvCxnSpPr/>
          <p:nvPr/>
        </p:nvCxnSpPr>
        <p:spPr>
          <a:xfrm rot="16200000" flipV="1">
            <a:off x="6017870" y="4133851"/>
            <a:ext cx="419894" cy="79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6304414" y="3962401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/>
              <a:t>I</a:t>
            </a:r>
            <a:endParaRPr lang="en-US" b="1" i="1" baseline="-25000" dirty="0"/>
          </a:p>
        </p:txBody>
      </p:sp>
      <p:sp>
        <p:nvSpPr>
          <p:cNvPr id="78" name="TextBox 77"/>
          <p:cNvSpPr txBox="1"/>
          <p:nvPr/>
        </p:nvSpPr>
        <p:spPr>
          <a:xfrm>
            <a:off x="5428114" y="4572001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/>
              <a:t>V</a:t>
            </a:r>
            <a:endParaRPr lang="en-US" b="1" i="1" baseline="-25000" dirty="0"/>
          </a:p>
        </p:txBody>
      </p:sp>
      <p:grpSp>
        <p:nvGrpSpPr>
          <p:cNvPr id="79" name="Group 87"/>
          <p:cNvGrpSpPr/>
          <p:nvPr/>
        </p:nvGrpSpPr>
        <p:grpSpPr>
          <a:xfrm flipV="1">
            <a:off x="7066414" y="3924301"/>
            <a:ext cx="304800" cy="1676400"/>
            <a:chOff x="3467100" y="4267200"/>
            <a:chExt cx="304800" cy="1676400"/>
          </a:xfrm>
        </p:grpSpPr>
        <p:grpSp>
          <p:nvGrpSpPr>
            <p:cNvPr id="80" name="Group 12"/>
            <p:cNvGrpSpPr/>
            <p:nvPr/>
          </p:nvGrpSpPr>
          <p:grpSpPr>
            <a:xfrm>
              <a:off x="3467100" y="4343400"/>
              <a:ext cx="304800" cy="1561306"/>
              <a:chOff x="1485900" y="4687094"/>
              <a:chExt cx="304800" cy="1561306"/>
            </a:xfrm>
          </p:grpSpPr>
          <p:sp>
            <p:nvSpPr>
              <p:cNvPr id="84" name="Rectangle 83"/>
              <p:cNvSpPr/>
              <p:nvPr/>
            </p:nvSpPr>
            <p:spPr>
              <a:xfrm>
                <a:off x="1485900" y="5067300"/>
                <a:ext cx="304800" cy="8001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5" name="Straight Connector 84"/>
              <p:cNvCxnSpPr>
                <a:stCxn id="84" idx="0"/>
              </p:cNvCxnSpPr>
              <p:nvPr/>
            </p:nvCxnSpPr>
            <p:spPr>
              <a:xfrm rot="5400000" flipH="1" flipV="1">
                <a:off x="1448594" y="4876800"/>
                <a:ext cx="380206" cy="79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/>
              <p:cNvCxnSpPr/>
              <p:nvPr/>
            </p:nvCxnSpPr>
            <p:spPr>
              <a:xfrm rot="5400000" flipH="1" flipV="1">
                <a:off x="1448594" y="6057106"/>
                <a:ext cx="381000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1" name="Oval 80"/>
            <p:cNvSpPr/>
            <p:nvPr/>
          </p:nvSpPr>
          <p:spPr>
            <a:xfrm>
              <a:off x="3581400" y="42672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Oval 82"/>
            <p:cNvSpPr/>
            <p:nvPr/>
          </p:nvSpPr>
          <p:spPr>
            <a:xfrm>
              <a:off x="3581400" y="58674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7" name="Group 94"/>
          <p:cNvGrpSpPr/>
          <p:nvPr/>
        </p:nvGrpSpPr>
        <p:grpSpPr>
          <a:xfrm flipV="1">
            <a:off x="6723514" y="4076701"/>
            <a:ext cx="319318" cy="1359932"/>
            <a:chOff x="1905000" y="4800600"/>
            <a:chExt cx="319318" cy="1359932"/>
          </a:xfrm>
        </p:grpSpPr>
        <p:sp>
          <p:nvSpPr>
            <p:cNvPr id="89" name="TextBox 88"/>
            <p:cNvSpPr txBox="1"/>
            <p:nvPr/>
          </p:nvSpPr>
          <p:spPr>
            <a:xfrm>
              <a:off x="1905000" y="4800600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+</a:t>
              </a:r>
              <a:endParaRPr lang="en-US" dirty="0"/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1905000" y="5791200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-</a:t>
              </a:r>
              <a:endParaRPr lang="en-US" dirty="0"/>
            </a:p>
          </p:txBody>
        </p:sp>
      </p:grpSp>
      <p:cxnSp>
        <p:nvCxnSpPr>
          <p:cNvPr id="91" name="Straight Arrow Connector 90"/>
          <p:cNvCxnSpPr/>
          <p:nvPr/>
        </p:nvCxnSpPr>
        <p:spPr>
          <a:xfrm rot="5400000">
            <a:off x="7275170" y="4133851"/>
            <a:ext cx="419894" cy="79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 flipV="1">
            <a:off x="7561714" y="3962401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/>
              <a:t>I</a:t>
            </a:r>
            <a:endParaRPr lang="en-US" b="1" i="1" baseline="-25000" dirty="0"/>
          </a:p>
        </p:txBody>
      </p:sp>
      <p:sp>
        <p:nvSpPr>
          <p:cNvPr id="93" name="TextBox 92"/>
          <p:cNvSpPr txBox="1"/>
          <p:nvPr/>
        </p:nvSpPr>
        <p:spPr>
          <a:xfrm>
            <a:off x="6685414" y="4572001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/>
              <a:t>V</a:t>
            </a:r>
            <a:endParaRPr lang="en-US" b="1" i="1" baseline="-25000" dirty="0"/>
          </a:p>
        </p:txBody>
      </p:sp>
      <p:sp>
        <p:nvSpPr>
          <p:cNvPr id="94" name="TextBox 93"/>
          <p:cNvSpPr txBox="1"/>
          <p:nvPr/>
        </p:nvSpPr>
        <p:spPr>
          <a:xfrm>
            <a:off x="5445378" y="3124200"/>
            <a:ext cx="22621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Energy Delivered by</a:t>
            </a:r>
          </a:p>
          <a:p>
            <a:r>
              <a:rPr lang="en-US" dirty="0" smtClean="0"/>
              <a:t>the Circuit Element: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457200" y="114301"/>
            <a:ext cx="7086600" cy="685799"/>
          </a:xfrm>
        </p:spPr>
        <p:txBody>
          <a:bodyPr/>
          <a:lstStyle/>
          <a:p>
            <a:r>
              <a:rPr lang="en-US" sz="2800" dirty="0" smtClean="0"/>
              <a:t>Standard Prefixes for Powers of 10</a:t>
            </a:r>
          </a:p>
        </p:txBody>
      </p:sp>
      <p:sp>
        <p:nvSpPr>
          <p:cNvPr id="82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6667500" y="6454776"/>
            <a:ext cx="2438400" cy="365125"/>
          </a:xfrm>
        </p:spPr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36</a:t>
            </a:fld>
            <a:endParaRPr lang="en-US" dirty="0"/>
          </a:p>
        </p:txBody>
      </p:sp>
      <p:sp>
        <p:nvSpPr>
          <p:cNvPr id="88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95" name="Table 94"/>
          <p:cNvGraphicFramePr>
            <a:graphicFrameLocks noGrp="1"/>
          </p:cNvGraphicFramePr>
          <p:nvPr/>
        </p:nvGraphicFramePr>
        <p:xfrm>
          <a:off x="1219200" y="1524000"/>
          <a:ext cx="6591300" cy="3771904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985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9855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9855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09855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09855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09855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47148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Prefix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Symbol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Power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Prefix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Symbol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Power</a:t>
                      </a:r>
                      <a:endParaRPr lang="tr-T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atto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r>
                        <a:rPr lang="en-US" baseline="30000" dirty="0" smtClean="0"/>
                        <a:t>-18</a:t>
                      </a:r>
                      <a:endParaRPr lang="tr-TR" baseline="30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deci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10</a:t>
                      </a:r>
                      <a:r>
                        <a:rPr lang="en-US" baseline="30000" dirty="0" smtClean="0"/>
                        <a:t>-1</a:t>
                      </a:r>
                      <a:endParaRPr lang="tr-TR" baseline="30000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femto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f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10</a:t>
                      </a:r>
                      <a:r>
                        <a:rPr lang="en-US" baseline="30000" dirty="0" smtClean="0"/>
                        <a:t>-15</a:t>
                      </a:r>
                      <a:endParaRPr lang="tr-TR" baseline="300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deka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da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10</a:t>
                      </a:r>
                      <a:endParaRPr lang="tr-TR" baseline="30000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pico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10</a:t>
                      </a:r>
                      <a:r>
                        <a:rPr lang="en-US" baseline="30000" dirty="0" smtClean="0"/>
                        <a:t>-12</a:t>
                      </a:r>
                      <a:endParaRPr lang="tr-TR" baseline="300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hecto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h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10</a:t>
                      </a:r>
                      <a:r>
                        <a:rPr lang="en-US" baseline="30000" dirty="0" smtClean="0"/>
                        <a:t>2</a:t>
                      </a:r>
                      <a:endParaRPr lang="tr-TR" baseline="30000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nano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10</a:t>
                      </a:r>
                      <a:r>
                        <a:rPr lang="en-US" baseline="30000" dirty="0" smtClean="0"/>
                        <a:t>-9</a:t>
                      </a:r>
                      <a:endParaRPr lang="tr-TR" baseline="300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kilo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k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10</a:t>
                      </a:r>
                      <a:r>
                        <a:rPr lang="en-US" baseline="30000" dirty="0" smtClean="0"/>
                        <a:t>3</a:t>
                      </a:r>
                      <a:endParaRPr lang="tr-TR" baseline="30000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micro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dirty="0" smtClean="0">
                          <a:latin typeface="Arial"/>
                          <a:cs typeface="Arial"/>
                        </a:rPr>
                        <a:t>μ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10</a:t>
                      </a:r>
                      <a:r>
                        <a:rPr lang="en-US" baseline="30000" dirty="0" smtClean="0"/>
                        <a:t>-6</a:t>
                      </a:r>
                      <a:endParaRPr lang="tr-TR" baseline="300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mega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10</a:t>
                      </a:r>
                      <a:r>
                        <a:rPr lang="en-US" baseline="30000" dirty="0" smtClean="0"/>
                        <a:t>6</a:t>
                      </a:r>
                      <a:endParaRPr lang="tr-TR" baseline="30000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milli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10</a:t>
                      </a:r>
                      <a:r>
                        <a:rPr lang="en-US" baseline="30000" dirty="0" smtClean="0"/>
                        <a:t>-3</a:t>
                      </a:r>
                      <a:endParaRPr lang="tr-TR" baseline="300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giga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G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10</a:t>
                      </a:r>
                      <a:r>
                        <a:rPr lang="en-US" baseline="30000" dirty="0" smtClean="0"/>
                        <a:t>9</a:t>
                      </a:r>
                      <a:endParaRPr lang="tr-TR" baseline="30000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centi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10</a:t>
                      </a:r>
                      <a:r>
                        <a:rPr lang="en-US" baseline="30000" dirty="0" smtClean="0"/>
                        <a:t>-2</a:t>
                      </a:r>
                      <a:endParaRPr lang="tr-TR" baseline="300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tera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10</a:t>
                      </a:r>
                      <a:r>
                        <a:rPr lang="en-US" baseline="30000" dirty="0" smtClean="0"/>
                        <a:t>12</a:t>
                      </a:r>
                      <a:endParaRPr lang="tr-TR" baseline="30000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457200" y="114301"/>
            <a:ext cx="8229600" cy="563563"/>
          </a:xfrm>
        </p:spPr>
        <p:txBody>
          <a:bodyPr/>
          <a:lstStyle/>
          <a:p>
            <a:r>
              <a:rPr lang="en-US" sz="2800" dirty="0" smtClean="0"/>
              <a:t>Power : </a:t>
            </a:r>
            <a:r>
              <a:rPr lang="en-US" sz="2800" i="1" dirty="0" smtClean="0"/>
              <a:t>P</a:t>
            </a:r>
            <a:r>
              <a:rPr lang="en-US" sz="2800" dirty="0" smtClean="0"/>
              <a:t> or </a:t>
            </a:r>
            <a:r>
              <a:rPr lang="en-US" sz="2800" i="1" dirty="0" smtClean="0"/>
              <a:t>p</a:t>
            </a:r>
            <a:r>
              <a:rPr lang="en-US" sz="2800" dirty="0" smtClean="0"/>
              <a:t>(t) if time varying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533400" y="838200"/>
            <a:ext cx="8229600" cy="5410199"/>
          </a:xfrm>
        </p:spPr>
        <p:txBody>
          <a:bodyPr/>
          <a:lstStyle/>
          <a:p>
            <a:r>
              <a:rPr lang="en-US" sz="2400" dirty="0" smtClean="0"/>
              <a:t>Power is the rate at which work is being done:</a:t>
            </a:r>
          </a:p>
          <a:p>
            <a:endParaRPr lang="en-US" sz="2400" dirty="0" smtClean="0"/>
          </a:p>
          <a:p>
            <a:pPr>
              <a:buNone/>
            </a:pPr>
            <a:endParaRPr lang="en-US" sz="2400" dirty="0" smtClean="0"/>
          </a:p>
          <a:p>
            <a:r>
              <a:rPr lang="en-US" sz="2400" dirty="0" smtClean="0"/>
              <a:t>Unit of Power: Joules/s (J/s) or Watts (W)</a:t>
            </a:r>
          </a:p>
          <a:p>
            <a:endParaRPr lang="en-US" dirty="0" smtClean="0"/>
          </a:p>
          <a:p>
            <a:pPr lvl="1"/>
            <a:endParaRPr lang="en-US" sz="2400" dirty="0" smtClean="0"/>
          </a:p>
          <a:p>
            <a:pPr lvl="1"/>
            <a:endParaRPr lang="en-US" sz="2400" dirty="0" smtClean="0"/>
          </a:p>
          <a:p>
            <a:endParaRPr lang="en-US" sz="2400" dirty="0" smtClean="0"/>
          </a:p>
        </p:txBody>
      </p:sp>
      <p:sp>
        <p:nvSpPr>
          <p:cNvPr id="95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6667500" y="6454776"/>
            <a:ext cx="2438400" cy="365125"/>
          </a:xfrm>
        </p:spPr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37</a:t>
            </a:fld>
            <a:endParaRPr lang="en-US" dirty="0"/>
          </a:p>
        </p:txBody>
      </p:sp>
      <p:sp>
        <p:nvSpPr>
          <p:cNvPr id="7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34148" name="Object 4"/>
          <p:cNvGraphicFramePr>
            <a:graphicFrameLocks noChangeAspect="1"/>
          </p:cNvGraphicFramePr>
          <p:nvPr/>
        </p:nvGraphicFramePr>
        <p:xfrm>
          <a:off x="3659188" y="1244600"/>
          <a:ext cx="1597025" cy="795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168" name="Equation" r:id="rId3" imgW="507960" imgH="393480" progId="Equation.3">
                  <p:embed/>
                </p:oleObj>
              </mc:Choice>
              <mc:Fallback>
                <p:oleObj name="Equation" r:id="rId3" imgW="507960" imgH="39348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9188" y="1244600"/>
                        <a:ext cx="1597025" cy="795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457200" y="114301"/>
            <a:ext cx="8229600" cy="563563"/>
          </a:xfrm>
        </p:spPr>
        <p:txBody>
          <a:bodyPr/>
          <a:lstStyle/>
          <a:p>
            <a:r>
              <a:rPr lang="en-US" sz="2800" dirty="0" smtClean="0"/>
              <a:t>Power : </a:t>
            </a:r>
            <a:r>
              <a:rPr lang="en-US" sz="2800" i="1" dirty="0" smtClean="0"/>
              <a:t>P</a:t>
            </a:r>
            <a:r>
              <a:rPr lang="en-US" sz="2800" dirty="0" smtClean="0"/>
              <a:t> or </a:t>
            </a:r>
            <a:r>
              <a:rPr lang="en-US" sz="2800" i="1" dirty="0" smtClean="0"/>
              <a:t>p</a:t>
            </a:r>
            <a:r>
              <a:rPr lang="en-US" sz="2800" dirty="0" smtClean="0"/>
              <a:t>(t) if time varying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533400" y="838200"/>
            <a:ext cx="8229600" cy="5410199"/>
          </a:xfrm>
        </p:spPr>
        <p:txBody>
          <a:bodyPr/>
          <a:lstStyle/>
          <a:p>
            <a:r>
              <a:rPr lang="en-US" sz="2400" dirty="0" smtClean="0"/>
              <a:t>Power is the rate at which work is being done:</a:t>
            </a:r>
          </a:p>
          <a:p>
            <a:endParaRPr lang="en-US" sz="2400" dirty="0" smtClean="0"/>
          </a:p>
          <a:p>
            <a:pPr>
              <a:buNone/>
            </a:pPr>
            <a:endParaRPr lang="en-US" sz="2400" dirty="0" smtClean="0"/>
          </a:p>
          <a:p>
            <a:r>
              <a:rPr lang="en-US" sz="2400" dirty="0" smtClean="0"/>
              <a:t>Unit of Power: Joules/s (J/s) or Watts (W)</a:t>
            </a:r>
          </a:p>
          <a:p>
            <a:pPr lvl="1"/>
            <a:endParaRPr lang="en-US" sz="2400" dirty="0" smtClean="0"/>
          </a:p>
          <a:p>
            <a:endParaRPr lang="en-US" dirty="0" smtClean="0"/>
          </a:p>
          <a:p>
            <a:pPr lvl="1"/>
            <a:endParaRPr lang="en-US" sz="2400" dirty="0" smtClean="0"/>
          </a:p>
          <a:p>
            <a:pPr lvl="1"/>
            <a:endParaRPr lang="en-US" sz="2400" dirty="0" smtClean="0"/>
          </a:p>
          <a:p>
            <a:endParaRPr lang="en-US" sz="2400" dirty="0" smtClean="0"/>
          </a:p>
        </p:txBody>
      </p:sp>
      <p:sp>
        <p:nvSpPr>
          <p:cNvPr id="95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6667500" y="6454776"/>
            <a:ext cx="2438400" cy="365125"/>
          </a:xfrm>
        </p:spPr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38</a:t>
            </a:fld>
            <a:endParaRPr lang="en-US" dirty="0"/>
          </a:p>
        </p:txBody>
      </p:sp>
      <p:sp>
        <p:nvSpPr>
          <p:cNvPr id="7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34148" name="Object 4"/>
          <p:cNvGraphicFramePr>
            <a:graphicFrameLocks noChangeAspect="1"/>
          </p:cNvGraphicFramePr>
          <p:nvPr/>
        </p:nvGraphicFramePr>
        <p:xfrm>
          <a:off x="1525588" y="1219200"/>
          <a:ext cx="5865812" cy="84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455" name="Equation" r:id="rId3" imgW="1866600" imgH="419040" progId="Equation.3">
                  <p:embed/>
                </p:oleObj>
              </mc:Choice>
              <mc:Fallback>
                <p:oleObj name="Equation" r:id="rId3" imgW="1866600" imgH="4190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5588" y="1219200"/>
                        <a:ext cx="5865812" cy="846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457200" y="114301"/>
            <a:ext cx="8229600" cy="563563"/>
          </a:xfrm>
        </p:spPr>
        <p:txBody>
          <a:bodyPr/>
          <a:lstStyle/>
          <a:p>
            <a:r>
              <a:rPr lang="en-US" sz="2800" dirty="0" smtClean="0"/>
              <a:t>Power : </a:t>
            </a:r>
            <a:r>
              <a:rPr lang="en-US" sz="2800" i="1" dirty="0" smtClean="0"/>
              <a:t>P</a:t>
            </a:r>
            <a:r>
              <a:rPr lang="en-US" sz="2800" dirty="0" smtClean="0"/>
              <a:t> or </a:t>
            </a:r>
            <a:r>
              <a:rPr lang="en-US" sz="2800" i="1" dirty="0" smtClean="0"/>
              <a:t>p</a:t>
            </a:r>
            <a:r>
              <a:rPr lang="en-US" sz="2800" dirty="0" smtClean="0"/>
              <a:t>(t) if time varying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533400" y="838200"/>
            <a:ext cx="8229600" cy="5410199"/>
          </a:xfrm>
        </p:spPr>
        <p:txBody>
          <a:bodyPr/>
          <a:lstStyle/>
          <a:p>
            <a:r>
              <a:rPr lang="en-US" sz="2400" dirty="0" smtClean="0"/>
              <a:t>Power is the rate at which work is being done:</a:t>
            </a:r>
          </a:p>
          <a:p>
            <a:endParaRPr lang="en-US" sz="2400" dirty="0" smtClean="0"/>
          </a:p>
          <a:p>
            <a:pPr>
              <a:buNone/>
            </a:pPr>
            <a:endParaRPr lang="en-US" sz="2400" dirty="0" smtClean="0"/>
          </a:p>
          <a:p>
            <a:r>
              <a:rPr lang="en-US" sz="2400" dirty="0" smtClean="0"/>
              <a:t>Unit of Power: Joules/s (J/s) or Watts (W)</a:t>
            </a:r>
          </a:p>
          <a:p>
            <a:pPr lvl="1"/>
            <a:endParaRPr lang="en-US" sz="2400" dirty="0" smtClean="0"/>
          </a:p>
          <a:p>
            <a:r>
              <a:rPr lang="en-US" sz="2400" dirty="0" smtClean="0"/>
              <a:t>Energy delivered to an element between time t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 and t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:</a:t>
            </a:r>
          </a:p>
          <a:p>
            <a:endParaRPr lang="en-US" dirty="0" smtClean="0"/>
          </a:p>
          <a:p>
            <a:pPr lvl="1"/>
            <a:endParaRPr lang="en-US" sz="2400" dirty="0" smtClean="0"/>
          </a:p>
          <a:p>
            <a:pPr lvl="1"/>
            <a:endParaRPr lang="en-US" sz="2400" dirty="0" smtClean="0"/>
          </a:p>
          <a:p>
            <a:endParaRPr lang="en-US" sz="2400" dirty="0" smtClean="0"/>
          </a:p>
        </p:txBody>
      </p:sp>
      <p:sp>
        <p:nvSpPr>
          <p:cNvPr id="95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6667500" y="6454776"/>
            <a:ext cx="2438400" cy="365125"/>
          </a:xfrm>
        </p:spPr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  <p:sp>
        <p:nvSpPr>
          <p:cNvPr id="7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34148" name="Object 4"/>
          <p:cNvGraphicFramePr>
            <a:graphicFrameLocks noChangeAspect="1"/>
          </p:cNvGraphicFramePr>
          <p:nvPr/>
        </p:nvGraphicFramePr>
        <p:xfrm>
          <a:off x="1525588" y="1219200"/>
          <a:ext cx="5865812" cy="84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479" name="Equation" r:id="rId3" imgW="1866600" imgH="419040" progId="Equation.3">
                  <p:embed/>
                </p:oleObj>
              </mc:Choice>
              <mc:Fallback>
                <p:oleObj name="Equation" r:id="rId3" imgW="1866600" imgH="4190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5588" y="1219200"/>
                        <a:ext cx="5865812" cy="846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457200" y="114301"/>
            <a:ext cx="8229600" cy="563563"/>
          </a:xfrm>
        </p:spPr>
        <p:txBody>
          <a:bodyPr/>
          <a:lstStyle/>
          <a:p>
            <a:r>
              <a:rPr lang="en-US" sz="2800" dirty="0" smtClean="0"/>
              <a:t>Power : </a:t>
            </a:r>
            <a:r>
              <a:rPr lang="en-US" sz="2800" i="1" dirty="0" smtClean="0"/>
              <a:t>P</a:t>
            </a:r>
            <a:r>
              <a:rPr lang="en-US" sz="2800" dirty="0" smtClean="0"/>
              <a:t> or </a:t>
            </a:r>
            <a:r>
              <a:rPr lang="en-US" sz="2800" i="1" dirty="0" smtClean="0"/>
              <a:t>p</a:t>
            </a:r>
            <a:r>
              <a:rPr lang="en-US" sz="2800" dirty="0" smtClean="0"/>
              <a:t>(t) if time varying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533400" y="838200"/>
            <a:ext cx="8229600" cy="5410199"/>
          </a:xfrm>
        </p:spPr>
        <p:txBody>
          <a:bodyPr/>
          <a:lstStyle/>
          <a:p>
            <a:r>
              <a:rPr lang="en-US" sz="2400" dirty="0" smtClean="0"/>
              <a:t>Power is the rate at which work is being done:</a:t>
            </a:r>
          </a:p>
          <a:p>
            <a:endParaRPr lang="en-US" sz="2400" dirty="0" smtClean="0"/>
          </a:p>
          <a:p>
            <a:pPr>
              <a:buNone/>
            </a:pPr>
            <a:endParaRPr lang="en-US" sz="2400" dirty="0" smtClean="0"/>
          </a:p>
          <a:p>
            <a:r>
              <a:rPr lang="en-US" sz="2400" dirty="0" smtClean="0"/>
              <a:t>Unit of Power: Joules/s (J/s) or Watts (W)</a:t>
            </a:r>
          </a:p>
          <a:p>
            <a:pPr lvl="1"/>
            <a:endParaRPr lang="en-US" sz="2400" dirty="0" smtClean="0"/>
          </a:p>
          <a:p>
            <a:r>
              <a:rPr lang="en-US" sz="2400" dirty="0" smtClean="0"/>
              <a:t>Energy delivered to an element between time t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 and t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:</a:t>
            </a:r>
          </a:p>
          <a:p>
            <a:endParaRPr lang="en-US" dirty="0" smtClean="0"/>
          </a:p>
          <a:p>
            <a:pPr lvl="1"/>
            <a:endParaRPr lang="en-US" sz="2400" dirty="0" smtClean="0"/>
          </a:p>
          <a:p>
            <a:pPr lvl="1"/>
            <a:endParaRPr lang="en-US" sz="2400" dirty="0" smtClean="0"/>
          </a:p>
          <a:p>
            <a:endParaRPr lang="en-US" sz="2400" dirty="0" smtClean="0"/>
          </a:p>
        </p:txBody>
      </p:sp>
      <p:graphicFrame>
        <p:nvGraphicFramePr>
          <p:cNvPr id="134147" name="Object 3"/>
          <p:cNvGraphicFramePr>
            <a:graphicFrameLocks noChangeAspect="1"/>
          </p:cNvGraphicFramePr>
          <p:nvPr/>
        </p:nvGraphicFramePr>
        <p:xfrm>
          <a:off x="800100" y="3314700"/>
          <a:ext cx="7324725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522" name="Equation" r:id="rId3" imgW="1981080" imgH="469800" progId="Equation.3">
                  <p:embed/>
                </p:oleObj>
              </mc:Choice>
              <mc:Fallback>
                <p:oleObj name="Equation" r:id="rId3" imgW="1981080" imgH="4698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" y="3314700"/>
                        <a:ext cx="7324725" cy="1117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6667500" y="6454776"/>
            <a:ext cx="2438400" cy="365125"/>
          </a:xfrm>
        </p:spPr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40</a:t>
            </a:fld>
            <a:endParaRPr lang="en-US" dirty="0"/>
          </a:p>
        </p:txBody>
      </p:sp>
      <p:sp>
        <p:nvSpPr>
          <p:cNvPr id="7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34148" name="Object 4"/>
          <p:cNvGraphicFramePr>
            <a:graphicFrameLocks noChangeAspect="1"/>
          </p:cNvGraphicFramePr>
          <p:nvPr/>
        </p:nvGraphicFramePr>
        <p:xfrm>
          <a:off x="1525588" y="1219200"/>
          <a:ext cx="5865812" cy="84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523" name="Equation" r:id="rId5" imgW="1866600" imgH="419040" progId="Equation.3">
                  <p:embed/>
                </p:oleObj>
              </mc:Choice>
              <mc:Fallback>
                <p:oleObj name="Equation" r:id="rId5" imgW="1866600" imgH="4190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5588" y="1219200"/>
                        <a:ext cx="5865812" cy="846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ounded Rectangle 88"/>
          <p:cNvSpPr/>
          <p:nvPr/>
        </p:nvSpPr>
        <p:spPr>
          <a:xfrm>
            <a:off x="6134100" y="4610100"/>
            <a:ext cx="2324100" cy="21717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ounded Rectangle 104"/>
          <p:cNvSpPr/>
          <p:nvPr/>
        </p:nvSpPr>
        <p:spPr>
          <a:xfrm>
            <a:off x="3200400" y="4610100"/>
            <a:ext cx="2324100" cy="21717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457200" y="114301"/>
            <a:ext cx="8229600" cy="563563"/>
          </a:xfrm>
        </p:spPr>
        <p:txBody>
          <a:bodyPr/>
          <a:lstStyle/>
          <a:p>
            <a:r>
              <a:rPr lang="en-US" sz="2800" dirty="0" smtClean="0"/>
              <a:t>Power : </a:t>
            </a:r>
            <a:r>
              <a:rPr lang="en-US" sz="2800" i="1" dirty="0" smtClean="0"/>
              <a:t>P</a:t>
            </a:r>
            <a:r>
              <a:rPr lang="en-US" sz="2800" dirty="0" smtClean="0"/>
              <a:t> or </a:t>
            </a:r>
            <a:r>
              <a:rPr lang="en-US" sz="2800" i="1" dirty="0" smtClean="0"/>
              <a:t>p</a:t>
            </a:r>
            <a:r>
              <a:rPr lang="en-US" sz="2800" dirty="0" smtClean="0"/>
              <a:t>(t) if time varying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533400" y="838200"/>
            <a:ext cx="8229600" cy="5410199"/>
          </a:xfrm>
        </p:spPr>
        <p:txBody>
          <a:bodyPr/>
          <a:lstStyle/>
          <a:p>
            <a:r>
              <a:rPr lang="en-US" sz="2400" dirty="0" smtClean="0"/>
              <a:t>Power is the rate at which work is being done:</a:t>
            </a:r>
          </a:p>
          <a:p>
            <a:endParaRPr lang="en-US" sz="2400" dirty="0" smtClean="0"/>
          </a:p>
          <a:p>
            <a:pPr>
              <a:buNone/>
            </a:pPr>
            <a:endParaRPr lang="en-US" sz="2400" dirty="0" smtClean="0"/>
          </a:p>
          <a:p>
            <a:r>
              <a:rPr lang="en-US" sz="2400" dirty="0" smtClean="0"/>
              <a:t>Unit of Power: Joules/s (J/s) or Watts (W)</a:t>
            </a:r>
          </a:p>
          <a:p>
            <a:pPr lvl="1"/>
            <a:endParaRPr lang="en-US" sz="2400" dirty="0" smtClean="0"/>
          </a:p>
          <a:p>
            <a:r>
              <a:rPr lang="en-US" sz="2400" dirty="0" smtClean="0"/>
              <a:t>Energy delivered to an element between time t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 and t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:</a:t>
            </a:r>
          </a:p>
          <a:p>
            <a:endParaRPr lang="en-US" dirty="0" smtClean="0"/>
          </a:p>
          <a:p>
            <a:pPr lvl="1"/>
            <a:endParaRPr lang="en-US" sz="2400" dirty="0" smtClean="0"/>
          </a:p>
          <a:p>
            <a:r>
              <a:rPr lang="en-US" sz="2400" dirty="0" smtClean="0"/>
              <a:t>Conventions:</a:t>
            </a:r>
          </a:p>
          <a:p>
            <a:pPr lvl="1"/>
            <a:endParaRPr lang="en-US" sz="2400" dirty="0" smtClean="0"/>
          </a:p>
          <a:p>
            <a:endParaRPr lang="en-US" sz="2400" dirty="0" smtClean="0"/>
          </a:p>
        </p:txBody>
      </p:sp>
      <p:graphicFrame>
        <p:nvGraphicFramePr>
          <p:cNvPr id="132100" name="Object 4"/>
          <p:cNvGraphicFramePr>
            <a:graphicFrameLocks noChangeAspect="1"/>
          </p:cNvGraphicFramePr>
          <p:nvPr/>
        </p:nvGraphicFramePr>
        <p:xfrm>
          <a:off x="1525588" y="1219200"/>
          <a:ext cx="5865812" cy="8463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271" name="Equation" r:id="rId3" imgW="1866600" imgH="419040" progId="Equation.3">
                  <p:embed/>
                </p:oleObj>
              </mc:Choice>
              <mc:Fallback>
                <p:oleObj name="Equation" r:id="rId3" imgW="1866600" imgH="4190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5588" y="1219200"/>
                        <a:ext cx="5865812" cy="84639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87"/>
          <p:cNvGrpSpPr/>
          <p:nvPr/>
        </p:nvGrpSpPr>
        <p:grpSpPr>
          <a:xfrm>
            <a:off x="3162300" y="5410200"/>
            <a:ext cx="5334000" cy="1257300"/>
            <a:chOff x="3467100" y="5600700"/>
            <a:chExt cx="5334000" cy="1676401"/>
          </a:xfrm>
        </p:grpSpPr>
        <p:grpSp>
          <p:nvGrpSpPr>
            <p:cNvPr id="3" name="Group 50"/>
            <p:cNvGrpSpPr/>
            <p:nvPr/>
          </p:nvGrpSpPr>
          <p:grpSpPr>
            <a:xfrm>
              <a:off x="3848100" y="5600700"/>
              <a:ext cx="304800" cy="1676400"/>
              <a:chOff x="3467100" y="4267200"/>
              <a:chExt cx="304800" cy="1676400"/>
            </a:xfrm>
          </p:grpSpPr>
          <p:grpSp>
            <p:nvGrpSpPr>
              <p:cNvPr id="4" name="Group 12"/>
              <p:cNvGrpSpPr/>
              <p:nvPr/>
            </p:nvGrpSpPr>
            <p:grpSpPr>
              <a:xfrm>
                <a:off x="3467100" y="4343400"/>
                <a:ext cx="304800" cy="1561306"/>
                <a:chOff x="1485900" y="4687094"/>
                <a:chExt cx="304800" cy="1561306"/>
              </a:xfrm>
            </p:grpSpPr>
            <p:sp>
              <p:nvSpPr>
                <p:cNvPr id="24" name="Rectangle 23"/>
                <p:cNvSpPr/>
                <p:nvPr/>
              </p:nvSpPr>
              <p:spPr>
                <a:xfrm>
                  <a:off x="1485900" y="5067300"/>
                  <a:ext cx="304800" cy="8001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5" name="Straight Connector 24"/>
                <p:cNvCxnSpPr>
                  <a:stCxn id="24" idx="0"/>
                </p:cNvCxnSpPr>
                <p:nvPr/>
              </p:nvCxnSpPr>
              <p:spPr>
                <a:xfrm rot="5400000" flipH="1" flipV="1">
                  <a:off x="1448594" y="4876800"/>
                  <a:ext cx="380206" cy="79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/>
                <p:cNvCxnSpPr/>
                <p:nvPr/>
              </p:nvCxnSpPr>
              <p:spPr>
                <a:xfrm rot="5400000" flipH="1" flipV="1">
                  <a:off x="1448594" y="6057106"/>
                  <a:ext cx="381000" cy="1588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9" name="Oval 48"/>
              <p:cNvSpPr/>
              <p:nvPr/>
            </p:nvSpPr>
            <p:spPr>
              <a:xfrm>
                <a:off x="3581400" y="4267200"/>
                <a:ext cx="76200" cy="762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Oval 49"/>
              <p:cNvSpPr/>
              <p:nvPr/>
            </p:nvSpPr>
            <p:spPr>
              <a:xfrm>
                <a:off x="3581400" y="5867400"/>
                <a:ext cx="76200" cy="762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" name="Group 52"/>
            <p:cNvGrpSpPr/>
            <p:nvPr/>
          </p:nvGrpSpPr>
          <p:grpSpPr>
            <a:xfrm>
              <a:off x="3505200" y="5753100"/>
              <a:ext cx="319318" cy="1359932"/>
              <a:chOff x="1905000" y="4800600"/>
              <a:chExt cx="319318" cy="1359932"/>
            </a:xfrm>
          </p:grpSpPr>
          <p:sp>
            <p:nvSpPr>
              <p:cNvPr id="54" name="TextBox 53"/>
              <p:cNvSpPr txBox="1"/>
              <p:nvPr/>
            </p:nvSpPr>
            <p:spPr>
              <a:xfrm>
                <a:off x="1905000" y="4800600"/>
                <a:ext cx="3193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+</a:t>
                </a:r>
                <a:endParaRPr lang="en-US" dirty="0"/>
              </a:p>
            </p:txBody>
          </p:sp>
          <p:sp>
            <p:nvSpPr>
              <p:cNvPr id="55" name="TextBox 54"/>
              <p:cNvSpPr txBox="1"/>
              <p:nvPr/>
            </p:nvSpPr>
            <p:spPr>
              <a:xfrm>
                <a:off x="1905000" y="5791200"/>
                <a:ext cx="2616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-</a:t>
                </a:r>
                <a:endParaRPr lang="en-US" dirty="0"/>
              </a:p>
            </p:txBody>
          </p:sp>
        </p:grpSp>
        <p:cxnSp>
          <p:nvCxnSpPr>
            <p:cNvPr id="57" name="Straight Arrow Connector 56"/>
            <p:cNvCxnSpPr/>
            <p:nvPr/>
          </p:nvCxnSpPr>
          <p:spPr>
            <a:xfrm rot="5400000">
              <a:off x="4056856" y="5810250"/>
              <a:ext cx="419894" cy="79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/>
            <p:cNvSpPr txBox="1"/>
            <p:nvPr/>
          </p:nvSpPr>
          <p:spPr>
            <a:xfrm>
              <a:off x="4343400" y="5638800"/>
              <a:ext cx="2487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 smtClean="0"/>
                <a:t>I</a:t>
              </a:r>
              <a:endParaRPr lang="en-US" b="1" i="1" baseline="-25000" dirty="0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3467100" y="6248400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 smtClean="0"/>
                <a:t>V</a:t>
              </a:r>
              <a:endParaRPr lang="en-US" b="1" i="1" baseline="-25000" dirty="0"/>
            </a:p>
          </p:txBody>
        </p:sp>
        <p:grpSp>
          <p:nvGrpSpPr>
            <p:cNvPr id="6" name="Group 61"/>
            <p:cNvGrpSpPr/>
            <p:nvPr/>
          </p:nvGrpSpPr>
          <p:grpSpPr>
            <a:xfrm flipV="1">
              <a:off x="5105400" y="5600700"/>
              <a:ext cx="304800" cy="1676400"/>
              <a:chOff x="3467100" y="4267200"/>
              <a:chExt cx="304800" cy="1676400"/>
            </a:xfrm>
          </p:grpSpPr>
          <p:grpSp>
            <p:nvGrpSpPr>
              <p:cNvPr id="7" name="Group 12"/>
              <p:cNvGrpSpPr/>
              <p:nvPr/>
            </p:nvGrpSpPr>
            <p:grpSpPr>
              <a:xfrm>
                <a:off x="3467100" y="4343400"/>
                <a:ext cx="304800" cy="1561306"/>
                <a:chOff x="1485900" y="4687094"/>
                <a:chExt cx="304800" cy="1561306"/>
              </a:xfrm>
            </p:grpSpPr>
            <p:sp>
              <p:nvSpPr>
                <p:cNvPr id="66" name="Rectangle 65"/>
                <p:cNvSpPr/>
                <p:nvPr/>
              </p:nvSpPr>
              <p:spPr>
                <a:xfrm>
                  <a:off x="1485900" y="5067300"/>
                  <a:ext cx="304800" cy="8001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67" name="Straight Connector 66"/>
                <p:cNvCxnSpPr>
                  <a:stCxn id="66" idx="0"/>
                </p:cNvCxnSpPr>
                <p:nvPr/>
              </p:nvCxnSpPr>
              <p:spPr>
                <a:xfrm rot="5400000" flipH="1" flipV="1">
                  <a:off x="1448594" y="4876800"/>
                  <a:ext cx="380206" cy="79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Straight Connector 67"/>
                <p:cNvCxnSpPr/>
                <p:nvPr/>
              </p:nvCxnSpPr>
              <p:spPr>
                <a:xfrm rot="5400000" flipH="1" flipV="1">
                  <a:off x="1448594" y="6057106"/>
                  <a:ext cx="381000" cy="1588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4" name="Oval 63"/>
              <p:cNvSpPr/>
              <p:nvPr/>
            </p:nvSpPr>
            <p:spPr>
              <a:xfrm>
                <a:off x="3581400" y="4267200"/>
                <a:ext cx="76200" cy="762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Oval 64"/>
              <p:cNvSpPr/>
              <p:nvPr/>
            </p:nvSpPr>
            <p:spPr>
              <a:xfrm>
                <a:off x="3581400" y="5867400"/>
                <a:ext cx="76200" cy="762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" name="Group 68"/>
            <p:cNvGrpSpPr/>
            <p:nvPr/>
          </p:nvGrpSpPr>
          <p:grpSpPr>
            <a:xfrm flipV="1">
              <a:off x="4762500" y="5753100"/>
              <a:ext cx="319318" cy="1359932"/>
              <a:chOff x="1905000" y="4800600"/>
              <a:chExt cx="319318" cy="1359932"/>
            </a:xfrm>
          </p:grpSpPr>
          <p:sp>
            <p:nvSpPr>
              <p:cNvPr id="70" name="TextBox 69"/>
              <p:cNvSpPr txBox="1"/>
              <p:nvPr/>
            </p:nvSpPr>
            <p:spPr>
              <a:xfrm>
                <a:off x="1905000" y="4800600"/>
                <a:ext cx="3193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+</a:t>
                </a:r>
                <a:endParaRPr lang="en-US" dirty="0"/>
              </a:p>
            </p:txBody>
          </p:sp>
          <p:sp>
            <p:nvSpPr>
              <p:cNvPr id="71" name="TextBox 70"/>
              <p:cNvSpPr txBox="1"/>
              <p:nvPr/>
            </p:nvSpPr>
            <p:spPr>
              <a:xfrm>
                <a:off x="1905000" y="5791200"/>
                <a:ext cx="2616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-</a:t>
                </a:r>
                <a:endParaRPr lang="en-US" dirty="0"/>
              </a:p>
            </p:txBody>
          </p:sp>
        </p:grpSp>
        <p:cxnSp>
          <p:nvCxnSpPr>
            <p:cNvPr id="72" name="Straight Arrow Connector 71"/>
            <p:cNvCxnSpPr/>
            <p:nvPr/>
          </p:nvCxnSpPr>
          <p:spPr>
            <a:xfrm rot="16200000" flipV="1">
              <a:off x="5314156" y="5810250"/>
              <a:ext cx="419894" cy="79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Box 72"/>
            <p:cNvSpPr txBox="1"/>
            <p:nvPr/>
          </p:nvSpPr>
          <p:spPr>
            <a:xfrm flipV="1">
              <a:off x="5600700" y="5638800"/>
              <a:ext cx="2487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 smtClean="0"/>
                <a:t>I</a:t>
              </a:r>
              <a:endParaRPr lang="en-US" b="1" i="1" baseline="-25000" dirty="0"/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4724400" y="6248400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 smtClean="0"/>
                <a:t>V</a:t>
              </a:r>
              <a:endParaRPr lang="en-US" b="1" i="1" baseline="-25000" dirty="0"/>
            </a:p>
          </p:txBody>
        </p:sp>
        <p:grpSp>
          <p:nvGrpSpPr>
            <p:cNvPr id="9" name="Group 74"/>
            <p:cNvGrpSpPr/>
            <p:nvPr/>
          </p:nvGrpSpPr>
          <p:grpSpPr>
            <a:xfrm>
              <a:off x="6799714" y="5600701"/>
              <a:ext cx="304800" cy="1676400"/>
              <a:chOff x="3467100" y="4267200"/>
              <a:chExt cx="304800" cy="1676400"/>
            </a:xfrm>
          </p:grpSpPr>
          <p:grpSp>
            <p:nvGrpSpPr>
              <p:cNvPr id="10" name="Group 12"/>
              <p:cNvGrpSpPr/>
              <p:nvPr/>
            </p:nvGrpSpPr>
            <p:grpSpPr>
              <a:xfrm>
                <a:off x="3467100" y="4343400"/>
                <a:ext cx="304800" cy="1561306"/>
                <a:chOff x="1485900" y="4687094"/>
                <a:chExt cx="304800" cy="1561306"/>
              </a:xfrm>
            </p:grpSpPr>
            <p:sp>
              <p:nvSpPr>
                <p:cNvPr id="79" name="Rectangle 78"/>
                <p:cNvSpPr/>
                <p:nvPr/>
              </p:nvSpPr>
              <p:spPr>
                <a:xfrm>
                  <a:off x="1485900" y="5067300"/>
                  <a:ext cx="304800" cy="8001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80" name="Straight Connector 79"/>
                <p:cNvCxnSpPr>
                  <a:stCxn id="79" idx="0"/>
                </p:cNvCxnSpPr>
                <p:nvPr/>
              </p:nvCxnSpPr>
              <p:spPr>
                <a:xfrm rot="5400000" flipH="1" flipV="1">
                  <a:off x="1448594" y="4876800"/>
                  <a:ext cx="380206" cy="79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Straight Connector 80"/>
                <p:cNvCxnSpPr/>
                <p:nvPr/>
              </p:nvCxnSpPr>
              <p:spPr>
                <a:xfrm rot="5400000" flipH="1" flipV="1">
                  <a:off x="1448594" y="6057106"/>
                  <a:ext cx="381000" cy="1588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7" name="Oval 76"/>
              <p:cNvSpPr/>
              <p:nvPr/>
            </p:nvSpPr>
            <p:spPr>
              <a:xfrm>
                <a:off x="3581400" y="4267200"/>
                <a:ext cx="76200" cy="762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Oval 77"/>
              <p:cNvSpPr/>
              <p:nvPr/>
            </p:nvSpPr>
            <p:spPr>
              <a:xfrm>
                <a:off x="3581400" y="5867400"/>
                <a:ext cx="76200" cy="762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81"/>
            <p:cNvGrpSpPr/>
            <p:nvPr/>
          </p:nvGrpSpPr>
          <p:grpSpPr>
            <a:xfrm>
              <a:off x="6456814" y="5753101"/>
              <a:ext cx="319318" cy="1359932"/>
              <a:chOff x="1905000" y="4800600"/>
              <a:chExt cx="319318" cy="1359932"/>
            </a:xfrm>
          </p:grpSpPr>
          <p:sp>
            <p:nvSpPr>
              <p:cNvPr id="83" name="TextBox 82"/>
              <p:cNvSpPr txBox="1"/>
              <p:nvPr/>
            </p:nvSpPr>
            <p:spPr>
              <a:xfrm>
                <a:off x="1905000" y="4800600"/>
                <a:ext cx="3193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+</a:t>
                </a:r>
                <a:endParaRPr lang="en-US" dirty="0"/>
              </a:p>
            </p:txBody>
          </p:sp>
          <p:sp>
            <p:nvSpPr>
              <p:cNvPr id="84" name="TextBox 83"/>
              <p:cNvSpPr txBox="1"/>
              <p:nvPr/>
            </p:nvSpPr>
            <p:spPr>
              <a:xfrm>
                <a:off x="1905000" y="5791200"/>
                <a:ext cx="2616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-</a:t>
                </a:r>
                <a:endParaRPr lang="en-US" dirty="0"/>
              </a:p>
            </p:txBody>
          </p:sp>
        </p:grpSp>
        <p:cxnSp>
          <p:nvCxnSpPr>
            <p:cNvPr id="85" name="Straight Arrow Connector 84"/>
            <p:cNvCxnSpPr/>
            <p:nvPr/>
          </p:nvCxnSpPr>
          <p:spPr>
            <a:xfrm rot="16200000" flipV="1">
              <a:off x="7008470" y="5810251"/>
              <a:ext cx="419894" cy="79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85"/>
            <p:cNvSpPr txBox="1"/>
            <p:nvPr/>
          </p:nvSpPr>
          <p:spPr>
            <a:xfrm>
              <a:off x="7295014" y="5638801"/>
              <a:ext cx="2487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 smtClean="0"/>
                <a:t>I</a:t>
              </a:r>
              <a:endParaRPr lang="en-US" b="1" i="1" baseline="-25000" dirty="0"/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6418714" y="6248401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 smtClean="0"/>
                <a:t>V</a:t>
              </a:r>
              <a:endParaRPr lang="en-US" b="1" i="1" baseline="-25000" dirty="0"/>
            </a:p>
          </p:txBody>
        </p:sp>
        <p:grpSp>
          <p:nvGrpSpPr>
            <p:cNvPr id="13" name="Group 87"/>
            <p:cNvGrpSpPr/>
            <p:nvPr/>
          </p:nvGrpSpPr>
          <p:grpSpPr>
            <a:xfrm flipV="1">
              <a:off x="8057014" y="5600701"/>
              <a:ext cx="304800" cy="1676400"/>
              <a:chOff x="3467100" y="4267200"/>
              <a:chExt cx="304800" cy="1676400"/>
            </a:xfrm>
          </p:grpSpPr>
          <p:grpSp>
            <p:nvGrpSpPr>
              <p:cNvPr id="14" name="Group 12"/>
              <p:cNvGrpSpPr/>
              <p:nvPr/>
            </p:nvGrpSpPr>
            <p:grpSpPr>
              <a:xfrm>
                <a:off x="3467100" y="4343400"/>
                <a:ext cx="304800" cy="1561306"/>
                <a:chOff x="1485900" y="4687094"/>
                <a:chExt cx="304800" cy="1561306"/>
              </a:xfrm>
            </p:grpSpPr>
            <p:sp>
              <p:nvSpPr>
                <p:cNvPr id="92" name="Rectangle 91"/>
                <p:cNvSpPr/>
                <p:nvPr/>
              </p:nvSpPr>
              <p:spPr>
                <a:xfrm>
                  <a:off x="1485900" y="5067300"/>
                  <a:ext cx="304800" cy="8001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93" name="Straight Connector 92"/>
                <p:cNvCxnSpPr>
                  <a:stCxn id="92" idx="0"/>
                </p:cNvCxnSpPr>
                <p:nvPr/>
              </p:nvCxnSpPr>
              <p:spPr>
                <a:xfrm rot="5400000" flipH="1" flipV="1">
                  <a:off x="1448594" y="4876800"/>
                  <a:ext cx="380206" cy="79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Connector 93"/>
                <p:cNvCxnSpPr/>
                <p:nvPr/>
              </p:nvCxnSpPr>
              <p:spPr>
                <a:xfrm rot="5400000" flipH="1" flipV="1">
                  <a:off x="1448594" y="6057106"/>
                  <a:ext cx="381000" cy="1588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0" name="Oval 89"/>
              <p:cNvSpPr/>
              <p:nvPr/>
            </p:nvSpPr>
            <p:spPr>
              <a:xfrm>
                <a:off x="3581400" y="4267200"/>
                <a:ext cx="76200" cy="762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Oval 90"/>
              <p:cNvSpPr/>
              <p:nvPr/>
            </p:nvSpPr>
            <p:spPr>
              <a:xfrm>
                <a:off x="3581400" y="5867400"/>
                <a:ext cx="76200" cy="762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" name="Group 94"/>
            <p:cNvGrpSpPr/>
            <p:nvPr/>
          </p:nvGrpSpPr>
          <p:grpSpPr>
            <a:xfrm flipV="1">
              <a:off x="7714114" y="5753101"/>
              <a:ext cx="319318" cy="1359932"/>
              <a:chOff x="1905000" y="4800600"/>
              <a:chExt cx="319318" cy="1359932"/>
            </a:xfrm>
          </p:grpSpPr>
          <p:sp>
            <p:nvSpPr>
              <p:cNvPr id="96" name="TextBox 95"/>
              <p:cNvSpPr txBox="1"/>
              <p:nvPr/>
            </p:nvSpPr>
            <p:spPr>
              <a:xfrm>
                <a:off x="1905000" y="4800600"/>
                <a:ext cx="3193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+</a:t>
                </a:r>
                <a:endParaRPr lang="en-US" dirty="0"/>
              </a:p>
            </p:txBody>
          </p:sp>
          <p:sp>
            <p:nvSpPr>
              <p:cNvPr id="97" name="TextBox 96"/>
              <p:cNvSpPr txBox="1"/>
              <p:nvPr/>
            </p:nvSpPr>
            <p:spPr>
              <a:xfrm>
                <a:off x="1905000" y="5791200"/>
                <a:ext cx="2616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-</a:t>
                </a:r>
                <a:endParaRPr lang="en-US" dirty="0"/>
              </a:p>
            </p:txBody>
          </p:sp>
        </p:grpSp>
        <p:cxnSp>
          <p:nvCxnSpPr>
            <p:cNvPr id="98" name="Straight Arrow Connector 97"/>
            <p:cNvCxnSpPr/>
            <p:nvPr/>
          </p:nvCxnSpPr>
          <p:spPr>
            <a:xfrm rot="5400000">
              <a:off x="8265770" y="5810251"/>
              <a:ext cx="419894" cy="79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/>
            <p:cNvSpPr txBox="1"/>
            <p:nvPr/>
          </p:nvSpPr>
          <p:spPr>
            <a:xfrm flipV="1">
              <a:off x="8552314" y="5638801"/>
              <a:ext cx="2487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 smtClean="0"/>
                <a:t>I</a:t>
              </a:r>
              <a:endParaRPr lang="en-US" b="1" i="1" baseline="-25000" dirty="0"/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7676014" y="6248401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 smtClean="0"/>
                <a:t>V</a:t>
              </a:r>
              <a:endParaRPr lang="en-US" b="1" i="1" baseline="-25000" dirty="0"/>
            </a:p>
          </p:txBody>
        </p:sp>
      </p:grpSp>
      <p:graphicFrame>
        <p:nvGraphicFramePr>
          <p:cNvPr id="135172" name="Object 4"/>
          <p:cNvGraphicFramePr>
            <a:graphicFrameLocks noChangeAspect="1"/>
          </p:cNvGraphicFramePr>
          <p:nvPr/>
        </p:nvGraphicFramePr>
        <p:xfrm>
          <a:off x="800100" y="3314700"/>
          <a:ext cx="7324725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272" name="Equation" r:id="rId5" imgW="1981080" imgH="469800" progId="Equation.3">
                  <p:embed/>
                </p:oleObj>
              </mc:Choice>
              <mc:Fallback>
                <p:oleObj name="Equation" r:id="rId5" imgW="1981080" imgH="4698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" y="3314700"/>
                        <a:ext cx="7324725" cy="1117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" name="TextBox 68"/>
          <p:cNvSpPr txBox="1"/>
          <p:nvPr/>
        </p:nvSpPr>
        <p:spPr>
          <a:xfrm>
            <a:off x="3238500" y="4648200"/>
            <a:ext cx="23455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The element is</a:t>
            </a:r>
          </a:p>
          <a:p>
            <a:r>
              <a:rPr lang="en-US" dirty="0" smtClean="0"/>
              <a:t>consuming power (+)</a:t>
            </a:r>
            <a:endParaRPr lang="en-US" dirty="0"/>
          </a:p>
        </p:txBody>
      </p:sp>
      <p:sp>
        <p:nvSpPr>
          <p:cNvPr id="75" name="TextBox 74"/>
          <p:cNvSpPr txBox="1"/>
          <p:nvPr/>
        </p:nvSpPr>
        <p:spPr>
          <a:xfrm>
            <a:off x="6298634" y="4649569"/>
            <a:ext cx="21595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The element is</a:t>
            </a:r>
          </a:p>
          <a:p>
            <a:r>
              <a:rPr lang="en-US" dirty="0" smtClean="0"/>
              <a:t>delivering power (-)</a:t>
            </a:r>
            <a:endParaRPr lang="en-US" dirty="0"/>
          </a:p>
        </p:txBody>
      </p:sp>
      <p:graphicFrame>
        <p:nvGraphicFramePr>
          <p:cNvPr id="135173" name="Object 5"/>
          <p:cNvGraphicFramePr>
            <a:graphicFrameLocks noChangeAspect="1"/>
          </p:cNvGraphicFramePr>
          <p:nvPr/>
        </p:nvGraphicFramePr>
        <p:xfrm>
          <a:off x="685800" y="5791200"/>
          <a:ext cx="2011363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273" name="Equation" r:id="rId7" imgW="495000" imgH="241200" progId="Equation.3">
                  <p:embed/>
                </p:oleObj>
              </mc:Choice>
              <mc:Fallback>
                <p:oleObj name="Equation" r:id="rId7" imgW="495000" imgH="2412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5791200"/>
                        <a:ext cx="2011363" cy="630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" name="TextBox 75"/>
          <p:cNvSpPr txBox="1"/>
          <p:nvPr/>
        </p:nvSpPr>
        <p:spPr>
          <a:xfrm>
            <a:off x="685800" y="5421868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In a circuit:</a:t>
            </a:r>
            <a:endParaRPr lang="en-US" dirty="0"/>
          </a:p>
        </p:txBody>
      </p:sp>
      <p:sp>
        <p:nvSpPr>
          <p:cNvPr id="82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6667500" y="6454776"/>
            <a:ext cx="2438400" cy="365125"/>
          </a:xfrm>
        </p:spPr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41</a:t>
            </a:fld>
            <a:endParaRPr lang="en-US" dirty="0"/>
          </a:p>
        </p:txBody>
      </p:sp>
      <p:sp>
        <p:nvSpPr>
          <p:cNvPr id="88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35174" name="Object 6"/>
          <p:cNvGraphicFramePr>
            <a:graphicFrameLocks noChangeAspect="1"/>
          </p:cNvGraphicFramePr>
          <p:nvPr/>
        </p:nvGraphicFramePr>
        <p:xfrm>
          <a:off x="3822700" y="6591300"/>
          <a:ext cx="939800" cy="211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274" name="Equation" r:id="rId9" imgW="558720" imgH="164880" progId="Equation.3">
                  <p:embed/>
                </p:oleObj>
              </mc:Choice>
              <mc:Fallback>
                <p:oleObj name="Equation" r:id="rId9" imgW="558720" imgH="16488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2700" y="6591300"/>
                        <a:ext cx="939800" cy="211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175" name="Object 7"/>
          <p:cNvGraphicFramePr>
            <a:graphicFrameLocks noChangeAspect="1"/>
          </p:cNvGraphicFramePr>
          <p:nvPr/>
        </p:nvGraphicFramePr>
        <p:xfrm>
          <a:off x="6745288" y="6570663"/>
          <a:ext cx="1090612" cy="211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275" name="Equation" r:id="rId11" imgW="647640" imgH="164880" progId="Equation.3">
                  <p:embed/>
                </p:oleObj>
              </mc:Choice>
              <mc:Fallback>
                <p:oleObj name="Equation" r:id="rId11" imgW="647640" imgH="16488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5288" y="6570663"/>
                        <a:ext cx="1090612" cy="211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457200" y="114301"/>
            <a:ext cx="8229600" cy="563563"/>
          </a:xfrm>
        </p:spPr>
        <p:txBody>
          <a:bodyPr/>
          <a:lstStyle/>
          <a:p>
            <a:r>
              <a:rPr lang="en-US" sz="2800" dirty="0" smtClean="0"/>
              <a:t>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42</a:t>
            </a:fld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533400" y="723900"/>
            <a:ext cx="8229600" cy="5524500"/>
          </a:xfrm>
        </p:spPr>
        <p:txBody>
          <a:bodyPr/>
          <a:lstStyle/>
          <a:p>
            <a:pPr>
              <a:buNone/>
            </a:pPr>
            <a:r>
              <a:rPr lang="en-US" sz="2400" dirty="0" smtClean="0"/>
              <a:t>A stove draws 10 A when connected to a 120-V line. How long does it take to consume 30kJ ?</a:t>
            </a:r>
            <a:endParaRPr lang="en-US" sz="2000" dirty="0" smtClean="0"/>
          </a:p>
        </p:txBody>
      </p:sp>
      <p:sp>
        <p:nvSpPr>
          <p:cNvPr id="7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457200" y="114301"/>
            <a:ext cx="8229600" cy="563563"/>
          </a:xfrm>
        </p:spPr>
        <p:txBody>
          <a:bodyPr/>
          <a:lstStyle/>
          <a:p>
            <a:r>
              <a:rPr lang="en-US" sz="2800" dirty="0" smtClean="0"/>
              <a:t>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43</a:t>
            </a:fld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533400" y="723900"/>
            <a:ext cx="8229600" cy="5524500"/>
          </a:xfrm>
        </p:spPr>
        <p:txBody>
          <a:bodyPr/>
          <a:lstStyle/>
          <a:p>
            <a:pPr>
              <a:buNone/>
            </a:pPr>
            <a:r>
              <a:rPr lang="en-US" sz="2400" dirty="0" smtClean="0"/>
              <a:t>A stove draws 10 A when connected to a 120-V line. How long does it take to consume 30kJ ?</a:t>
            </a:r>
            <a:endParaRPr lang="en-US" sz="2000" dirty="0" smtClean="0"/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457200" y="2057400"/>
            <a:ext cx="8229600" cy="56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Solution:</a:t>
            </a:r>
          </a:p>
        </p:txBody>
      </p:sp>
      <p:graphicFrame>
        <p:nvGraphicFramePr>
          <p:cNvPr id="138243" name="Object 3"/>
          <p:cNvGraphicFramePr>
            <a:graphicFrameLocks noChangeAspect="1"/>
          </p:cNvGraphicFramePr>
          <p:nvPr/>
        </p:nvGraphicFramePr>
        <p:xfrm>
          <a:off x="609600" y="2971800"/>
          <a:ext cx="7742238" cy="13115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311" name="Equation" r:id="rId3" imgW="2552400" imgH="609480" progId="Equation.3">
                  <p:embed/>
                </p:oleObj>
              </mc:Choice>
              <mc:Fallback>
                <p:oleObj name="Equation" r:id="rId3" imgW="2552400" imgH="6094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971800"/>
                        <a:ext cx="7742238" cy="13115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457200" y="114301"/>
            <a:ext cx="8229600" cy="563563"/>
          </a:xfrm>
        </p:spPr>
        <p:txBody>
          <a:bodyPr/>
          <a:lstStyle/>
          <a:p>
            <a:r>
              <a:rPr lang="en-US" sz="2800" dirty="0" smtClean="0"/>
              <a:t>Example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44</a:t>
            </a:fld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533400" y="723900"/>
            <a:ext cx="8229600" cy="5524500"/>
          </a:xfrm>
        </p:spPr>
        <p:txBody>
          <a:bodyPr/>
          <a:lstStyle/>
          <a:p>
            <a:pPr>
              <a:buNone/>
            </a:pPr>
            <a:r>
              <a:rPr lang="en-US" sz="2400" dirty="0" smtClean="0"/>
              <a:t>A notebook computer has a total power consumption of 50 W when running an ‘average’ application. The battery used in this notebook has a capacity of 300 </a:t>
            </a:r>
            <a:r>
              <a:rPr lang="en-US" sz="2400" dirty="0" err="1" smtClean="0"/>
              <a:t>Whrs</a:t>
            </a:r>
            <a:r>
              <a:rPr lang="en-US" sz="2400" dirty="0" smtClean="0"/>
              <a:t> (Watt-hours). What is the average battery life of this notebook?</a:t>
            </a:r>
            <a:endParaRPr lang="en-US" sz="2000" dirty="0" smtClean="0"/>
          </a:p>
        </p:txBody>
      </p:sp>
      <p:sp>
        <p:nvSpPr>
          <p:cNvPr id="7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457200" y="114301"/>
            <a:ext cx="8229600" cy="563563"/>
          </a:xfrm>
        </p:spPr>
        <p:txBody>
          <a:bodyPr/>
          <a:lstStyle/>
          <a:p>
            <a:r>
              <a:rPr lang="en-US" sz="2800" dirty="0" smtClean="0"/>
              <a:t>Example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45</a:t>
            </a:fld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533400" y="723900"/>
            <a:ext cx="8229600" cy="5524500"/>
          </a:xfrm>
        </p:spPr>
        <p:txBody>
          <a:bodyPr/>
          <a:lstStyle/>
          <a:p>
            <a:pPr>
              <a:buNone/>
            </a:pPr>
            <a:r>
              <a:rPr lang="en-US" sz="2400" dirty="0" smtClean="0"/>
              <a:t>A notebook computer has a total power consumption of 50 W when running an ‘average’ application. The battery used in this notebook has a capacity of 300 </a:t>
            </a:r>
            <a:r>
              <a:rPr lang="en-US" sz="2400" dirty="0" err="1" smtClean="0"/>
              <a:t>Whrs</a:t>
            </a:r>
            <a:r>
              <a:rPr lang="en-US" sz="2400" dirty="0" smtClean="0"/>
              <a:t> (Watt-hours). What is the average battery life of this notebook?</a:t>
            </a:r>
            <a:endParaRPr lang="en-US" sz="2000" dirty="0" smtClean="0"/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457200" y="2979737"/>
            <a:ext cx="8229600" cy="56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Solution:</a:t>
            </a:r>
          </a:p>
        </p:txBody>
      </p:sp>
      <p:graphicFrame>
        <p:nvGraphicFramePr>
          <p:cNvPr id="138243" name="Object 3"/>
          <p:cNvGraphicFramePr>
            <a:graphicFrameLocks noChangeAspect="1"/>
          </p:cNvGraphicFramePr>
          <p:nvPr/>
        </p:nvGraphicFramePr>
        <p:xfrm>
          <a:off x="1544638" y="4038600"/>
          <a:ext cx="6410325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06" name="Equation" r:id="rId3" imgW="2793960" imgH="393480" progId="Equation.3">
                  <p:embed/>
                </p:oleObj>
              </mc:Choice>
              <mc:Fallback>
                <p:oleObj name="Equation" r:id="rId3" imgW="2793960" imgH="3934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4638" y="4038600"/>
                        <a:ext cx="6410325" cy="757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09700" y="5257800"/>
            <a:ext cx="6743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smtClean="0"/>
              <a:t>Note how Watt-hours is sometimes used as the unit of energy </a:t>
            </a:r>
          </a:p>
          <a:p>
            <a:r>
              <a:rPr lang="en-US" i="1" dirty="0" smtClean="0"/>
              <a:t>instead of Joules.</a:t>
            </a:r>
            <a:endParaRPr lang="tr-TR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457200" y="114301"/>
            <a:ext cx="8229600" cy="563563"/>
          </a:xfrm>
        </p:spPr>
        <p:txBody>
          <a:bodyPr/>
          <a:lstStyle/>
          <a:p>
            <a:r>
              <a:rPr lang="en-US" sz="2800" dirty="0" smtClean="0"/>
              <a:t>Passive &amp; Active Elements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533400" y="838200"/>
            <a:ext cx="8229600" cy="5410199"/>
          </a:xfrm>
        </p:spPr>
        <p:txBody>
          <a:bodyPr/>
          <a:lstStyle/>
          <a:p>
            <a:r>
              <a:rPr lang="en-US" sz="2400" dirty="0" smtClean="0"/>
              <a:t>The energy absorbed by a Passive element up to any time </a:t>
            </a:r>
            <a:r>
              <a:rPr lang="en-US" sz="2400" i="1" dirty="0" smtClean="0"/>
              <a:t>t </a:t>
            </a:r>
            <a:r>
              <a:rPr lang="en-US" sz="2400" dirty="0" smtClean="0"/>
              <a:t>must be nonnegative:</a:t>
            </a:r>
          </a:p>
          <a:p>
            <a:endParaRPr lang="en-US" sz="2400" dirty="0" smtClean="0"/>
          </a:p>
          <a:p>
            <a:pPr lvl="1">
              <a:buNone/>
            </a:pPr>
            <a:endParaRPr lang="en-US" sz="2400" dirty="0" smtClean="0"/>
          </a:p>
          <a:p>
            <a:pPr>
              <a:buNone/>
            </a:pPr>
            <a:endParaRPr lang="en-US" sz="2400" dirty="0" smtClean="0"/>
          </a:p>
          <a:p>
            <a:endParaRPr lang="en-US" dirty="0" smtClean="0"/>
          </a:p>
          <a:p>
            <a:pPr lvl="1"/>
            <a:endParaRPr lang="en-US" sz="2400" dirty="0" smtClean="0"/>
          </a:p>
          <a:p>
            <a:pPr lvl="1">
              <a:buNone/>
            </a:pPr>
            <a:endParaRPr lang="en-US" sz="2400" dirty="0" smtClean="0"/>
          </a:p>
          <a:p>
            <a:endParaRPr lang="en-US" sz="2400" dirty="0" smtClean="0"/>
          </a:p>
        </p:txBody>
      </p:sp>
      <p:graphicFrame>
        <p:nvGraphicFramePr>
          <p:cNvPr id="132100" name="Object 4"/>
          <p:cNvGraphicFramePr>
            <a:graphicFrameLocks noChangeAspect="1"/>
          </p:cNvGraphicFramePr>
          <p:nvPr/>
        </p:nvGraphicFramePr>
        <p:xfrm>
          <a:off x="1624013" y="1450975"/>
          <a:ext cx="6086475" cy="1160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214" name="Equation" r:id="rId3" imgW="1498320" imgH="444240" progId="Equation.3">
                  <p:embed/>
                </p:oleObj>
              </mc:Choice>
              <mc:Fallback>
                <p:oleObj name="Equation" r:id="rId3" imgW="1498320" imgH="4442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4013" y="1450975"/>
                        <a:ext cx="6086475" cy="1160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6667500" y="6454776"/>
            <a:ext cx="2438400" cy="365125"/>
          </a:xfrm>
        </p:spPr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46</a:t>
            </a:fld>
            <a:endParaRPr lang="en-US" dirty="0"/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457200" y="114301"/>
            <a:ext cx="8229600" cy="563563"/>
          </a:xfrm>
        </p:spPr>
        <p:txBody>
          <a:bodyPr/>
          <a:lstStyle/>
          <a:p>
            <a:r>
              <a:rPr lang="en-US" sz="2800" dirty="0" smtClean="0"/>
              <a:t>Passive &amp; Active Elements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533400" y="838200"/>
            <a:ext cx="8229600" cy="5410199"/>
          </a:xfrm>
        </p:spPr>
        <p:txBody>
          <a:bodyPr/>
          <a:lstStyle/>
          <a:p>
            <a:r>
              <a:rPr lang="en-US" sz="2400" dirty="0" smtClean="0"/>
              <a:t>The energy absorbed by a Passive element up to any time </a:t>
            </a:r>
            <a:r>
              <a:rPr lang="en-US" sz="2400" i="1" dirty="0" smtClean="0"/>
              <a:t>t </a:t>
            </a:r>
            <a:r>
              <a:rPr lang="en-US" sz="2400" dirty="0" smtClean="0"/>
              <a:t>must be nonnegative:</a:t>
            </a:r>
          </a:p>
          <a:p>
            <a:endParaRPr lang="en-US" sz="2400" dirty="0" smtClean="0"/>
          </a:p>
          <a:p>
            <a:pPr lvl="1">
              <a:buNone/>
            </a:pPr>
            <a:endParaRPr lang="en-US" sz="2400" dirty="0" smtClean="0"/>
          </a:p>
          <a:p>
            <a:r>
              <a:rPr lang="en-US" sz="2400" dirty="0" smtClean="0"/>
              <a:t>The opposite is true for Active elements.</a:t>
            </a:r>
          </a:p>
          <a:p>
            <a:endParaRPr lang="en-US" sz="2400" dirty="0" smtClean="0"/>
          </a:p>
          <a:p>
            <a:r>
              <a:rPr lang="en-US" sz="2400" dirty="0" smtClean="0"/>
              <a:t>Some active elements:</a:t>
            </a:r>
          </a:p>
          <a:p>
            <a:pPr>
              <a:buNone/>
            </a:pPr>
            <a:endParaRPr lang="en-US" sz="2400" dirty="0" smtClean="0"/>
          </a:p>
          <a:p>
            <a:endParaRPr lang="en-US" dirty="0" smtClean="0"/>
          </a:p>
          <a:p>
            <a:pPr lvl="1"/>
            <a:endParaRPr lang="en-US" sz="2400" dirty="0" smtClean="0"/>
          </a:p>
          <a:p>
            <a:pPr lvl="1">
              <a:buNone/>
            </a:pPr>
            <a:endParaRPr lang="en-US" sz="2400" dirty="0" smtClean="0"/>
          </a:p>
          <a:p>
            <a:endParaRPr lang="en-US" sz="2400" dirty="0" smtClean="0"/>
          </a:p>
        </p:txBody>
      </p:sp>
      <p:graphicFrame>
        <p:nvGraphicFramePr>
          <p:cNvPr id="132100" name="Object 4"/>
          <p:cNvGraphicFramePr>
            <a:graphicFrameLocks noChangeAspect="1"/>
          </p:cNvGraphicFramePr>
          <p:nvPr/>
        </p:nvGraphicFramePr>
        <p:xfrm>
          <a:off x="1624013" y="1450975"/>
          <a:ext cx="6086475" cy="1160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526" name="Equation" r:id="rId3" imgW="1498320" imgH="444240" progId="Equation.3">
                  <p:embed/>
                </p:oleObj>
              </mc:Choice>
              <mc:Fallback>
                <p:oleObj name="Equation" r:id="rId3" imgW="1498320" imgH="4442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4013" y="1450975"/>
                        <a:ext cx="6086475" cy="1160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" name="TextBox 62"/>
          <p:cNvSpPr txBox="1"/>
          <p:nvPr/>
        </p:nvSpPr>
        <p:spPr>
          <a:xfrm>
            <a:off x="876300" y="4114800"/>
            <a:ext cx="3159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 smtClean="0"/>
              <a:t>Independent Voltage Source:</a:t>
            </a:r>
            <a:endParaRPr lang="en-US" u="sng" dirty="0"/>
          </a:p>
        </p:txBody>
      </p:sp>
      <p:sp>
        <p:nvSpPr>
          <p:cNvPr id="69" name="TextBox 68"/>
          <p:cNvSpPr txBox="1"/>
          <p:nvPr/>
        </p:nvSpPr>
        <p:spPr>
          <a:xfrm>
            <a:off x="5260261" y="4126468"/>
            <a:ext cx="3159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 smtClean="0"/>
              <a:t>Independent Current Source:</a:t>
            </a:r>
            <a:endParaRPr lang="en-US" u="sng" dirty="0"/>
          </a:p>
        </p:txBody>
      </p:sp>
      <p:pic>
        <p:nvPicPr>
          <p:cNvPr id="136199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066800" y="4724400"/>
            <a:ext cx="2595143" cy="148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6200" name="Picture 8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134100" y="4701269"/>
            <a:ext cx="1295400" cy="14709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5" name="TextBox 74"/>
          <p:cNvSpPr txBox="1"/>
          <p:nvPr/>
        </p:nvSpPr>
        <p:spPr>
          <a:xfrm>
            <a:off x="386918" y="6298168"/>
            <a:ext cx="4173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Voltage is fixed, independent of current</a:t>
            </a:r>
            <a:endParaRPr lang="en-US" dirty="0"/>
          </a:p>
        </p:txBody>
      </p:sp>
      <p:sp>
        <p:nvSpPr>
          <p:cNvPr id="82" name="TextBox 81"/>
          <p:cNvSpPr txBox="1"/>
          <p:nvPr/>
        </p:nvSpPr>
        <p:spPr>
          <a:xfrm>
            <a:off x="4914900" y="6286500"/>
            <a:ext cx="4198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Current is fixed, independent of voltage</a:t>
            </a:r>
            <a:endParaRPr lang="en-US" dirty="0"/>
          </a:p>
        </p:txBody>
      </p:sp>
      <p:sp>
        <p:nvSpPr>
          <p:cNvPr id="88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6667500" y="6454776"/>
            <a:ext cx="2438400" cy="365125"/>
          </a:xfrm>
        </p:spPr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47</a:t>
            </a:fld>
            <a:endParaRPr lang="en-US" dirty="0"/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18553</TotalTime>
  <Words>2220</Words>
  <Application>Microsoft Office PowerPoint</Application>
  <PresentationFormat>On-screen Show (4:3)</PresentationFormat>
  <Paragraphs>694</Paragraphs>
  <Slides>47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4" baseType="lpstr">
      <vt:lpstr>Arial</vt:lpstr>
      <vt:lpstr>Arial Black</vt:lpstr>
      <vt:lpstr>Arial Narrow</vt:lpstr>
      <vt:lpstr>Calibri</vt:lpstr>
      <vt:lpstr>Symbol</vt:lpstr>
      <vt:lpstr>Office Theme</vt:lpstr>
      <vt:lpstr>Equation</vt:lpstr>
      <vt:lpstr>Electrical Circuits EEE-281 Lecture Notes</vt:lpstr>
      <vt:lpstr>Introduction to Electrical Circuits  Week 1  Reading: Nilsson &amp; Riedel Chapter 1</vt:lpstr>
      <vt:lpstr>What is an Electrical Circuit ?</vt:lpstr>
      <vt:lpstr>What is an Electrical Circuit ?</vt:lpstr>
      <vt:lpstr>What is an Electrical Circuit ?</vt:lpstr>
      <vt:lpstr>Basic Electrical Engineering Design Flow</vt:lpstr>
      <vt:lpstr>Basic Electrical Engineering Design Flow</vt:lpstr>
      <vt:lpstr>Basic Electrical Engineering Design Flow</vt:lpstr>
      <vt:lpstr>Basic Electrical Engineering Design Flow</vt:lpstr>
      <vt:lpstr>Basic Electrical Engineering Design Flow</vt:lpstr>
      <vt:lpstr>PowerPoint Presentation</vt:lpstr>
      <vt:lpstr>PowerPoint Presentation</vt:lpstr>
      <vt:lpstr>PowerPoint Presentation</vt:lpstr>
      <vt:lpstr>Electrical Elements</vt:lpstr>
      <vt:lpstr>Basic Circuit Analysis Flow  (what we will do in this class)</vt:lpstr>
      <vt:lpstr>Basic Circuit Analysis Flow  (what we will do in this class)</vt:lpstr>
      <vt:lpstr>Basic Circuit Analysis Flow  (what we will do in this class)</vt:lpstr>
      <vt:lpstr>Basic Circuit Analysis Flow  (what we will do in this class)</vt:lpstr>
      <vt:lpstr>Basic Circuit Analysis Flow  (what we will do in this class)</vt:lpstr>
      <vt:lpstr>Basic Circuit Analysis Flow  (what we will do in this class)</vt:lpstr>
      <vt:lpstr>Charge : Q or q(t) if time varying</vt:lpstr>
      <vt:lpstr>Charge : Q or q(t) if time varying</vt:lpstr>
      <vt:lpstr>Charge : Q or q(t) if time varying</vt:lpstr>
      <vt:lpstr>Charge : Q or q(t) if time varying</vt:lpstr>
      <vt:lpstr>Atom and Charge</vt:lpstr>
      <vt:lpstr>Atom and Charge</vt:lpstr>
      <vt:lpstr>Current : I or i(t) if time varying</vt:lpstr>
      <vt:lpstr>Current : I or i(t) if time varying</vt:lpstr>
      <vt:lpstr>Current : I or i(t) if time varying</vt:lpstr>
      <vt:lpstr>Example</vt:lpstr>
      <vt:lpstr>Example</vt:lpstr>
      <vt:lpstr>Voltage : V or v(t) if time varying</vt:lpstr>
      <vt:lpstr>Voltage : V or v(t) if time varying</vt:lpstr>
      <vt:lpstr>Passive Sign Convention</vt:lpstr>
      <vt:lpstr>Passive Sign Convention</vt:lpstr>
      <vt:lpstr>Standard Prefixes for Powers of 10</vt:lpstr>
      <vt:lpstr>Power : P or p(t) if time varying</vt:lpstr>
      <vt:lpstr>Power : P or p(t) if time varying</vt:lpstr>
      <vt:lpstr>Power : P or p(t) if time varying</vt:lpstr>
      <vt:lpstr>Power : P or p(t) if time varying</vt:lpstr>
      <vt:lpstr>Power : P or p(t) if time varying</vt:lpstr>
      <vt:lpstr>Example</vt:lpstr>
      <vt:lpstr>Example</vt:lpstr>
      <vt:lpstr>Example 2</vt:lpstr>
      <vt:lpstr>Example 2</vt:lpstr>
      <vt:lpstr>Passive &amp; Active Elements</vt:lpstr>
      <vt:lpstr>Passive &amp; Active Elements</vt:lpstr>
    </vt:vector>
  </TitlesOfParts>
  <Company>Muhtaroglu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Signals and Systems I EEE-301 Lecture Notes</dc:title>
  <dc:creator>Ali</dc:creator>
  <cp:lastModifiedBy>Microsoft account</cp:lastModifiedBy>
  <cp:revision>284</cp:revision>
  <dcterms:created xsi:type="dcterms:W3CDTF">2007-08-31T13:08:21Z</dcterms:created>
  <dcterms:modified xsi:type="dcterms:W3CDTF">2023-10-04T05:55:14Z</dcterms:modified>
</cp:coreProperties>
</file>