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18D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4" r:id="rId2"/>
  </p:sldMasterIdLst>
  <p:notesMasterIdLst>
    <p:notesMasterId r:id="rId42"/>
  </p:notesMasterIdLst>
  <p:handoutMasterIdLst>
    <p:handoutMasterId r:id="rId43"/>
  </p:handoutMasterIdLst>
  <p:sldIdLst>
    <p:sldId id="464" r:id="rId3"/>
    <p:sldId id="291" r:id="rId4"/>
    <p:sldId id="320" r:id="rId5"/>
    <p:sldId id="296" r:id="rId6"/>
    <p:sldId id="319" r:id="rId7"/>
    <p:sldId id="321" r:id="rId8"/>
    <p:sldId id="387" r:id="rId9"/>
    <p:sldId id="385" r:id="rId10"/>
    <p:sldId id="386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9" r:id="rId22"/>
    <p:sldId id="398" r:id="rId23"/>
    <p:sldId id="400" r:id="rId24"/>
    <p:sldId id="403" r:id="rId25"/>
    <p:sldId id="404" r:id="rId26"/>
    <p:sldId id="406" r:id="rId27"/>
    <p:sldId id="317" r:id="rId28"/>
    <p:sldId id="322" r:id="rId29"/>
    <p:sldId id="318" r:id="rId30"/>
    <p:sldId id="323" r:id="rId31"/>
    <p:sldId id="324" r:id="rId32"/>
    <p:sldId id="328" r:id="rId33"/>
    <p:sldId id="329" r:id="rId34"/>
    <p:sldId id="325" r:id="rId35"/>
    <p:sldId id="326" r:id="rId36"/>
    <p:sldId id="410" r:id="rId37"/>
    <p:sldId id="409" r:id="rId38"/>
    <p:sldId id="411" r:id="rId39"/>
    <p:sldId id="412" r:id="rId40"/>
    <p:sldId id="413" r:id="rId41"/>
  </p:sldIdLst>
  <p:sldSz cx="9144000" cy="6858000" type="screen4x3"/>
  <p:notesSz cx="6791325" cy="99234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79FC9B-D91B-7163-829F-830A43F7DB53}" name="Yağmur CAN" initials="YC" userId="S::yagmur.can@metu.edu.tr::a72a0d38-c58c-469d-bbc7-21a460a3a2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4" autoAdjust="0"/>
  </p:normalViewPr>
  <p:slideViewPr>
    <p:cSldViewPr>
      <p:cViewPr varScale="1">
        <p:scale>
          <a:sx n="83" d="100"/>
          <a:sy n="83" d="100"/>
        </p:scale>
        <p:origin x="147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488"/>
    </p:cViewPr>
  </p:sorterViewPr>
  <p:notesViewPr>
    <p:cSldViewPr>
      <p:cViewPr varScale="1">
        <p:scale>
          <a:sx n="58" d="100"/>
          <a:sy n="58" d="100"/>
        </p:scale>
        <p:origin x="-1968" y="-86"/>
      </p:cViewPr>
      <p:guideLst>
        <p:guide orient="horz" pos="3126"/>
        <p:guide pos="2140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48" Type="http://schemas.microsoft.com/office/2018/10/relationships/authors" Target="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omments/modernComment_18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9B1278-9D7C-4BC3-A6D0-E6628A224DDB}" authorId="{7179FC9B-D91B-7163-829F-830A43F7DB53}" created="2023-11-30T13:10:47.980">
    <pc:sldMkLst xmlns:pc="http://schemas.microsoft.com/office/powerpoint/2013/main/command">
      <pc:docMk/>
      <pc:sldMk cId="0" sldId="397"/>
    </pc:sldMkLst>
    <p188:txBody>
      <a:bodyPr/>
      <a:lstStyle/>
      <a:p>
        <a:r>
          <a:rPr lang="en-US"/>
          <a:t>Burayı anlamadım
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6846" y="1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/>
          <a:lstStyle>
            <a:lvl1pPr algn="r">
              <a:defRPr sz="1100"/>
            </a:lvl1pPr>
          </a:lstStyle>
          <a:p>
            <a:fld id="{88317F73-780A-44BC-8CEB-6A904FAD50C3}" type="datetimeFigureOut">
              <a:rPr lang="en-US" smtClean="0"/>
              <a:pPr/>
              <a:t>11/30/2023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5567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 anchor="b"/>
          <a:lstStyle>
            <a:lvl1pPr algn="l">
              <a:defRPr sz="1100"/>
            </a:lvl1pPr>
          </a:lstStyle>
          <a:p>
            <a:r>
              <a:rPr lang="en-US" dirty="0"/>
              <a:t>Ali Muhtaroglu EEE-201 Fall 2008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6846" y="9425567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 anchor="b"/>
          <a:lstStyle>
            <a:lvl1pPr algn="r">
              <a:defRPr sz="1100"/>
            </a:lvl1pPr>
          </a:lstStyle>
          <a:p>
            <a:fld id="{14CCCDEF-E892-426B-951E-3DF22639A0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248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6846" y="1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/>
          <a:lstStyle>
            <a:lvl1pPr algn="r">
              <a:defRPr sz="1100"/>
            </a:lvl1pPr>
          </a:lstStyle>
          <a:p>
            <a:fld id="{FEE8148B-16E5-4DB6-B21A-06F7282DA7B2}" type="datetimeFigureOut">
              <a:rPr lang="en-US" smtClean="0"/>
              <a:pPr/>
              <a:t>11/30/2023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6125"/>
            <a:ext cx="4959350" cy="3719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720" tIns="44360" rIns="88720" bIns="4436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133" y="4713647"/>
            <a:ext cx="5433060" cy="4465558"/>
          </a:xfrm>
          <a:prstGeom prst="rect">
            <a:avLst/>
          </a:prstGeom>
        </p:spPr>
        <p:txBody>
          <a:bodyPr vert="horz" lIns="88720" tIns="44360" rIns="88720" bIns="4436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5567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6846" y="9425567"/>
            <a:ext cx="2942907" cy="496173"/>
          </a:xfrm>
          <a:prstGeom prst="rect">
            <a:avLst/>
          </a:prstGeom>
        </p:spPr>
        <p:txBody>
          <a:bodyPr vert="horz" lIns="88720" tIns="44360" rIns="88720" bIns="44360" rtlCol="0" anchor="b"/>
          <a:lstStyle>
            <a:lvl1pPr algn="r">
              <a:defRPr sz="1100"/>
            </a:lvl1pPr>
          </a:lstStyle>
          <a:p>
            <a:fld id="{E15A28F2-8CAD-4F56-A39E-6A4BC47858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6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A28F2-8CAD-4F56-A39E-6A4BC478584B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048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85AD2-EAF9-44D4-9DC0-A904DACFF846}" type="datetimeFigureOut">
              <a:rPr lang="en-US"/>
              <a:pPr>
                <a:defRPr/>
              </a:pPr>
              <a:t>11/30/2023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159B-6DED-40ED-899A-53891BB365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" descr="C:\Users\ali\Documents\prj\metu\webpage\redar\metuncc_emblem_h500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24700" y="0"/>
            <a:ext cx="2019300" cy="78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082" y="0"/>
            <a:ext cx="1615918" cy="7022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1111D4-87A2-4FF9-BF16-4D005677BA2C}" type="datetimeFigureOut">
              <a:rPr lang="en-US" smtClean="0"/>
              <a:pPr>
                <a:defRPr/>
              </a:pPr>
              <a:t>11/30/2023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20A69-C4DD-4109-A3ED-37F087A1F132}" type="datetimeFigureOut">
              <a:rPr lang="en-US"/>
              <a:pPr>
                <a:defRPr/>
              </a:pPr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4C74F-BF3E-4F24-8B3C-16FB0EDD9D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164C4-958C-45BC-BD54-965BB7070DEB}" type="datetimeFigureOut">
              <a:rPr lang="en-US"/>
              <a:pPr>
                <a:defRPr/>
              </a:pPr>
              <a:t>11/30/2023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941DC-0B2E-48E2-A6F0-9636F82086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2E9F9-703D-4B2D-9EFE-5A284F223768}" type="datetimeFigureOut">
              <a:rPr lang="en-US"/>
              <a:pPr>
                <a:defRPr/>
              </a:pPr>
              <a:t>11/30/2023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15964-DF3F-4834-BE59-592FCDF52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li\Documents\prj\metu\webpage\redar\metuncc_emblem_h500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24700" y="0"/>
            <a:ext cx="2019300" cy="78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6C235-395A-448E-84C7-3296EFFFA653}" type="datetimeFigureOut">
              <a:rPr lang="en-US"/>
              <a:pPr>
                <a:defRPr/>
              </a:pPr>
              <a:t>11/30/2023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6C548-C3D6-438F-AF28-F918C44420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89FF-37F9-41AE-A1AE-9FE9D4F65210}" type="datetimeFigureOut">
              <a:rPr lang="en-US"/>
              <a:pPr>
                <a:defRPr/>
              </a:pPr>
              <a:t>11/30/2023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D3E618-5168-46D8-9093-4FFD328E4C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32A4D-DBA8-4AC9-A112-BADF4813838F}" type="datetimeFigureOut">
              <a:rPr lang="en-US"/>
              <a:pPr>
                <a:defRPr/>
              </a:pPr>
              <a:t>11/30/2023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CE29A-235E-4102-A7BB-AC1422769E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830A5-9CDD-4A01-AE6C-B7F774C547D9}" type="datetimeFigureOut">
              <a:rPr lang="en-US"/>
              <a:pPr>
                <a:defRPr/>
              </a:pPr>
              <a:t>11/30/2023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B51D7-DCE0-49C4-9B0B-0EC664849A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80D80-6114-402D-A1C1-7E7B8DEED232}" type="datetimeFigureOut">
              <a:rPr lang="en-US"/>
              <a:pPr>
                <a:defRPr/>
              </a:pPr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750E7-EF53-4816-BA7D-520B91DC7E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FF668-FF27-4A48-BBBC-72969536306B}" type="datetimeFigureOut">
              <a:rPr lang="en-US"/>
              <a:pPr>
                <a:defRPr/>
              </a:pPr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57CBA-45D2-49F3-AE4F-4082575BC8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85AD2-EAF9-44D4-9DC0-A904DACFF84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159B-6DED-40ED-899A-53891BB365C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082" y="0"/>
            <a:ext cx="1615918" cy="70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088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082" y="0"/>
            <a:ext cx="1615918" cy="70224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1111D4-87A2-4FF9-BF16-4D005677BA2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11/30/2023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6667500" y="6454776"/>
            <a:ext cx="24384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975407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20A69-C4DD-4109-A3ED-37F087A1F13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4C74F-BF3E-4F24-8B3C-16FB0EDD9D8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016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164C4-958C-45BC-BD54-965BB7070DE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941DC-0B2E-48E2-A6F0-9636F82086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622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2E9F9-703D-4B2D-9EFE-5A284F22376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15964-DF3F-4834-BE59-592FCDF52C0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842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6C235-395A-448E-84C7-3296EFFFA65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6C548-C3D6-438F-AF28-F918C44420D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944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89FF-37F9-41AE-A1AE-9FE9D4F6521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D3E618-5168-46D8-9093-4FFD328E4CA3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041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C32A4D-DBA8-4AC9-A112-BADF481383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CE29A-235E-4102-A7BB-AC1422769E1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889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830A5-9CDD-4A01-AE6C-B7F774C547D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B51D7-DCE0-49C4-9B0B-0EC664849A6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48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80D80-6114-402D-A1C1-7E7B8DEED23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750E7-EF53-4816-BA7D-520B91DC7E0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822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FF668-FF27-4A48-BBBC-72969536306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57CBA-45D2-49F3-AE4F-4082575BC86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826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71111D4-87A2-4FF9-BF16-4D005677BA2C}" type="datetimeFigureOut">
              <a:rPr lang="en-US"/>
              <a:pPr>
                <a:defRPr/>
              </a:pPr>
              <a:t>11/30/2023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957CEED-90C7-4FD0-AB8C-14085BB915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71111D4-87A2-4FF9-BF16-4D005677BA2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11/30/2023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957CEED-90C7-4FD0-AB8C-14085BB915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350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2.bin"/><Relationship Id="rId7" Type="http://schemas.openxmlformats.org/officeDocument/2006/relationships/image" Target="../media/image16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wmf"/><Relationship Id="rId9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8.wmf"/><Relationship Id="rId7" Type="http://schemas.openxmlformats.org/officeDocument/2006/relationships/image" Target="../media/image20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21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microsoft.com/office/2018/10/relationships/comments" Target="../comments/modernComment_18D_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11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20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2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ubtitle 2"/>
          <p:cNvSpPr>
            <a:spLocks noGrp="1"/>
          </p:cNvSpPr>
          <p:nvPr>
            <p:ph type="subTitle" idx="1"/>
          </p:nvPr>
        </p:nvSpPr>
        <p:spPr>
          <a:xfrm>
            <a:off x="1384385" y="2468875"/>
            <a:ext cx="6400800" cy="2517040"/>
          </a:xfrm>
        </p:spPr>
        <p:txBody>
          <a:bodyPr/>
          <a:lstStyle/>
          <a:p>
            <a:r>
              <a:rPr lang="tr-TR" sz="2000" dirty="0">
                <a:solidFill>
                  <a:schemeClr val="tx1"/>
                </a:solidFill>
              </a:rPr>
              <a:t>Dr. </a:t>
            </a:r>
            <a:r>
              <a:rPr lang="en-US" sz="2000" dirty="0">
                <a:solidFill>
                  <a:schemeClr val="tx1"/>
                </a:solidFill>
              </a:rPr>
              <a:t>Özçel </a:t>
            </a:r>
            <a:r>
              <a:rPr lang="en-US" sz="2000" dirty="0" err="1">
                <a:solidFill>
                  <a:schemeClr val="tx1"/>
                </a:solidFill>
              </a:rPr>
              <a:t>Cangül</a:t>
            </a:r>
            <a:endParaRPr lang="tr-TR" sz="2000" dirty="0">
              <a:solidFill>
                <a:schemeClr val="tx1"/>
              </a:solidFill>
            </a:endParaRPr>
          </a:p>
          <a:p>
            <a:r>
              <a:rPr lang="tr-TR" sz="2000" dirty="0">
                <a:solidFill>
                  <a:schemeClr val="tx1"/>
                </a:solidFill>
              </a:rPr>
              <a:t>Lecture Notes by </a:t>
            </a:r>
            <a:r>
              <a:rPr lang="en-US" sz="2000" dirty="0">
                <a:solidFill>
                  <a:schemeClr val="tx1"/>
                </a:solidFill>
              </a:rPr>
              <a:t>Dr. Ali </a:t>
            </a:r>
            <a:r>
              <a:rPr lang="en-US" sz="2000" dirty="0" err="1">
                <a:solidFill>
                  <a:schemeClr val="tx1"/>
                </a:solidFill>
              </a:rPr>
              <a:t>Muhtaroğlu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Fall 2023</a:t>
            </a:r>
          </a:p>
          <a:p>
            <a:r>
              <a:rPr lang="en-US" sz="2000" dirty="0">
                <a:solidFill>
                  <a:schemeClr val="tx1"/>
                </a:solidFill>
              </a:rPr>
              <a:t>METU Northern Cyprus Campus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691625" y="4734461"/>
            <a:ext cx="6183206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600" u="sng" dirty="0">
                <a:solidFill>
                  <a:prstClr val="black"/>
                </a:solidFill>
                <a:latin typeface="Calibri" pitchFamily="34" charset="0"/>
              </a:rPr>
              <a:t>References: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Electric Circuits 10</a:t>
            </a:r>
            <a:r>
              <a:rPr lang="en-US" sz="1600" baseline="30000" dirty="0">
                <a:solidFill>
                  <a:prstClr val="black"/>
                </a:solidFill>
                <a:latin typeface="Calibri"/>
              </a:rPr>
              <a:t>th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Ed. by </a:t>
            </a:r>
            <a:r>
              <a:rPr lang="tr-TR" sz="1600" dirty="0">
                <a:solidFill>
                  <a:prstClr val="black"/>
                </a:solidFill>
                <a:latin typeface="Calibri"/>
              </a:rPr>
              <a:t>Nilsson &amp; Riedel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Electrical Circuit Analysis 3</a:t>
            </a:r>
            <a:r>
              <a:rPr lang="en-US" sz="1600" baseline="30000" dirty="0">
                <a:solidFill>
                  <a:prstClr val="black"/>
                </a:solidFill>
                <a:latin typeface="Calibri"/>
              </a:rPr>
              <a:t>rd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Ed.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by Johnson, Johnson, </a:t>
            </a:r>
            <a:r>
              <a:rPr lang="en-US" sz="1600" i="1" dirty="0" err="1">
                <a:solidFill>
                  <a:prstClr val="black"/>
                </a:solidFill>
                <a:latin typeface="Calibri"/>
              </a:rPr>
              <a:t>Hilburn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, and Scott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Engineering Circuit Analysis 7</a:t>
            </a:r>
            <a:r>
              <a:rPr lang="en-US" sz="1600" baseline="30000" dirty="0">
                <a:solidFill>
                  <a:prstClr val="black"/>
                </a:solidFill>
                <a:latin typeface="Calibri"/>
              </a:rPr>
              <a:t>th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Ed.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by </a:t>
            </a:r>
            <a:r>
              <a:rPr lang="en-US" sz="1600" i="1" dirty="0" err="1">
                <a:solidFill>
                  <a:prstClr val="black"/>
                </a:solidFill>
                <a:latin typeface="Calibri"/>
              </a:rPr>
              <a:t>Hayt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1600" i="1" dirty="0" err="1">
                <a:solidFill>
                  <a:prstClr val="black"/>
                </a:solidFill>
                <a:latin typeface="Calibri"/>
              </a:rPr>
              <a:t>Kemmerly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, and Durbin</a:t>
            </a:r>
          </a:p>
          <a:p>
            <a:r>
              <a:rPr lang="en-US" sz="1600" dirty="0">
                <a:solidFill>
                  <a:prstClr val="black"/>
                </a:solidFill>
                <a:latin typeface="Calibri"/>
              </a:rPr>
              <a:t>Fundamentals of Electric Circuits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3</a:t>
            </a:r>
            <a:r>
              <a:rPr lang="en-US" sz="1600" baseline="30000" dirty="0">
                <a:solidFill>
                  <a:prstClr val="black"/>
                </a:solidFill>
                <a:latin typeface="Calibri"/>
              </a:rPr>
              <a:t>rd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Ed. </a:t>
            </a:r>
            <a:r>
              <a:rPr lang="en-US" sz="1600" i="1" dirty="0">
                <a:solidFill>
                  <a:prstClr val="black"/>
                </a:solidFill>
                <a:latin typeface="Calibri"/>
              </a:rPr>
              <a:t>by Alexander, and </a:t>
            </a:r>
            <a:r>
              <a:rPr lang="en-US" sz="1600" i="1" dirty="0" err="1">
                <a:solidFill>
                  <a:prstClr val="black"/>
                </a:solidFill>
                <a:latin typeface="Calibri"/>
              </a:rPr>
              <a:t>Sadiku</a:t>
            </a:r>
            <a:endParaRPr lang="en-US" sz="1600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685800" y="381000"/>
            <a:ext cx="7772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tr-TR" sz="3200"/>
              <a:t>Electrical Circuits</a:t>
            </a:r>
            <a:br>
              <a:rPr lang="en-US" sz="3200"/>
            </a:br>
            <a:r>
              <a:rPr lang="en-US" sz="3200"/>
              <a:t>EEE-2</a:t>
            </a:r>
            <a:r>
              <a:rPr lang="tr-TR" sz="3200"/>
              <a:t>8</a:t>
            </a:r>
            <a:r>
              <a:rPr lang="en-US" sz="3200"/>
              <a:t>1 Lecture Notes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16453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19100" y="1790700"/>
            <a:ext cx="8229600" cy="2819400"/>
          </a:xfrm>
        </p:spPr>
        <p:txBody>
          <a:bodyPr/>
          <a:lstStyle/>
          <a:p>
            <a:r>
              <a:rPr lang="en-US" sz="3600" dirty="0"/>
              <a:t>Circuit Elements</a:t>
            </a:r>
            <a:r>
              <a:rPr lang="tr-TR" sz="3600" dirty="0"/>
              <a:t>,</a:t>
            </a:r>
            <a:br>
              <a:rPr lang="tr-TR" sz="3600" dirty="0"/>
            </a:br>
            <a:r>
              <a:rPr lang="tr-TR" sz="3600" dirty="0"/>
              <a:t>Ohm’s and Kirchhoff’s Laws</a:t>
            </a:r>
            <a:br>
              <a:rPr lang="en-US" sz="3600" dirty="0"/>
            </a:br>
            <a:br>
              <a:rPr lang="en-US" sz="3600" dirty="0"/>
            </a:br>
            <a:r>
              <a:rPr lang="en-US" sz="3600" i="1" dirty="0"/>
              <a:t>Weeks 2-</a:t>
            </a:r>
            <a:r>
              <a:rPr lang="tr-TR" sz="3600" i="1" dirty="0"/>
              <a:t>3</a:t>
            </a:r>
            <a:br>
              <a:rPr lang="tr-TR" sz="3600" i="1" dirty="0"/>
            </a:br>
            <a:br>
              <a:rPr lang="tr-TR" sz="3600" i="1" dirty="0"/>
            </a:br>
            <a:r>
              <a:rPr lang="tr-TR" sz="3600" i="1" dirty="0">
                <a:solidFill>
                  <a:srgbClr val="0000FF"/>
                </a:solidFill>
              </a:rPr>
              <a:t>Reading: </a:t>
            </a:r>
            <a:r>
              <a:rPr lang="tr-TR" sz="3600" i="1" dirty="0" err="1">
                <a:solidFill>
                  <a:srgbClr val="0000FF"/>
                </a:solidFill>
              </a:rPr>
              <a:t>Nilsson</a:t>
            </a:r>
            <a:r>
              <a:rPr lang="tr-TR" sz="3600" i="1" dirty="0">
                <a:solidFill>
                  <a:srgbClr val="0000FF"/>
                </a:solidFill>
              </a:rPr>
              <a:t> &amp; </a:t>
            </a:r>
            <a:r>
              <a:rPr lang="tr-TR" sz="3600" i="1" dirty="0" err="1">
                <a:solidFill>
                  <a:srgbClr val="0000FF"/>
                </a:solidFill>
              </a:rPr>
              <a:t>Riedel</a:t>
            </a:r>
            <a:r>
              <a:rPr lang="tr-TR" sz="3600" i="1" dirty="0">
                <a:solidFill>
                  <a:srgbClr val="0000FF"/>
                </a:solidFill>
              </a:rPr>
              <a:t> </a:t>
            </a:r>
            <a:r>
              <a:rPr lang="tr-TR" sz="3600" i="1" dirty="0" err="1">
                <a:solidFill>
                  <a:srgbClr val="0000FF"/>
                </a:solidFill>
              </a:rPr>
              <a:t>Chapter</a:t>
            </a:r>
            <a:r>
              <a:rPr lang="tr-TR" sz="3600" i="1" dirty="0">
                <a:solidFill>
                  <a:srgbClr val="0000FF"/>
                </a:solidFill>
              </a:rPr>
              <a:t> 2</a:t>
            </a:r>
            <a:endParaRPr lang="en-US" sz="36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543800" cy="563563"/>
          </a:xfrm>
        </p:spPr>
        <p:txBody>
          <a:bodyPr/>
          <a:lstStyle/>
          <a:p>
            <a:r>
              <a:rPr lang="en-US" sz="2800" dirty="0"/>
              <a:t>Lumped-Parameter Circuit Model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An electrical circuit is fully characterized by:</a:t>
            </a:r>
          </a:p>
          <a:p>
            <a:r>
              <a:rPr lang="en-US" sz="2400" dirty="0"/>
              <a:t>Elements it contains</a:t>
            </a:r>
          </a:p>
          <a:p>
            <a:r>
              <a:rPr lang="en-US" sz="2400" dirty="0"/>
              <a:t>How the elements are interconnected</a:t>
            </a:r>
          </a:p>
          <a:p>
            <a:pPr>
              <a:buNone/>
            </a:pPr>
            <a:endParaRPr lang="en-US" sz="36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pSp>
        <p:nvGrpSpPr>
          <p:cNvPr id="2" name="Group 12"/>
          <p:cNvGrpSpPr/>
          <p:nvPr/>
        </p:nvGrpSpPr>
        <p:grpSpPr>
          <a:xfrm rot="5400000">
            <a:off x="3066653" y="2838053"/>
            <a:ext cx="304800" cy="1561306"/>
            <a:chOff x="1485900" y="4687094"/>
            <a:chExt cx="304800" cy="1561306"/>
          </a:xfrm>
        </p:grpSpPr>
        <p:sp>
          <p:nvSpPr>
            <p:cNvPr id="6" name="Rectangle 5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>
              <a:stCxn id="6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2"/>
          <p:cNvGrpSpPr/>
          <p:nvPr/>
        </p:nvGrpSpPr>
        <p:grpSpPr>
          <a:xfrm rot="10800000">
            <a:off x="4762500" y="3962400"/>
            <a:ext cx="304800" cy="1561306"/>
            <a:chOff x="1485900" y="4687094"/>
            <a:chExt cx="304800" cy="1561306"/>
          </a:xfrm>
        </p:grpSpPr>
        <p:sp>
          <p:nvSpPr>
            <p:cNvPr id="10" name="Rectangle 9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>
              <a:stCxn id="10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 rot="5400000" flipH="1" flipV="1">
            <a:off x="1044120" y="4015922"/>
            <a:ext cx="800101" cy="72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447800" y="3618706"/>
            <a:ext cx="9906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 flipH="1" flipV="1">
            <a:off x="4667250" y="3866356"/>
            <a:ext cx="4953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962400" y="3618706"/>
            <a:ext cx="26289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 flipH="1" flipV="1">
            <a:off x="1066403" y="5333607"/>
            <a:ext cx="762001" cy="7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10800000">
            <a:off x="1447800" y="5712618"/>
            <a:ext cx="5143500" cy="15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>
            <a:off x="4819650" y="5618956"/>
            <a:ext cx="1905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12"/>
          <p:cNvGrpSpPr/>
          <p:nvPr/>
        </p:nvGrpSpPr>
        <p:grpSpPr>
          <a:xfrm rot="10800000">
            <a:off x="6438900" y="3961606"/>
            <a:ext cx="304800" cy="1561306"/>
            <a:chOff x="1485900" y="4687094"/>
            <a:chExt cx="304800" cy="1561306"/>
          </a:xfrm>
        </p:grpSpPr>
        <p:sp>
          <p:nvSpPr>
            <p:cNvPr id="54" name="Rectangle 53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/>
            <p:cNvCxnSpPr>
              <a:stCxn id="54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Straight Connector 56"/>
          <p:cNvCxnSpPr/>
          <p:nvPr/>
        </p:nvCxnSpPr>
        <p:spPr>
          <a:xfrm rot="5400000" flipH="1" flipV="1">
            <a:off x="6343649" y="3865562"/>
            <a:ext cx="4953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5400000">
            <a:off x="6496049" y="5618162"/>
            <a:ext cx="1905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4876800" y="56769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16"/>
          <p:cNvGrpSpPr/>
          <p:nvPr/>
        </p:nvGrpSpPr>
        <p:grpSpPr>
          <a:xfrm>
            <a:off x="1181100" y="4343400"/>
            <a:ext cx="533400" cy="716697"/>
            <a:chOff x="3543300" y="3783568"/>
            <a:chExt cx="533400" cy="716697"/>
          </a:xfrm>
        </p:grpSpPr>
        <p:sp>
          <p:nvSpPr>
            <p:cNvPr id="14" name="Oval 13"/>
            <p:cNvSpPr/>
            <p:nvPr/>
          </p:nvSpPr>
          <p:spPr>
            <a:xfrm>
              <a:off x="3543300" y="3848100"/>
              <a:ext cx="533400" cy="533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43082" y="3783568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57600" y="4038600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-</a:t>
              </a:r>
            </a:p>
          </p:txBody>
        </p:sp>
      </p:grpSp>
      <p:sp>
        <p:nvSpPr>
          <p:cNvPr id="31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An electrical circuit is fully characterized by:</a:t>
            </a:r>
          </a:p>
          <a:p>
            <a:r>
              <a:rPr lang="en-US" sz="2400" dirty="0"/>
              <a:t>Elements it contains</a:t>
            </a:r>
          </a:p>
          <a:p>
            <a:r>
              <a:rPr lang="en-US" sz="2400" dirty="0"/>
              <a:t>How the elements are interconnected</a:t>
            </a:r>
          </a:p>
          <a:p>
            <a:pPr>
              <a:buNone/>
            </a:pPr>
            <a:endParaRPr lang="en-US" sz="36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grpSp>
        <p:nvGrpSpPr>
          <p:cNvPr id="5" name="Group 12"/>
          <p:cNvGrpSpPr/>
          <p:nvPr/>
        </p:nvGrpSpPr>
        <p:grpSpPr>
          <a:xfrm rot="5400000">
            <a:off x="3066653" y="2838053"/>
            <a:ext cx="304800" cy="1561306"/>
            <a:chOff x="1485900" y="4687094"/>
            <a:chExt cx="304800" cy="1561306"/>
          </a:xfrm>
        </p:grpSpPr>
        <p:sp>
          <p:nvSpPr>
            <p:cNvPr id="6" name="Rectangle 5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>
              <a:stCxn id="6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12"/>
          <p:cNvGrpSpPr/>
          <p:nvPr/>
        </p:nvGrpSpPr>
        <p:grpSpPr>
          <a:xfrm rot="10800000">
            <a:off x="4762500" y="3962400"/>
            <a:ext cx="304800" cy="1561306"/>
            <a:chOff x="1485900" y="4687094"/>
            <a:chExt cx="304800" cy="1561306"/>
          </a:xfrm>
        </p:grpSpPr>
        <p:sp>
          <p:nvSpPr>
            <p:cNvPr id="10" name="Rectangle 9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>
              <a:stCxn id="10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 rot="5400000" flipH="1" flipV="1">
            <a:off x="1044120" y="4015922"/>
            <a:ext cx="800101" cy="72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447800" y="3618706"/>
            <a:ext cx="9906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 flipH="1" flipV="1">
            <a:off x="4667250" y="3866356"/>
            <a:ext cx="4953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962400" y="3618706"/>
            <a:ext cx="26289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 flipH="1" flipV="1">
            <a:off x="1066403" y="5333607"/>
            <a:ext cx="762001" cy="7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10800000">
            <a:off x="1447800" y="5712618"/>
            <a:ext cx="5143500" cy="15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>
            <a:off x="4819650" y="5618956"/>
            <a:ext cx="1905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12"/>
          <p:cNvGrpSpPr/>
          <p:nvPr/>
        </p:nvGrpSpPr>
        <p:grpSpPr>
          <a:xfrm rot="10800000">
            <a:off x="6438900" y="3961606"/>
            <a:ext cx="304800" cy="1561306"/>
            <a:chOff x="1485900" y="4687094"/>
            <a:chExt cx="304800" cy="1561306"/>
          </a:xfrm>
        </p:grpSpPr>
        <p:sp>
          <p:nvSpPr>
            <p:cNvPr id="54" name="Rectangle 53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/>
            <p:cNvCxnSpPr>
              <a:stCxn id="54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Straight Connector 56"/>
          <p:cNvCxnSpPr/>
          <p:nvPr/>
        </p:nvCxnSpPr>
        <p:spPr>
          <a:xfrm rot="5400000" flipH="1" flipV="1">
            <a:off x="6343649" y="3865562"/>
            <a:ext cx="4953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5400000">
            <a:off x="6496049" y="5618162"/>
            <a:ext cx="1905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6096000" y="3048000"/>
            <a:ext cx="723900" cy="533400"/>
          </a:xfrm>
          <a:custGeom>
            <a:avLst/>
            <a:gdLst>
              <a:gd name="connsiteX0" fmla="*/ 0 w 760021"/>
              <a:gd name="connsiteY0" fmla="*/ 819398 h 819398"/>
              <a:gd name="connsiteX1" fmla="*/ 356259 w 760021"/>
              <a:gd name="connsiteY1" fmla="*/ 356260 h 819398"/>
              <a:gd name="connsiteX2" fmla="*/ 415636 w 760021"/>
              <a:gd name="connsiteY2" fmla="*/ 558141 h 819398"/>
              <a:gd name="connsiteX3" fmla="*/ 760021 w 760021"/>
              <a:gd name="connsiteY3" fmla="*/ 0 h 819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0021" h="819398">
                <a:moveTo>
                  <a:pt x="0" y="819398"/>
                </a:moveTo>
                <a:cubicBezTo>
                  <a:pt x="143493" y="609600"/>
                  <a:pt x="286986" y="399803"/>
                  <a:pt x="356259" y="356260"/>
                </a:cubicBezTo>
                <a:cubicBezTo>
                  <a:pt x="425532" y="312717"/>
                  <a:pt x="348342" y="617518"/>
                  <a:pt x="415636" y="558141"/>
                </a:cubicBezTo>
                <a:cubicBezTo>
                  <a:pt x="482930" y="498764"/>
                  <a:pt x="621475" y="249382"/>
                  <a:pt x="760021" y="0"/>
                </a:cubicBezTo>
              </a:path>
            </a:pathLst>
          </a:cu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5676900" y="2162770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Wires are perfect conductors; </a:t>
            </a:r>
          </a:p>
          <a:p>
            <a:r>
              <a:rPr lang="en-US" dirty="0"/>
              <a:t>cannot </a:t>
            </a:r>
            <a:r>
              <a:rPr lang="en-US" dirty="0" err="1"/>
              <a:t>accummulate</a:t>
            </a:r>
            <a:r>
              <a:rPr lang="en-US" dirty="0"/>
              <a:t> charge, </a:t>
            </a:r>
          </a:p>
          <a:p>
            <a:r>
              <a:rPr lang="en-US" dirty="0"/>
              <a:t>cannot dissipate energy</a:t>
            </a:r>
          </a:p>
        </p:txBody>
      </p:sp>
      <p:sp>
        <p:nvSpPr>
          <p:cNvPr id="83" name="Oval 82"/>
          <p:cNvSpPr/>
          <p:nvPr/>
        </p:nvSpPr>
        <p:spPr>
          <a:xfrm>
            <a:off x="4876800" y="56769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181100" y="4343400"/>
            <a:ext cx="533400" cy="716697"/>
            <a:chOff x="3543300" y="3783568"/>
            <a:chExt cx="533400" cy="716697"/>
          </a:xfrm>
        </p:grpSpPr>
        <p:sp>
          <p:nvSpPr>
            <p:cNvPr id="14" name="Oval 13"/>
            <p:cNvSpPr/>
            <p:nvPr/>
          </p:nvSpPr>
          <p:spPr>
            <a:xfrm>
              <a:off x="3543300" y="3848100"/>
              <a:ext cx="533400" cy="533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43082" y="3783568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57600" y="4038600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-</a:t>
              </a:r>
            </a:p>
          </p:txBody>
        </p:sp>
      </p:grpSp>
      <p:sp>
        <p:nvSpPr>
          <p:cNvPr id="33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Title 1"/>
          <p:cNvSpPr txBox="1">
            <a:spLocks/>
          </p:cNvSpPr>
          <p:nvPr/>
        </p:nvSpPr>
        <p:spPr bwMode="auto">
          <a:xfrm>
            <a:off x="457200" y="122237"/>
            <a:ext cx="75438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Lumped-Parameter Circuit Model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An electrical circuit is fully characterized by:</a:t>
            </a:r>
          </a:p>
          <a:p>
            <a:r>
              <a:rPr lang="en-US" sz="2400" dirty="0"/>
              <a:t>Elements it contains</a:t>
            </a:r>
          </a:p>
          <a:p>
            <a:r>
              <a:rPr lang="en-US" sz="2400" dirty="0"/>
              <a:t>How the elements are interconnected</a:t>
            </a:r>
          </a:p>
          <a:p>
            <a:pPr>
              <a:buNone/>
            </a:pPr>
            <a:endParaRPr lang="en-US" sz="36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grpSp>
        <p:nvGrpSpPr>
          <p:cNvPr id="2" name="Group 12"/>
          <p:cNvGrpSpPr/>
          <p:nvPr/>
        </p:nvGrpSpPr>
        <p:grpSpPr>
          <a:xfrm rot="5400000">
            <a:off x="3066653" y="2838053"/>
            <a:ext cx="304800" cy="1561306"/>
            <a:chOff x="1485900" y="4687094"/>
            <a:chExt cx="304800" cy="1561306"/>
          </a:xfrm>
        </p:grpSpPr>
        <p:sp>
          <p:nvSpPr>
            <p:cNvPr id="6" name="Rectangle 5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>
              <a:stCxn id="6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2"/>
          <p:cNvGrpSpPr/>
          <p:nvPr/>
        </p:nvGrpSpPr>
        <p:grpSpPr>
          <a:xfrm rot="10800000">
            <a:off x="4762500" y="3962400"/>
            <a:ext cx="304800" cy="1561306"/>
            <a:chOff x="1485900" y="4687094"/>
            <a:chExt cx="304800" cy="1561306"/>
          </a:xfrm>
        </p:grpSpPr>
        <p:sp>
          <p:nvSpPr>
            <p:cNvPr id="10" name="Rectangle 9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>
              <a:stCxn id="10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 rot="5400000" flipH="1" flipV="1">
            <a:off x="1044120" y="4015922"/>
            <a:ext cx="800101" cy="72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447800" y="3618706"/>
            <a:ext cx="9906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 flipH="1" flipV="1">
            <a:off x="4667250" y="3866356"/>
            <a:ext cx="4953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962400" y="3618706"/>
            <a:ext cx="26289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 flipH="1" flipV="1">
            <a:off x="1066403" y="5333607"/>
            <a:ext cx="762001" cy="7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10800000">
            <a:off x="1447800" y="5712618"/>
            <a:ext cx="5143500" cy="15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>
            <a:off x="4819650" y="5618956"/>
            <a:ext cx="1905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12"/>
          <p:cNvGrpSpPr/>
          <p:nvPr/>
        </p:nvGrpSpPr>
        <p:grpSpPr>
          <a:xfrm rot="10800000">
            <a:off x="6438900" y="3961606"/>
            <a:ext cx="304800" cy="1561306"/>
            <a:chOff x="1485900" y="4687094"/>
            <a:chExt cx="304800" cy="1561306"/>
          </a:xfrm>
        </p:grpSpPr>
        <p:sp>
          <p:nvSpPr>
            <p:cNvPr id="54" name="Rectangle 53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/>
            <p:cNvCxnSpPr>
              <a:stCxn id="54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Straight Connector 56"/>
          <p:cNvCxnSpPr/>
          <p:nvPr/>
        </p:nvCxnSpPr>
        <p:spPr>
          <a:xfrm rot="5400000" flipH="1" flipV="1">
            <a:off x="6343649" y="3865562"/>
            <a:ext cx="4953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5400000">
            <a:off x="6496049" y="5618162"/>
            <a:ext cx="1905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6096000" y="3048000"/>
            <a:ext cx="723900" cy="533400"/>
          </a:xfrm>
          <a:custGeom>
            <a:avLst/>
            <a:gdLst>
              <a:gd name="connsiteX0" fmla="*/ 0 w 760021"/>
              <a:gd name="connsiteY0" fmla="*/ 819398 h 819398"/>
              <a:gd name="connsiteX1" fmla="*/ 356259 w 760021"/>
              <a:gd name="connsiteY1" fmla="*/ 356260 h 819398"/>
              <a:gd name="connsiteX2" fmla="*/ 415636 w 760021"/>
              <a:gd name="connsiteY2" fmla="*/ 558141 h 819398"/>
              <a:gd name="connsiteX3" fmla="*/ 760021 w 760021"/>
              <a:gd name="connsiteY3" fmla="*/ 0 h 819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0021" h="819398">
                <a:moveTo>
                  <a:pt x="0" y="819398"/>
                </a:moveTo>
                <a:cubicBezTo>
                  <a:pt x="143493" y="609600"/>
                  <a:pt x="286986" y="399803"/>
                  <a:pt x="356259" y="356260"/>
                </a:cubicBezTo>
                <a:cubicBezTo>
                  <a:pt x="425532" y="312717"/>
                  <a:pt x="348342" y="617518"/>
                  <a:pt x="415636" y="558141"/>
                </a:cubicBezTo>
                <a:cubicBezTo>
                  <a:pt x="482930" y="498764"/>
                  <a:pt x="621475" y="249382"/>
                  <a:pt x="760021" y="0"/>
                </a:cubicBezTo>
              </a:path>
            </a:pathLst>
          </a:cu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5676900" y="2162770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Wires are perfect conductors; </a:t>
            </a:r>
          </a:p>
          <a:p>
            <a:r>
              <a:rPr lang="en-US" dirty="0"/>
              <a:t>cannot </a:t>
            </a:r>
            <a:r>
              <a:rPr lang="en-US" dirty="0" err="1"/>
              <a:t>accummulate</a:t>
            </a:r>
            <a:r>
              <a:rPr lang="en-US" dirty="0"/>
              <a:t> charge, </a:t>
            </a:r>
          </a:p>
          <a:p>
            <a:r>
              <a:rPr lang="en-US" dirty="0"/>
              <a:t>cannot dissipate energy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85900" y="2400300"/>
            <a:ext cx="37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Energy lumped within elements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4419600" y="2781300"/>
            <a:ext cx="1790700" cy="1561306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rot="16200000" flipH="1">
            <a:off x="3695700" y="3161506"/>
            <a:ext cx="1371600" cy="6858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rot="16200000" flipH="1">
            <a:off x="2971800" y="3085306"/>
            <a:ext cx="495300" cy="381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5400000">
            <a:off x="1314450" y="3028156"/>
            <a:ext cx="1524000" cy="11049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4876800" y="56769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16"/>
          <p:cNvGrpSpPr/>
          <p:nvPr/>
        </p:nvGrpSpPr>
        <p:grpSpPr>
          <a:xfrm>
            <a:off x="1181100" y="4343400"/>
            <a:ext cx="533400" cy="716697"/>
            <a:chOff x="3543300" y="3783568"/>
            <a:chExt cx="533400" cy="716697"/>
          </a:xfrm>
        </p:grpSpPr>
        <p:sp>
          <p:nvSpPr>
            <p:cNvPr id="14" name="Oval 13"/>
            <p:cNvSpPr/>
            <p:nvPr/>
          </p:nvSpPr>
          <p:spPr>
            <a:xfrm>
              <a:off x="3543300" y="3848100"/>
              <a:ext cx="533400" cy="533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43082" y="3783568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57600" y="4038600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-</a:t>
              </a:r>
            </a:p>
          </p:txBody>
        </p:sp>
      </p:grpSp>
      <p:sp>
        <p:nvSpPr>
          <p:cNvPr id="38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543800" cy="563563"/>
          </a:xfrm>
        </p:spPr>
        <p:txBody>
          <a:bodyPr/>
          <a:lstStyle/>
          <a:p>
            <a:r>
              <a:rPr lang="en-US" sz="2800" dirty="0"/>
              <a:t>Lumped-Parameter Circuit Model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An electrical circuit is fully characterized by:</a:t>
            </a:r>
          </a:p>
          <a:p>
            <a:r>
              <a:rPr lang="en-US" sz="2400" dirty="0"/>
              <a:t>Elements it contains</a:t>
            </a:r>
          </a:p>
          <a:p>
            <a:r>
              <a:rPr lang="en-US" sz="2400" dirty="0"/>
              <a:t>How the elements are interconnected</a:t>
            </a:r>
          </a:p>
          <a:p>
            <a:pPr>
              <a:buNone/>
            </a:pPr>
            <a:endParaRPr lang="en-US" sz="36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pSp>
        <p:nvGrpSpPr>
          <p:cNvPr id="2" name="Group 12"/>
          <p:cNvGrpSpPr/>
          <p:nvPr/>
        </p:nvGrpSpPr>
        <p:grpSpPr>
          <a:xfrm rot="5400000">
            <a:off x="3066653" y="2838053"/>
            <a:ext cx="304800" cy="1561306"/>
            <a:chOff x="1485900" y="4687094"/>
            <a:chExt cx="304800" cy="1561306"/>
          </a:xfrm>
        </p:grpSpPr>
        <p:sp>
          <p:nvSpPr>
            <p:cNvPr id="6" name="Rectangle 5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>
              <a:stCxn id="6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2"/>
          <p:cNvGrpSpPr/>
          <p:nvPr/>
        </p:nvGrpSpPr>
        <p:grpSpPr>
          <a:xfrm rot="10800000">
            <a:off x="4762500" y="3962400"/>
            <a:ext cx="304800" cy="1561306"/>
            <a:chOff x="1485900" y="4687094"/>
            <a:chExt cx="304800" cy="1561306"/>
          </a:xfrm>
        </p:grpSpPr>
        <p:sp>
          <p:nvSpPr>
            <p:cNvPr id="10" name="Rectangle 9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>
              <a:stCxn id="10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 rot="5400000" flipH="1" flipV="1">
            <a:off x="1044120" y="4015922"/>
            <a:ext cx="800101" cy="72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447800" y="3618706"/>
            <a:ext cx="9906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 flipH="1" flipV="1">
            <a:off x="4667250" y="3866356"/>
            <a:ext cx="4953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962400" y="3618706"/>
            <a:ext cx="26289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rot="5400000" flipH="1" flipV="1">
            <a:off x="1066403" y="5333607"/>
            <a:ext cx="762001" cy="7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10800000">
            <a:off x="1447800" y="5712618"/>
            <a:ext cx="5143500" cy="15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rot="5400000">
            <a:off x="4819650" y="5618956"/>
            <a:ext cx="1905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12"/>
          <p:cNvGrpSpPr/>
          <p:nvPr/>
        </p:nvGrpSpPr>
        <p:grpSpPr>
          <a:xfrm rot="10800000">
            <a:off x="6438900" y="3961606"/>
            <a:ext cx="304800" cy="1561306"/>
            <a:chOff x="1485900" y="4687094"/>
            <a:chExt cx="304800" cy="1561306"/>
          </a:xfrm>
        </p:grpSpPr>
        <p:sp>
          <p:nvSpPr>
            <p:cNvPr id="54" name="Rectangle 53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/>
            <p:cNvCxnSpPr>
              <a:stCxn id="54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Straight Connector 56"/>
          <p:cNvCxnSpPr/>
          <p:nvPr/>
        </p:nvCxnSpPr>
        <p:spPr>
          <a:xfrm rot="5400000" flipH="1" flipV="1">
            <a:off x="6343649" y="3865562"/>
            <a:ext cx="4953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5400000">
            <a:off x="6496049" y="5618162"/>
            <a:ext cx="1905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6096000" y="3048000"/>
            <a:ext cx="723900" cy="533400"/>
          </a:xfrm>
          <a:custGeom>
            <a:avLst/>
            <a:gdLst>
              <a:gd name="connsiteX0" fmla="*/ 0 w 760021"/>
              <a:gd name="connsiteY0" fmla="*/ 819398 h 819398"/>
              <a:gd name="connsiteX1" fmla="*/ 356259 w 760021"/>
              <a:gd name="connsiteY1" fmla="*/ 356260 h 819398"/>
              <a:gd name="connsiteX2" fmla="*/ 415636 w 760021"/>
              <a:gd name="connsiteY2" fmla="*/ 558141 h 819398"/>
              <a:gd name="connsiteX3" fmla="*/ 760021 w 760021"/>
              <a:gd name="connsiteY3" fmla="*/ 0 h 819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0021" h="819398">
                <a:moveTo>
                  <a:pt x="0" y="819398"/>
                </a:moveTo>
                <a:cubicBezTo>
                  <a:pt x="143493" y="609600"/>
                  <a:pt x="286986" y="399803"/>
                  <a:pt x="356259" y="356260"/>
                </a:cubicBezTo>
                <a:cubicBezTo>
                  <a:pt x="425532" y="312717"/>
                  <a:pt x="348342" y="617518"/>
                  <a:pt x="415636" y="558141"/>
                </a:cubicBezTo>
                <a:cubicBezTo>
                  <a:pt x="482930" y="498764"/>
                  <a:pt x="621475" y="249382"/>
                  <a:pt x="760021" y="0"/>
                </a:cubicBezTo>
              </a:path>
            </a:pathLst>
          </a:cu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5676900" y="2162770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Wires are perfect conductors; </a:t>
            </a:r>
          </a:p>
          <a:p>
            <a:r>
              <a:rPr lang="en-US" dirty="0"/>
              <a:t>cannot </a:t>
            </a:r>
            <a:r>
              <a:rPr lang="en-US" dirty="0" err="1"/>
              <a:t>accummulate</a:t>
            </a:r>
            <a:r>
              <a:rPr lang="en-US" dirty="0"/>
              <a:t> charge, </a:t>
            </a:r>
          </a:p>
          <a:p>
            <a:r>
              <a:rPr lang="en-US" dirty="0"/>
              <a:t>cannot dissipate energy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85900" y="2400300"/>
            <a:ext cx="37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Energy lumped within elements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4419600" y="2781300"/>
            <a:ext cx="1790700" cy="1561306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rot="16200000" flipH="1">
            <a:off x="3695700" y="3161506"/>
            <a:ext cx="1371600" cy="6858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rot="16200000" flipH="1">
            <a:off x="2971800" y="3085306"/>
            <a:ext cx="495300" cy="381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5400000">
            <a:off x="1314450" y="3028156"/>
            <a:ext cx="1524000" cy="110490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4876800" y="56769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16"/>
          <p:cNvGrpSpPr/>
          <p:nvPr/>
        </p:nvGrpSpPr>
        <p:grpSpPr>
          <a:xfrm>
            <a:off x="1181100" y="4343400"/>
            <a:ext cx="533400" cy="716697"/>
            <a:chOff x="3543300" y="3783568"/>
            <a:chExt cx="533400" cy="716697"/>
          </a:xfrm>
        </p:grpSpPr>
        <p:sp>
          <p:nvSpPr>
            <p:cNvPr id="14" name="Oval 13"/>
            <p:cNvSpPr/>
            <p:nvPr/>
          </p:nvSpPr>
          <p:spPr>
            <a:xfrm>
              <a:off x="3543300" y="3848100"/>
              <a:ext cx="533400" cy="533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43082" y="3783568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57600" y="4038600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-</a:t>
              </a: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952500" y="6145768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Node</a:t>
            </a:r>
            <a:r>
              <a:rPr lang="en-US" dirty="0"/>
              <a:t>: A point where two or more circuit elements meet</a:t>
            </a:r>
          </a:p>
        </p:txBody>
      </p:sp>
      <p:sp>
        <p:nvSpPr>
          <p:cNvPr id="98" name="Freeform 97"/>
          <p:cNvSpPr/>
          <p:nvPr/>
        </p:nvSpPr>
        <p:spPr>
          <a:xfrm>
            <a:off x="4410075" y="5791200"/>
            <a:ext cx="504825" cy="400050"/>
          </a:xfrm>
          <a:custGeom>
            <a:avLst/>
            <a:gdLst>
              <a:gd name="connsiteX0" fmla="*/ 361950 w 369887"/>
              <a:gd name="connsiteY0" fmla="*/ 0 h 400050"/>
              <a:gd name="connsiteX1" fmla="*/ 161925 w 369887"/>
              <a:gd name="connsiteY1" fmla="*/ 171450 h 400050"/>
              <a:gd name="connsiteX2" fmla="*/ 342900 w 369887"/>
              <a:gd name="connsiteY2" fmla="*/ 123825 h 400050"/>
              <a:gd name="connsiteX3" fmla="*/ 0 w 369887"/>
              <a:gd name="connsiteY3" fmla="*/ 40005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887" h="400050">
                <a:moveTo>
                  <a:pt x="361950" y="0"/>
                </a:moveTo>
                <a:cubicBezTo>
                  <a:pt x="263525" y="75406"/>
                  <a:pt x="165100" y="150813"/>
                  <a:pt x="161925" y="171450"/>
                </a:cubicBezTo>
                <a:cubicBezTo>
                  <a:pt x="158750" y="192088"/>
                  <a:pt x="369887" y="85725"/>
                  <a:pt x="342900" y="123825"/>
                </a:cubicBezTo>
                <a:cubicBezTo>
                  <a:pt x="315913" y="161925"/>
                  <a:pt x="157956" y="280987"/>
                  <a:pt x="0" y="400050"/>
                </a:cubicBezTo>
              </a:path>
            </a:pathLst>
          </a:cu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7543800" cy="563563"/>
          </a:xfrm>
        </p:spPr>
        <p:txBody>
          <a:bodyPr/>
          <a:lstStyle/>
          <a:p>
            <a:r>
              <a:rPr lang="en-US" sz="2800" dirty="0"/>
              <a:t>Lumped-Parameter Circuit Model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6134100" cy="5676900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The terminal voltage of an </a:t>
            </a:r>
            <a:r>
              <a:rPr lang="en-US" sz="2400" u="sng" dirty="0"/>
              <a:t>ideal voltage source</a:t>
            </a:r>
            <a:r>
              <a:rPr lang="en-US" sz="2400" dirty="0"/>
              <a:t> is constant, regardless of the current flowing in those terminals. The voltage source is </a:t>
            </a:r>
            <a:r>
              <a:rPr lang="en-US" sz="2400" u="sng" dirty="0"/>
              <a:t>independent</a:t>
            </a:r>
            <a:r>
              <a:rPr lang="en-US" sz="2400" dirty="0"/>
              <a:t> if it establishes a voltage across its terminals without relying on voltages or currents elsewhere in the circuit.</a:t>
            </a:r>
          </a:p>
          <a:p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The current of an </a:t>
            </a:r>
            <a:r>
              <a:rPr lang="en-US" sz="2400" u="sng" dirty="0"/>
              <a:t>ideal current source</a:t>
            </a:r>
            <a:r>
              <a:rPr lang="en-US" sz="2400" dirty="0"/>
              <a:t> is constant, regardless of the voltage across its terminals. The current source is independent if it establishes a current without relying on voltages or currents elsewhere in the circuit.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 bwMode="auto">
          <a:xfrm>
            <a:off x="457200" y="190501"/>
            <a:ext cx="772487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Ideal Independent Sources</a:t>
            </a:r>
          </a:p>
        </p:txBody>
      </p:sp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09700"/>
            <a:ext cx="914400" cy="1810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2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9000" y="4191000"/>
            <a:ext cx="1266847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2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62900" y="1447800"/>
            <a:ext cx="1028700" cy="1721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7581900" y="144780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endParaRPr lang="tr-TR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5676900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The terminal voltage of a </a:t>
            </a:r>
            <a:r>
              <a:rPr lang="en-US" sz="2400" u="sng" dirty="0"/>
              <a:t>dependent (controlled) voltage source</a:t>
            </a:r>
            <a:r>
              <a:rPr lang="en-US" sz="2400" dirty="0"/>
              <a:t> depends on a voltage or a current defined at some other location in the circuit. Two types are:</a:t>
            </a:r>
          </a:p>
          <a:p>
            <a:r>
              <a:rPr lang="en-US" sz="2400" dirty="0"/>
              <a:t>VCVS : Voltage-controlled voltage source</a:t>
            </a:r>
          </a:p>
          <a:p>
            <a:r>
              <a:rPr lang="en-US" sz="2400" dirty="0"/>
              <a:t>CCVS : Current-controlled voltage source</a:t>
            </a:r>
          </a:p>
          <a:p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The current of a </a:t>
            </a:r>
            <a:r>
              <a:rPr lang="en-US" sz="2400" u="sng" dirty="0"/>
              <a:t>dependent (controlled) current source</a:t>
            </a:r>
            <a:r>
              <a:rPr lang="en-US" sz="2400" dirty="0"/>
              <a:t> depends on a voltage or a current defined at some other location in the circuit. Two types are:</a:t>
            </a:r>
          </a:p>
          <a:p>
            <a:r>
              <a:rPr lang="en-US" sz="2400" dirty="0"/>
              <a:t>VCCS : Voltage-controlled current source</a:t>
            </a:r>
          </a:p>
          <a:p>
            <a:r>
              <a:rPr lang="en-US" sz="2400" dirty="0"/>
              <a:t>CCCS : Current-controlled current source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 bwMode="auto">
          <a:xfrm>
            <a:off x="457200" y="190501"/>
            <a:ext cx="822413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Dependent Sources</a:t>
            </a:r>
          </a:p>
        </p:txBody>
      </p:sp>
      <p:pic>
        <p:nvPicPr>
          <p:cNvPr id="2160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714500"/>
            <a:ext cx="990600" cy="1547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60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4800600"/>
            <a:ext cx="838200" cy="1386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04800" y="800100"/>
            <a:ext cx="8420100" cy="5676900"/>
          </a:xfrm>
        </p:spPr>
        <p:txBody>
          <a:bodyPr/>
          <a:lstStyle/>
          <a:p>
            <a:pPr>
              <a:buNone/>
            </a:pPr>
            <a:r>
              <a:rPr lang="en-US" sz="2400" u="sng" dirty="0"/>
              <a:t>VCVS:</a:t>
            </a:r>
            <a:r>
              <a:rPr lang="en-US" sz="2400" dirty="0"/>
              <a:t>					</a:t>
            </a:r>
            <a:r>
              <a:rPr lang="en-US" sz="2400" u="sng" dirty="0"/>
              <a:t>CCVS:</a:t>
            </a:r>
          </a:p>
          <a:p>
            <a:pPr>
              <a:buNone/>
            </a:pPr>
            <a:endParaRPr lang="en-US" sz="2400" u="sng" dirty="0"/>
          </a:p>
          <a:p>
            <a:pPr>
              <a:buNone/>
            </a:pPr>
            <a:endParaRPr lang="en-US" sz="2400" u="sng" dirty="0"/>
          </a:p>
          <a:p>
            <a:pPr>
              <a:buNone/>
            </a:pPr>
            <a:endParaRPr lang="en-US" sz="2400" u="sng" dirty="0"/>
          </a:p>
          <a:p>
            <a:pPr>
              <a:buNone/>
            </a:pPr>
            <a:endParaRPr lang="en-US" sz="2400" u="sng" dirty="0"/>
          </a:p>
          <a:p>
            <a:pPr>
              <a:buNone/>
            </a:pPr>
            <a:endParaRPr lang="en-US" sz="2400" u="sng" dirty="0"/>
          </a:p>
          <a:p>
            <a:pPr>
              <a:buNone/>
            </a:pPr>
            <a:endParaRPr lang="en-US" sz="2400" u="sng" dirty="0"/>
          </a:p>
          <a:p>
            <a:pPr>
              <a:buNone/>
            </a:pPr>
            <a:r>
              <a:rPr lang="en-US" sz="2400" u="sng" dirty="0"/>
              <a:t>VCCS:</a:t>
            </a:r>
            <a:r>
              <a:rPr lang="en-US" sz="2400" dirty="0"/>
              <a:t>					</a:t>
            </a:r>
            <a:r>
              <a:rPr lang="en-US" sz="2400" u="sng" dirty="0"/>
              <a:t>CCCS:</a:t>
            </a:r>
          </a:p>
          <a:p>
            <a:pPr>
              <a:buNone/>
            </a:pPr>
            <a:endParaRPr lang="en-US" sz="2400" u="sng" dirty="0"/>
          </a:p>
          <a:p>
            <a:pPr>
              <a:buNone/>
            </a:pPr>
            <a:endParaRPr lang="en-US" sz="2400" u="sng" dirty="0"/>
          </a:p>
          <a:p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 bwMode="auto">
          <a:xfrm>
            <a:off x="457200" y="190501"/>
            <a:ext cx="69723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Dependent Sources (Linear Controlled)</a:t>
            </a:r>
          </a:p>
        </p:txBody>
      </p:sp>
      <p:pic>
        <p:nvPicPr>
          <p:cNvPr id="2170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0763" y="1371600"/>
            <a:ext cx="2703037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70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1371599"/>
            <a:ext cx="2705100" cy="1657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70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4152899"/>
            <a:ext cx="2362200" cy="2003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709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72100" y="4117238"/>
            <a:ext cx="2362200" cy="200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609600" y="3200400"/>
            <a:ext cx="3433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Arial"/>
                <a:cs typeface="Arial"/>
              </a:rPr>
              <a:t>μ</a:t>
            </a:r>
            <a:r>
              <a:rPr lang="en-US" dirty="0">
                <a:latin typeface="Arial"/>
                <a:cs typeface="Arial"/>
              </a:rPr>
              <a:t> : voltage gain (dimensionless)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011795" y="6172200"/>
            <a:ext cx="3408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Arial"/>
                <a:cs typeface="Arial"/>
              </a:rPr>
              <a:t>β</a:t>
            </a:r>
            <a:r>
              <a:rPr lang="en-US" dirty="0">
                <a:latin typeface="Arial"/>
                <a:cs typeface="Arial"/>
              </a:rPr>
              <a:t> : current gain (dimensionless)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200233" y="3212068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r : </a:t>
            </a:r>
            <a:r>
              <a:rPr lang="en-US" dirty="0" err="1">
                <a:latin typeface="Arial"/>
                <a:cs typeface="Arial"/>
              </a:rPr>
              <a:t>transresistance</a:t>
            </a:r>
            <a:r>
              <a:rPr lang="en-US" dirty="0">
                <a:latin typeface="Arial"/>
                <a:cs typeface="Arial"/>
              </a:rPr>
              <a:t> (ohms)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42747" y="6172200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g : </a:t>
            </a:r>
            <a:r>
              <a:rPr lang="en-US" dirty="0" err="1">
                <a:latin typeface="Arial"/>
                <a:cs typeface="Arial"/>
              </a:rPr>
              <a:t>transconductance</a:t>
            </a:r>
            <a:r>
              <a:rPr lang="en-US" dirty="0">
                <a:latin typeface="Arial"/>
                <a:cs typeface="Arial"/>
              </a:rPr>
              <a:t> (</a:t>
            </a:r>
            <a:r>
              <a:rPr lang="en-US" dirty="0" err="1">
                <a:latin typeface="Arial"/>
                <a:cs typeface="Arial"/>
              </a:rPr>
              <a:t>siemens</a:t>
            </a:r>
            <a:r>
              <a:rPr lang="en-US" dirty="0">
                <a:latin typeface="Arial"/>
                <a:cs typeface="Arial"/>
              </a:rPr>
              <a:t>)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ounded Rectangle 63"/>
          <p:cNvSpPr/>
          <p:nvPr/>
        </p:nvSpPr>
        <p:spPr>
          <a:xfrm>
            <a:off x="4229100" y="876300"/>
            <a:ext cx="4724400" cy="19431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u="sng" dirty="0"/>
              <a:t>Series Voltage Sources</a:t>
            </a: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292108" y="876300"/>
            <a:ext cx="46613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chain of series voltage sources is equivalent to a single voltage source whose source function is the algebraic sum of the series source functions.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1447800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≡</a:t>
            </a:r>
          </a:p>
        </p:txBody>
      </p:sp>
      <p:pic>
        <p:nvPicPr>
          <p:cNvPr id="158728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00300" y="1181100"/>
            <a:ext cx="169641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58729" name="Object 9"/>
          <p:cNvGraphicFramePr>
            <a:graphicFrameLocks noChangeAspect="1"/>
          </p:cNvGraphicFramePr>
          <p:nvPr/>
        </p:nvGraphicFramePr>
        <p:xfrm>
          <a:off x="2052638" y="2933700"/>
          <a:ext cx="30146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190440" progId="Equation.3">
                  <p:embed/>
                </p:oleObj>
              </mc:Choice>
              <mc:Fallback>
                <p:oleObj name="Equation" r:id="rId3" imgW="1130040" imgH="190440" progId="Equation.3">
                  <p:embed/>
                  <p:pic>
                    <p:nvPicPr>
                      <p:cNvPr id="1587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2933700"/>
                        <a:ext cx="3014662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8730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609600"/>
            <a:ext cx="1562100" cy="285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8267700" y="6477000"/>
            <a:ext cx="8763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ounded Rectangle 63"/>
          <p:cNvSpPr/>
          <p:nvPr/>
        </p:nvSpPr>
        <p:spPr>
          <a:xfrm>
            <a:off x="4229100" y="876300"/>
            <a:ext cx="4724400" cy="19431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u="sng" dirty="0"/>
              <a:t>Series Voltage Sources</a:t>
            </a: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292108" y="876300"/>
            <a:ext cx="46613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chain of series voltage sources is equivalent to a single voltage source whose source function is the algebraic sum of the series source functions.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1447800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≡</a:t>
            </a:r>
          </a:p>
        </p:txBody>
      </p:sp>
      <p:pic>
        <p:nvPicPr>
          <p:cNvPr id="158728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00300" y="1181100"/>
            <a:ext cx="169641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58729" name="Object 9"/>
          <p:cNvGraphicFramePr>
            <a:graphicFrameLocks noChangeAspect="1"/>
          </p:cNvGraphicFramePr>
          <p:nvPr/>
        </p:nvGraphicFramePr>
        <p:xfrm>
          <a:off x="2052638" y="2933700"/>
          <a:ext cx="30146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190440" progId="Equation.3">
                  <p:embed/>
                </p:oleObj>
              </mc:Choice>
              <mc:Fallback>
                <p:oleObj name="Equation" r:id="rId3" imgW="1130040" imgH="190440" progId="Equation.3">
                  <p:embed/>
                  <p:pic>
                    <p:nvPicPr>
                      <p:cNvPr id="1587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2933700"/>
                        <a:ext cx="3014662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8730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609600"/>
            <a:ext cx="1562100" cy="285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8732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66699" y="4238289"/>
            <a:ext cx="1562101" cy="2391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8733" name="Picture 1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00300" y="4238289"/>
            <a:ext cx="16747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1866900" y="4695489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9100" y="4047789"/>
            <a:ext cx="4724400" cy="273401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368308" y="4095078"/>
            <a:ext cx="46613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series current source functions have to be all equal in a chain of series current sources, in which case the chain is equivalent to any one of them. Otherwise there is a mathematical inconsistency.</a:t>
            </a:r>
          </a:p>
        </p:txBody>
      </p:sp>
      <p:graphicFrame>
        <p:nvGraphicFramePr>
          <p:cNvPr id="158734" name="Object 14"/>
          <p:cNvGraphicFramePr>
            <a:graphicFrameLocks noChangeAspect="1"/>
          </p:cNvGraphicFramePr>
          <p:nvPr/>
        </p:nvGraphicFramePr>
        <p:xfrm>
          <a:off x="2209800" y="5600700"/>
          <a:ext cx="1592263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880" imgH="368280" progId="Equation.3">
                  <p:embed/>
                </p:oleObj>
              </mc:Choice>
              <mc:Fallback>
                <p:oleObj name="Equation" r:id="rId8" imgW="596880" imgH="368280" progId="Equation.3">
                  <p:embed/>
                  <p:pic>
                    <p:nvPicPr>
                      <p:cNvPr id="15873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600700"/>
                        <a:ext cx="1592263" cy="798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itle 1"/>
          <p:cNvSpPr txBox="1">
            <a:spLocks/>
          </p:cNvSpPr>
          <p:nvPr/>
        </p:nvSpPr>
        <p:spPr bwMode="auto">
          <a:xfrm>
            <a:off x="419100" y="3352800"/>
            <a:ext cx="822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Series Current Sources</a:t>
            </a:r>
          </a:p>
        </p:txBody>
      </p:sp>
      <p:sp>
        <p:nvSpPr>
          <p:cNvPr id="1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8267700" y="6477000"/>
            <a:ext cx="8763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ounded Rectangle 63"/>
          <p:cNvSpPr/>
          <p:nvPr/>
        </p:nvSpPr>
        <p:spPr>
          <a:xfrm>
            <a:off x="4495800" y="876300"/>
            <a:ext cx="4457700" cy="19431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u="sng" dirty="0"/>
              <a:t>Parallel Current Sources</a:t>
            </a: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495800" y="876300"/>
            <a:ext cx="4495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set of parallel current sources is equivalent to a single current source whose source function is the sum of the parallel source functions.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1300" y="1447800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≡</a:t>
            </a:r>
          </a:p>
        </p:txBody>
      </p:sp>
      <p:graphicFrame>
        <p:nvGraphicFramePr>
          <p:cNvPr id="158729" name="Object 9"/>
          <p:cNvGraphicFramePr>
            <a:graphicFrameLocks noChangeAspect="1"/>
          </p:cNvGraphicFramePr>
          <p:nvPr/>
        </p:nvGraphicFramePr>
        <p:xfrm>
          <a:off x="782638" y="2476500"/>
          <a:ext cx="3293744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520" imgH="190440" progId="Equation.3">
                  <p:embed/>
                </p:oleObj>
              </mc:Choice>
              <mc:Fallback>
                <p:oleObj name="Equation" r:id="rId2" imgW="1028520" imgH="190440" progId="Equation.3">
                  <p:embed/>
                  <p:pic>
                    <p:nvPicPr>
                      <p:cNvPr id="1587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38" y="2476500"/>
                        <a:ext cx="3293744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89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8500" y="914400"/>
            <a:ext cx="1066800" cy="1413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8966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952500"/>
            <a:ext cx="2487292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8267700" y="6477000"/>
            <a:ext cx="8763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ounded Rectangle 63"/>
          <p:cNvSpPr/>
          <p:nvPr/>
        </p:nvSpPr>
        <p:spPr>
          <a:xfrm>
            <a:off x="4495800" y="876300"/>
            <a:ext cx="4457700" cy="19431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u="sng" dirty="0"/>
              <a:t>Parallel Current Sources</a:t>
            </a: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495800" y="876300"/>
            <a:ext cx="4495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set of parallel current sources is equivalent to a single current source whose source function is the sum of the parallel source functions.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1300" y="1447800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≡</a:t>
            </a:r>
          </a:p>
        </p:txBody>
      </p:sp>
      <p:graphicFrame>
        <p:nvGraphicFramePr>
          <p:cNvPr id="158729" name="Object 9"/>
          <p:cNvGraphicFramePr>
            <a:graphicFrameLocks noChangeAspect="1"/>
          </p:cNvGraphicFramePr>
          <p:nvPr/>
        </p:nvGraphicFramePr>
        <p:xfrm>
          <a:off x="782638" y="2476500"/>
          <a:ext cx="3293744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520" imgH="190440" progId="Equation.3">
                  <p:embed/>
                </p:oleObj>
              </mc:Choice>
              <mc:Fallback>
                <p:oleObj name="Equation" r:id="rId2" imgW="1028520" imgH="190440" progId="Equation.3">
                  <p:embed/>
                  <p:pic>
                    <p:nvPicPr>
                      <p:cNvPr id="1587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38" y="2476500"/>
                        <a:ext cx="3293744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767640" y="4343400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48200" y="4047789"/>
            <a:ext cx="4305300" cy="265781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838700" y="4038600"/>
            <a:ext cx="4305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set of voltage sources in parallel must have equal source functions in which case any one of them is equivalent to the entire set. Otherwise there is a mathematical inconsistency.</a:t>
            </a:r>
          </a:p>
        </p:txBody>
      </p:sp>
      <p:graphicFrame>
        <p:nvGraphicFramePr>
          <p:cNvPr id="158734" name="Object 14"/>
          <p:cNvGraphicFramePr>
            <a:graphicFrameLocks noChangeAspect="1"/>
          </p:cNvGraphicFramePr>
          <p:nvPr/>
        </p:nvGraphicFramePr>
        <p:xfrm>
          <a:off x="655637" y="5638800"/>
          <a:ext cx="3451861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190440" progId="Equation.3">
                  <p:embed/>
                </p:oleObj>
              </mc:Choice>
              <mc:Fallback>
                <p:oleObj name="Equation" r:id="rId4" imgW="1168200" imgH="190440" progId="Equation.3">
                  <p:embed/>
                  <p:pic>
                    <p:nvPicPr>
                      <p:cNvPr id="15873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7" y="5638800"/>
                        <a:ext cx="3451861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itle 1"/>
          <p:cNvSpPr txBox="1">
            <a:spLocks/>
          </p:cNvSpPr>
          <p:nvPr/>
        </p:nvSpPr>
        <p:spPr bwMode="auto">
          <a:xfrm>
            <a:off x="419100" y="3200400"/>
            <a:ext cx="822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Parallel Voltage Sources</a:t>
            </a:r>
          </a:p>
        </p:txBody>
      </p:sp>
      <p:pic>
        <p:nvPicPr>
          <p:cNvPr id="168964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38500" y="914400"/>
            <a:ext cx="1066800" cy="1413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8966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8600" y="952500"/>
            <a:ext cx="2487292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8967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52400" y="3807502"/>
            <a:ext cx="2667000" cy="1420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8968" name="Picture 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162300" y="4114800"/>
            <a:ext cx="148590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8267700" y="6477000"/>
            <a:ext cx="876300" cy="365125"/>
          </a:xfrm>
        </p:spPr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/>
              <a:t>Example</a:t>
            </a:r>
            <a:endParaRPr lang="en-US" sz="3200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5753099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For the circuit shown, a) what value of </a:t>
            </a:r>
            <a:r>
              <a:rPr lang="en-US" sz="2400" i="1" dirty="0"/>
              <a:t>v</a:t>
            </a:r>
            <a:r>
              <a:rPr lang="en-US" sz="2400" i="1" baseline="-25000" dirty="0"/>
              <a:t>g</a:t>
            </a:r>
            <a:r>
              <a:rPr lang="en-US" sz="2400" dirty="0"/>
              <a:t> is required in order for the interconnection to be valid? b) For this value of </a:t>
            </a:r>
            <a:r>
              <a:rPr lang="en-US" sz="2400" i="1" dirty="0"/>
              <a:t>v</a:t>
            </a:r>
            <a:r>
              <a:rPr lang="en-US" sz="2400" i="1" baseline="-25000" dirty="0"/>
              <a:t>g</a:t>
            </a:r>
            <a:r>
              <a:rPr lang="en-US" sz="2400" dirty="0"/>
              <a:t>, find the power associated with the 8 A source.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31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3" name="Picture 2" descr="02_06-01UNAO1-2-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1" y="1790700"/>
            <a:ext cx="3962400" cy="2315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/>
              <a:t>Example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5753099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For the circuit shown, a) what value of </a:t>
            </a:r>
            <a:r>
              <a:rPr lang="en-US" sz="2400" i="1" dirty="0"/>
              <a:t>v</a:t>
            </a:r>
            <a:r>
              <a:rPr lang="en-US" sz="2400" i="1" baseline="-25000" dirty="0"/>
              <a:t>g</a:t>
            </a:r>
            <a:r>
              <a:rPr lang="en-US" sz="2400" dirty="0"/>
              <a:t> is required in order for the interconnection to be valid? b) For this value of </a:t>
            </a:r>
            <a:r>
              <a:rPr lang="en-US" sz="2400" i="1" dirty="0"/>
              <a:t>v</a:t>
            </a:r>
            <a:r>
              <a:rPr lang="en-US" sz="2400" i="1" baseline="-25000" dirty="0"/>
              <a:t>g</a:t>
            </a:r>
            <a:r>
              <a:rPr lang="en-US" sz="2400" dirty="0"/>
              <a:t>, find the power associated with the 8 A source.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 marL="457200" indent="-457200">
              <a:buAutoNum type="alphaLcParenR"/>
            </a:pPr>
            <a:r>
              <a:rPr lang="en-US" sz="2400" i="1" dirty="0" err="1"/>
              <a:t>i</a:t>
            </a:r>
            <a:r>
              <a:rPr lang="en-US" sz="2400" i="1" baseline="-25000" dirty="0" err="1"/>
              <a:t>b</a:t>
            </a:r>
            <a:r>
              <a:rPr lang="en-US" sz="2400" dirty="0"/>
              <a:t> = -8 A  and  </a:t>
            </a:r>
            <a:r>
              <a:rPr lang="en-US" sz="2400" i="1" dirty="0"/>
              <a:t>v</a:t>
            </a:r>
            <a:r>
              <a:rPr lang="en-US" sz="2400" i="1" baseline="-25000" dirty="0"/>
              <a:t>g</a:t>
            </a:r>
            <a:r>
              <a:rPr lang="en-US" sz="2400" dirty="0"/>
              <a:t> = </a:t>
            </a:r>
            <a:r>
              <a:rPr lang="en-US" sz="2400" i="1" dirty="0" err="1"/>
              <a:t>i</a:t>
            </a:r>
            <a:r>
              <a:rPr lang="en-US" sz="2400" i="1" baseline="-25000" dirty="0" err="1"/>
              <a:t>b</a:t>
            </a:r>
            <a:r>
              <a:rPr lang="en-US" sz="2400" i="1" baseline="-25000" dirty="0"/>
              <a:t> </a:t>
            </a:r>
            <a:r>
              <a:rPr lang="en-US" sz="2400" dirty="0"/>
              <a:t>/4 = -2 V</a:t>
            </a:r>
          </a:p>
          <a:p>
            <a:pPr marL="742950" indent="-742950">
              <a:buNone/>
            </a:pPr>
            <a:r>
              <a:rPr lang="en-US" sz="2400" dirty="0"/>
              <a:t>b)  P = V . I = -2 V . 8 A = -16 W    (16 W delivered or generated)</a:t>
            </a:r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31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3" name="Picture 2" descr="02_06-01UNAO1-2-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1" y="1790700"/>
            <a:ext cx="3962400" cy="2315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Title 1"/>
          <p:cNvSpPr txBox="1">
            <a:spLocks/>
          </p:cNvSpPr>
          <p:nvPr/>
        </p:nvSpPr>
        <p:spPr bwMode="auto">
          <a:xfrm>
            <a:off x="304800" y="4229100"/>
            <a:ext cx="822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Solution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/>
              <a:t>Example 2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5753099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If the interconnection in the below figure is valid, find the power developed by the current sources. If the interconnection is not valid, explain why.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31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2" descr="02_25-02UNP2-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828800"/>
            <a:ext cx="4219851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/>
              <a:t>Example 2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5753099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If the interconnection in the below figure is valid, find the power developed by the current sources. If the interconnection in not valid, explain why.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There are no inconsistencies (different voltage sources connected in parallel, or different current sources connected in series).</a:t>
            </a:r>
          </a:p>
          <a:p>
            <a:pPr>
              <a:buNone/>
            </a:pPr>
            <a:r>
              <a:rPr lang="en-US" sz="2400" dirty="0"/>
              <a:t>The total power of the current sources is: </a:t>
            </a:r>
          </a:p>
          <a:p>
            <a:pPr>
              <a:buNone/>
            </a:pPr>
            <a:r>
              <a:rPr lang="en-US" sz="2400" dirty="0"/>
              <a:t>			10A.100V + 5A.140V=1700 W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31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2" descr="02_25-02UNP2-0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828800"/>
            <a:ext cx="4219851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495300" y="3810000"/>
            <a:ext cx="822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Solution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02_25-03UNP2-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00300" y="1714500"/>
            <a:ext cx="4457700" cy="25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/>
              <a:t>Example 3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5753099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If the interconnection in the below figure is valid, find the total power developed by the voltage sources. If the </a:t>
            </a:r>
            <a:r>
              <a:rPr lang="en-US" sz="2400" dirty="0" err="1"/>
              <a:t>interconnec-tion</a:t>
            </a:r>
            <a:r>
              <a:rPr lang="en-US" sz="2400" dirty="0"/>
              <a:t> is not valid, explain why.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31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02_25-03UNP2-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00300" y="1714500"/>
            <a:ext cx="4457700" cy="25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/>
              <a:t>Example 3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5753099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If the interconnection in the below figure is valid, find the total power developed by the voltage sources. If the </a:t>
            </a:r>
            <a:r>
              <a:rPr lang="en-US" sz="2400" dirty="0" err="1"/>
              <a:t>interconnec-tion</a:t>
            </a:r>
            <a:r>
              <a:rPr lang="en-US" sz="2400" dirty="0"/>
              <a:t> in not valid, explain why.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The 4 A and 5 A current sources connected </a:t>
            </a:r>
            <a:r>
              <a:rPr lang="en-US" sz="2400" i="1" dirty="0"/>
              <a:t>in series </a:t>
            </a:r>
            <a:r>
              <a:rPr lang="en-US" sz="2400" dirty="0"/>
              <a:t>create an inconsistency.  This interconnection is not valid.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31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495300" y="4389437"/>
            <a:ext cx="822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Solution</a:t>
            </a:r>
          </a:p>
        </p:txBody>
      </p:sp>
    </p:spTree>
  </p:cSld>
  <p:clrMapOvr>
    <a:masterClrMapping/>
  </p:clrMapOvr>
  <p:transition spd="med"/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/>
              <a:t>Resistance and Resistivity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533400" y="1836003"/>
            <a:ext cx="832889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r>
              <a:rPr lang="en-US" sz="2400" dirty="0">
                <a:latin typeface="+mj-lt"/>
              </a:rPr>
              <a:t>For a given conductor with length </a:t>
            </a:r>
            <a:r>
              <a:rPr lang="en-US" sz="2400" i="1" dirty="0">
                <a:latin typeface="Trebuchet MS" pitchFamily="34" charset="0"/>
              </a:rPr>
              <a:t>l</a:t>
            </a:r>
            <a:r>
              <a:rPr lang="en-US" sz="2400" dirty="0">
                <a:latin typeface="+mj-lt"/>
              </a:rPr>
              <a:t>, and cross-sectional area </a:t>
            </a:r>
            <a:r>
              <a:rPr lang="en-US" sz="2400" i="1" dirty="0">
                <a:latin typeface="+mj-lt"/>
              </a:rPr>
              <a:t>A:</a:t>
            </a:r>
          </a:p>
          <a:p>
            <a:endParaRPr lang="en-US" sz="2400" i="1" dirty="0">
              <a:latin typeface="+mj-lt"/>
            </a:endParaRPr>
          </a:p>
          <a:p>
            <a:endParaRPr lang="en-US" sz="2400" i="1" dirty="0"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r>
              <a:rPr lang="en-US" sz="2400" dirty="0">
                <a:latin typeface="+mj-lt"/>
              </a:rPr>
              <a:t>		where  </a:t>
            </a:r>
            <a:r>
              <a:rPr lang="el-GR" sz="2400" dirty="0">
                <a:latin typeface="+mj-lt"/>
              </a:rPr>
              <a:t>ρ</a:t>
            </a:r>
            <a:r>
              <a:rPr lang="en-US" sz="2400" dirty="0">
                <a:latin typeface="+mj-lt"/>
              </a:rPr>
              <a:t> is the material resistivity.</a:t>
            </a: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48483" name="Object 3"/>
          <p:cNvGraphicFramePr>
            <a:graphicFrameLocks noChangeAspect="1"/>
          </p:cNvGraphicFramePr>
          <p:nvPr/>
        </p:nvGraphicFramePr>
        <p:xfrm>
          <a:off x="2095500" y="4038600"/>
          <a:ext cx="243208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800" imgH="330120" progId="Equation.3">
                  <p:embed/>
                </p:oleObj>
              </mc:Choice>
              <mc:Fallback>
                <p:oleObj name="Equation" r:id="rId2" imgW="469800" imgH="330120" progId="Equation.3">
                  <p:embed/>
                  <p:pic>
                    <p:nvPicPr>
                      <p:cNvPr id="148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4038600"/>
                        <a:ext cx="2432088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Oval 13"/>
          <p:cNvSpPr/>
          <p:nvPr/>
        </p:nvSpPr>
        <p:spPr>
          <a:xfrm>
            <a:off x="5981700" y="1219200"/>
            <a:ext cx="609600" cy="11811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6" name="Straight Connector 15"/>
          <p:cNvCxnSpPr>
            <a:stCxn id="14" idx="0"/>
          </p:cNvCxnSpPr>
          <p:nvPr/>
        </p:nvCxnSpPr>
        <p:spPr>
          <a:xfrm rot="16200000" flipV="1">
            <a:off x="4533900" y="-533400"/>
            <a:ext cx="114300" cy="33909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6200000" flipV="1">
            <a:off x="4533900" y="647700"/>
            <a:ext cx="114300" cy="33909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3"/>
          <p:cNvGrpSpPr/>
          <p:nvPr/>
        </p:nvGrpSpPr>
        <p:grpSpPr>
          <a:xfrm>
            <a:off x="2438400" y="1104900"/>
            <a:ext cx="914400" cy="1181100"/>
            <a:chOff x="2628900" y="1104900"/>
            <a:chExt cx="609600" cy="1181100"/>
          </a:xfrm>
        </p:grpSpPr>
        <p:sp>
          <p:nvSpPr>
            <p:cNvPr id="21" name="Arc 20"/>
            <p:cNvSpPr/>
            <p:nvPr/>
          </p:nvSpPr>
          <p:spPr>
            <a:xfrm flipH="1">
              <a:off x="2628900" y="1104900"/>
              <a:ext cx="609600" cy="118110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" name="Arc 21"/>
            <p:cNvSpPr/>
            <p:nvPr/>
          </p:nvSpPr>
          <p:spPr>
            <a:xfrm flipH="1" flipV="1">
              <a:off x="2628900" y="1104900"/>
              <a:ext cx="609600" cy="1181100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</a:endParaRP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>
            <a:off x="2781300" y="2476500"/>
            <a:ext cx="3467100" cy="11430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81500" y="2552700"/>
            <a:ext cx="300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Trebuchet MS" pitchFamily="34" charset="0"/>
              </a:rPr>
              <a:t>l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790700" y="1790700"/>
            <a:ext cx="2019300" cy="8763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/>
              <a:t>Ohm’s Law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r>
              <a:rPr lang="en-US" sz="2400" dirty="0"/>
              <a:t>The voltage across a resistor is directly proportional to the current flowing through the resistor.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Power consumed by a resistor: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graphicFrame>
        <p:nvGraphicFramePr>
          <p:cNvPr id="88065" name="Object 1"/>
          <p:cNvGraphicFramePr>
            <a:graphicFrameLocks noChangeAspect="1"/>
          </p:cNvGraphicFramePr>
          <p:nvPr/>
        </p:nvGraphicFramePr>
        <p:xfrm>
          <a:off x="1943100" y="2019300"/>
          <a:ext cx="178822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320" imgH="152280" progId="Equation.3">
                  <p:embed/>
                </p:oleObj>
              </mc:Choice>
              <mc:Fallback>
                <p:oleObj name="Equation" r:id="rId2" imgW="355320" imgH="152280" progId="Equation.3">
                  <p:embed/>
                  <p:pic>
                    <p:nvPicPr>
                      <p:cNvPr id="8806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019300"/>
                        <a:ext cx="1788228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84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6200" y="2664489"/>
            <a:ext cx="1866900" cy="282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9" name="TextBox 48"/>
          <p:cNvSpPr txBox="1"/>
          <p:nvPr/>
        </p:nvSpPr>
        <p:spPr>
          <a:xfrm>
            <a:off x="4419600" y="1836003"/>
            <a:ext cx="33267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R : Resistance in Ohm (</a:t>
            </a:r>
            <a:r>
              <a:rPr lang="el-GR" sz="2400" dirty="0">
                <a:latin typeface="+mj-lt"/>
              </a:rPr>
              <a:t>Ω</a:t>
            </a:r>
            <a:r>
              <a:rPr lang="en-US" sz="2400" dirty="0">
                <a:latin typeface="+mj-lt"/>
              </a:rPr>
              <a:t>)</a:t>
            </a:r>
          </a:p>
          <a:p>
            <a:r>
              <a:rPr lang="en-US" sz="2400" dirty="0">
                <a:latin typeface="+mj-lt"/>
              </a:rPr>
              <a:t>R ≥ 0</a:t>
            </a: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120900" y="5600700"/>
          <a:ext cx="46609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27000" imgH="355320" progId="Equation.3">
                  <p:embed/>
                </p:oleObj>
              </mc:Choice>
              <mc:Fallback>
                <p:oleObj name="Equation" r:id="rId5" imgW="927000" imgH="355320" progId="Equation.3">
                  <p:embed/>
                  <p:pic>
                    <p:nvPicPr>
                      <p:cNvPr id="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5600700"/>
                        <a:ext cx="4660900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19909" y="1295400"/>
            <a:ext cx="2209800" cy="11049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/>
              <a:t>Conductance (G)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pPr>
              <a:buNone/>
            </a:pPr>
            <a:endParaRPr lang="en-US" sz="2400" dirty="0"/>
          </a:p>
          <a:p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16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graphicFrame>
        <p:nvGraphicFramePr>
          <p:cNvPr id="88065" name="Object 1"/>
          <p:cNvGraphicFramePr>
            <a:graphicFrameLocks noChangeAspect="1"/>
          </p:cNvGraphicFramePr>
          <p:nvPr/>
        </p:nvGraphicFramePr>
        <p:xfrm>
          <a:off x="1272309" y="1257300"/>
          <a:ext cx="1916113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80" imgH="330120" progId="Equation.3">
                  <p:embed/>
                </p:oleObj>
              </mc:Choice>
              <mc:Fallback>
                <p:oleObj name="Equation" r:id="rId2" imgW="380880" imgH="330120" progId="Equation.3">
                  <p:embed/>
                  <p:pic>
                    <p:nvPicPr>
                      <p:cNvPr id="8806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2309" y="1257300"/>
                        <a:ext cx="1916113" cy="1073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3558309" y="1485900"/>
            <a:ext cx="43664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Unit: Siemens (S) or Mho (   )</a:t>
            </a:r>
          </a:p>
          <a:p>
            <a:endParaRPr lang="en-US" sz="2400" dirty="0">
              <a:latin typeface="+mj-lt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 flipV="1">
            <a:off x="6949209" y="1519540"/>
            <a:ext cx="266700" cy="461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Ω</a:t>
            </a:r>
            <a:endParaRPr lang="en-US" sz="2400" dirty="0"/>
          </a:p>
        </p:txBody>
      </p:sp>
      <p:graphicFrame>
        <p:nvGraphicFramePr>
          <p:cNvPr id="152581" name="Object 5"/>
          <p:cNvGraphicFramePr>
            <a:graphicFrameLocks noChangeAspect="1"/>
          </p:cNvGraphicFramePr>
          <p:nvPr/>
        </p:nvGraphicFramePr>
        <p:xfrm>
          <a:off x="3009900" y="2997200"/>
          <a:ext cx="17891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320" imgH="152280" progId="Equation.3">
                  <p:embed/>
                </p:oleObj>
              </mc:Choice>
              <mc:Fallback>
                <p:oleObj name="Equation" r:id="rId4" imgW="355320" imgH="152280" progId="Equation.3">
                  <p:embed/>
                  <p:pic>
                    <p:nvPicPr>
                      <p:cNvPr id="152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2997200"/>
                        <a:ext cx="1789113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2" name="Object 6"/>
          <p:cNvGraphicFramePr>
            <a:graphicFrameLocks noChangeAspect="1"/>
          </p:cNvGraphicFramePr>
          <p:nvPr/>
        </p:nvGraphicFramePr>
        <p:xfrm>
          <a:off x="2019300" y="3873500"/>
          <a:ext cx="3513137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400" imgH="355320" progId="Equation.3">
                  <p:embed/>
                </p:oleObj>
              </mc:Choice>
              <mc:Fallback>
                <p:oleObj name="Equation" r:id="rId6" imgW="698400" imgH="355320" progId="Equation.3">
                  <p:embed/>
                  <p:pic>
                    <p:nvPicPr>
                      <p:cNvPr id="1525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300" y="3873500"/>
                        <a:ext cx="3513137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/>
              <a:t>Example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5753099"/>
          </a:xfrm>
        </p:spPr>
        <p:txBody>
          <a:bodyPr/>
          <a:lstStyle/>
          <a:p>
            <a:pPr marL="457200" indent="-457200">
              <a:buNone/>
            </a:pPr>
            <a:r>
              <a:rPr lang="en-US" sz="2400" dirty="0" err="1"/>
              <a:t>i</a:t>
            </a:r>
            <a:r>
              <a:rPr lang="en-US" sz="2400" dirty="0"/>
              <a:t>) Calculate the value of </a:t>
            </a:r>
            <a:r>
              <a:rPr lang="en-US" sz="2400" i="1" dirty="0"/>
              <a:t>v</a:t>
            </a:r>
            <a:r>
              <a:rPr lang="en-US" sz="2400" dirty="0"/>
              <a:t> and </a:t>
            </a:r>
            <a:r>
              <a:rPr lang="en-US" sz="2400" i="1" dirty="0" err="1"/>
              <a:t>i</a:t>
            </a:r>
            <a:r>
              <a:rPr lang="en-US" sz="2400" dirty="0"/>
              <a:t> in the following circuits. ii) Determine the power dissipated in each resistor.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31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2" descr="02_08a-dEX2-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1600200"/>
            <a:ext cx="3352800" cy="2900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2800" dirty="0"/>
              <a:t>Example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5753099"/>
          </a:xfrm>
        </p:spPr>
        <p:txBody>
          <a:bodyPr/>
          <a:lstStyle/>
          <a:p>
            <a:pPr marL="457200" indent="-457200">
              <a:buNone/>
            </a:pPr>
            <a:r>
              <a:rPr lang="en-US" sz="2400" dirty="0" err="1"/>
              <a:t>i</a:t>
            </a:r>
            <a:r>
              <a:rPr lang="en-US" sz="2400" dirty="0"/>
              <a:t>) Calculate the value of </a:t>
            </a:r>
            <a:r>
              <a:rPr lang="en-US" sz="2400" i="1" dirty="0"/>
              <a:t>v</a:t>
            </a:r>
            <a:r>
              <a:rPr lang="en-US" sz="2400" dirty="0"/>
              <a:t> and </a:t>
            </a:r>
            <a:r>
              <a:rPr lang="en-US" sz="2400" i="1" dirty="0" err="1"/>
              <a:t>i</a:t>
            </a:r>
            <a:r>
              <a:rPr lang="en-US" sz="2400" dirty="0"/>
              <a:t> in the following circuits. ii) Determine the power dissipated in each resistor.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31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2" descr="02_08a-dEX2-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1600200"/>
            <a:ext cx="3352800" cy="2900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495300" y="4648200"/>
            <a:ext cx="822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372100"/>
            <a:ext cx="78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i) </a:t>
            </a:r>
            <a:r>
              <a:rPr lang="en-US" dirty="0" err="1"/>
              <a:t>v</a:t>
            </a:r>
            <a:r>
              <a:rPr lang="en-US" baseline="-25000" dirty="0" err="1"/>
              <a:t>a</a:t>
            </a:r>
            <a:r>
              <a:rPr lang="en-US" dirty="0"/>
              <a:t> = (1)(8)=8 V ; </a:t>
            </a:r>
            <a:r>
              <a:rPr lang="en-US" dirty="0" err="1"/>
              <a:t>i</a:t>
            </a:r>
            <a:r>
              <a:rPr lang="en-US" baseline="-25000" dirty="0" err="1"/>
              <a:t>b</a:t>
            </a:r>
            <a:r>
              <a:rPr lang="en-US" dirty="0"/>
              <a:t> = (50)(0.2)=10 A ; </a:t>
            </a:r>
            <a:r>
              <a:rPr lang="en-US" dirty="0" err="1"/>
              <a:t>v</a:t>
            </a:r>
            <a:r>
              <a:rPr lang="en-US" baseline="-25000" dirty="0" err="1"/>
              <a:t>c</a:t>
            </a:r>
            <a:r>
              <a:rPr lang="en-US" dirty="0"/>
              <a:t> = -(1)(20)=-20 V ; i</a:t>
            </a:r>
            <a:r>
              <a:rPr lang="en-US" baseline="-25000" dirty="0"/>
              <a:t>d</a:t>
            </a:r>
            <a:r>
              <a:rPr lang="en-US" dirty="0"/>
              <a:t> = -50/25= -2 A </a:t>
            </a:r>
            <a:endParaRPr lang="tr-TR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761999" y="5905500"/>
          <a:ext cx="81642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626080" imgH="419040" progId="Equation.3">
                  <p:embed/>
                </p:oleObj>
              </mc:Choice>
              <mc:Fallback>
                <p:oleObj name="Equation" r:id="rId3" imgW="5626080" imgH="419040" progId="Equation.3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999" y="5905500"/>
                        <a:ext cx="8164287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97798" y="601980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ii)</a:t>
            </a:r>
            <a:endParaRPr lang="tr-TR" dirty="0"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pPr>
              <a:buNone/>
            </a:pPr>
            <a:endParaRPr lang="en-US" sz="1600" dirty="0"/>
          </a:p>
          <a:p>
            <a:r>
              <a:rPr lang="en-US" sz="2400" dirty="0"/>
              <a:t>A </a:t>
            </a:r>
            <a:r>
              <a:rPr lang="en-US" sz="2400" i="1" dirty="0"/>
              <a:t>short circuit </a:t>
            </a:r>
            <a:r>
              <a:rPr lang="en-US" sz="2400" dirty="0"/>
              <a:t>is a perfect conductor or conductor with zero resistance. Two nodes can be short circuited by connecting them with a wire. A short circuit can sustain current without any voltage drop. [In reality, there always is a max. current limit after which damage occurs to the material.]</a:t>
            </a:r>
          </a:p>
          <a:p>
            <a:endParaRPr lang="en-US" sz="2400" dirty="0"/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An </a:t>
            </a:r>
            <a:r>
              <a:rPr lang="en-US" sz="2400" i="1" dirty="0"/>
              <a:t>open circuit </a:t>
            </a:r>
            <a:r>
              <a:rPr lang="en-US" sz="2400" dirty="0"/>
              <a:t>is a perfect insulator or resistor with zero conductance. An open circuit can sustain any voltage without any flow of current. [Again there is always a max. practical limit after which breakdown occurs.]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	     (Circuit modeling: Read Nilsson Examples 2.4, 2.5)</a:t>
            </a:r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 bwMode="auto">
          <a:xfrm>
            <a:off x="457200" y="342900"/>
            <a:ext cx="822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Short</a:t>
            </a:r>
            <a:r>
              <a:rPr kumimoji="0" lang="en-US" sz="3200" b="0" i="0" u="sng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Circuit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 bwMode="auto">
          <a:xfrm>
            <a:off x="495300" y="3246437"/>
            <a:ext cx="8229600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u="sng" dirty="0">
                <a:latin typeface="+mj-lt"/>
                <a:ea typeface="+mj-ea"/>
                <a:cs typeface="+mj-cs"/>
              </a:rPr>
              <a:t>Open </a:t>
            </a:r>
            <a:r>
              <a:rPr kumimoji="0" lang="en-US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Circuit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790700" y="2628900"/>
            <a:ext cx="2400300" cy="10287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Kirchhoff’s Current Law (KCL)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r>
              <a:rPr lang="en-US" sz="2400" dirty="0"/>
              <a:t>The sum of the currents entering any node equals the sum of the currents leaving the node.</a:t>
            </a:r>
          </a:p>
          <a:p>
            <a:pPr>
              <a:buNone/>
            </a:pPr>
            <a:r>
              <a:rPr lang="en-US" sz="2400" dirty="0"/>
              <a:t>	(The algebraic sum of all the currents at any node in a circuit equals zero.)</a:t>
            </a:r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graphicFrame>
        <p:nvGraphicFramePr>
          <p:cNvPr id="88065" name="Object 1"/>
          <p:cNvGraphicFramePr>
            <a:graphicFrameLocks noChangeAspect="1"/>
          </p:cNvGraphicFramePr>
          <p:nvPr/>
        </p:nvGraphicFramePr>
        <p:xfrm>
          <a:off x="2116138" y="2628900"/>
          <a:ext cx="18446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419040" progId="Equation.3">
                  <p:embed/>
                </p:oleObj>
              </mc:Choice>
              <mc:Fallback>
                <p:oleObj name="Equation" r:id="rId2" imgW="495000" imgH="419040" progId="Equation.3">
                  <p:embed/>
                  <p:pic>
                    <p:nvPicPr>
                      <p:cNvPr id="8806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138" y="2628900"/>
                        <a:ext cx="1844675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34"/>
          <p:cNvGrpSpPr/>
          <p:nvPr/>
        </p:nvGrpSpPr>
        <p:grpSpPr>
          <a:xfrm>
            <a:off x="533400" y="4152106"/>
            <a:ext cx="5562600" cy="2248696"/>
            <a:chOff x="1181100" y="3466306"/>
            <a:chExt cx="5562600" cy="2248696"/>
          </a:xfrm>
        </p:grpSpPr>
        <p:grpSp>
          <p:nvGrpSpPr>
            <p:cNvPr id="9" name="Group 12"/>
            <p:cNvGrpSpPr/>
            <p:nvPr/>
          </p:nvGrpSpPr>
          <p:grpSpPr>
            <a:xfrm rot="5400000">
              <a:off x="3066653" y="2838053"/>
              <a:ext cx="304800" cy="1561306"/>
              <a:chOff x="1485900" y="4687094"/>
              <a:chExt cx="304800" cy="1561306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/>
              <p:cNvCxnSpPr>
                <a:stCxn id="10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2"/>
            <p:cNvGrpSpPr/>
            <p:nvPr/>
          </p:nvGrpSpPr>
          <p:grpSpPr>
            <a:xfrm rot="10800000">
              <a:off x="4762500" y="3962400"/>
              <a:ext cx="304800" cy="1561306"/>
              <a:chOff x="1485900" y="4687094"/>
              <a:chExt cx="304800" cy="1561306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/>
              <p:cNvCxnSpPr>
                <a:stCxn id="15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Connector 17"/>
            <p:cNvCxnSpPr/>
            <p:nvPr/>
          </p:nvCxnSpPr>
          <p:spPr>
            <a:xfrm rot="5400000" flipH="1" flipV="1">
              <a:off x="1044120" y="4015922"/>
              <a:ext cx="800101" cy="72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447800" y="3618706"/>
              <a:ext cx="9906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5400000" flipH="1" flipV="1">
              <a:off x="4667250" y="3866356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962400" y="3618706"/>
              <a:ext cx="26289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 flipH="1" flipV="1">
              <a:off x="1066403" y="5333607"/>
              <a:ext cx="762001" cy="7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3" name="Group 12"/>
            <p:cNvGrpSpPr/>
            <p:nvPr/>
          </p:nvGrpSpPr>
          <p:grpSpPr>
            <a:xfrm rot="10800000">
              <a:off x="6438900" y="3961606"/>
              <a:ext cx="304800" cy="1561306"/>
              <a:chOff x="1485900" y="4687094"/>
              <a:chExt cx="304800" cy="1561306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/>
              <p:cNvCxnSpPr>
                <a:stCxn id="24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Connector 26"/>
            <p:cNvCxnSpPr/>
            <p:nvPr/>
          </p:nvCxnSpPr>
          <p:spPr>
            <a:xfrm rot="5400000" flipH="1" flipV="1">
              <a:off x="6343649" y="3865562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/>
            <p:cNvGrpSpPr/>
            <p:nvPr/>
          </p:nvGrpSpPr>
          <p:grpSpPr>
            <a:xfrm>
              <a:off x="1181100" y="4343400"/>
              <a:ext cx="533400" cy="716697"/>
              <a:chOff x="3543300" y="3783568"/>
              <a:chExt cx="533400" cy="716697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3543300" y="3848100"/>
                <a:ext cx="533400" cy="5334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643082" y="3783568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657600" y="4038600"/>
                <a:ext cx="2872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-</a:t>
                </a:r>
              </a:p>
            </p:txBody>
          </p:sp>
        </p:grpSp>
        <p:cxnSp>
          <p:nvCxnSpPr>
            <p:cNvPr id="32" name="Straight Connector 31"/>
            <p:cNvCxnSpPr/>
            <p:nvPr/>
          </p:nvCxnSpPr>
          <p:spPr>
            <a:xfrm rot="10800000">
              <a:off x="1447800" y="5712618"/>
              <a:ext cx="5143500" cy="15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4819650" y="5618956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6496049" y="5618162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/>
          <p:cNvCxnSpPr/>
          <p:nvPr/>
        </p:nvCxnSpPr>
        <p:spPr>
          <a:xfrm rot="5400000">
            <a:off x="4286250" y="4629150"/>
            <a:ext cx="2667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438650" y="4152900"/>
            <a:ext cx="2667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229100" y="63627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2291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4229100" y="373380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66854" y="454556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4</a:t>
            </a:r>
          </a:p>
        </p:txBody>
      </p:sp>
      <p:sp>
        <p:nvSpPr>
          <p:cNvPr id="42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 rot="16200000" flipV="1">
            <a:off x="515144" y="4475956"/>
            <a:ext cx="2667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1143000" y="4152900"/>
            <a:ext cx="2667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52500" y="365760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6700" y="419100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1</a:t>
            </a:r>
          </a:p>
        </p:txBody>
      </p:sp>
      <p:cxnSp>
        <p:nvCxnSpPr>
          <p:cNvPr id="55" name="Straight Arrow Connector 54"/>
          <p:cNvCxnSpPr/>
          <p:nvPr/>
        </p:nvCxnSpPr>
        <p:spPr>
          <a:xfrm rot="5400000">
            <a:off x="5991596" y="4503182"/>
            <a:ext cx="2667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172200" y="441960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5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790700" y="2628900"/>
            <a:ext cx="2400300" cy="10287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Kirchhoff’s Current Law (KCL)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r>
              <a:rPr lang="en-US" sz="2400" dirty="0"/>
              <a:t>The sum of the currents entering any node equals the sum of the currents leaving the node.</a:t>
            </a:r>
          </a:p>
          <a:p>
            <a:pPr>
              <a:buNone/>
            </a:pPr>
            <a:r>
              <a:rPr lang="en-US" sz="2000" dirty="0"/>
              <a:t>	</a:t>
            </a:r>
            <a:r>
              <a:rPr lang="en-US" sz="2400" dirty="0"/>
              <a:t>(The algebraic sum of all the currents at any node in a circuit equals zero.)</a:t>
            </a:r>
          </a:p>
          <a:p>
            <a:pPr>
              <a:buNone/>
            </a:pPr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graphicFrame>
        <p:nvGraphicFramePr>
          <p:cNvPr id="88065" name="Object 1"/>
          <p:cNvGraphicFramePr>
            <a:graphicFrameLocks noChangeAspect="1"/>
          </p:cNvGraphicFramePr>
          <p:nvPr/>
        </p:nvGraphicFramePr>
        <p:xfrm>
          <a:off x="2116138" y="2628900"/>
          <a:ext cx="18446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419040" progId="Equation.3">
                  <p:embed/>
                </p:oleObj>
              </mc:Choice>
              <mc:Fallback>
                <p:oleObj name="Equation" r:id="rId2" imgW="495000" imgH="419040" progId="Equation.3">
                  <p:embed/>
                  <p:pic>
                    <p:nvPicPr>
                      <p:cNvPr id="8806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138" y="2628900"/>
                        <a:ext cx="1844675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6934200" y="4191000"/>
            <a:ext cx="1572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</a:t>
            </a:r>
            <a:r>
              <a:rPr lang="en-US" sz="2000" baseline="-25000" dirty="0"/>
              <a:t>2 </a:t>
            </a:r>
            <a:r>
              <a:rPr lang="en-US" sz="2000" dirty="0"/>
              <a:t>+ (– i</a:t>
            </a:r>
            <a:r>
              <a:rPr lang="en-US" sz="2000" baseline="-25000" dirty="0"/>
              <a:t>1</a:t>
            </a:r>
            <a:r>
              <a:rPr lang="en-US" sz="2000" dirty="0"/>
              <a:t>) = 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34000" y="2628900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Our convention: </a:t>
            </a:r>
          </a:p>
          <a:p>
            <a:r>
              <a:rPr lang="en-US" sz="2000" dirty="0"/>
              <a:t>+ for currents exiting the node</a:t>
            </a:r>
          </a:p>
          <a:p>
            <a:r>
              <a:rPr lang="en-US" sz="2000" dirty="0"/>
              <a:t>- for currents entering the node</a:t>
            </a:r>
          </a:p>
        </p:txBody>
      </p:sp>
      <p:sp>
        <p:nvSpPr>
          <p:cNvPr id="4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533400" y="4152106"/>
            <a:ext cx="5562600" cy="2248696"/>
            <a:chOff x="1181100" y="3466306"/>
            <a:chExt cx="5562600" cy="2248696"/>
          </a:xfrm>
        </p:grpSpPr>
        <p:grpSp>
          <p:nvGrpSpPr>
            <p:cNvPr id="51" name="Group 12"/>
            <p:cNvGrpSpPr/>
            <p:nvPr/>
          </p:nvGrpSpPr>
          <p:grpSpPr>
            <a:xfrm rot="5400000">
              <a:off x="3066653" y="2838053"/>
              <a:ext cx="304800" cy="1561306"/>
              <a:chOff x="1485900" y="4687094"/>
              <a:chExt cx="304800" cy="1561306"/>
            </a:xfrm>
          </p:grpSpPr>
          <p:sp>
            <p:nvSpPr>
              <p:cNvPr id="74" name="Rectangle 9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/>
              <p:cNvCxnSpPr/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11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12"/>
            <p:cNvGrpSpPr/>
            <p:nvPr/>
          </p:nvGrpSpPr>
          <p:grpSpPr>
            <a:xfrm rot="10800000">
              <a:off x="4762500" y="3962400"/>
              <a:ext cx="304800" cy="1561306"/>
              <a:chOff x="1485900" y="4687094"/>
              <a:chExt cx="304800" cy="1561306"/>
            </a:xfrm>
          </p:grpSpPr>
          <p:sp>
            <p:nvSpPr>
              <p:cNvPr id="71" name="Rectangle 70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Connector 71"/>
              <p:cNvCxnSpPr>
                <a:stCxn id="71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Connector 52"/>
            <p:cNvCxnSpPr/>
            <p:nvPr/>
          </p:nvCxnSpPr>
          <p:spPr>
            <a:xfrm rot="5400000" flipH="1" flipV="1">
              <a:off x="1044120" y="4015922"/>
              <a:ext cx="800101" cy="72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1447800" y="3618706"/>
              <a:ext cx="9906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 flipH="1" flipV="1">
              <a:off x="4667250" y="3866356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962400" y="3618706"/>
              <a:ext cx="26289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 flipH="1" flipV="1">
              <a:off x="1066403" y="5333607"/>
              <a:ext cx="762001" cy="7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8" name="Group 12"/>
            <p:cNvGrpSpPr/>
            <p:nvPr/>
          </p:nvGrpSpPr>
          <p:grpSpPr>
            <a:xfrm rot="10800000">
              <a:off x="6438900" y="3961606"/>
              <a:ext cx="304800" cy="1561306"/>
              <a:chOff x="1485900" y="4687094"/>
              <a:chExt cx="304800" cy="1561306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9" name="Straight Connector 68"/>
              <p:cNvCxnSpPr>
                <a:stCxn id="68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Straight Connector 58"/>
            <p:cNvCxnSpPr/>
            <p:nvPr/>
          </p:nvCxnSpPr>
          <p:spPr>
            <a:xfrm rot="5400000" flipH="1" flipV="1">
              <a:off x="6343649" y="3865562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27"/>
            <p:cNvGrpSpPr/>
            <p:nvPr/>
          </p:nvGrpSpPr>
          <p:grpSpPr>
            <a:xfrm>
              <a:off x="1181100" y="4343400"/>
              <a:ext cx="533400" cy="716697"/>
              <a:chOff x="3543300" y="3783568"/>
              <a:chExt cx="533400" cy="716697"/>
            </a:xfrm>
          </p:grpSpPr>
          <p:sp>
            <p:nvSpPr>
              <p:cNvPr id="65" name="Oval 64"/>
              <p:cNvSpPr/>
              <p:nvPr/>
            </p:nvSpPr>
            <p:spPr>
              <a:xfrm>
                <a:off x="3543300" y="3848100"/>
                <a:ext cx="533400" cy="5334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3643082" y="3783568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3657600" y="4038600"/>
                <a:ext cx="2872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-</a:t>
                </a:r>
              </a:p>
            </p:txBody>
          </p:sp>
        </p:grpSp>
        <p:cxnSp>
          <p:nvCxnSpPr>
            <p:cNvPr id="61" name="Straight Connector 60"/>
            <p:cNvCxnSpPr/>
            <p:nvPr/>
          </p:nvCxnSpPr>
          <p:spPr>
            <a:xfrm rot="10800000">
              <a:off x="1447800" y="5712618"/>
              <a:ext cx="5143500" cy="15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5400000">
              <a:off x="4819650" y="5618956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6496049" y="5618162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" name="Straight Arrow Connector 76"/>
          <p:cNvCxnSpPr/>
          <p:nvPr/>
        </p:nvCxnSpPr>
        <p:spPr>
          <a:xfrm rot="5400000">
            <a:off x="4286250" y="4629150"/>
            <a:ext cx="2667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4438650" y="4152900"/>
            <a:ext cx="2667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4229100" y="63627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4229100" y="42672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4229100" y="373380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66854" y="454556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4</a:t>
            </a:r>
          </a:p>
        </p:txBody>
      </p:sp>
      <p:cxnSp>
        <p:nvCxnSpPr>
          <p:cNvPr id="83" name="Straight Arrow Connector 82"/>
          <p:cNvCxnSpPr/>
          <p:nvPr/>
        </p:nvCxnSpPr>
        <p:spPr>
          <a:xfrm rot="16200000" flipV="1">
            <a:off x="515144" y="4475956"/>
            <a:ext cx="2667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>
            <a:off x="1143000" y="4152900"/>
            <a:ext cx="2667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52500" y="365760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6700" y="419100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1</a:t>
            </a:r>
          </a:p>
        </p:txBody>
      </p:sp>
      <p:cxnSp>
        <p:nvCxnSpPr>
          <p:cNvPr id="87" name="Straight Arrow Connector 86"/>
          <p:cNvCxnSpPr/>
          <p:nvPr/>
        </p:nvCxnSpPr>
        <p:spPr>
          <a:xfrm rot="5400000">
            <a:off x="5991596" y="4503182"/>
            <a:ext cx="2667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172200" y="4419600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34200" y="4781490"/>
            <a:ext cx="1992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</a:t>
            </a:r>
            <a:r>
              <a:rPr lang="en-US" sz="2000" baseline="-25000" dirty="0"/>
              <a:t>3 </a:t>
            </a:r>
            <a:r>
              <a:rPr lang="en-US" sz="2000" dirty="0"/>
              <a:t>+ i</a:t>
            </a:r>
            <a:r>
              <a:rPr lang="en-US" sz="2000" baseline="-25000" dirty="0"/>
              <a:t>4 </a:t>
            </a:r>
            <a:r>
              <a:rPr lang="en-US" sz="2000" dirty="0"/>
              <a:t>+ (– i</a:t>
            </a:r>
            <a:r>
              <a:rPr lang="en-US" sz="2000" baseline="-25000" dirty="0"/>
              <a:t>2</a:t>
            </a:r>
            <a:r>
              <a:rPr lang="en-US" sz="2000" dirty="0"/>
              <a:t>) = 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34200" y="5352990"/>
            <a:ext cx="1572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</a:t>
            </a:r>
            <a:r>
              <a:rPr lang="en-US" sz="2000" baseline="-25000" dirty="0"/>
              <a:t>5 </a:t>
            </a:r>
            <a:r>
              <a:rPr lang="en-US" sz="2000" dirty="0"/>
              <a:t>+ (– i</a:t>
            </a:r>
            <a:r>
              <a:rPr lang="en-US" sz="2000" baseline="-25000" dirty="0"/>
              <a:t>3</a:t>
            </a:r>
            <a:r>
              <a:rPr lang="en-US" sz="2000" dirty="0"/>
              <a:t>) = 0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790700" y="1790700"/>
            <a:ext cx="2400300" cy="10287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Kirchhoff’s Voltage Law (KVL)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r>
              <a:rPr lang="en-US" sz="2400" dirty="0"/>
              <a:t>The sum of voltage drops around any closed path is zero.</a:t>
            </a:r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graphicFrame>
        <p:nvGraphicFramePr>
          <p:cNvPr id="88065" name="Object 1"/>
          <p:cNvGraphicFramePr>
            <a:graphicFrameLocks noChangeAspect="1"/>
          </p:cNvGraphicFramePr>
          <p:nvPr/>
        </p:nvGraphicFramePr>
        <p:xfrm>
          <a:off x="2057400" y="1790700"/>
          <a:ext cx="19399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560" imgH="419040" progId="Equation.3">
                  <p:embed/>
                </p:oleObj>
              </mc:Choice>
              <mc:Fallback>
                <p:oleObj name="Equation" r:id="rId2" imgW="520560" imgH="419040" progId="Equation.3">
                  <p:embed/>
                  <p:pic>
                    <p:nvPicPr>
                      <p:cNvPr id="8806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790700"/>
                        <a:ext cx="1939925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4"/>
          <p:cNvGrpSpPr/>
          <p:nvPr/>
        </p:nvGrpSpPr>
        <p:grpSpPr>
          <a:xfrm>
            <a:off x="533400" y="3314700"/>
            <a:ext cx="5562600" cy="2248696"/>
            <a:chOff x="1181100" y="3466306"/>
            <a:chExt cx="5562600" cy="2248696"/>
          </a:xfrm>
        </p:grpSpPr>
        <p:grpSp>
          <p:nvGrpSpPr>
            <p:cNvPr id="3" name="Group 12"/>
            <p:cNvGrpSpPr/>
            <p:nvPr/>
          </p:nvGrpSpPr>
          <p:grpSpPr>
            <a:xfrm rot="5400000">
              <a:off x="3066653" y="2838053"/>
              <a:ext cx="304800" cy="1561306"/>
              <a:chOff x="1485900" y="4687094"/>
              <a:chExt cx="304800" cy="1561306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/>
              <p:cNvCxnSpPr>
                <a:stCxn id="10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12"/>
            <p:cNvGrpSpPr/>
            <p:nvPr/>
          </p:nvGrpSpPr>
          <p:grpSpPr>
            <a:xfrm rot="10800000">
              <a:off x="4762500" y="3962400"/>
              <a:ext cx="304800" cy="1561306"/>
              <a:chOff x="1485900" y="4687094"/>
              <a:chExt cx="304800" cy="1561306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/>
              <p:cNvCxnSpPr>
                <a:stCxn id="15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Connector 17"/>
            <p:cNvCxnSpPr/>
            <p:nvPr/>
          </p:nvCxnSpPr>
          <p:spPr>
            <a:xfrm rot="5400000" flipH="1" flipV="1">
              <a:off x="1044120" y="4015922"/>
              <a:ext cx="800101" cy="72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447800" y="3618706"/>
              <a:ext cx="9906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5400000" flipH="1" flipV="1">
              <a:off x="4667250" y="3866356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962400" y="3618706"/>
              <a:ext cx="26289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 flipH="1" flipV="1">
              <a:off x="1066403" y="5333607"/>
              <a:ext cx="762001" cy="7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oup 12"/>
            <p:cNvGrpSpPr/>
            <p:nvPr/>
          </p:nvGrpSpPr>
          <p:grpSpPr>
            <a:xfrm rot="10800000">
              <a:off x="6438900" y="3961606"/>
              <a:ext cx="304800" cy="1677988"/>
              <a:chOff x="1485900" y="4570412"/>
              <a:chExt cx="304800" cy="1677988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/>
              <p:cNvCxnSpPr>
                <a:stCxn id="24" idx="0"/>
              </p:cNvCxnSpPr>
              <p:nvPr/>
            </p:nvCxnSpPr>
            <p:spPr>
              <a:xfrm rot="16200000">
                <a:off x="1390253" y="4817665"/>
                <a:ext cx="496094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Connector 26"/>
            <p:cNvCxnSpPr/>
            <p:nvPr/>
          </p:nvCxnSpPr>
          <p:spPr>
            <a:xfrm rot="5400000" flipH="1" flipV="1">
              <a:off x="6343649" y="3865562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27"/>
            <p:cNvGrpSpPr/>
            <p:nvPr/>
          </p:nvGrpSpPr>
          <p:grpSpPr>
            <a:xfrm>
              <a:off x="1181100" y="4343400"/>
              <a:ext cx="533400" cy="716697"/>
              <a:chOff x="3543300" y="3783568"/>
              <a:chExt cx="533400" cy="716697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3543300" y="3848100"/>
                <a:ext cx="533400" cy="5334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643082" y="3783568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657600" y="4038600"/>
                <a:ext cx="2872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-</a:t>
                </a:r>
              </a:p>
            </p:txBody>
          </p:sp>
        </p:grpSp>
        <p:cxnSp>
          <p:nvCxnSpPr>
            <p:cNvPr id="32" name="Straight Connector 31"/>
            <p:cNvCxnSpPr/>
            <p:nvPr/>
          </p:nvCxnSpPr>
          <p:spPr>
            <a:xfrm rot="10800000">
              <a:off x="1447800" y="5712618"/>
              <a:ext cx="5143500" cy="15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4819650" y="5618956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6496049" y="5618162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Oval 42"/>
          <p:cNvSpPr/>
          <p:nvPr/>
        </p:nvSpPr>
        <p:spPr>
          <a:xfrm>
            <a:off x="4229100" y="5525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229100" y="34297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>
            <a:off x="4572000" y="3658394"/>
            <a:ext cx="937656" cy="1636816"/>
          </a:xfrm>
          <a:custGeom>
            <a:avLst/>
            <a:gdLst>
              <a:gd name="connsiteX0" fmla="*/ 11875 w 1080655"/>
              <a:gd name="connsiteY0" fmla="*/ 526473 h 1636816"/>
              <a:gd name="connsiteX1" fmla="*/ 83127 w 1080655"/>
              <a:gd name="connsiteY1" fmla="*/ 193964 h 1636816"/>
              <a:gd name="connsiteX2" fmla="*/ 332509 w 1080655"/>
              <a:gd name="connsiteY2" fmla="*/ 51460 h 1636816"/>
              <a:gd name="connsiteX3" fmla="*/ 783772 w 1080655"/>
              <a:gd name="connsiteY3" fmla="*/ 39585 h 1636816"/>
              <a:gd name="connsiteX4" fmla="*/ 973777 w 1080655"/>
              <a:gd name="connsiteY4" fmla="*/ 288967 h 1636816"/>
              <a:gd name="connsiteX5" fmla="*/ 1021278 w 1080655"/>
              <a:gd name="connsiteY5" fmla="*/ 1417123 h 1636816"/>
              <a:gd name="connsiteX6" fmla="*/ 617517 w 1080655"/>
              <a:gd name="connsiteY6" fmla="*/ 1607128 h 1636816"/>
              <a:gd name="connsiteX7" fmla="*/ 118753 w 1080655"/>
              <a:gd name="connsiteY7" fmla="*/ 1547751 h 1636816"/>
              <a:gd name="connsiteX8" fmla="*/ 0 w 1080655"/>
              <a:gd name="connsiteY8" fmla="*/ 1072738 h 163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655" h="1636816">
                <a:moveTo>
                  <a:pt x="11875" y="526473"/>
                </a:moveTo>
                <a:cubicBezTo>
                  <a:pt x="20781" y="399803"/>
                  <a:pt x="29688" y="273133"/>
                  <a:pt x="83127" y="193964"/>
                </a:cubicBezTo>
                <a:cubicBezTo>
                  <a:pt x="136566" y="114795"/>
                  <a:pt x="215735" y="77190"/>
                  <a:pt x="332509" y="51460"/>
                </a:cubicBezTo>
                <a:cubicBezTo>
                  <a:pt x="449283" y="25730"/>
                  <a:pt x="676894" y="0"/>
                  <a:pt x="783772" y="39585"/>
                </a:cubicBezTo>
                <a:cubicBezTo>
                  <a:pt x="890650" y="79170"/>
                  <a:pt x="934193" y="59377"/>
                  <a:pt x="973777" y="288967"/>
                </a:cubicBezTo>
                <a:cubicBezTo>
                  <a:pt x="1013361" y="518557"/>
                  <a:pt x="1080655" y="1197430"/>
                  <a:pt x="1021278" y="1417123"/>
                </a:cubicBezTo>
                <a:cubicBezTo>
                  <a:pt x="961901" y="1636816"/>
                  <a:pt x="767938" y="1585357"/>
                  <a:pt x="617517" y="1607128"/>
                </a:cubicBezTo>
                <a:cubicBezTo>
                  <a:pt x="467096" y="1628899"/>
                  <a:pt x="221673" y="1636816"/>
                  <a:pt x="118753" y="1547751"/>
                </a:cubicBezTo>
                <a:cubicBezTo>
                  <a:pt x="15834" y="1458686"/>
                  <a:pt x="7917" y="1265712"/>
                  <a:pt x="0" y="1072738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104900" y="4317762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403641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55" name="TextBox 54"/>
          <p:cNvSpPr txBox="1"/>
          <p:nvPr/>
        </p:nvSpPr>
        <p:spPr>
          <a:xfrm>
            <a:off x="1143000" y="4684117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56" name="Freeform 55"/>
          <p:cNvSpPr/>
          <p:nvPr/>
        </p:nvSpPr>
        <p:spPr>
          <a:xfrm>
            <a:off x="1600200" y="3848100"/>
            <a:ext cx="2247900" cy="1638300"/>
          </a:xfrm>
          <a:custGeom>
            <a:avLst/>
            <a:gdLst>
              <a:gd name="connsiteX0" fmla="*/ 15834 w 918359"/>
              <a:gd name="connsiteY0" fmla="*/ 678873 h 1965367"/>
              <a:gd name="connsiteX1" fmla="*/ 300842 w 918359"/>
              <a:gd name="connsiteY1" fmla="*/ 286987 h 1965367"/>
              <a:gd name="connsiteX2" fmla="*/ 775855 w 918359"/>
              <a:gd name="connsiteY2" fmla="*/ 239486 h 1965367"/>
              <a:gd name="connsiteX3" fmla="*/ 811481 w 918359"/>
              <a:gd name="connsiteY3" fmla="*/ 1723902 h 1965367"/>
              <a:gd name="connsiteX4" fmla="*/ 134587 w 918359"/>
              <a:gd name="connsiteY4" fmla="*/ 1688276 h 1965367"/>
              <a:gd name="connsiteX5" fmla="*/ 3959 w 918359"/>
              <a:gd name="connsiteY5" fmla="*/ 1213263 h 1965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8359" h="1965367">
                <a:moveTo>
                  <a:pt x="15834" y="678873"/>
                </a:moveTo>
                <a:cubicBezTo>
                  <a:pt x="95003" y="519545"/>
                  <a:pt x="174172" y="360218"/>
                  <a:pt x="300842" y="286987"/>
                </a:cubicBezTo>
                <a:cubicBezTo>
                  <a:pt x="427512" y="213756"/>
                  <a:pt x="690749" y="0"/>
                  <a:pt x="775855" y="239486"/>
                </a:cubicBezTo>
                <a:cubicBezTo>
                  <a:pt x="860961" y="478972"/>
                  <a:pt x="918359" y="1482437"/>
                  <a:pt x="811481" y="1723902"/>
                </a:cubicBezTo>
                <a:cubicBezTo>
                  <a:pt x="704603" y="1965367"/>
                  <a:pt x="269174" y="1773382"/>
                  <a:pt x="134587" y="1688276"/>
                </a:cubicBezTo>
                <a:cubicBezTo>
                  <a:pt x="0" y="1603170"/>
                  <a:pt x="1979" y="1408216"/>
                  <a:pt x="3959" y="1213263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2421534" y="359306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95500" y="365760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59" name="TextBox 58"/>
          <p:cNvSpPr txBox="1"/>
          <p:nvPr/>
        </p:nvSpPr>
        <p:spPr>
          <a:xfrm>
            <a:off x="2880222" y="3619500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60" name="TextBox 59"/>
          <p:cNvSpPr txBox="1"/>
          <p:nvPr/>
        </p:nvSpPr>
        <p:spPr>
          <a:xfrm>
            <a:off x="3755034" y="439316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3134" y="411182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62" name="TextBox 61"/>
          <p:cNvSpPr txBox="1"/>
          <p:nvPr/>
        </p:nvSpPr>
        <p:spPr>
          <a:xfrm>
            <a:off x="3793134" y="4759523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63" name="TextBox 62"/>
          <p:cNvSpPr txBox="1"/>
          <p:nvPr/>
        </p:nvSpPr>
        <p:spPr>
          <a:xfrm>
            <a:off x="5469534" y="439316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7634" y="411182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65" name="TextBox 64"/>
          <p:cNvSpPr txBox="1"/>
          <p:nvPr/>
        </p:nvSpPr>
        <p:spPr>
          <a:xfrm>
            <a:off x="5507634" y="4759523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50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790700" y="1790700"/>
            <a:ext cx="2400300" cy="10287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Kirchhoff’s Voltage Law (KVL)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r>
              <a:rPr lang="en-US" sz="2400" dirty="0"/>
              <a:t>The sum of voltage drops around any closed path is zero.</a:t>
            </a:r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graphicFrame>
        <p:nvGraphicFramePr>
          <p:cNvPr id="88065" name="Object 1"/>
          <p:cNvGraphicFramePr>
            <a:graphicFrameLocks noChangeAspect="1"/>
          </p:cNvGraphicFramePr>
          <p:nvPr/>
        </p:nvGraphicFramePr>
        <p:xfrm>
          <a:off x="2057400" y="1790700"/>
          <a:ext cx="19399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560" imgH="419040" progId="Equation.3">
                  <p:embed/>
                </p:oleObj>
              </mc:Choice>
              <mc:Fallback>
                <p:oleObj name="Equation" r:id="rId2" imgW="520560" imgH="419040" progId="Equation.3">
                  <p:embed/>
                  <p:pic>
                    <p:nvPicPr>
                      <p:cNvPr id="8806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790700"/>
                        <a:ext cx="1939925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4"/>
          <p:cNvGrpSpPr/>
          <p:nvPr/>
        </p:nvGrpSpPr>
        <p:grpSpPr>
          <a:xfrm>
            <a:off x="533400" y="3314700"/>
            <a:ext cx="5562600" cy="2248696"/>
            <a:chOff x="1181100" y="3466306"/>
            <a:chExt cx="5562600" cy="2248696"/>
          </a:xfrm>
        </p:grpSpPr>
        <p:grpSp>
          <p:nvGrpSpPr>
            <p:cNvPr id="3" name="Group 12"/>
            <p:cNvGrpSpPr/>
            <p:nvPr/>
          </p:nvGrpSpPr>
          <p:grpSpPr>
            <a:xfrm rot="5400000">
              <a:off x="3066653" y="2838053"/>
              <a:ext cx="304800" cy="1561306"/>
              <a:chOff x="1485900" y="4687094"/>
              <a:chExt cx="304800" cy="1561306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/>
              <p:cNvCxnSpPr>
                <a:stCxn id="10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12"/>
            <p:cNvGrpSpPr/>
            <p:nvPr/>
          </p:nvGrpSpPr>
          <p:grpSpPr>
            <a:xfrm rot="10800000">
              <a:off x="4762500" y="3962400"/>
              <a:ext cx="304800" cy="1561306"/>
              <a:chOff x="1485900" y="4687094"/>
              <a:chExt cx="304800" cy="1561306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/>
              <p:cNvCxnSpPr>
                <a:stCxn id="15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Connector 17"/>
            <p:cNvCxnSpPr/>
            <p:nvPr/>
          </p:nvCxnSpPr>
          <p:spPr>
            <a:xfrm rot="5400000" flipH="1" flipV="1">
              <a:off x="1044120" y="4015922"/>
              <a:ext cx="800101" cy="72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447800" y="3618706"/>
              <a:ext cx="9906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5400000" flipH="1" flipV="1">
              <a:off x="4667250" y="3866356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962400" y="3618706"/>
              <a:ext cx="26289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 flipH="1" flipV="1">
              <a:off x="1066403" y="5333607"/>
              <a:ext cx="762001" cy="7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oup 12"/>
            <p:cNvGrpSpPr/>
            <p:nvPr/>
          </p:nvGrpSpPr>
          <p:grpSpPr>
            <a:xfrm rot="10800000">
              <a:off x="6438900" y="3961606"/>
              <a:ext cx="304800" cy="1677988"/>
              <a:chOff x="1485900" y="4570412"/>
              <a:chExt cx="304800" cy="1677988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/>
              <p:cNvCxnSpPr>
                <a:stCxn id="24" idx="0"/>
              </p:cNvCxnSpPr>
              <p:nvPr/>
            </p:nvCxnSpPr>
            <p:spPr>
              <a:xfrm rot="16200000">
                <a:off x="1390253" y="4817665"/>
                <a:ext cx="496094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Connector 26"/>
            <p:cNvCxnSpPr/>
            <p:nvPr/>
          </p:nvCxnSpPr>
          <p:spPr>
            <a:xfrm rot="5400000" flipH="1" flipV="1">
              <a:off x="6343649" y="3865562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27"/>
            <p:cNvGrpSpPr/>
            <p:nvPr/>
          </p:nvGrpSpPr>
          <p:grpSpPr>
            <a:xfrm>
              <a:off x="1181100" y="4343400"/>
              <a:ext cx="533400" cy="716697"/>
              <a:chOff x="3543300" y="3783568"/>
              <a:chExt cx="533400" cy="716697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3543300" y="3848100"/>
                <a:ext cx="533400" cy="5334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643082" y="3783568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657600" y="4038600"/>
                <a:ext cx="2872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-</a:t>
                </a:r>
              </a:p>
            </p:txBody>
          </p:sp>
        </p:grpSp>
        <p:cxnSp>
          <p:nvCxnSpPr>
            <p:cNvPr id="32" name="Straight Connector 31"/>
            <p:cNvCxnSpPr/>
            <p:nvPr/>
          </p:nvCxnSpPr>
          <p:spPr>
            <a:xfrm rot="10800000">
              <a:off x="1447800" y="5712618"/>
              <a:ext cx="5143500" cy="15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4819650" y="5618956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6496049" y="5618162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Oval 42"/>
          <p:cNvSpPr/>
          <p:nvPr/>
        </p:nvSpPr>
        <p:spPr>
          <a:xfrm>
            <a:off x="4229100" y="5525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229100" y="34297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>
            <a:off x="4572000" y="3658394"/>
            <a:ext cx="937656" cy="1636816"/>
          </a:xfrm>
          <a:custGeom>
            <a:avLst/>
            <a:gdLst>
              <a:gd name="connsiteX0" fmla="*/ 11875 w 1080655"/>
              <a:gd name="connsiteY0" fmla="*/ 526473 h 1636816"/>
              <a:gd name="connsiteX1" fmla="*/ 83127 w 1080655"/>
              <a:gd name="connsiteY1" fmla="*/ 193964 h 1636816"/>
              <a:gd name="connsiteX2" fmla="*/ 332509 w 1080655"/>
              <a:gd name="connsiteY2" fmla="*/ 51460 h 1636816"/>
              <a:gd name="connsiteX3" fmla="*/ 783772 w 1080655"/>
              <a:gd name="connsiteY3" fmla="*/ 39585 h 1636816"/>
              <a:gd name="connsiteX4" fmla="*/ 973777 w 1080655"/>
              <a:gd name="connsiteY4" fmla="*/ 288967 h 1636816"/>
              <a:gd name="connsiteX5" fmla="*/ 1021278 w 1080655"/>
              <a:gd name="connsiteY5" fmla="*/ 1417123 h 1636816"/>
              <a:gd name="connsiteX6" fmla="*/ 617517 w 1080655"/>
              <a:gd name="connsiteY6" fmla="*/ 1607128 h 1636816"/>
              <a:gd name="connsiteX7" fmla="*/ 118753 w 1080655"/>
              <a:gd name="connsiteY7" fmla="*/ 1547751 h 1636816"/>
              <a:gd name="connsiteX8" fmla="*/ 0 w 1080655"/>
              <a:gd name="connsiteY8" fmla="*/ 1072738 h 163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655" h="1636816">
                <a:moveTo>
                  <a:pt x="11875" y="526473"/>
                </a:moveTo>
                <a:cubicBezTo>
                  <a:pt x="20781" y="399803"/>
                  <a:pt x="29688" y="273133"/>
                  <a:pt x="83127" y="193964"/>
                </a:cubicBezTo>
                <a:cubicBezTo>
                  <a:pt x="136566" y="114795"/>
                  <a:pt x="215735" y="77190"/>
                  <a:pt x="332509" y="51460"/>
                </a:cubicBezTo>
                <a:cubicBezTo>
                  <a:pt x="449283" y="25730"/>
                  <a:pt x="676894" y="0"/>
                  <a:pt x="783772" y="39585"/>
                </a:cubicBezTo>
                <a:cubicBezTo>
                  <a:pt x="890650" y="79170"/>
                  <a:pt x="934193" y="59377"/>
                  <a:pt x="973777" y="288967"/>
                </a:cubicBezTo>
                <a:cubicBezTo>
                  <a:pt x="1013361" y="518557"/>
                  <a:pt x="1080655" y="1197430"/>
                  <a:pt x="1021278" y="1417123"/>
                </a:cubicBezTo>
                <a:cubicBezTo>
                  <a:pt x="961901" y="1636816"/>
                  <a:pt x="767938" y="1585357"/>
                  <a:pt x="617517" y="1607128"/>
                </a:cubicBezTo>
                <a:cubicBezTo>
                  <a:pt x="467096" y="1628899"/>
                  <a:pt x="221673" y="1636816"/>
                  <a:pt x="118753" y="1547751"/>
                </a:cubicBezTo>
                <a:cubicBezTo>
                  <a:pt x="15834" y="1458686"/>
                  <a:pt x="7917" y="1265712"/>
                  <a:pt x="0" y="1072738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104900" y="4317762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403641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55" name="TextBox 54"/>
          <p:cNvSpPr txBox="1"/>
          <p:nvPr/>
        </p:nvSpPr>
        <p:spPr>
          <a:xfrm>
            <a:off x="1143000" y="4684117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56" name="Freeform 55"/>
          <p:cNvSpPr/>
          <p:nvPr/>
        </p:nvSpPr>
        <p:spPr>
          <a:xfrm>
            <a:off x="1600200" y="3848100"/>
            <a:ext cx="2247900" cy="1638300"/>
          </a:xfrm>
          <a:custGeom>
            <a:avLst/>
            <a:gdLst>
              <a:gd name="connsiteX0" fmla="*/ 15834 w 918359"/>
              <a:gd name="connsiteY0" fmla="*/ 678873 h 1965367"/>
              <a:gd name="connsiteX1" fmla="*/ 300842 w 918359"/>
              <a:gd name="connsiteY1" fmla="*/ 286987 h 1965367"/>
              <a:gd name="connsiteX2" fmla="*/ 775855 w 918359"/>
              <a:gd name="connsiteY2" fmla="*/ 239486 h 1965367"/>
              <a:gd name="connsiteX3" fmla="*/ 811481 w 918359"/>
              <a:gd name="connsiteY3" fmla="*/ 1723902 h 1965367"/>
              <a:gd name="connsiteX4" fmla="*/ 134587 w 918359"/>
              <a:gd name="connsiteY4" fmla="*/ 1688276 h 1965367"/>
              <a:gd name="connsiteX5" fmla="*/ 3959 w 918359"/>
              <a:gd name="connsiteY5" fmla="*/ 1213263 h 1965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8359" h="1965367">
                <a:moveTo>
                  <a:pt x="15834" y="678873"/>
                </a:moveTo>
                <a:cubicBezTo>
                  <a:pt x="95003" y="519545"/>
                  <a:pt x="174172" y="360218"/>
                  <a:pt x="300842" y="286987"/>
                </a:cubicBezTo>
                <a:cubicBezTo>
                  <a:pt x="427512" y="213756"/>
                  <a:pt x="690749" y="0"/>
                  <a:pt x="775855" y="239486"/>
                </a:cubicBezTo>
                <a:cubicBezTo>
                  <a:pt x="860961" y="478972"/>
                  <a:pt x="918359" y="1482437"/>
                  <a:pt x="811481" y="1723902"/>
                </a:cubicBezTo>
                <a:cubicBezTo>
                  <a:pt x="704603" y="1965367"/>
                  <a:pt x="269174" y="1773382"/>
                  <a:pt x="134587" y="1688276"/>
                </a:cubicBezTo>
                <a:cubicBezTo>
                  <a:pt x="0" y="1603170"/>
                  <a:pt x="1979" y="1408216"/>
                  <a:pt x="3959" y="1213263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2421534" y="359306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95500" y="365760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59" name="TextBox 58"/>
          <p:cNvSpPr txBox="1"/>
          <p:nvPr/>
        </p:nvSpPr>
        <p:spPr>
          <a:xfrm>
            <a:off x="2880222" y="3619500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60" name="TextBox 59"/>
          <p:cNvSpPr txBox="1"/>
          <p:nvPr/>
        </p:nvSpPr>
        <p:spPr>
          <a:xfrm>
            <a:off x="3755034" y="439316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3134" y="411182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62" name="TextBox 61"/>
          <p:cNvSpPr txBox="1"/>
          <p:nvPr/>
        </p:nvSpPr>
        <p:spPr>
          <a:xfrm>
            <a:off x="3793134" y="4759523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63" name="TextBox 62"/>
          <p:cNvSpPr txBox="1"/>
          <p:nvPr/>
        </p:nvSpPr>
        <p:spPr>
          <a:xfrm>
            <a:off x="5469534" y="439316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7634" y="411182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65" name="TextBox 64"/>
          <p:cNvSpPr txBox="1"/>
          <p:nvPr/>
        </p:nvSpPr>
        <p:spPr>
          <a:xfrm>
            <a:off x="5507634" y="4759523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67" name="TextBox 66"/>
          <p:cNvSpPr txBox="1"/>
          <p:nvPr/>
        </p:nvSpPr>
        <p:spPr>
          <a:xfrm>
            <a:off x="4419600" y="1790700"/>
            <a:ext cx="4610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Our convention: </a:t>
            </a:r>
          </a:p>
          <a:p>
            <a:r>
              <a:rPr lang="en-US" sz="2000" dirty="0"/>
              <a:t>+ if traversing + to – terminal clockwise</a:t>
            </a:r>
          </a:p>
          <a:p>
            <a:r>
              <a:rPr lang="en-US" sz="2000" dirty="0"/>
              <a:t>- if traversing – to + terminal clockwise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0300" y="3543300"/>
            <a:ext cx="2460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(-v</a:t>
            </a:r>
            <a:r>
              <a:rPr lang="en-US" sz="2400" baseline="-25000" dirty="0"/>
              <a:t>1</a:t>
            </a:r>
            <a:r>
              <a:rPr lang="en-US" sz="2400" dirty="0"/>
              <a:t>)</a:t>
            </a:r>
            <a:r>
              <a:rPr lang="en-US" sz="2400" baseline="-25000" dirty="0"/>
              <a:t> </a:t>
            </a:r>
            <a:r>
              <a:rPr lang="en-US" sz="2400" dirty="0"/>
              <a:t>+ v</a:t>
            </a:r>
            <a:r>
              <a:rPr lang="en-US" sz="2400" baseline="-25000" dirty="0"/>
              <a:t>2 </a:t>
            </a:r>
            <a:r>
              <a:rPr lang="en-US" sz="2400" dirty="0"/>
              <a:t>+ v</a:t>
            </a:r>
            <a:r>
              <a:rPr lang="en-US" sz="2400" baseline="-25000" dirty="0"/>
              <a:t>3</a:t>
            </a:r>
            <a:r>
              <a:rPr lang="en-US" sz="2400" dirty="0"/>
              <a:t> = 0</a:t>
            </a:r>
          </a:p>
        </p:txBody>
      </p:sp>
      <p:sp>
        <p:nvSpPr>
          <p:cNvPr id="51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790700" y="1790700"/>
            <a:ext cx="2400300" cy="10287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Kirchhoff’s Voltage Law (KVL)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r>
              <a:rPr lang="en-US" sz="2400" dirty="0"/>
              <a:t>The sum of voltage drops around any closed path is zero.</a:t>
            </a:r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graphicFrame>
        <p:nvGraphicFramePr>
          <p:cNvPr id="88065" name="Object 1"/>
          <p:cNvGraphicFramePr>
            <a:graphicFrameLocks noChangeAspect="1"/>
          </p:cNvGraphicFramePr>
          <p:nvPr/>
        </p:nvGraphicFramePr>
        <p:xfrm>
          <a:off x="2057400" y="1790700"/>
          <a:ext cx="19399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560" imgH="419040" progId="Equation.3">
                  <p:embed/>
                </p:oleObj>
              </mc:Choice>
              <mc:Fallback>
                <p:oleObj name="Equation" r:id="rId2" imgW="520560" imgH="419040" progId="Equation.3">
                  <p:embed/>
                  <p:pic>
                    <p:nvPicPr>
                      <p:cNvPr id="8806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790700"/>
                        <a:ext cx="1939925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4"/>
          <p:cNvGrpSpPr/>
          <p:nvPr/>
        </p:nvGrpSpPr>
        <p:grpSpPr>
          <a:xfrm>
            <a:off x="533400" y="3314700"/>
            <a:ext cx="5562600" cy="2248696"/>
            <a:chOff x="1181100" y="3466306"/>
            <a:chExt cx="5562600" cy="2248696"/>
          </a:xfrm>
        </p:grpSpPr>
        <p:grpSp>
          <p:nvGrpSpPr>
            <p:cNvPr id="3" name="Group 12"/>
            <p:cNvGrpSpPr/>
            <p:nvPr/>
          </p:nvGrpSpPr>
          <p:grpSpPr>
            <a:xfrm rot="5400000">
              <a:off x="3066653" y="2838053"/>
              <a:ext cx="304800" cy="1561306"/>
              <a:chOff x="1485900" y="4687094"/>
              <a:chExt cx="304800" cy="1561306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/>
              <p:cNvCxnSpPr>
                <a:stCxn id="10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12"/>
            <p:cNvGrpSpPr/>
            <p:nvPr/>
          </p:nvGrpSpPr>
          <p:grpSpPr>
            <a:xfrm rot="10800000">
              <a:off x="4762500" y="3962400"/>
              <a:ext cx="304800" cy="1561306"/>
              <a:chOff x="1485900" y="4687094"/>
              <a:chExt cx="304800" cy="1561306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/>
              <p:cNvCxnSpPr>
                <a:stCxn id="15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Connector 17"/>
            <p:cNvCxnSpPr/>
            <p:nvPr/>
          </p:nvCxnSpPr>
          <p:spPr>
            <a:xfrm rot="5400000" flipH="1" flipV="1">
              <a:off x="1044120" y="4015922"/>
              <a:ext cx="800101" cy="72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447800" y="3618706"/>
              <a:ext cx="9906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5400000" flipH="1" flipV="1">
              <a:off x="4667250" y="3866356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962400" y="3618706"/>
              <a:ext cx="26289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 flipH="1" flipV="1">
              <a:off x="1066403" y="5333607"/>
              <a:ext cx="762001" cy="7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" name="Group 12"/>
            <p:cNvGrpSpPr/>
            <p:nvPr/>
          </p:nvGrpSpPr>
          <p:grpSpPr>
            <a:xfrm rot="10800000">
              <a:off x="6438900" y="3961606"/>
              <a:ext cx="304800" cy="1677988"/>
              <a:chOff x="1485900" y="4570412"/>
              <a:chExt cx="304800" cy="1677988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Connector 24"/>
              <p:cNvCxnSpPr>
                <a:stCxn id="24" idx="0"/>
              </p:cNvCxnSpPr>
              <p:nvPr/>
            </p:nvCxnSpPr>
            <p:spPr>
              <a:xfrm rot="16200000">
                <a:off x="1390253" y="4817665"/>
                <a:ext cx="496094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Connector 26"/>
            <p:cNvCxnSpPr/>
            <p:nvPr/>
          </p:nvCxnSpPr>
          <p:spPr>
            <a:xfrm rot="5400000" flipH="1" flipV="1">
              <a:off x="6343649" y="3865562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27"/>
            <p:cNvGrpSpPr/>
            <p:nvPr/>
          </p:nvGrpSpPr>
          <p:grpSpPr>
            <a:xfrm>
              <a:off x="1181100" y="4343400"/>
              <a:ext cx="533400" cy="716697"/>
              <a:chOff x="3543300" y="3783568"/>
              <a:chExt cx="533400" cy="716697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3543300" y="3848100"/>
                <a:ext cx="533400" cy="5334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643082" y="3783568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657600" y="4038600"/>
                <a:ext cx="2872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-</a:t>
                </a:r>
              </a:p>
            </p:txBody>
          </p:sp>
        </p:grpSp>
        <p:cxnSp>
          <p:nvCxnSpPr>
            <p:cNvPr id="32" name="Straight Connector 31"/>
            <p:cNvCxnSpPr/>
            <p:nvPr/>
          </p:nvCxnSpPr>
          <p:spPr>
            <a:xfrm rot="10800000">
              <a:off x="1447800" y="5712618"/>
              <a:ext cx="5143500" cy="15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4819650" y="5618956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6496049" y="5618162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Oval 42"/>
          <p:cNvSpPr/>
          <p:nvPr/>
        </p:nvSpPr>
        <p:spPr>
          <a:xfrm>
            <a:off x="4229100" y="5525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229100" y="34297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>
            <a:off x="4572000" y="3658394"/>
            <a:ext cx="937656" cy="1636816"/>
          </a:xfrm>
          <a:custGeom>
            <a:avLst/>
            <a:gdLst>
              <a:gd name="connsiteX0" fmla="*/ 11875 w 1080655"/>
              <a:gd name="connsiteY0" fmla="*/ 526473 h 1636816"/>
              <a:gd name="connsiteX1" fmla="*/ 83127 w 1080655"/>
              <a:gd name="connsiteY1" fmla="*/ 193964 h 1636816"/>
              <a:gd name="connsiteX2" fmla="*/ 332509 w 1080655"/>
              <a:gd name="connsiteY2" fmla="*/ 51460 h 1636816"/>
              <a:gd name="connsiteX3" fmla="*/ 783772 w 1080655"/>
              <a:gd name="connsiteY3" fmla="*/ 39585 h 1636816"/>
              <a:gd name="connsiteX4" fmla="*/ 973777 w 1080655"/>
              <a:gd name="connsiteY4" fmla="*/ 288967 h 1636816"/>
              <a:gd name="connsiteX5" fmla="*/ 1021278 w 1080655"/>
              <a:gd name="connsiteY5" fmla="*/ 1417123 h 1636816"/>
              <a:gd name="connsiteX6" fmla="*/ 617517 w 1080655"/>
              <a:gd name="connsiteY6" fmla="*/ 1607128 h 1636816"/>
              <a:gd name="connsiteX7" fmla="*/ 118753 w 1080655"/>
              <a:gd name="connsiteY7" fmla="*/ 1547751 h 1636816"/>
              <a:gd name="connsiteX8" fmla="*/ 0 w 1080655"/>
              <a:gd name="connsiteY8" fmla="*/ 1072738 h 1636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655" h="1636816">
                <a:moveTo>
                  <a:pt x="11875" y="526473"/>
                </a:moveTo>
                <a:cubicBezTo>
                  <a:pt x="20781" y="399803"/>
                  <a:pt x="29688" y="273133"/>
                  <a:pt x="83127" y="193964"/>
                </a:cubicBezTo>
                <a:cubicBezTo>
                  <a:pt x="136566" y="114795"/>
                  <a:pt x="215735" y="77190"/>
                  <a:pt x="332509" y="51460"/>
                </a:cubicBezTo>
                <a:cubicBezTo>
                  <a:pt x="449283" y="25730"/>
                  <a:pt x="676894" y="0"/>
                  <a:pt x="783772" y="39585"/>
                </a:cubicBezTo>
                <a:cubicBezTo>
                  <a:pt x="890650" y="79170"/>
                  <a:pt x="934193" y="59377"/>
                  <a:pt x="973777" y="288967"/>
                </a:cubicBezTo>
                <a:cubicBezTo>
                  <a:pt x="1013361" y="518557"/>
                  <a:pt x="1080655" y="1197430"/>
                  <a:pt x="1021278" y="1417123"/>
                </a:cubicBezTo>
                <a:cubicBezTo>
                  <a:pt x="961901" y="1636816"/>
                  <a:pt x="767938" y="1585357"/>
                  <a:pt x="617517" y="1607128"/>
                </a:cubicBezTo>
                <a:cubicBezTo>
                  <a:pt x="467096" y="1628899"/>
                  <a:pt x="221673" y="1636816"/>
                  <a:pt x="118753" y="1547751"/>
                </a:cubicBezTo>
                <a:cubicBezTo>
                  <a:pt x="15834" y="1458686"/>
                  <a:pt x="7917" y="1265712"/>
                  <a:pt x="0" y="1072738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104900" y="4317762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403641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55" name="TextBox 54"/>
          <p:cNvSpPr txBox="1"/>
          <p:nvPr/>
        </p:nvSpPr>
        <p:spPr>
          <a:xfrm>
            <a:off x="1143000" y="4684117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56" name="Freeform 55"/>
          <p:cNvSpPr/>
          <p:nvPr/>
        </p:nvSpPr>
        <p:spPr>
          <a:xfrm>
            <a:off x="1600200" y="3848100"/>
            <a:ext cx="2247900" cy="1638300"/>
          </a:xfrm>
          <a:custGeom>
            <a:avLst/>
            <a:gdLst>
              <a:gd name="connsiteX0" fmla="*/ 15834 w 918359"/>
              <a:gd name="connsiteY0" fmla="*/ 678873 h 1965367"/>
              <a:gd name="connsiteX1" fmla="*/ 300842 w 918359"/>
              <a:gd name="connsiteY1" fmla="*/ 286987 h 1965367"/>
              <a:gd name="connsiteX2" fmla="*/ 775855 w 918359"/>
              <a:gd name="connsiteY2" fmla="*/ 239486 h 1965367"/>
              <a:gd name="connsiteX3" fmla="*/ 811481 w 918359"/>
              <a:gd name="connsiteY3" fmla="*/ 1723902 h 1965367"/>
              <a:gd name="connsiteX4" fmla="*/ 134587 w 918359"/>
              <a:gd name="connsiteY4" fmla="*/ 1688276 h 1965367"/>
              <a:gd name="connsiteX5" fmla="*/ 3959 w 918359"/>
              <a:gd name="connsiteY5" fmla="*/ 1213263 h 1965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8359" h="1965367">
                <a:moveTo>
                  <a:pt x="15834" y="678873"/>
                </a:moveTo>
                <a:cubicBezTo>
                  <a:pt x="95003" y="519545"/>
                  <a:pt x="174172" y="360218"/>
                  <a:pt x="300842" y="286987"/>
                </a:cubicBezTo>
                <a:cubicBezTo>
                  <a:pt x="427512" y="213756"/>
                  <a:pt x="690749" y="0"/>
                  <a:pt x="775855" y="239486"/>
                </a:cubicBezTo>
                <a:cubicBezTo>
                  <a:pt x="860961" y="478972"/>
                  <a:pt x="918359" y="1482437"/>
                  <a:pt x="811481" y="1723902"/>
                </a:cubicBezTo>
                <a:cubicBezTo>
                  <a:pt x="704603" y="1965367"/>
                  <a:pt x="269174" y="1773382"/>
                  <a:pt x="134587" y="1688276"/>
                </a:cubicBezTo>
                <a:cubicBezTo>
                  <a:pt x="0" y="1603170"/>
                  <a:pt x="1979" y="1408216"/>
                  <a:pt x="3959" y="1213263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2421534" y="359306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95500" y="365760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59" name="TextBox 58"/>
          <p:cNvSpPr txBox="1"/>
          <p:nvPr/>
        </p:nvSpPr>
        <p:spPr>
          <a:xfrm>
            <a:off x="2880222" y="3619500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60" name="TextBox 59"/>
          <p:cNvSpPr txBox="1"/>
          <p:nvPr/>
        </p:nvSpPr>
        <p:spPr>
          <a:xfrm>
            <a:off x="3755034" y="439316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3134" y="411182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62" name="TextBox 61"/>
          <p:cNvSpPr txBox="1"/>
          <p:nvPr/>
        </p:nvSpPr>
        <p:spPr>
          <a:xfrm>
            <a:off x="3793134" y="4759523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63" name="TextBox 62"/>
          <p:cNvSpPr txBox="1"/>
          <p:nvPr/>
        </p:nvSpPr>
        <p:spPr>
          <a:xfrm>
            <a:off x="5469534" y="4393168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7634" y="411182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65" name="TextBox 64"/>
          <p:cNvSpPr txBox="1"/>
          <p:nvPr/>
        </p:nvSpPr>
        <p:spPr>
          <a:xfrm>
            <a:off x="5507634" y="4759523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70" name="TextBox 69"/>
          <p:cNvSpPr txBox="1"/>
          <p:nvPr/>
        </p:nvSpPr>
        <p:spPr>
          <a:xfrm>
            <a:off x="6320475" y="4148435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(-v</a:t>
            </a:r>
            <a:r>
              <a:rPr lang="en-US" sz="2400" baseline="-25000" dirty="0"/>
              <a:t>3</a:t>
            </a:r>
            <a:r>
              <a:rPr lang="en-US" sz="2400" dirty="0"/>
              <a:t>)</a:t>
            </a:r>
            <a:r>
              <a:rPr lang="en-US" sz="2400" baseline="-25000" dirty="0"/>
              <a:t> </a:t>
            </a:r>
            <a:r>
              <a:rPr lang="en-US" sz="2400" dirty="0"/>
              <a:t>+ v</a:t>
            </a:r>
            <a:r>
              <a:rPr lang="en-US" sz="2400" baseline="-25000" dirty="0"/>
              <a:t>4</a:t>
            </a:r>
            <a:r>
              <a:rPr lang="en-US" sz="2400" dirty="0"/>
              <a:t> = 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19600" y="1790700"/>
            <a:ext cx="4610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Our convention: </a:t>
            </a:r>
          </a:p>
          <a:p>
            <a:r>
              <a:rPr lang="en-US" sz="2000" dirty="0"/>
              <a:t>+ if traversing + to – terminal clockwise</a:t>
            </a:r>
          </a:p>
          <a:p>
            <a:r>
              <a:rPr lang="en-US" sz="2000" dirty="0"/>
              <a:t>- if traversing – to + terminal clockwise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0300" y="3543300"/>
            <a:ext cx="2460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(-v</a:t>
            </a:r>
            <a:r>
              <a:rPr lang="en-US" sz="2400" baseline="-25000" dirty="0"/>
              <a:t>1</a:t>
            </a:r>
            <a:r>
              <a:rPr lang="en-US" sz="2400" dirty="0"/>
              <a:t>)</a:t>
            </a:r>
            <a:r>
              <a:rPr lang="en-US" sz="2400" baseline="-25000" dirty="0"/>
              <a:t> </a:t>
            </a:r>
            <a:r>
              <a:rPr lang="en-US" sz="2400" dirty="0"/>
              <a:t>+ v</a:t>
            </a:r>
            <a:r>
              <a:rPr lang="en-US" sz="2400" baseline="-25000" dirty="0"/>
              <a:t>2 </a:t>
            </a:r>
            <a:r>
              <a:rPr lang="en-US" sz="2400" dirty="0"/>
              <a:t>+ v</a:t>
            </a:r>
            <a:r>
              <a:rPr lang="en-US" sz="2400" baseline="-25000" dirty="0"/>
              <a:t>3</a:t>
            </a:r>
            <a:r>
              <a:rPr lang="en-US" sz="2400" dirty="0"/>
              <a:t> = 0</a:t>
            </a:r>
          </a:p>
        </p:txBody>
      </p:sp>
      <p:sp>
        <p:nvSpPr>
          <p:cNvPr id="67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Example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r>
              <a:rPr lang="en-US" sz="2400" dirty="0"/>
              <a:t>An electric circuit was built as below. Use KCL and KVL to solve for unknown current and voltages:</a:t>
            </a:r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grpSp>
        <p:nvGrpSpPr>
          <p:cNvPr id="3" name="Group 12"/>
          <p:cNvGrpSpPr/>
          <p:nvPr/>
        </p:nvGrpSpPr>
        <p:grpSpPr>
          <a:xfrm rot="5400000">
            <a:off x="2935224" y="1539478"/>
            <a:ext cx="340742" cy="1778453"/>
            <a:chOff x="1485900" y="4687094"/>
            <a:chExt cx="304800" cy="1561306"/>
          </a:xfrm>
        </p:grpSpPr>
        <p:sp>
          <p:nvSpPr>
            <p:cNvPr id="10" name="Rectangle 9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>
              <a:stCxn id="10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12"/>
          <p:cNvGrpSpPr/>
          <p:nvPr/>
        </p:nvGrpSpPr>
        <p:grpSpPr>
          <a:xfrm rot="10800000">
            <a:off x="4212721" y="2812927"/>
            <a:ext cx="347192" cy="1745417"/>
            <a:chOff x="1485900" y="4687094"/>
            <a:chExt cx="304800" cy="1561306"/>
          </a:xfrm>
        </p:grpSpPr>
        <p:sp>
          <p:nvSpPr>
            <p:cNvPr id="15" name="Rectangle 14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/>
            <p:cNvCxnSpPr>
              <a:stCxn id="15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>
            <a:off x="1955975" y="2428704"/>
            <a:ext cx="694383" cy="8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5400000" flipH="1" flipV="1">
            <a:off x="4109463" y="2705541"/>
            <a:ext cx="553706" cy="18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186" idx="2"/>
          </p:cNvCxnSpPr>
          <p:nvPr/>
        </p:nvCxnSpPr>
        <p:spPr>
          <a:xfrm flipV="1">
            <a:off x="3605135" y="2419350"/>
            <a:ext cx="1614565" cy="9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5400000">
            <a:off x="4279835" y="4664809"/>
            <a:ext cx="212964" cy="18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342918" y="4729603"/>
            <a:ext cx="86798" cy="851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342918" y="2386999"/>
            <a:ext cx="86798" cy="851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3806743" y="3463975"/>
            <a:ext cx="72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6317" y="3149454"/>
            <a:ext cx="277911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62" name="TextBox 61"/>
          <p:cNvSpPr txBox="1"/>
          <p:nvPr/>
        </p:nvSpPr>
        <p:spPr>
          <a:xfrm>
            <a:off x="3846317" y="3873531"/>
            <a:ext cx="329037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cxnSp>
        <p:nvCxnSpPr>
          <p:cNvPr id="75" name="Straight Connector 74"/>
          <p:cNvCxnSpPr>
            <a:stCxn id="109" idx="0"/>
          </p:cNvCxnSpPr>
          <p:nvPr/>
        </p:nvCxnSpPr>
        <p:spPr>
          <a:xfrm rot="5400000" flipH="1" flipV="1">
            <a:off x="1520501" y="2852193"/>
            <a:ext cx="847007" cy="18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12"/>
          <p:cNvGrpSpPr/>
          <p:nvPr/>
        </p:nvGrpSpPr>
        <p:grpSpPr>
          <a:xfrm rot="5400000">
            <a:off x="2935224" y="3882969"/>
            <a:ext cx="340742" cy="1778453"/>
            <a:chOff x="1485900" y="4687094"/>
            <a:chExt cx="304800" cy="1561306"/>
          </a:xfrm>
        </p:grpSpPr>
        <p:sp>
          <p:nvSpPr>
            <p:cNvPr id="84" name="Rectangle 83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Connector 84"/>
            <p:cNvCxnSpPr>
              <a:stCxn id="84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Straight Connector 86"/>
          <p:cNvCxnSpPr/>
          <p:nvPr/>
        </p:nvCxnSpPr>
        <p:spPr>
          <a:xfrm>
            <a:off x="1955975" y="4772196"/>
            <a:ext cx="694383" cy="8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endCxn id="189" idx="2"/>
          </p:cNvCxnSpPr>
          <p:nvPr/>
        </p:nvCxnSpPr>
        <p:spPr>
          <a:xfrm>
            <a:off x="3605135" y="4772196"/>
            <a:ext cx="1728865" cy="9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6324600" y="2437512"/>
            <a:ext cx="564186" cy="8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6438900" y="4800600"/>
            <a:ext cx="4572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 flipH="1">
            <a:off x="2821885" y="411480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 V</a:t>
            </a:r>
            <a:endParaRPr lang="en-US" b="1" baseline="-25000" dirty="0"/>
          </a:p>
        </p:txBody>
      </p:sp>
      <p:sp>
        <p:nvSpPr>
          <p:cNvPr id="124" name="TextBox 123"/>
          <p:cNvSpPr txBox="1"/>
          <p:nvPr/>
        </p:nvSpPr>
        <p:spPr>
          <a:xfrm flipH="1">
            <a:off x="2589443" y="4257754"/>
            <a:ext cx="277911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125" name="TextBox 124"/>
          <p:cNvSpPr txBox="1"/>
          <p:nvPr/>
        </p:nvSpPr>
        <p:spPr>
          <a:xfrm flipH="1">
            <a:off x="3344742" y="4257754"/>
            <a:ext cx="329037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126" name="TextBox 125"/>
          <p:cNvSpPr txBox="1"/>
          <p:nvPr/>
        </p:nvSpPr>
        <p:spPr>
          <a:xfrm flipH="1">
            <a:off x="2783386" y="183329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 V</a:t>
            </a:r>
            <a:endParaRPr lang="en-US" b="1" baseline="-25000" dirty="0"/>
          </a:p>
        </p:txBody>
      </p:sp>
      <p:sp>
        <p:nvSpPr>
          <p:cNvPr id="127" name="TextBox 126"/>
          <p:cNvSpPr txBox="1"/>
          <p:nvPr/>
        </p:nvSpPr>
        <p:spPr>
          <a:xfrm flipH="1">
            <a:off x="2476762" y="1905434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128" name="TextBox 127"/>
          <p:cNvSpPr txBox="1"/>
          <p:nvPr/>
        </p:nvSpPr>
        <p:spPr>
          <a:xfrm flipH="1">
            <a:off x="3370624" y="1905434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cxnSp>
        <p:nvCxnSpPr>
          <p:cNvPr id="132" name="Straight Arrow Connector 131"/>
          <p:cNvCxnSpPr/>
          <p:nvPr/>
        </p:nvCxnSpPr>
        <p:spPr>
          <a:xfrm rot="5400000">
            <a:off x="4410838" y="2876799"/>
            <a:ext cx="298150" cy="180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4613739" y="278337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2</a:t>
            </a:r>
          </a:p>
        </p:txBody>
      </p:sp>
      <p:cxnSp>
        <p:nvCxnSpPr>
          <p:cNvPr id="136" name="Straight Arrow Connector 135"/>
          <p:cNvCxnSpPr/>
          <p:nvPr/>
        </p:nvCxnSpPr>
        <p:spPr>
          <a:xfrm>
            <a:off x="4581612" y="2301814"/>
            <a:ext cx="303793" cy="1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4386317" y="1833293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1</a:t>
            </a:r>
          </a:p>
        </p:txBody>
      </p:sp>
      <p:cxnSp>
        <p:nvCxnSpPr>
          <p:cNvPr id="145" name="Straight Arrow Connector 144"/>
          <p:cNvCxnSpPr/>
          <p:nvPr/>
        </p:nvCxnSpPr>
        <p:spPr>
          <a:xfrm flipH="1">
            <a:off x="3865529" y="4899974"/>
            <a:ext cx="303793" cy="1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3865529" y="489997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4</a:t>
            </a:r>
          </a:p>
        </p:txBody>
      </p:sp>
      <p:cxnSp>
        <p:nvCxnSpPr>
          <p:cNvPr id="147" name="Straight Arrow Connector 146"/>
          <p:cNvCxnSpPr/>
          <p:nvPr/>
        </p:nvCxnSpPr>
        <p:spPr>
          <a:xfrm flipH="1">
            <a:off x="4559912" y="4642642"/>
            <a:ext cx="303793" cy="1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4559912" y="4231533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3</a:t>
            </a:r>
          </a:p>
        </p:txBody>
      </p:sp>
      <p:cxnSp>
        <p:nvCxnSpPr>
          <p:cNvPr id="153" name="Straight Arrow Connector 152"/>
          <p:cNvCxnSpPr/>
          <p:nvPr/>
        </p:nvCxnSpPr>
        <p:spPr>
          <a:xfrm>
            <a:off x="2129571" y="2557370"/>
            <a:ext cx="303793" cy="1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2086172" y="255737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2A</a:t>
            </a:r>
            <a:endParaRPr lang="en-US" b="1" baseline="-25000" dirty="0"/>
          </a:p>
        </p:txBody>
      </p:sp>
      <p:sp>
        <p:nvSpPr>
          <p:cNvPr id="109" name="Oval 108"/>
          <p:cNvSpPr/>
          <p:nvPr/>
        </p:nvSpPr>
        <p:spPr>
          <a:xfrm>
            <a:off x="1676400" y="32766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/>
          <p:cNvCxnSpPr/>
          <p:nvPr/>
        </p:nvCxnSpPr>
        <p:spPr>
          <a:xfrm rot="5400000" flipH="1" flipV="1">
            <a:off x="1444303" y="4299995"/>
            <a:ext cx="999405" cy="1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1776182" y="32004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790700" y="3455432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sp>
        <p:nvSpPr>
          <p:cNvPr id="143" name="TextBox 142"/>
          <p:cNvSpPr txBox="1"/>
          <p:nvPr/>
        </p:nvSpPr>
        <p:spPr>
          <a:xfrm flipH="1">
            <a:off x="1143000" y="336446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V</a:t>
            </a:r>
            <a:endParaRPr lang="en-US" b="1" baseline="-25000" dirty="0"/>
          </a:p>
        </p:txBody>
      </p:sp>
      <p:sp>
        <p:nvSpPr>
          <p:cNvPr id="157" name="Oval 156"/>
          <p:cNvSpPr/>
          <p:nvPr/>
        </p:nvSpPr>
        <p:spPr>
          <a:xfrm>
            <a:off x="6858000" y="2980608"/>
            <a:ext cx="114300" cy="1143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6858000" y="4152900"/>
            <a:ext cx="114300" cy="1143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extBox 159"/>
          <p:cNvSpPr txBox="1"/>
          <p:nvPr/>
        </p:nvSpPr>
        <p:spPr>
          <a:xfrm>
            <a:off x="6781800" y="3429000"/>
            <a:ext cx="72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781800" y="3885030"/>
            <a:ext cx="277911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162" name="TextBox 161"/>
          <p:cNvSpPr txBox="1"/>
          <p:nvPr/>
        </p:nvSpPr>
        <p:spPr>
          <a:xfrm>
            <a:off x="6781800" y="3124200"/>
            <a:ext cx="329037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cxnSp>
        <p:nvCxnSpPr>
          <p:cNvPr id="176" name="Straight Connector 175"/>
          <p:cNvCxnSpPr/>
          <p:nvPr/>
        </p:nvCxnSpPr>
        <p:spPr>
          <a:xfrm rot="5400000">
            <a:off x="6630194" y="2713114"/>
            <a:ext cx="5334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/>
          <p:nvPr/>
        </p:nvCxnSpPr>
        <p:spPr>
          <a:xfrm rot="5400000">
            <a:off x="6630194" y="4533106"/>
            <a:ext cx="5334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5589489" y="1981200"/>
            <a:ext cx="72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2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084789" y="2056230"/>
            <a:ext cx="277911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180" name="TextBox 179"/>
          <p:cNvSpPr txBox="1"/>
          <p:nvPr/>
        </p:nvSpPr>
        <p:spPr>
          <a:xfrm>
            <a:off x="5246589" y="2056230"/>
            <a:ext cx="329037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181" name="TextBox 180"/>
          <p:cNvSpPr txBox="1"/>
          <p:nvPr/>
        </p:nvSpPr>
        <p:spPr>
          <a:xfrm>
            <a:off x="5703789" y="4800600"/>
            <a:ext cx="72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199089" y="4875630"/>
            <a:ext cx="277911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183" name="TextBox 182"/>
          <p:cNvSpPr txBox="1"/>
          <p:nvPr/>
        </p:nvSpPr>
        <p:spPr>
          <a:xfrm>
            <a:off x="5360889" y="4875630"/>
            <a:ext cx="329037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186" name="Oval 185"/>
          <p:cNvSpPr/>
          <p:nvPr/>
        </p:nvSpPr>
        <p:spPr>
          <a:xfrm>
            <a:off x="5219700" y="2362200"/>
            <a:ext cx="114300" cy="1143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/>
          <p:cNvSpPr/>
          <p:nvPr/>
        </p:nvSpPr>
        <p:spPr>
          <a:xfrm>
            <a:off x="6210300" y="2362200"/>
            <a:ext cx="114300" cy="1143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/>
          <p:cNvSpPr/>
          <p:nvPr/>
        </p:nvSpPr>
        <p:spPr>
          <a:xfrm>
            <a:off x="5334000" y="4724400"/>
            <a:ext cx="114300" cy="1143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/>
          <p:cNvSpPr/>
          <p:nvPr/>
        </p:nvSpPr>
        <p:spPr>
          <a:xfrm>
            <a:off x="6324600" y="4724400"/>
            <a:ext cx="114300" cy="1143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71" name="Straight Connector 70"/>
          <p:cNvCxnSpPr/>
          <p:nvPr/>
        </p:nvCxnSpPr>
        <p:spPr>
          <a:xfrm>
            <a:off x="5334000" y="2400300"/>
            <a:ext cx="8763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5448300" y="4800600"/>
            <a:ext cx="8763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Example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867399"/>
          </a:xfrm>
        </p:spPr>
        <p:txBody>
          <a:bodyPr/>
          <a:lstStyle/>
          <a:p>
            <a:r>
              <a:rPr lang="en-US" sz="2400" dirty="0"/>
              <a:t>An electric circuit was built as below. Use KCL and KVL to solve for unknown current and voltages: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buNone/>
            </a:pPr>
            <a:endParaRPr lang="en-US" sz="800" dirty="0"/>
          </a:p>
          <a:p>
            <a:r>
              <a:rPr lang="en-US" sz="2400" dirty="0"/>
              <a:t>Due to lumped-parameter assumptions, wires are perfect conductors. Therefore,   v</a:t>
            </a:r>
            <a:r>
              <a:rPr lang="en-US" sz="2400" baseline="-25000" dirty="0"/>
              <a:t>2</a:t>
            </a:r>
            <a:r>
              <a:rPr lang="en-US" sz="2400" dirty="0"/>
              <a:t>= v</a:t>
            </a:r>
            <a:r>
              <a:rPr lang="en-US" sz="2400" baseline="-25000" dirty="0"/>
              <a:t>4</a:t>
            </a:r>
            <a:r>
              <a:rPr lang="en-US" sz="2400" dirty="0"/>
              <a:t> = 0. v</a:t>
            </a:r>
            <a:r>
              <a:rPr lang="en-US" sz="2400" baseline="-25000" dirty="0"/>
              <a:t>3 </a:t>
            </a:r>
            <a:r>
              <a:rPr lang="en-US" sz="2400" dirty="0"/>
              <a:t>=- v</a:t>
            </a:r>
            <a:r>
              <a:rPr lang="en-US" sz="2400" baseline="-25000" dirty="0"/>
              <a:t>1</a:t>
            </a:r>
            <a:r>
              <a:rPr lang="en-US" sz="2400" dirty="0"/>
              <a:t> . i</a:t>
            </a:r>
            <a:r>
              <a:rPr lang="en-US" sz="2400" baseline="-25000" dirty="0"/>
              <a:t>1</a:t>
            </a:r>
            <a:r>
              <a:rPr lang="en-US" sz="2400" dirty="0"/>
              <a:t>= i</a:t>
            </a:r>
            <a:r>
              <a:rPr lang="en-US" sz="2400" baseline="-25000" dirty="0"/>
              <a:t>3</a:t>
            </a:r>
            <a:r>
              <a:rPr lang="en-US" sz="2400" dirty="0"/>
              <a:t>=0, because there is no closed circuit loop for current to flow. i</a:t>
            </a:r>
            <a:r>
              <a:rPr lang="en-US" sz="2400" baseline="-25000" dirty="0"/>
              <a:t>2</a:t>
            </a:r>
            <a:r>
              <a:rPr lang="en-US" sz="2400" dirty="0"/>
              <a:t>= i</a:t>
            </a:r>
            <a:r>
              <a:rPr lang="en-US" sz="2400" baseline="-25000" dirty="0"/>
              <a:t>4</a:t>
            </a:r>
            <a:r>
              <a:rPr lang="en-US" sz="2400" dirty="0"/>
              <a:t>=2 A using KCL, and v</a:t>
            </a:r>
            <a:r>
              <a:rPr lang="en-US" sz="2400" baseline="-25000" dirty="0"/>
              <a:t>1</a:t>
            </a:r>
            <a:r>
              <a:rPr lang="en-US" sz="2400" dirty="0"/>
              <a:t> =-2V using KVL.</a:t>
            </a:r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6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0" name="Group 12"/>
          <p:cNvGrpSpPr/>
          <p:nvPr/>
        </p:nvGrpSpPr>
        <p:grpSpPr>
          <a:xfrm rot="5400000">
            <a:off x="2935224" y="1539478"/>
            <a:ext cx="340742" cy="1778453"/>
            <a:chOff x="1485900" y="4687094"/>
            <a:chExt cx="304800" cy="1561306"/>
          </a:xfrm>
        </p:grpSpPr>
        <p:sp>
          <p:nvSpPr>
            <p:cNvPr id="71" name="Rectangle 70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/>
            <p:cNvCxnSpPr>
              <a:stCxn id="71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12"/>
          <p:cNvGrpSpPr/>
          <p:nvPr/>
        </p:nvGrpSpPr>
        <p:grpSpPr>
          <a:xfrm rot="10800000">
            <a:off x="4212721" y="2812927"/>
            <a:ext cx="347192" cy="1745417"/>
            <a:chOff x="1485900" y="4687094"/>
            <a:chExt cx="304800" cy="1561306"/>
          </a:xfrm>
        </p:grpSpPr>
        <p:sp>
          <p:nvSpPr>
            <p:cNvPr id="76" name="Rectangle 75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/>
            <p:cNvCxnSpPr>
              <a:stCxn id="76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Straight Connector 78"/>
          <p:cNvCxnSpPr/>
          <p:nvPr/>
        </p:nvCxnSpPr>
        <p:spPr>
          <a:xfrm>
            <a:off x="1955975" y="2428704"/>
            <a:ext cx="694383" cy="8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rot="5400000" flipH="1" flipV="1">
            <a:off x="4109463" y="2705541"/>
            <a:ext cx="553706" cy="18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endCxn id="164" idx="2"/>
          </p:cNvCxnSpPr>
          <p:nvPr/>
        </p:nvCxnSpPr>
        <p:spPr>
          <a:xfrm flipV="1">
            <a:off x="3605135" y="2419350"/>
            <a:ext cx="1614565" cy="9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rot="5400000">
            <a:off x="4279835" y="4664809"/>
            <a:ext cx="212964" cy="18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4342918" y="4729603"/>
            <a:ext cx="86798" cy="851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4342918" y="2386999"/>
            <a:ext cx="86798" cy="851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3806743" y="3463975"/>
            <a:ext cx="72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46317" y="3149454"/>
            <a:ext cx="277911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92" name="TextBox 91"/>
          <p:cNvSpPr txBox="1"/>
          <p:nvPr/>
        </p:nvSpPr>
        <p:spPr>
          <a:xfrm>
            <a:off x="3846317" y="3873531"/>
            <a:ext cx="329037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cxnSp>
        <p:nvCxnSpPr>
          <p:cNvPr id="93" name="Straight Connector 92"/>
          <p:cNvCxnSpPr>
            <a:stCxn id="122" idx="0"/>
          </p:cNvCxnSpPr>
          <p:nvPr/>
        </p:nvCxnSpPr>
        <p:spPr>
          <a:xfrm rot="5400000" flipH="1" flipV="1">
            <a:off x="1520501" y="2852193"/>
            <a:ext cx="847007" cy="18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12"/>
          <p:cNvGrpSpPr/>
          <p:nvPr/>
        </p:nvGrpSpPr>
        <p:grpSpPr>
          <a:xfrm rot="5400000">
            <a:off x="2935224" y="3882969"/>
            <a:ext cx="340742" cy="1778453"/>
            <a:chOff x="1485900" y="4687094"/>
            <a:chExt cx="304800" cy="1561306"/>
          </a:xfrm>
        </p:grpSpPr>
        <p:sp>
          <p:nvSpPr>
            <p:cNvPr id="95" name="Rectangle 94"/>
            <p:cNvSpPr/>
            <p:nvPr/>
          </p:nvSpPr>
          <p:spPr>
            <a:xfrm>
              <a:off x="1485900" y="5067300"/>
              <a:ext cx="304800" cy="8001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6" name="Straight Connector 95"/>
            <p:cNvCxnSpPr>
              <a:stCxn id="95" idx="0"/>
            </p:cNvCxnSpPr>
            <p:nvPr/>
          </p:nvCxnSpPr>
          <p:spPr>
            <a:xfrm rot="5400000" flipH="1" flipV="1">
              <a:off x="1448594" y="4876800"/>
              <a:ext cx="380206" cy="7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5400000" flipH="1" flipV="1">
              <a:off x="1448594" y="6057106"/>
              <a:ext cx="381000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Straight Connector 97"/>
          <p:cNvCxnSpPr/>
          <p:nvPr/>
        </p:nvCxnSpPr>
        <p:spPr>
          <a:xfrm>
            <a:off x="1955975" y="4772196"/>
            <a:ext cx="694383" cy="8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endCxn id="166" idx="2"/>
          </p:cNvCxnSpPr>
          <p:nvPr/>
        </p:nvCxnSpPr>
        <p:spPr>
          <a:xfrm>
            <a:off x="3605135" y="4772196"/>
            <a:ext cx="1728865" cy="93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6324600" y="2437512"/>
            <a:ext cx="564186" cy="8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6438900" y="4800600"/>
            <a:ext cx="4572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 flipH="1">
            <a:off x="2821885" y="411480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 V</a:t>
            </a:r>
            <a:endParaRPr lang="en-US" b="1" baseline="-25000" dirty="0"/>
          </a:p>
        </p:txBody>
      </p:sp>
      <p:sp>
        <p:nvSpPr>
          <p:cNvPr id="103" name="TextBox 102"/>
          <p:cNvSpPr txBox="1"/>
          <p:nvPr/>
        </p:nvSpPr>
        <p:spPr>
          <a:xfrm flipH="1">
            <a:off x="2589443" y="4257754"/>
            <a:ext cx="277911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104" name="TextBox 103"/>
          <p:cNvSpPr txBox="1"/>
          <p:nvPr/>
        </p:nvSpPr>
        <p:spPr>
          <a:xfrm flipH="1">
            <a:off x="3344742" y="4257754"/>
            <a:ext cx="329037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105" name="TextBox 104"/>
          <p:cNvSpPr txBox="1"/>
          <p:nvPr/>
        </p:nvSpPr>
        <p:spPr>
          <a:xfrm flipH="1">
            <a:off x="2783386" y="183329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 V</a:t>
            </a:r>
            <a:endParaRPr lang="en-US" b="1" baseline="-25000" dirty="0"/>
          </a:p>
        </p:txBody>
      </p:sp>
      <p:sp>
        <p:nvSpPr>
          <p:cNvPr id="106" name="TextBox 105"/>
          <p:cNvSpPr txBox="1"/>
          <p:nvPr/>
        </p:nvSpPr>
        <p:spPr>
          <a:xfrm flipH="1">
            <a:off x="2476762" y="1905434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107" name="TextBox 106"/>
          <p:cNvSpPr txBox="1"/>
          <p:nvPr/>
        </p:nvSpPr>
        <p:spPr>
          <a:xfrm flipH="1">
            <a:off x="3370624" y="1905434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cxnSp>
        <p:nvCxnSpPr>
          <p:cNvPr id="108" name="Straight Arrow Connector 107"/>
          <p:cNvCxnSpPr/>
          <p:nvPr/>
        </p:nvCxnSpPr>
        <p:spPr>
          <a:xfrm rot="5400000">
            <a:off x="4410838" y="2876799"/>
            <a:ext cx="298150" cy="180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4613739" y="278337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2</a:t>
            </a:r>
          </a:p>
        </p:txBody>
      </p:sp>
      <p:cxnSp>
        <p:nvCxnSpPr>
          <p:cNvPr id="111" name="Straight Arrow Connector 110"/>
          <p:cNvCxnSpPr/>
          <p:nvPr/>
        </p:nvCxnSpPr>
        <p:spPr>
          <a:xfrm>
            <a:off x="4581612" y="2301814"/>
            <a:ext cx="303793" cy="1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4386317" y="1833293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1</a:t>
            </a:r>
          </a:p>
        </p:txBody>
      </p:sp>
      <p:cxnSp>
        <p:nvCxnSpPr>
          <p:cNvPr id="114" name="Straight Arrow Connector 113"/>
          <p:cNvCxnSpPr/>
          <p:nvPr/>
        </p:nvCxnSpPr>
        <p:spPr>
          <a:xfrm flipH="1">
            <a:off x="3865529" y="4899974"/>
            <a:ext cx="303793" cy="1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3865529" y="4899974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4</a:t>
            </a:r>
          </a:p>
        </p:txBody>
      </p:sp>
      <p:cxnSp>
        <p:nvCxnSpPr>
          <p:cNvPr id="118" name="Straight Arrow Connector 117"/>
          <p:cNvCxnSpPr/>
          <p:nvPr/>
        </p:nvCxnSpPr>
        <p:spPr>
          <a:xfrm flipH="1">
            <a:off x="4559912" y="4642642"/>
            <a:ext cx="303793" cy="1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559912" y="4231533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  <a:r>
              <a:rPr lang="en-US" b="1" baseline="-25000" dirty="0"/>
              <a:t>3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>
            <a:off x="2129571" y="2557370"/>
            <a:ext cx="303793" cy="17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086172" y="2557370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2A</a:t>
            </a:r>
            <a:endParaRPr lang="en-US" b="1" baseline="-25000" dirty="0"/>
          </a:p>
        </p:txBody>
      </p:sp>
      <p:sp>
        <p:nvSpPr>
          <p:cNvPr id="122" name="Oval 121"/>
          <p:cNvSpPr/>
          <p:nvPr/>
        </p:nvSpPr>
        <p:spPr>
          <a:xfrm>
            <a:off x="1676400" y="32766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Straight Connector 128"/>
          <p:cNvCxnSpPr/>
          <p:nvPr/>
        </p:nvCxnSpPr>
        <p:spPr>
          <a:xfrm rot="5400000" flipH="1" flipV="1">
            <a:off x="1444303" y="4299995"/>
            <a:ext cx="999405" cy="1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1776182" y="32004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90700" y="3455432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-</a:t>
            </a:r>
          </a:p>
        </p:txBody>
      </p:sp>
      <p:sp>
        <p:nvSpPr>
          <p:cNvPr id="134" name="TextBox 133"/>
          <p:cNvSpPr txBox="1"/>
          <p:nvPr/>
        </p:nvSpPr>
        <p:spPr>
          <a:xfrm flipH="1">
            <a:off x="1143000" y="336446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 V</a:t>
            </a:r>
            <a:endParaRPr lang="en-US" b="1" baseline="-25000" dirty="0"/>
          </a:p>
        </p:txBody>
      </p:sp>
      <p:sp>
        <p:nvSpPr>
          <p:cNvPr id="135" name="Oval 134"/>
          <p:cNvSpPr/>
          <p:nvPr/>
        </p:nvSpPr>
        <p:spPr>
          <a:xfrm>
            <a:off x="6858000" y="2980608"/>
            <a:ext cx="114300" cy="1143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>
            <a:off x="6858000" y="4152900"/>
            <a:ext cx="114300" cy="1143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/>
          <p:cNvSpPr txBox="1"/>
          <p:nvPr/>
        </p:nvSpPr>
        <p:spPr>
          <a:xfrm>
            <a:off x="6781800" y="3429000"/>
            <a:ext cx="72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81800" y="3885030"/>
            <a:ext cx="277911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144" name="TextBox 143"/>
          <p:cNvSpPr txBox="1"/>
          <p:nvPr/>
        </p:nvSpPr>
        <p:spPr>
          <a:xfrm>
            <a:off x="6781800" y="3124200"/>
            <a:ext cx="329037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cxnSp>
        <p:nvCxnSpPr>
          <p:cNvPr id="149" name="Straight Connector 148"/>
          <p:cNvCxnSpPr/>
          <p:nvPr/>
        </p:nvCxnSpPr>
        <p:spPr>
          <a:xfrm rot="5400000">
            <a:off x="6630194" y="2713114"/>
            <a:ext cx="5334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 rot="5400000">
            <a:off x="6630194" y="4533106"/>
            <a:ext cx="5334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5589489" y="1981200"/>
            <a:ext cx="72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084789" y="2056230"/>
            <a:ext cx="277911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155" name="TextBox 154"/>
          <p:cNvSpPr txBox="1"/>
          <p:nvPr/>
        </p:nvSpPr>
        <p:spPr>
          <a:xfrm>
            <a:off x="5246589" y="2056230"/>
            <a:ext cx="329037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156" name="TextBox 155"/>
          <p:cNvSpPr txBox="1"/>
          <p:nvPr/>
        </p:nvSpPr>
        <p:spPr>
          <a:xfrm>
            <a:off x="5703789" y="4800600"/>
            <a:ext cx="727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199089" y="4875630"/>
            <a:ext cx="277911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-</a:t>
            </a:r>
            <a:endParaRPr lang="en-US" sz="1400" b="1" baseline="-25000" dirty="0"/>
          </a:p>
        </p:txBody>
      </p:sp>
      <p:sp>
        <p:nvSpPr>
          <p:cNvPr id="163" name="TextBox 162"/>
          <p:cNvSpPr txBox="1"/>
          <p:nvPr/>
        </p:nvSpPr>
        <p:spPr>
          <a:xfrm>
            <a:off x="5360889" y="4875630"/>
            <a:ext cx="329037" cy="344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+</a:t>
            </a:r>
            <a:endParaRPr lang="en-US" sz="1400" b="1" baseline="-25000" dirty="0"/>
          </a:p>
        </p:txBody>
      </p:sp>
      <p:sp>
        <p:nvSpPr>
          <p:cNvPr id="164" name="Oval 163"/>
          <p:cNvSpPr/>
          <p:nvPr/>
        </p:nvSpPr>
        <p:spPr>
          <a:xfrm>
            <a:off x="5219700" y="2362200"/>
            <a:ext cx="114300" cy="1143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6210300" y="2362200"/>
            <a:ext cx="114300" cy="1143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/>
          <p:cNvSpPr/>
          <p:nvPr/>
        </p:nvSpPr>
        <p:spPr>
          <a:xfrm>
            <a:off x="5334000" y="4724400"/>
            <a:ext cx="114300" cy="1143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6324600" y="4724400"/>
            <a:ext cx="114300" cy="1143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8" name="Straight Connector 167"/>
          <p:cNvCxnSpPr/>
          <p:nvPr/>
        </p:nvCxnSpPr>
        <p:spPr>
          <a:xfrm>
            <a:off x="5334000" y="2400300"/>
            <a:ext cx="8763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/>
          <p:nvPr/>
        </p:nvCxnSpPr>
        <p:spPr>
          <a:xfrm>
            <a:off x="5448300" y="4800600"/>
            <a:ext cx="8763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Example 2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838201"/>
            <a:ext cx="8229600" cy="5753099"/>
          </a:xfrm>
        </p:spPr>
        <p:txBody>
          <a:bodyPr/>
          <a:lstStyle/>
          <a:p>
            <a:r>
              <a:rPr lang="en-US" sz="2400" dirty="0"/>
              <a:t>Use KCL and KVL to solve for unknown current and voltages:</a:t>
            </a:r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grpSp>
        <p:nvGrpSpPr>
          <p:cNvPr id="157" name="Group 156"/>
          <p:cNvGrpSpPr/>
          <p:nvPr/>
        </p:nvGrpSpPr>
        <p:grpSpPr>
          <a:xfrm>
            <a:off x="914400" y="1790700"/>
            <a:ext cx="7048500" cy="3619500"/>
            <a:chOff x="914400" y="1790700"/>
            <a:chExt cx="6187887" cy="3237706"/>
          </a:xfrm>
        </p:grpSpPr>
        <p:grpSp>
          <p:nvGrpSpPr>
            <p:cNvPr id="3" name="Group 12"/>
            <p:cNvGrpSpPr/>
            <p:nvPr/>
          </p:nvGrpSpPr>
          <p:grpSpPr>
            <a:xfrm rot="5400000">
              <a:off x="2685653" y="1580753"/>
              <a:ext cx="304800" cy="1561306"/>
              <a:chOff x="1485900" y="4687094"/>
              <a:chExt cx="304800" cy="1561306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/>
              <p:cNvCxnSpPr>
                <a:stCxn id="10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12"/>
            <p:cNvGrpSpPr/>
            <p:nvPr/>
          </p:nvGrpSpPr>
          <p:grpSpPr>
            <a:xfrm rot="10800000">
              <a:off x="3810000" y="2705100"/>
              <a:ext cx="304800" cy="1561306"/>
              <a:chOff x="1485900" y="4687094"/>
              <a:chExt cx="304800" cy="1561306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/>
              <p:cNvCxnSpPr>
                <a:stCxn id="15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/>
            <p:cNvCxnSpPr/>
            <p:nvPr/>
          </p:nvCxnSpPr>
          <p:spPr>
            <a:xfrm>
              <a:off x="1828800" y="2361406"/>
              <a:ext cx="609600" cy="7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5400000" flipH="1" flipV="1">
              <a:off x="3714750" y="2609056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276600" y="2361406"/>
              <a:ext cx="1371600" cy="7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3867150" y="4361656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/>
            <p:cNvSpPr/>
            <p:nvPr/>
          </p:nvSpPr>
          <p:spPr>
            <a:xfrm>
              <a:off x="3924300" y="44196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3924300" y="23241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450234" y="3287474"/>
              <a:ext cx="397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  <a:r>
                <a:rPr lang="en-US" b="1" baseline="-25000" dirty="0"/>
                <a:t>1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488334" y="3006129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-</a:t>
              </a:r>
              <a:endParaRPr lang="en-US" sz="1400" b="1" baseline="-25000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488334" y="3653829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+</a:t>
              </a:r>
              <a:endParaRPr lang="en-US" sz="1400" b="1" baseline="-25000" dirty="0"/>
            </a:p>
          </p:txBody>
        </p:sp>
        <p:grpSp>
          <p:nvGrpSpPr>
            <p:cNvPr id="71" name="Group 12"/>
            <p:cNvGrpSpPr/>
            <p:nvPr/>
          </p:nvGrpSpPr>
          <p:grpSpPr>
            <a:xfrm rot="10800000">
              <a:off x="1638299" y="2705100"/>
              <a:ext cx="304800" cy="1561306"/>
              <a:chOff x="1485900" y="4687094"/>
              <a:chExt cx="304800" cy="1561306"/>
            </a:xfrm>
          </p:grpSpPr>
          <p:sp>
            <p:nvSpPr>
              <p:cNvPr id="72" name="Rectangle 71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Connector 72"/>
              <p:cNvCxnSpPr>
                <a:stCxn id="72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Straight Connector 74"/>
            <p:cNvCxnSpPr/>
            <p:nvPr/>
          </p:nvCxnSpPr>
          <p:spPr>
            <a:xfrm rot="5400000" flipH="1" flipV="1">
              <a:off x="1543049" y="2609056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5400000">
              <a:off x="1695449" y="4361656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/>
            <p:cNvSpPr/>
            <p:nvPr/>
          </p:nvSpPr>
          <p:spPr>
            <a:xfrm>
              <a:off x="1752599" y="44196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>
            <a:xfrm>
              <a:off x="1752599" y="2324100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278533" y="3287474"/>
              <a:ext cx="397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v</a:t>
              </a:r>
              <a:r>
                <a:rPr lang="en-US" b="1" baseline="-25000" dirty="0"/>
                <a:t>2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316633" y="3006129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+</a:t>
              </a:r>
              <a:endParaRPr lang="en-US" sz="1400" b="1" baseline="-25000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316633" y="3653829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-</a:t>
              </a:r>
              <a:endParaRPr lang="en-US" sz="1400" b="1" baseline="-25000" dirty="0"/>
            </a:p>
          </p:txBody>
        </p:sp>
        <p:grpSp>
          <p:nvGrpSpPr>
            <p:cNvPr id="83" name="Group 12"/>
            <p:cNvGrpSpPr/>
            <p:nvPr/>
          </p:nvGrpSpPr>
          <p:grpSpPr>
            <a:xfrm rot="5400000">
              <a:off x="2685653" y="3677047"/>
              <a:ext cx="304800" cy="1561306"/>
              <a:chOff x="1485900" y="4687094"/>
              <a:chExt cx="304800" cy="1561306"/>
            </a:xfrm>
          </p:grpSpPr>
          <p:sp>
            <p:nvSpPr>
              <p:cNvPr id="84" name="Rectangle 83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Connector 84"/>
              <p:cNvCxnSpPr>
                <a:stCxn id="84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7" name="Straight Connector 86"/>
            <p:cNvCxnSpPr/>
            <p:nvPr/>
          </p:nvCxnSpPr>
          <p:spPr>
            <a:xfrm>
              <a:off x="1828800" y="4457700"/>
              <a:ext cx="609600" cy="7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3276600" y="4457700"/>
              <a:ext cx="14478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12"/>
            <p:cNvGrpSpPr/>
            <p:nvPr/>
          </p:nvGrpSpPr>
          <p:grpSpPr>
            <a:xfrm rot="5400000">
              <a:off x="4895453" y="1581547"/>
              <a:ext cx="304800" cy="1561306"/>
              <a:chOff x="1485900" y="4687094"/>
              <a:chExt cx="304800" cy="1561306"/>
            </a:xfrm>
          </p:grpSpPr>
          <p:sp>
            <p:nvSpPr>
              <p:cNvPr id="92" name="Rectangle 91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3" name="Straight Connector 92"/>
              <p:cNvCxnSpPr>
                <a:stCxn id="92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12"/>
            <p:cNvGrpSpPr/>
            <p:nvPr/>
          </p:nvGrpSpPr>
          <p:grpSpPr>
            <a:xfrm rot="10800000">
              <a:off x="6019800" y="2705894"/>
              <a:ext cx="304800" cy="1561306"/>
              <a:chOff x="1485900" y="4687094"/>
              <a:chExt cx="304800" cy="1561306"/>
            </a:xfrm>
          </p:grpSpPr>
          <p:sp>
            <p:nvSpPr>
              <p:cNvPr id="96" name="Rectangle 95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Connector 96"/>
              <p:cNvCxnSpPr>
                <a:stCxn id="96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9" name="Straight Connector 98"/>
            <p:cNvCxnSpPr/>
            <p:nvPr/>
          </p:nvCxnSpPr>
          <p:spPr>
            <a:xfrm rot="5400000" flipH="1" flipV="1">
              <a:off x="5924550" y="2609850"/>
              <a:ext cx="4953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5400000">
              <a:off x="6076950" y="4362450"/>
              <a:ext cx="190500" cy="15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/>
            <p:cNvSpPr/>
            <p:nvPr/>
          </p:nvSpPr>
          <p:spPr>
            <a:xfrm>
              <a:off x="6134100" y="4420394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>
            <a:xfrm>
              <a:off x="6134100" y="2324894"/>
              <a:ext cx="76200" cy="762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838700" y="1837491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5 V</a:t>
              </a:r>
              <a:endParaRPr lang="en-US" b="1" baseline="-25000" dirty="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4572000" y="1902023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+</a:t>
              </a:r>
              <a:endParaRPr lang="en-US" sz="1400" b="1" baseline="-25000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356722" y="1863923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-</a:t>
              </a:r>
              <a:endParaRPr lang="en-US" sz="1400" b="1" baseline="-25000" dirty="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383934" y="3288268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3 V</a:t>
              </a:r>
              <a:endParaRPr lang="en-US" b="1" baseline="-25000" dirty="0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6422034" y="3006923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+</a:t>
              </a:r>
              <a:endParaRPr lang="en-US" sz="1400" b="1" baseline="-25000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6422034" y="3654623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-</a:t>
              </a:r>
              <a:endParaRPr lang="en-US" sz="1400" b="1" baseline="-25000" dirty="0"/>
            </a:p>
          </p:txBody>
        </p:sp>
        <p:grpSp>
          <p:nvGrpSpPr>
            <p:cNvPr id="109" name="Group 12"/>
            <p:cNvGrpSpPr/>
            <p:nvPr/>
          </p:nvGrpSpPr>
          <p:grpSpPr>
            <a:xfrm rot="5400000">
              <a:off x="4895453" y="3677841"/>
              <a:ext cx="304800" cy="1561306"/>
              <a:chOff x="1485900" y="4687094"/>
              <a:chExt cx="304800" cy="1561306"/>
            </a:xfrm>
          </p:grpSpPr>
          <p:sp>
            <p:nvSpPr>
              <p:cNvPr id="110" name="Rectangle 109"/>
              <p:cNvSpPr/>
              <p:nvPr/>
            </p:nvSpPr>
            <p:spPr>
              <a:xfrm>
                <a:off x="1485900" y="5067300"/>
                <a:ext cx="304800" cy="8001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1" name="Straight Connector 110"/>
              <p:cNvCxnSpPr>
                <a:stCxn id="110" idx="0"/>
              </p:cNvCxnSpPr>
              <p:nvPr/>
            </p:nvCxnSpPr>
            <p:spPr>
              <a:xfrm rot="5400000" flipH="1" flipV="1">
                <a:off x="1448594" y="4876800"/>
                <a:ext cx="380206" cy="79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rot="5400000" flipH="1" flipV="1">
                <a:off x="1448594" y="6057106"/>
                <a:ext cx="381000" cy="158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Straight Connector 112"/>
            <p:cNvCxnSpPr>
              <a:endCxn id="102" idx="6"/>
            </p:cNvCxnSpPr>
            <p:nvPr/>
          </p:nvCxnSpPr>
          <p:spPr>
            <a:xfrm>
              <a:off x="5715000" y="2362200"/>
              <a:ext cx="495300" cy="7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5676900" y="4456906"/>
              <a:ext cx="495300" cy="7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 flipV="1">
              <a:off x="6210300" y="1790700"/>
              <a:ext cx="838200" cy="5341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6172200" y="4457700"/>
              <a:ext cx="838200" cy="5707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952500" y="1790700"/>
              <a:ext cx="838200" cy="5707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952500" y="4457700"/>
              <a:ext cx="838200" cy="5341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/>
            <p:cNvSpPr txBox="1"/>
            <p:nvPr/>
          </p:nvSpPr>
          <p:spPr>
            <a:xfrm flipH="1">
              <a:off x="2554005" y="3932991"/>
              <a:ext cx="646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11 V</a:t>
              </a:r>
              <a:endParaRPr lang="en-US" b="1" baseline="-25000" dirty="0"/>
            </a:p>
          </p:txBody>
        </p:sp>
        <p:sp>
          <p:nvSpPr>
            <p:cNvPr id="124" name="TextBox 123"/>
            <p:cNvSpPr txBox="1"/>
            <p:nvPr/>
          </p:nvSpPr>
          <p:spPr>
            <a:xfrm flipH="1">
              <a:off x="2384922" y="3997523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-</a:t>
              </a:r>
              <a:endParaRPr lang="en-US" sz="1400" b="1" baseline="-25000" dirty="0"/>
            </a:p>
          </p:txBody>
        </p:sp>
        <p:sp>
          <p:nvSpPr>
            <p:cNvPr id="125" name="TextBox 124"/>
            <p:cNvSpPr txBox="1"/>
            <p:nvPr/>
          </p:nvSpPr>
          <p:spPr>
            <a:xfrm flipH="1">
              <a:off x="3048000" y="3997523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+</a:t>
              </a:r>
              <a:endParaRPr lang="en-US" sz="1400" b="1" baseline="-25000" dirty="0"/>
            </a:p>
          </p:txBody>
        </p:sp>
        <p:sp>
          <p:nvSpPr>
            <p:cNvPr id="126" name="TextBox 125"/>
            <p:cNvSpPr txBox="1"/>
            <p:nvPr/>
          </p:nvSpPr>
          <p:spPr>
            <a:xfrm flipH="1">
              <a:off x="2555185" y="1828800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9 V</a:t>
              </a:r>
              <a:endParaRPr lang="en-US" b="1" baseline="-25000" dirty="0"/>
            </a:p>
          </p:txBody>
        </p:sp>
        <p:sp>
          <p:nvSpPr>
            <p:cNvPr id="127" name="TextBox 126"/>
            <p:cNvSpPr txBox="1"/>
            <p:nvPr/>
          </p:nvSpPr>
          <p:spPr>
            <a:xfrm flipH="1">
              <a:off x="2286000" y="1893332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-</a:t>
              </a:r>
              <a:endParaRPr lang="en-US" sz="1400" b="1" baseline="-25000" dirty="0"/>
            </a:p>
          </p:txBody>
        </p:sp>
        <p:sp>
          <p:nvSpPr>
            <p:cNvPr id="128" name="TextBox 127"/>
            <p:cNvSpPr txBox="1"/>
            <p:nvPr/>
          </p:nvSpPr>
          <p:spPr>
            <a:xfrm flipH="1">
              <a:off x="3070722" y="1893332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+</a:t>
              </a:r>
              <a:endParaRPr lang="en-US" sz="1400" b="1" baseline="-25000" dirty="0"/>
            </a:p>
          </p:txBody>
        </p:sp>
        <p:sp>
          <p:nvSpPr>
            <p:cNvPr id="129" name="TextBox 128"/>
            <p:cNvSpPr txBox="1"/>
            <p:nvPr/>
          </p:nvSpPr>
          <p:spPr>
            <a:xfrm flipH="1">
              <a:off x="4717616" y="3924300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2 V</a:t>
              </a:r>
              <a:endParaRPr lang="en-US" b="1" baseline="-25000" dirty="0"/>
            </a:p>
          </p:txBody>
        </p:sp>
        <p:sp>
          <p:nvSpPr>
            <p:cNvPr id="130" name="TextBox 129"/>
            <p:cNvSpPr txBox="1"/>
            <p:nvPr/>
          </p:nvSpPr>
          <p:spPr>
            <a:xfrm flipH="1">
              <a:off x="4489016" y="3988832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-</a:t>
              </a:r>
              <a:endParaRPr lang="en-US" sz="1400" b="1" baseline="-25000" dirty="0"/>
            </a:p>
          </p:txBody>
        </p:sp>
        <p:sp>
          <p:nvSpPr>
            <p:cNvPr id="131" name="TextBox 130"/>
            <p:cNvSpPr txBox="1"/>
            <p:nvPr/>
          </p:nvSpPr>
          <p:spPr>
            <a:xfrm flipH="1">
              <a:off x="5273738" y="3988832"/>
              <a:ext cx="288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+</a:t>
              </a:r>
              <a:endParaRPr lang="en-US" sz="1400" b="1" baseline="-25000" dirty="0"/>
            </a:p>
          </p:txBody>
        </p:sp>
        <p:cxnSp>
          <p:nvCxnSpPr>
            <p:cNvPr id="132" name="Straight Arrow Connector 131"/>
            <p:cNvCxnSpPr/>
            <p:nvPr/>
          </p:nvCxnSpPr>
          <p:spPr>
            <a:xfrm rot="5400000">
              <a:off x="3981450" y="2762250"/>
              <a:ext cx="2667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/>
            <p:cNvSpPr txBox="1"/>
            <p:nvPr/>
          </p:nvSpPr>
          <p:spPr>
            <a:xfrm>
              <a:off x="4162054" y="2678668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</a:t>
              </a:r>
              <a:r>
                <a:rPr lang="en-US" b="1" baseline="-25000" dirty="0"/>
                <a:t>4</a:t>
              </a:r>
            </a:p>
          </p:txBody>
        </p:sp>
        <p:cxnSp>
          <p:nvCxnSpPr>
            <p:cNvPr id="134" name="Straight Arrow Connector 133"/>
            <p:cNvCxnSpPr/>
            <p:nvPr/>
          </p:nvCxnSpPr>
          <p:spPr>
            <a:xfrm rot="5400000">
              <a:off x="5887244" y="2723356"/>
              <a:ext cx="2667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TextBox 134"/>
            <p:cNvSpPr txBox="1"/>
            <p:nvPr/>
          </p:nvSpPr>
          <p:spPr>
            <a:xfrm>
              <a:off x="5524500" y="2552700"/>
              <a:ext cx="535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 A</a:t>
              </a:r>
              <a:endParaRPr lang="en-US" b="1" baseline="-25000" dirty="0"/>
            </a:p>
          </p:txBody>
        </p:sp>
        <p:cxnSp>
          <p:nvCxnSpPr>
            <p:cNvPr id="136" name="Straight Arrow Connector 135"/>
            <p:cNvCxnSpPr/>
            <p:nvPr/>
          </p:nvCxnSpPr>
          <p:spPr>
            <a:xfrm>
              <a:off x="4133850" y="2247900"/>
              <a:ext cx="2667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/>
            <p:cNvSpPr txBox="1"/>
            <p:nvPr/>
          </p:nvSpPr>
          <p:spPr>
            <a:xfrm>
              <a:off x="3962400" y="1828800"/>
              <a:ext cx="535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2 A</a:t>
              </a:r>
              <a:endParaRPr lang="en-US" b="1" baseline="-25000" dirty="0"/>
            </a:p>
          </p:txBody>
        </p:sp>
        <p:cxnSp>
          <p:nvCxnSpPr>
            <p:cNvPr id="138" name="Straight Arrow Connector 137"/>
            <p:cNvCxnSpPr/>
            <p:nvPr/>
          </p:nvCxnSpPr>
          <p:spPr>
            <a:xfrm>
              <a:off x="1257300" y="1828800"/>
              <a:ext cx="3429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/>
            <p:cNvSpPr txBox="1"/>
            <p:nvPr/>
          </p:nvSpPr>
          <p:spPr>
            <a:xfrm>
              <a:off x="1562100" y="1790700"/>
              <a:ext cx="535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6 A</a:t>
              </a:r>
              <a:endParaRPr lang="en-US" b="1" baseline="-25000" dirty="0"/>
            </a:p>
          </p:txBody>
        </p:sp>
        <p:cxnSp>
          <p:nvCxnSpPr>
            <p:cNvPr id="142" name="Straight Arrow Connector 141"/>
            <p:cNvCxnSpPr/>
            <p:nvPr/>
          </p:nvCxnSpPr>
          <p:spPr>
            <a:xfrm rot="10800000" flipV="1">
              <a:off x="1143000" y="4495800"/>
              <a:ext cx="3429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/>
            <p:cNvSpPr txBox="1"/>
            <p:nvPr/>
          </p:nvSpPr>
          <p:spPr>
            <a:xfrm>
              <a:off x="914400" y="4267200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</a:t>
              </a:r>
              <a:r>
                <a:rPr lang="en-US" b="1" baseline="-25000" dirty="0"/>
                <a:t>8</a:t>
              </a:r>
            </a:p>
          </p:txBody>
        </p:sp>
        <p:cxnSp>
          <p:nvCxnSpPr>
            <p:cNvPr id="145" name="Straight Arrow Connector 144"/>
            <p:cNvCxnSpPr/>
            <p:nvPr/>
          </p:nvCxnSpPr>
          <p:spPr>
            <a:xfrm flipH="1">
              <a:off x="3505200" y="4572000"/>
              <a:ext cx="2667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/>
            <p:cNvSpPr txBox="1"/>
            <p:nvPr/>
          </p:nvSpPr>
          <p:spPr>
            <a:xfrm>
              <a:off x="3505200" y="4572000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</a:t>
              </a:r>
              <a:r>
                <a:rPr lang="en-US" b="1" baseline="-25000" dirty="0"/>
                <a:t>7</a:t>
              </a:r>
            </a:p>
          </p:txBody>
        </p:sp>
        <p:cxnSp>
          <p:nvCxnSpPr>
            <p:cNvPr id="147" name="Straight Arrow Connector 146"/>
            <p:cNvCxnSpPr/>
            <p:nvPr/>
          </p:nvCxnSpPr>
          <p:spPr>
            <a:xfrm flipH="1">
              <a:off x="4114800" y="4341812"/>
              <a:ext cx="2667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147"/>
            <p:cNvSpPr txBox="1"/>
            <p:nvPr/>
          </p:nvSpPr>
          <p:spPr>
            <a:xfrm>
              <a:off x="4114800" y="3974068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</a:t>
              </a:r>
              <a:r>
                <a:rPr lang="en-US" b="1" baseline="-25000" dirty="0"/>
                <a:t>6</a:t>
              </a:r>
            </a:p>
          </p:txBody>
        </p:sp>
        <p:cxnSp>
          <p:nvCxnSpPr>
            <p:cNvPr id="149" name="Straight Arrow Connector 148"/>
            <p:cNvCxnSpPr/>
            <p:nvPr/>
          </p:nvCxnSpPr>
          <p:spPr>
            <a:xfrm>
              <a:off x="6477000" y="4533900"/>
              <a:ext cx="3429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TextBox 149"/>
            <p:cNvSpPr txBox="1"/>
            <p:nvPr/>
          </p:nvSpPr>
          <p:spPr>
            <a:xfrm>
              <a:off x="6438900" y="4229100"/>
              <a:ext cx="663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10 A</a:t>
              </a:r>
              <a:endParaRPr lang="en-US" b="1" baseline="-25000" dirty="0"/>
            </a:p>
          </p:txBody>
        </p:sp>
        <p:cxnSp>
          <p:nvCxnSpPr>
            <p:cNvPr id="151" name="Straight Arrow Connector 150"/>
            <p:cNvCxnSpPr/>
            <p:nvPr/>
          </p:nvCxnSpPr>
          <p:spPr>
            <a:xfrm rot="10800000" flipV="1">
              <a:off x="6477000" y="2095500"/>
              <a:ext cx="342900" cy="2286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/>
            <p:cNvSpPr txBox="1"/>
            <p:nvPr/>
          </p:nvSpPr>
          <p:spPr>
            <a:xfrm>
              <a:off x="6591300" y="2171700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</a:t>
              </a:r>
              <a:r>
                <a:rPr lang="en-US" b="1" baseline="-25000" dirty="0"/>
                <a:t>5</a:t>
              </a:r>
            </a:p>
          </p:txBody>
        </p:sp>
        <p:cxnSp>
          <p:nvCxnSpPr>
            <p:cNvPr id="153" name="Straight Arrow Connector 152"/>
            <p:cNvCxnSpPr/>
            <p:nvPr/>
          </p:nvCxnSpPr>
          <p:spPr>
            <a:xfrm>
              <a:off x="1981200" y="2476500"/>
              <a:ext cx="2667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3"/>
            <p:cNvSpPr txBox="1"/>
            <p:nvPr/>
          </p:nvSpPr>
          <p:spPr>
            <a:xfrm>
              <a:off x="1943100" y="2476500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i</a:t>
              </a:r>
              <a:r>
                <a:rPr lang="en-US" b="1" baseline="-25000" dirty="0"/>
                <a:t>3</a:t>
              </a:r>
            </a:p>
          </p:txBody>
        </p:sp>
        <p:cxnSp>
          <p:nvCxnSpPr>
            <p:cNvPr id="155" name="Straight Arrow Connector 154"/>
            <p:cNvCxnSpPr/>
            <p:nvPr/>
          </p:nvCxnSpPr>
          <p:spPr>
            <a:xfrm rot="5400000">
              <a:off x="1770856" y="4133056"/>
              <a:ext cx="2667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/>
            <p:cNvSpPr txBox="1"/>
            <p:nvPr/>
          </p:nvSpPr>
          <p:spPr>
            <a:xfrm>
              <a:off x="1790700" y="4126468"/>
              <a:ext cx="612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-3 A</a:t>
              </a:r>
              <a:endParaRPr lang="en-US" b="1" baseline="-25000" dirty="0"/>
            </a:p>
          </p:txBody>
        </p:sp>
      </p:grpSp>
      <p:sp>
        <p:nvSpPr>
          <p:cNvPr id="158" name="TextBox 157"/>
          <p:cNvSpPr txBox="1"/>
          <p:nvPr/>
        </p:nvSpPr>
        <p:spPr>
          <a:xfrm>
            <a:off x="1581066" y="5829763"/>
            <a:ext cx="625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i="1" dirty="0"/>
              <a:t>Hint:</a:t>
            </a:r>
            <a:r>
              <a:rPr lang="tr-TR" dirty="0"/>
              <a:t>  </a:t>
            </a:r>
            <a:r>
              <a:rPr lang="en-US" dirty="0"/>
              <a:t>8 unknowns </a:t>
            </a:r>
            <a:r>
              <a:rPr lang="tr-TR" dirty="0"/>
              <a:t>r</a:t>
            </a:r>
            <a:r>
              <a:rPr lang="en-US" dirty="0" err="1"/>
              <a:t>equire</a:t>
            </a:r>
            <a:r>
              <a:rPr lang="en-US" dirty="0"/>
              <a:t> 8 </a:t>
            </a:r>
            <a:r>
              <a:rPr lang="tr-TR" dirty="0"/>
              <a:t>independent </a:t>
            </a:r>
            <a:r>
              <a:rPr lang="en-US" dirty="0"/>
              <a:t>equations to solve</a:t>
            </a:r>
          </a:p>
        </p:txBody>
      </p:sp>
      <p:sp>
        <p:nvSpPr>
          <p:cNvPr id="114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Example 2 (continued)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33400" y="647700"/>
            <a:ext cx="8229600" cy="5943601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8 unknowns : Require 8 </a:t>
            </a:r>
            <a:r>
              <a:rPr lang="tr-TR" sz="2400" dirty="0"/>
              <a:t>independent </a:t>
            </a:r>
            <a:r>
              <a:rPr lang="en-US" sz="2400" dirty="0"/>
              <a:t>equations to solve</a:t>
            </a:r>
          </a:p>
          <a:p>
            <a:pPr>
              <a:buNone/>
            </a:pPr>
            <a:r>
              <a:rPr lang="en-US" sz="2400" dirty="0"/>
              <a:t>KVL: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KCL: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2400" dirty="0"/>
              <a:t>Solving all: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sz="2000" dirty="0"/>
          </a:p>
          <a:p>
            <a:pPr lvl="1">
              <a:buFont typeface="Arial" charset="0"/>
              <a:buNone/>
            </a:pPr>
            <a:endParaRPr lang="en-US" sz="2000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graphicFrame>
        <p:nvGraphicFramePr>
          <p:cNvPr id="147458" name="Object 2"/>
          <p:cNvGraphicFramePr>
            <a:graphicFrameLocks noChangeAspect="1"/>
          </p:cNvGraphicFramePr>
          <p:nvPr/>
        </p:nvGraphicFramePr>
        <p:xfrm>
          <a:off x="1520825" y="1257301"/>
          <a:ext cx="5082729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393480" progId="Equation.3">
                  <p:embed/>
                </p:oleObj>
              </mc:Choice>
              <mc:Fallback>
                <p:oleObj name="Equation" r:id="rId2" imgW="1536480" imgH="393480" progId="Equation.3">
                  <p:embed/>
                  <p:pic>
                    <p:nvPicPr>
                      <p:cNvPr id="1474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825" y="1257301"/>
                        <a:ext cx="5082729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59" name="Object 3"/>
          <p:cNvGraphicFramePr>
            <a:graphicFrameLocks noChangeAspect="1"/>
          </p:cNvGraphicFramePr>
          <p:nvPr/>
        </p:nvGraphicFramePr>
        <p:xfrm>
          <a:off x="1524001" y="2476500"/>
          <a:ext cx="4572000" cy="25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1155600" progId="Equation.3">
                  <p:embed/>
                </p:oleObj>
              </mc:Choice>
              <mc:Fallback>
                <p:oleObj name="Equation" r:id="rId4" imgW="1333440" imgH="1155600" progId="Equation.3">
                  <p:embed/>
                  <p:pic>
                    <p:nvPicPr>
                      <p:cNvPr id="1474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2476500"/>
                        <a:ext cx="4572000" cy="2554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0" name="Object 4"/>
          <p:cNvGraphicFramePr>
            <a:graphicFrameLocks noChangeAspect="1"/>
          </p:cNvGraphicFramePr>
          <p:nvPr/>
        </p:nvGraphicFramePr>
        <p:xfrm>
          <a:off x="1239838" y="5676900"/>
          <a:ext cx="5922962" cy="832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03240" imgH="393480" progId="Equation.3">
                  <p:embed/>
                </p:oleObj>
              </mc:Choice>
              <mc:Fallback>
                <p:oleObj name="Equation" r:id="rId6" imgW="1803240" imgH="393480" progId="Equation.3">
                  <p:embed/>
                  <p:pic>
                    <p:nvPicPr>
                      <p:cNvPr id="147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838" y="5676900"/>
                        <a:ext cx="5922962" cy="8321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Example 3 (Ex 2.10)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81000" y="838201"/>
            <a:ext cx="8382000" cy="5867399"/>
          </a:xfrm>
        </p:spPr>
        <p:txBody>
          <a:bodyPr/>
          <a:lstStyle/>
          <a:p>
            <a:pPr marL="457200" indent="-457200">
              <a:buAutoNum type="alphaLcParenR"/>
            </a:pPr>
            <a:r>
              <a:rPr lang="en-US" sz="2000" dirty="0"/>
              <a:t>Use Kirchhoff’s laws and Ohm’s law to find the voltage v</a:t>
            </a:r>
            <a:r>
              <a:rPr lang="en-US" sz="2000" baseline="-25000" dirty="0"/>
              <a:t>0</a:t>
            </a:r>
            <a:r>
              <a:rPr lang="en-US" sz="2000" dirty="0"/>
              <a:t> as shown below.</a:t>
            </a:r>
          </a:p>
          <a:p>
            <a:pPr marL="457200" indent="-457200">
              <a:buAutoNum type="alphaLcParenR"/>
            </a:pPr>
            <a:r>
              <a:rPr lang="en-US" sz="2000" dirty="0"/>
              <a:t>Show that your solution is consistent with the constraint that the total power developed in the circuit equals the total power dissipated.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6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89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981200"/>
            <a:ext cx="3589230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Example 3 (Ex 2.10)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81000" y="838201"/>
            <a:ext cx="8382000" cy="5867399"/>
          </a:xfrm>
        </p:spPr>
        <p:txBody>
          <a:bodyPr/>
          <a:lstStyle/>
          <a:p>
            <a:pPr marL="457200" indent="-457200">
              <a:buAutoNum type="alphaLcParenR"/>
            </a:pPr>
            <a:r>
              <a:rPr lang="en-US" sz="2000" dirty="0"/>
              <a:t>Use Kirchhoff’s laws and Ohm’s law to find the voltage v</a:t>
            </a:r>
            <a:r>
              <a:rPr lang="en-US" sz="2000" baseline="-25000" dirty="0"/>
              <a:t>0</a:t>
            </a:r>
            <a:r>
              <a:rPr lang="en-US" sz="2000" dirty="0"/>
              <a:t> as shown below.</a:t>
            </a:r>
          </a:p>
          <a:p>
            <a:pPr marL="457200" indent="-457200">
              <a:buAutoNum type="alphaLcParenR"/>
            </a:pPr>
            <a:r>
              <a:rPr lang="en-US" sz="2000" dirty="0"/>
              <a:t>Show that your solution is consistent with the constraint that the total power developed in the circuit equals the total power dissipated.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6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89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981200"/>
            <a:ext cx="3589230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897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022439"/>
              </p:ext>
            </p:extLst>
          </p:nvPr>
        </p:nvGraphicFramePr>
        <p:xfrm>
          <a:off x="4038600" y="2430463"/>
          <a:ext cx="4991100" cy="183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79760" imgH="1307880" progId="Equation.3">
                  <p:embed/>
                </p:oleObj>
              </mc:Choice>
              <mc:Fallback>
                <p:oleObj name="Equation" r:id="rId3" imgW="3479760" imgH="1307880" progId="Equation.3">
                  <p:embed/>
                  <p:pic>
                    <p:nvPicPr>
                      <p:cNvPr id="2897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430463"/>
                        <a:ext cx="4991100" cy="1836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4000500" y="198120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Solution:</a:t>
            </a:r>
            <a:endParaRPr lang="tr-TR" u="sng" dirty="0"/>
          </a:p>
        </p:txBody>
      </p:sp>
      <p:graphicFrame>
        <p:nvGraphicFramePr>
          <p:cNvPr id="289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04840"/>
              </p:ext>
            </p:extLst>
          </p:nvPr>
        </p:nvGraphicFramePr>
        <p:xfrm>
          <a:off x="268288" y="4597400"/>
          <a:ext cx="8726487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83280" imgH="1244520" progId="Equation.3">
                  <p:embed/>
                </p:oleObj>
              </mc:Choice>
              <mc:Fallback>
                <p:oleObj name="Equation" r:id="rId5" imgW="6083280" imgH="1244520" progId="Equation.3">
                  <p:embed/>
                  <p:pic>
                    <p:nvPicPr>
                      <p:cNvPr id="289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8" y="4597400"/>
                        <a:ext cx="8726487" cy="174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TextBox 84"/>
          <p:cNvSpPr txBox="1"/>
          <p:nvPr/>
        </p:nvSpPr>
        <p:spPr>
          <a:xfrm>
            <a:off x="4343400" y="5981700"/>
            <a:ext cx="675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3600" dirty="0"/>
              <a:t> </a:t>
            </a:r>
            <a:endParaRPr lang="tr-TR" sz="3600" dirty="0"/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Example 4 (AP 2.10)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81000" y="723901"/>
            <a:ext cx="8382000" cy="5981700"/>
          </a:xfrm>
        </p:spPr>
        <p:txBody>
          <a:bodyPr/>
          <a:lstStyle/>
          <a:p>
            <a:pPr marL="457200" indent="-457200">
              <a:buNone/>
            </a:pPr>
            <a:r>
              <a:rPr lang="en-US" sz="2000" dirty="0"/>
              <a:t>The current </a:t>
            </a:r>
            <a:r>
              <a:rPr lang="en-US" sz="2000" dirty="0" err="1"/>
              <a:t>i</a:t>
            </a:r>
            <a:r>
              <a:rPr lang="el-GR" sz="2000" baseline="-25000" dirty="0"/>
              <a:t>Φ</a:t>
            </a:r>
            <a:r>
              <a:rPr lang="en-US" sz="2000" dirty="0"/>
              <a:t> in the circuit shown is 2 A. Calculate:</a:t>
            </a:r>
            <a:endParaRPr lang="en-US" sz="2000" baseline="-25000" dirty="0"/>
          </a:p>
          <a:p>
            <a:pPr marL="457200" indent="-457200">
              <a:buNone/>
            </a:pPr>
            <a:r>
              <a:rPr lang="en-US" sz="2000" dirty="0"/>
              <a:t>a) </a:t>
            </a:r>
            <a:r>
              <a:rPr lang="en-US" sz="2000" dirty="0" err="1"/>
              <a:t>v</a:t>
            </a:r>
            <a:r>
              <a:rPr lang="en-US" sz="2000" baseline="-25000" dirty="0" err="1"/>
              <a:t>s</a:t>
            </a:r>
            <a:r>
              <a:rPr lang="en-US" sz="2000" dirty="0"/>
              <a:t>      ;     b) The power absorbed by the independent voltage source,</a:t>
            </a:r>
          </a:p>
          <a:p>
            <a:pPr marL="457200" indent="-457200">
              <a:buNone/>
            </a:pPr>
            <a:r>
              <a:rPr lang="en-US" sz="2000" dirty="0"/>
              <a:t>c) The power delivered by the independent current source,</a:t>
            </a:r>
          </a:p>
          <a:p>
            <a:pPr marL="457200" indent="-457200">
              <a:buNone/>
            </a:pPr>
            <a:r>
              <a:rPr lang="en-US" sz="2000" dirty="0"/>
              <a:t>d) The power delivered by the controlled current source,</a:t>
            </a:r>
          </a:p>
          <a:p>
            <a:pPr marL="457200" indent="-457200">
              <a:buNone/>
            </a:pPr>
            <a:r>
              <a:rPr lang="en-US" sz="2000" dirty="0"/>
              <a:t>e) The total power dissipated in the two resistors.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6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918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895600"/>
            <a:ext cx="3801441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Example 4 (AP 2.10)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81000" y="723901"/>
            <a:ext cx="8382000" cy="5981700"/>
          </a:xfrm>
        </p:spPr>
        <p:txBody>
          <a:bodyPr/>
          <a:lstStyle/>
          <a:p>
            <a:pPr marL="457200" indent="-457200">
              <a:buNone/>
            </a:pPr>
            <a:r>
              <a:rPr lang="en-US" sz="2000" dirty="0"/>
              <a:t>The current </a:t>
            </a:r>
            <a:r>
              <a:rPr lang="en-US" sz="2000" dirty="0" err="1"/>
              <a:t>i</a:t>
            </a:r>
            <a:r>
              <a:rPr lang="el-GR" sz="2000" baseline="-25000" dirty="0"/>
              <a:t>Φ</a:t>
            </a:r>
            <a:r>
              <a:rPr lang="en-US" sz="2000" dirty="0"/>
              <a:t> in the circuit shown is 2 A. Calculate:</a:t>
            </a:r>
            <a:endParaRPr lang="en-US" sz="2000" baseline="-25000" dirty="0"/>
          </a:p>
          <a:p>
            <a:pPr marL="457200" indent="-457200">
              <a:buNone/>
            </a:pPr>
            <a:r>
              <a:rPr lang="en-US" sz="2000" dirty="0"/>
              <a:t>a) </a:t>
            </a:r>
            <a:r>
              <a:rPr lang="en-US" sz="2000" dirty="0" err="1"/>
              <a:t>v</a:t>
            </a:r>
            <a:r>
              <a:rPr lang="en-US" sz="2000" baseline="-25000" dirty="0" err="1"/>
              <a:t>s</a:t>
            </a:r>
            <a:r>
              <a:rPr lang="en-US" sz="2000" dirty="0"/>
              <a:t>      ;     b) The power absorbed by the independent voltage source,</a:t>
            </a:r>
          </a:p>
          <a:p>
            <a:pPr marL="457200" indent="-457200">
              <a:buNone/>
            </a:pPr>
            <a:r>
              <a:rPr lang="en-US" sz="2000" dirty="0"/>
              <a:t>c) The power delivered by the independent current source,</a:t>
            </a:r>
          </a:p>
          <a:p>
            <a:pPr marL="457200" indent="-457200">
              <a:buNone/>
            </a:pPr>
            <a:r>
              <a:rPr lang="en-US" sz="2000" dirty="0"/>
              <a:t>d) The power delivered by the controlled current source,</a:t>
            </a:r>
          </a:p>
          <a:p>
            <a:pPr marL="457200" indent="-457200">
              <a:buNone/>
            </a:pPr>
            <a:r>
              <a:rPr lang="en-US" sz="2000" dirty="0"/>
              <a:t>e) The total power dissipated in the two resistors.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6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918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895600"/>
            <a:ext cx="3801441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91844" name="Object 4"/>
          <p:cNvGraphicFramePr>
            <a:graphicFrameLocks noChangeAspect="1"/>
          </p:cNvGraphicFramePr>
          <p:nvPr/>
        </p:nvGraphicFramePr>
        <p:xfrm>
          <a:off x="4495800" y="3513137"/>
          <a:ext cx="4191000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68400" imgH="1447560" progId="Equation.3">
                  <p:embed/>
                </p:oleObj>
              </mc:Choice>
              <mc:Fallback>
                <p:oleObj name="Equation" r:id="rId3" imgW="2768400" imgH="1447560" progId="Equation.3">
                  <p:embed/>
                  <p:pic>
                    <p:nvPicPr>
                      <p:cNvPr id="291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513137"/>
                        <a:ext cx="4191000" cy="208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1500" y="289560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Solution:</a:t>
            </a:r>
            <a:endParaRPr lang="tr-TR" u="sng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324100" y="4267200"/>
            <a:ext cx="3048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62200" y="422910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1</a:t>
            </a:r>
            <a:endParaRPr lang="tr-TR" baseline="-25000" dirty="0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22237"/>
            <a:ext cx="8229600" cy="563563"/>
          </a:xfrm>
        </p:spPr>
        <p:txBody>
          <a:bodyPr/>
          <a:lstStyle/>
          <a:p>
            <a:r>
              <a:rPr lang="en-US" sz="3200" dirty="0"/>
              <a:t>Example 4 (AP 2.10)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81000" y="723901"/>
            <a:ext cx="8382000" cy="5981700"/>
          </a:xfrm>
        </p:spPr>
        <p:txBody>
          <a:bodyPr/>
          <a:lstStyle/>
          <a:p>
            <a:pPr marL="457200" indent="-457200">
              <a:buNone/>
            </a:pPr>
            <a:r>
              <a:rPr lang="en-US" sz="2000" dirty="0"/>
              <a:t>The current </a:t>
            </a:r>
            <a:r>
              <a:rPr lang="en-US" sz="2000" dirty="0" err="1"/>
              <a:t>i</a:t>
            </a:r>
            <a:r>
              <a:rPr lang="el-GR" sz="2000" baseline="-25000" dirty="0"/>
              <a:t>Φ</a:t>
            </a:r>
            <a:r>
              <a:rPr lang="en-US" sz="2000" dirty="0"/>
              <a:t> in the circuit shown is 2 A. Calculate:</a:t>
            </a:r>
            <a:endParaRPr lang="en-US" sz="2000" baseline="-25000" dirty="0"/>
          </a:p>
          <a:p>
            <a:pPr marL="457200" indent="-457200">
              <a:buNone/>
            </a:pPr>
            <a:r>
              <a:rPr lang="en-US" sz="2000" dirty="0"/>
              <a:t>a) </a:t>
            </a:r>
            <a:r>
              <a:rPr lang="en-US" sz="2000" dirty="0" err="1"/>
              <a:t>v</a:t>
            </a:r>
            <a:r>
              <a:rPr lang="en-US" sz="2000" baseline="-25000" dirty="0" err="1"/>
              <a:t>s</a:t>
            </a:r>
            <a:r>
              <a:rPr lang="en-US" sz="2000" dirty="0"/>
              <a:t>      ;     b) The power absorbed by the independent voltage source,</a:t>
            </a:r>
          </a:p>
          <a:p>
            <a:pPr marL="457200" indent="-457200">
              <a:buNone/>
            </a:pPr>
            <a:r>
              <a:rPr lang="en-US" sz="2000" dirty="0"/>
              <a:t>c) The power delivered by the independent current source,</a:t>
            </a:r>
          </a:p>
          <a:p>
            <a:pPr marL="457200" indent="-457200">
              <a:buNone/>
            </a:pPr>
            <a:r>
              <a:rPr lang="en-US" sz="2000" dirty="0"/>
              <a:t>d) The power delivered by the controlled current source,</a:t>
            </a:r>
          </a:p>
          <a:p>
            <a:pPr marL="457200" indent="-457200">
              <a:buNone/>
            </a:pPr>
            <a:r>
              <a:rPr lang="en-US" sz="2000" dirty="0"/>
              <a:t>e) The total power dissipated in the two resistors.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57CEED-90C7-4FD0-AB8C-14085BB9151E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69" name="Slide Number Placeholder 3"/>
          <p:cNvSpPr txBox="1">
            <a:spLocks/>
          </p:cNvSpPr>
          <p:nvPr/>
        </p:nvSpPr>
        <p:spPr>
          <a:xfrm>
            <a:off x="0" y="6492875"/>
            <a:ext cx="1257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Ali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Muhtaroğlu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918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895600"/>
            <a:ext cx="3801441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91844" name="Object 4"/>
          <p:cNvGraphicFramePr>
            <a:graphicFrameLocks noChangeAspect="1"/>
          </p:cNvGraphicFramePr>
          <p:nvPr/>
        </p:nvGraphicFramePr>
        <p:xfrm>
          <a:off x="4552950" y="3335338"/>
          <a:ext cx="4057650" cy="346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79480" imgH="2438280" progId="Equation.3">
                  <p:embed/>
                </p:oleObj>
              </mc:Choice>
              <mc:Fallback>
                <p:oleObj name="Equation" r:id="rId3" imgW="2679480" imgH="2438280" progId="Equation.3">
                  <p:embed/>
                  <p:pic>
                    <p:nvPicPr>
                      <p:cNvPr id="291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3335338"/>
                        <a:ext cx="4057650" cy="3465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81500" y="2895600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Solution (continued):</a:t>
            </a:r>
            <a:endParaRPr lang="tr-TR" u="sng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324100" y="4267200"/>
            <a:ext cx="3048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24100" y="422910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1</a:t>
            </a:r>
            <a:endParaRPr lang="tr-TR" baseline="-25000" dirty="0"/>
          </a:p>
        </p:txBody>
      </p:sp>
      <p:sp>
        <p:nvSpPr>
          <p:cNvPr id="14" name="TextBox 13"/>
          <p:cNvSpPr txBox="1"/>
          <p:nvPr/>
        </p:nvSpPr>
        <p:spPr>
          <a:xfrm>
            <a:off x="3924300" y="419100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r>
              <a:rPr lang="en-US" baseline="-25000" dirty="0"/>
              <a:t>s</a:t>
            </a:r>
            <a:endParaRPr lang="tr-TR" baseline="-25000" dirty="0"/>
          </a:p>
        </p:txBody>
      </p:sp>
      <p:cxnSp>
        <p:nvCxnSpPr>
          <p:cNvPr id="15" name="Straight Arrow Connector 14"/>
          <p:cNvCxnSpPr/>
          <p:nvPr/>
        </p:nvCxnSpPr>
        <p:spPr>
          <a:xfrm rot="5400000">
            <a:off x="3772694" y="4342606"/>
            <a:ext cx="3048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43000" y="434340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+</a:t>
            </a:r>
            <a:endParaRPr lang="tr-TR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1143000" y="5067300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</a:t>
            </a:r>
            <a:endParaRPr lang="tr-TR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138958" y="468630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1</a:t>
            </a:r>
            <a:endParaRPr lang="tr-TR" baseline="-25000" dirty="0"/>
          </a:p>
        </p:txBody>
      </p:sp>
      <p:sp>
        <p:nvSpPr>
          <p:cNvPr id="19" name="TextBox 18"/>
          <p:cNvSpPr txBox="1"/>
          <p:nvPr/>
        </p:nvSpPr>
        <p:spPr>
          <a:xfrm>
            <a:off x="3162300" y="361950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+</a:t>
            </a:r>
            <a:endParaRPr lang="tr-TR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2461122" y="3619500"/>
            <a:ext cx="243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-</a:t>
            </a:r>
            <a:endParaRPr lang="tr-TR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2743200" y="3543300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  <a:r>
              <a:rPr lang="el-GR" baseline="-25000" dirty="0"/>
              <a:t>ϕ</a:t>
            </a:r>
            <a:endParaRPr lang="tr-TR" baseline="-25000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24542</TotalTime>
  <Words>2215</Words>
  <Application>Microsoft Office PowerPoint</Application>
  <PresentationFormat>On-screen Show (4:3)</PresentationFormat>
  <Paragraphs>587</Paragraphs>
  <Slides>39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Trebuchet MS</vt:lpstr>
      <vt:lpstr>Wingdings</vt:lpstr>
      <vt:lpstr>Office Theme</vt:lpstr>
      <vt:lpstr>1_Office Theme</vt:lpstr>
      <vt:lpstr>Equation</vt:lpstr>
      <vt:lpstr>PowerPoint Presentation</vt:lpstr>
      <vt:lpstr>Circuit Elements, Ohm’s and Kirchhoff’s Laws  Weeks 2-3  Reading: Nilsson &amp; Riedel Chapter 2</vt:lpstr>
      <vt:lpstr>Lumped-Parameter Circuit Model</vt:lpstr>
      <vt:lpstr>PowerPoint Presentation</vt:lpstr>
      <vt:lpstr>Lumped-Parameter Circuit Model</vt:lpstr>
      <vt:lpstr>Lumped-Parameter Circuit Model</vt:lpstr>
      <vt:lpstr>PowerPoint Presentation</vt:lpstr>
      <vt:lpstr>PowerPoint Presentation</vt:lpstr>
      <vt:lpstr>PowerPoint Presentation</vt:lpstr>
      <vt:lpstr>Series Voltage Sources</vt:lpstr>
      <vt:lpstr>Series Voltage Sources</vt:lpstr>
      <vt:lpstr>Parallel Current Sources</vt:lpstr>
      <vt:lpstr>Parallel Current Sources</vt:lpstr>
      <vt:lpstr>Example</vt:lpstr>
      <vt:lpstr>Example</vt:lpstr>
      <vt:lpstr>Example 2</vt:lpstr>
      <vt:lpstr>Example 2</vt:lpstr>
      <vt:lpstr>Example 3</vt:lpstr>
      <vt:lpstr>Example 3</vt:lpstr>
      <vt:lpstr>Resistance and Resistivity</vt:lpstr>
      <vt:lpstr>Ohm’s Law</vt:lpstr>
      <vt:lpstr>Conductance (G)</vt:lpstr>
      <vt:lpstr>Example</vt:lpstr>
      <vt:lpstr>Example</vt:lpstr>
      <vt:lpstr>PowerPoint Presentation</vt:lpstr>
      <vt:lpstr>Kirchhoff’s Current Law (KCL)</vt:lpstr>
      <vt:lpstr>Kirchhoff’s Current Law (KCL)</vt:lpstr>
      <vt:lpstr>Kirchhoff’s Voltage Law (KVL)</vt:lpstr>
      <vt:lpstr>Kirchhoff’s Voltage Law (KVL)</vt:lpstr>
      <vt:lpstr>Kirchhoff’s Voltage Law (KVL)</vt:lpstr>
      <vt:lpstr>Example</vt:lpstr>
      <vt:lpstr>Example</vt:lpstr>
      <vt:lpstr>Example 2</vt:lpstr>
      <vt:lpstr>Example 2 (continued)</vt:lpstr>
      <vt:lpstr>Example 3 (Ex 2.10)</vt:lpstr>
      <vt:lpstr>Example 3 (Ex 2.10)</vt:lpstr>
      <vt:lpstr>Example 4 (AP 2.10)</vt:lpstr>
      <vt:lpstr>Example 4 (AP 2.10)</vt:lpstr>
      <vt:lpstr>Example 4 (AP 2.10)</vt:lpstr>
    </vt:vector>
  </TitlesOfParts>
  <Company>Muhtaroglu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Signals and Systems I EEE-301 Lecture Notes</dc:title>
  <dc:creator>Ali</dc:creator>
  <cp:lastModifiedBy>Yağmur CAN</cp:lastModifiedBy>
  <cp:revision>549</cp:revision>
  <dcterms:created xsi:type="dcterms:W3CDTF">2007-08-31T13:08:21Z</dcterms:created>
  <dcterms:modified xsi:type="dcterms:W3CDTF">2023-11-30T20:18:36Z</dcterms:modified>
</cp:coreProperties>
</file>