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5E_0.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4" r:id="rId2"/>
    <p:sldMasterId id="2147483686" r:id="rId3"/>
  </p:sldMasterIdLst>
  <p:notesMasterIdLst>
    <p:notesMasterId r:id="rId53"/>
  </p:notesMasterIdLst>
  <p:handoutMasterIdLst>
    <p:handoutMasterId r:id="rId54"/>
  </p:handoutMasterIdLst>
  <p:sldIdLst>
    <p:sldId id="464" r:id="rId4"/>
    <p:sldId id="291" r:id="rId5"/>
    <p:sldId id="501" r:id="rId6"/>
    <p:sldId id="333" r:id="rId7"/>
    <p:sldId id="342" r:id="rId8"/>
    <p:sldId id="499" r:id="rId9"/>
    <p:sldId id="334" r:id="rId10"/>
    <p:sldId id="335" r:id="rId11"/>
    <p:sldId id="343" r:id="rId12"/>
    <p:sldId id="407" r:id="rId13"/>
    <p:sldId id="408" r:id="rId14"/>
    <p:sldId id="500" r:id="rId15"/>
    <p:sldId id="340" r:id="rId16"/>
    <p:sldId id="345" r:id="rId17"/>
    <p:sldId id="346" r:id="rId18"/>
    <p:sldId id="349" r:id="rId19"/>
    <p:sldId id="350" r:id="rId20"/>
    <p:sldId id="414" r:id="rId21"/>
    <p:sldId id="415" r:id="rId22"/>
    <p:sldId id="416" r:id="rId23"/>
    <p:sldId id="417" r:id="rId24"/>
    <p:sldId id="418" r:id="rId25"/>
    <p:sldId id="419" r:id="rId26"/>
    <p:sldId id="420" r:id="rId27"/>
    <p:sldId id="421" r:id="rId28"/>
    <p:sldId id="422" r:id="rId29"/>
    <p:sldId id="465" r:id="rId30"/>
    <p:sldId id="466" r:id="rId31"/>
    <p:sldId id="467" r:id="rId32"/>
    <p:sldId id="468" r:id="rId33"/>
    <p:sldId id="469" r:id="rId34"/>
    <p:sldId id="502" r:id="rId35"/>
    <p:sldId id="482" r:id="rId36"/>
    <p:sldId id="483" r:id="rId37"/>
    <p:sldId id="484" r:id="rId38"/>
    <p:sldId id="485" r:id="rId39"/>
    <p:sldId id="486" r:id="rId40"/>
    <p:sldId id="488" r:id="rId41"/>
    <p:sldId id="487" r:id="rId42"/>
    <p:sldId id="489" r:id="rId43"/>
    <p:sldId id="490" r:id="rId44"/>
    <p:sldId id="491" r:id="rId45"/>
    <p:sldId id="492" r:id="rId46"/>
    <p:sldId id="493" r:id="rId47"/>
    <p:sldId id="494" r:id="rId48"/>
    <p:sldId id="495" r:id="rId49"/>
    <p:sldId id="496" r:id="rId50"/>
    <p:sldId id="497" r:id="rId51"/>
    <p:sldId id="498" r:id="rId52"/>
  </p:sldIdLst>
  <p:sldSz cx="9144000" cy="6858000" type="screen4x3"/>
  <p:notesSz cx="6791325" cy="9923463"/>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6">
          <p15:clr>
            <a:srgbClr val="A4A3A4"/>
          </p15:clr>
        </p15:guide>
        <p15:guide id="2" pos="214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179FC9B-D91B-7163-829F-830A43F7DB53}" name="Yağmur CAN" initials="YC" userId="S::yagmur.can@metu.edu.tr::a72a0d38-c58c-469d-bbc7-21a460a3a21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2" autoAdjust="0"/>
    <p:restoredTop sz="94604" autoAdjust="0"/>
  </p:normalViewPr>
  <p:slideViewPr>
    <p:cSldViewPr>
      <p:cViewPr varScale="1">
        <p:scale>
          <a:sx n="82" d="100"/>
          <a:sy n="82" d="100"/>
        </p:scale>
        <p:origin x="1478"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6488"/>
    </p:cViewPr>
  </p:sorterViewPr>
  <p:notesViewPr>
    <p:cSldViewPr>
      <p:cViewPr varScale="1">
        <p:scale>
          <a:sx n="58" d="100"/>
          <a:sy n="58" d="100"/>
        </p:scale>
        <p:origin x="-1968" y="-86"/>
      </p:cViewPr>
      <p:guideLst>
        <p:guide orient="horz" pos="3126"/>
        <p:guide pos="2140"/>
      </p:guideLst>
    </p:cSldViewPr>
  </p:notesViewPr>
  <p:gridSpacing cx="38405" cy="38405"/>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microsoft.com/office/2018/10/relationships/authors" Target="author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heme" Target="theme/theme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comments/modernComment_15E_0.xml><?xml version="1.0" encoding="utf-8"?>
<p188:cmLst xmlns:a="http://schemas.openxmlformats.org/drawingml/2006/main" xmlns:r="http://schemas.openxmlformats.org/officeDocument/2006/relationships" xmlns:p188="http://schemas.microsoft.com/office/powerpoint/2018/8/main">
  <p188:cm id="{BB01A138-2A52-46D5-94A5-6D1E9198B30B}" authorId="{7179FC9B-D91B-7163-829F-830A43F7DB53}" created="2023-11-30T20:47:37.390">
    <pc:sldMkLst xmlns:pc="http://schemas.microsoft.com/office/powerpoint/2013/main/command">
      <pc:docMk/>
      <pc:sldMk cId="0" sldId="350"/>
    </pc:sldMkLst>
    <p188:txBody>
      <a:bodyPr/>
      <a:lstStyle/>
      <a:p>
        <a:r>
          <a:rPr lang="en-US"/>
          <a:t>Anlamadım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2907" cy="496173"/>
          </a:xfrm>
          <a:prstGeom prst="rect">
            <a:avLst/>
          </a:prstGeom>
        </p:spPr>
        <p:txBody>
          <a:bodyPr vert="horz" lIns="88720" tIns="44360" rIns="88720" bIns="44360" rtlCol="0"/>
          <a:lstStyle>
            <a:lvl1pPr algn="l">
              <a:defRPr sz="1100"/>
            </a:lvl1pPr>
          </a:lstStyle>
          <a:p>
            <a:endParaRPr lang="en-US"/>
          </a:p>
        </p:txBody>
      </p:sp>
      <p:sp>
        <p:nvSpPr>
          <p:cNvPr id="3" name="Date Placeholder 2"/>
          <p:cNvSpPr>
            <a:spLocks noGrp="1"/>
          </p:cNvSpPr>
          <p:nvPr>
            <p:ph type="dt" sz="quarter" idx="1"/>
          </p:nvPr>
        </p:nvSpPr>
        <p:spPr>
          <a:xfrm>
            <a:off x="3846846" y="1"/>
            <a:ext cx="2942907" cy="496173"/>
          </a:xfrm>
          <a:prstGeom prst="rect">
            <a:avLst/>
          </a:prstGeom>
        </p:spPr>
        <p:txBody>
          <a:bodyPr vert="horz" lIns="88720" tIns="44360" rIns="88720" bIns="44360" rtlCol="0"/>
          <a:lstStyle>
            <a:lvl1pPr algn="r">
              <a:defRPr sz="1100"/>
            </a:lvl1pPr>
          </a:lstStyle>
          <a:p>
            <a:fld id="{88317F73-780A-44BC-8CEB-6A904FAD50C3}" type="datetimeFigureOut">
              <a:rPr lang="en-US" smtClean="0"/>
              <a:pPr/>
              <a:t>12/1/2023</a:t>
            </a:fld>
            <a:endParaRPr lang="en-US"/>
          </a:p>
        </p:txBody>
      </p:sp>
      <p:sp>
        <p:nvSpPr>
          <p:cNvPr id="4" name="Footer Placeholder 3"/>
          <p:cNvSpPr>
            <a:spLocks noGrp="1"/>
          </p:cNvSpPr>
          <p:nvPr>
            <p:ph type="ftr" sz="quarter" idx="2"/>
          </p:nvPr>
        </p:nvSpPr>
        <p:spPr>
          <a:xfrm>
            <a:off x="1" y="9425567"/>
            <a:ext cx="2942907" cy="496173"/>
          </a:xfrm>
          <a:prstGeom prst="rect">
            <a:avLst/>
          </a:prstGeom>
        </p:spPr>
        <p:txBody>
          <a:bodyPr vert="horz" lIns="88720" tIns="44360" rIns="88720" bIns="44360" rtlCol="0" anchor="b"/>
          <a:lstStyle>
            <a:lvl1pPr algn="l">
              <a:defRPr sz="1100"/>
            </a:lvl1pPr>
          </a:lstStyle>
          <a:p>
            <a:r>
              <a:rPr lang="en-US" dirty="0"/>
              <a:t>Ali Muhtaroglu EEE-201 Fall 2008</a:t>
            </a:r>
          </a:p>
        </p:txBody>
      </p:sp>
      <p:sp>
        <p:nvSpPr>
          <p:cNvPr id="5" name="Slide Number Placeholder 4"/>
          <p:cNvSpPr>
            <a:spLocks noGrp="1"/>
          </p:cNvSpPr>
          <p:nvPr>
            <p:ph type="sldNum" sz="quarter" idx="3"/>
          </p:nvPr>
        </p:nvSpPr>
        <p:spPr>
          <a:xfrm>
            <a:off x="3846846" y="9425567"/>
            <a:ext cx="2942907" cy="496173"/>
          </a:xfrm>
          <a:prstGeom prst="rect">
            <a:avLst/>
          </a:prstGeom>
        </p:spPr>
        <p:txBody>
          <a:bodyPr vert="horz" lIns="88720" tIns="44360" rIns="88720" bIns="44360" rtlCol="0" anchor="b"/>
          <a:lstStyle>
            <a:lvl1pPr algn="r">
              <a:defRPr sz="1100"/>
            </a:lvl1pPr>
          </a:lstStyle>
          <a:p>
            <a:fld id="{14CCCDEF-E892-426B-951E-3DF22639A05B}" type="slidenum">
              <a:rPr lang="en-US" smtClean="0"/>
              <a:pPr/>
              <a:t>‹#›</a:t>
            </a:fld>
            <a:endParaRPr lang="en-US"/>
          </a:p>
        </p:txBody>
      </p:sp>
    </p:spTree>
    <p:extLst>
      <p:ext uri="{BB962C8B-B14F-4D97-AF65-F5344CB8AC3E}">
        <p14:creationId xmlns:p14="http://schemas.microsoft.com/office/powerpoint/2010/main" val="18626248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2907" cy="496173"/>
          </a:xfrm>
          <a:prstGeom prst="rect">
            <a:avLst/>
          </a:prstGeom>
        </p:spPr>
        <p:txBody>
          <a:bodyPr vert="horz" lIns="88720" tIns="44360" rIns="88720" bIns="44360" rtlCol="0"/>
          <a:lstStyle>
            <a:lvl1pPr algn="l">
              <a:defRPr sz="1100"/>
            </a:lvl1pPr>
          </a:lstStyle>
          <a:p>
            <a:endParaRPr lang="en-US"/>
          </a:p>
        </p:txBody>
      </p:sp>
      <p:sp>
        <p:nvSpPr>
          <p:cNvPr id="3" name="Date Placeholder 2"/>
          <p:cNvSpPr>
            <a:spLocks noGrp="1"/>
          </p:cNvSpPr>
          <p:nvPr>
            <p:ph type="dt" idx="1"/>
          </p:nvPr>
        </p:nvSpPr>
        <p:spPr>
          <a:xfrm>
            <a:off x="3846846" y="1"/>
            <a:ext cx="2942907" cy="496173"/>
          </a:xfrm>
          <a:prstGeom prst="rect">
            <a:avLst/>
          </a:prstGeom>
        </p:spPr>
        <p:txBody>
          <a:bodyPr vert="horz" lIns="88720" tIns="44360" rIns="88720" bIns="44360" rtlCol="0"/>
          <a:lstStyle>
            <a:lvl1pPr algn="r">
              <a:defRPr sz="1100"/>
            </a:lvl1pPr>
          </a:lstStyle>
          <a:p>
            <a:fld id="{FEE8148B-16E5-4DB6-B21A-06F7282DA7B2}" type="datetimeFigureOut">
              <a:rPr lang="en-US" smtClean="0"/>
              <a:pPr/>
              <a:t>12/1/2023</a:t>
            </a:fld>
            <a:endParaRPr lang="en-US"/>
          </a:p>
        </p:txBody>
      </p:sp>
      <p:sp>
        <p:nvSpPr>
          <p:cNvPr id="4" name="Slide Image Placeholder 3"/>
          <p:cNvSpPr>
            <a:spLocks noGrp="1" noRot="1" noChangeAspect="1"/>
          </p:cNvSpPr>
          <p:nvPr>
            <p:ph type="sldImg" idx="2"/>
          </p:nvPr>
        </p:nvSpPr>
        <p:spPr>
          <a:xfrm>
            <a:off x="915988" y="746125"/>
            <a:ext cx="4959350" cy="3719513"/>
          </a:xfrm>
          <a:prstGeom prst="rect">
            <a:avLst/>
          </a:prstGeom>
          <a:noFill/>
          <a:ln w="12700">
            <a:solidFill>
              <a:prstClr val="black"/>
            </a:solidFill>
          </a:ln>
        </p:spPr>
        <p:txBody>
          <a:bodyPr vert="horz" lIns="88720" tIns="44360" rIns="88720" bIns="44360" rtlCol="0" anchor="ctr"/>
          <a:lstStyle/>
          <a:p>
            <a:endParaRPr lang="en-US"/>
          </a:p>
        </p:txBody>
      </p:sp>
      <p:sp>
        <p:nvSpPr>
          <p:cNvPr id="5" name="Notes Placeholder 4"/>
          <p:cNvSpPr>
            <a:spLocks noGrp="1"/>
          </p:cNvSpPr>
          <p:nvPr>
            <p:ph type="body" sz="quarter" idx="3"/>
          </p:nvPr>
        </p:nvSpPr>
        <p:spPr>
          <a:xfrm>
            <a:off x="679133" y="4713647"/>
            <a:ext cx="5433060" cy="4465558"/>
          </a:xfrm>
          <a:prstGeom prst="rect">
            <a:avLst/>
          </a:prstGeom>
        </p:spPr>
        <p:txBody>
          <a:bodyPr vert="horz" lIns="88720" tIns="44360" rIns="88720" bIns="4436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425567"/>
            <a:ext cx="2942907" cy="496173"/>
          </a:xfrm>
          <a:prstGeom prst="rect">
            <a:avLst/>
          </a:prstGeom>
        </p:spPr>
        <p:txBody>
          <a:bodyPr vert="horz" lIns="88720" tIns="44360" rIns="88720" bIns="44360" rtlCol="0" anchor="b"/>
          <a:lstStyle>
            <a:lvl1pPr algn="l">
              <a:defRPr sz="1100"/>
            </a:lvl1pPr>
          </a:lstStyle>
          <a:p>
            <a:endParaRPr lang="en-US"/>
          </a:p>
        </p:txBody>
      </p:sp>
      <p:sp>
        <p:nvSpPr>
          <p:cNvPr id="7" name="Slide Number Placeholder 6"/>
          <p:cNvSpPr>
            <a:spLocks noGrp="1"/>
          </p:cNvSpPr>
          <p:nvPr>
            <p:ph type="sldNum" sz="quarter" idx="5"/>
          </p:nvPr>
        </p:nvSpPr>
        <p:spPr>
          <a:xfrm>
            <a:off x="3846846" y="9425567"/>
            <a:ext cx="2942907" cy="496173"/>
          </a:xfrm>
          <a:prstGeom prst="rect">
            <a:avLst/>
          </a:prstGeom>
        </p:spPr>
        <p:txBody>
          <a:bodyPr vert="horz" lIns="88720" tIns="44360" rIns="88720" bIns="44360" rtlCol="0" anchor="b"/>
          <a:lstStyle>
            <a:lvl1pPr algn="r">
              <a:defRPr sz="1100"/>
            </a:lvl1pPr>
          </a:lstStyle>
          <a:p>
            <a:fld id="{E15A28F2-8CAD-4F56-A39E-6A4BC478584B}" type="slidenum">
              <a:rPr lang="en-US" smtClean="0"/>
              <a:pPr/>
              <a:t>‹#›</a:t>
            </a:fld>
            <a:endParaRPr lang="en-US"/>
          </a:p>
        </p:txBody>
      </p:sp>
    </p:spTree>
    <p:extLst>
      <p:ext uri="{BB962C8B-B14F-4D97-AF65-F5344CB8AC3E}">
        <p14:creationId xmlns:p14="http://schemas.microsoft.com/office/powerpoint/2010/main" val="1246963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3419048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5A28F2-8CAD-4F56-A39E-6A4BC478584B}" type="slidenum">
              <a:rPr lang="en-US" smtClean="0"/>
              <a:pPr/>
              <a:t>5</a:t>
            </a:fld>
            <a:endParaRPr lang="en-US"/>
          </a:p>
        </p:txBody>
      </p:sp>
    </p:spTree>
    <p:extLst>
      <p:ext uri="{BB962C8B-B14F-4D97-AF65-F5344CB8AC3E}">
        <p14:creationId xmlns:p14="http://schemas.microsoft.com/office/powerpoint/2010/main" val="3785116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32</a:t>
            </a:fld>
            <a:endParaRPr lang="en-US"/>
          </a:p>
        </p:txBody>
      </p:sp>
    </p:spTree>
    <p:extLst>
      <p:ext uri="{BB962C8B-B14F-4D97-AF65-F5344CB8AC3E}">
        <p14:creationId xmlns:p14="http://schemas.microsoft.com/office/powerpoint/2010/main" val="1805579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33</a:t>
            </a:fld>
            <a:endParaRPr lang="en-US"/>
          </a:p>
        </p:txBody>
      </p:sp>
    </p:spTree>
    <p:extLst>
      <p:ext uri="{BB962C8B-B14F-4D97-AF65-F5344CB8AC3E}">
        <p14:creationId xmlns:p14="http://schemas.microsoft.com/office/powerpoint/2010/main" val="2681465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34</a:t>
            </a:fld>
            <a:endParaRPr lang="en-US"/>
          </a:p>
        </p:txBody>
      </p:sp>
    </p:spTree>
    <p:extLst>
      <p:ext uri="{BB962C8B-B14F-4D97-AF65-F5344CB8AC3E}">
        <p14:creationId xmlns:p14="http://schemas.microsoft.com/office/powerpoint/2010/main" val="2792424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35</a:t>
            </a:fld>
            <a:endParaRPr lang="en-US"/>
          </a:p>
        </p:txBody>
      </p:sp>
    </p:spTree>
    <p:extLst>
      <p:ext uri="{BB962C8B-B14F-4D97-AF65-F5344CB8AC3E}">
        <p14:creationId xmlns:p14="http://schemas.microsoft.com/office/powerpoint/2010/main" val="6228301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36</a:t>
            </a:fld>
            <a:endParaRPr lang="en-US"/>
          </a:p>
        </p:txBody>
      </p:sp>
    </p:spTree>
    <p:extLst>
      <p:ext uri="{BB962C8B-B14F-4D97-AF65-F5344CB8AC3E}">
        <p14:creationId xmlns:p14="http://schemas.microsoft.com/office/powerpoint/2010/main" val="3625177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37</a:t>
            </a:fld>
            <a:endParaRPr lang="en-US"/>
          </a:p>
        </p:txBody>
      </p:sp>
    </p:spTree>
    <p:extLst>
      <p:ext uri="{BB962C8B-B14F-4D97-AF65-F5344CB8AC3E}">
        <p14:creationId xmlns:p14="http://schemas.microsoft.com/office/powerpoint/2010/main" val="7600140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38</a:t>
            </a:fld>
            <a:endParaRPr lang="en-US"/>
          </a:p>
        </p:txBody>
      </p:sp>
    </p:spTree>
    <p:extLst>
      <p:ext uri="{BB962C8B-B14F-4D97-AF65-F5344CB8AC3E}">
        <p14:creationId xmlns:p14="http://schemas.microsoft.com/office/powerpoint/2010/main" val="38662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39</a:t>
            </a:fld>
            <a:endParaRPr lang="en-US"/>
          </a:p>
        </p:txBody>
      </p:sp>
    </p:spTree>
    <p:extLst>
      <p:ext uri="{BB962C8B-B14F-4D97-AF65-F5344CB8AC3E}">
        <p14:creationId xmlns:p14="http://schemas.microsoft.com/office/powerpoint/2010/main" val="2119568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40</a:t>
            </a:fld>
            <a:endParaRPr lang="en-US"/>
          </a:p>
        </p:txBody>
      </p:sp>
    </p:spTree>
    <p:extLst>
      <p:ext uri="{BB962C8B-B14F-4D97-AF65-F5344CB8AC3E}">
        <p14:creationId xmlns:p14="http://schemas.microsoft.com/office/powerpoint/2010/main" val="28045426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41</a:t>
            </a:fld>
            <a:endParaRPr lang="en-US"/>
          </a:p>
        </p:txBody>
      </p:sp>
    </p:spTree>
    <p:extLst>
      <p:ext uri="{BB962C8B-B14F-4D97-AF65-F5344CB8AC3E}">
        <p14:creationId xmlns:p14="http://schemas.microsoft.com/office/powerpoint/2010/main" val="1627374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15A28F2-8CAD-4F56-A39E-6A4BC478584B}" type="slidenum">
              <a:rPr lang="en-US" smtClean="0"/>
              <a:pPr/>
              <a:t>42</a:t>
            </a:fld>
            <a:endParaRPr lang="en-US"/>
          </a:p>
        </p:txBody>
      </p:sp>
    </p:spTree>
    <p:extLst>
      <p:ext uri="{BB962C8B-B14F-4D97-AF65-F5344CB8AC3E}">
        <p14:creationId xmlns:p14="http://schemas.microsoft.com/office/powerpoint/2010/main" val="26235836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BDAAAD-E2BD-478B-A1EE-2372CE6BCD2E}" type="slidenum">
              <a:rPr kumimoji="0" lang="en-US" sz="1100" b="0" i="0" u="none" strike="noStrike" kern="1200" cap="none" spc="0" normalizeH="0" baseline="0" noProof="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sz="1100" b="0" i="0" u="none" strike="noStrike" kern="1200" cap="none" spc="0" normalizeH="0" baseline="0" noProof="0">
              <a:ln>
                <a:noFill/>
              </a:ln>
              <a:solidFill>
                <a:prstClr val="black"/>
              </a:solidFill>
              <a:effectLst/>
              <a:uLnTx/>
              <a:uFillTx/>
              <a:latin typeface="Arial" charset="0"/>
              <a:ea typeface="+mn-ea"/>
              <a:cs typeface="+mn-cs"/>
            </a:endParaRPr>
          </a:p>
        </p:txBody>
      </p:sp>
      <p:sp>
        <p:nvSpPr>
          <p:cNvPr id="225283" name="Rectangle 2"/>
          <p:cNvSpPr>
            <a:spLocks noGrp="1" noRot="1" noChangeAspect="1" noChangeArrowheads="1" noTextEdit="1"/>
          </p:cNvSpPr>
          <p:nvPr>
            <p:ph type="sldImg"/>
          </p:nvPr>
        </p:nvSpPr>
        <p:spPr>
          <a:ln/>
        </p:spPr>
      </p:sp>
      <p:sp>
        <p:nvSpPr>
          <p:cNvPr id="2252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626604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2452AE0-9A38-43C8-9082-A9E7E9BA0F8B}" type="slidenum">
              <a:rPr kumimoji="0" lang="en-US" sz="1100" b="0" i="0" u="none" strike="noStrike" kern="1200" cap="none" spc="0" normalizeH="0" baseline="0" noProof="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sz="1100" b="0" i="0" u="none" strike="noStrike" kern="1200" cap="none" spc="0" normalizeH="0" baseline="0" noProof="0">
              <a:ln>
                <a:noFill/>
              </a:ln>
              <a:solidFill>
                <a:prstClr val="black"/>
              </a:solidFill>
              <a:effectLst/>
              <a:uLnTx/>
              <a:uFillTx/>
              <a:latin typeface="Arial" charset="0"/>
              <a:ea typeface="+mn-ea"/>
              <a:cs typeface="+mn-cs"/>
            </a:endParaRPr>
          </a:p>
        </p:txBody>
      </p:sp>
      <p:sp>
        <p:nvSpPr>
          <p:cNvPr id="226307" name="Rectangle 2"/>
          <p:cNvSpPr>
            <a:spLocks noGrp="1" noRot="1" noChangeAspect="1" noChangeArrowheads="1" noTextEdit="1"/>
          </p:cNvSpPr>
          <p:nvPr>
            <p:ph type="sldImg"/>
          </p:nvPr>
        </p:nvSpPr>
        <p:spPr>
          <a:ln/>
        </p:spPr>
      </p:sp>
      <p:sp>
        <p:nvSpPr>
          <p:cNvPr id="22630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1440225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904D9B4-3524-4CFD-B142-006EB676AAFA}" type="slidenum">
              <a:rPr kumimoji="0" lang="en-US" sz="1100" b="0" i="0" u="none" strike="noStrike" kern="1200" cap="none" spc="0" normalizeH="0" baseline="0" noProof="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sz="1100" b="0" i="0" u="none" strike="noStrike" kern="1200" cap="none" spc="0" normalizeH="0" baseline="0" noProof="0">
              <a:ln>
                <a:noFill/>
              </a:ln>
              <a:solidFill>
                <a:prstClr val="black"/>
              </a:solidFill>
              <a:effectLst/>
              <a:uLnTx/>
              <a:uFillTx/>
              <a:latin typeface="Arial" charset="0"/>
              <a:ea typeface="+mn-ea"/>
              <a:cs typeface="+mn-cs"/>
            </a:endParaRPr>
          </a:p>
        </p:txBody>
      </p:sp>
      <p:sp>
        <p:nvSpPr>
          <p:cNvPr id="227331" name="Rectangle 2"/>
          <p:cNvSpPr>
            <a:spLocks noGrp="1" noRot="1" noChangeAspect="1" noChangeArrowheads="1" noTextEdit="1"/>
          </p:cNvSpPr>
          <p:nvPr>
            <p:ph type="sldImg"/>
          </p:nvPr>
        </p:nvSpPr>
        <p:spPr>
          <a:ln/>
        </p:spPr>
      </p:sp>
      <p:sp>
        <p:nvSpPr>
          <p:cNvPr id="22733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317572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9C2145F-02AA-4C53-B894-E7E317063728}" type="slidenum">
              <a:rPr kumimoji="0" lang="en-US" sz="1100" b="0" i="0" u="none" strike="noStrike" kern="1200" cap="none" spc="0" normalizeH="0" baseline="0" noProof="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sz="1100" b="0" i="0" u="none" strike="noStrike" kern="1200" cap="none" spc="0" normalizeH="0" baseline="0" noProof="0">
              <a:ln>
                <a:noFill/>
              </a:ln>
              <a:solidFill>
                <a:prstClr val="black"/>
              </a:solidFill>
              <a:effectLst/>
              <a:uLnTx/>
              <a:uFillTx/>
              <a:latin typeface="Arial" charset="0"/>
              <a:ea typeface="+mn-ea"/>
              <a:cs typeface="+mn-cs"/>
            </a:endParaRPr>
          </a:p>
        </p:txBody>
      </p:sp>
      <p:sp>
        <p:nvSpPr>
          <p:cNvPr id="236547" name="Rectangle 2"/>
          <p:cNvSpPr>
            <a:spLocks noGrp="1" noRot="1" noChangeAspect="1" noChangeArrowheads="1" noTextEdit="1"/>
          </p:cNvSpPr>
          <p:nvPr>
            <p:ph type="sldImg"/>
          </p:nvPr>
        </p:nvSpPr>
        <p:spPr>
          <a:ln/>
        </p:spPr>
      </p:sp>
      <p:sp>
        <p:nvSpPr>
          <p:cNvPr id="2365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1956388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9C2145F-02AA-4C53-B894-E7E317063728}" type="slidenum">
              <a:rPr kumimoji="0" lang="en-US" sz="1100" b="0" i="0" u="none" strike="noStrike" kern="1200" cap="none" spc="0" normalizeH="0" baseline="0" noProof="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sz="1100" b="0" i="0" u="none" strike="noStrike" kern="1200" cap="none" spc="0" normalizeH="0" baseline="0" noProof="0">
              <a:ln>
                <a:noFill/>
              </a:ln>
              <a:solidFill>
                <a:prstClr val="black"/>
              </a:solidFill>
              <a:effectLst/>
              <a:uLnTx/>
              <a:uFillTx/>
              <a:latin typeface="Arial" charset="0"/>
              <a:ea typeface="+mn-ea"/>
              <a:cs typeface="+mn-cs"/>
            </a:endParaRPr>
          </a:p>
        </p:txBody>
      </p:sp>
      <p:sp>
        <p:nvSpPr>
          <p:cNvPr id="236547" name="Rectangle 2"/>
          <p:cNvSpPr>
            <a:spLocks noGrp="1" noRot="1" noChangeAspect="1" noChangeArrowheads="1" noTextEdit="1"/>
          </p:cNvSpPr>
          <p:nvPr>
            <p:ph type="sldImg"/>
          </p:nvPr>
        </p:nvSpPr>
        <p:spPr>
          <a:ln/>
        </p:spPr>
      </p:sp>
      <p:sp>
        <p:nvSpPr>
          <p:cNvPr id="2365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0181414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B3428DD-DC90-40D5-B9FB-78CCF6E89C88}" type="slidenum">
              <a:rPr kumimoji="0" lang="en-US" sz="1100" b="0" i="0" u="none" strike="noStrike" kern="1200" cap="none" spc="0" normalizeH="0" baseline="0" noProof="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sz="1100" b="0" i="0" u="none" strike="noStrike" kern="1200" cap="none" spc="0" normalizeH="0" baseline="0" noProof="0">
              <a:ln>
                <a:noFill/>
              </a:ln>
              <a:solidFill>
                <a:prstClr val="black"/>
              </a:solidFill>
              <a:effectLst/>
              <a:uLnTx/>
              <a:uFillTx/>
              <a:latin typeface="Arial" charset="0"/>
              <a:ea typeface="+mn-ea"/>
              <a:cs typeface="+mn-cs"/>
            </a:endParaRPr>
          </a:p>
        </p:txBody>
      </p:sp>
      <p:sp>
        <p:nvSpPr>
          <p:cNvPr id="237571" name="Rectangle 2"/>
          <p:cNvSpPr>
            <a:spLocks noGrp="1" noRot="1" noChangeAspect="1" noChangeArrowheads="1" noTextEdit="1"/>
          </p:cNvSpPr>
          <p:nvPr>
            <p:ph type="sldImg"/>
          </p:nvPr>
        </p:nvSpPr>
        <p:spPr>
          <a:ln/>
        </p:spPr>
      </p:sp>
      <p:sp>
        <p:nvSpPr>
          <p:cNvPr id="2375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8946880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B3428DD-DC90-40D5-B9FB-78CCF6E89C88}" type="slidenum">
              <a:rPr kumimoji="0" lang="en-US" sz="1100" b="0" i="0" u="none" strike="noStrike" kern="1200" cap="none" spc="0" normalizeH="0" baseline="0" noProof="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sz="1100" b="0" i="0" u="none" strike="noStrike" kern="1200" cap="none" spc="0" normalizeH="0" baseline="0" noProof="0">
              <a:ln>
                <a:noFill/>
              </a:ln>
              <a:solidFill>
                <a:prstClr val="black"/>
              </a:solidFill>
              <a:effectLst/>
              <a:uLnTx/>
              <a:uFillTx/>
              <a:latin typeface="Arial" charset="0"/>
              <a:ea typeface="+mn-ea"/>
              <a:cs typeface="+mn-cs"/>
            </a:endParaRPr>
          </a:p>
        </p:txBody>
      </p:sp>
      <p:sp>
        <p:nvSpPr>
          <p:cNvPr id="237571" name="Rectangle 2"/>
          <p:cNvSpPr>
            <a:spLocks noGrp="1" noRot="1" noChangeAspect="1" noChangeArrowheads="1" noTextEdit="1"/>
          </p:cNvSpPr>
          <p:nvPr>
            <p:ph type="sldImg"/>
          </p:nvPr>
        </p:nvSpPr>
        <p:spPr>
          <a:ln/>
        </p:spPr>
      </p:sp>
      <p:sp>
        <p:nvSpPr>
          <p:cNvPr id="2375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728564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p:cNvSpPr>
            <a:spLocks noGrp="1"/>
          </p:cNvSpPr>
          <p:nvPr>
            <p:ph type="dt" sz="half" idx="10"/>
          </p:nvPr>
        </p:nvSpPr>
        <p:spPr/>
        <p:txBody>
          <a:bodyPr/>
          <a:lstStyle>
            <a:lvl1pPr>
              <a:defRPr/>
            </a:lvl1pPr>
          </a:lstStyle>
          <a:p>
            <a:pPr>
              <a:defRPr/>
            </a:pPr>
            <a:fld id="{DF085AD2-EAF9-44D4-9DC0-A904DACFF846}" type="datetimeFigureOut">
              <a:rPr lang="en-US"/>
              <a:pPr>
                <a:defRPr/>
              </a:pPr>
              <a:t>12/1/2023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303159B-6DED-40ED-899A-53891BB365C7}" type="slidenum">
              <a:rPr lang="en-US"/>
              <a:pPr>
                <a:defRPr/>
              </a:pPr>
              <a:t>‹#›</a:t>
            </a:fld>
            <a:endParaRPr lang="en-US"/>
          </a:p>
        </p:txBody>
      </p:sp>
      <p:pic>
        <p:nvPicPr>
          <p:cNvPr id="8" name="Picture 2" descr="C:\Users\ali\Documents\prj\metu\webpage\redar\metuncc_emblem_h500.jpg"/>
          <p:cNvPicPr>
            <a:picLocks noChangeAspect="1" noChangeArrowheads="1"/>
          </p:cNvPicPr>
          <p:nvPr userDrawn="1"/>
        </p:nvPicPr>
        <p:blipFill>
          <a:blip r:embed="rId2" cstate="print"/>
          <a:srcRect/>
          <a:stretch>
            <a:fillRect/>
          </a:stretch>
        </p:blipFill>
        <p:spPr bwMode="auto">
          <a:xfrm>
            <a:off x="7124700" y="0"/>
            <a:ext cx="2019300" cy="782638"/>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28082" y="0"/>
            <a:ext cx="1615918" cy="702245"/>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pPr>
              <a:defRPr/>
            </a:pPr>
            <a:fld id="{571111D4-87A2-4FF9-BF16-4D005677BA2C}" type="datetimeFigureOut">
              <a:rPr lang="en-US" smtClean="0"/>
              <a:pPr>
                <a:defRPr/>
              </a:pPr>
              <a:t>12/1/2023</a:t>
            </a:fld>
            <a:endParaRPr lang="en-US"/>
          </a:p>
        </p:txBody>
      </p:sp>
      <p:sp>
        <p:nvSpPr>
          <p:cNvPr id="9" name="Slide Number Placeholder 8"/>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a:t>
            </a:fld>
            <a:endParaRPr lang="en-US" dirty="0"/>
          </a:p>
        </p:txBody>
      </p:sp>
      <p:sp>
        <p:nvSpPr>
          <p:cNvPr id="10" name="Footer Placeholder 9"/>
          <p:cNvSpPr>
            <a:spLocks noGrp="1"/>
          </p:cNvSpPr>
          <p:nvPr>
            <p:ph type="ftr" sz="quarter" idx="12"/>
          </p:nvPr>
        </p:nvSpPr>
        <p:spPr/>
        <p:txBody>
          <a:bodyPr/>
          <a:lstStyle/>
          <a:p>
            <a:pPr>
              <a:defRPr/>
            </a:pPr>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DA220A69-C4DD-4109-A3ED-37F087A1F132}" type="datetimeFigureOut">
              <a:rPr lang="en-US"/>
              <a:pPr>
                <a:defRPr/>
              </a:pPr>
              <a:t>12/1/2023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434C74F-BF3E-4F24-8B3C-16FB0EDD9D8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B42164C4-958C-45BC-BD54-965BB7070DEB}" type="datetimeFigureOut">
              <a:rPr lang="en-US"/>
              <a:pPr>
                <a:defRPr/>
              </a:pPr>
              <a:t>12/1/2023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79941DC-0B2E-48E2-A6F0-9636F82086E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8B2E9F9-703D-4B2D-9EFE-5A284F223768}" type="datetimeFigureOut">
              <a:rPr lang="en-US"/>
              <a:pPr>
                <a:defRPr/>
              </a:pPr>
              <a:t>12/1/2023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C3915964-DF3F-4834-BE59-592FCDF52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2" descr="C:\Users\ali\Documents\prj\metu\webpage\redar\metuncc_emblem_h500.jpg"/>
          <p:cNvPicPr>
            <a:picLocks noChangeAspect="1" noChangeArrowheads="1"/>
          </p:cNvPicPr>
          <p:nvPr userDrawn="1"/>
        </p:nvPicPr>
        <p:blipFill>
          <a:blip r:embed="rId2" cstate="print"/>
          <a:srcRect/>
          <a:stretch>
            <a:fillRect/>
          </a:stretch>
        </p:blipFill>
        <p:spPr bwMode="auto">
          <a:xfrm>
            <a:off x="7124700" y="0"/>
            <a:ext cx="2019300" cy="782638"/>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A66C235-395A-448E-84C7-3296EFFFA653}" type="datetimeFigureOut">
              <a:rPr lang="en-US"/>
              <a:pPr>
                <a:defRPr/>
              </a:pPr>
              <a:t>12/1/2023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AA6C548-C3D6-438F-AF28-F918C44420D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82A89FF-37F9-41AE-A1AE-9FE9D4F65210}" type="datetimeFigureOut">
              <a:rPr lang="en-US"/>
              <a:pPr>
                <a:defRPr/>
              </a:pPr>
              <a:t>12/1/2023</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2D3E618-5168-46D8-9093-4FFD328E4CA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8C32A4D-DBA8-4AC9-A112-BADF4813838F}" type="datetimeFigureOut">
              <a:rPr lang="en-US"/>
              <a:pPr>
                <a:defRPr/>
              </a:pPr>
              <a:t>12/1/2023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E5CE29A-235E-4102-A7BB-AC1422769E12}"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08830A5-9CDD-4A01-AE6C-B7F774C547D9}" type="datetimeFigureOut">
              <a:rPr lang="en-US"/>
              <a:pPr>
                <a:defRPr/>
              </a:pPr>
              <a:t>12/1/2023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55B51D7-DCE0-49C4-9B0B-0EC664849A6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D180D80-6114-402D-A1C1-7E7B8DEED232}" type="datetimeFigureOut">
              <a:rPr lang="en-US"/>
              <a:pPr>
                <a:defRPr/>
              </a:pPr>
              <a:t>12/1/2023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16750E7-EF53-4816-BA7D-520B91DC7E0B}"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3AFF668-FF27-4A48-BBBC-72969536306B}" type="datetimeFigureOut">
              <a:rPr lang="en-US"/>
              <a:pPr>
                <a:defRPr/>
              </a:pPr>
              <a:t>12/1/2023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BE57CBA-45D2-49F3-AE4F-4082575BC865}"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p:cNvSpPr>
            <a:spLocks noGrp="1"/>
          </p:cNvSpPr>
          <p:nvPr>
            <p:ph type="dt" sz="half" idx="10"/>
          </p:nvPr>
        </p:nvSpPr>
        <p:spPr/>
        <p:txBody>
          <a:bodyPr/>
          <a:lstStyle>
            <a:lvl1pPr>
              <a:defRPr/>
            </a:lvl1pPr>
          </a:lstStyle>
          <a:p>
            <a:pPr>
              <a:defRPr/>
            </a:pPr>
            <a:fld id="{DF085AD2-EAF9-44D4-9DC0-A904DACFF846}" type="datetimeFigureOut">
              <a:rPr lang="en-US">
                <a:solidFill>
                  <a:prstClr val="black">
                    <a:tint val="75000"/>
                  </a:prstClr>
                </a:solidFill>
              </a:rPr>
              <a:pPr>
                <a:defRPr/>
              </a:pPr>
              <a:t>12/1/2023</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6303159B-6DED-40ED-899A-53891BB365C7}" type="slidenum">
              <a:rPr lang="en-US">
                <a:solidFill>
                  <a:prstClr val="black">
                    <a:tint val="75000"/>
                  </a:prstClr>
                </a:solidFill>
              </a:rPr>
              <a:pPr>
                <a:defRPr/>
              </a:pPr>
              <a:t>‹#›</a:t>
            </a:fld>
            <a:endParaRPr lang="en-US">
              <a:solidFill>
                <a:prstClr val="black">
                  <a:tint val="75000"/>
                </a:prstClr>
              </a:solidFill>
            </a:endParaRP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28082" y="0"/>
            <a:ext cx="1615918" cy="702245"/>
          </a:xfrm>
          <a:prstGeom prst="rect">
            <a:avLst/>
          </a:prstGeom>
        </p:spPr>
      </p:pic>
    </p:spTree>
    <p:extLst>
      <p:ext uri="{BB962C8B-B14F-4D97-AF65-F5344CB8AC3E}">
        <p14:creationId xmlns:p14="http://schemas.microsoft.com/office/powerpoint/2010/main" val="23510885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28082" y="0"/>
            <a:ext cx="1615918" cy="702245"/>
          </a:xfrm>
          <a:prstGeom prst="rect">
            <a:avLst/>
          </a:prstGeom>
        </p:spPr>
      </p:pic>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pPr>
              <a:defRPr/>
            </a:pPr>
            <a:fld id="{571111D4-87A2-4FF9-BF16-4D005677BA2C}" type="datetimeFigureOut">
              <a:rPr lang="en-US">
                <a:solidFill>
                  <a:prstClr val="black">
                    <a:tint val="75000"/>
                  </a:prstClr>
                </a:solidFill>
              </a:rPr>
              <a:pPr>
                <a:defRPr/>
              </a:pPr>
              <a:t>12/1/2023</a:t>
            </a:fld>
            <a:endParaRPr lang="en-US" dirty="0">
              <a:solidFill>
                <a:prstClr val="black">
                  <a:tint val="75000"/>
                </a:prstClr>
              </a:solidFill>
            </a:endParaRPr>
          </a:p>
        </p:txBody>
      </p:sp>
      <p:sp>
        <p:nvSpPr>
          <p:cNvPr id="9" name="Slide Number Placeholder 8"/>
          <p:cNvSpPr>
            <a:spLocks noGrp="1"/>
          </p:cNvSpPr>
          <p:nvPr>
            <p:ph type="sldNum" sz="quarter" idx="11"/>
          </p:nvPr>
        </p:nvSpPr>
        <p:spPr>
          <a:xfrm>
            <a:off x="6667500" y="6454776"/>
            <a:ext cx="2438400" cy="365125"/>
          </a:xfrm>
        </p:spPr>
        <p:txBody>
          <a:bodyPr/>
          <a:lstStyle/>
          <a:p>
            <a:pPr>
              <a:defRPr/>
            </a:pPr>
            <a:fld id="{A957CEED-90C7-4FD0-AB8C-14085BB9151E}" type="slidenum">
              <a:rPr lang="en-US">
                <a:solidFill>
                  <a:prstClr val="black">
                    <a:tint val="75000"/>
                  </a:prstClr>
                </a:solidFill>
              </a:rPr>
              <a:pPr>
                <a:defRPr/>
              </a:pPr>
              <a:t>‹#›</a:t>
            </a:fld>
            <a:endParaRPr lang="en-US" dirty="0">
              <a:solidFill>
                <a:prstClr val="black">
                  <a:tint val="75000"/>
                </a:prstClr>
              </a:solidFill>
            </a:endParaRPr>
          </a:p>
        </p:txBody>
      </p:sp>
      <p:sp>
        <p:nvSpPr>
          <p:cNvPr id="10" name="Footer Placeholder 9"/>
          <p:cNvSpPr>
            <a:spLocks noGrp="1"/>
          </p:cNvSpPr>
          <p:nvPr>
            <p:ph type="ftr" sz="quarter" idx="12"/>
          </p:nvPr>
        </p:nvSpPr>
        <p:spPr/>
        <p:txBody>
          <a:bodyPr/>
          <a:lstStyle/>
          <a:p>
            <a:pPr>
              <a:defRPr/>
            </a:pPr>
            <a:endParaRPr lang="en-US">
              <a:solidFill>
                <a:prstClr val="black">
                  <a:tint val="75000"/>
                </a:prstClr>
              </a:solidFill>
            </a:endParaRP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69754078"/>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DA220A69-C4DD-4109-A3ED-37F087A1F132}" type="datetimeFigureOut">
              <a:rPr lang="en-US">
                <a:solidFill>
                  <a:prstClr val="black">
                    <a:tint val="75000"/>
                  </a:prstClr>
                </a:solidFill>
              </a:rPr>
              <a:pPr>
                <a:defRPr/>
              </a:pPr>
              <a:t>12/1/2023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434C74F-BF3E-4F24-8B3C-16FB0EDD9D87}"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4200163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B42164C4-958C-45BC-BD54-965BB7070DEB}" type="datetimeFigureOut">
              <a:rPr lang="en-US">
                <a:solidFill>
                  <a:prstClr val="black">
                    <a:tint val="75000"/>
                  </a:prstClr>
                </a:solidFill>
              </a:rPr>
              <a:pPr>
                <a:defRPr/>
              </a:pPr>
              <a:t>12/1/2023</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79941DC-0B2E-48E2-A6F0-9636F82086E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4486224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8B2E9F9-703D-4B2D-9EFE-5A284F223768}" type="datetimeFigureOut">
              <a:rPr lang="en-US">
                <a:solidFill>
                  <a:prstClr val="black">
                    <a:tint val="75000"/>
                  </a:prstClr>
                </a:solidFill>
              </a:rPr>
              <a:pPr>
                <a:defRPr/>
              </a:pPr>
              <a:t>12/1/2023</a:t>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C3915964-DF3F-4834-BE59-592FCDF52C0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8028427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A66C235-395A-448E-84C7-3296EFFFA653}" type="datetimeFigureOut">
              <a:rPr lang="en-US">
                <a:solidFill>
                  <a:prstClr val="black">
                    <a:tint val="75000"/>
                  </a:prstClr>
                </a:solidFill>
              </a:rPr>
              <a:pPr>
                <a:defRPr/>
              </a:pPr>
              <a:t>12/1/2023</a:t>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5AA6C548-C3D6-438F-AF28-F918C44420D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2149446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82A89FF-37F9-41AE-A1AE-9FE9D4F65210}" type="datetimeFigureOut">
              <a:rPr lang="en-US">
                <a:solidFill>
                  <a:prstClr val="black">
                    <a:tint val="75000"/>
                  </a:prstClr>
                </a:solidFill>
              </a:rPr>
              <a:pPr>
                <a:defRPr/>
              </a:pPr>
              <a:t>12/1/2023</a:t>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B2D3E618-5168-46D8-9093-4FFD328E4CA3}"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1970412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8C32A4D-DBA8-4AC9-A112-BADF4813838F}" type="datetimeFigureOut">
              <a:rPr lang="en-US">
                <a:solidFill>
                  <a:prstClr val="black">
                    <a:tint val="75000"/>
                  </a:prstClr>
                </a:solidFill>
              </a:rPr>
              <a:pPr>
                <a:defRPr/>
              </a:pPr>
              <a:t>12/1/2023</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9E5CE29A-235E-4102-A7BB-AC1422769E12}"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7988896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08830A5-9CDD-4A01-AE6C-B7F774C547D9}" type="datetimeFigureOut">
              <a:rPr lang="en-US">
                <a:solidFill>
                  <a:prstClr val="black">
                    <a:tint val="75000"/>
                  </a:prstClr>
                </a:solidFill>
              </a:rPr>
              <a:pPr>
                <a:defRPr/>
              </a:pPr>
              <a:t>12/1/2023</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955B51D7-DCE0-49C4-9B0B-0EC664849A65}"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83448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D180D80-6114-402D-A1C1-7E7B8DEED232}" type="datetimeFigureOut">
              <a:rPr lang="en-US">
                <a:solidFill>
                  <a:prstClr val="black">
                    <a:tint val="75000"/>
                  </a:prstClr>
                </a:solidFill>
              </a:rPr>
              <a:pPr>
                <a:defRPr/>
              </a:pPr>
              <a:t>12/1/2023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116750E7-EF53-4816-BA7D-520B91DC7E0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2628226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3AFF668-FF27-4A48-BBBC-72969536306B}" type="datetimeFigureOut">
              <a:rPr lang="en-US">
                <a:solidFill>
                  <a:prstClr val="black">
                    <a:tint val="75000"/>
                  </a:prstClr>
                </a:solidFill>
              </a:rPr>
              <a:pPr>
                <a:defRPr/>
              </a:pPr>
              <a:t>12/1/2023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4BE57CBA-45D2-49F3-AE4F-4082575BC865}"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7148264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F085AD2-EAF9-44D4-9DC0-A904DACFF846}" type="datetimeFigureOut">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12/1/2023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303159B-6DED-40ED-899A-53891BB365C7}"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8" name="Picture 2" descr="C:\Users\ali\Documents\prj\metu\webpage\redar\metuncc_emblem_h500.jpg"/>
          <p:cNvPicPr>
            <a:picLocks noChangeAspect="1" noChangeArrowheads="1"/>
          </p:cNvPicPr>
          <p:nvPr userDrawn="1"/>
        </p:nvPicPr>
        <p:blipFill>
          <a:blip r:embed="rId2" cstate="print"/>
          <a:srcRect/>
          <a:stretch>
            <a:fillRect/>
          </a:stretch>
        </p:blipFill>
        <p:spPr bwMode="auto">
          <a:xfrm>
            <a:off x="7124700" y="0"/>
            <a:ext cx="2019300" cy="782638"/>
          </a:xfrm>
          <a:prstGeom prst="rect">
            <a:avLst/>
          </a:prstGeom>
          <a:noFill/>
          <a:ln w="9525">
            <a:noFill/>
            <a:miter lim="800000"/>
            <a:headEnd/>
            <a:tailEnd/>
          </a:ln>
        </p:spPr>
      </p:pic>
    </p:spTree>
    <p:extLst>
      <p:ext uri="{BB962C8B-B14F-4D97-AF65-F5344CB8AC3E}">
        <p14:creationId xmlns:p14="http://schemas.microsoft.com/office/powerpoint/2010/main" val="1381531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71111D4-87A2-4FF9-BF16-4D005677BA2C}" type="datetimeFigureOut">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12/1/2023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1"/>
          </p:nvPr>
        </p:nvSpPr>
        <p:spPr>
          <a:xfrm>
            <a:off x="6667500" y="6454776"/>
            <a:ext cx="24384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57CEED-90C7-4FD0-AB8C-14085BB9151E}"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0" name="Footer Placeholder 9"/>
          <p:cNvSpPr>
            <a:spLocks noGrp="1"/>
          </p:cNvSpPr>
          <p:nvPr>
            <p:ph type="ftr"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1" name="Picture 2" descr="C:\Users\ali\Documents\prj\metu\webpage\redar\metuncc_emblem_h500.jpg"/>
          <p:cNvPicPr>
            <a:picLocks noChangeAspect="1" noChangeArrowheads="1"/>
          </p:cNvPicPr>
          <p:nvPr userDrawn="1"/>
        </p:nvPicPr>
        <p:blipFill>
          <a:blip r:embed="rId2" cstate="print"/>
          <a:srcRect/>
          <a:stretch>
            <a:fillRect/>
          </a:stretch>
        </p:blipFill>
        <p:spPr bwMode="auto">
          <a:xfrm>
            <a:off x="7124700" y="0"/>
            <a:ext cx="2019300" cy="782638"/>
          </a:xfrm>
          <a:prstGeom prst="rect">
            <a:avLst/>
          </a:prstGeom>
          <a:noFill/>
          <a:ln w="9525">
            <a:noFill/>
            <a:miter lim="800000"/>
            <a:headEnd/>
            <a:tailEnd/>
          </a:ln>
        </p:spPr>
      </p:pic>
    </p:spTree>
    <p:extLst>
      <p:ext uri="{BB962C8B-B14F-4D97-AF65-F5344CB8AC3E}">
        <p14:creationId xmlns:p14="http://schemas.microsoft.com/office/powerpoint/2010/main" val="1172528606"/>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A220A69-C4DD-4109-A3ED-37F087A1F132}" type="datetimeFigureOut">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12/1/2023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434C74F-BF3E-4F24-8B3C-16FB0EDD9D87}"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591153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42164C4-958C-45BC-BD54-965BB7070DEB}" type="datetimeFigureOut">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12/1/2023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79941DC-0B2E-48E2-A6F0-9636F82086E6}"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757991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8B2E9F9-703D-4B2D-9EFE-5A284F223768}" type="datetimeFigureOut">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12/1/2023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3915964-DF3F-4834-BE59-592FCDF52C0B}"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704209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28082" y="0"/>
            <a:ext cx="1615918" cy="702245"/>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A66C235-395A-448E-84C7-3296EFFFA653}" type="datetimeFigureOut">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12/1/2023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5AA6C548-C3D6-438F-AF28-F918C44420D6}"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8630076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82A89FF-37F9-41AE-A1AE-9FE9D4F65210}" type="datetimeFigureOut">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12/1/2023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2D3E618-5168-46D8-9093-4FFD328E4CA3}"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9235584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8C32A4D-DBA8-4AC9-A112-BADF4813838F}" type="datetimeFigureOut">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12/1/2023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E5CE29A-235E-4102-A7BB-AC1422769E12}"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7362830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08830A5-9CDD-4A01-AE6C-B7F774C547D9}" type="datetimeFigureOut">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12/1/2023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55B51D7-DCE0-49C4-9B0B-0EC664849A65}"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359247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D180D80-6114-402D-A1C1-7E7B8DEED232}" type="datetimeFigureOut">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12/1/2023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16750E7-EF53-4816-BA7D-520B91DC7E0B}"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446963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3AFF668-FF27-4A48-BBBC-72969536306B}" type="datetimeFigureOut">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12/1/2023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BE57CBA-45D2-49F3-AE4F-4082575BC865}"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282880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28082" y="0"/>
            <a:ext cx="1615918" cy="702245"/>
          </a:xfrm>
          <a:prstGeom prst="rect">
            <a:avLst/>
          </a:prstGeom>
        </p:spPr>
      </p:pic>
      <p:sp>
        <p:nvSpPr>
          <p:cNvPr id="2" name="Content Placeholder 1"/>
          <p:cNvSpPr>
            <a:spLocks noGrp="1"/>
          </p:cNvSpPr>
          <p:nvPr>
            <p:ph/>
          </p:nvPr>
        </p:nvSpPr>
        <p:spPr>
          <a:xfrm>
            <a:off x="685800" y="609600"/>
            <a:ext cx="7772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Slide Number Placeholder 3"/>
          <p:cNvSpPr txBox="1">
            <a:spLocks/>
          </p:cNvSpPr>
          <p:nvPr userDrawn="1"/>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Ali </a:t>
            </a:r>
            <a:r>
              <a:rPr kumimoji="0" lang="en-US" sz="1200" b="0" i="0" u="none" strike="noStrike" kern="1200" cap="none" spc="0" normalizeH="0" baseline="0" noProof="0" dirty="0" err="1">
                <a:ln>
                  <a:noFill/>
                </a:ln>
                <a:solidFill>
                  <a:prstClr val="black">
                    <a:tint val="75000"/>
                  </a:prstClr>
                </a:solidFill>
                <a:effectLst/>
                <a:uLnTx/>
                <a:uFillTx/>
                <a:latin typeface="Calibri"/>
                <a:ea typeface="+mn-ea"/>
                <a:cs typeface="+mn-cs"/>
              </a:rPr>
              <a:t>Muhtaroğlu</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Slide Number Placeholder 12"/>
          <p:cNvSpPr>
            <a:spLocks noGrp="1"/>
          </p:cNvSpPr>
          <p:nvPr userDrawn="1">
            <p:ph type="sldNum" sz="quarter" idx="11"/>
          </p:nvPr>
        </p:nvSpPr>
        <p:spPr>
          <a:xfrm>
            <a:off x="8267700" y="6477000"/>
            <a:ext cx="8763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57CEED-90C7-4FD0-AB8C-14085BB9151E}"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4791982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1"/>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571111D4-87A2-4FF9-BF16-4D005677BA2C}" type="datetimeFigureOut">
              <a:rPr lang="en-US"/>
              <a:pPr>
                <a:defRPr/>
              </a:pPr>
              <a:t>12/1/2023</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A957CEED-90C7-4FD0-AB8C-14085BB9151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1"/>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571111D4-87A2-4FF9-BF16-4D005677BA2C}" type="datetimeFigureOut">
              <a:rPr lang="en-US">
                <a:solidFill>
                  <a:prstClr val="black">
                    <a:tint val="75000"/>
                  </a:prstClr>
                </a:solidFill>
              </a:rPr>
              <a:pPr>
                <a:defRPr/>
              </a:pPr>
              <a:t>12/1/2023</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a:defRPr/>
            </a:pPr>
            <a:fld id="{A957CEED-90C7-4FD0-AB8C-14085BB9151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08635076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1"/>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71111D4-87A2-4FF9-BF16-4D005677BA2C}" type="datetimeFigureOut">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12/1/2023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957CEED-90C7-4FD0-AB8C-14085BB9151E}"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3784786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image" Target="../media/image4.wmf"/><Relationship Id="rId7"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5.w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8.wmf"/><Relationship Id="rId7" Type="http://schemas.openxmlformats.org/officeDocument/2006/relationships/image" Target="../media/image9.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7.emf"/><Relationship Id="rId4" Type="http://schemas.openxmlformats.org/officeDocument/2006/relationships/image" Target="../media/image3.emf"/><Relationship Id="rId9" Type="http://schemas.openxmlformats.org/officeDocument/2006/relationships/image" Target="../media/image10.wmf"/></Relationships>
</file>

<file path=ppt/slides/_rels/slide1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14.emf"/><Relationship Id="rId2" Type="http://schemas.openxmlformats.org/officeDocument/2006/relationships/image" Target="../media/image11.emf"/><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8.bin"/><Relationship Id="rId4" Type="http://schemas.openxmlformats.org/officeDocument/2006/relationships/image" Target="../media/image12.wmf"/></Relationships>
</file>

<file path=ppt/slides/_rels/slide1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21.wmf"/><Relationship Id="rId3" Type="http://schemas.openxmlformats.org/officeDocument/2006/relationships/oleObject" Target="../embeddings/oleObject9.bin"/><Relationship Id="rId7" Type="http://schemas.openxmlformats.org/officeDocument/2006/relationships/image" Target="../media/image18.emf"/><Relationship Id="rId12" Type="http://schemas.openxmlformats.org/officeDocument/2006/relationships/oleObject" Target="../embeddings/oleObject13.bin"/><Relationship Id="rId2" Type="http://schemas.openxmlformats.org/officeDocument/2006/relationships/image" Target="../media/image15.emf"/><Relationship Id="rId1" Type="http://schemas.openxmlformats.org/officeDocument/2006/relationships/slideLayout" Target="../slideLayouts/slideLayout2.xml"/><Relationship Id="rId6" Type="http://schemas.openxmlformats.org/officeDocument/2006/relationships/image" Target="../media/image17.wmf"/><Relationship Id="rId11" Type="http://schemas.openxmlformats.org/officeDocument/2006/relationships/image" Target="../media/image20.wmf"/><Relationship Id="rId5" Type="http://schemas.openxmlformats.org/officeDocument/2006/relationships/oleObject" Target="../embeddings/oleObject10.bin"/><Relationship Id="rId10" Type="http://schemas.openxmlformats.org/officeDocument/2006/relationships/oleObject" Target="../embeddings/oleObject12.bin"/><Relationship Id="rId4" Type="http://schemas.openxmlformats.org/officeDocument/2006/relationships/image" Target="../media/image16.wmf"/><Relationship Id="rId9" Type="http://schemas.openxmlformats.org/officeDocument/2006/relationships/image" Target="../media/image19.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oleObject" Target="../embeddings/oleObject14.bin"/><Relationship Id="rId7" Type="http://schemas.openxmlformats.org/officeDocument/2006/relationships/image" Target="../media/image23.wmf"/><Relationship Id="rId2" Type="http://schemas.openxmlformats.org/officeDocument/2006/relationships/image" Target="../media/image18.emf"/><Relationship Id="rId1" Type="http://schemas.openxmlformats.org/officeDocument/2006/relationships/slideLayout" Target="../slideLayouts/slideLayout2.xml"/><Relationship Id="rId6" Type="http://schemas.openxmlformats.org/officeDocument/2006/relationships/oleObject" Target="../embeddings/oleObject15.bin"/><Relationship Id="rId5" Type="http://schemas.openxmlformats.org/officeDocument/2006/relationships/image" Target="../media/image22.emf"/><Relationship Id="rId4" Type="http://schemas.openxmlformats.org/officeDocument/2006/relationships/image" Target="../media/image21.wmf"/><Relationship Id="rId9" Type="http://schemas.openxmlformats.org/officeDocument/2006/relationships/image" Target="../media/image24.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image" Target="../media/image18.emf"/><Relationship Id="rId7" Type="http://schemas.openxmlformats.org/officeDocument/2006/relationships/image" Target="../media/image26.wmf"/><Relationship Id="rId2" Type="http://schemas.openxmlformats.org/officeDocument/2006/relationships/image" Target="../media/image15.emf"/><Relationship Id="rId1" Type="http://schemas.openxmlformats.org/officeDocument/2006/relationships/slideLayout" Target="../slideLayouts/slideLayout2.xml"/><Relationship Id="rId6" Type="http://schemas.openxmlformats.org/officeDocument/2006/relationships/oleObject" Target="../embeddings/oleObject18.bin"/><Relationship Id="rId5" Type="http://schemas.openxmlformats.org/officeDocument/2006/relationships/image" Target="../media/image25.wmf"/><Relationship Id="rId4" Type="http://schemas.openxmlformats.org/officeDocument/2006/relationships/oleObject" Target="../embeddings/oleObject17.bin"/><Relationship Id="rId9" Type="http://schemas.openxmlformats.org/officeDocument/2006/relationships/image" Target="../media/image27.wmf"/></Relationships>
</file>

<file path=ppt/slides/_rels/slide16.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25.bin"/><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33.wmf"/><Relationship Id="rId17" Type="http://schemas.openxmlformats.org/officeDocument/2006/relationships/image" Target="../media/image28.emf"/><Relationship Id="rId2" Type="http://schemas.microsoft.com/office/2018/10/relationships/comments" Target="../comments/modernComment_15E_0.xml"/><Relationship Id="rId16" Type="http://schemas.openxmlformats.org/officeDocument/2006/relationships/image" Target="../media/image35.wmf"/><Relationship Id="rId1" Type="http://schemas.openxmlformats.org/officeDocument/2006/relationships/slideLayout" Target="../slideLayouts/slideLayout2.xml"/><Relationship Id="rId6" Type="http://schemas.openxmlformats.org/officeDocument/2006/relationships/image" Target="../media/image30.wmf"/><Relationship Id="rId11" Type="http://schemas.openxmlformats.org/officeDocument/2006/relationships/oleObject" Target="../embeddings/oleObject24.bin"/><Relationship Id="rId5" Type="http://schemas.openxmlformats.org/officeDocument/2006/relationships/oleObject" Target="../embeddings/oleObject21.bin"/><Relationship Id="rId15" Type="http://schemas.openxmlformats.org/officeDocument/2006/relationships/oleObject" Target="../embeddings/oleObject26.bin"/><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23.bin"/><Relationship Id="rId14" Type="http://schemas.openxmlformats.org/officeDocument/2006/relationships/image" Target="../media/image34.wmf"/></Relationships>
</file>

<file path=ppt/slides/_rels/slide18.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 Id="rId4" Type="http://schemas.openxmlformats.org/officeDocument/2006/relationships/image" Target="../media/image38.emf"/></Relationships>
</file>

<file path=ppt/slides/_rels/slide21.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 Id="rId5" Type="http://schemas.openxmlformats.org/officeDocument/2006/relationships/image" Target="../media/image39.emf"/><Relationship Id="rId4" Type="http://schemas.openxmlformats.org/officeDocument/2006/relationships/image" Target="../media/image38.emf"/></Relationships>
</file>

<file path=ppt/slides/_rels/slide22.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 Id="rId5" Type="http://schemas.openxmlformats.org/officeDocument/2006/relationships/image" Target="../media/image39.emf"/><Relationship Id="rId4" Type="http://schemas.openxmlformats.org/officeDocument/2006/relationships/image" Target="../media/image38.emf"/></Relationships>
</file>

<file path=ppt/slides/_rels/slide23.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2.xml"/><Relationship Id="rId4" Type="http://schemas.openxmlformats.org/officeDocument/2006/relationships/image" Target="../media/image42.emf"/></Relationships>
</file>

<file path=ppt/slides/_rels/slide26.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2.xml"/><Relationship Id="rId4" Type="http://schemas.openxmlformats.org/officeDocument/2006/relationships/image" Target="../media/image42.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27.bin"/><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4" Type="http://schemas.openxmlformats.org/officeDocument/2006/relationships/image" Target="../media/image43.wmf"/></Relationships>
</file>

<file path=ppt/slides/_rels/slide3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7.jpeg"/></Relationships>
</file>

<file path=ppt/slides/_rels/slide3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8.jpeg"/><Relationship Id="rId4" Type="http://schemas.openxmlformats.org/officeDocument/2006/relationships/image" Target="../media/image47.jpeg"/></Relationships>
</file>

<file path=ppt/slides/_rels/slide3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54.wmf"/><Relationship Id="rId3" Type="http://schemas.openxmlformats.org/officeDocument/2006/relationships/image" Target="../media/image49.jpeg"/><Relationship Id="rId7" Type="http://schemas.openxmlformats.org/officeDocument/2006/relationships/image" Target="../media/image51.wmf"/><Relationship Id="rId12" Type="http://schemas.openxmlformats.org/officeDocument/2006/relationships/oleObject" Target="../embeddings/oleObject33.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oleObject" Target="../embeddings/oleObject30.bin"/><Relationship Id="rId11" Type="http://schemas.openxmlformats.org/officeDocument/2006/relationships/image" Target="../media/image53.wmf"/><Relationship Id="rId5" Type="http://schemas.openxmlformats.org/officeDocument/2006/relationships/image" Target="../media/image50.wmf"/><Relationship Id="rId10" Type="http://schemas.openxmlformats.org/officeDocument/2006/relationships/oleObject" Target="../embeddings/oleObject32.bin"/><Relationship Id="rId4" Type="http://schemas.openxmlformats.org/officeDocument/2006/relationships/oleObject" Target="../embeddings/oleObject29.bin"/><Relationship Id="rId9" Type="http://schemas.openxmlformats.org/officeDocument/2006/relationships/image" Target="../media/image52.wmf"/></Relationships>
</file>

<file path=ppt/slides/_rels/slide3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6.jpeg"/></Relationships>
</file>

<file path=ppt/slides/_rels/slide3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6.jpeg"/></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8.wmf"/><Relationship Id="rId5" Type="http://schemas.openxmlformats.org/officeDocument/2006/relationships/oleObject" Target="../embeddings/oleObject35.bin"/><Relationship Id="rId4" Type="http://schemas.openxmlformats.org/officeDocument/2006/relationships/image" Target="../media/image57.wmf"/></Relationships>
</file>

<file path=ppt/slides/_rels/slide39.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oleObject" Target="../embeddings/oleObject36.bin"/><Relationship Id="rId7" Type="http://schemas.openxmlformats.org/officeDocument/2006/relationships/oleObject" Target="../embeddings/oleObject38.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8.wmf"/><Relationship Id="rId5" Type="http://schemas.openxmlformats.org/officeDocument/2006/relationships/oleObject" Target="../embeddings/oleObject37.bin"/><Relationship Id="rId4" Type="http://schemas.openxmlformats.org/officeDocument/2006/relationships/image" Target="../media/image57.wmf"/></Relationships>
</file>

<file path=ppt/slides/_rels/slide4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2.emf"/><Relationship Id="rId5" Type="http://schemas.openxmlformats.org/officeDocument/2006/relationships/image" Target="../media/image60.jpeg"/><Relationship Id="rId4" Type="http://schemas.openxmlformats.org/officeDocument/2006/relationships/image" Target="../media/image61.wmf"/></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41.bin"/><Relationship Id="rId3" Type="http://schemas.openxmlformats.org/officeDocument/2006/relationships/oleObject" Target="../embeddings/oleObject40.bin"/><Relationship Id="rId7" Type="http://schemas.openxmlformats.org/officeDocument/2006/relationships/image" Target="../media/image63.emf"/><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2.emf"/><Relationship Id="rId5" Type="http://schemas.openxmlformats.org/officeDocument/2006/relationships/image" Target="../media/image60.jpeg"/><Relationship Id="rId4" Type="http://schemas.openxmlformats.org/officeDocument/2006/relationships/image" Target="../media/image61.wmf"/><Relationship Id="rId9" Type="http://schemas.openxmlformats.org/officeDocument/2006/relationships/image" Target="../media/image64.wmf"/></Relationships>
</file>

<file path=ppt/slides/_rels/slide4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4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4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4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4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4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4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0.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Subtitle 2"/>
          <p:cNvSpPr>
            <a:spLocks noGrp="1"/>
          </p:cNvSpPr>
          <p:nvPr>
            <p:ph type="subTitle" idx="1"/>
          </p:nvPr>
        </p:nvSpPr>
        <p:spPr>
          <a:xfrm>
            <a:off x="1371600" y="2590800"/>
            <a:ext cx="6400800" cy="2209800"/>
          </a:xfrm>
        </p:spPr>
        <p:txBody>
          <a:bodyPr/>
          <a:lstStyle/>
          <a:p>
            <a:r>
              <a:rPr lang="tr-TR" sz="2000" dirty="0">
                <a:solidFill>
                  <a:schemeClr val="tx1"/>
                </a:solidFill>
              </a:rPr>
              <a:t>Dr. </a:t>
            </a:r>
            <a:r>
              <a:rPr lang="en-US" sz="2000" dirty="0">
                <a:solidFill>
                  <a:schemeClr val="tx1"/>
                </a:solidFill>
              </a:rPr>
              <a:t>Özçel </a:t>
            </a:r>
            <a:r>
              <a:rPr lang="en-US" sz="2000" dirty="0" err="1">
                <a:solidFill>
                  <a:schemeClr val="tx1"/>
                </a:solidFill>
              </a:rPr>
              <a:t>Cangül</a:t>
            </a:r>
            <a:endParaRPr lang="tr-TR" sz="2000" dirty="0">
              <a:solidFill>
                <a:schemeClr val="tx1"/>
              </a:solidFill>
            </a:endParaRPr>
          </a:p>
          <a:p>
            <a:r>
              <a:rPr lang="tr-TR" sz="2000" dirty="0">
                <a:solidFill>
                  <a:schemeClr val="tx1"/>
                </a:solidFill>
              </a:rPr>
              <a:t>Lecture Notes by </a:t>
            </a:r>
            <a:r>
              <a:rPr lang="en-US" sz="2000" dirty="0">
                <a:solidFill>
                  <a:schemeClr val="tx1"/>
                </a:solidFill>
              </a:rPr>
              <a:t>Dr. Ali </a:t>
            </a:r>
            <a:r>
              <a:rPr lang="en-US" sz="2000" dirty="0" err="1">
                <a:solidFill>
                  <a:schemeClr val="tx1"/>
                </a:solidFill>
              </a:rPr>
              <a:t>Muhtaroğlu</a:t>
            </a:r>
            <a:endParaRPr lang="en-US" sz="2000" dirty="0">
              <a:solidFill>
                <a:schemeClr val="tx1"/>
              </a:solidFill>
            </a:endParaRPr>
          </a:p>
          <a:p>
            <a:r>
              <a:rPr lang="en-US" sz="2000" dirty="0">
                <a:solidFill>
                  <a:schemeClr val="tx1"/>
                </a:solidFill>
              </a:rPr>
              <a:t>Fall 2023</a:t>
            </a:r>
          </a:p>
          <a:p>
            <a:r>
              <a:rPr lang="en-US" sz="2000" dirty="0">
                <a:solidFill>
                  <a:schemeClr val="tx1"/>
                </a:solidFill>
              </a:rPr>
              <a:t>METU Northern Cyprus Campus</a:t>
            </a:r>
          </a:p>
        </p:txBody>
      </p:sp>
      <p:sp>
        <p:nvSpPr>
          <p:cNvPr id="4100" name="TextBox 3"/>
          <p:cNvSpPr txBox="1">
            <a:spLocks noChangeArrowheads="1"/>
          </p:cNvSpPr>
          <p:nvPr/>
        </p:nvSpPr>
        <p:spPr bwMode="auto">
          <a:xfrm>
            <a:off x="1691625" y="4734461"/>
            <a:ext cx="6183206" cy="1354217"/>
          </a:xfrm>
          <a:prstGeom prst="rect">
            <a:avLst/>
          </a:prstGeom>
          <a:noFill/>
          <a:ln w="9525">
            <a:noFill/>
            <a:miter lim="800000"/>
            <a:headEnd/>
            <a:tailEnd/>
          </a:ln>
        </p:spPr>
        <p:txBody>
          <a:bodyPr wrap="square">
            <a:spAutoFit/>
          </a:bodyPr>
          <a:lstStyle/>
          <a:p>
            <a:r>
              <a:rPr lang="en-US" sz="1600" u="sng" dirty="0">
                <a:solidFill>
                  <a:prstClr val="black"/>
                </a:solidFill>
                <a:latin typeface="Calibri" pitchFamily="34" charset="0"/>
              </a:rPr>
              <a:t>References:</a:t>
            </a:r>
          </a:p>
          <a:p>
            <a:r>
              <a:rPr lang="en-US" sz="1600" dirty="0">
                <a:solidFill>
                  <a:prstClr val="black"/>
                </a:solidFill>
                <a:latin typeface="Calibri"/>
              </a:rPr>
              <a:t>Electric Circuits 10</a:t>
            </a:r>
            <a:r>
              <a:rPr lang="en-US" sz="1600" baseline="30000" dirty="0">
                <a:solidFill>
                  <a:prstClr val="black"/>
                </a:solidFill>
                <a:latin typeface="Calibri"/>
              </a:rPr>
              <a:t>th</a:t>
            </a:r>
            <a:r>
              <a:rPr lang="en-US" sz="1600" dirty="0">
                <a:solidFill>
                  <a:prstClr val="black"/>
                </a:solidFill>
                <a:latin typeface="Calibri"/>
              </a:rPr>
              <a:t> Ed. by </a:t>
            </a:r>
            <a:r>
              <a:rPr lang="tr-TR" sz="1600" dirty="0">
                <a:solidFill>
                  <a:prstClr val="black"/>
                </a:solidFill>
                <a:latin typeface="Calibri"/>
              </a:rPr>
              <a:t>Nilsson &amp; Riedel</a:t>
            </a:r>
            <a:endParaRPr lang="en-US" sz="1600" dirty="0">
              <a:solidFill>
                <a:prstClr val="black"/>
              </a:solidFill>
              <a:latin typeface="Calibri"/>
            </a:endParaRPr>
          </a:p>
          <a:p>
            <a:r>
              <a:rPr lang="en-US" sz="1600" dirty="0">
                <a:solidFill>
                  <a:prstClr val="black"/>
                </a:solidFill>
                <a:latin typeface="Calibri"/>
              </a:rPr>
              <a:t>Electrical Circuit Analysis 3</a:t>
            </a:r>
            <a:r>
              <a:rPr lang="en-US" sz="1600" baseline="30000" dirty="0">
                <a:solidFill>
                  <a:prstClr val="black"/>
                </a:solidFill>
                <a:latin typeface="Calibri"/>
              </a:rPr>
              <a:t>rd</a:t>
            </a:r>
            <a:r>
              <a:rPr lang="en-US" sz="1600" dirty="0">
                <a:solidFill>
                  <a:prstClr val="black"/>
                </a:solidFill>
                <a:latin typeface="Calibri"/>
              </a:rPr>
              <a:t> Ed. </a:t>
            </a:r>
            <a:r>
              <a:rPr lang="en-US" sz="1600" i="1" dirty="0">
                <a:solidFill>
                  <a:prstClr val="black"/>
                </a:solidFill>
                <a:latin typeface="Calibri"/>
              </a:rPr>
              <a:t>by Johnson, Johnson, </a:t>
            </a:r>
            <a:r>
              <a:rPr lang="en-US" sz="1600" i="1" dirty="0" err="1">
                <a:solidFill>
                  <a:prstClr val="black"/>
                </a:solidFill>
                <a:latin typeface="Calibri"/>
              </a:rPr>
              <a:t>Hilburn</a:t>
            </a:r>
            <a:r>
              <a:rPr lang="en-US" sz="1600" i="1" dirty="0">
                <a:solidFill>
                  <a:prstClr val="black"/>
                </a:solidFill>
                <a:latin typeface="Calibri"/>
              </a:rPr>
              <a:t>, and Scott</a:t>
            </a:r>
          </a:p>
          <a:p>
            <a:r>
              <a:rPr lang="en-US" sz="1600" dirty="0">
                <a:solidFill>
                  <a:prstClr val="black"/>
                </a:solidFill>
                <a:latin typeface="Calibri"/>
              </a:rPr>
              <a:t>Engineering Circuit Analysis 7</a:t>
            </a:r>
            <a:r>
              <a:rPr lang="en-US" sz="1600" baseline="30000" dirty="0">
                <a:solidFill>
                  <a:prstClr val="black"/>
                </a:solidFill>
                <a:latin typeface="Calibri"/>
              </a:rPr>
              <a:t>th</a:t>
            </a:r>
            <a:r>
              <a:rPr lang="en-US" sz="1600" dirty="0">
                <a:solidFill>
                  <a:prstClr val="black"/>
                </a:solidFill>
                <a:latin typeface="Calibri"/>
              </a:rPr>
              <a:t> Ed. </a:t>
            </a:r>
            <a:r>
              <a:rPr lang="en-US" sz="1600" i="1" dirty="0">
                <a:solidFill>
                  <a:prstClr val="black"/>
                </a:solidFill>
                <a:latin typeface="Calibri"/>
              </a:rPr>
              <a:t>by </a:t>
            </a:r>
            <a:r>
              <a:rPr lang="en-US" sz="1600" i="1" dirty="0" err="1">
                <a:solidFill>
                  <a:prstClr val="black"/>
                </a:solidFill>
                <a:latin typeface="Calibri"/>
              </a:rPr>
              <a:t>Hayt</a:t>
            </a:r>
            <a:r>
              <a:rPr lang="en-US" sz="1600" i="1" dirty="0">
                <a:solidFill>
                  <a:prstClr val="black"/>
                </a:solidFill>
                <a:latin typeface="Calibri"/>
              </a:rPr>
              <a:t>, </a:t>
            </a:r>
            <a:r>
              <a:rPr lang="en-US" sz="1600" i="1" dirty="0" err="1">
                <a:solidFill>
                  <a:prstClr val="black"/>
                </a:solidFill>
                <a:latin typeface="Calibri"/>
              </a:rPr>
              <a:t>Kemmerly</a:t>
            </a:r>
            <a:r>
              <a:rPr lang="en-US" sz="1600" i="1" dirty="0">
                <a:solidFill>
                  <a:prstClr val="black"/>
                </a:solidFill>
                <a:latin typeface="Calibri"/>
              </a:rPr>
              <a:t>, and Durbin</a:t>
            </a:r>
          </a:p>
          <a:p>
            <a:r>
              <a:rPr lang="en-US" sz="1600" dirty="0">
                <a:solidFill>
                  <a:prstClr val="black"/>
                </a:solidFill>
                <a:latin typeface="Calibri"/>
              </a:rPr>
              <a:t>Fundamentals of Electric Circuits </a:t>
            </a:r>
            <a:r>
              <a:rPr lang="en-US" sz="1600" i="1" dirty="0">
                <a:solidFill>
                  <a:prstClr val="black"/>
                </a:solidFill>
                <a:latin typeface="Calibri"/>
              </a:rPr>
              <a:t>3</a:t>
            </a:r>
            <a:r>
              <a:rPr lang="en-US" sz="1600" baseline="30000" dirty="0">
                <a:solidFill>
                  <a:prstClr val="black"/>
                </a:solidFill>
                <a:latin typeface="Calibri"/>
              </a:rPr>
              <a:t>rd</a:t>
            </a:r>
            <a:r>
              <a:rPr lang="en-US" sz="1600" dirty="0">
                <a:solidFill>
                  <a:prstClr val="black"/>
                </a:solidFill>
                <a:latin typeface="Calibri"/>
              </a:rPr>
              <a:t> Ed. </a:t>
            </a:r>
            <a:r>
              <a:rPr lang="en-US" sz="1600" i="1" dirty="0">
                <a:solidFill>
                  <a:prstClr val="black"/>
                </a:solidFill>
                <a:latin typeface="Calibri"/>
              </a:rPr>
              <a:t>by Alexander, and </a:t>
            </a:r>
            <a:r>
              <a:rPr lang="en-US" sz="1600" i="1" dirty="0" err="1">
                <a:solidFill>
                  <a:prstClr val="black"/>
                </a:solidFill>
                <a:latin typeface="Calibri"/>
              </a:rPr>
              <a:t>Sadiku</a:t>
            </a:r>
            <a:endParaRPr lang="en-US" sz="1600" i="1" dirty="0">
              <a:solidFill>
                <a:prstClr val="black"/>
              </a:solidFill>
              <a:latin typeface="Calibri"/>
            </a:endParaRPr>
          </a:p>
        </p:txBody>
      </p:sp>
      <p:sp>
        <p:nvSpPr>
          <p:cNvPr id="6" name="Title 1"/>
          <p:cNvSpPr txBox="1">
            <a:spLocks/>
          </p:cNvSpPr>
          <p:nvPr/>
        </p:nvSpPr>
        <p:spPr bwMode="auto">
          <a:xfrm>
            <a:off x="685800" y="381000"/>
            <a:ext cx="7772400" cy="1752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tr-TR" sz="3200"/>
              <a:t>Electrical Circuits</a:t>
            </a:r>
            <a:br>
              <a:rPr lang="en-US" sz="3200"/>
            </a:br>
            <a:r>
              <a:rPr lang="en-US" sz="3200"/>
              <a:t>EEE-2</a:t>
            </a:r>
            <a:r>
              <a:rPr lang="tr-TR" sz="3200"/>
              <a:t>8</a:t>
            </a:r>
            <a:r>
              <a:rPr lang="en-US" sz="3200"/>
              <a:t>1 Lecture Notes</a:t>
            </a:r>
            <a:endParaRPr lang="en-US" sz="3200" dirty="0"/>
          </a:p>
        </p:txBody>
      </p:sp>
    </p:spTree>
    <p:extLst>
      <p:ext uri="{BB962C8B-B14F-4D97-AF65-F5344CB8AC3E}">
        <p14:creationId xmlns:p14="http://schemas.microsoft.com/office/powerpoint/2010/main" val="3416453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419100" y="1790700"/>
            <a:ext cx="8229600" cy="2819400"/>
          </a:xfrm>
        </p:spPr>
        <p:txBody>
          <a:bodyPr/>
          <a:lstStyle/>
          <a:p>
            <a:r>
              <a:rPr lang="tr-TR" sz="3600" dirty="0"/>
              <a:t>Simple </a:t>
            </a:r>
            <a:r>
              <a:rPr lang="en-US" sz="3600" dirty="0"/>
              <a:t>Resistive Circuits</a:t>
            </a:r>
            <a:br>
              <a:rPr lang="en-US" sz="3600" dirty="0"/>
            </a:br>
            <a:br>
              <a:rPr lang="en-US" sz="3600" dirty="0"/>
            </a:br>
            <a:r>
              <a:rPr lang="en-US" sz="3600" i="1" dirty="0"/>
              <a:t>Weeks </a:t>
            </a:r>
            <a:r>
              <a:rPr lang="tr-TR" sz="3600" i="1" dirty="0"/>
              <a:t>4</a:t>
            </a:r>
            <a:r>
              <a:rPr lang="en-US" sz="3600" i="1" dirty="0"/>
              <a:t>-5</a:t>
            </a:r>
            <a:br>
              <a:rPr lang="tr-TR" sz="3600" i="1" dirty="0"/>
            </a:br>
            <a:br>
              <a:rPr lang="tr-TR" sz="3600" i="1" dirty="0"/>
            </a:br>
            <a:r>
              <a:rPr lang="tr-TR" sz="3600" i="1" dirty="0">
                <a:solidFill>
                  <a:srgbClr val="0000FF"/>
                </a:solidFill>
              </a:rPr>
              <a:t>Reading: </a:t>
            </a:r>
            <a:r>
              <a:rPr lang="tr-TR" sz="3600" i="1" dirty="0" err="1">
                <a:solidFill>
                  <a:srgbClr val="0000FF"/>
                </a:solidFill>
              </a:rPr>
              <a:t>Nilsson</a:t>
            </a:r>
            <a:r>
              <a:rPr lang="tr-TR" sz="3600" i="1" dirty="0">
                <a:solidFill>
                  <a:srgbClr val="0000FF"/>
                </a:solidFill>
              </a:rPr>
              <a:t> &amp; </a:t>
            </a:r>
            <a:r>
              <a:rPr lang="tr-TR" sz="3600" i="1" dirty="0" err="1">
                <a:solidFill>
                  <a:srgbClr val="0000FF"/>
                </a:solidFill>
              </a:rPr>
              <a:t>Riedel</a:t>
            </a:r>
            <a:r>
              <a:rPr lang="tr-TR" sz="3600" i="1" dirty="0">
                <a:solidFill>
                  <a:srgbClr val="0000FF"/>
                </a:solidFill>
              </a:rPr>
              <a:t> </a:t>
            </a:r>
            <a:r>
              <a:rPr lang="tr-TR" sz="3600" i="1" dirty="0" err="1">
                <a:solidFill>
                  <a:srgbClr val="0000FF"/>
                </a:solidFill>
              </a:rPr>
              <a:t>Chapter</a:t>
            </a:r>
            <a:r>
              <a:rPr lang="tr-TR" sz="3600" i="1" dirty="0">
                <a:solidFill>
                  <a:srgbClr val="0000FF"/>
                </a:solidFill>
              </a:rPr>
              <a:t> 3</a:t>
            </a:r>
            <a:endParaRPr lang="en-US" sz="3600" i="1" dirty="0"/>
          </a:p>
        </p:txBody>
      </p:sp>
      <p:sp>
        <p:nvSpPr>
          <p:cNvPr id="4" name="Slide Number Placeholder 3"/>
          <p:cNvSpPr>
            <a:spLocks noGrp="1"/>
          </p:cNvSpPr>
          <p:nvPr>
            <p:ph type="sldNum" sz="quarter" idx="11"/>
          </p:nvPr>
        </p:nvSpPr>
        <p:spPr/>
        <p:txBody>
          <a:bodyPr/>
          <a:lstStyle/>
          <a:p>
            <a:pPr>
              <a:defRPr/>
            </a:pPr>
            <a:fld id="{A957CEED-90C7-4FD0-AB8C-14085BB9151E}" type="slidenum">
              <a:rPr lang="en-US" smtClean="0"/>
              <a:pPr>
                <a:defRPr/>
              </a:pPr>
              <a:t>2</a:t>
            </a:fld>
            <a:endParaRPr lang="en-US" dirty="0"/>
          </a:p>
        </p:txBody>
      </p:sp>
      <p:sp>
        <p:nvSpPr>
          <p:cNvPr id="5"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err="1"/>
              <a:t>Subcircuit</a:t>
            </a:r>
            <a:r>
              <a:rPr lang="en-US" sz="3200" dirty="0"/>
              <a:t> Equivalence</a:t>
            </a:r>
          </a:p>
        </p:txBody>
      </p:sp>
      <p:sp>
        <p:nvSpPr>
          <p:cNvPr id="6147" name="Content Placeholder 2"/>
          <p:cNvSpPr>
            <a:spLocks noGrp="1"/>
          </p:cNvSpPr>
          <p:nvPr>
            <p:ph idx="1"/>
          </p:nvPr>
        </p:nvSpPr>
        <p:spPr>
          <a:xfrm>
            <a:off x="533400" y="838201"/>
            <a:ext cx="8339960" cy="5753099"/>
          </a:xfrm>
        </p:spPr>
        <p:txBody>
          <a:bodyPr/>
          <a:lstStyle/>
          <a:p>
            <a:r>
              <a:rPr lang="en-US" sz="2400" dirty="0"/>
              <a:t>Any two-terminal </a:t>
            </a:r>
            <a:r>
              <a:rPr lang="en-US" sz="2400" dirty="0" err="1"/>
              <a:t>subcircuit</a:t>
            </a:r>
            <a:r>
              <a:rPr lang="en-US" sz="2400" dirty="0"/>
              <a:t> (portion of a circuit) has a </a:t>
            </a:r>
            <a:r>
              <a:rPr lang="en-US" sz="2400" i="1" dirty="0"/>
              <a:t>terminal law </a:t>
            </a:r>
            <a:r>
              <a:rPr lang="en-US" sz="2400" dirty="0"/>
              <a:t>that relates terminal </a:t>
            </a:r>
            <a:r>
              <a:rPr lang="en-US" sz="2400" i="1" dirty="0"/>
              <a:t>v</a:t>
            </a:r>
            <a:r>
              <a:rPr lang="en-US" sz="2400" dirty="0"/>
              <a:t> and </a:t>
            </a:r>
            <a:r>
              <a:rPr lang="en-US" sz="2400" i="1" dirty="0" err="1"/>
              <a:t>i</a:t>
            </a:r>
            <a:r>
              <a:rPr lang="en-US" sz="2400" dirty="0"/>
              <a:t>.</a:t>
            </a:r>
          </a:p>
          <a:p>
            <a:pPr lvl="6"/>
            <a:r>
              <a:rPr lang="en-US" sz="2400" dirty="0"/>
              <a:t>Terminal Law for a</a:t>
            </a:r>
            <a:r>
              <a:rPr lang="tr-TR" sz="2400" dirty="0"/>
              <a:t> ...</a:t>
            </a:r>
            <a:endParaRPr lang="en-US" sz="2400" dirty="0"/>
          </a:p>
          <a:p>
            <a:pPr marL="3200400" lvl="7" indent="0">
              <a:buNone/>
            </a:pPr>
            <a:r>
              <a:rPr lang="tr-TR" sz="2400" dirty="0"/>
              <a:t>... r</a:t>
            </a:r>
            <a:r>
              <a:rPr lang="en-US" sz="2400" dirty="0" err="1"/>
              <a:t>esistor</a:t>
            </a:r>
            <a:r>
              <a:rPr lang="en-US" sz="2400" dirty="0"/>
              <a:t>:</a:t>
            </a:r>
            <a:endParaRPr lang="en-US" sz="2400" i="1" dirty="0"/>
          </a:p>
          <a:p>
            <a:pPr marL="3200400" lvl="7" indent="0">
              <a:buNone/>
            </a:pPr>
            <a:r>
              <a:rPr lang="tr-TR" sz="2400" dirty="0"/>
              <a:t>... i</a:t>
            </a:r>
            <a:r>
              <a:rPr lang="en-US" sz="2400" dirty="0" err="1"/>
              <a:t>ndependent</a:t>
            </a:r>
            <a:r>
              <a:rPr lang="en-US" sz="2400" dirty="0"/>
              <a:t> Voltage Source: </a:t>
            </a:r>
            <a:endParaRPr lang="en-US" sz="2400" i="1" baseline="-25000" dirty="0"/>
          </a:p>
          <a:p>
            <a:pPr marL="3200400" lvl="7" indent="0">
              <a:buNone/>
            </a:pPr>
            <a:r>
              <a:rPr lang="tr-TR" sz="2400" dirty="0"/>
              <a:t>... i</a:t>
            </a:r>
            <a:r>
              <a:rPr lang="en-US" sz="2400" dirty="0" err="1"/>
              <a:t>ndependent</a:t>
            </a:r>
            <a:r>
              <a:rPr lang="en-US" sz="2400" dirty="0"/>
              <a:t> Current Source: </a:t>
            </a:r>
            <a:endParaRPr lang="en-US" sz="2400" i="1" baseline="-25000" dirty="0"/>
          </a:p>
          <a:p>
            <a:pPr lvl="7">
              <a:buNone/>
            </a:pPr>
            <a:r>
              <a:rPr lang="en-US" sz="2400" dirty="0"/>
              <a:t>etc.</a:t>
            </a:r>
          </a:p>
          <a:p>
            <a:pPr lvl="7">
              <a:buNone/>
            </a:pPr>
            <a:endParaRPr lang="en-US" sz="2400" dirty="0"/>
          </a:p>
          <a:p>
            <a:pPr lvl="7">
              <a:buNone/>
            </a:pPr>
            <a:endParaRPr lang="en-US" sz="24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3</a:t>
            </a:fld>
            <a:endParaRPr lang="en-US" dirty="0"/>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grpSp>
        <p:nvGrpSpPr>
          <p:cNvPr id="66" name="Group 65"/>
          <p:cNvGrpSpPr/>
          <p:nvPr/>
        </p:nvGrpSpPr>
        <p:grpSpPr>
          <a:xfrm>
            <a:off x="800100" y="1638300"/>
            <a:ext cx="2057400" cy="2247900"/>
            <a:chOff x="647700" y="1752600"/>
            <a:chExt cx="2057400" cy="2705100"/>
          </a:xfrm>
        </p:grpSpPr>
        <p:cxnSp>
          <p:nvCxnSpPr>
            <p:cNvPr id="36" name="Straight Connector 35"/>
            <p:cNvCxnSpPr/>
            <p:nvPr/>
          </p:nvCxnSpPr>
          <p:spPr>
            <a:xfrm>
              <a:off x="1447800" y="2324100"/>
              <a:ext cx="11049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10800000">
              <a:off x="1447800" y="4419600"/>
              <a:ext cx="1104900" cy="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0" name="Group 12"/>
            <p:cNvGrpSpPr/>
            <p:nvPr/>
          </p:nvGrpSpPr>
          <p:grpSpPr>
            <a:xfrm rot="10800000">
              <a:off x="2400300" y="2667000"/>
              <a:ext cx="304800" cy="1561306"/>
              <a:chOff x="1485900" y="4687094"/>
              <a:chExt cx="304800" cy="1561306"/>
            </a:xfrm>
          </p:grpSpPr>
          <p:sp>
            <p:nvSpPr>
              <p:cNvPr id="41" name="Rectangle 40"/>
              <p:cNvSpPr/>
              <p:nvPr/>
            </p:nvSpPr>
            <p:spPr>
              <a:xfrm>
                <a:off x="1485900" y="5067300"/>
                <a:ext cx="304800" cy="800100"/>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p:cNvCxnSpPr>
                <a:stCxn id="41" idx="0"/>
              </p:cNvCxnSpPr>
              <p:nvPr/>
            </p:nvCxnSpPr>
            <p:spPr>
              <a:xfrm rot="5400000" flipH="1" flipV="1">
                <a:off x="1448594" y="4876800"/>
                <a:ext cx="380206" cy="79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5400000" flipH="1" flipV="1">
                <a:off x="1448594" y="6057106"/>
                <a:ext cx="3810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 name="Straight Connector 43"/>
            <p:cNvCxnSpPr/>
            <p:nvPr/>
          </p:nvCxnSpPr>
          <p:spPr>
            <a:xfrm rot="5400000" flipH="1" flipV="1">
              <a:off x="2305049" y="2570956"/>
              <a:ext cx="4953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5400000">
              <a:off x="2457449" y="4323556"/>
              <a:ext cx="1905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1181100" y="2324100"/>
              <a:ext cx="319318" cy="369332"/>
            </a:xfrm>
            <a:prstGeom prst="rect">
              <a:avLst/>
            </a:prstGeom>
            <a:noFill/>
          </p:spPr>
          <p:txBody>
            <a:bodyPr wrap="none" rtlCol="0">
              <a:spAutoFit/>
            </a:bodyPr>
            <a:lstStyle/>
            <a:p>
              <a:r>
                <a:rPr lang="en-US" dirty="0"/>
                <a:t>+</a:t>
              </a:r>
            </a:p>
          </p:txBody>
        </p:sp>
        <p:sp>
          <p:nvSpPr>
            <p:cNvPr id="55" name="TextBox 54"/>
            <p:cNvSpPr txBox="1"/>
            <p:nvPr/>
          </p:nvSpPr>
          <p:spPr>
            <a:xfrm>
              <a:off x="1219200" y="4012168"/>
              <a:ext cx="261610" cy="369332"/>
            </a:xfrm>
            <a:prstGeom prst="rect">
              <a:avLst/>
            </a:prstGeom>
            <a:noFill/>
          </p:spPr>
          <p:txBody>
            <a:bodyPr wrap="none" rtlCol="0">
              <a:spAutoFit/>
            </a:bodyPr>
            <a:lstStyle/>
            <a:p>
              <a:r>
                <a:rPr lang="en-US" dirty="0"/>
                <a:t>-</a:t>
              </a:r>
            </a:p>
          </p:txBody>
        </p:sp>
        <p:sp>
          <p:nvSpPr>
            <p:cNvPr id="56" name="Oval 55"/>
            <p:cNvSpPr/>
            <p:nvPr/>
          </p:nvSpPr>
          <p:spPr>
            <a:xfrm>
              <a:off x="1371600" y="2286000"/>
              <a:ext cx="76200" cy="76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1371600" y="4381500"/>
              <a:ext cx="76200" cy="76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p:cNvSpPr txBox="1"/>
            <p:nvPr/>
          </p:nvSpPr>
          <p:spPr>
            <a:xfrm>
              <a:off x="647700" y="3009900"/>
              <a:ext cx="1184940" cy="369332"/>
            </a:xfrm>
            <a:prstGeom prst="rect">
              <a:avLst/>
            </a:prstGeom>
            <a:noFill/>
          </p:spPr>
          <p:txBody>
            <a:bodyPr wrap="none" rtlCol="0">
              <a:spAutoFit/>
            </a:bodyPr>
            <a:lstStyle/>
            <a:p>
              <a:r>
                <a:rPr lang="en-US" dirty="0"/>
                <a:t>terminal </a:t>
              </a:r>
              <a:r>
                <a:rPr lang="en-US" i="1" dirty="0"/>
                <a:t>v</a:t>
              </a:r>
            </a:p>
          </p:txBody>
        </p:sp>
        <p:sp>
          <p:nvSpPr>
            <p:cNvPr id="59" name="TextBox 58"/>
            <p:cNvSpPr txBox="1"/>
            <p:nvPr/>
          </p:nvSpPr>
          <p:spPr>
            <a:xfrm>
              <a:off x="1257300" y="1752600"/>
              <a:ext cx="1120820" cy="369332"/>
            </a:xfrm>
            <a:prstGeom prst="rect">
              <a:avLst/>
            </a:prstGeom>
            <a:noFill/>
          </p:spPr>
          <p:txBody>
            <a:bodyPr wrap="none" rtlCol="0">
              <a:spAutoFit/>
            </a:bodyPr>
            <a:lstStyle/>
            <a:p>
              <a:r>
                <a:rPr lang="en-US" dirty="0"/>
                <a:t>terminal </a:t>
              </a:r>
              <a:r>
                <a:rPr lang="en-US" i="1" dirty="0" err="1"/>
                <a:t>i</a:t>
              </a:r>
              <a:endParaRPr lang="en-US" i="1" dirty="0"/>
            </a:p>
          </p:txBody>
        </p:sp>
        <p:cxnSp>
          <p:nvCxnSpPr>
            <p:cNvPr id="61" name="Straight Arrow Connector 60"/>
            <p:cNvCxnSpPr/>
            <p:nvPr/>
          </p:nvCxnSpPr>
          <p:spPr>
            <a:xfrm>
              <a:off x="1562100" y="2170112"/>
              <a:ext cx="52231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8519464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err="1"/>
              <a:t>Subcircuit</a:t>
            </a:r>
            <a:r>
              <a:rPr lang="en-US" sz="3200" dirty="0"/>
              <a:t> Equivalence</a:t>
            </a:r>
          </a:p>
        </p:txBody>
      </p:sp>
      <p:sp>
        <p:nvSpPr>
          <p:cNvPr id="6147" name="Content Placeholder 2"/>
          <p:cNvSpPr>
            <a:spLocks noGrp="1"/>
          </p:cNvSpPr>
          <p:nvPr>
            <p:ph idx="1"/>
          </p:nvPr>
        </p:nvSpPr>
        <p:spPr>
          <a:xfrm>
            <a:off x="533400" y="838201"/>
            <a:ext cx="8339960" cy="5753099"/>
          </a:xfrm>
        </p:spPr>
        <p:txBody>
          <a:bodyPr/>
          <a:lstStyle/>
          <a:p>
            <a:r>
              <a:rPr lang="en-US" sz="2400" dirty="0"/>
              <a:t>Any two-terminal </a:t>
            </a:r>
            <a:r>
              <a:rPr lang="en-US" sz="2400" dirty="0" err="1"/>
              <a:t>subcircuit</a:t>
            </a:r>
            <a:r>
              <a:rPr lang="en-US" sz="2400" dirty="0"/>
              <a:t> (portion of a circuit) has a </a:t>
            </a:r>
            <a:r>
              <a:rPr lang="en-US" sz="2400" i="1" dirty="0"/>
              <a:t>terminal law </a:t>
            </a:r>
            <a:r>
              <a:rPr lang="en-US" sz="2400" dirty="0"/>
              <a:t>that relates terminal </a:t>
            </a:r>
            <a:r>
              <a:rPr lang="en-US" sz="2400" i="1" dirty="0"/>
              <a:t>v</a:t>
            </a:r>
            <a:r>
              <a:rPr lang="en-US" sz="2400" dirty="0"/>
              <a:t> and </a:t>
            </a:r>
            <a:r>
              <a:rPr lang="en-US" sz="2400" i="1" dirty="0" err="1"/>
              <a:t>i</a:t>
            </a:r>
            <a:r>
              <a:rPr lang="en-US" sz="2400" dirty="0"/>
              <a:t>.</a:t>
            </a:r>
          </a:p>
          <a:p>
            <a:pPr lvl="6"/>
            <a:r>
              <a:rPr lang="en-US" sz="2400" dirty="0"/>
              <a:t>Terminal Law for a</a:t>
            </a:r>
            <a:r>
              <a:rPr lang="tr-TR" sz="2400" dirty="0"/>
              <a:t> ...</a:t>
            </a:r>
            <a:endParaRPr lang="en-US" sz="2400" dirty="0"/>
          </a:p>
          <a:p>
            <a:pPr marL="3200400" lvl="7" indent="0">
              <a:buNone/>
            </a:pPr>
            <a:r>
              <a:rPr lang="tr-TR" sz="2400" dirty="0"/>
              <a:t>... r</a:t>
            </a:r>
            <a:r>
              <a:rPr lang="en-US" sz="2400" dirty="0" err="1"/>
              <a:t>esistor</a:t>
            </a:r>
            <a:r>
              <a:rPr lang="en-US" sz="2400" dirty="0"/>
              <a:t>: </a:t>
            </a:r>
            <a:r>
              <a:rPr lang="en-US" sz="2400" i="1" dirty="0"/>
              <a:t>v=f(</a:t>
            </a:r>
            <a:r>
              <a:rPr lang="en-US" sz="2400" i="1" dirty="0" err="1"/>
              <a:t>i</a:t>
            </a:r>
            <a:r>
              <a:rPr lang="en-US" sz="2400" i="1" dirty="0"/>
              <a:t>)=</a:t>
            </a:r>
            <a:r>
              <a:rPr lang="en-US" sz="2400" i="1" dirty="0" err="1"/>
              <a:t>R.i</a:t>
            </a:r>
            <a:r>
              <a:rPr lang="en-US" sz="2400" i="1" dirty="0"/>
              <a:t>   </a:t>
            </a:r>
            <a:r>
              <a:rPr lang="en-US" sz="2400" dirty="0"/>
              <a:t>or </a:t>
            </a:r>
            <a:r>
              <a:rPr lang="en-US" sz="2400" i="1" dirty="0"/>
              <a:t> </a:t>
            </a:r>
            <a:r>
              <a:rPr lang="en-US" sz="2400" i="1" dirty="0" err="1"/>
              <a:t>i</a:t>
            </a:r>
            <a:r>
              <a:rPr lang="en-US" sz="2400" i="1" dirty="0"/>
              <a:t>=g(v)=</a:t>
            </a:r>
            <a:r>
              <a:rPr lang="en-US" sz="2400" i="1" dirty="0" err="1"/>
              <a:t>G.v</a:t>
            </a:r>
            <a:endParaRPr lang="en-US" sz="2400" i="1" dirty="0"/>
          </a:p>
          <a:p>
            <a:pPr marL="3200400" lvl="7" indent="0">
              <a:buNone/>
            </a:pPr>
            <a:r>
              <a:rPr lang="tr-TR" sz="2400" dirty="0"/>
              <a:t>... i</a:t>
            </a:r>
            <a:r>
              <a:rPr lang="en-US" sz="2400" dirty="0" err="1"/>
              <a:t>ndependent</a:t>
            </a:r>
            <a:r>
              <a:rPr lang="en-US" sz="2400" dirty="0"/>
              <a:t> Voltage Source: </a:t>
            </a:r>
            <a:r>
              <a:rPr lang="en-US" sz="2400" i="1" dirty="0"/>
              <a:t>v=v</a:t>
            </a:r>
            <a:r>
              <a:rPr lang="en-US" sz="2400" i="1" baseline="-25000" dirty="0"/>
              <a:t>s</a:t>
            </a:r>
          </a:p>
          <a:p>
            <a:pPr marL="3200400" lvl="7" indent="0">
              <a:buNone/>
            </a:pPr>
            <a:r>
              <a:rPr lang="tr-TR" sz="2400" dirty="0"/>
              <a:t>... i</a:t>
            </a:r>
            <a:r>
              <a:rPr lang="en-US" sz="2400" dirty="0" err="1"/>
              <a:t>ndependent</a:t>
            </a:r>
            <a:r>
              <a:rPr lang="en-US" sz="2400" dirty="0"/>
              <a:t> Current Source: </a:t>
            </a:r>
            <a:r>
              <a:rPr lang="en-US" sz="2400" i="1" dirty="0" err="1"/>
              <a:t>i</a:t>
            </a:r>
            <a:r>
              <a:rPr lang="en-US" sz="2400" i="1" dirty="0"/>
              <a:t>=i</a:t>
            </a:r>
            <a:r>
              <a:rPr lang="en-US" sz="2400" i="1" baseline="-25000" dirty="0"/>
              <a:t>s</a:t>
            </a:r>
          </a:p>
          <a:p>
            <a:pPr lvl="7">
              <a:buNone/>
            </a:pPr>
            <a:r>
              <a:rPr lang="en-US" sz="2400" dirty="0"/>
              <a:t>etc.</a:t>
            </a:r>
          </a:p>
          <a:p>
            <a:pPr lvl="7">
              <a:buNone/>
            </a:pPr>
            <a:endParaRPr lang="en-US" sz="2400" dirty="0"/>
          </a:p>
          <a:p>
            <a:pPr lvl="7">
              <a:buNone/>
            </a:pPr>
            <a:endParaRPr lang="en-US" sz="24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4</a:t>
            </a:fld>
            <a:endParaRPr lang="en-US" dirty="0"/>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grpSp>
        <p:nvGrpSpPr>
          <p:cNvPr id="66" name="Group 65"/>
          <p:cNvGrpSpPr/>
          <p:nvPr/>
        </p:nvGrpSpPr>
        <p:grpSpPr>
          <a:xfrm>
            <a:off x="800100" y="1638300"/>
            <a:ext cx="2057400" cy="2247900"/>
            <a:chOff x="647700" y="1752600"/>
            <a:chExt cx="2057400" cy="2705100"/>
          </a:xfrm>
        </p:grpSpPr>
        <p:cxnSp>
          <p:nvCxnSpPr>
            <p:cNvPr id="36" name="Straight Connector 35"/>
            <p:cNvCxnSpPr/>
            <p:nvPr/>
          </p:nvCxnSpPr>
          <p:spPr>
            <a:xfrm>
              <a:off x="1447800" y="2324100"/>
              <a:ext cx="11049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10800000">
              <a:off x="1447800" y="4419600"/>
              <a:ext cx="1104900" cy="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0" name="Group 12"/>
            <p:cNvGrpSpPr/>
            <p:nvPr/>
          </p:nvGrpSpPr>
          <p:grpSpPr>
            <a:xfrm rot="10800000">
              <a:off x="2400300" y="2667000"/>
              <a:ext cx="304800" cy="1561306"/>
              <a:chOff x="1485900" y="4687094"/>
              <a:chExt cx="304800" cy="1561306"/>
            </a:xfrm>
          </p:grpSpPr>
          <p:sp>
            <p:nvSpPr>
              <p:cNvPr id="41" name="Rectangle 40"/>
              <p:cNvSpPr/>
              <p:nvPr/>
            </p:nvSpPr>
            <p:spPr>
              <a:xfrm>
                <a:off x="1485900" y="5067300"/>
                <a:ext cx="304800" cy="800100"/>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p:cNvCxnSpPr>
                <a:stCxn id="41" idx="0"/>
              </p:cNvCxnSpPr>
              <p:nvPr/>
            </p:nvCxnSpPr>
            <p:spPr>
              <a:xfrm rot="5400000" flipH="1" flipV="1">
                <a:off x="1448594" y="4876800"/>
                <a:ext cx="380206" cy="79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5400000" flipH="1" flipV="1">
                <a:off x="1448594" y="6057106"/>
                <a:ext cx="3810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 name="Straight Connector 43"/>
            <p:cNvCxnSpPr/>
            <p:nvPr/>
          </p:nvCxnSpPr>
          <p:spPr>
            <a:xfrm rot="5400000" flipH="1" flipV="1">
              <a:off x="2305049" y="2570956"/>
              <a:ext cx="4953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5400000">
              <a:off x="2457449" y="4323556"/>
              <a:ext cx="1905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1181100" y="2324100"/>
              <a:ext cx="319318" cy="369332"/>
            </a:xfrm>
            <a:prstGeom prst="rect">
              <a:avLst/>
            </a:prstGeom>
            <a:noFill/>
          </p:spPr>
          <p:txBody>
            <a:bodyPr wrap="none" rtlCol="0">
              <a:spAutoFit/>
            </a:bodyPr>
            <a:lstStyle/>
            <a:p>
              <a:r>
                <a:rPr lang="en-US" dirty="0"/>
                <a:t>+</a:t>
              </a:r>
            </a:p>
          </p:txBody>
        </p:sp>
        <p:sp>
          <p:nvSpPr>
            <p:cNvPr id="55" name="TextBox 54"/>
            <p:cNvSpPr txBox="1"/>
            <p:nvPr/>
          </p:nvSpPr>
          <p:spPr>
            <a:xfrm>
              <a:off x="1219200" y="4012168"/>
              <a:ext cx="261610" cy="369332"/>
            </a:xfrm>
            <a:prstGeom prst="rect">
              <a:avLst/>
            </a:prstGeom>
            <a:noFill/>
          </p:spPr>
          <p:txBody>
            <a:bodyPr wrap="none" rtlCol="0">
              <a:spAutoFit/>
            </a:bodyPr>
            <a:lstStyle/>
            <a:p>
              <a:r>
                <a:rPr lang="en-US" dirty="0"/>
                <a:t>-</a:t>
              </a:r>
            </a:p>
          </p:txBody>
        </p:sp>
        <p:sp>
          <p:nvSpPr>
            <p:cNvPr id="56" name="Oval 55"/>
            <p:cNvSpPr/>
            <p:nvPr/>
          </p:nvSpPr>
          <p:spPr>
            <a:xfrm>
              <a:off x="1371600" y="2286000"/>
              <a:ext cx="76200" cy="76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1371600" y="4381500"/>
              <a:ext cx="76200" cy="76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p:cNvSpPr txBox="1"/>
            <p:nvPr/>
          </p:nvSpPr>
          <p:spPr>
            <a:xfrm>
              <a:off x="647700" y="3009900"/>
              <a:ext cx="1184940" cy="369332"/>
            </a:xfrm>
            <a:prstGeom prst="rect">
              <a:avLst/>
            </a:prstGeom>
            <a:noFill/>
          </p:spPr>
          <p:txBody>
            <a:bodyPr wrap="none" rtlCol="0">
              <a:spAutoFit/>
            </a:bodyPr>
            <a:lstStyle/>
            <a:p>
              <a:r>
                <a:rPr lang="en-US" dirty="0"/>
                <a:t>terminal </a:t>
              </a:r>
              <a:r>
                <a:rPr lang="en-US" i="1" dirty="0"/>
                <a:t>v</a:t>
              </a:r>
            </a:p>
          </p:txBody>
        </p:sp>
        <p:sp>
          <p:nvSpPr>
            <p:cNvPr id="59" name="TextBox 58"/>
            <p:cNvSpPr txBox="1"/>
            <p:nvPr/>
          </p:nvSpPr>
          <p:spPr>
            <a:xfrm>
              <a:off x="1257300" y="1752600"/>
              <a:ext cx="1120820" cy="369332"/>
            </a:xfrm>
            <a:prstGeom prst="rect">
              <a:avLst/>
            </a:prstGeom>
            <a:noFill/>
          </p:spPr>
          <p:txBody>
            <a:bodyPr wrap="none" rtlCol="0">
              <a:spAutoFit/>
            </a:bodyPr>
            <a:lstStyle/>
            <a:p>
              <a:r>
                <a:rPr lang="en-US" dirty="0"/>
                <a:t>terminal </a:t>
              </a:r>
              <a:r>
                <a:rPr lang="en-US" i="1" dirty="0" err="1"/>
                <a:t>i</a:t>
              </a:r>
              <a:endParaRPr lang="en-US" i="1" dirty="0"/>
            </a:p>
          </p:txBody>
        </p:sp>
        <p:cxnSp>
          <p:nvCxnSpPr>
            <p:cNvPr id="61" name="Straight Arrow Connector 60"/>
            <p:cNvCxnSpPr/>
            <p:nvPr/>
          </p:nvCxnSpPr>
          <p:spPr>
            <a:xfrm>
              <a:off x="1562100" y="2170112"/>
              <a:ext cx="52231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ounded Rectangle 63"/>
          <p:cNvSpPr/>
          <p:nvPr/>
        </p:nvSpPr>
        <p:spPr>
          <a:xfrm>
            <a:off x="1028700" y="4229100"/>
            <a:ext cx="7467600" cy="87630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6" name="Title 1"/>
          <p:cNvSpPr>
            <a:spLocks noGrp="1"/>
          </p:cNvSpPr>
          <p:nvPr>
            <p:ph type="title"/>
          </p:nvPr>
        </p:nvSpPr>
        <p:spPr>
          <a:xfrm>
            <a:off x="457200" y="122237"/>
            <a:ext cx="8229600" cy="563563"/>
          </a:xfrm>
        </p:spPr>
        <p:txBody>
          <a:bodyPr/>
          <a:lstStyle/>
          <a:p>
            <a:r>
              <a:rPr lang="en-US" sz="3200" dirty="0" err="1"/>
              <a:t>Subcircuit</a:t>
            </a:r>
            <a:r>
              <a:rPr lang="en-US" sz="3200" dirty="0"/>
              <a:t> Equivalence</a:t>
            </a:r>
          </a:p>
        </p:txBody>
      </p:sp>
      <p:sp>
        <p:nvSpPr>
          <p:cNvPr id="6147" name="Content Placeholder 2"/>
          <p:cNvSpPr>
            <a:spLocks noGrp="1"/>
          </p:cNvSpPr>
          <p:nvPr>
            <p:ph idx="1"/>
          </p:nvPr>
        </p:nvSpPr>
        <p:spPr>
          <a:xfrm>
            <a:off x="533400" y="838201"/>
            <a:ext cx="8493580" cy="5753099"/>
          </a:xfrm>
        </p:spPr>
        <p:txBody>
          <a:bodyPr/>
          <a:lstStyle/>
          <a:p>
            <a:r>
              <a:rPr lang="en-US" sz="2400" dirty="0"/>
              <a:t>Any two-terminal </a:t>
            </a:r>
            <a:r>
              <a:rPr lang="en-US" sz="2400" dirty="0" err="1"/>
              <a:t>subcircuit</a:t>
            </a:r>
            <a:r>
              <a:rPr lang="en-US" sz="2400" dirty="0"/>
              <a:t> (portion of a circuit) has a </a:t>
            </a:r>
            <a:r>
              <a:rPr lang="en-US" sz="2400" i="1" dirty="0"/>
              <a:t>terminal law </a:t>
            </a:r>
            <a:r>
              <a:rPr lang="en-US" sz="2400" dirty="0"/>
              <a:t>that relates terminal </a:t>
            </a:r>
            <a:r>
              <a:rPr lang="en-US" sz="2400" i="1" dirty="0"/>
              <a:t>v</a:t>
            </a:r>
            <a:r>
              <a:rPr lang="en-US" sz="2400" dirty="0"/>
              <a:t> and </a:t>
            </a:r>
            <a:r>
              <a:rPr lang="en-US" sz="2400" i="1" dirty="0" err="1"/>
              <a:t>i</a:t>
            </a:r>
            <a:r>
              <a:rPr lang="en-US" sz="2400" dirty="0"/>
              <a:t>.</a:t>
            </a:r>
          </a:p>
          <a:p>
            <a:pPr lvl="6"/>
            <a:r>
              <a:rPr lang="en-US" sz="2400" dirty="0"/>
              <a:t>Terminal Law for a</a:t>
            </a:r>
            <a:r>
              <a:rPr lang="tr-TR" sz="2400" dirty="0"/>
              <a:t> ...</a:t>
            </a:r>
            <a:endParaRPr lang="en-US" sz="2400" dirty="0"/>
          </a:p>
          <a:p>
            <a:pPr marL="3200400" lvl="7" indent="0">
              <a:buNone/>
            </a:pPr>
            <a:r>
              <a:rPr lang="tr-TR" sz="2400" dirty="0"/>
              <a:t>... r</a:t>
            </a:r>
            <a:r>
              <a:rPr lang="en-US" sz="2400" dirty="0" err="1"/>
              <a:t>esistor</a:t>
            </a:r>
            <a:r>
              <a:rPr lang="en-US" sz="2400" dirty="0"/>
              <a:t>: </a:t>
            </a:r>
            <a:r>
              <a:rPr lang="en-US" sz="2400" i="1" dirty="0"/>
              <a:t>v=f(</a:t>
            </a:r>
            <a:r>
              <a:rPr lang="en-US" sz="2400" i="1" dirty="0" err="1"/>
              <a:t>i</a:t>
            </a:r>
            <a:r>
              <a:rPr lang="en-US" sz="2400" i="1" dirty="0"/>
              <a:t>)=</a:t>
            </a:r>
            <a:r>
              <a:rPr lang="en-US" sz="2400" i="1" dirty="0" err="1"/>
              <a:t>R.i</a:t>
            </a:r>
            <a:r>
              <a:rPr lang="en-US" sz="2400" i="1" dirty="0"/>
              <a:t>   </a:t>
            </a:r>
            <a:r>
              <a:rPr lang="en-US" sz="2400" dirty="0"/>
              <a:t>or </a:t>
            </a:r>
            <a:r>
              <a:rPr lang="en-US" sz="2400" i="1" dirty="0"/>
              <a:t> </a:t>
            </a:r>
            <a:r>
              <a:rPr lang="en-US" sz="2400" i="1" dirty="0" err="1"/>
              <a:t>i</a:t>
            </a:r>
            <a:r>
              <a:rPr lang="en-US" sz="2400" i="1" dirty="0"/>
              <a:t>=g(v)=</a:t>
            </a:r>
            <a:r>
              <a:rPr lang="en-US" sz="2400" i="1" dirty="0" err="1"/>
              <a:t>G.v</a:t>
            </a:r>
            <a:endParaRPr lang="en-US" sz="2400" i="1" dirty="0"/>
          </a:p>
          <a:p>
            <a:pPr marL="3200400" lvl="7" indent="0">
              <a:buNone/>
            </a:pPr>
            <a:r>
              <a:rPr lang="tr-TR" sz="2400" dirty="0"/>
              <a:t>... i</a:t>
            </a:r>
            <a:r>
              <a:rPr lang="en-US" sz="2400" dirty="0" err="1"/>
              <a:t>ndependent</a:t>
            </a:r>
            <a:r>
              <a:rPr lang="en-US" sz="2400" dirty="0"/>
              <a:t> Voltage Source: </a:t>
            </a:r>
            <a:r>
              <a:rPr lang="en-US" sz="2400" i="1" dirty="0"/>
              <a:t>v=v</a:t>
            </a:r>
            <a:r>
              <a:rPr lang="en-US" sz="2400" i="1" baseline="-25000" dirty="0"/>
              <a:t>s</a:t>
            </a:r>
          </a:p>
          <a:p>
            <a:pPr marL="3200400" lvl="7" indent="0">
              <a:buNone/>
            </a:pPr>
            <a:r>
              <a:rPr lang="tr-TR" sz="2400" dirty="0"/>
              <a:t>... i</a:t>
            </a:r>
            <a:r>
              <a:rPr lang="en-US" sz="2400" dirty="0" err="1"/>
              <a:t>ndependent</a:t>
            </a:r>
            <a:r>
              <a:rPr lang="en-US" sz="2400" dirty="0"/>
              <a:t> Current Source: </a:t>
            </a:r>
            <a:r>
              <a:rPr lang="en-US" sz="2400" i="1" dirty="0" err="1"/>
              <a:t>i</a:t>
            </a:r>
            <a:r>
              <a:rPr lang="en-US" sz="2400" i="1" dirty="0"/>
              <a:t>=i</a:t>
            </a:r>
            <a:r>
              <a:rPr lang="en-US" sz="2400" i="1" baseline="-25000" dirty="0"/>
              <a:t>s</a:t>
            </a:r>
          </a:p>
          <a:p>
            <a:pPr lvl="7">
              <a:buNone/>
            </a:pPr>
            <a:r>
              <a:rPr lang="en-US" sz="2400" dirty="0"/>
              <a:t>etc.</a:t>
            </a:r>
          </a:p>
          <a:p>
            <a:pPr lvl="7">
              <a:buNone/>
            </a:pPr>
            <a:endParaRPr lang="en-US" sz="2400" dirty="0"/>
          </a:p>
          <a:p>
            <a:pPr lvl="7">
              <a:buNone/>
            </a:pPr>
            <a:endParaRPr lang="en-US" sz="2400" dirty="0"/>
          </a:p>
          <a:p>
            <a:pPr lvl="7">
              <a:buNone/>
            </a:pPr>
            <a:endParaRPr lang="en-US" sz="2400" dirty="0"/>
          </a:p>
          <a:p>
            <a:pPr lvl="7">
              <a:buNone/>
            </a:pPr>
            <a:endParaRPr lang="en-US" sz="800" dirty="0"/>
          </a:p>
          <a:p>
            <a:r>
              <a:rPr lang="en-US" sz="2400" dirty="0"/>
              <a:t>Using simpler equivalent circuits to replace the more complex ones saves time and resources in circuit analysis.</a:t>
            </a:r>
          </a:p>
          <a:p>
            <a:r>
              <a:rPr lang="en-US" sz="2400" dirty="0"/>
              <a:t>The above test will be applied to check equivalence.</a:t>
            </a:r>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5</a:t>
            </a:fld>
            <a:endParaRPr lang="en-US" dirty="0"/>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grpSp>
        <p:nvGrpSpPr>
          <p:cNvPr id="2" name="Group 65"/>
          <p:cNvGrpSpPr/>
          <p:nvPr/>
        </p:nvGrpSpPr>
        <p:grpSpPr>
          <a:xfrm>
            <a:off x="800100" y="1638300"/>
            <a:ext cx="2057400" cy="2247900"/>
            <a:chOff x="647700" y="1752600"/>
            <a:chExt cx="2057400" cy="2705100"/>
          </a:xfrm>
        </p:grpSpPr>
        <p:cxnSp>
          <p:nvCxnSpPr>
            <p:cNvPr id="36" name="Straight Connector 35"/>
            <p:cNvCxnSpPr/>
            <p:nvPr/>
          </p:nvCxnSpPr>
          <p:spPr>
            <a:xfrm>
              <a:off x="1447800" y="2324100"/>
              <a:ext cx="11049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10800000">
              <a:off x="1447800" y="4419600"/>
              <a:ext cx="1104900" cy="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12"/>
            <p:cNvGrpSpPr/>
            <p:nvPr/>
          </p:nvGrpSpPr>
          <p:grpSpPr>
            <a:xfrm rot="10800000">
              <a:off x="2400300" y="2667000"/>
              <a:ext cx="304800" cy="1561306"/>
              <a:chOff x="1485900" y="4687094"/>
              <a:chExt cx="304800" cy="1561306"/>
            </a:xfrm>
          </p:grpSpPr>
          <p:sp>
            <p:nvSpPr>
              <p:cNvPr id="41" name="Rectangle 40"/>
              <p:cNvSpPr/>
              <p:nvPr/>
            </p:nvSpPr>
            <p:spPr>
              <a:xfrm>
                <a:off x="1485900" y="5067300"/>
                <a:ext cx="304800" cy="800100"/>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p:cNvCxnSpPr>
                <a:stCxn id="41" idx="0"/>
              </p:cNvCxnSpPr>
              <p:nvPr/>
            </p:nvCxnSpPr>
            <p:spPr>
              <a:xfrm rot="5400000" flipH="1" flipV="1">
                <a:off x="1448594" y="4876800"/>
                <a:ext cx="380206" cy="79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5400000" flipH="1" flipV="1">
                <a:off x="1448594" y="6057106"/>
                <a:ext cx="3810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 name="Straight Connector 43"/>
            <p:cNvCxnSpPr/>
            <p:nvPr/>
          </p:nvCxnSpPr>
          <p:spPr>
            <a:xfrm rot="5400000" flipH="1" flipV="1">
              <a:off x="2305049" y="2570956"/>
              <a:ext cx="4953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5400000">
              <a:off x="2457449" y="4323556"/>
              <a:ext cx="1905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1181100" y="2324100"/>
              <a:ext cx="319318" cy="369332"/>
            </a:xfrm>
            <a:prstGeom prst="rect">
              <a:avLst/>
            </a:prstGeom>
            <a:noFill/>
          </p:spPr>
          <p:txBody>
            <a:bodyPr wrap="none" rtlCol="0">
              <a:spAutoFit/>
            </a:bodyPr>
            <a:lstStyle/>
            <a:p>
              <a:r>
                <a:rPr lang="en-US" dirty="0"/>
                <a:t>+</a:t>
              </a:r>
            </a:p>
          </p:txBody>
        </p:sp>
        <p:sp>
          <p:nvSpPr>
            <p:cNvPr id="55" name="TextBox 54"/>
            <p:cNvSpPr txBox="1"/>
            <p:nvPr/>
          </p:nvSpPr>
          <p:spPr>
            <a:xfrm>
              <a:off x="1219200" y="4012168"/>
              <a:ext cx="261610" cy="369332"/>
            </a:xfrm>
            <a:prstGeom prst="rect">
              <a:avLst/>
            </a:prstGeom>
            <a:noFill/>
          </p:spPr>
          <p:txBody>
            <a:bodyPr wrap="none" rtlCol="0">
              <a:spAutoFit/>
            </a:bodyPr>
            <a:lstStyle/>
            <a:p>
              <a:r>
                <a:rPr lang="en-US" dirty="0"/>
                <a:t>-</a:t>
              </a:r>
            </a:p>
          </p:txBody>
        </p:sp>
        <p:sp>
          <p:nvSpPr>
            <p:cNvPr id="56" name="Oval 55"/>
            <p:cNvSpPr/>
            <p:nvPr/>
          </p:nvSpPr>
          <p:spPr>
            <a:xfrm>
              <a:off x="1371600" y="2286000"/>
              <a:ext cx="76200" cy="76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1371600" y="4381500"/>
              <a:ext cx="76200" cy="762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p:cNvSpPr txBox="1"/>
            <p:nvPr/>
          </p:nvSpPr>
          <p:spPr>
            <a:xfrm>
              <a:off x="647700" y="3009900"/>
              <a:ext cx="1184940" cy="369332"/>
            </a:xfrm>
            <a:prstGeom prst="rect">
              <a:avLst/>
            </a:prstGeom>
            <a:noFill/>
          </p:spPr>
          <p:txBody>
            <a:bodyPr wrap="none" rtlCol="0">
              <a:spAutoFit/>
            </a:bodyPr>
            <a:lstStyle/>
            <a:p>
              <a:r>
                <a:rPr lang="en-US" dirty="0"/>
                <a:t>terminal </a:t>
              </a:r>
              <a:r>
                <a:rPr lang="en-US" i="1" dirty="0"/>
                <a:t>v</a:t>
              </a:r>
            </a:p>
          </p:txBody>
        </p:sp>
        <p:sp>
          <p:nvSpPr>
            <p:cNvPr id="59" name="TextBox 58"/>
            <p:cNvSpPr txBox="1"/>
            <p:nvPr/>
          </p:nvSpPr>
          <p:spPr>
            <a:xfrm>
              <a:off x="1257300" y="1752600"/>
              <a:ext cx="1120820" cy="369332"/>
            </a:xfrm>
            <a:prstGeom prst="rect">
              <a:avLst/>
            </a:prstGeom>
            <a:noFill/>
          </p:spPr>
          <p:txBody>
            <a:bodyPr wrap="none" rtlCol="0">
              <a:spAutoFit/>
            </a:bodyPr>
            <a:lstStyle/>
            <a:p>
              <a:r>
                <a:rPr lang="en-US" dirty="0"/>
                <a:t>terminal </a:t>
              </a:r>
              <a:r>
                <a:rPr lang="en-US" i="1" dirty="0" err="1"/>
                <a:t>i</a:t>
              </a:r>
              <a:endParaRPr lang="en-US" i="1" dirty="0"/>
            </a:p>
          </p:txBody>
        </p:sp>
        <p:cxnSp>
          <p:nvCxnSpPr>
            <p:cNvPr id="61" name="Straight Arrow Connector 60"/>
            <p:cNvCxnSpPr/>
            <p:nvPr/>
          </p:nvCxnSpPr>
          <p:spPr>
            <a:xfrm>
              <a:off x="1562100" y="2170112"/>
              <a:ext cx="52231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63" name="TextBox 62"/>
          <p:cNvSpPr txBox="1"/>
          <p:nvPr/>
        </p:nvSpPr>
        <p:spPr>
          <a:xfrm>
            <a:off x="1181100" y="4267200"/>
            <a:ext cx="7425431" cy="830997"/>
          </a:xfrm>
          <a:prstGeom prst="rect">
            <a:avLst/>
          </a:prstGeom>
          <a:noFill/>
        </p:spPr>
        <p:txBody>
          <a:bodyPr wrap="none" rtlCol="0">
            <a:spAutoFit/>
          </a:bodyPr>
          <a:lstStyle/>
          <a:p>
            <a:r>
              <a:rPr lang="en-US" sz="2400" dirty="0"/>
              <a:t>2 two-terminal </a:t>
            </a:r>
            <a:r>
              <a:rPr lang="en-US" sz="2400" dirty="0" err="1"/>
              <a:t>subcircuits</a:t>
            </a:r>
            <a:r>
              <a:rPr lang="en-US" sz="2400" dirty="0"/>
              <a:t> are equivalent if they have </a:t>
            </a:r>
          </a:p>
          <a:p>
            <a:r>
              <a:rPr lang="en-US" sz="2400" dirty="0"/>
              <a:t>the same terminal law.</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ounded Rectangle 63"/>
          <p:cNvSpPr/>
          <p:nvPr/>
        </p:nvSpPr>
        <p:spPr>
          <a:xfrm>
            <a:off x="609600" y="838200"/>
            <a:ext cx="7658100" cy="160020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6" name="Title 1"/>
          <p:cNvSpPr>
            <a:spLocks noGrp="1"/>
          </p:cNvSpPr>
          <p:nvPr>
            <p:ph type="title"/>
          </p:nvPr>
        </p:nvSpPr>
        <p:spPr>
          <a:xfrm>
            <a:off x="457200" y="122237"/>
            <a:ext cx="7086600" cy="563563"/>
          </a:xfrm>
        </p:spPr>
        <p:txBody>
          <a:bodyPr/>
          <a:lstStyle/>
          <a:p>
            <a:r>
              <a:rPr lang="en-US" sz="3200" dirty="0"/>
              <a:t>Series Equivalents</a:t>
            </a:r>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6</a:t>
            </a:fld>
            <a:endParaRPr lang="en-US" dirty="0"/>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3" name="TextBox 62"/>
          <p:cNvSpPr txBox="1"/>
          <p:nvPr/>
        </p:nvSpPr>
        <p:spPr>
          <a:xfrm>
            <a:off x="723149" y="876300"/>
            <a:ext cx="7544551" cy="1569660"/>
          </a:xfrm>
          <a:prstGeom prst="rect">
            <a:avLst/>
          </a:prstGeom>
          <a:noFill/>
        </p:spPr>
        <p:txBody>
          <a:bodyPr wrap="square" rtlCol="0">
            <a:spAutoFit/>
          </a:bodyPr>
          <a:lstStyle/>
          <a:p>
            <a:r>
              <a:rPr lang="en-US" sz="2400" dirty="0"/>
              <a:t>Two adjacent elements are </a:t>
            </a:r>
            <a:r>
              <a:rPr lang="en-US" sz="2400" i="1" dirty="0"/>
              <a:t>in series </a:t>
            </a:r>
            <a:r>
              <a:rPr lang="en-US" sz="2400" dirty="0"/>
              <a:t>if they share a common node that has no other currents entering it. Nonadjacent elements are in series if they are each in series with the same element.</a:t>
            </a:r>
          </a:p>
        </p:txBody>
      </p:sp>
      <p:pic>
        <p:nvPicPr>
          <p:cNvPr id="156679" name="Picture 7"/>
          <p:cNvPicPr>
            <a:picLocks noChangeAspect="1" noChangeArrowheads="1"/>
          </p:cNvPicPr>
          <p:nvPr/>
        </p:nvPicPr>
        <p:blipFill>
          <a:blip r:embed="rId2" cstate="print"/>
          <a:srcRect/>
          <a:stretch>
            <a:fillRect/>
          </a:stretch>
        </p:blipFill>
        <p:spPr bwMode="auto">
          <a:xfrm>
            <a:off x="190500" y="2705100"/>
            <a:ext cx="2201273" cy="3238500"/>
          </a:xfrm>
          <a:prstGeom prst="rect">
            <a:avLst/>
          </a:prstGeom>
          <a:noFill/>
          <a:ln w="9525">
            <a:noFill/>
            <a:miter lim="800000"/>
            <a:headEnd/>
            <a:tailEnd/>
          </a:ln>
          <a:effectLst/>
        </p:spPr>
      </p:pic>
    </p:spTree>
    <p:extLst>
      <p:ext uri="{BB962C8B-B14F-4D97-AF65-F5344CB8AC3E}">
        <p14:creationId xmlns:p14="http://schemas.microsoft.com/office/powerpoint/2010/main" val="404721221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ounded Rectangle 30"/>
          <p:cNvSpPr/>
          <p:nvPr/>
        </p:nvSpPr>
        <p:spPr>
          <a:xfrm>
            <a:off x="6172200" y="5829300"/>
            <a:ext cx="1905000" cy="95250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ounded Rectangle 63"/>
          <p:cNvSpPr/>
          <p:nvPr/>
        </p:nvSpPr>
        <p:spPr>
          <a:xfrm>
            <a:off x="609600" y="838200"/>
            <a:ext cx="7658100" cy="160020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6" name="Title 1"/>
          <p:cNvSpPr>
            <a:spLocks noGrp="1"/>
          </p:cNvSpPr>
          <p:nvPr>
            <p:ph type="title"/>
          </p:nvPr>
        </p:nvSpPr>
        <p:spPr>
          <a:xfrm>
            <a:off x="457200" y="122237"/>
            <a:ext cx="7086600" cy="563563"/>
          </a:xfrm>
        </p:spPr>
        <p:txBody>
          <a:bodyPr/>
          <a:lstStyle/>
          <a:p>
            <a:r>
              <a:rPr lang="en-US" sz="3200" dirty="0"/>
              <a:t>Series Equivalents</a:t>
            </a:r>
          </a:p>
        </p:txBody>
      </p:sp>
      <p:sp>
        <p:nvSpPr>
          <p:cNvPr id="6147" name="Content Placeholder 2"/>
          <p:cNvSpPr>
            <a:spLocks noGrp="1"/>
          </p:cNvSpPr>
          <p:nvPr>
            <p:ph idx="1"/>
          </p:nvPr>
        </p:nvSpPr>
        <p:spPr>
          <a:xfrm>
            <a:off x="2628900" y="2514600"/>
            <a:ext cx="6134100" cy="4076700"/>
          </a:xfrm>
        </p:spPr>
        <p:txBody>
          <a:bodyPr/>
          <a:lstStyle/>
          <a:p>
            <a:pPr>
              <a:buNone/>
            </a:pPr>
            <a:r>
              <a:rPr lang="en-US" sz="2400" dirty="0"/>
              <a:t>Using KVL and Ohm’s Law:</a:t>
            </a:r>
          </a:p>
          <a:p>
            <a:pPr>
              <a:buNone/>
            </a:pPr>
            <a:endParaRPr lang="en-US" sz="2400" dirty="0"/>
          </a:p>
          <a:p>
            <a:pPr>
              <a:buNone/>
            </a:pPr>
            <a:endParaRPr lang="en-US" sz="2400" dirty="0"/>
          </a:p>
          <a:p>
            <a:pPr>
              <a:buNone/>
            </a:pPr>
            <a:endParaRPr lang="en-US" sz="2400" dirty="0"/>
          </a:p>
          <a:p>
            <a:pPr>
              <a:buNone/>
            </a:pPr>
            <a:endParaRPr lang="en-US" sz="2000" dirty="0"/>
          </a:p>
          <a:p>
            <a:pPr>
              <a:buNone/>
            </a:pPr>
            <a:r>
              <a:rPr lang="en-US" sz="2400" dirty="0"/>
              <a:t>Therefore, equivalence is maintained if the resistors are replaced by a single equivalent resistance:</a:t>
            </a:r>
          </a:p>
          <a:p>
            <a:pPr>
              <a:buNone/>
            </a:pPr>
            <a:r>
              <a:rPr lang="en-US" sz="2400" dirty="0"/>
              <a:t>	</a:t>
            </a:r>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7</a:t>
            </a:fld>
            <a:endParaRPr lang="en-US" dirty="0"/>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3" name="TextBox 62"/>
          <p:cNvSpPr txBox="1"/>
          <p:nvPr/>
        </p:nvSpPr>
        <p:spPr>
          <a:xfrm>
            <a:off x="723149" y="876300"/>
            <a:ext cx="7544551" cy="1569660"/>
          </a:xfrm>
          <a:prstGeom prst="rect">
            <a:avLst/>
          </a:prstGeom>
          <a:noFill/>
        </p:spPr>
        <p:txBody>
          <a:bodyPr wrap="square" rtlCol="0">
            <a:spAutoFit/>
          </a:bodyPr>
          <a:lstStyle/>
          <a:p>
            <a:r>
              <a:rPr lang="en-US" sz="2400" dirty="0"/>
              <a:t>Two adjacent elements are </a:t>
            </a:r>
            <a:r>
              <a:rPr lang="en-US" sz="2400" i="1" dirty="0"/>
              <a:t>in series </a:t>
            </a:r>
            <a:r>
              <a:rPr lang="en-US" sz="2400" dirty="0"/>
              <a:t>if they share a common node that has no other currents entering it. Nonadjacent elements are in series if they are each in series with the same element.</a:t>
            </a:r>
          </a:p>
        </p:txBody>
      </p:sp>
      <p:graphicFrame>
        <p:nvGraphicFramePr>
          <p:cNvPr id="156675" name="Object 3"/>
          <p:cNvGraphicFramePr>
            <a:graphicFrameLocks noChangeAspect="1"/>
          </p:cNvGraphicFramePr>
          <p:nvPr/>
        </p:nvGraphicFramePr>
        <p:xfrm>
          <a:off x="2895601" y="3017839"/>
          <a:ext cx="5029200" cy="1513884"/>
        </p:xfrm>
        <a:graphic>
          <a:graphicData uri="http://schemas.openxmlformats.org/presentationml/2006/ole">
            <mc:AlternateContent xmlns:mc="http://schemas.openxmlformats.org/markup-compatibility/2006">
              <mc:Choice xmlns:v="urn:schemas-microsoft-com:vml" Requires="v">
                <p:oleObj name="Equation" r:id="rId2" imgW="1625400" imgH="698400" progId="Equation.3">
                  <p:embed/>
                </p:oleObj>
              </mc:Choice>
              <mc:Fallback>
                <p:oleObj name="Equation" r:id="rId2" imgW="1625400" imgH="698400" progId="Equation.3">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1" y="3017839"/>
                        <a:ext cx="5029200" cy="15138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6676" name="Object 4"/>
          <p:cNvGraphicFramePr>
            <a:graphicFrameLocks noChangeAspect="1"/>
          </p:cNvGraphicFramePr>
          <p:nvPr/>
        </p:nvGraphicFramePr>
        <p:xfrm>
          <a:off x="4519613" y="5410200"/>
          <a:ext cx="2795587" cy="413835"/>
        </p:xfrm>
        <a:graphic>
          <a:graphicData uri="http://schemas.openxmlformats.org/presentationml/2006/ole">
            <mc:AlternateContent xmlns:mc="http://schemas.openxmlformats.org/markup-compatibility/2006">
              <mc:Choice xmlns:v="urn:schemas-microsoft-com:vml" Requires="v">
                <p:oleObj name="Equation" r:id="rId4" imgW="901440" imgH="190440" progId="Equation.3">
                  <p:embed/>
                </p:oleObj>
              </mc:Choice>
              <mc:Fallback>
                <p:oleObj name="Equation" r:id="rId4" imgW="901440" imgH="19044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9613" y="5410200"/>
                        <a:ext cx="2795587" cy="4138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6677" name="Object 5"/>
          <p:cNvGraphicFramePr>
            <a:graphicFrameLocks noChangeAspect="1"/>
          </p:cNvGraphicFramePr>
          <p:nvPr/>
        </p:nvGraphicFramePr>
        <p:xfrm>
          <a:off x="6172200" y="5797550"/>
          <a:ext cx="2001838" cy="984250"/>
        </p:xfrm>
        <a:graphic>
          <a:graphicData uri="http://schemas.openxmlformats.org/presentationml/2006/ole">
            <mc:AlternateContent xmlns:mc="http://schemas.openxmlformats.org/markup-compatibility/2006">
              <mc:Choice xmlns:v="urn:schemas-microsoft-com:vml" Requires="v">
                <p:oleObj name="Equation" r:id="rId6" imgW="596880" imgH="419040" progId="Equation.3">
                  <p:embed/>
                </p:oleObj>
              </mc:Choice>
              <mc:Fallback>
                <p:oleObj name="Equation" r:id="rId6" imgW="596880" imgH="419040" progId="Equation.3">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72200" y="5797550"/>
                        <a:ext cx="2001838" cy="984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TextBox 27"/>
          <p:cNvSpPr txBox="1"/>
          <p:nvPr/>
        </p:nvSpPr>
        <p:spPr>
          <a:xfrm>
            <a:off x="2095500" y="6019800"/>
            <a:ext cx="4111382" cy="461665"/>
          </a:xfrm>
          <a:prstGeom prst="rect">
            <a:avLst/>
          </a:prstGeom>
          <a:noFill/>
        </p:spPr>
        <p:txBody>
          <a:bodyPr wrap="none" rtlCol="0">
            <a:spAutoFit/>
          </a:bodyPr>
          <a:lstStyle/>
          <a:p>
            <a:r>
              <a:rPr lang="en-US" sz="2400" dirty="0">
                <a:latin typeface="+mj-lt"/>
              </a:rPr>
              <a:t>In general for N series resistors:</a:t>
            </a:r>
          </a:p>
        </p:txBody>
      </p:sp>
      <p:pic>
        <p:nvPicPr>
          <p:cNvPr id="156679" name="Picture 7"/>
          <p:cNvPicPr>
            <a:picLocks noChangeAspect="1" noChangeArrowheads="1"/>
          </p:cNvPicPr>
          <p:nvPr/>
        </p:nvPicPr>
        <p:blipFill>
          <a:blip r:embed="rId8" cstate="print"/>
          <a:srcRect/>
          <a:stretch>
            <a:fillRect/>
          </a:stretch>
        </p:blipFill>
        <p:spPr bwMode="auto">
          <a:xfrm>
            <a:off x="190500" y="2705100"/>
            <a:ext cx="2201273" cy="3238500"/>
          </a:xfrm>
          <a:prstGeom prst="rect">
            <a:avLst/>
          </a:prstGeom>
          <a:noFill/>
          <a:ln w="9525">
            <a:noFill/>
            <a:miter lim="800000"/>
            <a:headEnd/>
            <a:tailEnd/>
          </a:ln>
          <a:effectLst/>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ounded Rectangle 63"/>
          <p:cNvSpPr/>
          <p:nvPr/>
        </p:nvSpPr>
        <p:spPr>
          <a:xfrm>
            <a:off x="838200" y="838200"/>
            <a:ext cx="7239000" cy="125730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3" name="TextBox 62"/>
          <p:cNvSpPr txBox="1"/>
          <p:nvPr/>
        </p:nvSpPr>
        <p:spPr>
          <a:xfrm>
            <a:off x="989849" y="876300"/>
            <a:ext cx="7011151" cy="1200329"/>
          </a:xfrm>
          <a:prstGeom prst="rect">
            <a:avLst/>
          </a:prstGeom>
          <a:noFill/>
        </p:spPr>
        <p:txBody>
          <a:bodyPr wrap="square" rtlCol="0">
            <a:spAutoFit/>
          </a:bodyPr>
          <a:lstStyle/>
          <a:p>
            <a:r>
              <a:rPr lang="en-US" sz="2400" dirty="0"/>
              <a:t>A chain of series resistors is equivalent to a single</a:t>
            </a:r>
          </a:p>
          <a:p>
            <a:r>
              <a:rPr lang="en-US" sz="2400" dirty="0"/>
              <a:t>resistor whose resistance is the sum of the series resistances.</a:t>
            </a:r>
          </a:p>
        </p:txBody>
      </p:sp>
      <p:pic>
        <p:nvPicPr>
          <p:cNvPr id="156679" name="Picture 7"/>
          <p:cNvPicPr>
            <a:picLocks noChangeAspect="1" noChangeArrowheads="1"/>
          </p:cNvPicPr>
          <p:nvPr/>
        </p:nvPicPr>
        <p:blipFill>
          <a:blip r:embed="rId2" cstate="print"/>
          <a:srcRect/>
          <a:stretch>
            <a:fillRect/>
          </a:stretch>
        </p:blipFill>
        <p:spPr bwMode="auto">
          <a:xfrm>
            <a:off x="190500" y="2400300"/>
            <a:ext cx="2201273" cy="3238500"/>
          </a:xfrm>
          <a:prstGeom prst="rect">
            <a:avLst/>
          </a:prstGeom>
          <a:noFill/>
          <a:ln w="9525">
            <a:noFill/>
            <a:miter lim="800000"/>
            <a:headEnd/>
            <a:tailEnd/>
          </a:ln>
          <a:effectLst/>
        </p:spPr>
      </p:pic>
      <p:sp>
        <p:nvSpPr>
          <p:cNvPr id="21" name="Slide Number Placeholder 12"/>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8</a:t>
            </a:fld>
            <a:endParaRPr lang="en-US" dirty="0"/>
          </a:p>
        </p:txBody>
      </p:sp>
      <p:sp>
        <p:nvSpPr>
          <p:cNvPr id="11" name="Title 1"/>
          <p:cNvSpPr>
            <a:spLocks noGrp="1"/>
          </p:cNvSpPr>
          <p:nvPr>
            <p:ph type="title"/>
          </p:nvPr>
        </p:nvSpPr>
        <p:spPr>
          <a:xfrm>
            <a:off x="457200" y="122237"/>
            <a:ext cx="7086600" cy="563563"/>
          </a:xfrm>
        </p:spPr>
        <p:txBody>
          <a:bodyPr/>
          <a:lstStyle/>
          <a:p>
            <a:r>
              <a:rPr lang="en-US" sz="3200" dirty="0"/>
              <a:t>Series Equivalents</a:t>
            </a:r>
          </a:p>
        </p:txBody>
      </p:sp>
      <p:pic>
        <p:nvPicPr>
          <p:cNvPr id="10" name="Picture 5"/>
          <p:cNvPicPr>
            <a:picLocks noChangeAspect="1" noChangeArrowheads="1"/>
          </p:cNvPicPr>
          <p:nvPr/>
        </p:nvPicPr>
        <p:blipFill>
          <a:blip r:embed="rId3" cstate="print"/>
          <a:srcRect/>
          <a:stretch>
            <a:fillRect/>
          </a:stretch>
        </p:blipFill>
        <p:spPr bwMode="auto">
          <a:xfrm>
            <a:off x="2781300" y="2400300"/>
            <a:ext cx="2148916" cy="1752600"/>
          </a:xfrm>
          <a:prstGeom prst="rect">
            <a:avLst/>
          </a:prstGeom>
          <a:noFill/>
          <a:ln w="9525">
            <a:noFill/>
            <a:miter lim="800000"/>
            <a:headEnd/>
            <a:tailEnd/>
          </a:ln>
          <a:effectLst/>
        </p:spPr>
      </p:pic>
      <p:sp>
        <p:nvSpPr>
          <p:cNvPr id="12" name="TextBox 11"/>
          <p:cNvSpPr txBox="1"/>
          <p:nvPr/>
        </p:nvSpPr>
        <p:spPr>
          <a:xfrm>
            <a:off x="2286000" y="3086100"/>
            <a:ext cx="394660" cy="523220"/>
          </a:xfrm>
          <a:prstGeom prst="rect">
            <a:avLst/>
          </a:prstGeom>
          <a:noFill/>
        </p:spPr>
        <p:txBody>
          <a:bodyPr wrap="none" rtlCol="0">
            <a:spAutoFit/>
          </a:bodyPr>
          <a:lstStyle/>
          <a:p>
            <a:r>
              <a:rPr lang="en-US" sz="2800" dirty="0"/>
              <a:t>≡</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ounded Rectangle 63"/>
          <p:cNvSpPr/>
          <p:nvPr/>
        </p:nvSpPr>
        <p:spPr>
          <a:xfrm>
            <a:off x="838200" y="838200"/>
            <a:ext cx="7239000" cy="125730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7" name="Content Placeholder 2"/>
          <p:cNvSpPr>
            <a:spLocks noGrp="1"/>
          </p:cNvSpPr>
          <p:nvPr>
            <p:ph idx="1"/>
          </p:nvPr>
        </p:nvSpPr>
        <p:spPr>
          <a:xfrm>
            <a:off x="4991100" y="2247900"/>
            <a:ext cx="3962400" cy="4343400"/>
          </a:xfrm>
        </p:spPr>
        <p:txBody>
          <a:bodyPr/>
          <a:lstStyle/>
          <a:p>
            <a:pPr>
              <a:buNone/>
            </a:pPr>
            <a:r>
              <a:rPr lang="en-US" sz="2400" b="1" dirty="0"/>
              <a:t>Principle of </a:t>
            </a:r>
            <a:r>
              <a:rPr lang="en-US" sz="2400" b="1" i="1" dirty="0"/>
              <a:t>Voltage Division</a:t>
            </a:r>
            <a:r>
              <a:rPr lang="en-US" sz="2400" b="1" dirty="0"/>
              <a:t>:</a:t>
            </a:r>
          </a:p>
          <a:p>
            <a:pPr>
              <a:buNone/>
            </a:pPr>
            <a:endParaRPr lang="en-US" sz="2400" dirty="0"/>
          </a:p>
          <a:p>
            <a:pPr>
              <a:buNone/>
            </a:pPr>
            <a:endParaRPr lang="en-US" sz="2400" dirty="0"/>
          </a:p>
          <a:p>
            <a:pPr>
              <a:buNone/>
            </a:pPr>
            <a:r>
              <a:rPr lang="en-US" sz="2400" dirty="0"/>
              <a:t>Similarly:</a:t>
            </a:r>
          </a:p>
          <a:p>
            <a:pPr>
              <a:buNone/>
            </a:pPr>
            <a:endParaRPr lang="en-US" sz="2400" dirty="0"/>
          </a:p>
          <a:p>
            <a:pPr>
              <a:buNone/>
            </a:pPr>
            <a:endParaRPr lang="en-US" sz="2400" dirty="0"/>
          </a:p>
          <a:p>
            <a:pPr>
              <a:buNone/>
            </a:pPr>
            <a:endParaRPr lang="en-US" sz="2400" dirty="0"/>
          </a:p>
          <a:p>
            <a:pPr>
              <a:buNone/>
            </a:pPr>
            <a:r>
              <a:rPr lang="en-US" sz="2400" dirty="0"/>
              <a:t>	</a:t>
            </a:r>
          </a:p>
          <a:p>
            <a:endParaRPr lang="en-US" sz="2000" dirty="0"/>
          </a:p>
          <a:p>
            <a:pPr lvl="1">
              <a:buFont typeface="Arial" charset="0"/>
              <a:buNone/>
            </a:pPr>
            <a:endParaRPr lang="en-US" sz="2000" dirty="0"/>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3" name="TextBox 62"/>
          <p:cNvSpPr txBox="1"/>
          <p:nvPr/>
        </p:nvSpPr>
        <p:spPr>
          <a:xfrm>
            <a:off x="989849" y="876300"/>
            <a:ext cx="7011151" cy="1200329"/>
          </a:xfrm>
          <a:prstGeom prst="rect">
            <a:avLst/>
          </a:prstGeom>
          <a:noFill/>
        </p:spPr>
        <p:txBody>
          <a:bodyPr wrap="square" rtlCol="0">
            <a:spAutoFit/>
          </a:bodyPr>
          <a:lstStyle/>
          <a:p>
            <a:r>
              <a:rPr lang="en-US" sz="2400" dirty="0"/>
              <a:t>A chain of series resistors is equivalent to a single</a:t>
            </a:r>
          </a:p>
          <a:p>
            <a:r>
              <a:rPr lang="en-US" sz="2400" dirty="0"/>
              <a:t>resistor whose resistance is the sum of the series resistances.</a:t>
            </a:r>
          </a:p>
        </p:txBody>
      </p:sp>
      <p:graphicFrame>
        <p:nvGraphicFramePr>
          <p:cNvPr id="156675" name="Object 3"/>
          <p:cNvGraphicFramePr>
            <a:graphicFrameLocks noChangeAspect="1"/>
          </p:cNvGraphicFramePr>
          <p:nvPr/>
        </p:nvGraphicFramePr>
        <p:xfrm>
          <a:off x="5100638" y="2667000"/>
          <a:ext cx="3929062" cy="798513"/>
        </p:xfrm>
        <a:graphic>
          <a:graphicData uri="http://schemas.openxmlformats.org/presentationml/2006/ole">
            <mc:AlternateContent xmlns:mc="http://schemas.openxmlformats.org/markup-compatibility/2006">
              <mc:Choice xmlns:v="urn:schemas-microsoft-com:vml" Requires="v">
                <p:oleObj name="Equation" r:id="rId2" imgW="1269720" imgH="368280" progId="Equation.3">
                  <p:embed/>
                </p:oleObj>
              </mc:Choice>
              <mc:Fallback>
                <p:oleObj name="Equation" r:id="rId2" imgW="1269720" imgH="36828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0638" y="2667000"/>
                        <a:ext cx="3929062" cy="798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56679" name="Picture 7"/>
          <p:cNvPicPr>
            <a:picLocks noChangeAspect="1" noChangeArrowheads="1"/>
          </p:cNvPicPr>
          <p:nvPr/>
        </p:nvPicPr>
        <p:blipFill>
          <a:blip r:embed="rId4" cstate="print"/>
          <a:srcRect/>
          <a:stretch>
            <a:fillRect/>
          </a:stretch>
        </p:blipFill>
        <p:spPr bwMode="auto">
          <a:xfrm>
            <a:off x="190500" y="2400300"/>
            <a:ext cx="2201273" cy="3238500"/>
          </a:xfrm>
          <a:prstGeom prst="rect">
            <a:avLst/>
          </a:prstGeom>
          <a:noFill/>
          <a:ln w="9525">
            <a:noFill/>
            <a:miter lim="800000"/>
            <a:headEnd/>
            <a:tailEnd/>
          </a:ln>
          <a:effectLst/>
        </p:spPr>
      </p:pic>
      <p:pic>
        <p:nvPicPr>
          <p:cNvPr id="157701" name="Picture 5"/>
          <p:cNvPicPr>
            <a:picLocks noChangeAspect="1" noChangeArrowheads="1"/>
          </p:cNvPicPr>
          <p:nvPr/>
        </p:nvPicPr>
        <p:blipFill>
          <a:blip r:embed="rId5" cstate="print"/>
          <a:srcRect/>
          <a:stretch>
            <a:fillRect/>
          </a:stretch>
        </p:blipFill>
        <p:spPr bwMode="auto">
          <a:xfrm>
            <a:off x="2781300" y="2400300"/>
            <a:ext cx="2148916" cy="1752600"/>
          </a:xfrm>
          <a:prstGeom prst="rect">
            <a:avLst/>
          </a:prstGeom>
          <a:noFill/>
          <a:ln w="9525">
            <a:noFill/>
            <a:miter lim="800000"/>
            <a:headEnd/>
            <a:tailEnd/>
          </a:ln>
          <a:effectLst/>
        </p:spPr>
      </p:pic>
      <p:sp>
        <p:nvSpPr>
          <p:cNvPr id="15" name="TextBox 14"/>
          <p:cNvSpPr txBox="1"/>
          <p:nvPr/>
        </p:nvSpPr>
        <p:spPr>
          <a:xfrm>
            <a:off x="2286000" y="3086100"/>
            <a:ext cx="394660" cy="523220"/>
          </a:xfrm>
          <a:prstGeom prst="rect">
            <a:avLst/>
          </a:prstGeom>
          <a:noFill/>
        </p:spPr>
        <p:txBody>
          <a:bodyPr wrap="none" rtlCol="0">
            <a:spAutoFit/>
          </a:bodyPr>
          <a:lstStyle/>
          <a:p>
            <a:r>
              <a:rPr lang="en-US" sz="2800" dirty="0"/>
              <a:t>≡</a:t>
            </a:r>
          </a:p>
        </p:txBody>
      </p:sp>
      <p:graphicFrame>
        <p:nvGraphicFramePr>
          <p:cNvPr id="157702" name="Object 6"/>
          <p:cNvGraphicFramePr>
            <a:graphicFrameLocks noChangeAspect="1"/>
          </p:cNvGraphicFramePr>
          <p:nvPr/>
        </p:nvGraphicFramePr>
        <p:xfrm>
          <a:off x="6348413" y="3430587"/>
          <a:ext cx="1728787" cy="798513"/>
        </p:xfrm>
        <a:graphic>
          <a:graphicData uri="http://schemas.openxmlformats.org/presentationml/2006/ole">
            <mc:AlternateContent xmlns:mc="http://schemas.openxmlformats.org/markup-compatibility/2006">
              <mc:Choice xmlns:v="urn:schemas-microsoft-com:vml" Requires="v">
                <p:oleObj name="Equation" r:id="rId6" imgW="558720" imgH="368280" progId="Equation.3">
                  <p:embed/>
                </p:oleObj>
              </mc:Choice>
              <mc:Fallback>
                <p:oleObj name="Equation" r:id="rId6" imgW="558720" imgH="368280" progId="Equation.3">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48413" y="3430587"/>
                        <a:ext cx="1728787" cy="798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7703" name="Object 7"/>
          <p:cNvGraphicFramePr>
            <a:graphicFrameLocks noChangeAspect="1"/>
          </p:cNvGraphicFramePr>
          <p:nvPr/>
        </p:nvGraphicFramePr>
        <p:xfrm>
          <a:off x="6367463" y="4229100"/>
          <a:ext cx="1689100" cy="798513"/>
        </p:xfrm>
        <a:graphic>
          <a:graphicData uri="http://schemas.openxmlformats.org/presentationml/2006/ole">
            <mc:AlternateContent xmlns:mc="http://schemas.openxmlformats.org/markup-compatibility/2006">
              <mc:Choice xmlns:v="urn:schemas-microsoft-com:vml" Requires="v">
                <p:oleObj name="Equation" r:id="rId8" imgW="545760" imgH="368280" progId="Equation.3">
                  <p:embed/>
                </p:oleObj>
              </mc:Choice>
              <mc:Fallback>
                <p:oleObj name="Equation" r:id="rId8" imgW="545760" imgH="368280" progId="Equation.3">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67463" y="4229100"/>
                        <a:ext cx="1689100" cy="798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ounded Rectangle 17"/>
          <p:cNvSpPr/>
          <p:nvPr/>
        </p:nvSpPr>
        <p:spPr>
          <a:xfrm>
            <a:off x="2781300" y="5105400"/>
            <a:ext cx="6058855" cy="137160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2781300" y="5162371"/>
            <a:ext cx="5981700" cy="1200329"/>
          </a:xfrm>
          <a:prstGeom prst="rect">
            <a:avLst/>
          </a:prstGeom>
          <a:noFill/>
        </p:spPr>
        <p:txBody>
          <a:bodyPr wrap="square" rtlCol="0">
            <a:spAutoFit/>
          </a:bodyPr>
          <a:lstStyle/>
          <a:p>
            <a:r>
              <a:rPr lang="en-US" sz="2400" dirty="0"/>
              <a:t>The voltage across series resistors </a:t>
            </a:r>
            <a:r>
              <a:rPr lang="en-US" sz="2400" i="1" dirty="0"/>
              <a:t>divides</a:t>
            </a:r>
            <a:r>
              <a:rPr lang="en-US" sz="2400" dirty="0"/>
              <a:t> up in </a:t>
            </a:r>
            <a:r>
              <a:rPr lang="en-US" sz="2400" i="1" dirty="0"/>
              <a:t>direct proportion to their resistances</a:t>
            </a:r>
            <a:r>
              <a:rPr lang="en-US" sz="2400" dirty="0"/>
              <a:t>. Such a circuit is called a </a:t>
            </a:r>
            <a:r>
              <a:rPr lang="en-US" sz="2400" b="1" i="1" dirty="0"/>
              <a:t>voltage divider</a:t>
            </a:r>
            <a:r>
              <a:rPr lang="en-US" sz="2400" dirty="0"/>
              <a:t>.</a:t>
            </a:r>
          </a:p>
        </p:txBody>
      </p:sp>
      <p:sp>
        <p:nvSpPr>
          <p:cNvPr id="20" name="Freeform 19"/>
          <p:cNvSpPr/>
          <p:nvPr/>
        </p:nvSpPr>
        <p:spPr>
          <a:xfrm>
            <a:off x="1714500" y="5715000"/>
            <a:ext cx="1138052" cy="545770"/>
          </a:xfrm>
          <a:custGeom>
            <a:avLst/>
            <a:gdLst>
              <a:gd name="connsiteX0" fmla="*/ 973777 w 973777"/>
              <a:gd name="connsiteY0" fmla="*/ 427511 h 451262"/>
              <a:gd name="connsiteX1" fmla="*/ 451263 w 973777"/>
              <a:gd name="connsiteY1" fmla="*/ 380010 h 451262"/>
              <a:gd name="connsiteX2" fmla="*/ 0 w 973777"/>
              <a:gd name="connsiteY2" fmla="*/ 0 h 451262"/>
            </a:gdLst>
            <a:ahLst/>
            <a:cxnLst>
              <a:cxn ang="0">
                <a:pos x="connsiteX0" y="connsiteY0"/>
              </a:cxn>
              <a:cxn ang="0">
                <a:pos x="connsiteX1" y="connsiteY1"/>
              </a:cxn>
              <a:cxn ang="0">
                <a:pos x="connsiteX2" y="connsiteY2"/>
              </a:cxn>
            </a:cxnLst>
            <a:rect l="l" t="t" r="r" b="b"/>
            <a:pathLst>
              <a:path w="973777" h="451262">
                <a:moveTo>
                  <a:pt x="973777" y="427511"/>
                </a:moveTo>
                <a:cubicBezTo>
                  <a:pt x="793668" y="439386"/>
                  <a:pt x="613559" y="451262"/>
                  <a:pt x="451263" y="380010"/>
                </a:cubicBezTo>
                <a:cubicBezTo>
                  <a:pt x="288967" y="308758"/>
                  <a:pt x="144483" y="154379"/>
                  <a:pt x="0" y="0"/>
                </a:cubicBezTo>
              </a:path>
            </a:pathLst>
          </a:custGeom>
          <a:ln w="19050">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Slide Number Placeholder 12"/>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9</a:t>
            </a:fld>
            <a:endParaRPr lang="en-US" dirty="0"/>
          </a:p>
        </p:txBody>
      </p:sp>
      <p:sp>
        <p:nvSpPr>
          <p:cNvPr id="22" name="Title 1"/>
          <p:cNvSpPr>
            <a:spLocks noGrp="1"/>
          </p:cNvSpPr>
          <p:nvPr>
            <p:ph type="title"/>
          </p:nvPr>
        </p:nvSpPr>
        <p:spPr>
          <a:xfrm>
            <a:off x="457200" y="122237"/>
            <a:ext cx="7086600" cy="563563"/>
          </a:xfrm>
        </p:spPr>
        <p:txBody>
          <a:bodyPr/>
          <a:lstStyle/>
          <a:p>
            <a:r>
              <a:rPr lang="en-US" sz="3200" dirty="0"/>
              <a:t>Voltage Division</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2</a:t>
            </a:r>
          </a:p>
        </p:txBody>
      </p:sp>
      <p:sp>
        <p:nvSpPr>
          <p:cNvPr id="14" name="Content Placeholder 13"/>
          <p:cNvSpPr>
            <a:spLocks noGrp="1"/>
          </p:cNvSpPr>
          <p:nvPr>
            <p:ph idx="1"/>
          </p:nvPr>
        </p:nvSpPr>
        <p:spPr>
          <a:xfrm>
            <a:off x="457200" y="685801"/>
            <a:ext cx="8229600" cy="5440364"/>
          </a:xfrm>
        </p:spPr>
        <p:txBody>
          <a:bodyPr/>
          <a:lstStyle/>
          <a:p>
            <a:pPr>
              <a:buNone/>
            </a:pPr>
            <a:r>
              <a:rPr lang="en-US" sz="1600" dirty="0"/>
              <a:t>	Johnson &amp; Johnson Exercise 2.4.1 (Page 42)</a:t>
            </a:r>
          </a:p>
          <a:p>
            <a:pPr>
              <a:buNone/>
            </a:pPr>
            <a:r>
              <a:rPr lang="en-US" sz="2400" dirty="0"/>
              <a:t>	Reduce the below circuit to two equivalent elements</a:t>
            </a:r>
            <a:r>
              <a:rPr lang="tr-TR" sz="2400" dirty="0"/>
              <a:t>,</a:t>
            </a:r>
            <a:r>
              <a:rPr lang="en-US" sz="2400" dirty="0"/>
              <a:t> and find </a:t>
            </a:r>
            <a:r>
              <a:rPr lang="en-US" sz="2400" i="1" dirty="0" err="1"/>
              <a:t>i</a:t>
            </a:r>
            <a:r>
              <a:rPr lang="en-US" sz="2400" dirty="0"/>
              <a:t> and the instantaneous power </a:t>
            </a:r>
            <a:r>
              <a:rPr lang="en-US" sz="2400" i="1" dirty="0"/>
              <a:t>dissipated</a:t>
            </a:r>
            <a:r>
              <a:rPr lang="en-US" sz="2400" dirty="0"/>
              <a:t> by the 50</a:t>
            </a:r>
            <a:r>
              <a:rPr lang="tr-TR" sz="2400" dirty="0"/>
              <a:t> </a:t>
            </a:r>
            <a:r>
              <a:rPr lang="en-US" sz="2400" dirty="0"/>
              <a:t>V source.</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235524" name="Picture 4"/>
          <p:cNvPicPr>
            <a:picLocks noChangeAspect="1" noChangeArrowheads="1"/>
          </p:cNvPicPr>
          <p:nvPr/>
        </p:nvPicPr>
        <p:blipFill>
          <a:blip r:embed="rId2" cstate="print"/>
          <a:srcRect/>
          <a:stretch>
            <a:fillRect/>
          </a:stretch>
        </p:blipFill>
        <p:spPr bwMode="auto">
          <a:xfrm>
            <a:off x="990600" y="1866900"/>
            <a:ext cx="3505200" cy="1537744"/>
          </a:xfrm>
          <a:prstGeom prst="rect">
            <a:avLst/>
          </a:prstGeom>
          <a:noFill/>
          <a:ln w="9525">
            <a:noFill/>
            <a:miter lim="800000"/>
            <a:headEnd/>
            <a:tailEnd/>
          </a:ln>
          <a:effectLst/>
        </p:spPr>
      </p:pic>
      <p:sp>
        <p:nvSpPr>
          <p:cNvPr id="7"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10</a:t>
            </a:fld>
            <a:endParaRPr lang="en-US" dirty="0"/>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 2</a:t>
            </a:r>
          </a:p>
        </p:txBody>
      </p:sp>
      <p:sp>
        <p:nvSpPr>
          <p:cNvPr id="14" name="Content Placeholder 13"/>
          <p:cNvSpPr>
            <a:spLocks noGrp="1"/>
          </p:cNvSpPr>
          <p:nvPr>
            <p:ph idx="1"/>
          </p:nvPr>
        </p:nvSpPr>
        <p:spPr>
          <a:xfrm>
            <a:off x="457200" y="685801"/>
            <a:ext cx="8229600" cy="5440364"/>
          </a:xfrm>
        </p:spPr>
        <p:txBody>
          <a:bodyPr/>
          <a:lstStyle/>
          <a:p>
            <a:pPr>
              <a:buNone/>
            </a:pPr>
            <a:r>
              <a:rPr lang="en-US" sz="1600" dirty="0"/>
              <a:t>	Johnson &amp; Johnson Exercise 2.4.1 (Page 42)</a:t>
            </a:r>
          </a:p>
          <a:p>
            <a:pPr>
              <a:buNone/>
            </a:pPr>
            <a:r>
              <a:rPr lang="en-US" sz="2400" dirty="0"/>
              <a:t>	Reduce the below circuit to two equivalent elements</a:t>
            </a:r>
            <a:r>
              <a:rPr lang="tr-TR" sz="2400" dirty="0"/>
              <a:t>,</a:t>
            </a:r>
            <a:r>
              <a:rPr lang="en-US" sz="2400" dirty="0"/>
              <a:t> and find </a:t>
            </a:r>
            <a:r>
              <a:rPr lang="en-US" sz="2400" i="1" dirty="0" err="1"/>
              <a:t>i</a:t>
            </a:r>
            <a:r>
              <a:rPr lang="en-US" sz="2400" dirty="0"/>
              <a:t> and the instantaneous power </a:t>
            </a:r>
            <a:r>
              <a:rPr lang="en-US" sz="2400" i="1" dirty="0"/>
              <a:t>dissipated</a:t>
            </a:r>
            <a:r>
              <a:rPr lang="en-US" sz="2400" dirty="0"/>
              <a:t> by the 50</a:t>
            </a:r>
            <a:r>
              <a:rPr lang="tr-TR" sz="2400" dirty="0"/>
              <a:t> </a:t>
            </a:r>
            <a:r>
              <a:rPr lang="en-US" sz="2400" dirty="0"/>
              <a:t>V source.</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235524" name="Picture 4"/>
          <p:cNvPicPr>
            <a:picLocks noChangeAspect="1" noChangeArrowheads="1"/>
          </p:cNvPicPr>
          <p:nvPr/>
        </p:nvPicPr>
        <p:blipFill>
          <a:blip r:embed="rId2" cstate="print"/>
          <a:srcRect/>
          <a:stretch>
            <a:fillRect/>
          </a:stretch>
        </p:blipFill>
        <p:spPr bwMode="auto">
          <a:xfrm>
            <a:off x="990600" y="1866900"/>
            <a:ext cx="3505200" cy="1537744"/>
          </a:xfrm>
          <a:prstGeom prst="rect">
            <a:avLst/>
          </a:prstGeom>
          <a:noFill/>
          <a:ln w="9525">
            <a:noFill/>
            <a:miter lim="800000"/>
            <a:headEnd/>
            <a:tailEnd/>
          </a:ln>
          <a:effectLst/>
        </p:spPr>
      </p:pic>
      <p:sp>
        <p:nvSpPr>
          <p:cNvPr id="12" name="Title 1"/>
          <p:cNvSpPr txBox="1">
            <a:spLocks/>
          </p:cNvSpPr>
          <p:nvPr/>
        </p:nvSpPr>
        <p:spPr bwMode="auto">
          <a:xfrm>
            <a:off x="381000" y="3543300"/>
            <a:ext cx="8229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mj-lt"/>
                <a:ea typeface="+mj-ea"/>
                <a:cs typeface="+mj-cs"/>
              </a:rPr>
              <a:t>Solution</a:t>
            </a:r>
          </a:p>
        </p:txBody>
      </p:sp>
      <p:graphicFrame>
        <p:nvGraphicFramePr>
          <p:cNvPr id="13" name="Object 2"/>
          <p:cNvGraphicFramePr>
            <a:graphicFrameLocks noChangeAspect="1"/>
          </p:cNvGraphicFramePr>
          <p:nvPr/>
        </p:nvGraphicFramePr>
        <p:xfrm>
          <a:off x="1363663" y="4178300"/>
          <a:ext cx="3286125" cy="1117600"/>
        </p:xfrm>
        <a:graphic>
          <a:graphicData uri="http://schemas.openxmlformats.org/presentationml/2006/ole">
            <mc:AlternateContent xmlns:mc="http://schemas.openxmlformats.org/markup-compatibility/2006">
              <mc:Choice xmlns:v="urn:schemas-microsoft-com:vml" Requires="v">
                <p:oleObj name="Equation" r:id="rId3" imgW="1625400" imgH="685800" progId="Equation.3">
                  <p:embed/>
                </p:oleObj>
              </mc:Choice>
              <mc:Fallback>
                <p:oleObj name="Equation" r:id="rId3" imgW="1625400" imgH="6858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3663" y="4178300"/>
                        <a:ext cx="3286125" cy="111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extBox 14"/>
          <p:cNvSpPr txBox="1"/>
          <p:nvPr/>
        </p:nvSpPr>
        <p:spPr>
          <a:xfrm>
            <a:off x="647700" y="4164568"/>
            <a:ext cx="684803" cy="369332"/>
          </a:xfrm>
          <a:prstGeom prst="rect">
            <a:avLst/>
          </a:prstGeom>
          <a:noFill/>
        </p:spPr>
        <p:txBody>
          <a:bodyPr wrap="none" rtlCol="0">
            <a:spAutoFit/>
          </a:bodyPr>
          <a:lstStyle/>
          <a:p>
            <a:r>
              <a:rPr lang="en-US" dirty="0"/>
              <a:t>KVL:</a:t>
            </a:r>
          </a:p>
        </p:txBody>
      </p:sp>
      <p:sp>
        <p:nvSpPr>
          <p:cNvPr id="16" name="TextBox 15"/>
          <p:cNvSpPr txBox="1"/>
          <p:nvPr/>
        </p:nvSpPr>
        <p:spPr>
          <a:xfrm>
            <a:off x="647700" y="5335369"/>
            <a:ext cx="7696200" cy="646331"/>
          </a:xfrm>
          <a:prstGeom prst="rect">
            <a:avLst/>
          </a:prstGeom>
          <a:noFill/>
        </p:spPr>
        <p:txBody>
          <a:bodyPr wrap="square" rtlCol="0">
            <a:spAutoFit/>
          </a:bodyPr>
          <a:lstStyle/>
          <a:p>
            <a:r>
              <a:rPr lang="en-US" dirty="0"/>
              <a:t>Since looking for power </a:t>
            </a:r>
            <a:r>
              <a:rPr lang="en-US" u="sng" dirty="0"/>
              <a:t>dissipated</a:t>
            </a:r>
            <a:r>
              <a:rPr lang="en-US" dirty="0"/>
              <a:t>, </a:t>
            </a:r>
            <a:r>
              <a:rPr lang="en-US" dirty="0" err="1"/>
              <a:t>i</a:t>
            </a:r>
            <a:r>
              <a:rPr lang="en-US" dirty="0"/>
              <a:t> needs to enter the positive terminal:</a:t>
            </a:r>
          </a:p>
          <a:p>
            <a:endParaRPr lang="en-US" dirty="0"/>
          </a:p>
        </p:txBody>
      </p:sp>
      <p:graphicFrame>
        <p:nvGraphicFramePr>
          <p:cNvPr id="235526" name="Object 6"/>
          <p:cNvGraphicFramePr>
            <a:graphicFrameLocks noChangeAspect="1"/>
          </p:cNvGraphicFramePr>
          <p:nvPr/>
        </p:nvGraphicFramePr>
        <p:xfrm>
          <a:off x="1257300" y="5812815"/>
          <a:ext cx="3998912" cy="757848"/>
        </p:xfrm>
        <a:graphic>
          <a:graphicData uri="http://schemas.openxmlformats.org/presentationml/2006/ole">
            <mc:AlternateContent xmlns:mc="http://schemas.openxmlformats.org/markup-compatibility/2006">
              <mc:Choice xmlns:v="urn:schemas-microsoft-com:vml" Requires="v">
                <p:oleObj name="Equation" r:id="rId5" imgW="1942920" imgH="457200" progId="Equation.3">
                  <p:embed/>
                </p:oleObj>
              </mc:Choice>
              <mc:Fallback>
                <p:oleObj name="Equation" r:id="rId5" imgW="1942920" imgH="4572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7300" y="5812815"/>
                        <a:ext cx="3998912" cy="7578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35527" name="Picture 7"/>
          <p:cNvPicPr>
            <a:picLocks noChangeAspect="1" noChangeArrowheads="1"/>
          </p:cNvPicPr>
          <p:nvPr/>
        </p:nvPicPr>
        <p:blipFill>
          <a:blip r:embed="rId7" cstate="print"/>
          <a:srcRect/>
          <a:stretch>
            <a:fillRect/>
          </a:stretch>
        </p:blipFill>
        <p:spPr bwMode="auto">
          <a:xfrm>
            <a:off x="5753100" y="1866900"/>
            <a:ext cx="2400300" cy="1454174"/>
          </a:xfrm>
          <a:prstGeom prst="rect">
            <a:avLst/>
          </a:prstGeom>
          <a:noFill/>
          <a:ln w="9525">
            <a:noFill/>
            <a:miter lim="800000"/>
            <a:headEnd/>
            <a:tailEnd/>
          </a:ln>
          <a:effectLst/>
        </p:spPr>
      </p:pic>
      <p:sp>
        <p:nvSpPr>
          <p:cNvPr id="17" name="TextBox 16"/>
          <p:cNvSpPr txBox="1"/>
          <p:nvPr/>
        </p:nvSpPr>
        <p:spPr>
          <a:xfrm>
            <a:off x="4914900" y="2438400"/>
            <a:ext cx="571500" cy="584775"/>
          </a:xfrm>
          <a:prstGeom prst="rect">
            <a:avLst/>
          </a:prstGeom>
          <a:noFill/>
        </p:spPr>
        <p:txBody>
          <a:bodyPr wrap="square" rtlCol="0">
            <a:spAutoFit/>
          </a:bodyPr>
          <a:lstStyle/>
          <a:p>
            <a:r>
              <a:rPr lang="tr-TR" sz="3200" dirty="0">
                <a:latin typeface="Arial"/>
                <a:cs typeface="Arial"/>
              </a:rPr>
              <a:t>≡</a:t>
            </a:r>
            <a:endParaRPr lang="tr-TR" sz="3200" dirty="0"/>
          </a:p>
        </p:txBody>
      </p:sp>
      <p:sp>
        <p:nvSpPr>
          <p:cNvPr id="18"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11</a:t>
            </a:fld>
            <a:endParaRPr lang="en-US" dirty="0"/>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823" name="Picture 7"/>
          <p:cNvPicPr>
            <a:picLocks noChangeAspect="1" noChangeArrowheads="1"/>
          </p:cNvPicPr>
          <p:nvPr/>
        </p:nvPicPr>
        <p:blipFill>
          <a:blip r:embed="rId2" cstate="print"/>
          <a:srcRect/>
          <a:stretch>
            <a:fillRect/>
          </a:stretch>
        </p:blipFill>
        <p:spPr bwMode="auto">
          <a:xfrm>
            <a:off x="381000" y="2552701"/>
            <a:ext cx="3924300" cy="1654244"/>
          </a:xfrm>
          <a:prstGeom prst="rect">
            <a:avLst/>
          </a:prstGeom>
          <a:noFill/>
          <a:ln w="9525">
            <a:noFill/>
            <a:miter lim="800000"/>
            <a:headEnd/>
            <a:tailEnd/>
          </a:ln>
          <a:effectLst/>
        </p:spPr>
      </p:pic>
      <p:sp>
        <p:nvSpPr>
          <p:cNvPr id="64" name="Rounded Rectangle 63"/>
          <p:cNvSpPr/>
          <p:nvPr/>
        </p:nvSpPr>
        <p:spPr>
          <a:xfrm>
            <a:off x="609600" y="838200"/>
            <a:ext cx="7658100" cy="125730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6" name="Title 1"/>
          <p:cNvSpPr>
            <a:spLocks noGrp="1"/>
          </p:cNvSpPr>
          <p:nvPr>
            <p:ph type="title"/>
          </p:nvPr>
        </p:nvSpPr>
        <p:spPr>
          <a:xfrm>
            <a:off x="190500" y="122237"/>
            <a:ext cx="7162800" cy="563563"/>
          </a:xfrm>
        </p:spPr>
        <p:txBody>
          <a:bodyPr/>
          <a:lstStyle/>
          <a:p>
            <a:r>
              <a:rPr lang="en-US" sz="3200" dirty="0"/>
              <a:t>Parallel Equivalents</a:t>
            </a:r>
          </a:p>
        </p:txBody>
      </p:sp>
      <p:sp>
        <p:nvSpPr>
          <p:cNvPr id="13" name="Slide Number Placeholder 12"/>
          <p:cNvSpPr>
            <a:spLocks noGrp="1"/>
          </p:cNvSpPr>
          <p:nvPr>
            <p:ph type="sldNum" sz="quarter" idx="11"/>
          </p:nvPr>
        </p:nvSpPr>
        <p:spPr>
          <a:xfrm>
            <a:off x="6705600" y="6492875"/>
            <a:ext cx="2438400" cy="365125"/>
          </a:xfrm>
        </p:spPr>
        <p:txBody>
          <a:bodyPr/>
          <a:lstStyle/>
          <a:p>
            <a:pPr>
              <a:defRPr/>
            </a:pPr>
            <a:fld id="{A957CEED-90C7-4FD0-AB8C-14085BB9151E}" type="slidenum">
              <a:rPr lang="en-US" smtClean="0"/>
              <a:pPr>
                <a:defRPr/>
              </a:pPr>
              <a:t>12</a:t>
            </a:fld>
            <a:endParaRPr lang="en-US" dirty="0"/>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3" name="TextBox 62"/>
          <p:cNvSpPr txBox="1"/>
          <p:nvPr/>
        </p:nvSpPr>
        <p:spPr>
          <a:xfrm>
            <a:off x="723149" y="876300"/>
            <a:ext cx="7544551" cy="1200329"/>
          </a:xfrm>
          <a:prstGeom prst="rect">
            <a:avLst/>
          </a:prstGeom>
          <a:noFill/>
        </p:spPr>
        <p:txBody>
          <a:bodyPr wrap="square" rtlCol="0">
            <a:spAutoFit/>
          </a:bodyPr>
          <a:lstStyle/>
          <a:p>
            <a:r>
              <a:rPr lang="en-US" sz="2400" dirty="0"/>
              <a:t>Two elements are </a:t>
            </a:r>
            <a:r>
              <a:rPr lang="en-US" sz="2400" i="1" dirty="0"/>
              <a:t>in parallel </a:t>
            </a:r>
            <a:r>
              <a:rPr lang="en-US" sz="2400" dirty="0"/>
              <a:t>if they form a loop containing no other elements. Elements in parallel all have the same voltage across them.</a:t>
            </a:r>
          </a:p>
        </p:txBody>
      </p:sp>
      <p:sp>
        <p:nvSpPr>
          <p:cNvPr id="16" name="Oval 15"/>
          <p:cNvSpPr/>
          <p:nvPr/>
        </p:nvSpPr>
        <p:spPr>
          <a:xfrm>
            <a:off x="1828800" y="2552700"/>
            <a:ext cx="1905000" cy="152400"/>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2297152" y="2247900"/>
            <a:ext cx="941348" cy="369332"/>
          </a:xfrm>
          <a:prstGeom prst="rect">
            <a:avLst/>
          </a:prstGeom>
          <a:noFill/>
        </p:spPr>
        <p:txBody>
          <a:bodyPr wrap="none" rtlCol="0">
            <a:spAutoFit/>
          </a:bodyPr>
          <a:lstStyle/>
          <a:p>
            <a:r>
              <a:rPr lang="en-US" dirty="0"/>
              <a:t>Node A</a:t>
            </a:r>
          </a:p>
        </p:txBody>
      </p:sp>
    </p:spTree>
    <p:extLst>
      <p:ext uri="{BB962C8B-B14F-4D97-AF65-F5344CB8AC3E}">
        <p14:creationId xmlns:p14="http://schemas.microsoft.com/office/powerpoint/2010/main" val="230371427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823" name="Picture 7"/>
          <p:cNvPicPr>
            <a:picLocks noChangeAspect="1" noChangeArrowheads="1"/>
          </p:cNvPicPr>
          <p:nvPr/>
        </p:nvPicPr>
        <p:blipFill>
          <a:blip r:embed="rId2" cstate="print"/>
          <a:srcRect/>
          <a:stretch>
            <a:fillRect/>
          </a:stretch>
        </p:blipFill>
        <p:spPr bwMode="auto">
          <a:xfrm>
            <a:off x="381000" y="2552701"/>
            <a:ext cx="3924300" cy="1654244"/>
          </a:xfrm>
          <a:prstGeom prst="rect">
            <a:avLst/>
          </a:prstGeom>
          <a:noFill/>
          <a:ln w="9525">
            <a:noFill/>
            <a:miter lim="800000"/>
            <a:headEnd/>
            <a:tailEnd/>
          </a:ln>
          <a:effectLst/>
        </p:spPr>
      </p:pic>
      <p:sp>
        <p:nvSpPr>
          <p:cNvPr id="31" name="Rounded Rectangle 30"/>
          <p:cNvSpPr/>
          <p:nvPr/>
        </p:nvSpPr>
        <p:spPr>
          <a:xfrm>
            <a:off x="4648200" y="5626100"/>
            <a:ext cx="1905000" cy="95250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ounded Rectangle 63"/>
          <p:cNvSpPr/>
          <p:nvPr/>
        </p:nvSpPr>
        <p:spPr>
          <a:xfrm>
            <a:off x="609600" y="838200"/>
            <a:ext cx="7658100" cy="125730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6" name="Title 1"/>
          <p:cNvSpPr>
            <a:spLocks noGrp="1"/>
          </p:cNvSpPr>
          <p:nvPr>
            <p:ph type="title"/>
          </p:nvPr>
        </p:nvSpPr>
        <p:spPr>
          <a:xfrm>
            <a:off x="190500" y="122237"/>
            <a:ext cx="7162800" cy="563563"/>
          </a:xfrm>
        </p:spPr>
        <p:txBody>
          <a:bodyPr/>
          <a:lstStyle/>
          <a:p>
            <a:r>
              <a:rPr lang="en-US" sz="3200" dirty="0"/>
              <a:t>Parallel Equivalents</a:t>
            </a:r>
          </a:p>
        </p:txBody>
      </p:sp>
      <p:sp>
        <p:nvSpPr>
          <p:cNvPr id="6147" name="Content Placeholder 2"/>
          <p:cNvSpPr>
            <a:spLocks noGrp="1"/>
          </p:cNvSpPr>
          <p:nvPr>
            <p:ph idx="1"/>
          </p:nvPr>
        </p:nvSpPr>
        <p:spPr>
          <a:xfrm>
            <a:off x="228600" y="4381500"/>
            <a:ext cx="8763000" cy="2209800"/>
          </a:xfrm>
        </p:spPr>
        <p:txBody>
          <a:bodyPr/>
          <a:lstStyle/>
          <a:p>
            <a:pPr>
              <a:buNone/>
            </a:pPr>
            <a:r>
              <a:rPr lang="en-US" sz="2400" dirty="0"/>
              <a:t>KCL at Node A &amp; Ohm’s Law:</a:t>
            </a:r>
          </a:p>
          <a:p>
            <a:pPr>
              <a:buNone/>
            </a:pPr>
            <a:r>
              <a:rPr lang="en-US" sz="2400" dirty="0"/>
              <a:t>The equivalent circuit has the terminal law:</a:t>
            </a:r>
          </a:p>
          <a:p>
            <a:pPr>
              <a:buNone/>
            </a:pPr>
            <a:r>
              <a:rPr lang="en-US" sz="2400" dirty="0"/>
              <a:t>Hence,  </a:t>
            </a:r>
          </a:p>
        </p:txBody>
      </p:sp>
      <p:sp>
        <p:nvSpPr>
          <p:cNvPr id="13" name="Slide Number Placeholder 12"/>
          <p:cNvSpPr>
            <a:spLocks noGrp="1"/>
          </p:cNvSpPr>
          <p:nvPr>
            <p:ph type="sldNum" sz="quarter" idx="11"/>
          </p:nvPr>
        </p:nvSpPr>
        <p:spPr>
          <a:xfrm>
            <a:off x="6705600" y="6492875"/>
            <a:ext cx="2438400" cy="365125"/>
          </a:xfrm>
        </p:spPr>
        <p:txBody>
          <a:bodyPr/>
          <a:lstStyle/>
          <a:p>
            <a:pPr>
              <a:defRPr/>
            </a:pPr>
            <a:fld id="{A957CEED-90C7-4FD0-AB8C-14085BB9151E}" type="slidenum">
              <a:rPr lang="en-US" smtClean="0"/>
              <a:pPr>
                <a:defRPr/>
              </a:pPr>
              <a:t>13</a:t>
            </a:fld>
            <a:endParaRPr lang="en-US" dirty="0"/>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3" name="TextBox 62"/>
          <p:cNvSpPr txBox="1"/>
          <p:nvPr/>
        </p:nvSpPr>
        <p:spPr>
          <a:xfrm>
            <a:off x="723149" y="876300"/>
            <a:ext cx="7544551" cy="1200329"/>
          </a:xfrm>
          <a:prstGeom prst="rect">
            <a:avLst/>
          </a:prstGeom>
          <a:noFill/>
        </p:spPr>
        <p:txBody>
          <a:bodyPr wrap="square" rtlCol="0">
            <a:spAutoFit/>
          </a:bodyPr>
          <a:lstStyle/>
          <a:p>
            <a:r>
              <a:rPr lang="en-US" sz="2400" dirty="0"/>
              <a:t>Two elements are </a:t>
            </a:r>
            <a:r>
              <a:rPr lang="en-US" sz="2400" i="1" dirty="0"/>
              <a:t>in parallel </a:t>
            </a:r>
            <a:r>
              <a:rPr lang="en-US" sz="2400" dirty="0"/>
              <a:t>if they form a loop containing no other elements. Elements in parallel all have the same voltage across them.</a:t>
            </a:r>
          </a:p>
        </p:txBody>
      </p:sp>
      <p:graphicFrame>
        <p:nvGraphicFramePr>
          <p:cNvPr id="156676" name="Object 4"/>
          <p:cNvGraphicFramePr>
            <a:graphicFrameLocks noChangeAspect="1"/>
          </p:cNvGraphicFramePr>
          <p:nvPr/>
        </p:nvGraphicFramePr>
        <p:xfrm>
          <a:off x="3924300" y="4462462"/>
          <a:ext cx="4883150" cy="414338"/>
        </p:xfrm>
        <a:graphic>
          <a:graphicData uri="http://schemas.openxmlformats.org/presentationml/2006/ole">
            <mc:AlternateContent xmlns:mc="http://schemas.openxmlformats.org/markup-compatibility/2006">
              <mc:Choice xmlns:v="urn:schemas-microsoft-com:vml" Requires="v">
                <p:oleObj name="Equation" r:id="rId3" imgW="1574640" imgH="190440" progId="Equation.3">
                  <p:embed/>
                </p:oleObj>
              </mc:Choice>
              <mc:Fallback>
                <p:oleObj name="Equation" r:id="rId3" imgW="1574640" imgH="19044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300" y="4462462"/>
                        <a:ext cx="4883150" cy="414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6677" name="Object 5"/>
          <p:cNvGraphicFramePr>
            <a:graphicFrameLocks noChangeAspect="1"/>
          </p:cNvGraphicFramePr>
          <p:nvPr/>
        </p:nvGraphicFramePr>
        <p:xfrm>
          <a:off x="4572000" y="5600700"/>
          <a:ext cx="2087563" cy="984250"/>
        </p:xfrm>
        <a:graphic>
          <a:graphicData uri="http://schemas.openxmlformats.org/presentationml/2006/ole">
            <mc:AlternateContent xmlns:mc="http://schemas.openxmlformats.org/markup-compatibility/2006">
              <mc:Choice xmlns:v="urn:schemas-microsoft-com:vml" Requires="v">
                <p:oleObj name="Equation" r:id="rId5" imgW="622080" imgH="419040" progId="Equation.3">
                  <p:embed/>
                </p:oleObj>
              </mc:Choice>
              <mc:Fallback>
                <p:oleObj name="Equation" r:id="rId5" imgW="622080" imgH="419040"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5600700"/>
                        <a:ext cx="2087563" cy="984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 name="TextBox 27"/>
          <p:cNvSpPr txBox="1"/>
          <p:nvPr/>
        </p:nvSpPr>
        <p:spPr>
          <a:xfrm>
            <a:off x="266700" y="5829300"/>
            <a:ext cx="4308680" cy="461665"/>
          </a:xfrm>
          <a:prstGeom prst="rect">
            <a:avLst/>
          </a:prstGeom>
          <a:noFill/>
        </p:spPr>
        <p:txBody>
          <a:bodyPr wrap="none" rtlCol="0">
            <a:spAutoFit/>
          </a:bodyPr>
          <a:lstStyle/>
          <a:p>
            <a:r>
              <a:rPr lang="en-US" sz="2400" dirty="0">
                <a:latin typeface="+mj-lt"/>
              </a:rPr>
              <a:t>In general for N parallel resistors:</a:t>
            </a:r>
          </a:p>
        </p:txBody>
      </p:sp>
      <p:sp>
        <p:nvSpPr>
          <p:cNvPr id="16" name="Oval 15"/>
          <p:cNvSpPr/>
          <p:nvPr/>
        </p:nvSpPr>
        <p:spPr>
          <a:xfrm>
            <a:off x="1828800" y="2552700"/>
            <a:ext cx="1905000" cy="152400"/>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2297152" y="2247900"/>
            <a:ext cx="941348" cy="369332"/>
          </a:xfrm>
          <a:prstGeom prst="rect">
            <a:avLst/>
          </a:prstGeom>
          <a:noFill/>
        </p:spPr>
        <p:txBody>
          <a:bodyPr wrap="none" rtlCol="0">
            <a:spAutoFit/>
          </a:bodyPr>
          <a:lstStyle/>
          <a:p>
            <a:r>
              <a:rPr lang="en-US" dirty="0"/>
              <a:t>Node A</a:t>
            </a:r>
          </a:p>
        </p:txBody>
      </p:sp>
      <p:pic>
        <p:nvPicPr>
          <p:cNvPr id="162824" name="Picture 8"/>
          <p:cNvPicPr>
            <a:picLocks noChangeAspect="1" noChangeArrowheads="1"/>
          </p:cNvPicPr>
          <p:nvPr/>
        </p:nvPicPr>
        <p:blipFill>
          <a:blip r:embed="rId7" cstate="print"/>
          <a:srcRect/>
          <a:stretch>
            <a:fillRect/>
          </a:stretch>
        </p:blipFill>
        <p:spPr bwMode="auto">
          <a:xfrm>
            <a:off x="5638800" y="2476500"/>
            <a:ext cx="2362200" cy="1655523"/>
          </a:xfrm>
          <a:prstGeom prst="rect">
            <a:avLst/>
          </a:prstGeom>
          <a:noFill/>
          <a:ln w="9525">
            <a:noFill/>
            <a:miter lim="800000"/>
            <a:headEnd/>
            <a:tailEnd/>
          </a:ln>
          <a:effectLst/>
        </p:spPr>
      </p:pic>
      <p:graphicFrame>
        <p:nvGraphicFramePr>
          <p:cNvPr id="162825" name="Object 9"/>
          <p:cNvGraphicFramePr>
            <a:graphicFrameLocks noChangeAspect="1"/>
          </p:cNvGraphicFramePr>
          <p:nvPr/>
        </p:nvGraphicFramePr>
        <p:xfrm>
          <a:off x="5748338" y="4876800"/>
          <a:ext cx="1300162" cy="414337"/>
        </p:xfrm>
        <a:graphic>
          <a:graphicData uri="http://schemas.openxmlformats.org/presentationml/2006/ole">
            <mc:AlternateContent xmlns:mc="http://schemas.openxmlformats.org/markup-compatibility/2006">
              <mc:Choice xmlns:v="urn:schemas-microsoft-com:vml" Requires="v">
                <p:oleObj name="Equation" r:id="rId8" imgW="419040" imgH="190440" progId="Equation.3">
                  <p:embed/>
                </p:oleObj>
              </mc:Choice>
              <mc:Fallback>
                <p:oleObj name="Equation" r:id="rId8" imgW="419040" imgH="190440" progId="Equation.3">
                  <p:embed/>
                  <p:pic>
                    <p:nvPicPr>
                      <p:cNvPr id="0"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48338" y="4876800"/>
                        <a:ext cx="1300162" cy="414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2826" name="Object 10"/>
          <p:cNvGraphicFramePr>
            <a:graphicFrameLocks noChangeAspect="1"/>
          </p:cNvGraphicFramePr>
          <p:nvPr/>
        </p:nvGraphicFramePr>
        <p:xfrm>
          <a:off x="1371600" y="5334000"/>
          <a:ext cx="2916237" cy="414338"/>
        </p:xfrm>
        <a:graphic>
          <a:graphicData uri="http://schemas.openxmlformats.org/presentationml/2006/ole">
            <mc:AlternateContent xmlns:mc="http://schemas.openxmlformats.org/markup-compatibility/2006">
              <mc:Choice xmlns:v="urn:schemas-microsoft-com:vml" Requires="v">
                <p:oleObj name="Equation" r:id="rId10" imgW="939600" imgH="190440" progId="Equation.3">
                  <p:embed/>
                </p:oleObj>
              </mc:Choice>
              <mc:Fallback>
                <p:oleObj name="Equation" r:id="rId10" imgW="939600" imgH="190440" progId="Equation.3">
                  <p:embed/>
                  <p:pic>
                    <p:nvPicPr>
                      <p:cNvPr id="0"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71600" y="5334000"/>
                        <a:ext cx="2916237" cy="414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ounded Rectangle 22"/>
          <p:cNvSpPr/>
          <p:nvPr/>
        </p:nvSpPr>
        <p:spPr>
          <a:xfrm>
            <a:off x="6667500" y="5632450"/>
            <a:ext cx="2095500" cy="95250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Object 5"/>
          <p:cNvGraphicFramePr>
            <a:graphicFrameLocks noChangeAspect="1"/>
          </p:cNvGraphicFramePr>
          <p:nvPr/>
        </p:nvGraphicFramePr>
        <p:xfrm>
          <a:off x="6629400" y="5600700"/>
          <a:ext cx="2214563" cy="984250"/>
        </p:xfrm>
        <a:graphic>
          <a:graphicData uri="http://schemas.openxmlformats.org/presentationml/2006/ole">
            <mc:AlternateContent xmlns:mc="http://schemas.openxmlformats.org/markup-compatibility/2006">
              <mc:Choice xmlns:v="urn:schemas-microsoft-com:vml" Requires="v">
                <p:oleObj name="Equation" r:id="rId12" imgW="660240" imgH="419040" progId="Equation.3">
                  <p:embed/>
                </p:oleObj>
              </mc:Choice>
              <mc:Fallback>
                <p:oleObj name="Equation" r:id="rId12" imgW="660240" imgH="419040" progId="Equation.3">
                  <p:embed/>
                  <p:pic>
                    <p:nvPicPr>
                      <p:cNvPr id="0" name="Picture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629400" y="5600700"/>
                        <a:ext cx="2214563" cy="984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TextBox 24"/>
          <p:cNvSpPr txBox="1"/>
          <p:nvPr/>
        </p:nvSpPr>
        <p:spPr>
          <a:xfrm>
            <a:off x="4762500" y="3124200"/>
            <a:ext cx="394660" cy="523220"/>
          </a:xfrm>
          <a:prstGeom prst="rect">
            <a:avLst/>
          </a:prstGeom>
          <a:noFill/>
        </p:spPr>
        <p:txBody>
          <a:bodyPr wrap="none" rtlCol="0">
            <a:spAutoFit/>
          </a:bodyPr>
          <a:lstStyle/>
          <a:p>
            <a:r>
              <a:rPr lang="en-US" sz="2800" dirty="0"/>
              <a:t>≡</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ounded Rectangle 63"/>
          <p:cNvSpPr/>
          <p:nvPr/>
        </p:nvSpPr>
        <p:spPr>
          <a:xfrm>
            <a:off x="609600" y="838200"/>
            <a:ext cx="7658100" cy="125730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6" name="Title 1"/>
          <p:cNvSpPr>
            <a:spLocks noGrp="1"/>
          </p:cNvSpPr>
          <p:nvPr>
            <p:ph type="title"/>
          </p:nvPr>
        </p:nvSpPr>
        <p:spPr>
          <a:xfrm>
            <a:off x="38100" y="122237"/>
            <a:ext cx="7429500" cy="563563"/>
          </a:xfrm>
        </p:spPr>
        <p:txBody>
          <a:bodyPr/>
          <a:lstStyle/>
          <a:p>
            <a:r>
              <a:rPr lang="en-US" sz="3200" dirty="0"/>
              <a:t>Equivalent Resistance of 2 Parallel Resistors</a:t>
            </a:r>
          </a:p>
        </p:txBody>
      </p:sp>
      <p:sp>
        <p:nvSpPr>
          <p:cNvPr id="6147" name="Content Placeholder 2"/>
          <p:cNvSpPr>
            <a:spLocks noGrp="1"/>
          </p:cNvSpPr>
          <p:nvPr>
            <p:ph idx="1"/>
          </p:nvPr>
        </p:nvSpPr>
        <p:spPr>
          <a:xfrm>
            <a:off x="228600" y="4381500"/>
            <a:ext cx="8763000" cy="2209800"/>
          </a:xfrm>
        </p:spPr>
        <p:txBody>
          <a:bodyPr/>
          <a:lstStyle/>
          <a:p>
            <a:pPr>
              <a:buNone/>
            </a:pPr>
            <a:r>
              <a:rPr lang="en-US" sz="2400" dirty="0"/>
              <a:t>					For N=2,</a:t>
            </a:r>
          </a:p>
          <a:p>
            <a:pPr>
              <a:buNone/>
            </a:pPr>
            <a:endParaRPr lang="en-US" sz="2400" dirty="0"/>
          </a:p>
          <a:p>
            <a:pPr>
              <a:buNone/>
            </a:pPr>
            <a:r>
              <a:rPr lang="en-US" sz="2400" dirty="0"/>
              <a:t>		</a:t>
            </a:r>
            <a:r>
              <a:rPr lang="en-US" sz="2400" u="sng" dirty="0"/>
              <a:t>Only for </a:t>
            </a:r>
            <a:r>
              <a:rPr lang="en-US" sz="2400" b="1" u="sng" dirty="0"/>
              <a:t>N=2</a:t>
            </a:r>
            <a:r>
              <a:rPr lang="en-US" sz="2400" dirty="0"/>
              <a:t>: </a:t>
            </a:r>
          </a:p>
        </p:txBody>
      </p:sp>
      <p:sp>
        <p:nvSpPr>
          <p:cNvPr id="13" name="Slide Number Placeholder 12"/>
          <p:cNvSpPr>
            <a:spLocks noGrp="1"/>
          </p:cNvSpPr>
          <p:nvPr>
            <p:ph type="sldNum" sz="quarter" idx="11"/>
          </p:nvPr>
        </p:nvSpPr>
        <p:spPr>
          <a:xfrm>
            <a:off x="6705600" y="6492875"/>
            <a:ext cx="2438400" cy="365125"/>
          </a:xfrm>
        </p:spPr>
        <p:txBody>
          <a:bodyPr/>
          <a:lstStyle/>
          <a:p>
            <a:pPr>
              <a:defRPr/>
            </a:pPr>
            <a:fld id="{A957CEED-90C7-4FD0-AB8C-14085BB9151E}" type="slidenum">
              <a:rPr lang="en-US" smtClean="0"/>
              <a:pPr>
                <a:defRPr/>
              </a:pPr>
              <a:t>14</a:t>
            </a:fld>
            <a:endParaRPr lang="en-US" dirty="0"/>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63" name="TextBox 62"/>
          <p:cNvSpPr txBox="1"/>
          <p:nvPr/>
        </p:nvSpPr>
        <p:spPr>
          <a:xfrm>
            <a:off x="723149" y="876300"/>
            <a:ext cx="7544551" cy="1200329"/>
          </a:xfrm>
          <a:prstGeom prst="rect">
            <a:avLst/>
          </a:prstGeom>
          <a:noFill/>
        </p:spPr>
        <p:txBody>
          <a:bodyPr wrap="square" rtlCol="0">
            <a:spAutoFit/>
          </a:bodyPr>
          <a:lstStyle/>
          <a:p>
            <a:r>
              <a:rPr lang="en-US" sz="2400" dirty="0"/>
              <a:t>The equivalent resistance of two resistors in parallel is the product of their resistances divided by the sum.</a:t>
            </a:r>
          </a:p>
          <a:p>
            <a:r>
              <a:rPr lang="en-US" sz="2400" dirty="0"/>
              <a:t>[This rule ONLY applies to</a:t>
            </a:r>
            <a:r>
              <a:rPr lang="en-US" sz="2400" b="1" dirty="0"/>
              <a:t> </a:t>
            </a:r>
            <a:r>
              <a:rPr lang="en-US" sz="2400" b="1" u="sng" dirty="0"/>
              <a:t>2</a:t>
            </a:r>
            <a:r>
              <a:rPr lang="en-US" sz="2400" b="1" dirty="0"/>
              <a:t> </a:t>
            </a:r>
            <a:r>
              <a:rPr lang="en-US" sz="2400" dirty="0"/>
              <a:t>parallel resistors!]</a:t>
            </a:r>
          </a:p>
        </p:txBody>
      </p:sp>
      <p:pic>
        <p:nvPicPr>
          <p:cNvPr id="162824" name="Picture 8"/>
          <p:cNvPicPr>
            <a:picLocks noChangeAspect="1" noChangeArrowheads="1"/>
          </p:cNvPicPr>
          <p:nvPr/>
        </p:nvPicPr>
        <p:blipFill>
          <a:blip r:embed="rId2" cstate="print"/>
          <a:srcRect/>
          <a:stretch>
            <a:fillRect/>
          </a:stretch>
        </p:blipFill>
        <p:spPr bwMode="auto">
          <a:xfrm>
            <a:off x="5638800" y="2476500"/>
            <a:ext cx="2362200" cy="1655523"/>
          </a:xfrm>
          <a:prstGeom prst="rect">
            <a:avLst/>
          </a:prstGeom>
          <a:noFill/>
          <a:ln w="9525">
            <a:noFill/>
            <a:miter lim="800000"/>
            <a:headEnd/>
            <a:tailEnd/>
          </a:ln>
          <a:effectLst/>
        </p:spPr>
      </p:pic>
      <p:sp>
        <p:nvSpPr>
          <p:cNvPr id="23" name="Rounded Rectangle 22"/>
          <p:cNvSpPr/>
          <p:nvPr/>
        </p:nvSpPr>
        <p:spPr>
          <a:xfrm>
            <a:off x="3200400" y="5524500"/>
            <a:ext cx="2476500" cy="99060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Object 5"/>
          <p:cNvGraphicFramePr>
            <a:graphicFrameLocks noChangeAspect="1"/>
          </p:cNvGraphicFramePr>
          <p:nvPr/>
        </p:nvGraphicFramePr>
        <p:xfrm>
          <a:off x="1290637" y="4191000"/>
          <a:ext cx="2214563" cy="984250"/>
        </p:xfrm>
        <a:graphic>
          <a:graphicData uri="http://schemas.openxmlformats.org/presentationml/2006/ole">
            <mc:AlternateContent xmlns:mc="http://schemas.openxmlformats.org/markup-compatibility/2006">
              <mc:Choice xmlns:v="urn:schemas-microsoft-com:vml" Requires="v">
                <p:oleObj name="Equation" r:id="rId3" imgW="660240" imgH="419040" progId="Equation.3">
                  <p:embed/>
                </p:oleObj>
              </mc:Choice>
              <mc:Fallback>
                <p:oleObj name="Equation" r:id="rId3" imgW="660240" imgH="41904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0637" y="4191000"/>
                        <a:ext cx="2214563" cy="984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TextBox 24"/>
          <p:cNvSpPr txBox="1"/>
          <p:nvPr/>
        </p:nvSpPr>
        <p:spPr>
          <a:xfrm>
            <a:off x="4762500" y="3124200"/>
            <a:ext cx="394660" cy="523220"/>
          </a:xfrm>
          <a:prstGeom prst="rect">
            <a:avLst/>
          </a:prstGeom>
          <a:noFill/>
        </p:spPr>
        <p:txBody>
          <a:bodyPr wrap="none" rtlCol="0">
            <a:spAutoFit/>
          </a:bodyPr>
          <a:lstStyle/>
          <a:p>
            <a:r>
              <a:rPr lang="en-US" sz="2800" dirty="0"/>
              <a:t>≡</a:t>
            </a:r>
          </a:p>
        </p:txBody>
      </p:sp>
      <p:pic>
        <p:nvPicPr>
          <p:cNvPr id="165895" name="Picture 7"/>
          <p:cNvPicPr>
            <a:picLocks noChangeAspect="1" noChangeArrowheads="1"/>
          </p:cNvPicPr>
          <p:nvPr/>
        </p:nvPicPr>
        <p:blipFill>
          <a:blip r:embed="rId5" cstate="print"/>
          <a:srcRect/>
          <a:stretch>
            <a:fillRect/>
          </a:stretch>
        </p:blipFill>
        <p:spPr bwMode="auto">
          <a:xfrm>
            <a:off x="1371599" y="2438400"/>
            <a:ext cx="2895601" cy="1680922"/>
          </a:xfrm>
          <a:prstGeom prst="rect">
            <a:avLst/>
          </a:prstGeom>
          <a:noFill/>
          <a:ln w="9525">
            <a:noFill/>
            <a:miter lim="800000"/>
            <a:headEnd/>
            <a:tailEnd/>
          </a:ln>
          <a:effectLst/>
        </p:spPr>
      </p:pic>
      <p:graphicFrame>
        <p:nvGraphicFramePr>
          <p:cNvPr id="165896" name="Object 8"/>
          <p:cNvGraphicFramePr>
            <a:graphicFrameLocks noChangeAspect="1"/>
          </p:cNvGraphicFramePr>
          <p:nvPr/>
        </p:nvGraphicFramePr>
        <p:xfrm>
          <a:off x="5257800" y="4278313"/>
          <a:ext cx="2554288" cy="865187"/>
        </p:xfrm>
        <a:graphic>
          <a:graphicData uri="http://schemas.openxmlformats.org/presentationml/2006/ole">
            <mc:AlternateContent xmlns:mc="http://schemas.openxmlformats.org/markup-compatibility/2006">
              <mc:Choice xmlns:v="urn:schemas-microsoft-com:vml" Requires="v">
                <p:oleObj name="Equation" r:id="rId6" imgW="761760" imgH="368280" progId="Equation.3">
                  <p:embed/>
                </p:oleObj>
              </mc:Choice>
              <mc:Fallback>
                <p:oleObj name="Equation" r:id="rId6" imgW="761760" imgH="368280" progId="Equation.3">
                  <p:embed/>
                  <p:pic>
                    <p:nvPicPr>
                      <p:cNvPr id="0"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7800" y="4278313"/>
                        <a:ext cx="2554288" cy="865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5897" name="Object 9"/>
          <p:cNvGraphicFramePr>
            <a:graphicFrameLocks noChangeAspect="1"/>
          </p:cNvGraphicFramePr>
          <p:nvPr/>
        </p:nvGraphicFramePr>
        <p:xfrm>
          <a:off x="3276600" y="5600700"/>
          <a:ext cx="2384425" cy="865188"/>
        </p:xfrm>
        <a:graphic>
          <a:graphicData uri="http://schemas.openxmlformats.org/presentationml/2006/ole">
            <mc:AlternateContent xmlns:mc="http://schemas.openxmlformats.org/markup-compatibility/2006">
              <mc:Choice xmlns:v="urn:schemas-microsoft-com:vml" Requires="v">
                <p:oleObj name="Equation" r:id="rId8" imgW="711000" imgH="368280" progId="Equation.3">
                  <p:embed/>
                </p:oleObj>
              </mc:Choice>
              <mc:Fallback>
                <p:oleObj name="Equation" r:id="rId8" imgW="711000" imgH="368280" progId="Equation.3">
                  <p:embed/>
                  <p:pic>
                    <p:nvPicPr>
                      <p:cNvPr id="0"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6600" y="5600700"/>
                        <a:ext cx="2384425" cy="865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823" name="Picture 7"/>
          <p:cNvPicPr>
            <a:picLocks noChangeAspect="1" noChangeArrowheads="1"/>
          </p:cNvPicPr>
          <p:nvPr/>
        </p:nvPicPr>
        <p:blipFill>
          <a:blip r:embed="rId2" cstate="print"/>
          <a:srcRect/>
          <a:stretch>
            <a:fillRect/>
          </a:stretch>
        </p:blipFill>
        <p:spPr bwMode="auto">
          <a:xfrm>
            <a:off x="533400" y="1012756"/>
            <a:ext cx="3924300" cy="1654244"/>
          </a:xfrm>
          <a:prstGeom prst="rect">
            <a:avLst/>
          </a:prstGeom>
          <a:noFill/>
          <a:ln w="9525">
            <a:noFill/>
            <a:miter lim="800000"/>
            <a:headEnd/>
            <a:tailEnd/>
          </a:ln>
          <a:effectLst/>
        </p:spPr>
      </p:pic>
      <p:sp>
        <p:nvSpPr>
          <p:cNvPr id="6146" name="Title 1"/>
          <p:cNvSpPr>
            <a:spLocks noGrp="1"/>
          </p:cNvSpPr>
          <p:nvPr>
            <p:ph type="title"/>
          </p:nvPr>
        </p:nvSpPr>
        <p:spPr>
          <a:xfrm>
            <a:off x="457200" y="122237"/>
            <a:ext cx="8229600" cy="563563"/>
          </a:xfrm>
        </p:spPr>
        <p:txBody>
          <a:bodyPr/>
          <a:lstStyle/>
          <a:p>
            <a:r>
              <a:rPr lang="en-US" sz="3200" dirty="0"/>
              <a:t>Principle of Current Division</a:t>
            </a:r>
          </a:p>
        </p:txBody>
      </p:sp>
      <p:sp>
        <p:nvSpPr>
          <p:cNvPr id="6147" name="Content Placeholder 2"/>
          <p:cNvSpPr>
            <a:spLocks noGrp="1"/>
          </p:cNvSpPr>
          <p:nvPr>
            <p:ph idx="1"/>
          </p:nvPr>
        </p:nvSpPr>
        <p:spPr>
          <a:xfrm>
            <a:off x="228600" y="2819400"/>
            <a:ext cx="8763000" cy="3771900"/>
          </a:xfrm>
        </p:spPr>
        <p:txBody>
          <a:bodyPr/>
          <a:lstStyle/>
          <a:p>
            <a:pPr>
              <a:buNone/>
            </a:pPr>
            <a:r>
              <a:rPr lang="en-US" sz="2400" dirty="0"/>
              <a:t>Ohm’s Law:</a:t>
            </a:r>
          </a:p>
          <a:p>
            <a:pPr>
              <a:buNone/>
            </a:pPr>
            <a:endParaRPr lang="en-US" sz="2400" dirty="0"/>
          </a:p>
          <a:p>
            <a:pPr>
              <a:buNone/>
            </a:pPr>
            <a:r>
              <a:rPr lang="en-US" sz="2400" dirty="0"/>
              <a:t>Similarly:  </a:t>
            </a:r>
          </a:p>
        </p:txBody>
      </p:sp>
      <p:sp>
        <p:nvSpPr>
          <p:cNvPr id="13" name="Slide Number Placeholder 12"/>
          <p:cNvSpPr>
            <a:spLocks noGrp="1"/>
          </p:cNvSpPr>
          <p:nvPr>
            <p:ph type="sldNum" sz="quarter" idx="11"/>
          </p:nvPr>
        </p:nvSpPr>
        <p:spPr>
          <a:xfrm>
            <a:off x="6705600" y="6492875"/>
            <a:ext cx="2438400" cy="365125"/>
          </a:xfrm>
        </p:spPr>
        <p:txBody>
          <a:bodyPr/>
          <a:lstStyle/>
          <a:p>
            <a:pPr>
              <a:defRPr/>
            </a:pPr>
            <a:fld id="{A957CEED-90C7-4FD0-AB8C-14085BB9151E}" type="slidenum">
              <a:rPr lang="en-US" smtClean="0"/>
              <a:pPr>
                <a:defRPr/>
              </a:pPr>
              <a:t>15</a:t>
            </a:fld>
            <a:endParaRPr lang="en-US" dirty="0"/>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6" name="Oval 15"/>
          <p:cNvSpPr/>
          <p:nvPr/>
        </p:nvSpPr>
        <p:spPr>
          <a:xfrm>
            <a:off x="1981200" y="1028700"/>
            <a:ext cx="1905000" cy="136455"/>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2297152" y="707955"/>
            <a:ext cx="941348" cy="369332"/>
          </a:xfrm>
          <a:prstGeom prst="rect">
            <a:avLst/>
          </a:prstGeom>
          <a:noFill/>
        </p:spPr>
        <p:txBody>
          <a:bodyPr wrap="none" rtlCol="0">
            <a:spAutoFit/>
          </a:bodyPr>
          <a:lstStyle/>
          <a:p>
            <a:r>
              <a:rPr lang="en-US" dirty="0"/>
              <a:t>Node A</a:t>
            </a:r>
          </a:p>
        </p:txBody>
      </p:sp>
      <p:pic>
        <p:nvPicPr>
          <p:cNvPr id="162824" name="Picture 8"/>
          <p:cNvPicPr>
            <a:picLocks noChangeAspect="1" noChangeArrowheads="1"/>
          </p:cNvPicPr>
          <p:nvPr/>
        </p:nvPicPr>
        <p:blipFill>
          <a:blip r:embed="rId3" cstate="print"/>
          <a:srcRect/>
          <a:stretch>
            <a:fillRect/>
          </a:stretch>
        </p:blipFill>
        <p:spPr bwMode="auto">
          <a:xfrm>
            <a:off x="5791200" y="936555"/>
            <a:ext cx="2362200" cy="1655523"/>
          </a:xfrm>
          <a:prstGeom prst="rect">
            <a:avLst/>
          </a:prstGeom>
          <a:noFill/>
          <a:ln w="9525">
            <a:noFill/>
            <a:miter lim="800000"/>
            <a:headEnd/>
            <a:tailEnd/>
          </a:ln>
          <a:effectLst/>
        </p:spPr>
      </p:pic>
      <p:graphicFrame>
        <p:nvGraphicFramePr>
          <p:cNvPr id="162825" name="Object 9"/>
          <p:cNvGraphicFramePr>
            <a:graphicFrameLocks noChangeAspect="1"/>
          </p:cNvGraphicFramePr>
          <p:nvPr/>
        </p:nvGraphicFramePr>
        <p:xfrm>
          <a:off x="1946275" y="2743200"/>
          <a:ext cx="3581679" cy="755650"/>
        </p:xfrm>
        <a:graphic>
          <a:graphicData uri="http://schemas.openxmlformats.org/presentationml/2006/ole">
            <mc:AlternateContent xmlns:mc="http://schemas.openxmlformats.org/markup-compatibility/2006">
              <mc:Choice xmlns:v="urn:schemas-microsoft-com:vml" Requires="v">
                <p:oleObj name="Equation" r:id="rId4" imgW="1434960" imgH="431640" progId="Equation.3">
                  <p:embed/>
                </p:oleObj>
              </mc:Choice>
              <mc:Fallback>
                <p:oleObj name="Equation" r:id="rId4" imgW="1434960" imgH="43164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6275" y="2743200"/>
                        <a:ext cx="3581679" cy="75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TextBox 24"/>
          <p:cNvSpPr txBox="1"/>
          <p:nvPr/>
        </p:nvSpPr>
        <p:spPr>
          <a:xfrm>
            <a:off x="4914900" y="1584255"/>
            <a:ext cx="394660" cy="523220"/>
          </a:xfrm>
          <a:prstGeom prst="rect">
            <a:avLst/>
          </a:prstGeom>
          <a:noFill/>
        </p:spPr>
        <p:txBody>
          <a:bodyPr wrap="none" rtlCol="0">
            <a:spAutoFit/>
          </a:bodyPr>
          <a:lstStyle/>
          <a:p>
            <a:r>
              <a:rPr lang="en-US" sz="2800" dirty="0"/>
              <a:t>≡</a:t>
            </a:r>
          </a:p>
        </p:txBody>
      </p:sp>
      <p:graphicFrame>
        <p:nvGraphicFramePr>
          <p:cNvPr id="166919" name="Object 7"/>
          <p:cNvGraphicFramePr>
            <a:graphicFrameLocks noChangeAspect="1"/>
          </p:cNvGraphicFramePr>
          <p:nvPr/>
        </p:nvGraphicFramePr>
        <p:xfrm>
          <a:off x="1802575" y="3517900"/>
          <a:ext cx="2921825" cy="939800"/>
        </p:xfrm>
        <a:graphic>
          <a:graphicData uri="http://schemas.openxmlformats.org/presentationml/2006/ole">
            <mc:AlternateContent xmlns:mc="http://schemas.openxmlformats.org/markup-compatibility/2006">
              <mc:Choice xmlns:v="urn:schemas-microsoft-com:vml" Requires="v">
                <p:oleObj name="Equation" r:id="rId6" imgW="1079280" imgH="495000" progId="Equation.3">
                  <p:embed/>
                </p:oleObj>
              </mc:Choice>
              <mc:Fallback>
                <p:oleObj name="Equation" r:id="rId6" imgW="1079280" imgH="495000" progId="Equation.3">
                  <p:embed/>
                  <p:pic>
                    <p:nvPicPr>
                      <p:cNvPr id="0"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02575" y="3517900"/>
                        <a:ext cx="2921825" cy="939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6920" name="Object 8"/>
          <p:cNvGraphicFramePr>
            <a:graphicFrameLocks noChangeAspect="1"/>
          </p:cNvGraphicFramePr>
          <p:nvPr/>
        </p:nvGraphicFramePr>
        <p:xfrm>
          <a:off x="4928973" y="3581400"/>
          <a:ext cx="2652927" cy="831850"/>
        </p:xfrm>
        <a:graphic>
          <a:graphicData uri="http://schemas.openxmlformats.org/presentationml/2006/ole">
            <mc:AlternateContent xmlns:mc="http://schemas.openxmlformats.org/markup-compatibility/2006">
              <mc:Choice xmlns:v="urn:schemas-microsoft-com:vml" Requires="v">
                <p:oleObj name="Equation" r:id="rId8" imgW="965160" imgH="431640" progId="Equation.3">
                  <p:embed/>
                </p:oleObj>
              </mc:Choice>
              <mc:Fallback>
                <p:oleObj name="Equation" r:id="rId8" imgW="965160" imgH="431640" progId="Equation.3">
                  <p:embed/>
                  <p:pic>
                    <p:nvPicPr>
                      <p:cNvPr id="0"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28973" y="3581400"/>
                        <a:ext cx="2652927" cy="831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Rounded Rectangle 25"/>
          <p:cNvSpPr/>
          <p:nvPr/>
        </p:nvSpPr>
        <p:spPr>
          <a:xfrm>
            <a:off x="1066800" y="4838700"/>
            <a:ext cx="7048500" cy="1638300"/>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1066800" y="4895671"/>
            <a:ext cx="6972300" cy="1569660"/>
          </a:xfrm>
          <a:prstGeom prst="rect">
            <a:avLst/>
          </a:prstGeom>
          <a:noFill/>
        </p:spPr>
        <p:txBody>
          <a:bodyPr wrap="square" rtlCol="0">
            <a:spAutoFit/>
          </a:bodyPr>
          <a:lstStyle/>
          <a:p>
            <a:r>
              <a:rPr lang="en-US" sz="2400" dirty="0"/>
              <a:t>The current through parallel resistors divides up in direct proportion to their </a:t>
            </a:r>
            <a:r>
              <a:rPr lang="en-US" sz="2400" dirty="0" err="1"/>
              <a:t>conductances</a:t>
            </a:r>
            <a:r>
              <a:rPr lang="en-US" sz="2400" dirty="0"/>
              <a:t> and inverse proportion to their resistances. Such a circuit is called a </a:t>
            </a:r>
            <a:r>
              <a:rPr lang="en-US" sz="2400" b="1" i="1" dirty="0"/>
              <a:t>current divider</a:t>
            </a:r>
            <a:r>
              <a:rPr lang="en-US" sz="2400" dirty="0"/>
              <a:t>.</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14" name="Content Placeholder 13"/>
          <p:cNvSpPr>
            <a:spLocks noGrp="1"/>
          </p:cNvSpPr>
          <p:nvPr>
            <p:ph idx="1"/>
          </p:nvPr>
        </p:nvSpPr>
        <p:spPr>
          <a:xfrm>
            <a:off x="457200" y="685801"/>
            <a:ext cx="8229600" cy="5440364"/>
          </a:xfrm>
        </p:spPr>
        <p:txBody>
          <a:bodyPr/>
          <a:lstStyle/>
          <a:p>
            <a:r>
              <a:rPr lang="en-US" sz="2400" dirty="0"/>
              <a:t>Find i</a:t>
            </a:r>
            <a:r>
              <a:rPr lang="en-US" sz="2400" baseline="-25000" dirty="0"/>
              <a:t>1</a:t>
            </a:r>
            <a:r>
              <a:rPr lang="en-US" sz="2400" dirty="0"/>
              <a:t> through i</a:t>
            </a:r>
            <a:r>
              <a:rPr lang="en-US" sz="2400" baseline="-25000" dirty="0"/>
              <a:t>5</a:t>
            </a:r>
            <a:r>
              <a:rPr lang="en-US" sz="2400" dirty="0"/>
              <a:t> in the following circuit:</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13" name="Picture 2"/>
          <p:cNvPicPr>
            <a:picLocks noChangeAspect="1" noChangeArrowheads="1"/>
          </p:cNvPicPr>
          <p:nvPr/>
        </p:nvPicPr>
        <p:blipFill>
          <a:blip r:embed="rId2" cstate="print"/>
          <a:srcRect/>
          <a:stretch>
            <a:fillRect/>
          </a:stretch>
        </p:blipFill>
        <p:spPr bwMode="auto">
          <a:xfrm>
            <a:off x="5766198" y="723900"/>
            <a:ext cx="3275251" cy="2247900"/>
          </a:xfrm>
          <a:prstGeom prst="rect">
            <a:avLst/>
          </a:prstGeom>
          <a:noFill/>
          <a:ln w="9525">
            <a:noFill/>
            <a:miter lim="800000"/>
            <a:headEnd/>
            <a:tailEnd/>
          </a:ln>
          <a:effectLst/>
        </p:spPr>
      </p:pic>
      <p:sp>
        <p:nvSpPr>
          <p:cNvPr id="7"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16</a:t>
            </a:fld>
            <a:endParaRPr lang="en-US" dirty="0"/>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8229600" cy="563563"/>
          </a:xfrm>
        </p:spPr>
        <p:txBody>
          <a:bodyPr/>
          <a:lstStyle/>
          <a:p>
            <a:r>
              <a:rPr lang="en-US" sz="3200" dirty="0"/>
              <a:t>Example</a:t>
            </a:r>
          </a:p>
        </p:txBody>
      </p:sp>
      <p:sp>
        <p:nvSpPr>
          <p:cNvPr id="14" name="Content Placeholder 13"/>
          <p:cNvSpPr>
            <a:spLocks noGrp="1"/>
          </p:cNvSpPr>
          <p:nvPr>
            <p:ph idx="1"/>
          </p:nvPr>
        </p:nvSpPr>
        <p:spPr>
          <a:xfrm>
            <a:off x="457200" y="685801"/>
            <a:ext cx="8229600" cy="5440364"/>
          </a:xfrm>
        </p:spPr>
        <p:txBody>
          <a:bodyPr/>
          <a:lstStyle/>
          <a:p>
            <a:r>
              <a:rPr lang="en-US" sz="2400" dirty="0"/>
              <a:t>Find i</a:t>
            </a:r>
            <a:r>
              <a:rPr lang="en-US" sz="2400" baseline="-25000" dirty="0"/>
              <a:t>1</a:t>
            </a:r>
            <a:r>
              <a:rPr lang="en-US" sz="2400" dirty="0"/>
              <a:t> through i</a:t>
            </a:r>
            <a:r>
              <a:rPr lang="en-US" sz="2400" baseline="-25000" dirty="0"/>
              <a:t>5</a:t>
            </a:r>
            <a:r>
              <a:rPr lang="en-US" sz="2400" dirty="0"/>
              <a:t> in the following circuit:</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0" name="TextBox 9"/>
          <p:cNvSpPr txBox="1"/>
          <p:nvPr/>
        </p:nvSpPr>
        <p:spPr>
          <a:xfrm>
            <a:off x="114300" y="1943100"/>
            <a:ext cx="3095719" cy="461665"/>
          </a:xfrm>
          <a:prstGeom prst="rect">
            <a:avLst/>
          </a:prstGeom>
          <a:noFill/>
        </p:spPr>
        <p:txBody>
          <a:bodyPr wrap="none" rtlCol="0">
            <a:spAutoFit/>
          </a:bodyPr>
          <a:lstStyle/>
          <a:p>
            <a:r>
              <a:rPr lang="en-US" sz="2400" dirty="0"/>
              <a:t>Using current divider:</a:t>
            </a:r>
          </a:p>
        </p:txBody>
      </p:sp>
      <p:graphicFrame>
        <p:nvGraphicFramePr>
          <p:cNvPr id="172034" name="Object 2"/>
          <p:cNvGraphicFramePr>
            <a:graphicFrameLocks noChangeAspect="1"/>
          </p:cNvGraphicFramePr>
          <p:nvPr/>
        </p:nvGraphicFramePr>
        <p:xfrm>
          <a:off x="190500" y="2438400"/>
          <a:ext cx="5135563" cy="1050925"/>
        </p:xfrm>
        <a:graphic>
          <a:graphicData uri="http://schemas.openxmlformats.org/presentationml/2006/ole">
            <mc:AlternateContent xmlns:mc="http://schemas.openxmlformats.org/markup-compatibility/2006">
              <mc:Choice xmlns:v="urn:schemas-microsoft-com:vml" Requires="v">
                <p:oleObj name="Equation" r:id="rId3" imgW="1828800" imgH="533160" progId="Equation.3">
                  <p:embed/>
                </p:oleObj>
              </mc:Choice>
              <mc:Fallback>
                <p:oleObj name="Equation" r:id="rId3" imgW="1828800" imgH="53316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 y="2438400"/>
                        <a:ext cx="5135563" cy="1050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5334000" y="2602468"/>
            <a:ext cx="504894" cy="369332"/>
          </a:xfrm>
          <a:prstGeom prst="rect">
            <a:avLst/>
          </a:prstGeom>
          <a:noFill/>
        </p:spPr>
        <p:txBody>
          <a:bodyPr wrap="square" rtlCol="0">
            <a:spAutoFit/>
          </a:bodyPr>
          <a:lstStyle/>
          <a:p>
            <a:r>
              <a:rPr lang="en-US" dirty="0"/>
              <a:t>(1)</a:t>
            </a:r>
          </a:p>
        </p:txBody>
      </p:sp>
      <p:graphicFrame>
        <p:nvGraphicFramePr>
          <p:cNvPr id="172035" name="Object 3"/>
          <p:cNvGraphicFramePr>
            <a:graphicFrameLocks noChangeAspect="1"/>
          </p:cNvGraphicFramePr>
          <p:nvPr/>
        </p:nvGraphicFramePr>
        <p:xfrm>
          <a:off x="206375" y="3543300"/>
          <a:ext cx="5851525" cy="725488"/>
        </p:xfrm>
        <a:graphic>
          <a:graphicData uri="http://schemas.openxmlformats.org/presentationml/2006/ole">
            <mc:AlternateContent xmlns:mc="http://schemas.openxmlformats.org/markup-compatibility/2006">
              <mc:Choice xmlns:v="urn:schemas-microsoft-com:vml" Requires="v">
                <p:oleObj name="Equation" r:id="rId5" imgW="2082600" imgH="368280" progId="Equation.3">
                  <p:embed/>
                </p:oleObj>
              </mc:Choice>
              <mc:Fallback>
                <p:oleObj name="Equation" r:id="rId5" imgW="2082600" imgH="36828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375" y="3543300"/>
                        <a:ext cx="5851525" cy="725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6057900" y="3657600"/>
            <a:ext cx="533400" cy="369332"/>
          </a:xfrm>
          <a:prstGeom prst="rect">
            <a:avLst/>
          </a:prstGeom>
          <a:noFill/>
        </p:spPr>
        <p:txBody>
          <a:bodyPr wrap="square" rtlCol="0">
            <a:spAutoFit/>
          </a:bodyPr>
          <a:lstStyle/>
          <a:p>
            <a:r>
              <a:rPr lang="en-US" dirty="0"/>
              <a:t>(2)</a:t>
            </a:r>
          </a:p>
        </p:txBody>
      </p:sp>
      <p:sp>
        <p:nvSpPr>
          <p:cNvPr id="12" name="TextBox 11"/>
          <p:cNvSpPr txBox="1"/>
          <p:nvPr/>
        </p:nvSpPr>
        <p:spPr>
          <a:xfrm>
            <a:off x="152400" y="4572000"/>
            <a:ext cx="1804533" cy="461665"/>
          </a:xfrm>
          <a:prstGeom prst="rect">
            <a:avLst/>
          </a:prstGeom>
          <a:noFill/>
        </p:spPr>
        <p:txBody>
          <a:bodyPr wrap="none" rtlCol="0">
            <a:spAutoFit/>
          </a:bodyPr>
          <a:lstStyle/>
          <a:p>
            <a:r>
              <a:rPr lang="en-US" sz="2400" dirty="0"/>
              <a:t>Ohm’s Law:</a:t>
            </a:r>
          </a:p>
        </p:txBody>
      </p:sp>
      <p:graphicFrame>
        <p:nvGraphicFramePr>
          <p:cNvPr id="172036" name="Object 4"/>
          <p:cNvGraphicFramePr>
            <a:graphicFrameLocks noChangeAspect="1"/>
          </p:cNvGraphicFramePr>
          <p:nvPr/>
        </p:nvGraphicFramePr>
        <p:xfrm>
          <a:off x="1900237" y="4495800"/>
          <a:ext cx="7053263" cy="750887"/>
        </p:xfrm>
        <a:graphic>
          <a:graphicData uri="http://schemas.openxmlformats.org/presentationml/2006/ole">
            <mc:AlternateContent xmlns:mc="http://schemas.openxmlformats.org/markup-compatibility/2006">
              <mc:Choice xmlns:v="urn:schemas-microsoft-com:vml" Requires="v">
                <p:oleObj name="Equation" r:id="rId7" imgW="2577960" imgH="380880" progId="Equation.3">
                  <p:embed/>
                </p:oleObj>
              </mc:Choice>
              <mc:Fallback>
                <p:oleObj name="Equation" r:id="rId7" imgW="2577960" imgH="38088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0237" y="4495800"/>
                        <a:ext cx="7053263" cy="750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TextBox 15"/>
          <p:cNvSpPr txBox="1"/>
          <p:nvPr/>
        </p:nvSpPr>
        <p:spPr>
          <a:xfrm>
            <a:off x="457200" y="5443835"/>
            <a:ext cx="1449436" cy="461665"/>
          </a:xfrm>
          <a:prstGeom prst="rect">
            <a:avLst/>
          </a:prstGeom>
          <a:noFill/>
        </p:spPr>
        <p:txBody>
          <a:bodyPr wrap="none" rtlCol="0">
            <a:spAutoFit/>
          </a:bodyPr>
          <a:lstStyle/>
          <a:p>
            <a:r>
              <a:rPr lang="en-US" sz="2400" dirty="0"/>
              <a:t>From (2):</a:t>
            </a:r>
          </a:p>
        </p:txBody>
      </p:sp>
      <p:graphicFrame>
        <p:nvGraphicFramePr>
          <p:cNvPr id="172037" name="Object 5"/>
          <p:cNvGraphicFramePr>
            <a:graphicFrameLocks noChangeAspect="1"/>
          </p:cNvGraphicFramePr>
          <p:nvPr/>
        </p:nvGraphicFramePr>
        <p:xfrm>
          <a:off x="1866900" y="5372100"/>
          <a:ext cx="2247900" cy="650875"/>
        </p:xfrm>
        <a:graphic>
          <a:graphicData uri="http://schemas.openxmlformats.org/presentationml/2006/ole">
            <mc:AlternateContent xmlns:mc="http://schemas.openxmlformats.org/markup-compatibility/2006">
              <mc:Choice xmlns:v="urn:schemas-microsoft-com:vml" Requires="v">
                <p:oleObj name="Equation" r:id="rId9" imgW="799920" imgH="330120" progId="Equation.3">
                  <p:embed/>
                </p:oleObj>
              </mc:Choice>
              <mc:Fallback>
                <p:oleObj name="Equation" r:id="rId9" imgW="799920" imgH="33012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66900" y="5372100"/>
                        <a:ext cx="2247900" cy="650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Box 16"/>
          <p:cNvSpPr txBox="1"/>
          <p:nvPr/>
        </p:nvSpPr>
        <p:spPr>
          <a:xfrm>
            <a:off x="4341764" y="5443835"/>
            <a:ext cx="869149" cy="461665"/>
          </a:xfrm>
          <a:prstGeom prst="rect">
            <a:avLst/>
          </a:prstGeom>
          <a:noFill/>
        </p:spPr>
        <p:txBody>
          <a:bodyPr wrap="none" rtlCol="0">
            <a:spAutoFit/>
          </a:bodyPr>
          <a:lstStyle/>
          <a:p>
            <a:r>
              <a:rPr lang="en-US" sz="2400" dirty="0"/>
              <a:t>KCL:</a:t>
            </a:r>
          </a:p>
        </p:txBody>
      </p:sp>
      <p:graphicFrame>
        <p:nvGraphicFramePr>
          <p:cNvPr id="172038" name="Object 6"/>
          <p:cNvGraphicFramePr>
            <a:graphicFrameLocks noChangeAspect="1"/>
          </p:cNvGraphicFramePr>
          <p:nvPr/>
        </p:nvGraphicFramePr>
        <p:xfrm>
          <a:off x="5181600" y="5508625"/>
          <a:ext cx="2462212" cy="376238"/>
        </p:xfrm>
        <a:graphic>
          <a:graphicData uri="http://schemas.openxmlformats.org/presentationml/2006/ole">
            <mc:AlternateContent xmlns:mc="http://schemas.openxmlformats.org/markup-compatibility/2006">
              <mc:Choice xmlns:v="urn:schemas-microsoft-com:vml" Requires="v">
                <p:oleObj name="Equation" r:id="rId11" imgW="876240" imgH="190440" progId="Equation.3">
                  <p:embed/>
                </p:oleObj>
              </mc:Choice>
              <mc:Fallback>
                <p:oleObj name="Equation" r:id="rId11" imgW="876240" imgH="190440" progId="Equation.3">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81600" y="5508625"/>
                        <a:ext cx="2462212" cy="376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TextBox 18"/>
          <p:cNvSpPr txBox="1"/>
          <p:nvPr/>
        </p:nvSpPr>
        <p:spPr>
          <a:xfrm>
            <a:off x="457200" y="6050260"/>
            <a:ext cx="1449436" cy="461665"/>
          </a:xfrm>
          <a:prstGeom prst="rect">
            <a:avLst/>
          </a:prstGeom>
          <a:noFill/>
        </p:spPr>
        <p:txBody>
          <a:bodyPr wrap="none" rtlCol="0">
            <a:spAutoFit/>
          </a:bodyPr>
          <a:lstStyle/>
          <a:p>
            <a:r>
              <a:rPr lang="en-US" sz="2400" dirty="0"/>
              <a:t>From (1):</a:t>
            </a:r>
          </a:p>
        </p:txBody>
      </p:sp>
      <p:graphicFrame>
        <p:nvGraphicFramePr>
          <p:cNvPr id="22" name="Object 5"/>
          <p:cNvGraphicFramePr>
            <a:graphicFrameLocks noChangeAspect="1"/>
          </p:cNvGraphicFramePr>
          <p:nvPr/>
        </p:nvGraphicFramePr>
        <p:xfrm>
          <a:off x="1973263" y="5978525"/>
          <a:ext cx="2033587" cy="650875"/>
        </p:xfrm>
        <a:graphic>
          <a:graphicData uri="http://schemas.openxmlformats.org/presentationml/2006/ole">
            <mc:AlternateContent xmlns:mc="http://schemas.openxmlformats.org/markup-compatibility/2006">
              <mc:Choice xmlns:v="urn:schemas-microsoft-com:vml" Requires="v">
                <p:oleObj name="Equation" r:id="rId13" imgW="723600" imgH="330120" progId="Equation.3">
                  <p:embed/>
                </p:oleObj>
              </mc:Choice>
              <mc:Fallback>
                <p:oleObj name="Equation" r:id="rId13" imgW="723600" imgH="330120" progId="Equation.3">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73263" y="5978525"/>
                        <a:ext cx="2033587" cy="650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TextBox 22"/>
          <p:cNvSpPr txBox="1"/>
          <p:nvPr/>
        </p:nvSpPr>
        <p:spPr>
          <a:xfrm>
            <a:off x="4341764" y="6050260"/>
            <a:ext cx="869149" cy="461665"/>
          </a:xfrm>
          <a:prstGeom prst="rect">
            <a:avLst/>
          </a:prstGeom>
          <a:noFill/>
        </p:spPr>
        <p:txBody>
          <a:bodyPr wrap="none" rtlCol="0">
            <a:spAutoFit/>
          </a:bodyPr>
          <a:lstStyle/>
          <a:p>
            <a:r>
              <a:rPr lang="en-US" sz="2400" dirty="0"/>
              <a:t>KCL:</a:t>
            </a:r>
          </a:p>
        </p:txBody>
      </p:sp>
      <p:graphicFrame>
        <p:nvGraphicFramePr>
          <p:cNvPr id="24" name="Object 6"/>
          <p:cNvGraphicFramePr>
            <a:graphicFrameLocks noChangeAspect="1"/>
          </p:cNvGraphicFramePr>
          <p:nvPr/>
        </p:nvGraphicFramePr>
        <p:xfrm>
          <a:off x="5181600" y="6115050"/>
          <a:ext cx="2533650" cy="376238"/>
        </p:xfrm>
        <a:graphic>
          <a:graphicData uri="http://schemas.openxmlformats.org/presentationml/2006/ole">
            <mc:AlternateContent xmlns:mc="http://schemas.openxmlformats.org/markup-compatibility/2006">
              <mc:Choice xmlns:v="urn:schemas-microsoft-com:vml" Requires="v">
                <p:oleObj name="Equation" r:id="rId15" imgW="901440" imgH="190440" progId="Equation.3">
                  <p:embed/>
                </p:oleObj>
              </mc:Choice>
              <mc:Fallback>
                <p:oleObj name="Equation" r:id="rId15" imgW="901440" imgH="190440" progId="Equation.3">
                  <p:embed/>
                  <p:pic>
                    <p:nvPicPr>
                      <p:cNvPr id="0"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181600" y="6115050"/>
                        <a:ext cx="2533650" cy="376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5" name="Picture 2"/>
          <p:cNvPicPr>
            <a:picLocks noChangeAspect="1" noChangeArrowheads="1"/>
          </p:cNvPicPr>
          <p:nvPr/>
        </p:nvPicPr>
        <p:blipFill>
          <a:blip r:embed="rId17" cstate="print"/>
          <a:srcRect/>
          <a:stretch>
            <a:fillRect/>
          </a:stretch>
        </p:blipFill>
        <p:spPr bwMode="auto">
          <a:xfrm>
            <a:off x="5766198" y="723900"/>
            <a:ext cx="3275251" cy="2247900"/>
          </a:xfrm>
          <a:prstGeom prst="rect">
            <a:avLst/>
          </a:prstGeom>
          <a:noFill/>
          <a:ln w="9525">
            <a:noFill/>
            <a:miter lim="800000"/>
            <a:headEnd/>
            <a:tailEnd/>
          </a:ln>
          <a:effectLst/>
        </p:spPr>
      </p:pic>
      <p:sp>
        <p:nvSpPr>
          <p:cNvPr id="26" name="Title 1"/>
          <p:cNvSpPr txBox="1">
            <a:spLocks/>
          </p:cNvSpPr>
          <p:nvPr/>
        </p:nvSpPr>
        <p:spPr bwMode="auto">
          <a:xfrm>
            <a:off x="152400" y="1295400"/>
            <a:ext cx="4648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3200" b="0" i="0" u="sng" strike="noStrike" kern="1200" cap="none" spc="0" normalizeH="0" baseline="0" noProof="0" dirty="0">
                <a:ln>
                  <a:noFill/>
                </a:ln>
                <a:solidFill>
                  <a:schemeClr val="tx1"/>
                </a:solidFill>
                <a:effectLst/>
                <a:uLnTx/>
                <a:uFillTx/>
                <a:latin typeface="+mj-lt"/>
                <a:ea typeface="+mj-ea"/>
                <a:cs typeface="+mj-cs"/>
              </a:rPr>
              <a:t>Solution:</a:t>
            </a:r>
          </a:p>
        </p:txBody>
      </p:sp>
      <p:sp>
        <p:nvSpPr>
          <p:cNvPr id="27"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17</a:t>
            </a:fld>
            <a:endParaRPr lang="en-US" dirty="0"/>
          </a:p>
        </p:txBody>
      </p:sp>
    </p:spTree>
  </p:cSld>
  <p:clrMapOvr>
    <a:masterClrMapping/>
  </p:clrMapOvr>
  <p:transition spd="med"/>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122237"/>
            <a:ext cx="7162800" cy="563563"/>
          </a:xfrm>
        </p:spPr>
        <p:txBody>
          <a:bodyPr/>
          <a:lstStyle/>
          <a:p>
            <a:r>
              <a:rPr lang="en-US" sz="3200" dirty="0"/>
              <a:t>Example based on N &amp; R Problem 3.5</a:t>
            </a:r>
          </a:p>
        </p:txBody>
      </p:sp>
      <p:sp>
        <p:nvSpPr>
          <p:cNvPr id="14" name="Content Placeholder 13"/>
          <p:cNvSpPr>
            <a:spLocks noGrp="1"/>
          </p:cNvSpPr>
          <p:nvPr>
            <p:ph idx="1"/>
          </p:nvPr>
        </p:nvSpPr>
        <p:spPr>
          <a:xfrm>
            <a:off x="457200" y="685801"/>
            <a:ext cx="8229600" cy="5440364"/>
          </a:xfrm>
        </p:spPr>
        <p:txBody>
          <a:bodyPr/>
          <a:lstStyle/>
          <a:p>
            <a:pPr>
              <a:buNone/>
            </a:pPr>
            <a:r>
              <a:rPr lang="en-US" sz="2400" dirty="0"/>
              <a:t>Find the equivalent resistance seen by the source in the following circuit. Calculate </a:t>
            </a:r>
            <a:r>
              <a:rPr lang="en-US" sz="2400" i="1" dirty="0"/>
              <a:t>v</a:t>
            </a:r>
            <a:r>
              <a:rPr lang="en-US" sz="2400" dirty="0"/>
              <a:t>.</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313354" name="Picture 10"/>
          <p:cNvPicPr>
            <a:picLocks noChangeAspect="1" noChangeArrowheads="1"/>
          </p:cNvPicPr>
          <p:nvPr/>
        </p:nvPicPr>
        <p:blipFill>
          <a:blip r:embed="rId2" cstate="print"/>
          <a:srcRect/>
          <a:stretch>
            <a:fillRect/>
          </a:stretch>
        </p:blipFill>
        <p:spPr bwMode="auto">
          <a:xfrm>
            <a:off x="647700" y="1638300"/>
            <a:ext cx="3881489" cy="1333500"/>
          </a:xfrm>
          <a:prstGeom prst="rect">
            <a:avLst/>
          </a:prstGeom>
          <a:noFill/>
          <a:ln w="9525">
            <a:noFill/>
            <a:miter lim="800000"/>
            <a:headEnd/>
            <a:tailEnd/>
          </a:ln>
          <a:effectLst/>
        </p:spPr>
      </p:pic>
      <p:sp>
        <p:nvSpPr>
          <p:cNvPr id="7"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18</a:t>
            </a:fld>
            <a:endParaRPr lang="en-US" dirty="0"/>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457200" y="685801"/>
            <a:ext cx="8229600" cy="5440364"/>
          </a:xfrm>
        </p:spPr>
        <p:txBody>
          <a:bodyPr/>
          <a:lstStyle/>
          <a:p>
            <a:pPr>
              <a:buNone/>
            </a:pPr>
            <a:r>
              <a:rPr lang="en-US" sz="2400" dirty="0"/>
              <a:t>Find the equivalent resistance seen by the source in the following circuit. Calculate </a:t>
            </a:r>
            <a:r>
              <a:rPr lang="en-US" sz="2400" i="1" dirty="0"/>
              <a:t>v</a:t>
            </a:r>
            <a:r>
              <a:rPr lang="en-US" sz="2400" dirty="0"/>
              <a:t>.</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313354" name="Picture 10"/>
          <p:cNvPicPr>
            <a:picLocks noChangeAspect="1" noChangeArrowheads="1"/>
          </p:cNvPicPr>
          <p:nvPr/>
        </p:nvPicPr>
        <p:blipFill>
          <a:blip r:embed="rId2" cstate="print"/>
          <a:srcRect/>
          <a:stretch>
            <a:fillRect/>
          </a:stretch>
        </p:blipFill>
        <p:spPr bwMode="auto">
          <a:xfrm>
            <a:off x="647700" y="1638300"/>
            <a:ext cx="3881489" cy="1333500"/>
          </a:xfrm>
          <a:prstGeom prst="rect">
            <a:avLst/>
          </a:prstGeom>
          <a:noFill/>
          <a:ln w="9525">
            <a:noFill/>
            <a:miter lim="800000"/>
            <a:headEnd/>
            <a:tailEnd/>
          </a:ln>
          <a:effectLst/>
        </p:spPr>
      </p:pic>
      <p:pic>
        <p:nvPicPr>
          <p:cNvPr id="313355" name="Picture 11"/>
          <p:cNvPicPr>
            <a:picLocks noChangeAspect="1" noChangeArrowheads="1"/>
          </p:cNvPicPr>
          <p:nvPr/>
        </p:nvPicPr>
        <p:blipFill>
          <a:blip r:embed="rId3" cstate="print"/>
          <a:srcRect/>
          <a:stretch>
            <a:fillRect/>
          </a:stretch>
        </p:blipFill>
        <p:spPr bwMode="auto">
          <a:xfrm>
            <a:off x="800100" y="3200400"/>
            <a:ext cx="3793672" cy="1295400"/>
          </a:xfrm>
          <a:prstGeom prst="rect">
            <a:avLst/>
          </a:prstGeom>
          <a:noFill/>
          <a:ln w="9525">
            <a:noFill/>
            <a:miter lim="800000"/>
            <a:headEnd/>
            <a:tailEnd/>
          </a:ln>
          <a:effectLst/>
        </p:spPr>
      </p:pic>
      <p:sp>
        <p:nvSpPr>
          <p:cNvPr id="27" name="Right Arrow 26"/>
          <p:cNvSpPr/>
          <p:nvPr/>
        </p:nvSpPr>
        <p:spPr>
          <a:xfrm rot="5400000">
            <a:off x="2057400" y="30480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Title 1"/>
          <p:cNvSpPr txBox="1">
            <a:spLocks/>
          </p:cNvSpPr>
          <p:nvPr/>
        </p:nvSpPr>
        <p:spPr bwMode="auto">
          <a:xfrm>
            <a:off x="190500" y="2895600"/>
            <a:ext cx="4648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2400" b="0" i="0" u="sng" strike="noStrike" kern="1200" cap="none" spc="0" normalizeH="0" baseline="0" noProof="0" dirty="0">
                <a:ln>
                  <a:noFill/>
                </a:ln>
                <a:solidFill>
                  <a:schemeClr val="tx1"/>
                </a:solidFill>
                <a:effectLst/>
                <a:uLnTx/>
                <a:uFillTx/>
                <a:latin typeface="+mj-lt"/>
                <a:ea typeface="+mj-ea"/>
                <a:cs typeface="+mj-cs"/>
              </a:rPr>
              <a:t>Solution:</a:t>
            </a:r>
          </a:p>
        </p:txBody>
      </p:sp>
      <p:sp>
        <p:nvSpPr>
          <p:cNvPr id="10"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19</a:t>
            </a:fld>
            <a:endParaRPr lang="en-US" dirty="0"/>
          </a:p>
        </p:txBody>
      </p:sp>
      <p:sp>
        <p:nvSpPr>
          <p:cNvPr id="12" name="Title 1"/>
          <p:cNvSpPr txBox="1">
            <a:spLocks/>
          </p:cNvSpPr>
          <p:nvPr/>
        </p:nvSpPr>
        <p:spPr bwMode="auto">
          <a:xfrm>
            <a:off x="457200" y="122237"/>
            <a:ext cx="71628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0" i="0" u="none" strike="noStrike" kern="1200" cap="none" spc="0" normalizeH="0" baseline="0" noProof="0">
                <a:ln>
                  <a:noFill/>
                </a:ln>
                <a:solidFill>
                  <a:schemeClr val="tx1"/>
                </a:solidFill>
                <a:effectLst/>
                <a:uLnTx/>
                <a:uFillTx/>
                <a:latin typeface="+mj-lt"/>
                <a:ea typeface="+mj-ea"/>
                <a:cs typeface="+mj-cs"/>
              </a:rPr>
              <a:t>Example based on N &amp; R Problem 3.5</a:t>
            </a:r>
            <a:endParaRPr kumimoji="0" lang="en-US" sz="32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457200" y="685801"/>
            <a:ext cx="8229600" cy="5440364"/>
          </a:xfrm>
        </p:spPr>
        <p:txBody>
          <a:bodyPr/>
          <a:lstStyle/>
          <a:p>
            <a:pPr>
              <a:buNone/>
            </a:pPr>
            <a:r>
              <a:rPr lang="en-US" sz="2400" dirty="0"/>
              <a:t>Find the equivalent resistance seen by the source in the following circuit. Calculate </a:t>
            </a:r>
            <a:r>
              <a:rPr lang="en-US" sz="2400" i="1" dirty="0"/>
              <a:t>v</a:t>
            </a:r>
            <a:r>
              <a:rPr lang="en-US" sz="2400" dirty="0"/>
              <a:t>.</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313354" name="Picture 10"/>
          <p:cNvPicPr>
            <a:picLocks noChangeAspect="1" noChangeArrowheads="1"/>
          </p:cNvPicPr>
          <p:nvPr/>
        </p:nvPicPr>
        <p:blipFill>
          <a:blip r:embed="rId2" cstate="print"/>
          <a:srcRect/>
          <a:stretch>
            <a:fillRect/>
          </a:stretch>
        </p:blipFill>
        <p:spPr bwMode="auto">
          <a:xfrm>
            <a:off x="647700" y="1638300"/>
            <a:ext cx="3881489" cy="1333500"/>
          </a:xfrm>
          <a:prstGeom prst="rect">
            <a:avLst/>
          </a:prstGeom>
          <a:noFill/>
          <a:ln w="9525">
            <a:noFill/>
            <a:miter lim="800000"/>
            <a:headEnd/>
            <a:tailEnd/>
          </a:ln>
          <a:effectLst/>
        </p:spPr>
      </p:pic>
      <p:pic>
        <p:nvPicPr>
          <p:cNvPr id="313355" name="Picture 11"/>
          <p:cNvPicPr>
            <a:picLocks noChangeAspect="1" noChangeArrowheads="1"/>
          </p:cNvPicPr>
          <p:nvPr/>
        </p:nvPicPr>
        <p:blipFill>
          <a:blip r:embed="rId3" cstate="print"/>
          <a:srcRect/>
          <a:stretch>
            <a:fillRect/>
          </a:stretch>
        </p:blipFill>
        <p:spPr bwMode="auto">
          <a:xfrm>
            <a:off x="800100" y="3200400"/>
            <a:ext cx="3793672" cy="1295400"/>
          </a:xfrm>
          <a:prstGeom prst="rect">
            <a:avLst/>
          </a:prstGeom>
          <a:noFill/>
          <a:ln w="9525">
            <a:noFill/>
            <a:miter lim="800000"/>
            <a:headEnd/>
            <a:tailEnd/>
          </a:ln>
          <a:effectLst/>
        </p:spPr>
      </p:pic>
      <p:pic>
        <p:nvPicPr>
          <p:cNvPr id="313356" name="Picture 12"/>
          <p:cNvPicPr>
            <a:picLocks noChangeAspect="1" noChangeArrowheads="1"/>
          </p:cNvPicPr>
          <p:nvPr/>
        </p:nvPicPr>
        <p:blipFill>
          <a:blip r:embed="rId4" cstate="print"/>
          <a:srcRect/>
          <a:stretch>
            <a:fillRect/>
          </a:stretch>
        </p:blipFill>
        <p:spPr bwMode="auto">
          <a:xfrm>
            <a:off x="609600" y="5067300"/>
            <a:ext cx="3496691" cy="1219200"/>
          </a:xfrm>
          <a:prstGeom prst="rect">
            <a:avLst/>
          </a:prstGeom>
          <a:noFill/>
          <a:ln w="9525">
            <a:noFill/>
            <a:miter lim="800000"/>
            <a:headEnd/>
            <a:tailEnd/>
          </a:ln>
          <a:effectLst/>
        </p:spPr>
      </p:pic>
      <p:sp>
        <p:nvSpPr>
          <p:cNvPr id="27" name="Right Arrow 26"/>
          <p:cNvSpPr/>
          <p:nvPr/>
        </p:nvSpPr>
        <p:spPr>
          <a:xfrm rot="5400000">
            <a:off x="2057400" y="30480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8" name="Right Arrow 27"/>
          <p:cNvSpPr/>
          <p:nvPr/>
        </p:nvSpPr>
        <p:spPr>
          <a:xfrm rot="5400000">
            <a:off x="2057400" y="46482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Title 1"/>
          <p:cNvSpPr txBox="1">
            <a:spLocks/>
          </p:cNvSpPr>
          <p:nvPr/>
        </p:nvSpPr>
        <p:spPr bwMode="auto">
          <a:xfrm>
            <a:off x="190500" y="2895600"/>
            <a:ext cx="4648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2400" b="0" i="0" u="sng" strike="noStrike" kern="1200" cap="none" spc="0" normalizeH="0" baseline="0" noProof="0" dirty="0">
                <a:ln>
                  <a:noFill/>
                </a:ln>
                <a:solidFill>
                  <a:schemeClr val="tx1"/>
                </a:solidFill>
                <a:effectLst/>
                <a:uLnTx/>
                <a:uFillTx/>
                <a:latin typeface="+mj-lt"/>
                <a:ea typeface="+mj-ea"/>
                <a:cs typeface="+mj-cs"/>
              </a:rPr>
              <a:t>Solution:</a:t>
            </a:r>
          </a:p>
        </p:txBody>
      </p:sp>
      <p:sp>
        <p:nvSpPr>
          <p:cNvPr id="12"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20</a:t>
            </a:fld>
            <a:endParaRPr lang="en-US" dirty="0"/>
          </a:p>
        </p:txBody>
      </p:sp>
      <p:sp>
        <p:nvSpPr>
          <p:cNvPr id="15" name="Title 1"/>
          <p:cNvSpPr>
            <a:spLocks noGrp="1"/>
          </p:cNvSpPr>
          <p:nvPr>
            <p:ph type="title"/>
          </p:nvPr>
        </p:nvSpPr>
        <p:spPr>
          <a:xfrm>
            <a:off x="457200" y="122237"/>
            <a:ext cx="7162800" cy="563563"/>
          </a:xfrm>
        </p:spPr>
        <p:txBody>
          <a:bodyPr/>
          <a:lstStyle/>
          <a:p>
            <a:r>
              <a:rPr lang="en-US" sz="3200" dirty="0"/>
              <a:t>Example based on N &amp; R Problem 3.5</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457200" y="685801"/>
            <a:ext cx="8229600" cy="5440364"/>
          </a:xfrm>
        </p:spPr>
        <p:txBody>
          <a:bodyPr/>
          <a:lstStyle/>
          <a:p>
            <a:pPr>
              <a:buNone/>
            </a:pPr>
            <a:r>
              <a:rPr lang="en-US" sz="2400" dirty="0"/>
              <a:t>Find the equivalent resistance seen by the source in the following circuit. Calculate </a:t>
            </a:r>
            <a:r>
              <a:rPr lang="en-US" sz="2400" i="1" dirty="0"/>
              <a:t>v</a:t>
            </a:r>
            <a:r>
              <a:rPr lang="en-US" sz="2400" dirty="0"/>
              <a:t>.</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313354" name="Picture 10"/>
          <p:cNvPicPr>
            <a:picLocks noChangeAspect="1" noChangeArrowheads="1"/>
          </p:cNvPicPr>
          <p:nvPr/>
        </p:nvPicPr>
        <p:blipFill>
          <a:blip r:embed="rId2" cstate="print"/>
          <a:srcRect/>
          <a:stretch>
            <a:fillRect/>
          </a:stretch>
        </p:blipFill>
        <p:spPr bwMode="auto">
          <a:xfrm>
            <a:off x="647700" y="1638300"/>
            <a:ext cx="3881489" cy="1333500"/>
          </a:xfrm>
          <a:prstGeom prst="rect">
            <a:avLst/>
          </a:prstGeom>
          <a:noFill/>
          <a:ln w="9525">
            <a:noFill/>
            <a:miter lim="800000"/>
            <a:headEnd/>
            <a:tailEnd/>
          </a:ln>
          <a:effectLst/>
        </p:spPr>
      </p:pic>
      <p:pic>
        <p:nvPicPr>
          <p:cNvPr id="313355" name="Picture 11"/>
          <p:cNvPicPr>
            <a:picLocks noChangeAspect="1" noChangeArrowheads="1"/>
          </p:cNvPicPr>
          <p:nvPr/>
        </p:nvPicPr>
        <p:blipFill>
          <a:blip r:embed="rId3" cstate="print"/>
          <a:srcRect/>
          <a:stretch>
            <a:fillRect/>
          </a:stretch>
        </p:blipFill>
        <p:spPr bwMode="auto">
          <a:xfrm>
            <a:off x="800100" y="3200400"/>
            <a:ext cx="3793672" cy="1295400"/>
          </a:xfrm>
          <a:prstGeom prst="rect">
            <a:avLst/>
          </a:prstGeom>
          <a:noFill/>
          <a:ln w="9525">
            <a:noFill/>
            <a:miter lim="800000"/>
            <a:headEnd/>
            <a:tailEnd/>
          </a:ln>
          <a:effectLst/>
        </p:spPr>
      </p:pic>
      <p:pic>
        <p:nvPicPr>
          <p:cNvPr id="313356" name="Picture 12"/>
          <p:cNvPicPr>
            <a:picLocks noChangeAspect="1" noChangeArrowheads="1"/>
          </p:cNvPicPr>
          <p:nvPr/>
        </p:nvPicPr>
        <p:blipFill>
          <a:blip r:embed="rId4" cstate="print"/>
          <a:srcRect/>
          <a:stretch>
            <a:fillRect/>
          </a:stretch>
        </p:blipFill>
        <p:spPr bwMode="auto">
          <a:xfrm>
            <a:off x="609600" y="5067300"/>
            <a:ext cx="3496691" cy="1219200"/>
          </a:xfrm>
          <a:prstGeom prst="rect">
            <a:avLst/>
          </a:prstGeom>
          <a:noFill/>
          <a:ln w="9525">
            <a:noFill/>
            <a:miter lim="800000"/>
            <a:headEnd/>
            <a:tailEnd/>
          </a:ln>
          <a:effectLst/>
        </p:spPr>
      </p:pic>
      <p:pic>
        <p:nvPicPr>
          <p:cNvPr id="313357" name="Picture 13"/>
          <p:cNvPicPr>
            <a:picLocks noChangeAspect="1" noChangeArrowheads="1"/>
          </p:cNvPicPr>
          <p:nvPr/>
        </p:nvPicPr>
        <p:blipFill>
          <a:blip r:embed="rId5" cstate="print"/>
          <a:srcRect/>
          <a:stretch>
            <a:fillRect/>
          </a:stretch>
        </p:blipFill>
        <p:spPr bwMode="auto">
          <a:xfrm>
            <a:off x="5105400" y="5143500"/>
            <a:ext cx="1828800" cy="1144475"/>
          </a:xfrm>
          <a:prstGeom prst="rect">
            <a:avLst/>
          </a:prstGeom>
          <a:noFill/>
          <a:ln w="9525">
            <a:noFill/>
            <a:miter lim="800000"/>
            <a:headEnd/>
            <a:tailEnd/>
          </a:ln>
          <a:effectLst/>
        </p:spPr>
      </p:pic>
      <p:sp>
        <p:nvSpPr>
          <p:cNvPr id="27" name="Right Arrow 26"/>
          <p:cNvSpPr/>
          <p:nvPr/>
        </p:nvSpPr>
        <p:spPr>
          <a:xfrm rot="5400000">
            <a:off x="2057400" y="30480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8" name="Right Arrow 27"/>
          <p:cNvSpPr/>
          <p:nvPr/>
        </p:nvSpPr>
        <p:spPr>
          <a:xfrm rot="5400000">
            <a:off x="2057400" y="46482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9" name="Right Arrow 28"/>
          <p:cNvSpPr/>
          <p:nvPr/>
        </p:nvSpPr>
        <p:spPr>
          <a:xfrm>
            <a:off x="4457700" y="55626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3" name="Title 1"/>
          <p:cNvSpPr txBox="1">
            <a:spLocks/>
          </p:cNvSpPr>
          <p:nvPr/>
        </p:nvSpPr>
        <p:spPr bwMode="auto">
          <a:xfrm>
            <a:off x="190500" y="2895600"/>
            <a:ext cx="4648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2400" b="0" i="0" u="sng" strike="noStrike" kern="1200" cap="none" spc="0" normalizeH="0" baseline="0" noProof="0" dirty="0">
                <a:ln>
                  <a:noFill/>
                </a:ln>
                <a:solidFill>
                  <a:schemeClr val="tx1"/>
                </a:solidFill>
                <a:effectLst/>
                <a:uLnTx/>
                <a:uFillTx/>
                <a:latin typeface="+mj-lt"/>
                <a:ea typeface="+mj-ea"/>
                <a:cs typeface="+mj-cs"/>
              </a:rPr>
              <a:t>Solution:</a:t>
            </a:r>
          </a:p>
        </p:txBody>
      </p:sp>
      <p:sp>
        <p:nvSpPr>
          <p:cNvPr id="15"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21</a:t>
            </a:fld>
            <a:endParaRPr lang="en-US" dirty="0"/>
          </a:p>
        </p:txBody>
      </p:sp>
      <p:sp>
        <p:nvSpPr>
          <p:cNvPr id="17" name="Title 1"/>
          <p:cNvSpPr>
            <a:spLocks noGrp="1"/>
          </p:cNvSpPr>
          <p:nvPr>
            <p:ph type="title"/>
          </p:nvPr>
        </p:nvSpPr>
        <p:spPr>
          <a:xfrm>
            <a:off x="457200" y="122237"/>
            <a:ext cx="7162800" cy="563563"/>
          </a:xfrm>
        </p:spPr>
        <p:txBody>
          <a:bodyPr/>
          <a:lstStyle/>
          <a:p>
            <a:r>
              <a:rPr lang="en-US" sz="3200" dirty="0"/>
              <a:t>Example based on N &amp; R Problem 3.5</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457200" y="685801"/>
            <a:ext cx="8229600" cy="5440364"/>
          </a:xfrm>
        </p:spPr>
        <p:txBody>
          <a:bodyPr/>
          <a:lstStyle/>
          <a:p>
            <a:pPr>
              <a:buNone/>
            </a:pPr>
            <a:r>
              <a:rPr lang="en-US" sz="2400" dirty="0"/>
              <a:t>Find the equivalent resistance seen by the source in the following circuit. Calculate </a:t>
            </a:r>
            <a:r>
              <a:rPr lang="en-US" sz="2400" i="1" dirty="0"/>
              <a:t>v</a:t>
            </a:r>
            <a:r>
              <a:rPr lang="en-US" sz="2400" dirty="0"/>
              <a:t>.</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313354" name="Picture 10"/>
          <p:cNvPicPr>
            <a:picLocks noChangeAspect="1" noChangeArrowheads="1"/>
          </p:cNvPicPr>
          <p:nvPr/>
        </p:nvPicPr>
        <p:blipFill>
          <a:blip r:embed="rId2" cstate="print"/>
          <a:srcRect/>
          <a:stretch>
            <a:fillRect/>
          </a:stretch>
        </p:blipFill>
        <p:spPr bwMode="auto">
          <a:xfrm>
            <a:off x="647700" y="1638300"/>
            <a:ext cx="3881489" cy="1333500"/>
          </a:xfrm>
          <a:prstGeom prst="rect">
            <a:avLst/>
          </a:prstGeom>
          <a:noFill/>
          <a:ln w="9525">
            <a:noFill/>
            <a:miter lim="800000"/>
            <a:headEnd/>
            <a:tailEnd/>
          </a:ln>
          <a:effectLst/>
        </p:spPr>
      </p:pic>
      <p:pic>
        <p:nvPicPr>
          <p:cNvPr id="313355" name="Picture 11"/>
          <p:cNvPicPr>
            <a:picLocks noChangeAspect="1" noChangeArrowheads="1"/>
          </p:cNvPicPr>
          <p:nvPr/>
        </p:nvPicPr>
        <p:blipFill>
          <a:blip r:embed="rId3" cstate="print"/>
          <a:srcRect/>
          <a:stretch>
            <a:fillRect/>
          </a:stretch>
        </p:blipFill>
        <p:spPr bwMode="auto">
          <a:xfrm>
            <a:off x="800100" y="3200400"/>
            <a:ext cx="3793672" cy="1295400"/>
          </a:xfrm>
          <a:prstGeom prst="rect">
            <a:avLst/>
          </a:prstGeom>
          <a:noFill/>
          <a:ln w="9525">
            <a:noFill/>
            <a:miter lim="800000"/>
            <a:headEnd/>
            <a:tailEnd/>
          </a:ln>
          <a:effectLst/>
        </p:spPr>
      </p:pic>
      <p:pic>
        <p:nvPicPr>
          <p:cNvPr id="313356" name="Picture 12"/>
          <p:cNvPicPr>
            <a:picLocks noChangeAspect="1" noChangeArrowheads="1"/>
          </p:cNvPicPr>
          <p:nvPr/>
        </p:nvPicPr>
        <p:blipFill>
          <a:blip r:embed="rId4" cstate="print"/>
          <a:srcRect/>
          <a:stretch>
            <a:fillRect/>
          </a:stretch>
        </p:blipFill>
        <p:spPr bwMode="auto">
          <a:xfrm>
            <a:off x="609600" y="5067300"/>
            <a:ext cx="3496691" cy="1219200"/>
          </a:xfrm>
          <a:prstGeom prst="rect">
            <a:avLst/>
          </a:prstGeom>
          <a:noFill/>
          <a:ln w="9525">
            <a:noFill/>
            <a:miter lim="800000"/>
            <a:headEnd/>
            <a:tailEnd/>
          </a:ln>
          <a:effectLst/>
        </p:spPr>
      </p:pic>
      <p:pic>
        <p:nvPicPr>
          <p:cNvPr id="313357" name="Picture 13"/>
          <p:cNvPicPr>
            <a:picLocks noChangeAspect="1" noChangeArrowheads="1"/>
          </p:cNvPicPr>
          <p:nvPr/>
        </p:nvPicPr>
        <p:blipFill>
          <a:blip r:embed="rId5" cstate="print"/>
          <a:srcRect/>
          <a:stretch>
            <a:fillRect/>
          </a:stretch>
        </p:blipFill>
        <p:spPr bwMode="auto">
          <a:xfrm>
            <a:off x="5105400" y="5143500"/>
            <a:ext cx="1828800" cy="1144475"/>
          </a:xfrm>
          <a:prstGeom prst="rect">
            <a:avLst/>
          </a:prstGeom>
          <a:noFill/>
          <a:ln w="9525">
            <a:noFill/>
            <a:miter lim="800000"/>
            <a:headEnd/>
            <a:tailEnd/>
          </a:ln>
          <a:effectLst/>
        </p:spPr>
      </p:pic>
      <p:sp>
        <p:nvSpPr>
          <p:cNvPr id="27" name="Right Arrow 26"/>
          <p:cNvSpPr/>
          <p:nvPr/>
        </p:nvSpPr>
        <p:spPr>
          <a:xfrm rot="5400000">
            <a:off x="2057400" y="30480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8" name="Right Arrow 27"/>
          <p:cNvSpPr/>
          <p:nvPr/>
        </p:nvSpPr>
        <p:spPr>
          <a:xfrm rot="5400000">
            <a:off x="2057400" y="46482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9" name="Right Arrow 28"/>
          <p:cNvSpPr/>
          <p:nvPr/>
        </p:nvSpPr>
        <p:spPr>
          <a:xfrm>
            <a:off x="4457700" y="55626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TextBox 29"/>
          <p:cNvSpPr txBox="1"/>
          <p:nvPr/>
        </p:nvSpPr>
        <p:spPr>
          <a:xfrm>
            <a:off x="5753100" y="3467100"/>
            <a:ext cx="2488823" cy="1200329"/>
          </a:xfrm>
          <a:prstGeom prst="rect">
            <a:avLst/>
          </a:prstGeom>
          <a:noFill/>
        </p:spPr>
        <p:txBody>
          <a:bodyPr wrap="none" rtlCol="0">
            <a:spAutoFit/>
          </a:bodyPr>
          <a:lstStyle/>
          <a:p>
            <a:r>
              <a:rPr lang="en-US" dirty="0"/>
              <a:t>So  </a:t>
            </a:r>
            <a:r>
              <a:rPr lang="en-US" dirty="0" err="1"/>
              <a:t>R</a:t>
            </a:r>
            <a:r>
              <a:rPr lang="en-US" baseline="-25000" dirty="0" err="1"/>
              <a:t>eq</a:t>
            </a:r>
            <a:r>
              <a:rPr lang="en-US" dirty="0"/>
              <a:t> = </a:t>
            </a:r>
            <a:r>
              <a:rPr lang="en-US" b="1" dirty="0"/>
              <a:t>6 k</a:t>
            </a:r>
            <a:r>
              <a:rPr lang="el-GR" b="1" dirty="0"/>
              <a:t>Ω</a:t>
            </a:r>
            <a:endParaRPr lang="en-US" b="1" dirty="0"/>
          </a:p>
          <a:p>
            <a:endParaRPr lang="en-US" dirty="0"/>
          </a:p>
          <a:p>
            <a:r>
              <a:rPr lang="en-US" dirty="0"/>
              <a:t>And using Ohm’s Law:</a:t>
            </a:r>
          </a:p>
          <a:p>
            <a:r>
              <a:rPr lang="en-US" i="1" dirty="0"/>
              <a:t>v </a:t>
            </a:r>
            <a:r>
              <a:rPr lang="en-US" dirty="0"/>
              <a:t>= 2m.6k = </a:t>
            </a:r>
            <a:r>
              <a:rPr lang="en-US" b="1" dirty="0"/>
              <a:t>12 V</a:t>
            </a:r>
            <a:endParaRPr lang="tr-TR" b="1" dirty="0"/>
          </a:p>
        </p:txBody>
      </p:sp>
      <p:sp>
        <p:nvSpPr>
          <p:cNvPr id="15" name="Title 1"/>
          <p:cNvSpPr txBox="1">
            <a:spLocks/>
          </p:cNvSpPr>
          <p:nvPr/>
        </p:nvSpPr>
        <p:spPr bwMode="auto">
          <a:xfrm>
            <a:off x="190500" y="2895600"/>
            <a:ext cx="4648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2400" b="0" i="0" u="sng" strike="noStrike" kern="1200" cap="none" spc="0" normalizeH="0" baseline="0" noProof="0" dirty="0">
                <a:ln>
                  <a:noFill/>
                </a:ln>
                <a:solidFill>
                  <a:schemeClr val="tx1"/>
                </a:solidFill>
                <a:effectLst/>
                <a:uLnTx/>
                <a:uFillTx/>
                <a:latin typeface="+mj-lt"/>
                <a:ea typeface="+mj-ea"/>
                <a:cs typeface="+mj-cs"/>
              </a:rPr>
              <a:t>Solution:</a:t>
            </a:r>
          </a:p>
        </p:txBody>
      </p:sp>
      <p:sp>
        <p:nvSpPr>
          <p:cNvPr id="16"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22</a:t>
            </a:fld>
            <a:endParaRPr lang="en-US" dirty="0"/>
          </a:p>
        </p:txBody>
      </p:sp>
      <p:sp>
        <p:nvSpPr>
          <p:cNvPr id="18" name="Title 1"/>
          <p:cNvSpPr>
            <a:spLocks noGrp="1"/>
          </p:cNvSpPr>
          <p:nvPr>
            <p:ph type="title"/>
          </p:nvPr>
        </p:nvSpPr>
        <p:spPr>
          <a:xfrm>
            <a:off x="457200" y="122237"/>
            <a:ext cx="7162800" cy="563563"/>
          </a:xfrm>
        </p:spPr>
        <p:txBody>
          <a:bodyPr/>
          <a:lstStyle/>
          <a:p>
            <a:r>
              <a:rPr lang="en-US" sz="3200" dirty="0"/>
              <a:t>Example based on N &amp; R Problem 3.5</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457200" y="685801"/>
            <a:ext cx="8229600" cy="5440364"/>
          </a:xfrm>
        </p:spPr>
        <p:txBody>
          <a:bodyPr/>
          <a:lstStyle/>
          <a:p>
            <a:pPr>
              <a:buNone/>
            </a:pPr>
            <a:r>
              <a:rPr lang="en-US" sz="2400" dirty="0"/>
              <a:t>Find the equivalent resistance seen by the source in the following circuit. Calculate </a:t>
            </a:r>
            <a:r>
              <a:rPr lang="en-US" sz="2400" i="1" dirty="0" err="1"/>
              <a:t>i</a:t>
            </a:r>
            <a:r>
              <a:rPr lang="en-US" sz="2400" dirty="0"/>
              <a:t>.</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314370" name="Picture 2"/>
          <p:cNvPicPr>
            <a:picLocks noChangeAspect="1" noChangeArrowheads="1"/>
          </p:cNvPicPr>
          <p:nvPr/>
        </p:nvPicPr>
        <p:blipFill>
          <a:blip r:embed="rId2" cstate="print"/>
          <a:srcRect/>
          <a:stretch>
            <a:fillRect/>
          </a:stretch>
        </p:blipFill>
        <p:spPr bwMode="auto">
          <a:xfrm>
            <a:off x="1028700" y="1676400"/>
            <a:ext cx="2476500" cy="1204934"/>
          </a:xfrm>
          <a:prstGeom prst="rect">
            <a:avLst/>
          </a:prstGeom>
          <a:noFill/>
          <a:ln w="9525">
            <a:noFill/>
            <a:miter lim="800000"/>
            <a:headEnd/>
            <a:tailEnd/>
          </a:ln>
          <a:effectLst/>
        </p:spPr>
      </p:pic>
      <p:sp>
        <p:nvSpPr>
          <p:cNvPr id="7"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23</a:t>
            </a:fld>
            <a:endParaRPr lang="en-US" dirty="0"/>
          </a:p>
        </p:txBody>
      </p:sp>
      <p:sp>
        <p:nvSpPr>
          <p:cNvPr id="9" name="Title 1"/>
          <p:cNvSpPr>
            <a:spLocks noGrp="1"/>
          </p:cNvSpPr>
          <p:nvPr>
            <p:ph type="title"/>
          </p:nvPr>
        </p:nvSpPr>
        <p:spPr>
          <a:xfrm>
            <a:off x="457200" y="122237"/>
            <a:ext cx="7162800" cy="563563"/>
          </a:xfrm>
        </p:spPr>
        <p:txBody>
          <a:bodyPr/>
          <a:lstStyle/>
          <a:p>
            <a:r>
              <a:rPr lang="en-US" sz="3200" dirty="0"/>
              <a:t>Example based on N &amp; R Problem 3.5</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457200" y="685801"/>
            <a:ext cx="8229600" cy="5440364"/>
          </a:xfrm>
        </p:spPr>
        <p:txBody>
          <a:bodyPr/>
          <a:lstStyle/>
          <a:p>
            <a:pPr>
              <a:buNone/>
            </a:pPr>
            <a:r>
              <a:rPr lang="en-US" sz="2400" dirty="0"/>
              <a:t>Find the equivalent resistance seen by the source in the following circuit. Calculate </a:t>
            </a:r>
            <a:r>
              <a:rPr lang="en-US" sz="2400" i="1" dirty="0" err="1"/>
              <a:t>i</a:t>
            </a:r>
            <a:r>
              <a:rPr lang="en-US" sz="2400" dirty="0"/>
              <a:t>.</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7" name="Right Arrow 26"/>
          <p:cNvSpPr/>
          <p:nvPr/>
        </p:nvSpPr>
        <p:spPr>
          <a:xfrm rot="5400000">
            <a:off x="2057400" y="30480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314370" name="Picture 2"/>
          <p:cNvPicPr>
            <a:picLocks noChangeAspect="1" noChangeArrowheads="1"/>
          </p:cNvPicPr>
          <p:nvPr/>
        </p:nvPicPr>
        <p:blipFill>
          <a:blip r:embed="rId2" cstate="print"/>
          <a:srcRect/>
          <a:stretch>
            <a:fillRect/>
          </a:stretch>
        </p:blipFill>
        <p:spPr bwMode="auto">
          <a:xfrm>
            <a:off x="1028700" y="1676400"/>
            <a:ext cx="2476500" cy="1204934"/>
          </a:xfrm>
          <a:prstGeom prst="rect">
            <a:avLst/>
          </a:prstGeom>
          <a:noFill/>
          <a:ln w="9525">
            <a:noFill/>
            <a:miter lim="800000"/>
            <a:headEnd/>
            <a:tailEnd/>
          </a:ln>
          <a:effectLst/>
        </p:spPr>
      </p:pic>
      <p:pic>
        <p:nvPicPr>
          <p:cNvPr id="314371" name="Picture 3"/>
          <p:cNvPicPr>
            <a:picLocks noChangeAspect="1" noChangeArrowheads="1"/>
          </p:cNvPicPr>
          <p:nvPr/>
        </p:nvPicPr>
        <p:blipFill>
          <a:blip r:embed="rId3" cstate="print"/>
          <a:srcRect/>
          <a:stretch>
            <a:fillRect/>
          </a:stretch>
        </p:blipFill>
        <p:spPr bwMode="auto">
          <a:xfrm>
            <a:off x="1066800" y="3429000"/>
            <a:ext cx="2209800" cy="1077886"/>
          </a:xfrm>
          <a:prstGeom prst="rect">
            <a:avLst/>
          </a:prstGeom>
          <a:noFill/>
          <a:ln w="9525">
            <a:noFill/>
            <a:miter lim="800000"/>
            <a:headEnd/>
            <a:tailEnd/>
          </a:ln>
          <a:effectLst/>
        </p:spPr>
      </p:pic>
      <p:sp>
        <p:nvSpPr>
          <p:cNvPr id="9" name="Title 1"/>
          <p:cNvSpPr txBox="1">
            <a:spLocks/>
          </p:cNvSpPr>
          <p:nvPr/>
        </p:nvSpPr>
        <p:spPr bwMode="auto">
          <a:xfrm>
            <a:off x="190500" y="2895600"/>
            <a:ext cx="4648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2400" b="0" i="0" u="sng" strike="noStrike" kern="1200" cap="none" spc="0" normalizeH="0" baseline="0" noProof="0" dirty="0">
                <a:ln>
                  <a:noFill/>
                </a:ln>
                <a:solidFill>
                  <a:schemeClr val="tx1"/>
                </a:solidFill>
                <a:effectLst/>
                <a:uLnTx/>
                <a:uFillTx/>
                <a:latin typeface="+mj-lt"/>
                <a:ea typeface="+mj-ea"/>
                <a:cs typeface="+mj-cs"/>
              </a:rPr>
              <a:t>Solution:</a:t>
            </a:r>
          </a:p>
        </p:txBody>
      </p:sp>
      <p:sp>
        <p:nvSpPr>
          <p:cNvPr id="10"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24</a:t>
            </a:fld>
            <a:endParaRPr lang="en-US" dirty="0"/>
          </a:p>
        </p:txBody>
      </p:sp>
      <p:sp>
        <p:nvSpPr>
          <p:cNvPr id="12" name="Title 1"/>
          <p:cNvSpPr>
            <a:spLocks noGrp="1"/>
          </p:cNvSpPr>
          <p:nvPr>
            <p:ph type="title"/>
          </p:nvPr>
        </p:nvSpPr>
        <p:spPr>
          <a:xfrm>
            <a:off x="457200" y="122237"/>
            <a:ext cx="7162800" cy="563563"/>
          </a:xfrm>
        </p:spPr>
        <p:txBody>
          <a:bodyPr/>
          <a:lstStyle/>
          <a:p>
            <a:r>
              <a:rPr lang="en-US" sz="3200" dirty="0"/>
              <a:t>Example based on N &amp; R Problem 3.5</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457200" y="685801"/>
            <a:ext cx="8229600" cy="5440364"/>
          </a:xfrm>
        </p:spPr>
        <p:txBody>
          <a:bodyPr/>
          <a:lstStyle/>
          <a:p>
            <a:pPr>
              <a:buNone/>
            </a:pPr>
            <a:r>
              <a:rPr lang="en-US" sz="2400" dirty="0"/>
              <a:t>Find the equivalent resistance seen by the source in the following circuit. Calculate </a:t>
            </a:r>
            <a:r>
              <a:rPr lang="en-US" sz="2400" i="1" dirty="0" err="1"/>
              <a:t>i</a:t>
            </a:r>
            <a:r>
              <a:rPr lang="en-US" sz="2400" dirty="0"/>
              <a:t>.</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7" name="Right Arrow 26"/>
          <p:cNvSpPr/>
          <p:nvPr/>
        </p:nvSpPr>
        <p:spPr>
          <a:xfrm rot="5400000">
            <a:off x="2057400" y="30480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8" name="Right Arrow 27"/>
          <p:cNvSpPr/>
          <p:nvPr/>
        </p:nvSpPr>
        <p:spPr>
          <a:xfrm rot="5400000">
            <a:off x="2057400" y="46482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314370" name="Picture 2"/>
          <p:cNvPicPr>
            <a:picLocks noChangeAspect="1" noChangeArrowheads="1"/>
          </p:cNvPicPr>
          <p:nvPr/>
        </p:nvPicPr>
        <p:blipFill>
          <a:blip r:embed="rId2" cstate="print"/>
          <a:srcRect/>
          <a:stretch>
            <a:fillRect/>
          </a:stretch>
        </p:blipFill>
        <p:spPr bwMode="auto">
          <a:xfrm>
            <a:off x="1028700" y="1676400"/>
            <a:ext cx="2476500" cy="1204934"/>
          </a:xfrm>
          <a:prstGeom prst="rect">
            <a:avLst/>
          </a:prstGeom>
          <a:noFill/>
          <a:ln w="9525">
            <a:noFill/>
            <a:miter lim="800000"/>
            <a:headEnd/>
            <a:tailEnd/>
          </a:ln>
          <a:effectLst/>
        </p:spPr>
      </p:pic>
      <p:pic>
        <p:nvPicPr>
          <p:cNvPr id="314371" name="Picture 3"/>
          <p:cNvPicPr>
            <a:picLocks noChangeAspect="1" noChangeArrowheads="1"/>
          </p:cNvPicPr>
          <p:nvPr/>
        </p:nvPicPr>
        <p:blipFill>
          <a:blip r:embed="rId3" cstate="print"/>
          <a:srcRect/>
          <a:stretch>
            <a:fillRect/>
          </a:stretch>
        </p:blipFill>
        <p:spPr bwMode="auto">
          <a:xfrm>
            <a:off x="1066800" y="3429000"/>
            <a:ext cx="2209800" cy="1077886"/>
          </a:xfrm>
          <a:prstGeom prst="rect">
            <a:avLst/>
          </a:prstGeom>
          <a:noFill/>
          <a:ln w="9525">
            <a:noFill/>
            <a:miter lim="800000"/>
            <a:headEnd/>
            <a:tailEnd/>
          </a:ln>
          <a:effectLst/>
        </p:spPr>
      </p:pic>
      <p:pic>
        <p:nvPicPr>
          <p:cNvPr id="314372" name="Picture 4"/>
          <p:cNvPicPr>
            <a:picLocks noChangeAspect="1" noChangeArrowheads="1"/>
          </p:cNvPicPr>
          <p:nvPr/>
        </p:nvPicPr>
        <p:blipFill>
          <a:blip r:embed="rId4" cstate="print"/>
          <a:srcRect/>
          <a:stretch>
            <a:fillRect/>
          </a:stretch>
        </p:blipFill>
        <p:spPr bwMode="auto">
          <a:xfrm>
            <a:off x="1409700" y="5143500"/>
            <a:ext cx="1562100" cy="1061461"/>
          </a:xfrm>
          <a:prstGeom prst="rect">
            <a:avLst/>
          </a:prstGeom>
          <a:noFill/>
          <a:ln w="9525">
            <a:noFill/>
            <a:miter lim="800000"/>
            <a:headEnd/>
            <a:tailEnd/>
          </a:ln>
          <a:effectLst/>
        </p:spPr>
      </p:pic>
      <p:sp>
        <p:nvSpPr>
          <p:cNvPr id="11" name="Title 1"/>
          <p:cNvSpPr txBox="1">
            <a:spLocks/>
          </p:cNvSpPr>
          <p:nvPr/>
        </p:nvSpPr>
        <p:spPr bwMode="auto">
          <a:xfrm>
            <a:off x="190500" y="2895600"/>
            <a:ext cx="4648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2400" b="0" i="0" u="sng" strike="noStrike" kern="1200" cap="none" spc="0" normalizeH="0" baseline="0" noProof="0" dirty="0">
                <a:ln>
                  <a:noFill/>
                </a:ln>
                <a:solidFill>
                  <a:schemeClr val="tx1"/>
                </a:solidFill>
                <a:effectLst/>
                <a:uLnTx/>
                <a:uFillTx/>
                <a:latin typeface="+mj-lt"/>
                <a:ea typeface="+mj-ea"/>
                <a:cs typeface="+mj-cs"/>
              </a:rPr>
              <a:t>Solution:</a:t>
            </a:r>
          </a:p>
        </p:txBody>
      </p:sp>
      <p:sp>
        <p:nvSpPr>
          <p:cNvPr id="12"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25</a:t>
            </a:fld>
            <a:endParaRPr lang="en-US" dirty="0"/>
          </a:p>
        </p:txBody>
      </p:sp>
      <p:sp>
        <p:nvSpPr>
          <p:cNvPr id="15" name="Title 1"/>
          <p:cNvSpPr>
            <a:spLocks noGrp="1"/>
          </p:cNvSpPr>
          <p:nvPr>
            <p:ph type="title"/>
          </p:nvPr>
        </p:nvSpPr>
        <p:spPr>
          <a:xfrm>
            <a:off x="457200" y="122237"/>
            <a:ext cx="7162800" cy="563563"/>
          </a:xfrm>
        </p:spPr>
        <p:txBody>
          <a:bodyPr/>
          <a:lstStyle/>
          <a:p>
            <a:r>
              <a:rPr lang="en-US" sz="3200" dirty="0"/>
              <a:t>Example based on N &amp; R Problem 3.5</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457200" y="685801"/>
            <a:ext cx="8229600" cy="5440364"/>
          </a:xfrm>
        </p:spPr>
        <p:txBody>
          <a:bodyPr/>
          <a:lstStyle/>
          <a:p>
            <a:pPr>
              <a:buNone/>
            </a:pPr>
            <a:r>
              <a:rPr lang="en-US" sz="2400" dirty="0"/>
              <a:t>Find the equivalent resistance seen by the source in the following circuit. Calculate </a:t>
            </a:r>
            <a:r>
              <a:rPr lang="en-US" sz="2400" i="1" dirty="0" err="1"/>
              <a:t>i</a:t>
            </a:r>
            <a:r>
              <a:rPr lang="en-US" sz="2400" dirty="0"/>
              <a:t>.</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7" name="Right Arrow 26"/>
          <p:cNvSpPr/>
          <p:nvPr/>
        </p:nvSpPr>
        <p:spPr>
          <a:xfrm rot="5400000">
            <a:off x="2057400" y="30480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8" name="Right Arrow 27"/>
          <p:cNvSpPr/>
          <p:nvPr/>
        </p:nvSpPr>
        <p:spPr>
          <a:xfrm rot="5400000">
            <a:off x="2057400" y="464820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TextBox 29"/>
          <p:cNvSpPr txBox="1"/>
          <p:nvPr/>
        </p:nvSpPr>
        <p:spPr>
          <a:xfrm>
            <a:off x="3695700" y="4991100"/>
            <a:ext cx="2488823" cy="1200329"/>
          </a:xfrm>
          <a:prstGeom prst="rect">
            <a:avLst/>
          </a:prstGeom>
          <a:noFill/>
        </p:spPr>
        <p:txBody>
          <a:bodyPr wrap="none" rtlCol="0">
            <a:spAutoFit/>
          </a:bodyPr>
          <a:lstStyle/>
          <a:p>
            <a:r>
              <a:rPr lang="en-US" dirty="0"/>
              <a:t>So  </a:t>
            </a:r>
            <a:r>
              <a:rPr lang="en-US" dirty="0" err="1"/>
              <a:t>R</a:t>
            </a:r>
            <a:r>
              <a:rPr lang="en-US" baseline="-25000" dirty="0" err="1"/>
              <a:t>eq</a:t>
            </a:r>
            <a:r>
              <a:rPr lang="en-US" dirty="0"/>
              <a:t> = </a:t>
            </a:r>
            <a:r>
              <a:rPr lang="en-US" b="1" dirty="0"/>
              <a:t>50 </a:t>
            </a:r>
            <a:r>
              <a:rPr lang="el-GR" b="1" dirty="0"/>
              <a:t>Ω</a:t>
            </a:r>
            <a:endParaRPr lang="en-US" b="1" dirty="0"/>
          </a:p>
          <a:p>
            <a:endParaRPr lang="en-US" dirty="0"/>
          </a:p>
          <a:p>
            <a:r>
              <a:rPr lang="en-US" dirty="0"/>
              <a:t>And using Ohm’s Law:</a:t>
            </a:r>
          </a:p>
          <a:p>
            <a:r>
              <a:rPr lang="en-US" i="1" dirty="0" err="1"/>
              <a:t>i</a:t>
            </a:r>
            <a:r>
              <a:rPr lang="en-US" i="1" dirty="0"/>
              <a:t> </a:t>
            </a:r>
            <a:r>
              <a:rPr lang="en-US" dirty="0"/>
              <a:t>= -50 V / 50</a:t>
            </a:r>
            <a:r>
              <a:rPr lang="el-GR" dirty="0"/>
              <a:t> Ω</a:t>
            </a:r>
            <a:r>
              <a:rPr lang="en-US" dirty="0"/>
              <a:t> = </a:t>
            </a:r>
            <a:r>
              <a:rPr lang="en-US" b="1" dirty="0"/>
              <a:t>-1 A</a:t>
            </a:r>
            <a:endParaRPr lang="tr-TR" b="1" dirty="0"/>
          </a:p>
        </p:txBody>
      </p:sp>
      <p:pic>
        <p:nvPicPr>
          <p:cNvPr id="314370" name="Picture 2"/>
          <p:cNvPicPr>
            <a:picLocks noChangeAspect="1" noChangeArrowheads="1"/>
          </p:cNvPicPr>
          <p:nvPr/>
        </p:nvPicPr>
        <p:blipFill>
          <a:blip r:embed="rId2" cstate="print"/>
          <a:srcRect/>
          <a:stretch>
            <a:fillRect/>
          </a:stretch>
        </p:blipFill>
        <p:spPr bwMode="auto">
          <a:xfrm>
            <a:off x="1028700" y="1676400"/>
            <a:ext cx="2476500" cy="1204934"/>
          </a:xfrm>
          <a:prstGeom prst="rect">
            <a:avLst/>
          </a:prstGeom>
          <a:noFill/>
          <a:ln w="9525">
            <a:noFill/>
            <a:miter lim="800000"/>
            <a:headEnd/>
            <a:tailEnd/>
          </a:ln>
          <a:effectLst/>
        </p:spPr>
      </p:pic>
      <p:pic>
        <p:nvPicPr>
          <p:cNvPr id="314371" name="Picture 3"/>
          <p:cNvPicPr>
            <a:picLocks noChangeAspect="1" noChangeArrowheads="1"/>
          </p:cNvPicPr>
          <p:nvPr/>
        </p:nvPicPr>
        <p:blipFill>
          <a:blip r:embed="rId3" cstate="print"/>
          <a:srcRect/>
          <a:stretch>
            <a:fillRect/>
          </a:stretch>
        </p:blipFill>
        <p:spPr bwMode="auto">
          <a:xfrm>
            <a:off x="1066800" y="3429000"/>
            <a:ext cx="2209800" cy="1077886"/>
          </a:xfrm>
          <a:prstGeom prst="rect">
            <a:avLst/>
          </a:prstGeom>
          <a:noFill/>
          <a:ln w="9525">
            <a:noFill/>
            <a:miter lim="800000"/>
            <a:headEnd/>
            <a:tailEnd/>
          </a:ln>
          <a:effectLst/>
        </p:spPr>
      </p:pic>
      <p:pic>
        <p:nvPicPr>
          <p:cNvPr id="314372" name="Picture 4"/>
          <p:cNvPicPr>
            <a:picLocks noChangeAspect="1" noChangeArrowheads="1"/>
          </p:cNvPicPr>
          <p:nvPr/>
        </p:nvPicPr>
        <p:blipFill>
          <a:blip r:embed="rId4" cstate="print"/>
          <a:srcRect/>
          <a:stretch>
            <a:fillRect/>
          </a:stretch>
        </p:blipFill>
        <p:spPr bwMode="auto">
          <a:xfrm>
            <a:off x="1409700" y="5143500"/>
            <a:ext cx="1562100" cy="1061461"/>
          </a:xfrm>
          <a:prstGeom prst="rect">
            <a:avLst/>
          </a:prstGeom>
          <a:noFill/>
          <a:ln w="9525">
            <a:noFill/>
            <a:miter lim="800000"/>
            <a:headEnd/>
            <a:tailEnd/>
          </a:ln>
          <a:effectLst/>
        </p:spPr>
      </p:pic>
      <p:sp>
        <p:nvSpPr>
          <p:cNvPr id="12" name="Title 1"/>
          <p:cNvSpPr txBox="1">
            <a:spLocks/>
          </p:cNvSpPr>
          <p:nvPr/>
        </p:nvSpPr>
        <p:spPr bwMode="auto">
          <a:xfrm>
            <a:off x="190500" y="2895600"/>
            <a:ext cx="46482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sz="2400" b="0" i="0" u="sng" strike="noStrike" kern="1200" cap="none" spc="0" normalizeH="0" baseline="0" noProof="0" dirty="0">
                <a:ln>
                  <a:noFill/>
                </a:ln>
                <a:solidFill>
                  <a:schemeClr val="tx1"/>
                </a:solidFill>
                <a:effectLst/>
                <a:uLnTx/>
                <a:uFillTx/>
                <a:latin typeface="+mj-lt"/>
                <a:ea typeface="+mj-ea"/>
                <a:cs typeface="+mj-cs"/>
              </a:rPr>
              <a:t>Solution:</a:t>
            </a:r>
          </a:p>
        </p:txBody>
      </p:sp>
      <p:sp>
        <p:nvSpPr>
          <p:cNvPr id="13"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26</a:t>
            </a:fld>
            <a:endParaRPr lang="en-US" dirty="0"/>
          </a:p>
        </p:txBody>
      </p:sp>
      <p:sp>
        <p:nvSpPr>
          <p:cNvPr id="16" name="Title 1"/>
          <p:cNvSpPr>
            <a:spLocks noGrp="1"/>
          </p:cNvSpPr>
          <p:nvPr>
            <p:ph type="title"/>
          </p:nvPr>
        </p:nvSpPr>
        <p:spPr>
          <a:xfrm>
            <a:off x="457200" y="122237"/>
            <a:ext cx="7162800" cy="563563"/>
          </a:xfrm>
        </p:spPr>
        <p:txBody>
          <a:bodyPr/>
          <a:lstStyle/>
          <a:p>
            <a:r>
              <a:rPr lang="en-US" sz="3200" dirty="0"/>
              <a:t>Example based on N &amp; R Problem 3.5</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p:cNvSpPr>
            <a:spLocks noGrp="1"/>
          </p:cNvSpPr>
          <p:nvPr>
            <p:ph idx="1"/>
          </p:nvPr>
        </p:nvSpPr>
        <p:spPr>
          <a:xfrm>
            <a:off x="533400" y="838201"/>
            <a:ext cx="8229600" cy="5753099"/>
          </a:xfrm>
        </p:spPr>
        <p:txBody>
          <a:bodyPr/>
          <a:lstStyle/>
          <a:p>
            <a:pPr>
              <a:buNone/>
            </a:pPr>
            <a:r>
              <a:rPr lang="en-US" sz="2400" dirty="0"/>
              <a:t>An ideal measurement device does not disturb the circuit it is validating.</a:t>
            </a:r>
          </a:p>
          <a:p>
            <a:r>
              <a:rPr lang="en-US" sz="2400" u="sng" dirty="0"/>
              <a:t>Ammeter: </a:t>
            </a:r>
            <a:r>
              <a:rPr lang="en-US" sz="2400" dirty="0"/>
              <a:t>Measures the current flowing through its terminals. An ideal Ammeter has zero voltage drop across it (low impedance). It gets connected </a:t>
            </a:r>
            <a:r>
              <a:rPr lang="en-US" sz="2400" b="1" i="1" dirty="0"/>
              <a:t>in series </a:t>
            </a:r>
            <a:r>
              <a:rPr lang="en-US" sz="2400" dirty="0"/>
              <a:t>with the component it is trying to characterize.</a:t>
            </a:r>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27</a:t>
            </a:fld>
            <a:endParaRPr lang="en-US" dirty="0"/>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6" name="Title 1"/>
          <p:cNvSpPr txBox="1">
            <a:spLocks/>
          </p:cNvSpPr>
          <p:nvPr/>
        </p:nvSpPr>
        <p:spPr bwMode="auto">
          <a:xfrm>
            <a:off x="457200" y="190501"/>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0" i="0" strike="noStrike" kern="1200" cap="none" spc="0" normalizeH="0" baseline="0" noProof="0" dirty="0">
                <a:ln>
                  <a:noFill/>
                </a:ln>
                <a:solidFill>
                  <a:schemeClr val="tx1"/>
                </a:solidFill>
                <a:effectLst/>
                <a:uLnTx/>
                <a:uFillTx/>
                <a:latin typeface="+mj-lt"/>
                <a:ea typeface="+mj-ea"/>
                <a:cs typeface="+mj-cs"/>
              </a:rPr>
              <a:t>Measurement</a:t>
            </a:r>
            <a:r>
              <a:rPr kumimoji="0" lang="en-US" sz="3200" b="0" i="0" strike="noStrike" kern="1200" cap="none" spc="0" normalizeH="0" noProof="0" dirty="0">
                <a:ln>
                  <a:noFill/>
                </a:ln>
                <a:solidFill>
                  <a:schemeClr val="tx1"/>
                </a:solidFill>
                <a:effectLst/>
                <a:uLnTx/>
                <a:uFillTx/>
                <a:latin typeface="+mj-lt"/>
                <a:ea typeface="+mj-ea"/>
                <a:cs typeface="+mj-cs"/>
              </a:rPr>
              <a:t> Devices</a:t>
            </a:r>
            <a:endParaRPr kumimoji="0" lang="en-US" sz="3200" b="0" i="0" strike="noStrike" kern="1200" cap="none" spc="0" normalizeH="0" baseline="0" noProof="0" dirty="0">
              <a:ln>
                <a:noFill/>
              </a:ln>
              <a:solidFill>
                <a:schemeClr val="tx1"/>
              </a:solidFill>
              <a:effectLst/>
              <a:uLnTx/>
              <a:uFillTx/>
              <a:latin typeface="+mj-lt"/>
              <a:ea typeface="+mj-ea"/>
              <a:cs typeface="+mj-cs"/>
            </a:endParaRPr>
          </a:p>
        </p:txBody>
      </p:sp>
      <p:sp>
        <p:nvSpPr>
          <p:cNvPr id="17" name="Title 1"/>
          <p:cNvSpPr txBox="1">
            <a:spLocks/>
          </p:cNvSpPr>
          <p:nvPr/>
        </p:nvSpPr>
        <p:spPr bwMode="auto">
          <a:xfrm>
            <a:off x="495300" y="3581400"/>
            <a:ext cx="8229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3200" b="0" i="0" u="sng"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84959349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p:cNvSpPr>
            <a:spLocks noGrp="1"/>
          </p:cNvSpPr>
          <p:nvPr>
            <p:ph idx="1"/>
          </p:nvPr>
        </p:nvSpPr>
        <p:spPr>
          <a:xfrm>
            <a:off x="533400" y="838201"/>
            <a:ext cx="8229600" cy="5753099"/>
          </a:xfrm>
        </p:spPr>
        <p:txBody>
          <a:bodyPr/>
          <a:lstStyle/>
          <a:p>
            <a:pPr>
              <a:buNone/>
            </a:pPr>
            <a:r>
              <a:rPr lang="en-US" sz="2400" dirty="0"/>
              <a:t>An ideal measurement device does not disturb the circuit it is validating.</a:t>
            </a:r>
          </a:p>
          <a:p>
            <a:r>
              <a:rPr lang="en-US" sz="2400" u="sng" dirty="0"/>
              <a:t>Ammeter: </a:t>
            </a:r>
            <a:r>
              <a:rPr lang="en-US" sz="2400" dirty="0"/>
              <a:t>Measures the current flowing through its terminals. An ideal Ammeter has zero voltage drop across it (low impedance). It gets connected </a:t>
            </a:r>
            <a:r>
              <a:rPr lang="en-US" sz="2400" b="1" i="1" dirty="0"/>
              <a:t>in series </a:t>
            </a:r>
            <a:r>
              <a:rPr lang="en-US" sz="2400" dirty="0"/>
              <a:t>with the component it is trying to characterize.</a:t>
            </a:r>
          </a:p>
          <a:p>
            <a:r>
              <a:rPr lang="en-US" sz="2400" u="sng" dirty="0"/>
              <a:t>Voltmeter:</a:t>
            </a:r>
            <a:r>
              <a:rPr lang="en-US" sz="2400" dirty="0"/>
              <a:t> Measures the voltage across its terminals. An ideal Voltmeter has a terminal current of zero (high impedance). It gets connected </a:t>
            </a:r>
            <a:r>
              <a:rPr lang="en-US" sz="2400" b="1" i="1" dirty="0"/>
              <a:t>in parallel </a:t>
            </a:r>
            <a:r>
              <a:rPr lang="en-US" sz="2400" dirty="0"/>
              <a:t>to the component it is trying to characterize.</a:t>
            </a:r>
          </a:p>
          <a:p>
            <a:endParaRPr lang="en-US" sz="2400" dirty="0"/>
          </a:p>
          <a:p>
            <a:endParaRPr lang="en-US" sz="2400" dirty="0"/>
          </a:p>
          <a:p>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28</a:t>
            </a:fld>
            <a:endParaRPr lang="en-US" dirty="0"/>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6" name="Title 1"/>
          <p:cNvSpPr txBox="1">
            <a:spLocks/>
          </p:cNvSpPr>
          <p:nvPr/>
        </p:nvSpPr>
        <p:spPr bwMode="auto">
          <a:xfrm>
            <a:off x="457200" y="190501"/>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0" i="0" strike="noStrike" kern="1200" cap="none" spc="0" normalizeH="0" baseline="0" noProof="0" dirty="0">
                <a:ln>
                  <a:noFill/>
                </a:ln>
                <a:solidFill>
                  <a:schemeClr val="tx1"/>
                </a:solidFill>
                <a:effectLst/>
                <a:uLnTx/>
                <a:uFillTx/>
                <a:latin typeface="+mj-lt"/>
                <a:ea typeface="+mj-ea"/>
                <a:cs typeface="+mj-cs"/>
              </a:rPr>
              <a:t>Measurement</a:t>
            </a:r>
            <a:r>
              <a:rPr kumimoji="0" lang="en-US" sz="3200" b="0" i="0" strike="noStrike" kern="1200" cap="none" spc="0" normalizeH="0" noProof="0" dirty="0">
                <a:ln>
                  <a:noFill/>
                </a:ln>
                <a:solidFill>
                  <a:schemeClr val="tx1"/>
                </a:solidFill>
                <a:effectLst/>
                <a:uLnTx/>
                <a:uFillTx/>
                <a:latin typeface="+mj-lt"/>
                <a:ea typeface="+mj-ea"/>
                <a:cs typeface="+mj-cs"/>
              </a:rPr>
              <a:t> Devices</a:t>
            </a:r>
            <a:endParaRPr kumimoji="0" lang="en-US" sz="3200" b="0" i="0" strike="noStrike" kern="1200" cap="none" spc="0" normalizeH="0" baseline="0" noProof="0" dirty="0">
              <a:ln>
                <a:noFill/>
              </a:ln>
              <a:solidFill>
                <a:schemeClr val="tx1"/>
              </a:solidFill>
              <a:effectLst/>
              <a:uLnTx/>
              <a:uFillTx/>
              <a:latin typeface="+mj-lt"/>
              <a:ea typeface="+mj-ea"/>
              <a:cs typeface="+mj-cs"/>
            </a:endParaRPr>
          </a:p>
        </p:txBody>
      </p:sp>
      <p:sp>
        <p:nvSpPr>
          <p:cNvPr id="17" name="Title 1"/>
          <p:cNvSpPr txBox="1">
            <a:spLocks/>
          </p:cNvSpPr>
          <p:nvPr/>
        </p:nvSpPr>
        <p:spPr bwMode="auto">
          <a:xfrm>
            <a:off x="495300" y="3581400"/>
            <a:ext cx="8229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3200" b="0" i="0" u="sng"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1219009305"/>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Content Placeholder 2"/>
          <p:cNvSpPr>
            <a:spLocks noGrp="1"/>
          </p:cNvSpPr>
          <p:nvPr>
            <p:ph idx="1"/>
          </p:nvPr>
        </p:nvSpPr>
        <p:spPr>
          <a:xfrm>
            <a:off x="533400" y="838201"/>
            <a:ext cx="8229600" cy="5753099"/>
          </a:xfrm>
        </p:spPr>
        <p:txBody>
          <a:bodyPr/>
          <a:lstStyle/>
          <a:p>
            <a:pPr>
              <a:buNone/>
            </a:pPr>
            <a:r>
              <a:rPr lang="en-US" sz="2400" dirty="0"/>
              <a:t>An ideal measurement device does not disturb the circuit it is validating.</a:t>
            </a:r>
          </a:p>
          <a:p>
            <a:r>
              <a:rPr lang="en-US" sz="2400" u="sng" dirty="0"/>
              <a:t>Ammeter: </a:t>
            </a:r>
            <a:r>
              <a:rPr lang="en-US" sz="2400" dirty="0"/>
              <a:t>Measures the current flowing through its terminals. An ideal Ammeter has zero voltage drop across it (low impedance). It gets connected </a:t>
            </a:r>
            <a:r>
              <a:rPr lang="en-US" sz="2400" b="1" i="1" dirty="0"/>
              <a:t>in series </a:t>
            </a:r>
            <a:r>
              <a:rPr lang="en-US" sz="2400" dirty="0"/>
              <a:t>with the component it is trying to characterize.</a:t>
            </a:r>
          </a:p>
          <a:p>
            <a:r>
              <a:rPr lang="en-US" sz="2400" u="sng" dirty="0"/>
              <a:t>Voltmeter:</a:t>
            </a:r>
            <a:r>
              <a:rPr lang="en-US" sz="2400" dirty="0"/>
              <a:t> Measures the voltage across its terminals. An ideal Voltmeter has a terminal current of zero (high impedance). It gets connected </a:t>
            </a:r>
            <a:r>
              <a:rPr lang="en-US" sz="2400" b="1" i="1" dirty="0"/>
              <a:t>in parallel </a:t>
            </a:r>
            <a:r>
              <a:rPr lang="en-US" sz="2400" dirty="0"/>
              <a:t>to the component it is trying to characterize.</a:t>
            </a:r>
          </a:p>
          <a:p>
            <a:r>
              <a:rPr lang="en-US" sz="2400" u="sng" dirty="0"/>
              <a:t>Ohmmeter: </a:t>
            </a:r>
            <a:r>
              <a:rPr lang="en-US" sz="2400" dirty="0"/>
              <a:t>Measures resistance connected between its terminals. An ideal Ohmmeter delivers zero power to the resistance it is measuring. It gets connected </a:t>
            </a:r>
            <a:r>
              <a:rPr lang="en-US" sz="2400" b="1" i="1" dirty="0"/>
              <a:t>in parallel </a:t>
            </a:r>
            <a:r>
              <a:rPr lang="en-US" sz="2400" dirty="0"/>
              <a:t>to the component it is trying to characterize. </a:t>
            </a:r>
            <a:r>
              <a:rPr lang="en-US" sz="2400" i="1" dirty="0"/>
              <a:t>Remember to turn off power</a:t>
            </a:r>
            <a:r>
              <a:rPr lang="en-US" sz="2400" dirty="0"/>
              <a:t> in the circuit when characterizing resistance.</a:t>
            </a:r>
          </a:p>
          <a:p>
            <a:endParaRPr lang="en-US" sz="2400" dirty="0"/>
          </a:p>
          <a:p>
            <a:endParaRPr lang="en-US" sz="2400" dirty="0"/>
          </a:p>
          <a:p>
            <a:endParaRPr lang="en-US" sz="2400" dirty="0"/>
          </a:p>
          <a:p>
            <a:endParaRPr lang="en-US" sz="2000" dirty="0"/>
          </a:p>
          <a:p>
            <a:pPr lvl="1">
              <a:buFont typeface="Arial" charset="0"/>
              <a:buNone/>
            </a:pPr>
            <a:endParaRPr lang="en-US" sz="2000" dirty="0"/>
          </a:p>
        </p:txBody>
      </p:sp>
      <p:sp>
        <p:nvSpPr>
          <p:cNvPr id="13" name="Slide Number Placeholder 12"/>
          <p:cNvSpPr>
            <a:spLocks noGrp="1"/>
          </p:cNvSpPr>
          <p:nvPr>
            <p:ph type="sldNum" sz="quarter" idx="11"/>
          </p:nvPr>
        </p:nvSpPr>
        <p:spPr/>
        <p:txBody>
          <a:bodyPr/>
          <a:lstStyle/>
          <a:p>
            <a:pPr>
              <a:defRPr/>
            </a:pPr>
            <a:fld id="{A957CEED-90C7-4FD0-AB8C-14085BB9151E}" type="slidenum">
              <a:rPr lang="en-US" smtClean="0"/>
              <a:pPr>
                <a:defRPr/>
              </a:pPr>
              <a:t>29</a:t>
            </a:fld>
            <a:endParaRPr lang="en-US" dirty="0"/>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16" name="Title 1"/>
          <p:cNvSpPr txBox="1">
            <a:spLocks/>
          </p:cNvSpPr>
          <p:nvPr/>
        </p:nvSpPr>
        <p:spPr bwMode="auto">
          <a:xfrm>
            <a:off x="457200" y="190501"/>
            <a:ext cx="8229600"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0" i="0" strike="noStrike" kern="1200" cap="none" spc="0" normalizeH="0" baseline="0" noProof="0" dirty="0">
                <a:ln>
                  <a:noFill/>
                </a:ln>
                <a:solidFill>
                  <a:schemeClr val="tx1"/>
                </a:solidFill>
                <a:effectLst/>
                <a:uLnTx/>
                <a:uFillTx/>
                <a:latin typeface="+mj-lt"/>
                <a:ea typeface="+mj-ea"/>
                <a:cs typeface="+mj-cs"/>
              </a:rPr>
              <a:t>Measurement</a:t>
            </a:r>
            <a:r>
              <a:rPr kumimoji="0" lang="en-US" sz="3200" b="0" i="0" strike="noStrike" kern="1200" cap="none" spc="0" normalizeH="0" noProof="0" dirty="0">
                <a:ln>
                  <a:noFill/>
                </a:ln>
                <a:solidFill>
                  <a:schemeClr val="tx1"/>
                </a:solidFill>
                <a:effectLst/>
                <a:uLnTx/>
                <a:uFillTx/>
                <a:latin typeface="+mj-lt"/>
                <a:ea typeface="+mj-ea"/>
                <a:cs typeface="+mj-cs"/>
              </a:rPr>
              <a:t> Devices</a:t>
            </a:r>
            <a:endParaRPr kumimoji="0" lang="en-US" sz="3200" b="0" i="0" strike="noStrike" kern="1200" cap="none" spc="0" normalizeH="0" baseline="0" noProof="0" dirty="0">
              <a:ln>
                <a:noFill/>
              </a:ln>
              <a:solidFill>
                <a:schemeClr val="tx1"/>
              </a:solidFill>
              <a:effectLst/>
              <a:uLnTx/>
              <a:uFillTx/>
              <a:latin typeface="+mj-lt"/>
              <a:ea typeface="+mj-ea"/>
              <a:cs typeface="+mj-cs"/>
            </a:endParaRPr>
          </a:p>
        </p:txBody>
      </p:sp>
      <p:sp>
        <p:nvSpPr>
          <p:cNvPr id="17" name="Title 1"/>
          <p:cNvSpPr txBox="1">
            <a:spLocks/>
          </p:cNvSpPr>
          <p:nvPr/>
        </p:nvSpPr>
        <p:spPr bwMode="auto">
          <a:xfrm>
            <a:off x="495300" y="3581400"/>
            <a:ext cx="8229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3200" b="0" i="0" u="sng" strike="noStrike" kern="1200" cap="none" spc="0" normalizeH="0" baseline="0" noProof="0" dirty="0">
              <a:ln>
                <a:noFill/>
              </a:ln>
              <a:solidFill>
                <a:schemeClr val="tx1"/>
              </a:solidFill>
              <a:effectLst/>
              <a:uLnTx/>
              <a:uFillTx/>
              <a:latin typeface="+mj-lt"/>
              <a:ea typeface="+mj-ea"/>
              <a:cs typeface="+mj-cs"/>
            </a:endParaRPr>
          </a:p>
        </p:txBody>
      </p:sp>
    </p:spTree>
    <p:extLst>
      <p:ext uri="{BB962C8B-B14F-4D97-AF65-F5344CB8AC3E}">
        <p14:creationId xmlns:p14="http://schemas.microsoft.com/office/powerpoint/2010/main" val="604302001"/>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52400" y="76200"/>
            <a:ext cx="8229600" cy="563563"/>
          </a:xfrm>
        </p:spPr>
        <p:txBody>
          <a:bodyPr/>
          <a:lstStyle/>
          <a:p>
            <a:r>
              <a:rPr lang="en-US" sz="3200" dirty="0"/>
              <a:t>Color Code For Carbon Resistors</a:t>
            </a:r>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30</a:t>
            </a:fld>
            <a:endParaRPr lang="en-US" dirty="0"/>
          </a:p>
        </p:txBody>
      </p:sp>
      <p:sp>
        <p:nvSpPr>
          <p:cNvPr id="5" name="Content Placeholder 13"/>
          <p:cNvSpPr>
            <a:spLocks noGrp="1"/>
          </p:cNvSpPr>
          <p:nvPr>
            <p:ph idx="1"/>
          </p:nvPr>
        </p:nvSpPr>
        <p:spPr>
          <a:xfrm>
            <a:off x="152400" y="685800"/>
            <a:ext cx="8801100" cy="5981699"/>
          </a:xfrm>
        </p:spPr>
        <p:txBody>
          <a:bodyPr/>
          <a:lstStyle/>
          <a:p>
            <a:pPr>
              <a:buNone/>
            </a:pPr>
            <a:endParaRPr lang="en-US" sz="2200" dirty="0"/>
          </a:p>
          <a:p>
            <a:pPr>
              <a:buNone/>
            </a:pPr>
            <a:endParaRPr lang="en-US" sz="2200" dirty="0"/>
          </a:p>
          <a:p>
            <a:pPr>
              <a:buNone/>
            </a:pPr>
            <a:endParaRPr lang="en-US" sz="2200" dirty="0"/>
          </a:p>
          <a:p>
            <a:pPr>
              <a:buNone/>
            </a:pPr>
            <a:endParaRPr lang="en-US" sz="2200" dirty="0"/>
          </a:p>
          <a:p>
            <a:pPr>
              <a:buNone/>
            </a:pPr>
            <a:endParaRPr lang="en-US" sz="2200" dirty="0"/>
          </a:p>
          <a:p>
            <a:pPr>
              <a:buNone/>
            </a:pPr>
            <a:endParaRPr lang="en-US" sz="2200" dirty="0"/>
          </a:p>
          <a:p>
            <a:pPr>
              <a:buNone/>
            </a:pPr>
            <a:endParaRPr lang="en-US" sz="2200" dirty="0"/>
          </a:p>
          <a:p>
            <a:pPr>
              <a:buNone/>
            </a:pPr>
            <a:endParaRPr lang="en-US" sz="2200" dirty="0"/>
          </a:p>
          <a:p>
            <a:pPr>
              <a:buNone/>
            </a:pPr>
            <a:endParaRPr lang="en-US" sz="2200" dirty="0"/>
          </a:p>
          <a:p>
            <a:r>
              <a:rPr lang="en-US" sz="2200" dirty="0"/>
              <a:t>Every component has a tolerance. Good designs can tolerate variations !</a:t>
            </a:r>
          </a:p>
          <a:p>
            <a:pPr>
              <a:buNone/>
            </a:pPr>
            <a:endParaRPr lang="en-US" sz="2200" dirty="0"/>
          </a:p>
          <a:p>
            <a:r>
              <a:rPr lang="en-US" sz="2200" dirty="0"/>
              <a:t>It is a good practice to verify specifications empirically before using components to better match modeling/hand-analysis/simulations and the actual results obtained from the design. [Will be doing some of this in Lab 1.]</a:t>
            </a:r>
          </a:p>
          <a:p>
            <a:pPr>
              <a:buNone/>
            </a:pPr>
            <a:endParaRPr lang="en-US" sz="2200" dirty="0"/>
          </a:p>
          <a:p>
            <a:pPr>
              <a:buNone/>
            </a:pPr>
            <a:endParaRPr lang="en-US" sz="2200" dirty="0"/>
          </a:p>
          <a:p>
            <a:pPr>
              <a:buNone/>
            </a:pPr>
            <a:endParaRPr lang="en-US" sz="2200" dirty="0"/>
          </a:p>
          <a:p>
            <a:pPr>
              <a:buNone/>
            </a:pPr>
            <a:endParaRPr lang="en-US" sz="2200" dirty="0"/>
          </a:p>
          <a:p>
            <a:pPr>
              <a:buNone/>
            </a:pPr>
            <a:endParaRPr lang="en-US" sz="2200" dirty="0"/>
          </a:p>
        </p:txBody>
      </p:sp>
      <p:graphicFrame>
        <p:nvGraphicFramePr>
          <p:cNvPr id="209926" name="Object 6"/>
          <p:cNvGraphicFramePr>
            <a:graphicFrameLocks noChangeAspect="1"/>
          </p:cNvGraphicFramePr>
          <p:nvPr/>
        </p:nvGraphicFramePr>
        <p:xfrm>
          <a:off x="1219200" y="3162300"/>
          <a:ext cx="6427788" cy="685800"/>
        </p:xfrm>
        <a:graphic>
          <a:graphicData uri="http://schemas.openxmlformats.org/presentationml/2006/ole">
            <mc:AlternateContent xmlns:mc="http://schemas.openxmlformats.org/markup-compatibility/2006">
              <mc:Choice xmlns:v="urn:schemas-microsoft-com:vml" Requires="v">
                <p:oleObj name="Equation" r:id="rId2" imgW="1638000" imgH="215640" progId="Equation.3">
                  <p:embed/>
                </p:oleObj>
              </mc:Choice>
              <mc:Fallback>
                <p:oleObj name="Equation" r:id="rId2" imgW="1638000" imgH="2156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162300"/>
                        <a:ext cx="6427788"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6" name="Group 35"/>
          <p:cNvGrpSpPr/>
          <p:nvPr/>
        </p:nvGrpSpPr>
        <p:grpSpPr>
          <a:xfrm>
            <a:off x="762000" y="1485900"/>
            <a:ext cx="3513306" cy="1249590"/>
            <a:chOff x="952500" y="1520042"/>
            <a:chExt cx="3513306" cy="1249590"/>
          </a:xfrm>
        </p:grpSpPr>
        <p:grpSp>
          <p:nvGrpSpPr>
            <p:cNvPr id="26" name="Group 25"/>
            <p:cNvGrpSpPr/>
            <p:nvPr/>
          </p:nvGrpSpPr>
          <p:grpSpPr>
            <a:xfrm>
              <a:off x="952500" y="1520042"/>
              <a:ext cx="3162300" cy="537358"/>
              <a:chOff x="952500" y="1520042"/>
              <a:chExt cx="3162300" cy="537358"/>
            </a:xfrm>
          </p:grpSpPr>
          <p:sp>
            <p:nvSpPr>
              <p:cNvPr id="12" name="Can 11"/>
              <p:cNvSpPr/>
              <p:nvPr/>
            </p:nvSpPr>
            <p:spPr>
              <a:xfrm rot="16200000">
                <a:off x="2228850" y="857250"/>
                <a:ext cx="533400" cy="1866900"/>
              </a:xfrm>
              <a:prstGeom prst="can">
                <a:avLst>
                  <a:gd name="adj" fmla="val 27226"/>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p:nvPr/>
            </p:nvCxnSpPr>
            <p:spPr>
              <a:xfrm rot="10800000">
                <a:off x="952500" y="1789111"/>
                <a:ext cx="6858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3429000" y="1790700"/>
                <a:ext cx="6858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Freeform 16"/>
              <p:cNvSpPr/>
              <p:nvPr/>
            </p:nvSpPr>
            <p:spPr>
              <a:xfrm>
                <a:off x="1923803" y="1520042"/>
                <a:ext cx="98960" cy="522514"/>
              </a:xfrm>
              <a:custGeom>
                <a:avLst/>
                <a:gdLst>
                  <a:gd name="connsiteX0" fmla="*/ 0 w 98960"/>
                  <a:gd name="connsiteY0" fmla="*/ 0 h 522514"/>
                  <a:gd name="connsiteX1" fmla="*/ 95002 w 98960"/>
                  <a:gd name="connsiteY1" fmla="*/ 249381 h 522514"/>
                  <a:gd name="connsiteX2" fmla="*/ 23750 w 98960"/>
                  <a:gd name="connsiteY2" fmla="*/ 522514 h 522514"/>
                </a:gdLst>
                <a:ahLst/>
                <a:cxnLst>
                  <a:cxn ang="0">
                    <a:pos x="connsiteX0" y="connsiteY0"/>
                  </a:cxn>
                  <a:cxn ang="0">
                    <a:pos x="connsiteX1" y="connsiteY1"/>
                  </a:cxn>
                  <a:cxn ang="0">
                    <a:pos x="connsiteX2" y="connsiteY2"/>
                  </a:cxn>
                </a:cxnLst>
                <a:rect l="l" t="t" r="r" b="b"/>
                <a:pathLst>
                  <a:path w="98960" h="522514">
                    <a:moveTo>
                      <a:pt x="0" y="0"/>
                    </a:moveTo>
                    <a:cubicBezTo>
                      <a:pt x="45522" y="81147"/>
                      <a:pt x="91044" y="162295"/>
                      <a:pt x="95002" y="249381"/>
                    </a:cubicBezTo>
                    <a:cubicBezTo>
                      <a:pt x="98960" y="336467"/>
                      <a:pt x="61355" y="429490"/>
                      <a:pt x="23750" y="522514"/>
                    </a:cubicBez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Freeform 17"/>
              <p:cNvSpPr/>
              <p:nvPr/>
            </p:nvSpPr>
            <p:spPr>
              <a:xfrm>
                <a:off x="2057400" y="1524000"/>
                <a:ext cx="98960" cy="522514"/>
              </a:xfrm>
              <a:custGeom>
                <a:avLst/>
                <a:gdLst>
                  <a:gd name="connsiteX0" fmla="*/ 0 w 98960"/>
                  <a:gd name="connsiteY0" fmla="*/ 0 h 522514"/>
                  <a:gd name="connsiteX1" fmla="*/ 95002 w 98960"/>
                  <a:gd name="connsiteY1" fmla="*/ 249381 h 522514"/>
                  <a:gd name="connsiteX2" fmla="*/ 23750 w 98960"/>
                  <a:gd name="connsiteY2" fmla="*/ 522514 h 522514"/>
                </a:gdLst>
                <a:ahLst/>
                <a:cxnLst>
                  <a:cxn ang="0">
                    <a:pos x="connsiteX0" y="connsiteY0"/>
                  </a:cxn>
                  <a:cxn ang="0">
                    <a:pos x="connsiteX1" y="connsiteY1"/>
                  </a:cxn>
                  <a:cxn ang="0">
                    <a:pos x="connsiteX2" y="connsiteY2"/>
                  </a:cxn>
                </a:cxnLst>
                <a:rect l="l" t="t" r="r" b="b"/>
                <a:pathLst>
                  <a:path w="98960" h="522514">
                    <a:moveTo>
                      <a:pt x="0" y="0"/>
                    </a:moveTo>
                    <a:cubicBezTo>
                      <a:pt x="45522" y="81147"/>
                      <a:pt x="91044" y="162295"/>
                      <a:pt x="95002" y="249381"/>
                    </a:cubicBezTo>
                    <a:cubicBezTo>
                      <a:pt x="98960" y="336467"/>
                      <a:pt x="61355" y="429490"/>
                      <a:pt x="23750" y="522514"/>
                    </a:cubicBez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Freeform 18"/>
              <p:cNvSpPr/>
              <p:nvPr/>
            </p:nvSpPr>
            <p:spPr>
              <a:xfrm>
                <a:off x="2282043" y="1530928"/>
                <a:ext cx="98960" cy="522514"/>
              </a:xfrm>
              <a:custGeom>
                <a:avLst/>
                <a:gdLst>
                  <a:gd name="connsiteX0" fmla="*/ 0 w 98960"/>
                  <a:gd name="connsiteY0" fmla="*/ 0 h 522514"/>
                  <a:gd name="connsiteX1" fmla="*/ 95002 w 98960"/>
                  <a:gd name="connsiteY1" fmla="*/ 249381 h 522514"/>
                  <a:gd name="connsiteX2" fmla="*/ 23750 w 98960"/>
                  <a:gd name="connsiteY2" fmla="*/ 522514 h 522514"/>
                </a:gdLst>
                <a:ahLst/>
                <a:cxnLst>
                  <a:cxn ang="0">
                    <a:pos x="connsiteX0" y="connsiteY0"/>
                  </a:cxn>
                  <a:cxn ang="0">
                    <a:pos x="connsiteX1" y="connsiteY1"/>
                  </a:cxn>
                  <a:cxn ang="0">
                    <a:pos x="connsiteX2" y="connsiteY2"/>
                  </a:cxn>
                </a:cxnLst>
                <a:rect l="l" t="t" r="r" b="b"/>
                <a:pathLst>
                  <a:path w="98960" h="522514">
                    <a:moveTo>
                      <a:pt x="0" y="0"/>
                    </a:moveTo>
                    <a:cubicBezTo>
                      <a:pt x="45522" y="81147"/>
                      <a:pt x="91044" y="162295"/>
                      <a:pt x="95002" y="249381"/>
                    </a:cubicBezTo>
                    <a:cubicBezTo>
                      <a:pt x="98960" y="336467"/>
                      <a:pt x="61355" y="429490"/>
                      <a:pt x="23750" y="522514"/>
                    </a:cubicBez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Freeform 19"/>
              <p:cNvSpPr/>
              <p:nvPr/>
            </p:nvSpPr>
            <p:spPr>
              <a:xfrm>
                <a:off x="2415640" y="1534886"/>
                <a:ext cx="98960" cy="522514"/>
              </a:xfrm>
              <a:custGeom>
                <a:avLst/>
                <a:gdLst>
                  <a:gd name="connsiteX0" fmla="*/ 0 w 98960"/>
                  <a:gd name="connsiteY0" fmla="*/ 0 h 522514"/>
                  <a:gd name="connsiteX1" fmla="*/ 95002 w 98960"/>
                  <a:gd name="connsiteY1" fmla="*/ 249381 h 522514"/>
                  <a:gd name="connsiteX2" fmla="*/ 23750 w 98960"/>
                  <a:gd name="connsiteY2" fmla="*/ 522514 h 522514"/>
                </a:gdLst>
                <a:ahLst/>
                <a:cxnLst>
                  <a:cxn ang="0">
                    <a:pos x="connsiteX0" y="connsiteY0"/>
                  </a:cxn>
                  <a:cxn ang="0">
                    <a:pos x="connsiteX1" y="connsiteY1"/>
                  </a:cxn>
                  <a:cxn ang="0">
                    <a:pos x="connsiteX2" y="connsiteY2"/>
                  </a:cxn>
                </a:cxnLst>
                <a:rect l="l" t="t" r="r" b="b"/>
                <a:pathLst>
                  <a:path w="98960" h="522514">
                    <a:moveTo>
                      <a:pt x="0" y="0"/>
                    </a:moveTo>
                    <a:cubicBezTo>
                      <a:pt x="45522" y="81147"/>
                      <a:pt x="91044" y="162295"/>
                      <a:pt x="95002" y="249381"/>
                    </a:cubicBezTo>
                    <a:cubicBezTo>
                      <a:pt x="98960" y="336467"/>
                      <a:pt x="61355" y="429490"/>
                      <a:pt x="23750" y="522514"/>
                    </a:cubicBez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Freeform 21"/>
              <p:cNvSpPr/>
              <p:nvPr/>
            </p:nvSpPr>
            <p:spPr>
              <a:xfrm>
                <a:off x="2624943" y="1524000"/>
                <a:ext cx="98960" cy="522514"/>
              </a:xfrm>
              <a:custGeom>
                <a:avLst/>
                <a:gdLst>
                  <a:gd name="connsiteX0" fmla="*/ 0 w 98960"/>
                  <a:gd name="connsiteY0" fmla="*/ 0 h 522514"/>
                  <a:gd name="connsiteX1" fmla="*/ 95002 w 98960"/>
                  <a:gd name="connsiteY1" fmla="*/ 249381 h 522514"/>
                  <a:gd name="connsiteX2" fmla="*/ 23750 w 98960"/>
                  <a:gd name="connsiteY2" fmla="*/ 522514 h 522514"/>
                </a:gdLst>
                <a:ahLst/>
                <a:cxnLst>
                  <a:cxn ang="0">
                    <a:pos x="connsiteX0" y="connsiteY0"/>
                  </a:cxn>
                  <a:cxn ang="0">
                    <a:pos x="connsiteX1" y="connsiteY1"/>
                  </a:cxn>
                  <a:cxn ang="0">
                    <a:pos x="connsiteX2" y="connsiteY2"/>
                  </a:cxn>
                </a:cxnLst>
                <a:rect l="l" t="t" r="r" b="b"/>
                <a:pathLst>
                  <a:path w="98960" h="522514">
                    <a:moveTo>
                      <a:pt x="0" y="0"/>
                    </a:moveTo>
                    <a:cubicBezTo>
                      <a:pt x="45522" y="81147"/>
                      <a:pt x="91044" y="162295"/>
                      <a:pt x="95002" y="249381"/>
                    </a:cubicBezTo>
                    <a:cubicBezTo>
                      <a:pt x="98960" y="336467"/>
                      <a:pt x="61355" y="429490"/>
                      <a:pt x="23750" y="522514"/>
                    </a:cubicBez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Freeform 22"/>
              <p:cNvSpPr/>
              <p:nvPr/>
            </p:nvSpPr>
            <p:spPr>
              <a:xfrm>
                <a:off x="2758540" y="1527958"/>
                <a:ext cx="98960" cy="522514"/>
              </a:xfrm>
              <a:custGeom>
                <a:avLst/>
                <a:gdLst>
                  <a:gd name="connsiteX0" fmla="*/ 0 w 98960"/>
                  <a:gd name="connsiteY0" fmla="*/ 0 h 522514"/>
                  <a:gd name="connsiteX1" fmla="*/ 95002 w 98960"/>
                  <a:gd name="connsiteY1" fmla="*/ 249381 h 522514"/>
                  <a:gd name="connsiteX2" fmla="*/ 23750 w 98960"/>
                  <a:gd name="connsiteY2" fmla="*/ 522514 h 522514"/>
                </a:gdLst>
                <a:ahLst/>
                <a:cxnLst>
                  <a:cxn ang="0">
                    <a:pos x="connsiteX0" y="connsiteY0"/>
                  </a:cxn>
                  <a:cxn ang="0">
                    <a:pos x="connsiteX1" y="connsiteY1"/>
                  </a:cxn>
                  <a:cxn ang="0">
                    <a:pos x="connsiteX2" y="connsiteY2"/>
                  </a:cxn>
                </a:cxnLst>
                <a:rect l="l" t="t" r="r" b="b"/>
                <a:pathLst>
                  <a:path w="98960" h="522514">
                    <a:moveTo>
                      <a:pt x="0" y="0"/>
                    </a:moveTo>
                    <a:cubicBezTo>
                      <a:pt x="45522" y="81147"/>
                      <a:pt x="91044" y="162295"/>
                      <a:pt x="95002" y="249381"/>
                    </a:cubicBezTo>
                    <a:cubicBezTo>
                      <a:pt x="98960" y="336467"/>
                      <a:pt x="61355" y="429490"/>
                      <a:pt x="23750" y="522514"/>
                    </a:cubicBez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Freeform 23"/>
              <p:cNvSpPr/>
              <p:nvPr/>
            </p:nvSpPr>
            <p:spPr>
              <a:xfrm>
                <a:off x="3044043" y="1524000"/>
                <a:ext cx="98960" cy="522514"/>
              </a:xfrm>
              <a:custGeom>
                <a:avLst/>
                <a:gdLst>
                  <a:gd name="connsiteX0" fmla="*/ 0 w 98960"/>
                  <a:gd name="connsiteY0" fmla="*/ 0 h 522514"/>
                  <a:gd name="connsiteX1" fmla="*/ 95002 w 98960"/>
                  <a:gd name="connsiteY1" fmla="*/ 249381 h 522514"/>
                  <a:gd name="connsiteX2" fmla="*/ 23750 w 98960"/>
                  <a:gd name="connsiteY2" fmla="*/ 522514 h 522514"/>
                </a:gdLst>
                <a:ahLst/>
                <a:cxnLst>
                  <a:cxn ang="0">
                    <a:pos x="connsiteX0" y="connsiteY0"/>
                  </a:cxn>
                  <a:cxn ang="0">
                    <a:pos x="connsiteX1" y="connsiteY1"/>
                  </a:cxn>
                  <a:cxn ang="0">
                    <a:pos x="connsiteX2" y="connsiteY2"/>
                  </a:cxn>
                </a:cxnLst>
                <a:rect l="l" t="t" r="r" b="b"/>
                <a:pathLst>
                  <a:path w="98960" h="522514">
                    <a:moveTo>
                      <a:pt x="0" y="0"/>
                    </a:moveTo>
                    <a:cubicBezTo>
                      <a:pt x="45522" y="81147"/>
                      <a:pt x="91044" y="162295"/>
                      <a:pt x="95002" y="249381"/>
                    </a:cubicBezTo>
                    <a:cubicBezTo>
                      <a:pt x="98960" y="336467"/>
                      <a:pt x="61355" y="429490"/>
                      <a:pt x="23750" y="522514"/>
                    </a:cubicBez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Freeform 24"/>
              <p:cNvSpPr/>
              <p:nvPr/>
            </p:nvSpPr>
            <p:spPr>
              <a:xfrm>
                <a:off x="3177640" y="1527958"/>
                <a:ext cx="98960" cy="522514"/>
              </a:xfrm>
              <a:custGeom>
                <a:avLst/>
                <a:gdLst>
                  <a:gd name="connsiteX0" fmla="*/ 0 w 98960"/>
                  <a:gd name="connsiteY0" fmla="*/ 0 h 522514"/>
                  <a:gd name="connsiteX1" fmla="*/ 95002 w 98960"/>
                  <a:gd name="connsiteY1" fmla="*/ 249381 h 522514"/>
                  <a:gd name="connsiteX2" fmla="*/ 23750 w 98960"/>
                  <a:gd name="connsiteY2" fmla="*/ 522514 h 522514"/>
                </a:gdLst>
                <a:ahLst/>
                <a:cxnLst>
                  <a:cxn ang="0">
                    <a:pos x="connsiteX0" y="connsiteY0"/>
                  </a:cxn>
                  <a:cxn ang="0">
                    <a:pos x="connsiteX1" y="connsiteY1"/>
                  </a:cxn>
                  <a:cxn ang="0">
                    <a:pos x="connsiteX2" y="connsiteY2"/>
                  </a:cxn>
                </a:cxnLst>
                <a:rect l="l" t="t" r="r" b="b"/>
                <a:pathLst>
                  <a:path w="98960" h="522514">
                    <a:moveTo>
                      <a:pt x="0" y="0"/>
                    </a:moveTo>
                    <a:cubicBezTo>
                      <a:pt x="45522" y="81147"/>
                      <a:pt x="91044" y="162295"/>
                      <a:pt x="95002" y="249381"/>
                    </a:cubicBezTo>
                    <a:cubicBezTo>
                      <a:pt x="98960" y="336467"/>
                      <a:pt x="61355" y="429490"/>
                      <a:pt x="23750" y="522514"/>
                    </a:cubicBez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cxnSp>
          <p:nvCxnSpPr>
            <p:cNvPr id="28" name="Straight Arrow Connector 27"/>
            <p:cNvCxnSpPr/>
            <p:nvPr/>
          </p:nvCxnSpPr>
          <p:spPr>
            <a:xfrm rot="5400000" flipH="1" flipV="1">
              <a:off x="1809750" y="2305050"/>
              <a:ext cx="34290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5400000" flipH="1" flipV="1">
              <a:off x="2228056" y="2304256"/>
              <a:ext cx="34290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5400000" flipH="1" flipV="1">
              <a:off x="2570956" y="2304256"/>
              <a:ext cx="34290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rot="5400000" flipH="1" flipV="1">
              <a:off x="2990056" y="2304256"/>
              <a:ext cx="34290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1828800" y="2400300"/>
              <a:ext cx="312906" cy="369332"/>
            </a:xfrm>
            <a:prstGeom prst="rect">
              <a:avLst/>
            </a:prstGeom>
            <a:noFill/>
          </p:spPr>
          <p:txBody>
            <a:bodyPr wrap="square" rtlCol="0">
              <a:spAutoFit/>
            </a:bodyPr>
            <a:lstStyle/>
            <a:p>
              <a:r>
                <a:rPr lang="en-US" dirty="0"/>
                <a:t>a</a:t>
              </a:r>
            </a:p>
          </p:txBody>
        </p:sp>
        <p:sp>
          <p:nvSpPr>
            <p:cNvPr id="33" name="TextBox 32"/>
            <p:cNvSpPr txBox="1"/>
            <p:nvPr/>
          </p:nvSpPr>
          <p:spPr>
            <a:xfrm>
              <a:off x="2247900" y="2400300"/>
              <a:ext cx="312906" cy="369332"/>
            </a:xfrm>
            <a:prstGeom prst="rect">
              <a:avLst/>
            </a:prstGeom>
            <a:noFill/>
          </p:spPr>
          <p:txBody>
            <a:bodyPr wrap="square" rtlCol="0">
              <a:spAutoFit/>
            </a:bodyPr>
            <a:lstStyle/>
            <a:p>
              <a:r>
                <a:rPr lang="en-US" dirty="0"/>
                <a:t>b</a:t>
              </a:r>
            </a:p>
          </p:txBody>
        </p:sp>
        <p:sp>
          <p:nvSpPr>
            <p:cNvPr id="34" name="TextBox 33"/>
            <p:cNvSpPr txBox="1"/>
            <p:nvPr/>
          </p:nvSpPr>
          <p:spPr>
            <a:xfrm>
              <a:off x="2582694" y="2400300"/>
              <a:ext cx="312906" cy="369332"/>
            </a:xfrm>
            <a:prstGeom prst="rect">
              <a:avLst/>
            </a:prstGeom>
            <a:noFill/>
          </p:spPr>
          <p:txBody>
            <a:bodyPr wrap="square" rtlCol="0">
              <a:spAutoFit/>
            </a:bodyPr>
            <a:lstStyle/>
            <a:p>
              <a:r>
                <a:rPr lang="en-US" dirty="0"/>
                <a:t>c</a:t>
              </a:r>
            </a:p>
          </p:txBody>
        </p:sp>
        <p:sp>
          <p:nvSpPr>
            <p:cNvPr id="35" name="TextBox 34"/>
            <p:cNvSpPr txBox="1"/>
            <p:nvPr/>
          </p:nvSpPr>
          <p:spPr>
            <a:xfrm>
              <a:off x="2933700" y="2400300"/>
              <a:ext cx="1532106" cy="369332"/>
            </a:xfrm>
            <a:prstGeom prst="rect">
              <a:avLst/>
            </a:prstGeom>
            <a:noFill/>
          </p:spPr>
          <p:txBody>
            <a:bodyPr wrap="square" rtlCol="0">
              <a:spAutoFit/>
            </a:bodyPr>
            <a:lstStyle/>
            <a:p>
              <a:r>
                <a:rPr lang="en-US" dirty="0"/>
                <a:t>% tolerance</a:t>
              </a:r>
            </a:p>
          </p:txBody>
        </p:sp>
      </p:grpSp>
      <p:sp>
        <p:nvSpPr>
          <p:cNvPr id="37" name="TextBox 36"/>
          <p:cNvSpPr txBox="1"/>
          <p:nvPr/>
        </p:nvSpPr>
        <p:spPr>
          <a:xfrm>
            <a:off x="723900" y="800100"/>
            <a:ext cx="1544012" cy="369332"/>
          </a:xfrm>
          <a:prstGeom prst="rect">
            <a:avLst/>
          </a:prstGeom>
          <a:noFill/>
        </p:spPr>
        <p:txBody>
          <a:bodyPr wrap="none" rtlCol="0">
            <a:spAutoFit/>
          </a:bodyPr>
          <a:lstStyle/>
          <a:p>
            <a:r>
              <a:rPr lang="en-US" dirty="0"/>
              <a:t>4-band-code:</a:t>
            </a:r>
            <a:endParaRPr lang="tr-TR" dirty="0"/>
          </a:p>
        </p:txBody>
      </p:sp>
      <p:pic>
        <p:nvPicPr>
          <p:cNvPr id="38" name="Picture 2" descr="04_00-01COPP"/>
          <p:cNvPicPr>
            <a:picLocks noChangeAspect="1" noChangeArrowheads="1"/>
          </p:cNvPicPr>
          <p:nvPr/>
        </p:nvPicPr>
        <p:blipFill>
          <a:blip r:embed="rId4" cstate="print"/>
          <a:srcRect/>
          <a:stretch>
            <a:fillRect/>
          </a:stretch>
        </p:blipFill>
        <p:spPr bwMode="auto">
          <a:xfrm>
            <a:off x="5334000" y="609600"/>
            <a:ext cx="2999860" cy="2511925"/>
          </a:xfrm>
          <a:prstGeom prst="rect">
            <a:avLst/>
          </a:prstGeom>
          <a:noFill/>
          <a:ln w="9525">
            <a:noFill/>
            <a:miter lim="800000"/>
            <a:headEnd/>
            <a:tailEnd/>
          </a:ln>
          <a:effectLst/>
        </p:spPr>
      </p:pic>
    </p:spTree>
    <p:extLst>
      <p:ext uri="{BB962C8B-B14F-4D97-AF65-F5344CB8AC3E}">
        <p14:creationId xmlns:p14="http://schemas.microsoft.com/office/powerpoint/2010/main" val="96547669"/>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52400" y="76200"/>
            <a:ext cx="8229600" cy="563563"/>
          </a:xfrm>
        </p:spPr>
        <p:txBody>
          <a:bodyPr/>
          <a:lstStyle/>
          <a:p>
            <a:r>
              <a:rPr lang="en-US" sz="3200" dirty="0"/>
              <a:t>Color Code For Carbon Resistors</a:t>
            </a:r>
          </a:p>
        </p:txBody>
      </p:sp>
      <p:sp>
        <p:nvSpPr>
          <p:cNvPr id="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6667500" y="6454776"/>
            <a:ext cx="2438400" cy="365125"/>
          </a:xfrm>
        </p:spPr>
        <p:txBody>
          <a:bodyPr/>
          <a:lstStyle/>
          <a:p>
            <a:pPr>
              <a:defRPr/>
            </a:pPr>
            <a:fld id="{A957CEED-90C7-4FD0-AB8C-14085BB9151E}" type="slidenum">
              <a:rPr lang="en-US" smtClean="0"/>
              <a:pPr>
                <a:defRPr/>
              </a:pPr>
              <a:t>31</a:t>
            </a:fld>
            <a:endParaRPr lang="en-US" dirty="0"/>
          </a:p>
        </p:txBody>
      </p:sp>
      <p:pic>
        <p:nvPicPr>
          <p:cNvPr id="330755" name="Picture 3"/>
          <p:cNvPicPr>
            <a:picLocks noChangeAspect="1" noChangeArrowheads="1"/>
          </p:cNvPicPr>
          <p:nvPr/>
        </p:nvPicPr>
        <p:blipFill>
          <a:blip r:embed="rId2" cstate="print"/>
          <a:srcRect/>
          <a:stretch>
            <a:fillRect/>
          </a:stretch>
        </p:blipFill>
        <p:spPr bwMode="auto">
          <a:xfrm>
            <a:off x="1219200" y="762000"/>
            <a:ext cx="6629400" cy="5603915"/>
          </a:xfrm>
          <a:prstGeom prst="rect">
            <a:avLst/>
          </a:prstGeom>
          <a:noFill/>
          <a:ln w="9525">
            <a:noFill/>
            <a:miter lim="800000"/>
            <a:headEnd/>
            <a:tailEnd/>
          </a:ln>
          <a:effectLst/>
        </p:spPr>
      </p:pic>
      <p:sp>
        <p:nvSpPr>
          <p:cNvPr id="37" name="Rectangle 36"/>
          <p:cNvSpPr/>
          <p:nvPr/>
        </p:nvSpPr>
        <p:spPr>
          <a:xfrm>
            <a:off x="5334000" y="5753100"/>
            <a:ext cx="3048000" cy="76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aphicFrame>
        <p:nvGraphicFramePr>
          <p:cNvPr id="7" name="Object 6"/>
          <p:cNvGraphicFramePr>
            <a:graphicFrameLocks noChangeAspect="1"/>
          </p:cNvGraphicFramePr>
          <p:nvPr>
            <p:extLst>
              <p:ext uri="{D42A27DB-BD31-4B8C-83A1-F6EECF244321}">
                <p14:modId xmlns:p14="http://schemas.microsoft.com/office/powerpoint/2010/main" val="4162546149"/>
              </p:ext>
            </p:extLst>
          </p:nvPr>
        </p:nvGraphicFramePr>
        <p:xfrm>
          <a:off x="5572640" y="635040"/>
          <a:ext cx="3533260" cy="376974"/>
        </p:xfrm>
        <a:graphic>
          <a:graphicData uri="http://schemas.openxmlformats.org/presentationml/2006/ole">
            <mc:AlternateContent xmlns:mc="http://schemas.openxmlformats.org/markup-compatibility/2006">
              <mc:Choice xmlns:v="urn:schemas-microsoft-com:vml" Requires="v">
                <p:oleObj name="Equation" r:id="rId3" imgW="1638000" imgH="215640" progId="Equation.3">
                  <p:embed/>
                </p:oleObj>
              </mc:Choice>
              <mc:Fallback>
                <p:oleObj name="Equation" r:id="rId3" imgW="163800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2640" y="635040"/>
                        <a:ext cx="3533260" cy="376974"/>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2" name="TextBox 1"/>
              <p:cNvSpPr txBox="1"/>
              <p:nvPr/>
            </p:nvSpPr>
            <p:spPr>
              <a:xfrm>
                <a:off x="4705795" y="5974326"/>
                <a:ext cx="4304410" cy="2819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m:t>
                      </m:r>
                      <m:r>
                        <a:rPr lang="en-US"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100</m:t>
                          </m:r>
                          <m:r>
                            <a:rPr lang="en-US" b="0" i="1" smtClean="0">
                              <a:latin typeface="Cambria Math" panose="02040503050406030204" pitchFamily="18" charset="0"/>
                            </a:rPr>
                            <m:t>𝑎</m:t>
                          </m:r>
                          <m:r>
                            <a:rPr lang="en-US" b="0" i="1" smtClean="0">
                              <a:latin typeface="Cambria Math" panose="02040503050406030204" pitchFamily="18" charset="0"/>
                            </a:rPr>
                            <m:t>+10</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𝑐</m:t>
                          </m:r>
                        </m:e>
                      </m:d>
                      <m:r>
                        <a:rPr lang="en-US" i="1">
                          <a:latin typeface="Cambria Math" panose="02040503050406030204" pitchFamily="18" charset="0"/>
                          <a:ea typeface="Cambria Math" panose="02040503050406030204" pitchFamily="18" charset="0"/>
                        </a:rPr>
                        <m:t>∙</m:t>
                      </m:r>
                      <m:sSup>
                        <m:sSupPr>
                          <m:ctrlPr>
                            <a:rPr lang="en-US"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𝑑</m:t>
                          </m:r>
                        </m:sup>
                      </m:s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𝑡𝑜𝑙𝑒𝑟𝑎𝑛𝑐𝑒</m:t>
                      </m:r>
                    </m:oMath>
                  </m:oMathPara>
                </a14:m>
                <a:endParaRPr 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4705795" y="5974326"/>
                <a:ext cx="4304410" cy="281937"/>
              </a:xfrm>
              <a:prstGeom prst="rect">
                <a:avLst/>
              </a:prstGeom>
              <a:blipFill rotWithShape="0">
                <a:blip r:embed="rId6"/>
                <a:stretch>
                  <a:fillRect l="-708" t="-2174" r="-992" b="-19565"/>
                </a:stretch>
              </a:blipFill>
            </p:spPr>
            <p:txBody>
              <a:bodyPr/>
              <a:lstStyle/>
              <a:p>
                <a:r>
                  <a:rPr lang="en-US">
                    <a:noFill/>
                  </a:rPr>
                  <a:t> </a:t>
                </a:r>
              </a:p>
            </p:txBody>
          </p:sp>
        </mc:Fallback>
      </mc:AlternateContent>
    </p:spTree>
    <p:extLst>
      <p:ext uri="{BB962C8B-B14F-4D97-AF65-F5344CB8AC3E}">
        <p14:creationId xmlns:p14="http://schemas.microsoft.com/office/powerpoint/2010/main" val="446869021"/>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76200"/>
            <a:ext cx="8229600" cy="563563"/>
          </a:xfrm>
        </p:spPr>
        <p:txBody>
          <a:bodyPr/>
          <a:lstStyle/>
          <a:p>
            <a:r>
              <a:rPr lang="en-US" sz="3200" dirty="0"/>
              <a:t>More on Measurement Devices</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32</a:t>
            </a:fld>
            <a:endParaRPr lang="en-US" dirty="0"/>
          </a:p>
        </p:txBody>
      </p:sp>
      <p:sp>
        <p:nvSpPr>
          <p:cNvPr id="18" name="TextBox 17"/>
          <p:cNvSpPr txBox="1"/>
          <p:nvPr/>
        </p:nvSpPr>
        <p:spPr>
          <a:xfrm>
            <a:off x="381000" y="685800"/>
            <a:ext cx="8382000" cy="3770263"/>
          </a:xfrm>
          <a:prstGeom prst="rect">
            <a:avLst/>
          </a:prstGeom>
          <a:noFill/>
        </p:spPr>
        <p:txBody>
          <a:bodyPr wrap="square" rtlCol="0">
            <a:spAutoFit/>
          </a:bodyPr>
          <a:lstStyle/>
          <a:p>
            <a:pPr algn="just"/>
            <a:r>
              <a:rPr lang="en-US" u="sng" dirty="0"/>
              <a:t>Readout in Analog Meters (</a:t>
            </a:r>
            <a:r>
              <a:rPr lang="en-US" u="sng" dirty="0" err="1"/>
              <a:t>d’Arsonval</a:t>
            </a:r>
            <a:r>
              <a:rPr lang="en-US" u="sng" dirty="0"/>
              <a:t> meter)</a:t>
            </a:r>
            <a:r>
              <a:rPr lang="en-US" dirty="0"/>
              <a:t>: Current in coil creates torque under the magnetic field, causing it to rotate together with an attached pointer across a calibrated scale. A sample commercial rating is 50mV at 1mA. This means when the coil carries 1mA, it is deflected to full scale position and has a voltage drop of 50mV.</a:t>
            </a:r>
          </a:p>
          <a:p>
            <a:pPr algn="just"/>
            <a:endParaRPr lang="tr-TR" u="sng" dirty="0"/>
          </a:p>
          <a:p>
            <a:pPr algn="just"/>
            <a:endParaRPr lang="tr-TR" u="sng" dirty="0"/>
          </a:p>
          <a:p>
            <a:pPr algn="just"/>
            <a:endParaRPr lang="tr-TR" u="sng" dirty="0"/>
          </a:p>
          <a:p>
            <a:pPr algn="just"/>
            <a:endParaRPr lang="tr-TR" u="sng" dirty="0"/>
          </a:p>
          <a:p>
            <a:pPr algn="just"/>
            <a:endParaRPr lang="tr-TR" u="sng" dirty="0"/>
          </a:p>
          <a:p>
            <a:pPr algn="just"/>
            <a:endParaRPr lang="tr-TR" u="sng" dirty="0"/>
          </a:p>
          <a:p>
            <a:pPr algn="just"/>
            <a:endParaRPr lang="tr-TR" u="sng" dirty="0"/>
          </a:p>
          <a:p>
            <a:pPr algn="just"/>
            <a:endParaRPr lang="tr-TR" u="sng" dirty="0"/>
          </a:p>
          <a:p>
            <a:pPr algn="just"/>
            <a:endParaRPr lang="tr-TR" sz="500" u="sng" dirty="0"/>
          </a:p>
        </p:txBody>
      </p:sp>
      <p:pic>
        <p:nvPicPr>
          <p:cNvPr id="6" name="Picture 2" descr="03_23"/>
          <p:cNvPicPr>
            <a:picLocks noChangeAspect="1" noChangeArrowheads="1"/>
          </p:cNvPicPr>
          <p:nvPr/>
        </p:nvPicPr>
        <p:blipFill>
          <a:blip r:embed="rId3" cstate="print"/>
          <a:srcRect/>
          <a:stretch>
            <a:fillRect/>
          </a:stretch>
        </p:blipFill>
        <p:spPr bwMode="auto">
          <a:xfrm>
            <a:off x="2229295" y="2046420"/>
            <a:ext cx="2573135" cy="2226091"/>
          </a:xfrm>
          <a:prstGeom prst="rect">
            <a:avLst/>
          </a:prstGeom>
          <a:noFill/>
          <a:ln w="9525">
            <a:noFill/>
            <a:miter lim="800000"/>
            <a:headEnd/>
            <a:tailEnd/>
          </a:ln>
          <a:effectLst/>
        </p:spPr>
      </p:pic>
      <p:pic>
        <p:nvPicPr>
          <p:cNvPr id="377858" name="Picture 2" descr="1 mA d'arsonval ammeter ile ilgili gÃ¶rsel sonuc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5850" y="2123231"/>
            <a:ext cx="2060314" cy="1843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1275673"/>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76200"/>
            <a:ext cx="8229600" cy="563563"/>
          </a:xfrm>
        </p:spPr>
        <p:txBody>
          <a:bodyPr/>
          <a:lstStyle/>
          <a:p>
            <a:r>
              <a:rPr lang="en-US" sz="3200" dirty="0"/>
              <a:t>More on Measurement Devices</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33</a:t>
            </a:fld>
            <a:endParaRPr lang="en-US" dirty="0"/>
          </a:p>
        </p:txBody>
      </p:sp>
      <p:sp>
        <p:nvSpPr>
          <p:cNvPr id="18" name="TextBox 17"/>
          <p:cNvSpPr txBox="1"/>
          <p:nvPr/>
        </p:nvSpPr>
        <p:spPr>
          <a:xfrm>
            <a:off x="381000" y="685800"/>
            <a:ext cx="8382000" cy="4878259"/>
          </a:xfrm>
          <a:prstGeom prst="rect">
            <a:avLst/>
          </a:prstGeom>
          <a:noFill/>
        </p:spPr>
        <p:txBody>
          <a:bodyPr wrap="square" rtlCol="0">
            <a:spAutoFit/>
          </a:bodyPr>
          <a:lstStyle/>
          <a:p>
            <a:pPr algn="just"/>
            <a:r>
              <a:rPr lang="en-US" u="sng" dirty="0"/>
              <a:t>Readout in Analog Meters (</a:t>
            </a:r>
            <a:r>
              <a:rPr lang="en-US" u="sng" dirty="0" err="1"/>
              <a:t>d’Arsonval</a:t>
            </a:r>
            <a:r>
              <a:rPr lang="en-US" u="sng" dirty="0"/>
              <a:t> meter)</a:t>
            </a:r>
            <a:r>
              <a:rPr lang="en-US" dirty="0"/>
              <a:t>: Current in coil creates torque under the magnetic field, causing it to rotate together with an attached pointer across a calibrated scale. A sample commercial rating is 50mV at 1mA. This means when the coil carries 1mA, it is deflected to full scale position and has a voltage drop of 50mV.</a:t>
            </a:r>
          </a:p>
          <a:p>
            <a:pPr algn="just"/>
            <a:endParaRPr lang="tr-TR" u="sng" dirty="0"/>
          </a:p>
          <a:p>
            <a:pPr algn="just"/>
            <a:endParaRPr lang="tr-TR" u="sng" dirty="0"/>
          </a:p>
          <a:p>
            <a:pPr algn="just"/>
            <a:endParaRPr lang="tr-TR" u="sng" dirty="0"/>
          </a:p>
          <a:p>
            <a:pPr algn="just"/>
            <a:endParaRPr lang="tr-TR" u="sng" dirty="0"/>
          </a:p>
          <a:p>
            <a:pPr algn="just"/>
            <a:endParaRPr lang="tr-TR" u="sng" dirty="0"/>
          </a:p>
          <a:p>
            <a:pPr algn="just"/>
            <a:endParaRPr lang="tr-TR" u="sng" dirty="0"/>
          </a:p>
          <a:p>
            <a:pPr algn="just"/>
            <a:endParaRPr lang="tr-TR" u="sng" dirty="0"/>
          </a:p>
          <a:p>
            <a:pPr algn="just"/>
            <a:endParaRPr lang="tr-TR" u="sng" dirty="0"/>
          </a:p>
          <a:p>
            <a:pPr algn="just"/>
            <a:endParaRPr lang="tr-TR" sz="500" u="sng" dirty="0"/>
          </a:p>
          <a:p>
            <a:pPr algn="just"/>
            <a:r>
              <a:rPr lang="en-US" u="sng" dirty="0"/>
              <a:t>Digital Meters</a:t>
            </a:r>
            <a:r>
              <a:rPr lang="en-US" dirty="0"/>
              <a:t>: Measure analog signals at discrete points in time (sampling) and convert to digital form. They in general have less resistance than the analog meters, are easier to connect, and have higher precision due to the readout mechanism (what we have in the lab).</a:t>
            </a:r>
          </a:p>
        </p:txBody>
      </p:sp>
      <p:pic>
        <p:nvPicPr>
          <p:cNvPr id="6" name="Picture 2" descr="03_23"/>
          <p:cNvPicPr>
            <a:picLocks noChangeAspect="1" noChangeArrowheads="1"/>
          </p:cNvPicPr>
          <p:nvPr/>
        </p:nvPicPr>
        <p:blipFill>
          <a:blip r:embed="rId3" cstate="print"/>
          <a:srcRect/>
          <a:stretch>
            <a:fillRect/>
          </a:stretch>
        </p:blipFill>
        <p:spPr bwMode="auto">
          <a:xfrm>
            <a:off x="2229295" y="2046420"/>
            <a:ext cx="2573135" cy="2226091"/>
          </a:xfrm>
          <a:prstGeom prst="rect">
            <a:avLst/>
          </a:prstGeom>
          <a:noFill/>
          <a:ln w="9525">
            <a:noFill/>
            <a:miter lim="800000"/>
            <a:headEnd/>
            <a:tailEnd/>
          </a:ln>
          <a:effectLst/>
        </p:spPr>
      </p:pic>
      <p:pic>
        <p:nvPicPr>
          <p:cNvPr id="377858" name="Picture 2" descr="1 mA d'arsonval ammeter ile ilgili gÃ¶rsel sonuc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5850" y="2123231"/>
            <a:ext cx="2060314" cy="184344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DMM Coloured"/>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86480" y="5224277"/>
            <a:ext cx="2440230" cy="1592505"/>
          </a:xfrm>
          <a:prstGeom prst="rect">
            <a:avLst/>
          </a:prstGeom>
          <a:noFill/>
          <a:ln>
            <a:noFill/>
          </a:ln>
        </p:spPr>
      </p:pic>
    </p:spTree>
    <p:extLst>
      <p:ext uri="{BB962C8B-B14F-4D97-AF65-F5344CB8AC3E}">
        <p14:creationId xmlns:p14="http://schemas.microsoft.com/office/powerpoint/2010/main" val="2954458505"/>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76200"/>
            <a:ext cx="8229600" cy="762000"/>
          </a:xfrm>
        </p:spPr>
        <p:txBody>
          <a:bodyPr/>
          <a:lstStyle/>
          <a:p>
            <a:r>
              <a:rPr lang="en-US" sz="3200" dirty="0"/>
              <a:t>Resistance Measurement </a:t>
            </a:r>
            <a:br>
              <a:rPr lang="en-US" sz="3200" dirty="0"/>
            </a:br>
            <a:r>
              <a:rPr lang="en-US" sz="3200" dirty="0"/>
              <a:t>through Wheatstone Bridge</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34</a:t>
            </a:fld>
            <a:endParaRPr lang="en-US" dirty="0"/>
          </a:p>
        </p:txBody>
      </p:sp>
      <p:pic>
        <p:nvPicPr>
          <p:cNvPr id="7" name="Picture 2" descr="03_27"/>
          <p:cNvPicPr>
            <a:picLocks noChangeAspect="1" noChangeArrowheads="1"/>
          </p:cNvPicPr>
          <p:nvPr/>
        </p:nvPicPr>
        <p:blipFill>
          <a:blip r:embed="rId3" cstate="print"/>
          <a:srcRect/>
          <a:stretch>
            <a:fillRect/>
          </a:stretch>
        </p:blipFill>
        <p:spPr bwMode="auto">
          <a:xfrm>
            <a:off x="381000" y="1181100"/>
            <a:ext cx="3502530" cy="2171700"/>
          </a:xfrm>
          <a:prstGeom prst="rect">
            <a:avLst/>
          </a:prstGeom>
          <a:noFill/>
          <a:ln w="9525">
            <a:noFill/>
            <a:miter lim="800000"/>
            <a:headEnd/>
            <a:tailEnd/>
          </a:ln>
          <a:effectLst/>
        </p:spPr>
      </p:pic>
      <p:sp>
        <p:nvSpPr>
          <p:cNvPr id="17" name="Freeform 16"/>
          <p:cNvSpPr/>
          <p:nvPr/>
        </p:nvSpPr>
        <p:spPr>
          <a:xfrm>
            <a:off x="3238500" y="2857500"/>
            <a:ext cx="320202" cy="441798"/>
          </a:xfrm>
          <a:custGeom>
            <a:avLst/>
            <a:gdLst>
              <a:gd name="connsiteX0" fmla="*/ 0 w 290208"/>
              <a:gd name="connsiteY0" fmla="*/ 0 h 332362"/>
              <a:gd name="connsiteX1" fmla="*/ 116732 w 290208"/>
              <a:gd name="connsiteY1" fmla="*/ 165370 h 332362"/>
              <a:gd name="connsiteX2" fmla="*/ 107004 w 290208"/>
              <a:gd name="connsiteY2" fmla="*/ 48638 h 332362"/>
              <a:gd name="connsiteX3" fmla="*/ 262646 w 290208"/>
              <a:gd name="connsiteY3" fmla="*/ 291830 h 332362"/>
              <a:gd name="connsiteX4" fmla="*/ 272374 w 290208"/>
              <a:gd name="connsiteY4" fmla="*/ 291830 h 332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208" h="332362">
                <a:moveTo>
                  <a:pt x="0" y="0"/>
                </a:moveTo>
                <a:cubicBezTo>
                  <a:pt x="49449" y="78632"/>
                  <a:pt x="98898" y="157264"/>
                  <a:pt x="116732" y="165370"/>
                </a:cubicBezTo>
                <a:cubicBezTo>
                  <a:pt x="134566" y="173476"/>
                  <a:pt x="82685" y="27561"/>
                  <a:pt x="107004" y="48638"/>
                </a:cubicBezTo>
                <a:cubicBezTo>
                  <a:pt x="131323" y="69715"/>
                  <a:pt x="235084" y="251298"/>
                  <a:pt x="262646" y="291830"/>
                </a:cubicBezTo>
                <a:cubicBezTo>
                  <a:pt x="290208" y="332362"/>
                  <a:pt x="281291" y="312096"/>
                  <a:pt x="272374" y="291830"/>
                </a:cubicBezTo>
              </a:path>
            </a:pathLst>
          </a:cu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19" name="TextBox 18"/>
          <p:cNvSpPr txBox="1"/>
          <p:nvPr/>
        </p:nvSpPr>
        <p:spPr>
          <a:xfrm>
            <a:off x="3171055" y="3200400"/>
            <a:ext cx="867545" cy="461665"/>
          </a:xfrm>
          <a:prstGeom prst="rect">
            <a:avLst/>
          </a:prstGeom>
          <a:noFill/>
        </p:spPr>
        <p:txBody>
          <a:bodyPr wrap="none" rtlCol="0">
            <a:spAutoFit/>
          </a:bodyPr>
          <a:lstStyle/>
          <a:p>
            <a:r>
              <a:rPr lang="en-US" sz="1200" dirty="0"/>
              <a:t>Resistor </a:t>
            </a:r>
          </a:p>
          <a:p>
            <a:r>
              <a:rPr lang="en-US" sz="1200" dirty="0"/>
              <a:t>under test</a:t>
            </a:r>
            <a:endParaRPr lang="tr-TR" sz="1200" dirty="0"/>
          </a:p>
        </p:txBody>
      </p:sp>
      <p:cxnSp>
        <p:nvCxnSpPr>
          <p:cNvPr id="24" name="Straight Arrow Connector 23"/>
          <p:cNvCxnSpPr/>
          <p:nvPr/>
        </p:nvCxnSpPr>
        <p:spPr>
          <a:xfrm rot="16200000" flipV="1">
            <a:off x="2134394" y="2515394"/>
            <a:ext cx="380206" cy="7540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536170"/>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76200"/>
            <a:ext cx="8229600" cy="762000"/>
          </a:xfrm>
        </p:spPr>
        <p:txBody>
          <a:bodyPr/>
          <a:lstStyle/>
          <a:p>
            <a:r>
              <a:rPr lang="en-US" sz="3200" dirty="0"/>
              <a:t>Resistance Measurement </a:t>
            </a:r>
            <a:br>
              <a:rPr lang="en-US" sz="3200" dirty="0"/>
            </a:br>
            <a:r>
              <a:rPr lang="en-US" sz="3200" dirty="0"/>
              <a:t>through Wheatstone Bridge</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35</a:t>
            </a:fld>
            <a:endParaRPr lang="en-US" dirty="0"/>
          </a:p>
        </p:txBody>
      </p:sp>
      <p:sp>
        <p:nvSpPr>
          <p:cNvPr id="18" name="TextBox 17"/>
          <p:cNvSpPr txBox="1"/>
          <p:nvPr/>
        </p:nvSpPr>
        <p:spPr>
          <a:xfrm>
            <a:off x="4191000" y="1181100"/>
            <a:ext cx="4381500" cy="646331"/>
          </a:xfrm>
          <a:prstGeom prst="rect">
            <a:avLst/>
          </a:prstGeom>
          <a:noFill/>
        </p:spPr>
        <p:txBody>
          <a:bodyPr wrap="square" rtlCol="0">
            <a:spAutoFit/>
          </a:bodyPr>
          <a:lstStyle/>
          <a:p>
            <a:pPr algn="just"/>
            <a:r>
              <a:rPr lang="en-US" dirty="0"/>
              <a:t>Adjust R</a:t>
            </a:r>
            <a:r>
              <a:rPr lang="en-US" baseline="-25000" dirty="0"/>
              <a:t>3</a:t>
            </a:r>
            <a:r>
              <a:rPr lang="en-US" dirty="0"/>
              <a:t> until </a:t>
            </a:r>
            <a:r>
              <a:rPr lang="en-US" dirty="0" err="1"/>
              <a:t>i</a:t>
            </a:r>
            <a:r>
              <a:rPr lang="en-US" baseline="-25000" dirty="0" err="1"/>
              <a:t>g</a:t>
            </a:r>
            <a:r>
              <a:rPr lang="en-US" dirty="0"/>
              <a:t>=0 as measured by the galvanometer (ammeter) in the center.</a:t>
            </a:r>
          </a:p>
        </p:txBody>
      </p:sp>
      <p:pic>
        <p:nvPicPr>
          <p:cNvPr id="7" name="Picture 2" descr="03_27"/>
          <p:cNvPicPr>
            <a:picLocks noChangeAspect="1" noChangeArrowheads="1"/>
          </p:cNvPicPr>
          <p:nvPr/>
        </p:nvPicPr>
        <p:blipFill>
          <a:blip r:embed="rId3" cstate="print"/>
          <a:srcRect/>
          <a:stretch>
            <a:fillRect/>
          </a:stretch>
        </p:blipFill>
        <p:spPr bwMode="auto">
          <a:xfrm>
            <a:off x="381000" y="1181100"/>
            <a:ext cx="3502530" cy="2171700"/>
          </a:xfrm>
          <a:prstGeom prst="rect">
            <a:avLst/>
          </a:prstGeom>
          <a:noFill/>
          <a:ln w="9525">
            <a:noFill/>
            <a:miter lim="800000"/>
            <a:headEnd/>
            <a:tailEnd/>
          </a:ln>
          <a:effectLst/>
        </p:spPr>
      </p:pic>
      <p:sp>
        <p:nvSpPr>
          <p:cNvPr id="8" name="TextBox 7"/>
          <p:cNvSpPr txBox="1"/>
          <p:nvPr/>
        </p:nvSpPr>
        <p:spPr>
          <a:xfrm>
            <a:off x="4305300" y="1828800"/>
            <a:ext cx="697627" cy="369332"/>
          </a:xfrm>
          <a:prstGeom prst="rect">
            <a:avLst/>
          </a:prstGeom>
          <a:noFill/>
        </p:spPr>
        <p:txBody>
          <a:bodyPr wrap="none" rtlCol="0">
            <a:spAutoFit/>
          </a:bodyPr>
          <a:lstStyle/>
          <a:p>
            <a:r>
              <a:rPr lang="en-US" dirty="0"/>
              <a:t>KCL:</a:t>
            </a:r>
            <a:endParaRPr lang="tr-TR" dirty="0"/>
          </a:p>
        </p:txBody>
      </p:sp>
      <p:graphicFrame>
        <p:nvGraphicFramePr>
          <p:cNvPr id="9" name="Object 8"/>
          <p:cNvGraphicFramePr>
            <a:graphicFrameLocks noChangeAspect="1"/>
          </p:cNvGraphicFramePr>
          <p:nvPr/>
        </p:nvGraphicFramePr>
        <p:xfrm>
          <a:off x="5105400" y="1828800"/>
          <a:ext cx="1250950" cy="772432"/>
        </p:xfrm>
        <a:graphic>
          <a:graphicData uri="http://schemas.openxmlformats.org/presentationml/2006/ole">
            <mc:AlternateContent xmlns:mc="http://schemas.openxmlformats.org/markup-compatibility/2006">
              <mc:Choice xmlns:v="urn:schemas-microsoft-com:vml" Requires="v">
                <p:oleObj name="Equation" r:id="rId4" imgW="711000" imgH="457200" progId="Equation.3">
                  <p:embed/>
                </p:oleObj>
              </mc:Choice>
              <mc:Fallback>
                <p:oleObj name="Equation" r:id="rId4" imgW="711000" imgH="457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5400" y="1828800"/>
                        <a:ext cx="1250950" cy="7724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7139" name="Object 3"/>
          <p:cNvGraphicFramePr>
            <a:graphicFrameLocks noChangeAspect="1"/>
          </p:cNvGraphicFramePr>
          <p:nvPr/>
        </p:nvGraphicFramePr>
        <p:xfrm>
          <a:off x="5105399" y="2971800"/>
          <a:ext cx="1804737" cy="762001"/>
        </p:xfrm>
        <a:graphic>
          <a:graphicData uri="http://schemas.openxmlformats.org/presentationml/2006/ole">
            <mc:AlternateContent xmlns:mc="http://schemas.openxmlformats.org/markup-compatibility/2006">
              <mc:Choice xmlns:v="urn:schemas-microsoft-com:vml" Requires="v">
                <p:oleObj name="Equation" r:id="rId6" imgW="990360" imgH="457200" progId="Equation.3">
                  <p:embed/>
                </p:oleObj>
              </mc:Choice>
              <mc:Fallback>
                <p:oleObj name="Equation" r:id="rId6" imgW="990360" imgH="457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05399" y="2971800"/>
                        <a:ext cx="1804737" cy="7620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7140" name="Object 4"/>
          <p:cNvGraphicFramePr>
            <a:graphicFrameLocks noChangeAspect="1"/>
          </p:cNvGraphicFramePr>
          <p:nvPr/>
        </p:nvGraphicFramePr>
        <p:xfrm>
          <a:off x="4343400" y="2628900"/>
          <a:ext cx="3880184" cy="342900"/>
        </p:xfrm>
        <a:graphic>
          <a:graphicData uri="http://schemas.openxmlformats.org/presentationml/2006/ole">
            <mc:AlternateContent xmlns:mc="http://schemas.openxmlformats.org/markup-compatibility/2006">
              <mc:Choice xmlns:v="urn:schemas-microsoft-com:vml" Requires="v">
                <p:oleObj name="Equation" r:id="rId8" imgW="2730240" imgH="241200" progId="Equation.3">
                  <p:embed/>
                </p:oleObj>
              </mc:Choice>
              <mc:Fallback>
                <p:oleObj name="Equation" r:id="rId8" imgW="2730240" imgH="241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43400" y="2628900"/>
                        <a:ext cx="3880184"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TextBox 12"/>
          <p:cNvSpPr txBox="1"/>
          <p:nvPr/>
        </p:nvSpPr>
        <p:spPr>
          <a:xfrm>
            <a:off x="4305300" y="2971800"/>
            <a:ext cx="684803" cy="369332"/>
          </a:xfrm>
          <a:prstGeom prst="rect">
            <a:avLst/>
          </a:prstGeom>
          <a:noFill/>
        </p:spPr>
        <p:txBody>
          <a:bodyPr wrap="none" rtlCol="0">
            <a:spAutoFit/>
          </a:bodyPr>
          <a:lstStyle/>
          <a:p>
            <a:r>
              <a:rPr lang="en-US" dirty="0"/>
              <a:t>KVL:</a:t>
            </a:r>
            <a:endParaRPr lang="tr-TR" dirty="0"/>
          </a:p>
        </p:txBody>
      </p:sp>
      <p:sp>
        <p:nvSpPr>
          <p:cNvPr id="14" name="TextBox 13"/>
          <p:cNvSpPr txBox="1"/>
          <p:nvPr/>
        </p:nvSpPr>
        <p:spPr>
          <a:xfrm>
            <a:off x="533400" y="3810000"/>
            <a:ext cx="8381999" cy="2862322"/>
          </a:xfrm>
          <a:prstGeom prst="rect">
            <a:avLst/>
          </a:prstGeom>
          <a:noFill/>
        </p:spPr>
        <p:txBody>
          <a:bodyPr wrap="square" rtlCol="0">
            <a:spAutoFit/>
          </a:bodyPr>
          <a:lstStyle/>
          <a:p>
            <a:r>
              <a:rPr lang="en-US" dirty="0"/>
              <a:t>Substitute for </a:t>
            </a:r>
            <a:r>
              <a:rPr lang="en-US" i="1" dirty="0"/>
              <a:t>i</a:t>
            </a:r>
            <a:r>
              <a:rPr lang="en-US" i="1" baseline="-25000" dirty="0"/>
              <a:t>3</a:t>
            </a:r>
            <a:r>
              <a:rPr lang="en-US" dirty="0"/>
              <a:t> from (1) and </a:t>
            </a:r>
            <a:r>
              <a:rPr lang="en-US" i="1" dirty="0"/>
              <a:t>i</a:t>
            </a:r>
            <a:r>
              <a:rPr lang="en-US" i="1" baseline="-25000" dirty="0"/>
              <a:t>2</a:t>
            </a:r>
            <a:r>
              <a:rPr lang="en-US" dirty="0"/>
              <a:t> from (2) into (3) to get:</a:t>
            </a:r>
          </a:p>
          <a:p>
            <a:endParaRPr lang="en-US" dirty="0"/>
          </a:p>
          <a:p>
            <a:r>
              <a:rPr lang="en-US" dirty="0"/>
              <a:t>Divide (5) by (4):</a:t>
            </a:r>
          </a:p>
          <a:p>
            <a:endParaRPr lang="en-US" dirty="0"/>
          </a:p>
          <a:p>
            <a:endParaRPr lang="en-US" dirty="0"/>
          </a:p>
          <a:p>
            <a:r>
              <a:rPr lang="en-US" dirty="0"/>
              <a:t>Therefore, a wide range of </a:t>
            </a:r>
            <a:r>
              <a:rPr lang="en-US" i="1" dirty="0"/>
              <a:t>R</a:t>
            </a:r>
            <a:r>
              <a:rPr lang="en-US" i="1" baseline="-25000" dirty="0"/>
              <a:t>x</a:t>
            </a:r>
            <a:r>
              <a:rPr lang="en-US" dirty="0"/>
              <a:t> values can be measured by making </a:t>
            </a:r>
            <a:r>
              <a:rPr lang="en-US" i="1" dirty="0"/>
              <a:t>R</a:t>
            </a:r>
            <a:r>
              <a:rPr lang="en-US" i="1" baseline="-25000" dirty="0"/>
              <a:t>2</a:t>
            </a:r>
            <a:r>
              <a:rPr lang="en-US" i="1" dirty="0"/>
              <a:t>/R</a:t>
            </a:r>
            <a:r>
              <a:rPr lang="en-US" i="1" baseline="-25000" dirty="0"/>
              <a:t>1</a:t>
            </a:r>
            <a:r>
              <a:rPr lang="en-US" dirty="0"/>
              <a:t> coarsely adjustable and </a:t>
            </a:r>
            <a:r>
              <a:rPr lang="en-US" i="1" dirty="0"/>
              <a:t>R</a:t>
            </a:r>
            <a:r>
              <a:rPr lang="en-US" i="1" baseline="-25000" dirty="0"/>
              <a:t>3</a:t>
            </a:r>
            <a:r>
              <a:rPr lang="en-US" dirty="0"/>
              <a:t> finely adjustable.</a:t>
            </a:r>
          </a:p>
          <a:p>
            <a:r>
              <a:rPr lang="en-US" dirty="0"/>
              <a:t>	Normally </a:t>
            </a:r>
            <a:r>
              <a:rPr lang="en-US" i="1" dirty="0"/>
              <a:t>R</a:t>
            </a:r>
            <a:r>
              <a:rPr lang="en-US" i="1" baseline="-25000" dirty="0"/>
              <a:t>2</a:t>
            </a:r>
            <a:r>
              <a:rPr lang="en-US" i="1" dirty="0"/>
              <a:t>/R</a:t>
            </a:r>
            <a:r>
              <a:rPr lang="en-US" i="1" baseline="-25000" dirty="0"/>
              <a:t>1</a:t>
            </a:r>
            <a:r>
              <a:rPr lang="en-US" i="1" dirty="0"/>
              <a:t> </a:t>
            </a:r>
            <a:r>
              <a:rPr lang="en-US" dirty="0"/>
              <a:t>can be varied between 0.001 to 1000 with 10x steps.</a:t>
            </a:r>
          </a:p>
          <a:p>
            <a:r>
              <a:rPr lang="en-US" i="1" dirty="0"/>
              <a:t>	R</a:t>
            </a:r>
            <a:r>
              <a:rPr lang="en-US" i="1" baseline="-25000" dirty="0"/>
              <a:t>3</a:t>
            </a:r>
            <a:r>
              <a:rPr lang="en-US" dirty="0"/>
              <a:t> is adjustable between 1 </a:t>
            </a:r>
            <a:r>
              <a:rPr lang="el-GR" dirty="0"/>
              <a:t>Ω</a:t>
            </a:r>
            <a:r>
              <a:rPr lang="en-US" dirty="0"/>
              <a:t> to 11,000 </a:t>
            </a:r>
            <a:r>
              <a:rPr lang="el-GR" dirty="0"/>
              <a:t>Ω</a:t>
            </a:r>
            <a:r>
              <a:rPr lang="en-US" dirty="0"/>
              <a:t>.</a:t>
            </a:r>
          </a:p>
          <a:p>
            <a:endParaRPr lang="tr-TR" dirty="0"/>
          </a:p>
        </p:txBody>
      </p:sp>
      <p:graphicFrame>
        <p:nvGraphicFramePr>
          <p:cNvPr id="347142" name="Object 6"/>
          <p:cNvGraphicFramePr>
            <a:graphicFrameLocks noChangeAspect="1"/>
          </p:cNvGraphicFramePr>
          <p:nvPr/>
        </p:nvGraphicFramePr>
        <p:xfrm>
          <a:off x="6134100" y="3810000"/>
          <a:ext cx="1781175" cy="381000"/>
        </p:xfrm>
        <a:graphic>
          <a:graphicData uri="http://schemas.openxmlformats.org/presentationml/2006/ole">
            <mc:AlternateContent xmlns:mc="http://schemas.openxmlformats.org/markup-compatibility/2006">
              <mc:Choice xmlns:v="urn:schemas-microsoft-com:vml" Requires="v">
                <p:oleObj name="Equation" r:id="rId10" imgW="977760" imgH="228600" progId="Equation.3">
                  <p:embed/>
                </p:oleObj>
              </mc:Choice>
              <mc:Fallback>
                <p:oleObj name="Equation" r:id="rId10" imgW="977760" imgH="2286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34100" y="3810000"/>
                        <a:ext cx="178117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Freeform 16"/>
          <p:cNvSpPr/>
          <p:nvPr/>
        </p:nvSpPr>
        <p:spPr>
          <a:xfrm>
            <a:off x="3238500" y="2857500"/>
            <a:ext cx="320202" cy="441798"/>
          </a:xfrm>
          <a:custGeom>
            <a:avLst/>
            <a:gdLst>
              <a:gd name="connsiteX0" fmla="*/ 0 w 290208"/>
              <a:gd name="connsiteY0" fmla="*/ 0 h 332362"/>
              <a:gd name="connsiteX1" fmla="*/ 116732 w 290208"/>
              <a:gd name="connsiteY1" fmla="*/ 165370 h 332362"/>
              <a:gd name="connsiteX2" fmla="*/ 107004 w 290208"/>
              <a:gd name="connsiteY2" fmla="*/ 48638 h 332362"/>
              <a:gd name="connsiteX3" fmla="*/ 262646 w 290208"/>
              <a:gd name="connsiteY3" fmla="*/ 291830 h 332362"/>
              <a:gd name="connsiteX4" fmla="*/ 272374 w 290208"/>
              <a:gd name="connsiteY4" fmla="*/ 291830 h 332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208" h="332362">
                <a:moveTo>
                  <a:pt x="0" y="0"/>
                </a:moveTo>
                <a:cubicBezTo>
                  <a:pt x="49449" y="78632"/>
                  <a:pt x="98898" y="157264"/>
                  <a:pt x="116732" y="165370"/>
                </a:cubicBezTo>
                <a:cubicBezTo>
                  <a:pt x="134566" y="173476"/>
                  <a:pt x="82685" y="27561"/>
                  <a:pt x="107004" y="48638"/>
                </a:cubicBezTo>
                <a:cubicBezTo>
                  <a:pt x="131323" y="69715"/>
                  <a:pt x="235084" y="251298"/>
                  <a:pt x="262646" y="291830"/>
                </a:cubicBezTo>
                <a:cubicBezTo>
                  <a:pt x="290208" y="332362"/>
                  <a:pt x="281291" y="312096"/>
                  <a:pt x="272374" y="291830"/>
                </a:cubicBezTo>
              </a:path>
            </a:pathLst>
          </a:cu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19" name="TextBox 18"/>
          <p:cNvSpPr txBox="1"/>
          <p:nvPr/>
        </p:nvSpPr>
        <p:spPr>
          <a:xfrm>
            <a:off x="3171055" y="3200400"/>
            <a:ext cx="867545" cy="461665"/>
          </a:xfrm>
          <a:prstGeom prst="rect">
            <a:avLst/>
          </a:prstGeom>
          <a:noFill/>
        </p:spPr>
        <p:txBody>
          <a:bodyPr wrap="none" rtlCol="0">
            <a:spAutoFit/>
          </a:bodyPr>
          <a:lstStyle/>
          <a:p>
            <a:r>
              <a:rPr lang="en-US" sz="1200" dirty="0"/>
              <a:t>Resistor </a:t>
            </a:r>
          </a:p>
          <a:p>
            <a:r>
              <a:rPr lang="en-US" sz="1200" dirty="0"/>
              <a:t>under test</a:t>
            </a:r>
            <a:endParaRPr lang="tr-TR" sz="1200" dirty="0"/>
          </a:p>
        </p:txBody>
      </p:sp>
      <p:graphicFrame>
        <p:nvGraphicFramePr>
          <p:cNvPr id="347143" name="Object 7"/>
          <p:cNvGraphicFramePr>
            <a:graphicFrameLocks noChangeAspect="1"/>
          </p:cNvGraphicFramePr>
          <p:nvPr/>
        </p:nvGraphicFramePr>
        <p:xfrm>
          <a:off x="2628900" y="4305300"/>
          <a:ext cx="2774950" cy="720725"/>
        </p:xfrm>
        <a:graphic>
          <a:graphicData uri="http://schemas.openxmlformats.org/presentationml/2006/ole">
            <mc:AlternateContent xmlns:mc="http://schemas.openxmlformats.org/markup-compatibility/2006">
              <mc:Choice xmlns:v="urn:schemas-microsoft-com:vml" Requires="v">
                <p:oleObj name="Equation" r:id="rId12" imgW="1523880" imgH="431640" progId="Equation.3">
                  <p:embed/>
                </p:oleObj>
              </mc:Choice>
              <mc:Fallback>
                <p:oleObj name="Equation" r:id="rId12" imgW="1523880" imgH="43164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28900" y="4305300"/>
                        <a:ext cx="2774950" cy="72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Rounded Rectangle 21"/>
          <p:cNvSpPr/>
          <p:nvPr/>
        </p:nvSpPr>
        <p:spPr>
          <a:xfrm>
            <a:off x="4076700" y="4267200"/>
            <a:ext cx="1447800" cy="8001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24" name="Straight Arrow Connector 23"/>
          <p:cNvCxnSpPr/>
          <p:nvPr/>
        </p:nvCxnSpPr>
        <p:spPr>
          <a:xfrm rot="16200000" flipV="1">
            <a:off x="2134394" y="2515394"/>
            <a:ext cx="380206" cy="7540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9675966"/>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76200"/>
            <a:ext cx="6972300" cy="563563"/>
          </a:xfrm>
        </p:spPr>
        <p:txBody>
          <a:bodyPr/>
          <a:lstStyle/>
          <a:p>
            <a:r>
              <a:rPr lang="en-US" sz="2800" dirty="0"/>
              <a:t>Delta-to-Wye (Pi-to-Tee) Equivalent Circuits</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36</a:t>
            </a:fld>
            <a:endParaRPr lang="en-US" dirty="0"/>
          </a:p>
        </p:txBody>
      </p:sp>
      <p:sp>
        <p:nvSpPr>
          <p:cNvPr id="18" name="TextBox 17"/>
          <p:cNvSpPr txBox="1"/>
          <p:nvPr/>
        </p:nvSpPr>
        <p:spPr>
          <a:xfrm>
            <a:off x="381000" y="685800"/>
            <a:ext cx="8382000" cy="923330"/>
          </a:xfrm>
          <a:prstGeom prst="rect">
            <a:avLst/>
          </a:prstGeom>
          <a:noFill/>
        </p:spPr>
        <p:txBody>
          <a:bodyPr wrap="square" rtlCol="0">
            <a:spAutoFit/>
          </a:bodyPr>
          <a:lstStyle/>
          <a:p>
            <a:pPr algn="just"/>
            <a:r>
              <a:rPr lang="en-US" dirty="0"/>
              <a:t>The following electrical networks come up in many fields of electrical engineering. They are most common in Power Engineering and Machine modeling.</a:t>
            </a:r>
          </a:p>
        </p:txBody>
      </p:sp>
      <p:pic>
        <p:nvPicPr>
          <p:cNvPr id="7" name="Picture 2" descr="03_2912"/>
          <p:cNvPicPr>
            <a:picLocks noChangeAspect="1" noChangeArrowheads="1"/>
          </p:cNvPicPr>
          <p:nvPr/>
        </p:nvPicPr>
        <p:blipFill>
          <a:blip r:embed="rId3" cstate="print"/>
          <a:srcRect/>
          <a:stretch>
            <a:fillRect/>
          </a:stretch>
        </p:blipFill>
        <p:spPr bwMode="auto">
          <a:xfrm>
            <a:off x="1333500" y="1899233"/>
            <a:ext cx="5352792" cy="1948867"/>
          </a:xfrm>
          <a:prstGeom prst="rect">
            <a:avLst/>
          </a:prstGeom>
          <a:noFill/>
          <a:ln w="9525">
            <a:noFill/>
            <a:miter lim="800000"/>
            <a:headEnd/>
            <a:tailEnd/>
          </a:ln>
          <a:effectLst/>
        </p:spPr>
      </p:pic>
      <p:pic>
        <p:nvPicPr>
          <p:cNvPr id="8" name="Picture 2" descr="03_3012"/>
          <p:cNvPicPr>
            <a:picLocks noChangeAspect="1" noChangeArrowheads="1"/>
          </p:cNvPicPr>
          <p:nvPr/>
        </p:nvPicPr>
        <p:blipFill>
          <a:blip r:embed="rId4" cstate="print"/>
          <a:srcRect/>
          <a:stretch>
            <a:fillRect/>
          </a:stretch>
        </p:blipFill>
        <p:spPr bwMode="auto">
          <a:xfrm>
            <a:off x="1173840" y="4648200"/>
            <a:ext cx="5112660" cy="2006822"/>
          </a:xfrm>
          <a:prstGeom prst="rect">
            <a:avLst/>
          </a:prstGeom>
          <a:noFill/>
          <a:ln w="9525">
            <a:noFill/>
            <a:miter lim="800000"/>
            <a:headEnd/>
            <a:tailEnd/>
          </a:ln>
          <a:effectLst/>
        </p:spPr>
      </p:pic>
      <p:sp>
        <p:nvSpPr>
          <p:cNvPr id="9" name="TextBox 8"/>
          <p:cNvSpPr txBox="1"/>
          <p:nvPr/>
        </p:nvSpPr>
        <p:spPr>
          <a:xfrm>
            <a:off x="609600" y="1535668"/>
            <a:ext cx="5735866" cy="369332"/>
          </a:xfrm>
          <a:prstGeom prst="rect">
            <a:avLst/>
          </a:prstGeom>
          <a:noFill/>
        </p:spPr>
        <p:txBody>
          <a:bodyPr wrap="none" rtlCol="0">
            <a:spAutoFit/>
          </a:bodyPr>
          <a:lstStyle/>
          <a:p>
            <a:r>
              <a:rPr lang="en-US" dirty="0"/>
              <a:t>Delta (</a:t>
            </a:r>
            <a:r>
              <a:rPr lang="el-GR" dirty="0"/>
              <a:t>Δ</a:t>
            </a:r>
            <a:r>
              <a:rPr lang="en-US" dirty="0"/>
              <a:t>) Interconnection    </a:t>
            </a:r>
            <a:r>
              <a:rPr lang="en-US" b="1" dirty="0">
                <a:latin typeface="Arial"/>
                <a:cs typeface="Arial"/>
              </a:rPr>
              <a:t>≡</a:t>
            </a:r>
            <a:r>
              <a:rPr lang="en-US" dirty="0">
                <a:latin typeface="Arial"/>
                <a:cs typeface="Arial"/>
              </a:rPr>
              <a:t>      Pi (</a:t>
            </a:r>
            <a:r>
              <a:rPr lang="el-GR" dirty="0">
                <a:latin typeface="Arial"/>
                <a:cs typeface="Arial"/>
              </a:rPr>
              <a:t>π</a:t>
            </a:r>
            <a:r>
              <a:rPr lang="en-US" dirty="0">
                <a:latin typeface="Arial"/>
                <a:cs typeface="Arial"/>
              </a:rPr>
              <a:t>) Interconnection</a:t>
            </a:r>
            <a:endParaRPr lang="tr-TR" dirty="0"/>
          </a:p>
        </p:txBody>
      </p:sp>
      <p:sp>
        <p:nvSpPr>
          <p:cNvPr id="10" name="TextBox 9"/>
          <p:cNvSpPr txBox="1"/>
          <p:nvPr/>
        </p:nvSpPr>
        <p:spPr>
          <a:xfrm>
            <a:off x="3390900" y="2362200"/>
            <a:ext cx="457200" cy="461665"/>
          </a:xfrm>
          <a:prstGeom prst="rect">
            <a:avLst/>
          </a:prstGeom>
          <a:noFill/>
        </p:spPr>
        <p:txBody>
          <a:bodyPr wrap="square" rtlCol="0">
            <a:spAutoFit/>
          </a:bodyPr>
          <a:lstStyle/>
          <a:p>
            <a:r>
              <a:rPr lang="en-US" sz="2400" dirty="0">
                <a:latin typeface="Arial"/>
                <a:cs typeface="Arial"/>
              </a:rPr>
              <a:t>≡</a:t>
            </a:r>
            <a:endParaRPr lang="tr-TR" sz="2400" dirty="0"/>
          </a:p>
        </p:txBody>
      </p:sp>
      <p:sp>
        <p:nvSpPr>
          <p:cNvPr id="11" name="TextBox 10"/>
          <p:cNvSpPr txBox="1"/>
          <p:nvPr/>
        </p:nvSpPr>
        <p:spPr>
          <a:xfrm>
            <a:off x="719295" y="4076700"/>
            <a:ext cx="5801845" cy="369332"/>
          </a:xfrm>
          <a:prstGeom prst="rect">
            <a:avLst/>
          </a:prstGeom>
          <a:noFill/>
        </p:spPr>
        <p:txBody>
          <a:bodyPr wrap="none" rtlCol="0">
            <a:spAutoFit/>
          </a:bodyPr>
          <a:lstStyle/>
          <a:p>
            <a:r>
              <a:rPr lang="en-US" dirty="0" err="1"/>
              <a:t>Wye</a:t>
            </a:r>
            <a:r>
              <a:rPr lang="en-US" dirty="0"/>
              <a:t> (Y) Interconnection    </a:t>
            </a:r>
            <a:r>
              <a:rPr lang="en-US" b="1" dirty="0">
                <a:latin typeface="Arial"/>
                <a:cs typeface="Arial"/>
              </a:rPr>
              <a:t>≡</a:t>
            </a:r>
            <a:r>
              <a:rPr lang="en-US" dirty="0">
                <a:latin typeface="Arial"/>
                <a:cs typeface="Arial"/>
              </a:rPr>
              <a:t>      Tee (T) Interconnection</a:t>
            </a:r>
            <a:endParaRPr lang="tr-TR" dirty="0"/>
          </a:p>
        </p:txBody>
      </p:sp>
      <p:sp>
        <p:nvSpPr>
          <p:cNvPr id="12" name="TextBox 11"/>
          <p:cNvSpPr txBox="1"/>
          <p:nvPr/>
        </p:nvSpPr>
        <p:spPr>
          <a:xfrm>
            <a:off x="3390900" y="5372100"/>
            <a:ext cx="457200" cy="461665"/>
          </a:xfrm>
          <a:prstGeom prst="rect">
            <a:avLst/>
          </a:prstGeom>
          <a:noFill/>
        </p:spPr>
        <p:txBody>
          <a:bodyPr wrap="square" rtlCol="0">
            <a:spAutoFit/>
          </a:bodyPr>
          <a:lstStyle/>
          <a:p>
            <a:r>
              <a:rPr lang="en-US" sz="2400" dirty="0">
                <a:latin typeface="Arial"/>
                <a:cs typeface="Arial"/>
              </a:rPr>
              <a:t>≡</a:t>
            </a:r>
            <a:endParaRPr lang="tr-TR" sz="2400" dirty="0"/>
          </a:p>
        </p:txBody>
      </p:sp>
    </p:spTree>
    <p:extLst>
      <p:ext uri="{BB962C8B-B14F-4D97-AF65-F5344CB8AC3E}">
        <p14:creationId xmlns:p14="http://schemas.microsoft.com/office/powerpoint/2010/main" val="2098289824"/>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37</a:t>
            </a:fld>
            <a:endParaRPr lang="en-US" dirty="0"/>
          </a:p>
        </p:txBody>
      </p:sp>
      <p:sp>
        <p:nvSpPr>
          <p:cNvPr id="18" name="TextBox 17"/>
          <p:cNvSpPr txBox="1"/>
          <p:nvPr/>
        </p:nvSpPr>
        <p:spPr>
          <a:xfrm>
            <a:off x="381000" y="685800"/>
            <a:ext cx="8382000" cy="923330"/>
          </a:xfrm>
          <a:prstGeom prst="rect">
            <a:avLst/>
          </a:prstGeom>
          <a:noFill/>
        </p:spPr>
        <p:txBody>
          <a:bodyPr wrap="square" rtlCol="0">
            <a:spAutoFit/>
          </a:bodyPr>
          <a:lstStyle/>
          <a:p>
            <a:pPr algn="just"/>
            <a:r>
              <a:rPr lang="en-US" dirty="0"/>
              <a:t>The following electrical networks come up in many fields of electrical engineering. They are most common in Power Engineering and Machine modeling.</a:t>
            </a:r>
          </a:p>
        </p:txBody>
      </p:sp>
      <p:pic>
        <p:nvPicPr>
          <p:cNvPr id="7" name="Picture 2" descr="03_2912"/>
          <p:cNvPicPr>
            <a:picLocks noChangeAspect="1" noChangeArrowheads="1"/>
          </p:cNvPicPr>
          <p:nvPr/>
        </p:nvPicPr>
        <p:blipFill>
          <a:blip r:embed="rId3" cstate="print"/>
          <a:srcRect/>
          <a:stretch>
            <a:fillRect/>
          </a:stretch>
        </p:blipFill>
        <p:spPr bwMode="auto">
          <a:xfrm>
            <a:off x="1333500" y="1899233"/>
            <a:ext cx="5352792" cy="1948867"/>
          </a:xfrm>
          <a:prstGeom prst="rect">
            <a:avLst/>
          </a:prstGeom>
          <a:noFill/>
          <a:ln w="9525">
            <a:noFill/>
            <a:miter lim="800000"/>
            <a:headEnd/>
            <a:tailEnd/>
          </a:ln>
          <a:effectLst/>
        </p:spPr>
      </p:pic>
      <p:pic>
        <p:nvPicPr>
          <p:cNvPr id="8" name="Picture 2" descr="03_3012"/>
          <p:cNvPicPr>
            <a:picLocks noChangeAspect="1" noChangeArrowheads="1"/>
          </p:cNvPicPr>
          <p:nvPr/>
        </p:nvPicPr>
        <p:blipFill>
          <a:blip r:embed="rId4" cstate="print"/>
          <a:srcRect/>
          <a:stretch>
            <a:fillRect/>
          </a:stretch>
        </p:blipFill>
        <p:spPr bwMode="auto">
          <a:xfrm>
            <a:off x="1173840" y="4648200"/>
            <a:ext cx="5112660" cy="2006822"/>
          </a:xfrm>
          <a:prstGeom prst="rect">
            <a:avLst/>
          </a:prstGeom>
          <a:noFill/>
          <a:ln w="9525">
            <a:noFill/>
            <a:miter lim="800000"/>
            <a:headEnd/>
            <a:tailEnd/>
          </a:ln>
          <a:effectLst/>
        </p:spPr>
      </p:pic>
      <p:sp>
        <p:nvSpPr>
          <p:cNvPr id="9" name="TextBox 8"/>
          <p:cNvSpPr txBox="1"/>
          <p:nvPr/>
        </p:nvSpPr>
        <p:spPr>
          <a:xfrm>
            <a:off x="609600" y="1535668"/>
            <a:ext cx="5735866" cy="369332"/>
          </a:xfrm>
          <a:prstGeom prst="rect">
            <a:avLst/>
          </a:prstGeom>
          <a:noFill/>
        </p:spPr>
        <p:txBody>
          <a:bodyPr wrap="none" rtlCol="0">
            <a:spAutoFit/>
          </a:bodyPr>
          <a:lstStyle/>
          <a:p>
            <a:r>
              <a:rPr lang="en-US" dirty="0"/>
              <a:t>Delta (</a:t>
            </a:r>
            <a:r>
              <a:rPr lang="el-GR" dirty="0"/>
              <a:t>Δ</a:t>
            </a:r>
            <a:r>
              <a:rPr lang="en-US" dirty="0"/>
              <a:t>) Interconnection    </a:t>
            </a:r>
            <a:r>
              <a:rPr lang="en-US" b="1" dirty="0">
                <a:latin typeface="Arial"/>
                <a:cs typeface="Arial"/>
              </a:rPr>
              <a:t>≡</a:t>
            </a:r>
            <a:r>
              <a:rPr lang="en-US" dirty="0">
                <a:latin typeface="Arial"/>
                <a:cs typeface="Arial"/>
              </a:rPr>
              <a:t>      Pi (</a:t>
            </a:r>
            <a:r>
              <a:rPr lang="el-GR" dirty="0">
                <a:latin typeface="Arial"/>
                <a:cs typeface="Arial"/>
              </a:rPr>
              <a:t>π</a:t>
            </a:r>
            <a:r>
              <a:rPr lang="en-US" dirty="0">
                <a:latin typeface="Arial"/>
                <a:cs typeface="Arial"/>
              </a:rPr>
              <a:t>) Interconnection</a:t>
            </a:r>
            <a:endParaRPr lang="tr-TR" dirty="0"/>
          </a:p>
        </p:txBody>
      </p:sp>
      <p:sp>
        <p:nvSpPr>
          <p:cNvPr id="10" name="TextBox 9"/>
          <p:cNvSpPr txBox="1"/>
          <p:nvPr/>
        </p:nvSpPr>
        <p:spPr>
          <a:xfrm>
            <a:off x="3390900" y="2362200"/>
            <a:ext cx="457200" cy="461665"/>
          </a:xfrm>
          <a:prstGeom prst="rect">
            <a:avLst/>
          </a:prstGeom>
          <a:noFill/>
        </p:spPr>
        <p:txBody>
          <a:bodyPr wrap="square" rtlCol="0">
            <a:spAutoFit/>
          </a:bodyPr>
          <a:lstStyle/>
          <a:p>
            <a:r>
              <a:rPr lang="en-US" sz="2400" dirty="0">
                <a:latin typeface="Arial"/>
                <a:cs typeface="Arial"/>
              </a:rPr>
              <a:t>≡</a:t>
            </a:r>
            <a:endParaRPr lang="tr-TR" sz="2400" dirty="0"/>
          </a:p>
        </p:txBody>
      </p:sp>
      <p:sp>
        <p:nvSpPr>
          <p:cNvPr id="11" name="TextBox 10"/>
          <p:cNvSpPr txBox="1"/>
          <p:nvPr/>
        </p:nvSpPr>
        <p:spPr>
          <a:xfrm>
            <a:off x="719295" y="4076700"/>
            <a:ext cx="5801845" cy="369332"/>
          </a:xfrm>
          <a:prstGeom prst="rect">
            <a:avLst/>
          </a:prstGeom>
          <a:noFill/>
        </p:spPr>
        <p:txBody>
          <a:bodyPr wrap="none" rtlCol="0">
            <a:spAutoFit/>
          </a:bodyPr>
          <a:lstStyle/>
          <a:p>
            <a:r>
              <a:rPr lang="en-US" dirty="0" err="1"/>
              <a:t>Wye</a:t>
            </a:r>
            <a:r>
              <a:rPr lang="en-US" dirty="0"/>
              <a:t> (Y) Interconnection    </a:t>
            </a:r>
            <a:r>
              <a:rPr lang="en-US" b="1" dirty="0">
                <a:latin typeface="Arial"/>
                <a:cs typeface="Arial"/>
              </a:rPr>
              <a:t>≡</a:t>
            </a:r>
            <a:r>
              <a:rPr lang="en-US" dirty="0">
                <a:latin typeface="Arial"/>
                <a:cs typeface="Arial"/>
              </a:rPr>
              <a:t>      Tee (T) Interconnection</a:t>
            </a:r>
            <a:endParaRPr lang="tr-TR" dirty="0"/>
          </a:p>
        </p:txBody>
      </p:sp>
      <p:sp>
        <p:nvSpPr>
          <p:cNvPr id="12" name="TextBox 11"/>
          <p:cNvSpPr txBox="1"/>
          <p:nvPr/>
        </p:nvSpPr>
        <p:spPr>
          <a:xfrm>
            <a:off x="3390900" y="5372100"/>
            <a:ext cx="457200" cy="461665"/>
          </a:xfrm>
          <a:prstGeom prst="rect">
            <a:avLst/>
          </a:prstGeom>
          <a:noFill/>
        </p:spPr>
        <p:txBody>
          <a:bodyPr wrap="square" rtlCol="0">
            <a:spAutoFit/>
          </a:bodyPr>
          <a:lstStyle/>
          <a:p>
            <a:r>
              <a:rPr lang="en-US" sz="2400" dirty="0">
                <a:latin typeface="Arial"/>
                <a:cs typeface="Arial"/>
              </a:rPr>
              <a:t>≡</a:t>
            </a:r>
            <a:endParaRPr lang="tr-TR" sz="2400" dirty="0"/>
          </a:p>
        </p:txBody>
      </p:sp>
      <p:sp>
        <p:nvSpPr>
          <p:cNvPr id="15" name="Curved Down Arrow 14"/>
          <p:cNvSpPr/>
          <p:nvPr/>
        </p:nvSpPr>
        <p:spPr>
          <a:xfrm rot="5400000">
            <a:off x="5981700" y="3695700"/>
            <a:ext cx="2095500" cy="419100"/>
          </a:xfrm>
          <a:prstGeom prst="curvedDownArrow">
            <a:avLst>
              <a:gd name="adj1" fmla="val 25000"/>
              <a:gd name="adj2" fmla="val 78076"/>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6" name="Curved Down Arrow 15"/>
          <p:cNvSpPr/>
          <p:nvPr/>
        </p:nvSpPr>
        <p:spPr>
          <a:xfrm rot="16200000" flipV="1">
            <a:off x="6286500" y="3619500"/>
            <a:ext cx="2171700" cy="419100"/>
          </a:xfrm>
          <a:prstGeom prst="curvedDownArrow">
            <a:avLst>
              <a:gd name="adj1" fmla="val 25000"/>
              <a:gd name="adj2" fmla="val 68747"/>
              <a:gd name="adj3" fmla="val 2732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17" name="TextBox 16"/>
          <p:cNvSpPr txBox="1"/>
          <p:nvPr/>
        </p:nvSpPr>
        <p:spPr>
          <a:xfrm>
            <a:off x="7734300" y="3086100"/>
            <a:ext cx="1371601" cy="1200329"/>
          </a:xfrm>
          <a:prstGeom prst="rect">
            <a:avLst/>
          </a:prstGeom>
          <a:noFill/>
        </p:spPr>
        <p:txBody>
          <a:bodyPr wrap="square" rtlCol="0">
            <a:spAutoFit/>
          </a:bodyPr>
          <a:lstStyle/>
          <a:p>
            <a:r>
              <a:rPr lang="en-US" i="1" dirty="0"/>
              <a:t>How do we go from one to the other?</a:t>
            </a:r>
          </a:p>
        </p:txBody>
      </p:sp>
      <p:sp>
        <p:nvSpPr>
          <p:cNvPr id="22" name="Title 1"/>
          <p:cNvSpPr>
            <a:spLocks noGrp="1"/>
          </p:cNvSpPr>
          <p:nvPr>
            <p:ph type="title"/>
          </p:nvPr>
        </p:nvSpPr>
        <p:spPr>
          <a:xfrm>
            <a:off x="457200" y="76200"/>
            <a:ext cx="6972300" cy="563563"/>
          </a:xfrm>
        </p:spPr>
        <p:txBody>
          <a:bodyPr/>
          <a:lstStyle/>
          <a:p>
            <a:r>
              <a:rPr lang="en-US" sz="2800" dirty="0"/>
              <a:t>Delta-to-</a:t>
            </a:r>
            <a:r>
              <a:rPr lang="en-US" sz="2800" dirty="0" err="1"/>
              <a:t>Whye</a:t>
            </a:r>
            <a:r>
              <a:rPr lang="en-US" sz="2800" dirty="0"/>
              <a:t> (Pi-to-Tee) Equivalent Circuits</a:t>
            </a:r>
          </a:p>
        </p:txBody>
      </p:sp>
    </p:spTree>
    <p:extLst>
      <p:ext uri="{BB962C8B-B14F-4D97-AF65-F5344CB8AC3E}">
        <p14:creationId xmlns:p14="http://schemas.microsoft.com/office/powerpoint/2010/main" val="4246624682"/>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76200"/>
            <a:ext cx="7734300" cy="563563"/>
          </a:xfrm>
        </p:spPr>
        <p:txBody>
          <a:bodyPr/>
          <a:lstStyle/>
          <a:p>
            <a:r>
              <a:rPr lang="el-GR" sz="3200" dirty="0"/>
              <a:t>Δ</a:t>
            </a:r>
            <a:r>
              <a:rPr lang="en-US" sz="3200" dirty="0"/>
              <a:t>-to-Y Transformation</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38</a:t>
            </a:fld>
            <a:endParaRPr lang="en-US" dirty="0"/>
          </a:p>
        </p:txBody>
      </p:sp>
      <p:sp>
        <p:nvSpPr>
          <p:cNvPr id="18" name="TextBox 17"/>
          <p:cNvSpPr txBox="1"/>
          <p:nvPr/>
        </p:nvSpPr>
        <p:spPr>
          <a:xfrm>
            <a:off x="381000" y="685800"/>
            <a:ext cx="8382000" cy="4801314"/>
          </a:xfrm>
          <a:prstGeom prst="rect">
            <a:avLst/>
          </a:prstGeom>
          <a:noFill/>
        </p:spPr>
        <p:txBody>
          <a:bodyPr wrap="square" rtlCol="0">
            <a:spAutoFit/>
          </a:bodyPr>
          <a:lstStyle/>
          <a:p>
            <a:pPr algn="just"/>
            <a:r>
              <a:rPr lang="en-US" dirty="0"/>
              <a:t>To achieve equivalence, need:</a:t>
            </a:r>
          </a:p>
          <a:p>
            <a:pPr algn="just"/>
            <a:r>
              <a:rPr lang="en-US" dirty="0"/>
              <a:t>Resistance between terminals a-b (</a:t>
            </a:r>
            <a:r>
              <a:rPr lang="en-US" dirty="0" err="1"/>
              <a:t>R</a:t>
            </a:r>
            <a:r>
              <a:rPr lang="en-US" baseline="-25000" dirty="0" err="1"/>
              <a:t>ab</a:t>
            </a:r>
            <a:r>
              <a:rPr lang="en-US" dirty="0"/>
              <a:t>) in </a:t>
            </a:r>
            <a:r>
              <a:rPr lang="el-GR" dirty="0"/>
              <a:t>Δ</a:t>
            </a:r>
            <a:r>
              <a:rPr lang="en-US" dirty="0"/>
              <a:t>-connected circuit</a:t>
            </a:r>
          </a:p>
          <a:p>
            <a:pPr algn="just"/>
            <a:r>
              <a:rPr lang="en-US" dirty="0"/>
              <a:t>		= Resistance between terminals a-b in Y-connected circuit</a:t>
            </a:r>
          </a:p>
          <a:p>
            <a:pPr algn="just"/>
            <a:r>
              <a:rPr lang="en-US" dirty="0"/>
              <a:t>…  and the same for the other terminals…</a:t>
            </a:r>
          </a:p>
          <a:p>
            <a:pPr algn="just"/>
            <a:endParaRPr lang="en-US" dirty="0"/>
          </a:p>
          <a:p>
            <a:pPr algn="just"/>
            <a:r>
              <a:rPr lang="en-US" dirty="0"/>
              <a:t>Observing parallel and series resistances in the previous page:</a:t>
            </a:r>
          </a:p>
          <a:p>
            <a:pPr algn="just"/>
            <a:endParaRPr lang="en-US" dirty="0"/>
          </a:p>
          <a:p>
            <a:pPr algn="just"/>
            <a:endParaRPr lang="en-US" dirty="0"/>
          </a:p>
          <a:p>
            <a:pPr algn="just"/>
            <a:endParaRPr lang="en-US" dirty="0"/>
          </a:p>
          <a:p>
            <a:pPr algn="just"/>
            <a:r>
              <a:rPr lang="en-US" dirty="0"/>
              <a:t>Manipulating:</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p:txBody>
      </p:sp>
      <p:graphicFrame>
        <p:nvGraphicFramePr>
          <p:cNvPr id="348162" name="Object 2"/>
          <p:cNvGraphicFramePr>
            <a:graphicFrameLocks noChangeAspect="1"/>
          </p:cNvGraphicFramePr>
          <p:nvPr/>
        </p:nvGraphicFramePr>
        <p:xfrm>
          <a:off x="304800" y="2459890"/>
          <a:ext cx="8681608" cy="626210"/>
        </p:xfrm>
        <a:graphic>
          <a:graphicData uri="http://schemas.openxmlformats.org/presentationml/2006/ole">
            <mc:AlternateContent xmlns:mc="http://schemas.openxmlformats.org/markup-compatibility/2006">
              <mc:Choice xmlns:v="urn:schemas-microsoft-com:vml" Requires="v">
                <p:oleObj name="Equation" r:id="rId3" imgW="5499000" imgH="431640" progId="Equation.3">
                  <p:embed/>
                </p:oleObj>
              </mc:Choice>
              <mc:Fallback>
                <p:oleObj name="Equation" r:id="rId3" imgW="549900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459890"/>
                        <a:ext cx="8681608" cy="6262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163" name="Object 3"/>
          <p:cNvGraphicFramePr>
            <a:graphicFrameLocks noChangeAspect="1"/>
          </p:cNvGraphicFramePr>
          <p:nvPr/>
        </p:nvGraphicFramePr>
        <p:xfrm>
          <a:off x="1219200" y="3565525"/>
          <a:ext cx="6937375" cy="625475"/>
        </p:xfrm>
        <a:graphic>
          <a:graphicData uri="http://schemas.openxmlformats.org/presentationml/2006/ole">
            <mc:AlternateContent xmlns:mc="http://schemas.openxmlformats.org/markup-compatibility/2006">
              <mc:Choice xmlns:v="urn:schemas-microsoft-com:vml" Requires="v">
                <p:oleObj name="Equation" r:id="rId5" imgW="4394160" imgH="431640" progId="Equation.3">
                  <p:embed/>
                </p:oleObj>
              </mc:Choice>
              <mc:Fallback>
                <p:oleObj name="Equation" r:id="rId5" imgW="4394160" imgH="431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3565525"/>
                        <a:ext cx="6937375"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ounded Rectangle 18"/>
          <p:cNvSpPr/>
          <p:nvPr/>
        </p:nvSpPr>
        <p:spPr>
          <a:xfrm>
            <a:off x="1143000" y="3505200"/>
            <a:ext cx="7162800" cy="76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893351560"/>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76200"/>
            <a:ext cx="7734300" cy="563563"/>
          </a:xfrm>
        </p:spPr>
        <p:txBody>
          <a:bodyPr/>
          <a:lstStyle/>
          <a:p>
            <a:r>
              <a:rPr lang="el-GR" sz="3200" dirty="0"/>
              <a:t>Δ</a:t>
            </a:r>
            <a:r>
              <a:rPr lang="en-US" sz="3200" dirty="0"/>
              <a:t>-to-Y Transformation</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39</a:t>
            </a:fld>
            <a:endParaRPr lang="en-US" dirty="0"/>
          </a:p>
        </p:txBody>
      </p:sp>
      <p:sp>
        <p:nvSpPr>
          <p:cNvPr id="18" name="TextBox 17"/>
          <p:cNvSpPr txBox="1"/>
          <p:nvPr/>
        </p:nvSpPr>
        <p:spPr>
          <a:xfrm>
            <a:off x="381000" y="685800"/>
            <a:ext cx="8382000" cy="5355312"/>
          </a:xfrm>
          <a:prstGeom prst="rect">
            <a:avLst/>
          </a:prstGeom>
          <a:noFill/>
        </p:spPr>
        <p:txBody>
          <a:bodyPr wrap="square" rtlCol="0">
            <a:spAutoFit/>
          </a:bodyPr>
          <a:lstStyle/>
          <a:p>
            <a:pPr algn="just"/>
            <a:r>
              <a:rPr lang="en-US" dirty="0"/>
              <a:t>To achieve equivalence, need:</a:t>
            </a:r>
          </a:p>
          <a:p>
            <a:pPr algn="just"/>
            <a:r>
              <a:rPr lang="en-US" dirty="0"/>
              <a:t>Resistance between terminals a-b (</a:t>
            </a:r>
            <a:r>
              <a:rPr lang="en-US" dirty="0" err="1"/>
              <a:t>R</a:t>
            </a:r>
            <a:r>
              <a:rPr lang="en-US" baseline="-25000" dirty="0" err="1"/>
              <a:t>ab</a:t>
            </a:r>
            <a:r>
              <a:rPr lang="en-US" dirty="0"/>
              <a:t>) in </a:t>
            </a:r>
            <a:r>
              <a:rPr lang="el-GR" dirty="0"/>
              <a:t>Δ</a:t>
            </a:r>
            <a:r>
              <a:rPr lang="en-US" dirty="0"/>
              <a:t>-connected circuit</a:t>
            </a:r>
          </a:p>
          <a:p>
            <a:pPr algn="just"/>
            <a:r>
              <a:rPr lang="en-US" dirty="0"/>
              <a:t>		= Resistance between terminals a-b in Y-connected circuit</a:t>
            </a:r>
          </a:p>
          <a:p>
            <a:pPr algn="just"/>
            <a:r>
              <a:rPr lang="en-US" dirty="0"/>
              <a:t>…  and the same for the other terminals…</a:t>
            </a:r>
          </a:p>
          <a:p>
            <a:pPr algn="just"/>
            <a:endParaRPr lang="en-US" dirty="0"/>
          </a:p>
          <a:p>
            <a:pPr algn="just"/>
            <a:r>
              <a:rPr lang="en-US" dirty="0"/>
              <a:t>Observing parallel and series resistances in the previous page:</a:t>
            </a:r>
          </a:p>
          <a:p>
            <a:pPr algn="just"/>
            <a:endParaRPr lang="en-US" dirty="0"/>
          </a:p>
          <a:p>
            <a:pPr algn="just"/>
            <a:endParaRPr lang="en-US" dirty="0"/>
          </a:p>
          <a:p>
            <a:pPr algn="just"/>
            <a:endParaRPr lang="en-US" dirty="0"/>
          </a:p>
          <a:p>
            <a:pPr algn="just"/>
            <a:r>
              <a:rPr lang="en-US" dirty="0"/>
              <a:t>Manipulating:</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Again manipulating the original equations above:</a:t>
            </a:r>
          </a:p>
          <a:p>
            <a:pPr algn="just"/>
            <a:endParaRPr lang="en-US" dirty="0"/>
          </a:p>
          <a:p>
            <a:pPr algn="just"/>
            <a:endParaRPr lang="en-US" dirty="0"/>
          </a:p>
        </p:txBody>
      </p:sp>
      <p:graphicFrame>
        <p:nvGraphicFramePr>
          <p:cNvPr id="348162" name="Object 2"/>
          <p:cNvGraphicFramePr>
            <a:graphicFrameLocks noChangeAspect="1"/>
          </p:cNvGraphicFramePr>
          <p:nvPr/>
        </p:nvGraphicFramePr>
        <p:xfrm>
          <a:off x="304800" y="2459890"/>
          <a:ext cx="8681608" cy="626210"/>
        </p:xfrm>
        <a:graphic>
          <a:graphicData uri="http://schemas.openxmlformats.org/presentationml/2006/ole">
            <mc:AlternateContent xmlns:mc="http://schemas.openxmlformats.org/markup-compatibility/2006">
              <mc:Choice xmlns:v="urn:schemas-microsoft-com:vml" Requires="v">
                <p:oleObj name="Equation" r:id="rId3" imgW="5499000" imgH="431640" progId="Equation.3">
                  <p:embed/>
                </p:oleObj>
              </mc:Choice>
              <mc:Fallback>
                <p:oleObj name="Equation" r:id="rId3" imgW="549900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459890"/>
                        <a:ext cx="8681608" cy="6262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163" name="Object 3"/>
          <p:cNvGraphicFramePr>
            <a:graphicFrameLocks noChangeAspect="1"/>
          </p:cNvGraphicFramePr>
          <p:nvPr/>
        </p:nvGraphicFramePr>
        <p:xfrm>
          <a:off x="1219200" y="3565525"/>
          <a:ext cx="6937375" cy="625475"/>
        </p:xfrm>
        <a:graphic>
          <a:graphicData uri="http://schemas.openxmlformats.org/presentationml/2006/ole">
            <mc:AlternateContent xmlns:mc="http://schemas.openxmlformats.org/markup-compatibility/2006">
              <mc:Choice xmlns:v="urn:schemas-microsoft-com:vml" Requires="v">
                <p:oleObj name="Equation" r:id="rId5" imgW="4394160" imgH="431640" progId="Equation.3">
                  <p:embed/>
                </p:oleObj>
              </mc:Choice>
              <mc:Fallback>
                <p:oleObj name="Equation" r:id="rId5" imgW="4394160" imgH="431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3565525"/>
                        <a:ext cx="6937375"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ounded Rectangle 18"/>
          <p:cNvSpPr/>
          <p:nvPr/>
        </p:nvSpPr>
        <p:spPr>
          <a:xfrm>
            <a:off x="1143000" y="3505200"/>
            <a:ext cx="7162800" cy="76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Title 1"/>
          <p:cNvSpPr txBox="1">
            <a:spLocks/>
          </p:cNvSpPr>
          <p:nvPr/>
        </p:nvSpPr>
        <p:spPr bwMode="auto">
          <a:xfrm>
            <a:off x="609600" y="4541837"/>
            <a:ext cx="77343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lgn="ctr"/>
            <a:r>
              <a:rPr kumimoji="0" lang="en-US" sz="3200" b="0" i="0" u="none" strike="noStrike" kern="1200" cap="none" spc="0" normalizeH="0" baseline="0" noProof="0" dirty="0">
                <a:ln>
                  <a:noFill/>
                </a:ln>
                <a:solidFill>
                  <a:schemeClr val="tx1"/>
                </a:solidFill>
                <a:effectLst/>
                <a:uLnTx/>
                <a:uFillTx/>
                <a:latin typeface="+mn-lt"/>
                <a:ea typeface="+mj-ea"/>
                <a:cs typeface="+mj-cs"/>
              </a:rPr>
              <a:t>Y-to-</a:t>
            </a:r>
            <a:r>
              <a:rPr lang="el-GR" sz="3200" dirty="0">
                <a:latin typeface="+mn-lt"/>
              </a:rPr>
              <a:t> Δ</a:t>
            </a:r>
            <a:r>
              <a:rPr kumimoji="0" lang="en-US" sz="3200" b="0" i="0" u="none" strike="noStrike" kern="1200" cap="none" spc="0" normalizeH="0" baseline="0" noProof="0" dirty="0">
                <a:ln>
                  <a:noFill/>
                </a:ln>
                <a:solidFill>
                  <a:schemeClr val="tx1"/>
                </a:solidFill>
                <a:effectLst/>
                <a:uLnTx/>
                <a:uFillTx/>
                <a:latin typeface="+mn-lt"/>
                <a:ea typeface="+mj-ea"/>
                <a:cs typeface="+mj-cs"/>
              </a:rPr>
              <a:t> Transformation</a:t>
            </a:r>
          </a:p>
        </p:txBody>
      </p:sp>
      <p:graphicFrame>
        <p:nvGraphicFramePr>
          <p:cNvPr id="23" name="Object 3"/>
          <p:cNvGraphicFramePr>
            <a:graphicFrameLocks noChangeAspect="1"/>
          </p:cNvGraphicFramePr>
          <p:nvPr/>
        </p:nvGraphicFramePr>
        <p:xfrm>
          <a:off x="622300" y="5524500"/>
          <a:ext cx="7980363" cy="625475"/>
        </p:xfrm>
        <a:graphic>
          <a:graphicData uri="http://schemas.openxmlformats.org/presentationml/2006/ole">
            <mc:AlternateContent xmlns:mc="http://schemas.openxmlformats.org/markup-compatibility/2006">
              <mc:Choice xmlns:v="urn:schemas-microsoft-com:vml" Requires="v">
                <p:oleObj name="Equation" r:id="rId7" imgW="5054400" imgH="431640" progId="Equation.3">
                  <p:embed/>
                </p:oleObj>
              </mc:Choice>
              <mc:Fallback>
                <p:oleObj name="Equation" r:id="rId7" imgW="5054400" imgH="4316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2300" y="5524500"/>
                        <a:ext cx="7980363"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Rounded Rectangle 23"/>
          <p:cNvSpPr/>
          <p:nvPr/>
        </p:nvSpPr>
        <p:spPr>
          <a:xfrm>
            <a:off x="533400" y="5448300"/>
            <a:ext cx="8153400" cy="76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956622422"/>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76200"/>
            <a:ext cx="7734300" cy="563563"/>
          </a:xfrm>
        </p:spPr>
        <p:txBody>
          <a:bodyPr/>
          <a:lstStyle/>
          <a:p>
            <a:r>
              <a:rPr lang="en-US" sz="3200" dirty="0"/>
              <a:t>Example (N &amp; R AP 3.8)</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40</a:t>
            </a:fld>
            <a:endParaRPr lang="en-US" dirty="0"/>
          </a:p>
        </p:txBody>
      </p:sp>
      <p:sp>
        <p:nvSpPr>
          <p:cNvPr id="18" name="TextBox 17"/>
          <p:cNvSpPr txBox="1"/>
          <p:nvPr/>
        </p:nvSpPr>
        <p:spPr>
          <a:xfrm>
            <a:off x="419100" y="685800"/>
            <a:ext cx="8343900" cy="3416320"/>
          </a:xfrm>
          <a:prstGeom prst="rect">
            <a:avLst/>
          </a:prstGeom>
          <a:noFill/>
        </p:spPr>
        <p:txBody>
          <a:bodyPr wrap="square" rtlCol="0">
            <a:spAutoFit/>
          </a:bodyPr>
          <a:lstStyle/>
          <a:p>
            <a:pPr algn="just"/>
            <a:r>
              <a:rPr lang="en-US" dirty="0"/>
              <a:t>Use a Y-to-</a:t>
            </a:r>
            <a:r>
              <a:rPr lang="el-GR" dirty="0"/>
              <a:t>Δ</a:t>
            </a:r>
            <a:r>
              <a:rPr lang="en-US" dirty="0"/>
              <a:t> transformation to find the voltage </a:t>
            </a:r>
            <a:r>
              <a:rPr lang="en-US" i="1" dirty="0"/>
              <a:t>v</a:t>
            </a:r>
            <a:r>
              <a:rPr lang="en-US" dirty="0"/>
              <a:t> in the following circuit:</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p:txBody>
      </p:sp>
      <p:pic>
        <p:nvPicPr>
          <p:cNvPr id="12" name="Picture 2" descr="03_35-01unAO6-3-8"/>
          <p:cNvPicPr>
            <a:picLocks noChangeAspect="1" noChangeArrowheads="1"/>
          </p:cNvPicPr>
          <p:nvPr/>
        </p:nvPicPr>
        <p:blipFill>
          <a:blip r:embed="rId3" cstate="print"/>
          <a:srcRect/>
          <a:stretch>
            <a:fillRect/>
          </a:stretch>
        </p:blipFill>
        <p:spPr bwMode="auto">
          <a:xfrm>
            <a:off x="266700" y="1143000"/>
            <a:ext cx="3352800" cy="2091439"/>
          </a:xfrm>
          <a:prstGeom prst="rect">
            <a:avLst/>
          </a:prstGeom>
          <a:noFill/>
          <a:ln w="9525">
            <a:noFill/>
            <a:miter lim="800000"/>
            <a:headEnd/>
            <a:tailEnd/>
          </a:ln>
          <a:effectLst/>
        </p:spPr>
      </p:pic>
    </p:spTree>
    <p:extLst>
      <p:ext uri="{BB962C8B-B14F-4D97-AF65-F5344CB8AC3E}">
        <p14:creationId xmlns:p14="http://schemas.microsoft.com/office/powerpoint/2010/main" val="478665349"/>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76200"/>
            <a:ext cx="7734300" cy="563563"/>
          </a:xfrm>
        </p:spPr>
        <p:txBody>
          <a:bodyPr/>
          <a:lstStyle/>
          <a:p>
            <a:r>
              <a:rPr lang="en-US" sz="3200" dirty="0"/>
              <a:t>Example (N &amp; R AP 3.8)</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41</a:t>
            </a:fld>
            <a:endParaRPr lang="en-US" dirty="0"/>
          </a:p>
        </p:txBody>
      </p:sp>
      <p:sp>
        <p:nvSpPr>
          <p:cNvPr id="18" name="TextBox 17"/>
          <p:cNvSpPr txBox="1"/>
          <p:nvPr/>
        </p:nvSpPr>
        <p:spPr>
          <a:xfrm>
            <a:off x="419100" y="685800"/>
            <a:ext cx="8343900" cy="3693319"/>
          </a:xfrm>
          <a:prstGeom prst="rect">
            <a:avLst/>
          </a:prstGeom>
          <a:noFill/>
        </p:spPr>
        <p:txBody>
          <a:bodyPr wrap="square" rtlCol="0">
            <a:spAutoFit/>
          </a:bodyPr>
          <a:lstStyle/>
          <a:p>
            <a:pPr algn="just"/>
            <a:r>
              <a:rPr lang="en-US" dirty="0"/>
              <a:t>Use a Y-to-</a:t>
            </a:r>
            <a:r>
              <a:rPr lang="el-GR" dirty="0"/>
              <a:t>Δ</a:t>
            </a:r>
            <a:r>
              <a:rPr lang="en-US" dirty="0"/>
              <a:t> transformation to find the voltage </a:t>
            </a:r>
            <a:r>
              <a:rPr lang="en-US" i="1" dirty="0"/>
              <a:t>v</a:t>
            </a:r>
            <a:r>
              <a:rPr lang="en-US" dirty="0"/>
              <a:t> in the following circuit:</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Equivalent circuit:</a:t>
            </a:r>
          </a:p>
          <a:p>
            <a:pPr algn="just"/>
            <a:endParaRPr lang="en-US" dirty="0"/>
          </a:p>
          <a:p>
            <a:pPr algn="just"/>
            <a:endParaRPr lang="en-US" dirty="0"/>
          </a:p>
        </p:txBody>
      </p:sp>
      <p:graphicFrame>
        <p:nvGraphicFramePr>
          <p:cNvPr id="23" name="Object 3"/>
          <p:cNvGraphicFramePr>
            <a:graphicFrameLocks noChangeAspect="1"/>
          </p:cNvGraphicFramePr>
          <p:nvPr/>
        </p:nvGraphicFramePr>
        <p:xfrm>
          <a:off x="3733800" y="1549285"/>
          <a:ext cx="5295900" cy="1651115"/>
        </p:xfrm>
        <a:graphic>
          <a:graphicData uri="http://schemas.openxmlformats.org/presentationml/2006/ole">
            <mc:AlternateContent xmlns:mc="http://schemas.openxmlformats.org/markup-compatibility/2006">
              <mc:Choice xmlns:v="urn:schemas-microsoft-com:vml" Requires="v">
                <p:oleObj name="Equation" r:id="rId3" imgW="3886200" imgH="1320480" progId="Equation.3">
                  <p:embed/>
                </p:oleObj>
              </mc:Choice>
              <mc:Fallback>
                <p:oleObj name="Equation" r:id="rId3" imgW="3886200" imgH="1320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1549285"/>
                        <a:ext cx="5295900" cy="16511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 name="Picture 2" descr="03_35-01unAO6-3-8"/>
          <p:cNvPicPr>
            <a:picLocks noChangeAspect="1" noChangeArrowheads="1"/>
          </p:cNvPicPr>
          <p:nvPr/>
        </p:nvPicPr>
        <p:blipFill>
          <a:blip r:embed="rId5" cstate="print"/>
          <a:srcRect/>
          <a:stretch>
            <a:fillRect/>
          </a:stretch>
        </p:blipFill>
        <p:spPr bwMode="auto">
          <a:xfrm>
            <a:off x="266700" y="1143000"/>
            <a:ext cx="3352800" cy="2091439"/>
          </a:xfrm>
          <a:prstGeom prst="rect">
            <a:avLst/>
          </a:prstGeom>
          <a:noFill/>
          <a:ln w="9525">
            <a:noFill/>
            <a:miter lim="800000"/>
            <a:headEnd/>
            <a:tailEnd/>
          </a:ln>
          <a:effectLst/>
        </p:spPr>
      </p:pic>
      <p:sp>
        <p:nvSpPr>
          <p:cNvPr id="13" name="Title 1"/>
          <p:cNvSpPr txBox="1">
            <a:spLocks/>
          </p:cNvSpPr>
          <p:nvPr/>
        </p:nvSpPr>
        <p:spPr bwMode="auto">
          <a:xfrm>
            <a:off x="3810000" y="1333500"/>
            <a:ext cx="4305300" cy="381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b="0" i="0" u="sng" strike="noStrike" kern="1200" cap="none" spc="0" normalizeH="0" baseline="0" noProof="0" dirty="0">
                <a:ln>
                  <a:noFill/>
                </a:ln>
                <a:solidFill>
                  <a:schemeClr val="tx1"/>
                </a:solidFill>
                <a:effectLst/>
                <a:uLnTx/>
                <a:uFillTx/>
                <a:latin typeface="+mj-lt"/>
                <a:ea typeface="+mj-ea"/>
                <a:cs typeface="+mj-cs"/>
              </a:rPr>
              <a:t>Solution:</a:t>
            </a:r>
          </a:p>
          <a:p>
            <a:pPr marL="0" marR="0" lvl="0" indent="0" defTabSz="914400" rtl="0" eaLnBrk="1" fontAlgn="base" latinLnBrk="0" hangingPunct="1">
              <a:lnSpc>
                <a:spcPct val="100000"/>
              </a:lnSpc>
              <a:spcBef>
                <a:spcPct val="0"/>
              </a:spcBef>
              <a:spcAft>
                <a:spcPct val="0"/>
              </a:spcAft>
              <a:buClrTx/>
              <a:buSzTx/>
              <a:buFontTx/>
              <a:buNone/>
              <a:tabLst/>
              <a:defRPr/>
            </a:pPr>
            <a:endParaRPr kumimoji="0" lang="en-US" sz="800" b="0" i="0" u="sng" strike="noStrike" kern="1200" cap="none" spc="0" normalizeH="0" baseline="0" noProof="0" dirty="0">
              <a:ln>
                <a:noFill/>
              </a:ln>
              <a:solidFill>
                <a:schemeClr val="tx1"/>
              </a:solidFill>
              <a:effectLst/>
              <a:uLnTx/>
              <a:uFillTx/>
              <a:latin typeface="+mj-lt"/>
              <a:ea typeface="+mj-ea"/>
              <a:cs typeface="+mj-cs"/>
            </a:endParaRPr>
          </a:p>
          <a:p>
            <a:pPr lvl="0">
              <a:defRPr/>
            </a:pPr>
            <a:endParaRPr kumimoji="0" lang="en-US" b="0" i="0" strike="noStrike" kern="1200" cap="none" spc="0" normalizeH="0" baseline="0" noProof="0" dirty="0">
              <a:ln>
                <a:noFill/>
              </a:ln>
              <a:solidFill>
                <a:schemeClr val="tx1"/>
              </a:solidFill>
              <a:effectLst/>
              <a:uLnTx/>
              <a:uFillTx/>
              <a:latin typeface="+mj-lt"/>
              <a:ea typeface="+mj-ea"/>
              <a:cs typeface="+mj-cs"/>
            </a:endParaRPr>
          </a:p>
        </p:txBody>
      </p:sp>
      <p:pic>
        <p:nvPicPr>
          <p:cNvPr id="349189" name="Picture 5"/>
          <p:cNvPicPr>
            <a:picLocks noChangeAspect="1" noChangeArrowheads="1"/>
          </p:cNvPicPr>
          <p:nvPr/>
        </p:nvPicPr>
        <p:blipFill>
          <a:blip r:embed="rId6" cstate="print"/>
          <a:srcRect/>
          <a:stretch>
            <a:fillRect/>
          </a:stretch>
        </p:blipFill>
        <p:spPr bwMode="auto">
          <a:xfrm>
            <a:off x="419100" y="3886200"/>
            <a:ext cx="3636646" cy="1752600"/>
          </a:xfrm>
          <a:prstGeom prst="rect">
            <a:avLst/>
          </a:prstGeom>
          <a:noFill/>
          <a:ln w="9525">
            <a:noFill/>
            <a:miter lim="800000"/>
            <a:headEnd/>
            <a:tailEnd/>
          </a:ln>
          <a:effectLst/>
        </p:spPr>
      </p:pic>
    </p:spTree>
    <p:extLst>
      <p:ext uri="{BB962C8B-B14F-4D97-AF65-F5344CB8AC3E}">
        <p14:creationId xmlns:p14="http://schemas.microsoft.com/office/powerpoint/2010/main" val="3554417969"/>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76200"/>
            <a:ext cx="7734300" cy="563563"/>
          </a:xfrm>
        </p:spPr>
        <p:txBody>
          <a:bodyPr/>
          <a:lstStyle/>
          <a:p>
            <a:r>
              <a:rPr lang="en-US" sz="3200" dirty="0"/>
              <a:t>Example (N &amp; R AP 3.8)</a:t>
            </a:r>
          </a:p>
        </p:txBody>
      </p:sp>
      <p:sp>
        <p:nvSpPr>
          <p:cNvPr id="20"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Ali </a:t>
            </a:r>
            <a:r>
              <a:rPr kumimoji="0" lang="en-US" sz="1200" b="0" i="0" u="none" strike="noStrike" kern="1200" cap="none" spc="0" normalizeH="0" baseline="0" noProof="0" dirty="0" err="1">
                <a:ln>
                  <a:noFill/>
                </a:ln>
                <a:solidFill>
                  <a:schemeClr val="tx1">
                    <a:tint val="75000"/>
                  </a:schemeClr>
                </a:solidFill>
                <a:effectLst/>
                <a:uLnTx/>
                <a:uFillTx/>
                <a:latin typeface="+mn-lt"/>
                <a:ea typeface="+mn-ea"/>
                <a:cs typeface="+mn-cs"/>
              </a:rPr>
              <a:t>Muhtaroğlu</a:t>
            </a:r>
            <a:endPar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 name="Slide Number Placeholder 12"/>
          <p:cNvSpPr>
            <a:spLocks noGrp="1"/>
          </p:cNvSpPr>
          <p:nvPr>
            <p:ph type="sldNum" sz="quarter" idx="11"/>
          </p:nvPr>
        </p:nvSpPr>
        <p:spPr>
          <a:xfrm>
            <a:off x="8267700" y="6477000"/>
            <a:ext cx="876300" cy="365125"/>
          </a:xfrm>
        </p:spPr>
        <p:txBody>
          <a:bodyPr/>
          <a:lstStyle/>
          <a:p>
            <a:pPr>
              <a:defRPr/>
            </a:pPr>
            <a:fld id="{A957CEED-90C7-4FD0-AB8C-14085BB9151E}" type="slidenum">
              <a:rPr lang="en-US" smtClean="0"/>
              <a:pPr>
                <a:defRPr/>
              </a:pPr>
              <a:t>42</a:t>
            </a:fld>
            <a:endParaRPr lang="en-US" dirty="0"/>
          </a:p>
        </p:txBody>
      </p:sp>
      <p:sp>
        <p:nvSpPr>
          <p:cNvPr id="18" name="TextBox 17"/>
          <p:cNvSpPr txBox="1"/>
          <p:nvPr/>
        </p:nvSpPr>
        <p:spPr>
          <a:xfrm>
            <a:off x="419100" y="685800"/>
            <a:ext cx="8343900" cy="3693319"/>
          </a:xfrm>
          <a:prstGeom prst="rect">
            <a:avLst/>
          </a:prstGeom>
          <a:noFill/>
        </p:spPr>
        <p:txBody>
          <a:bodyPr wrap="square" rtlCol="0">
            <a:spAutoFit/>
          </a:bodyPr>
          <a:lstStyle/>
          <a:p>
            <a:pPr algn="just"/>
            <a:r>
              <a:rPr lang="en-US" dirty="0"/>
              <a:t>Use a Y-to-</a:t>
            </a:r>
            <a:r>
              <a:rPr lang="el-GR" dirty="0"/>
              <a:t>Δ</a:t>
            </a:r>
            <a:r>
              <a:rPr lang="en-US" dirty="0"/>
              <a:t> transformation to find the voltage </a:t>
            </a:r>
            <a:r>
              <a:rPr lang="en-US" i="1" dirty="0"/>
              <a:t>v</a:t>
            </a:r>
            <a:r>
              <a:rPr lang="en-US" dirty="0"/>
              <a:t> in the following circuit:</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Equivalent circuit:</a:t>
            </a:r>
          </a:p>
          <a:p>
            <a:pPr algn="just"/>
            <a:endParaRPr lang="en-US" dirty="0"/>
          </a:p>
          <a:p>
            <a:pPr algn="just"/>
            <a:endParaRPr lang="en-US" dirty="0"/>
          </a:p>
        </p:txBody>
      </p:sp>
      <p:graphicFrame>
        <p:nvGraphicFramePr>
          <p:cNvPr id="23" name="Object 3"/>
          <p:cNvGraphicFramePr>
            <a:graphicFrameLocks noChangeAspect="1"/>
          </p:cNvGraphicFramePr>
          <p:nvPr/>
        </p:nvGraphicFramePr>
        <p:xfrm>
          <a:off x="3733800" y="1549285"/>
          <a:ext cx="5295900" cy="1651115"/>
        </p:xfrm>
        <a:graphic>
          <a:graphicData uri="http://schemas.openxmlformats.org/presentationml/2006/ole">
            <mc:AlternateContent xmlns:mc="http://schemas.openxmlformats.org/markup-compatibility/2006">
              <mc:Choice xmlns:v="urn:schemas-microsoft-com:vml" Requires="v">
                <p:oleObj name="Equation" r:id="rId3" imgW="3886200" imgH="1320480" progId="Equation.3">
                  <p:embed/>
                </p:oleObj>
              </mc:Choice>
              <mc:Fallback>
                <p:oleObj name="Equation" r:id="rId3" imgW="3886200" imgH="1320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1549285"/>
                        <a:ext cx="5295900" cy="16511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 name="Picture 2" descr="03_35-01unAO6-3-8"/>
          <p:cNvPicPr>
            <a:picLocks noChangeAspect="1" noChangeArrowheads="1"/>
          </p:cNvPicPr>
          <p:nvPr/>
        </p:nvPicPr>
        <p:blipFill>
          <a:blip r:embed="rId5" cstate="print"/>
          <a:srcRect/>
          <a:stretch>
            <a:fillRect/>
          </a:stretch>
        </p:blipFill>
        <p:spPr bwMode="auto">
          <a:xfrm>
            <a:off x="266700" y="1143000"/>
            <a:ext cx="3352800" cy="2091439"/>
          </a:xfrm>
          <a:prstGeom prst="rect">
            <a:avLst/>
          </a:prstGeom>
          <a:noFill/>
          <a:ln w="9525">
            <a:noFill/>
            <a:miter lim="800000"/>
            <a:headEnd/>
            <a:tailEnd/>
          </a:ln>
          <a:effectLst/>
        </p:spPr>
      </p:pic>
      <p:sp>
        <p:nvSpPr>
          <p:cNvPr id="13" name="Title 1"/>
          <p:cNvSpPr txBox="1">
            <a:spLocks/>
          </p:cNvSpPr>
          <p:nvPr/>
        </p:nvSpPr>
        <p:spPr bwMode="auto">
          <a:xfrm>
            <a:off x="3810000" y="1333500"/>
            <a:ext cx="4305300" cy="381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en-US" b="0" i="0" u="sng" strike="noStrike" kern="1200" cap="none" spc="0" normalizeH="0" baseline="0" noProof="0" dirty="0">
                <a:ln>
                  <a:noFill/>
                </a:ln>
                <a:solidFill>
                  <a:schemeClr val="tx1"/>
                </a:solidFill>
                <a:effectLst/>
                <a:uLnTx/>
                <a:uFillTx/>
                <a:latin typeface="+mj-lt"/>
                <a:ea typeface="+mj-ea"/>
                <a:cs typeface="+mj-cs"/>
              </a:rPr>
              <a:t>Solution:</a:t>
            </a:r>
          </a:p>
          <a:p>
            <a:pPr marL="0" marR="0" lvl="0" indent="0" defTabSz="914400" rtl="0" eaLnBrk="1" fontAlgn="base" latinLnBrk="0" hangingPunct="1">
              <a:lnSpc>
                <a:spcPct val="100000"/>
              </a:lnSpc>
              <a:spcBef>
                <a:spcPct val="0"/>
              </a:spcBef>
              <a:spcAft>
                <a:spcPct val="0"/>
              </a:spcAft>
              <a:buClrTx/>
              <a:buSzTx/>
              <a:buFontTx/>
              <a:buNone/>
              <a:tabLst/>
              <a:defRPr/>
            </a:pPr>
            <a:endParaRPr kumimoji="0" lang="en-US" sz="800" b="0" i="0" u="sng" strike="noStrike" kern="1200" cap="none" spc="0" normalizeH="0" baseline="0" noProof="0" dirty="0">
              <a:ln>
                <a:noFill/>
              </a:ln>
              <a:solidFill>
                <a:schemeClr val="tx1"/>
              </a:solidFill>
              <a:effectLst/>
              <a:uLnTx/>
              <a:uFillTx/>
              <a:latin typeface="+mj-lt"/>
              <a:ea typeface="+mj-ea"/>
              <a:cs typeface="+mj-cs"/>
            </a:endParaRPr>
          </a:p>
          <a:p>
            <a:pPr lvl="0">
              <a:defRPr/>
            </a:pPr>
            <a:endParaRPr kumimoji="0" lang="en-US" b="0" i="0" strike="noStrike" kern="1200" cap="none" spc="0" normalizeH="0" baseline="0" noProof="0" dirty="0">
              <a:ln>
                <a:noFill/>
              </a:ln>
              <a:solidFill>
                <a:schemeClr val="tx1"/>
              </a:solidFill>
              <a:effectLst/>
              <a:uLnTx/>
              <a:uFillTx/>
              <a:latin typeface="+mj-lt"/>
              <a:ea typeface="+mj-ea"/>
              <a:cs typeface="+mj-cs"/>
            </a:endParaRPr>
          </a:p>
        </p:txBody>
      </p:sp>
      <p:pic>
        <p:nvPicPr>
          <p:cNvPr id="349189" name="Picture 5"/>
          <p:cNvPicPr>
            <a:picLocks noChangeAspect="1" noChangeArrowheads="1"/>
          </p:cNvPicPr>
          <p:nvPr/>
        </p:nvPicPr>
        <p:blipFill>
          <a:blip r:embed="rId6" cstate="print"/>
          <a:srcRect/>
          <a:stretch>
            <a:fillRect/>
          </a:stretch>
        </p:blipFill>
        <p:spPr bwMode="auto">
          <a:xfrm>
            <a:off x="419100" y="3886200"/>
            <a:ext cx="3636646" cy="1752600"/>
          </a:xfrm>
          <a:prstGeom prst="rect">
            <a:avLst/>
          </a:prstGeom>
          <a:noFill/>
          <a:ln w="9525">
            <a:noFill/>
            <a:miter lim="800000"/>
            <a:headEnd/>
            <a:tailEnd/>
          </a:ln>
          <a:effectLst/>
        </p:spPr>
      </p:pic>
      <p:pic>
        <p:nvPicPr>
          <p:cNvPr id="349191" name="Picture 7"/>
          <p:cNvPicPr>
            <a:picLocks noChangeAspect="1" noChangeArrowheads="1"/>
          </p:cNvPicPr>
          <p:nvPr/>
        </p:nvPicPr>
        <p:blipFill>
          <a:blip r:embed="rId7" cstate="print"/>
          <a:srcRect/>
          <a:stretch>
            <a:fillRect/>
          </a:stretch>
        </p:blipFill>
        <p:spPr bwMode="auto">
          <a:xfrm>
            <a:off x="4876800" y="4191000"/>
            <a:ext cx="2726352" cy="1219200"/>
          </a:xfrm>
          <a:prstGeom prst="rect">
            <a:avLst/>
          </a:prstGeom>
          <a:noFill/>
          <a:ln w="9525">
            <a:noFill/>
            <a:miter lim="800000"/>
            <a:headEnd/>
            <a:tailEnd/>
          </a:ln>
          <a:effectLst/>
        </p:spPr>
      </p:pic>
      <p:sp>
        <p:nvSpPr>
          <p:cNvPr id="17" name="Right Arrow 16"/>
          <p:cNvSpPr/>
          <p:nvPr/>
        </p:nvSpPr>
        <p:spPr>
          <a:xfrm rot="10800000" flipH="1">
            <a:off x="4305300" y="4686300"/>
            <a:ext cx="4191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aphicFrame>
        <p:nvGraphicFramePr>
          <p:cNvPr id="349192" name="Object 8"/>
          <p:cNvGraphicFramePr>
            <a:graphicFrameLocks noChangeAspect="1"/>
          </p:cNvGraphicFramePr>
          <p:nvPr/>
        </p:nvGraphicFramePr>
        <p:xfrm>
          <a:off x="5219700" y="5791200"/>
          <a:ext cx="2682875" cy="401638"/>
        </p:xfrm>
        <a:graphic>
          <a:graphicData uri="http://schemas.openxmlformats.org/presentationml/2006/ole">
            <mc:AlternateContent xmlns:mc="http://schemas.openxmlformats.org/markup-compatibility/2006">
              <mc:Choice xmlns:v="urn:schemas-microsoft-com:vml" Requires="v">
                <p:oleObj name="Equation" r:id="rId8" imgW="1473120" imgH="241200" progId="Equation.3">
                  <p:embed/>
                </p:oleObj>
              </mc:Choice>
              <mc:Fallback>
                <p:oleObj name="Equation" r:id="rId8" imgW="1473120" imgH="241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19700" y="5791200"/>
                        <a:ext cx="2682875" cy="401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56596245"/>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394" descr="magic"/>
          <p:cNvPicPr>
            <a:picLocks noChangeAspect="1" noChangeArrowheads="1"/>
          </p:cNvPicPr>
          <p:nvPr/>
        </p:nvPicPr>
        <p:blipFill>
          <a:blip r:embed="rId3" cstate="print"/>
          <a:srcRect/>
          <a:stretch>
            <a:fillRect/>
          </a:stretch>
        </p:blipFill>
        <p:spPr bwMode="auto">
          <a:xfrm>
            <a:off x="0" y="0"/>
            <a:ext cx="127000" cy="127000"/>
          </a:xfrm>
          <a:prstGeom prst="rect">
            <a:avLst/>
          </a:prstGeom>
          <a:noFill/>
          <a:ln w="9525">
            <a:noFill/>
            <a:miter lim="800000"/>
            <a:headEnd/>
            <a:tailEnd/>
          </a:ln>
        </p:spPr>
      </p:pic>
      <p:sp>
        <p:nvSpPr>
          <p:cNvPr id="112643" name="Rectangle 4"/>
          <p:cNvSpPr>
            <a:spLocks noChangeArrowheads="1"/>
          </p:cNvSpPr>
          <p:nvPr/>
        </p:nvSpPr>
        <p:spPr bwMode="auto">
          <a:xfrm>
            <a:off x="3124200" y="114300"/>
            <a:ext cx="1820563" cy="52322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800" b="0" i="0" u="none" strike="noStrike" kern="1200" cap="none" spc="0" normalizeH="0" baseline="0" noProof="0" dirty="0">
                <a:ln>
                  <a:noFill/>
                </a:ln>
                <a:solidFill>
                  <a:prstClr val="black"/>
                </a:solidFill>
                <a:effectLst/>
                <a:uLnTx/>
                <a:uFillTx/>
                <a:latin typeface="Calibri"/>
                <a:ea typeface="+mn-ea"/>
                <a:cs typeface="+mn-cs"/>
              </a:rPr>
              <a:t>RMS Value </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2644" name="Rectangle 378"/>
          <p:cNvSpPr>
            <a:spLocks noChangeArrowheads="1"/>
          </p:cNvSpPr>
          <p:nvPr/>
        </p:nvSpPr>
        <p:spPr bwMode="auto">
          <a:xfrm>
            <a:off x="0" y="1476375"/>
            <a:ext cx="5445125" cy="542925"/>
          </a:xfrm>
          <a:prstGeom prst="rect">
            <a:avLst/>
          </a:prstGeom>
          <a:solidFill>
            <a:srgbClr val="000066"/>
          </a:solidFill>
          <a:ln w="9525" algn="ctr">
            <a:noFill/>
            <a:miter lim="800000"/>
            <a:headEnd/>
            <a:tailEnd/>
          </a:ln>
        </p:spPr>
        <p:txBody>
          <a:bodyPr lIns="54000" tIns="118800" rIns="54000" bIns="118800">
            <a:spAutoFit/>
          </a:bodyPr>
          <a:lstStyle/>
          <a:p>
            <a:pPr marL="0" marR="0" lvl="0" indent="4763" algn="ctr"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dirty="0">
                <a:ln>
                  <a:noFill/>
                </a:ln>
                <a:solidFill>
                  <a:srgbClr val="FFFF00"/>
                </a:solidFill>
                <a:effectLst/>
                <a:uLnTx/>
                <a:uFillTx/>
                <a:latin typeface="Arial Black" pitchFamily="34" charset="0"/>
                <a:ea typeface="+mn-ea"/>
                <a:cs typeface="+mn-cs"/>
              </a:rPr>
              <a:t>Definition: RMS (Root Mean Square)</a:t>
            </a:r>
            <a:endParaRPr kumimoji="0" lang="en-US" sz="2000" b="0" i="0" u="none" strike="noStrike" kern="1200" cap="none" spc="0" normalizeH="0" baseline="0" noProof="0" dirty="0">
              <a:ln>
                <a:noFill/>
              </a:ln>
              <a:solidFill>
                <a:srgbClr val="FFFF00"/>
              </a:solidFill>
              <a:effectLst/>
              <a:uLnTx/>
              <a:uFillTx/>
              <a:latin typeface="Arial Black" pitchFamily="34" charset="0"/>
              <a:ea typeface="+mn-ea"/>
              <a:cs typeface="+mn-cs"/>
            </a:endParaRPr>
          </a:p>
        </p:txBody>
      </p:sp>
      <p:sp>
        <p:nvSpPr>
          <p:cNvPr id="112645" name="Rectangle 379"/>
          <p:cNvSpPr>
            <a:spLocks noChangeArrowheads="1"/>
          </p:cNvSpPr>
          <p:nvPr/>
        </p:nvSpPr>
        <p:spPr bwMode="auto">
          <a:xfrm>
            <a:off x="0" y="3013075"/>
            <a:ext cx="5445125" cy="1841500"/>
          </a:xfrm>
          <a:prstGeom prst="rect">
            <a:avLst/>
          </a:prstGeom>
          <a:solidFill>
            <a:srgbClr val="000066"/>
          </a:solidFill>
          <a:ln w="9525" algn="ctr">
            <a:noFill/>
            <a:miter lim="800000"/>
            <a:headEnd/>
            <a:tailEnd/>
          </a:ln>
        </p:spPr>
        <p:txBody>
          <a:bodyPr lIns="126000" tIns="82800" rIns="162000" bIns="82800">
            <a:spAutoFit/>
          </a:bodyPr>
          <a:lstStyle/>
          <a:p>
            <a:pPr marL="177800" marR="0" lvl="0" indent="0" algn="l" defTabSz="914400" rtl="0" eaLnBrk="1" fontAlgn="base" latinLnBrk="0" hangingPunct="1">
              <a:lnSpc>
                <a:spcPct val="85000"/>
              </a:lnSpc>
              <a:spcBef>
                <a:spcPct val="0"/>
              </a:spcBef>
              <a:spcAft>
                <a:spcPct val="0"/>
              </a:spcAft>
              <a:buClrTx/>
              <a:buSzTx/>
              <a:buFontTx/>
              <a:buNone/>
              <a:tabLst/>
              <a:defRPr/>
            </a:pPr>
            <a:r>
              <a:rPr kumimoji="0" lang="tr-TR" sz="2000" b="1" i="0" u="none" strike="noStrike" kern="1200" cap="none" spc="0" normalizeH="0" baseline="0" noProof="0" dirty="0">
                <a:ln>
                  <a:noFill/>
                </a:ln>
                <a:solidFill>
                  <a:prstClr val="white"/>
                </a:solidFill>
                <a:effectLst/>
                <a:uLnTx/>
                <a:uFillTx/>
                <a:latin typeface="Arial Narrow" pitchFamily="34" charset="0"/>
                <a:ea typeface="+mn-ea"/>
                <a:cs typeface="+mn-cs"/>
              </a:rPr>
              <a:t>The above definition is based on the principle of equating the heating effects of the currents calculated in both cases</a:t>
            </a:r>
            <a:r>
              <a:rPr kumimoji="0" lang="en-US" sz="2000" b="1" i="0" u="none" strike="noStrike" kern="1200" cap="none" spc="0" normalizeH="0" baseline="0" noProof="0" dirty="0">
                <a:ln>
                  <a:noFill/>
                </a:ln>
                <a:solidFill>
                  <a:prstClr val="white"/>
                </a:solidFill>
                <a:effectLst/>
                <a:uLnTx/>
                <a:uFillTx/>
                <a:latin typeface="Arial Narrow" pitchFamily="34" charset="0"/>
                <a:ea typeface="+mn-ea"/>
                <a:cs typeface="+mn-cs"/>
              </a:rPr>
              <a:t>.</a:t>
            </a:r>
            <a:endParaRPr kumimoji="0" lang="tr-TR" sz="2000" b="1" i="0" u="none" strike="noStrike" kern="1200" cap="none" spc="0" normalizeH="0" baseline="0" noProof="0" dirty="0">
              <a:ln>
                <a:noFill/>
              </a:ln>
              <a:solidFill>
                <a:prstClr val="white"/>
              </a:solidFill>
              <a:effectLst/>
              <a:uLnTx/>
              <a:uFillTx/>
              <a:latin typeface="Arial Narrow" pitchFamily="34" charset="0"/>
              <a:ea typeface="+mn-ea"/>
              <a:cs typeface="+mn-cs"/>
            </a:endParaRPr>
          </a:p>
          <a:p>
            <a:pPr marL="177800" marR="0" lvl="0" indent="0" algn="l" defTabSz="914400" rtl="0" eaLnBrk="1" fontAlgn="base" latinLnBrk="0" hangingPunct="1">
              <a:lnSpc>
                <a:spcPct val="85000"/>
              </a:lnSpc>
              <a:spcBef>
                <a:spcPct val="0"/>
              </a:spcBef>
              <a:spcAft>
                <a:spcPct val="0"/>
              </a:spcAft>
              <a:buClrTx/>
              <a:buSzTx/>
              <a:buFontTx/>
              <a:buNone/>
              <a:tabLst/>
              <a:defRPr/>
            </a:pPr>
            <a:endParaRPr kumimoji="0" lang="tr-TR" sz="800" b="1" i="0" u="none" strike="noStrike" kern="1200" cap="none" spc="0" normalizeH="0" baseline="0" noProof="0" dirty="0">
              <a:ln>
                <a:noFill/>
              </a:ln>
              <a:solidFill>
                <a:prstClr val="white"/>
              </a:solidFill>
              <a:effectLst/>
              <a:uLnTx/>
              <a:uFillTx/>
              <a:latin typeface="Arial Narrow" pitchFamily="34" charset="0"/>
              <a:ea typeface="+mn-ea"/>
              <a:cs typeface="+mn-cs"/>
            </a:endParaRPr>
          </a:p>
          <a:p>
            <a:pPr marL="177800" marR="0" lvl="0" indent="0" algn="l" defTabSz="914400" rtl="0" eaLnBrk="1" fontAlgn="base" latinLnBrk="0" hangingPunct="1">
              <a:lnSpc>
                <a:spcPct val="85000"/>
              </a:lnSpc>
              <a:spcBef>
                <a:spcPct val="0"/>
              </a:spcBef>
              <a:spcAft>
                <a:spcPct val="0"/>
              </a:spcAft>
              <a:buClrTx/>
              <a:buSzTx/>
              <a:buFontTx/>
              <a:buNone/>
              <a:tabLst/>
              <a:defRPr/>
            </a:pPr>
            <a:r>
              <a:rPr kumimoji="0" lang="tr-TR" sz="2000" b="1" i="0" u="none" strike="noStrike" kern="1200" cap="none" spc="0" normalizeH="0" baseline="0" noProof="0" dirty="0">
                <a:ln>
                  <a:noFill/>
                </a:ln>
                <a:solidFill>
                  <a:prstClr val="white"/>
                </a:solidFill>
                <a:effectLst/>
                <a:uLnTx/>
                <a:uFillTx/>
                <a:latin typeface="Arial Narrow" pitchFamily="34" charset="0"/>
                <a:ea typeface="+mn-ea"/>
                <a:cs typeface="+mn-cs"/>
              </a:rPr>
              <a:t>First, calculate the power dissipated (heating effect) in the resistance R in the DC circuit shown on the RHS</a:t>
            </a:r>
            <a:r>
              <a:rPr kumimoji="0" lang="en-US" sz="2000" b="1" i="0" u="none" strike="noStrike" kern="1200" cap="none" spc="0" normalizeH="0" baseline="0" noProof="0" dirty="0">
                <a:ln>
                  <a:noFill/>
                </a:ln>
                <a:solidFill>
                  <a:prstClr val="white"/>
                </a:solidFill>
                <a:effectLst/>
                <a:uLnTx/>
                <a:uFillTx/>
                <a:latin typeface="Arial Narrow" pitchFamily="34" charset="0"/>
                <a:ea typeface="+mn-ea"/>
                <a:cs typeface="+mn-cs"/>
              </a:rPr>
              <a:t>:</a:t>
            </a:r>
            <a:endParaRPr kumimoji="0" lang="tr-TR" sz="2000" b="1" i="0" u="none" strike="noStrike" kern="1200" cap="none" spc="0" normalizeH="0" baseline="0" noProof="0" dirty="0">
              <a:ln>
                <a:noFill/>
              </a:ln>
              <a:solidFill>
                <a:prstClr val="white"/>
              </a:solidFill>
              <a:effectLst/>
              <a:uLnTx/>
              <a:uFillTx/>
              <a:latin typeface="Arial Narrow" pitchFamily="34" charset="0"/>
              <a:ea typeface="+mn-ea"/>
              <a:cs typeface="+mn-cs"/>
            </a:endParaRPr>
          </a:p>
        </p:txBody>
      </p:sp>
      <p:sp>
        <p:nvSpPr>
          <p:cNvPr id="112646" name="Rectangle 381"/>
          <p:cNvSpPr>
            <a:spLocks noChangeArrowheads="1"/>
          </p:cNvSpPr>
          <p:nvPr/>
        </p:nvSpPr>
        <p:spPr bwMode="auto">
          <a:xfrm>
            <a:off x="0" y="4889500"/>
            <a:ext cx="5445125" cy="1270000"/>
          </a:xfrm>
          <a:prstGeom prst="rect">
            <a:avLst/>
          </a:prstGeom>
          <a:solidFill>
            <a:srgbClr val="000066"/>
          </a:solidFill>
          <a:ln w="9525">
            <a:noFill/>
            <a:miter lim="800000"/>
            <a:headEnd/>
            <a:tailEnd/>
          </a:ln>
        </p:spPr>
        <p:txBody>
          <a:bodyPr tIns="82800" bIns="82800">
            <a:spAutoFit/>
          </a:bodyPr>
          <a:lstStyle/>
          <a:p>
            <a:pPr marL="177800" marR="0" lvl="0" indent="0" algn="l" defTabSz="914400" rtl="0" eaLnBrk="1" fontAlgn="base" latinLnBrk="0" hangingPunct="1">
              <a:lnSpc>
                <a:spcPct val="110000"/>
              </a:lnSpc>
              <a:spcBef>
                <a:spcPct val="0"/>
              </a:spcBef>
              <a:spcAft>
                <a:spcPct val="0"/>
              </a:spcAft>
              <a:buClrTx/>
              <a:buSzTx/>
              <a:buFontTx/>
              <a:buNone/>
              <a:tabLst/>
              <a:defRPr/>
            </a:pPr>
            <a:r>
              <a:rPr kumimoji="0" lang="tr-TR" sz="2200" b="1" i="0" u="none" strike="noStrike" kern="1200" cap="none" spc="0" normalizeH="0" baseline="0" noProof="0">
                <a:ln>
                  <a:noFill/>
                </a:ln>
                <a:solidFill>
                  <a:srgbClr val="FFFF00"/>
                </a:solidFill>
                <a:effectLst/>
                <a:uLnTx/>
                <a:uFillTx/>
                <a:latin typeface="Arial Narrow" pitchFamily="34" charset="0"/>
                <a:ea typeface="+mn-ea"/>
                <a:cs typeface="+mn-cs"/>
              </a:rPr>
              <a:t>	V</a:t>
            </a:r>
            <a:r>
              <a:rPr kumimoji="0" lang="tr-TR" sz="2200" b="1" i="0" u="none" strike="noStrike" kern="1200" cap="none" spc="0" normalizeH="0" baseline="-25000" noProof="0">
                <a:ln>
                  <a:noFill/>
                </a:ln>
                <a:solidFill>
                  <a:srgbClr val="FFFF00"/>
                </a:solidFill>
                <a:effectLst/>
                <a:uLnTx/>
                <a:uFillTx/>
                <a:latin typeface="Arial Narrow" pitchFamily="34" charset="0"/>
                <a:ea typeface="+mn-ea"/>
                <a:cs typeface="+mn-cs"/>
              </a:rPr>
              <a:t>R</a:t>
            </a:r>
            <a:r>
              <a:rPr kumimoji="0" lang="tr-TR" sz="2200" b="1" i="0" u="none" strike="noStrike" kern="1200" cap="none" spc="0" normalizeH="0" baseline="0" noProof="0">
                <a:ln>
                  <a:noFill/>
                </a:ln>
                <a:solidFill>
                  <a:srgbClr val="FFFF00"/>
                </a:solidFill>
                <a:effectLst/>
                <a:uLnTx/>
                <a:uFillTx/>
                <a:latin typeface="Arial Narrow" pitchFamily="34" charset="0"/>
                <a:ea typeface="+mn-ea"/>
                <a:cs typeface="+mn-cs"/>
              </a:rPr>
              <a:t>       = R </a:t>
            </a:r>
            <a:r>
              <a:rPr kumimoji="0" lang="tr-TR" sz="1400" b="1" i="0" u="none" strike="noStrike" kern="1200" cap="none" spc="0" normalizeH="0" baseline="0" noProof="0">
                <a:ln>
                  <a:noFill/>
                </a:ln>
                <a:solidFill>
                  <a:srgbClr val="FFFF00"/>
                </a:solidFill>
                <a:effectLst/>
                <a:uLnTx/>
                <a:uFillTx/>
                <a:latin typeface="Arial Narrow" pitchFamily="34" charset="0"/>
                <a:ea typeface="+mn-ea"/>
                <a:cs typeface="+mn-cs"/>
              </a:rPr>
              <a:t>x</a:t>
            </a:r>
            <a:r>
              <a:rPr kumimoji="0" lang="tr-TR" sz="2200" b="1" i="0" u="none" strike="noStrike" kern="1200" cap="none" spc="0" normalizeH="0" baseline="0" noProof="0">
                <a:ln>
                  <a:noFill/>
                </a:ln>
                <a:solidFill>
                  <a:srgbClr val="FFFF00"/>
                </a:solidFill>
                <a:effectLst/>
                <a:uLnTx/>
                <a:uFillTx/>
                <a:latin typeface="Arial Narrow" pitchFamily="34" charset="0"/>
                <a:ea typeface="+mn-ea"/>
                <a:cs typeface="+mn-cs"/>
              </a:rPr>
              <a:t> I</a:t>
            </a:r>
            <a:r>
              <a:rPr kumimoji="0" lang="tr-TR" sz="2200" b="1" i="0" u="none" strike="noStrike" kern="1200" cap="none" spc="0" normalizeH="0" baseline="-25000" noProof="0">
                <a:ln>
                  <a:noFill/>
                </a:ln>
                <a:solidFill>
                  <a:srgbClr val="FFFF00"/>
                </a:solidFill>
                <a:effectLst/>
                <a:uLnTx/>
                <a:uFillTx/>
                <a:latin typeface="Arial Narrow" pitchFamily="34" charset="0"/>
                <a:ea typeface="+mn-ea"/>
                <a:cs typeface="+mn-cs"/>
              </a:rPr>
              <a:t>DC</a:t>
            </a:r>
            <a:endParaRPr kumimoji="0" lang="tr-TR" sz="2200" b="1" i="0" u="none" strike="noStrike" kern="1200" cap="none" spc="0" normalizeH="0" baseline="0" noProof="0">
              <a:ln>
                <a:noFill/>
              </a:ln>
              <a:solidFill>
                <a:srgbClr val="FFFF00"/>
              </a:solidFill>
              <a:effectLst/>
              <a:uLnTx/>
              <a:uFillTx/>
              <a:latin typeface="Arial Narrow" pitchFamily="34" charset="0"/>
              <a:ea typeface="+mn-ea"/>
              <a:cs typeface="+mn-cs"/>
            </a:endParaRPr>
          </a:p>
          <a:p>
            <a:pPr marL="177800" marR="0" lvl="0" indent="0" algn="l" defTabSz="914400" rtl="0" eaLnBrk="1" fontAlgn="base" latinLnBrk="0" hangingPunct="1">
              <a:lnSpc>
                <a:spcPct val="110000"/>
              </a:lnSpc>
              <a:spcBef>
                <a:spcPct val="0"/>
              </a:spcBef>
              <a:spcAft>
                <a:spcPct val="0"/>
              </a:spcAft>
              <a:buClrTx/>
              <a:buSzTx/>
              <a:buFontTx/>
              <a:buNone/>
              <a:tabLst/>
              <a:defRPr/>
            </a:pPr>
            <a:r>
              <a:rPr kumimoji="0" lang="tr-TR" sz="2200" b="1" i="0" u="none" strike="noStrike" kern="1200" cap="none" spc="0" normalizeH="0" baseline="0" noProof="0">
                <a:ln>
                  <a:noFill/>
                </a:ln>
                <a:solidFill>
                  <a:srgbClr val="FFFF00"/>
                </a:solidFill>
                <a:effectLst/>
                <a:uLnTx/>
                <a:uFillTx/>
                <a:latin typeface="Arial Narrow" pitchFamily="34" charset="0"/>
                <a:ea typeface="+mn-ea"/>
                <a:cs typeface="+mn-cs"/>
              </a:rPr>
              <a:t>	P</a:t>
            </a:r>
            <a:r>
              <a:rPr kumimoji="0" lang="tr-TR" sz="2200" b="1" i="0" u="none" strike="noStrike" kern="1200" cap="none" spc="0" normalizeH="0" baseline="-25000" noProof="0">
                <a:ln>
                  <a:noFill/>
                </a:ln>
                <a:solidFill>
                  <a:srgbClr val="FFFF00"/>
                </a:solidFill>
                <a:effectLst/>
                <a:uLnTx/>
                <a:uFillTx/>
                <a:latin typeface="Arial Narrow" pitchFamily="34" charset="0"/>
                <a:ea typeface="+mn-ea"/>
                <a:cs typeface="+mn-cs"/>
              </a:rPr>
              <a:t>DC</a:t>
            </a:r>
            <a:r>
              <a:rPr kumimoji="0" lang="tr-TR" sz="2200" b="1" i="0" u="none" strike="noStrike" kern="1200" cap="none" spc="0" normalizeH="0" baseline="0" noProof="0">
                <a:ln>
                  <a:noFill/>
                </a:ln>
                <a:solidFill>
                  <a:srgbClr val="FFFF00"/>
                </a:solidFill>
                <a:effectLst/>
                <a:uLnTx/>
                <a:uFillTx/>
                <a:latin typeface="Arial Narrow" pitchFamily="34" charset="0"/>
                <a:ea typeface="+mn-ea"/>
                <a:cs typeface="+mn-cs"/>
              </a:rPr>
              <a:t>     = V</a:t>
            </a:r>
            <a:r>
              <a:rPr kumimoji="0" lang="tr-TR" sz="2200" b="1" i="0" u="none" strike="noStrike" kern="1200" cap="none" spc="0" normalizeH="0" baseline="-25000" noProof="0">
                <a:ln>
                  <a:noFill/>
                </a:ln>
                <a:solidFill>
                  <a:srgbClr val="FFFF00"/>
                </a:solidFill>
                <a:effectLst/>
                <a:uLnTx/>
                <a:uFillTx/>
                <a:latin typeface="Arial Narrow" pitchFamily="34" charset="0"/>
                <a:ea typeface="+mn-ea"/>
                <a:cs typeface="+mn-cs"/>
              </a:rPr>
              <a:t>R</a:t>
            </a:r>
            <a:r>
              <a:rPr kumimoji="0" lang="tr-TR" sz="2200" b="1" i="0" u="none" strike="noStrike" kern="1200" cap="none" spc="0" normalizeH="0" baseline="0" noProof="0">
                <a:ln>
                  <a:noFill/>
                </a:ln>
                <a:solidFill>
                  <a:srgbClr val="FFFF00"/>
                </a:solidFill>
                <a:effectLst/>
                <a:uLnTx/>
                <a:uFillTx/>
                <a:latin typeface="Arial Narrow" pitchFamily="34" charset="0"/>
                <a:ea typeface="+mn-ea"/>
                <a:cs typeface="+mn-cs"/>
              </a:rPr>
              <a:t> </a:t>
            </a:r>
            <a:r>
              <a:rPr kumimoji="0" lang="tr-TR" sz="1400" b="1" i="0" u="none" strike="noStrike" kern="1200" cap="none" spc="0" normalizeH="0" baseline="0" noProof="0">
                <a:ln>
                  <a:noFill/>
                </a:ln>
                <a:solidFill>
                  <a:srgbClr val="FFFF00"/>
                </a:solidFill>
                <a:effectLst/>
                <a:uLnTx/>
                <a:uFillTx/>
                <a:latin typeface="Arial Narrow" pitchFamily="34" charset="0"/>
                <a:ea typeface="+mn-ea"/>
                <a:cs typeface="+mn-cs"/>
              </a:rPr>
              <a:t>x</a:t>
            </a:r>
            <a:r>
              <a:rPr kumimoji="0" lang="tr-TR" sz="2200" b="1" i="0" u="none" strike="noStrike" kern="1200" cap="none" spc="0" normalizeH="0" baseline="0" noProof="0">
                <a:ln>
                  <a:noFill/>
                </a:ln>
                <a:solidFill>
                  <a:srgbClr val="FFFF00"/>
                </a:solidFill>
                <a:effectLst/>
                <a:uLnTx/>
                <a:uFillTx/>
                <a:latin typeface="Arial Narrow" pitchFamily="34" charset="0"/>
                <a:ea typeface="+mn-ea"/>
                <a:cs typeface="+mn-cs"/>
              </a:rPr>
              <a:t> I</a:t>
            </a:r>
            <a:r>
              <a:rPr kumimoji="0" lang="tr-TR" sz="2200" b="1" i="0" u="none" strike="noStrike" kern="1200" cap="none" spc="0" normalizeH="0" baseline="-25000" noProof="0">
                <a:ln>
                  <a:noFill/>
                </a:ln>
                <a:solidFill>
                  <a:srgbClr val="FFFF00"/>
                </a:solidFill>
                <a:effectLst/>
                <a:uLnTx/>
                <a:uFillTx/>
                <a:latin typeface="Arial Narrow" pitchFamily="34" charset="0"/>
                <a:ea typeface="+mn-ea"/>
                <a:cs typeface="+mn-cs"/>
              </a:rPr>
              <a:t>DC</a:t>
            </a:r>
            <a:endParaRPr kumimoji="0" lang="tr-TR" sz="2200" b="1" i="0" u="none" strike="noStrike" kern="1200" cap="none" spc="0" normalizeH="0" baseline="0" noProof="0">
              <a:ln>
                <a:noFill/>
              </a:ln>
              <a:solidFill>
                <a:srgbClr val="FFFF00"/>
              </a:solidFill>
              <a:effectLst/>
              <a:uLnTx/>
              <a:uFillTx/>
              <a:latin typeface="Arial Narrow" pitchFamily="34" charset="0"/>
              <a:ea typeface="+mn-ea"/>
              <a:cs typeface="+mn-cs"/>
            </a:endParaRPr>
          </a:p>
          <a:p>
            <a:pPr marL="177800" marR="0" lvl="0" indent="0" algn="l" defTabSz="914400" rtl="0" eaLnBrk="1" fontAlgn="base" latinLnBrk="0" hangingPunct="1">
              <a:lnSpc>
                <a:spcPct val="110000"/>
              </a:lnSpc>
              <a:spcBef>
                <a:spcPct val="0"/>
              </a:spcBef>
              <a:spcAft>
                <a:spcPct val="0"/>
              </a:spcAft>
              <a:buClrTx/>
              <a:buSzTx/>
              <a:buFontTx/>
              <a:buNone/>
              <a:tabLst/>
              <a:defRPr/>
            </a:pPr>
            <a:r>
              <a:rPr kumimoji="0" lang="tr-TR" sz="2200" b="1" i="0" u="none" strike="noStrike" kern="1200" cap="none" spc="0" normalizeH="0" baseline="0" noProof="0">
                <a:ln>
                  <a:noFill/>
                </a:ln>
                <a:solidFill>
                  <a:srgbClr val="FFFF00"/>
                </a:solidFill>
                <a:effectLst/>
                <a:uLnTx/>
                <a:uFillTx/>
                <a:latin typeface="Arial Narrow" pitchFamily="34" charset="0"/>
                <a:ea typeface="+mn-ea"/>
                <a:cs typeface="+mn-cs"/>
              </a:rPr>
              <a:t>	           = R </a:t>
            </a:r>
            <a:r>
              <a:rPr kumimoji="0" lang="tr-TR" sz="1400" b="1" i="0" u="none" strike="noStrike" kern="1200" cap="none" spc="0" normalizeH="0" baseline="0" noProof="0">
                <a:ln>
                  <a:noFill/>
                </a:ln>
                <a:solidFill>
                  <a:srgbClr val="FFFF00"/>
                </a:solidFill>
                <a:effectLst/>
                <a:uLnTx/>
                <a:uFillTx/>
                <a:latin typeface="Arial Narrow" pitchFamily="34" charset="0"/>
                <a:ea typeface="+mn-ea"/>
                <a:cs typeface="+mn-cs"/>
              </a:rPr>
              <a:t>x</a:t>
            </a:r>
            <a:r>
              <a:rPr kumimoji="0" lang="tr-TR" sz="2200" b="1" i="0" u="none" strike="noStrike" kern="1200" cap="none" spc="0" normalizeH="0" baseline="0" noProof="0">
                <a:ln>
                  <a:noFill/>
                </a:ln>
                <a:solidFill>
                  <a:srgbClr val="FFFF00"/>
                </a:solidFill>
                <a:effectLst/>
                <a:uLnTx/>
                <a:uFillTx/>
                <a:latin typeface="Arial Narrow" pitchFamily="34" charset="0"/>
                <a:ea typeface="+mn-ea"/>
                <a:cs typeface="+mn-cs"/>
              </a:rPr>
              <a:t> I</a:t>
            </a:r>
            <a:r>
              <a:rPr kumimoji="0" lang="tr-TR" sz="2200" b="1" i="0" u="none" strike="noStrike" kern="1200" cap="none" spc="0" normalizeH="0" baseline="-25000" noProof="0">
                <a:ln>
                  <a:noFill/>
                </a:ln>
                <a:solidFill>
                  <a:srgbClr val="FFFF00"/>
                </a:solidFill>
                <a:effectLst/>
                <a:uLnTx/>
                <a:uFillTx/>
                <a:latin typeface="Arial Narrow" pitchFamily="34" charset="0"/>
                <a:ea typeface="+mn-ea"/>
                <a:cs typeface="+mn-cs"/>
              </a:rPr>
              <a:t>DC</a:t>
            </a:r>
            <a:r>
              <a:rPr kumimoji="0" lang="tr-TR" sz="2200" b="1" i="0" u="none" strike="noStrike" kern="1200" cap="none" spc="0" normalizeH="0" baseline="30000" noProof="0">
                <a:ln>
                  <a:noFill/>
                </a:ln>
                <a:solidFill>
                  <a:srgbClr val="FFFF00"/>
                </a:solidFill>
                <a:effectLst/>
                <a:uLnTx/>
                <a:uFillTx/>
                <a:latin typeface="Arial Narrow" pitchFamily="34" charset="0"/>
                <a:ea typeface="+mn-ea"/>
                <a:cs typeface="+mn-cs"/>
              </a:rPr>
              <a:t>2</a:t>
            </a:r>
          </a:p>
        </p:txBody>
      </p:sp>
      <p:sp>
        <p:nvSpPr>
          <p:cNvPr id="112647" name="Text Box 355"/>
          <p:cNvSpPr txBox="1">
            <a:spLocks noChangeArrowheads="1"/>
          </p:cNvSpPr>
          <p:nvPr/>
        </p:nvSpPr>
        <p:spPr bwMode="auto">
          <a:xfrm>
            <a:off x="5449888" y="3154363"/>
            <a:ext cx="520700" cy="396875"/>
          </a:xfrm>
          <a:prstGeom prst="rect">
            <a:avLst/>
          </a:prstGeom>
          <a:noFill/>
          <a:ln w="1905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srgbClr val="000066"/>
                </a:solidFill>
                <a:effectLst/>
                <a:uLnTx/>
                <a:uFillTx/>
                <a:latin typeface="Arial Narrow" pitchFamily="34" charset="0"/>
                <a:ea typeface="+mn-ea"/>
                <a:cs typeface="+mn-cs"/>
              </a:rPr>
              <a:t>V</a:t>
            </a:r>
            <a:r>
              <a:rPr kumimoji="0" lang="tr-TR" sz="2000" b="0" i="0" u="none" strike="noStrike" kern="1200" cap="none" spc="0" normalizeH="0" baseline="-25000" noProof="0">
                <a:ln>
                  <a:noFill/>
                </a:ln>
                <a:solidFill>
                  <a:srgbClr val="000066"/>
                </a:solidFill>
                <a:effectLst/>
                <a:uLnTx/>
                <a:uFillTx/>
                <a:latin typeface="Arial Narrow" pitchFamily="34" charset="0"/>
                <a:ea typeface="+mn-ea"/>
                <a:cs typeface="+mn-cs"/>
              </a:rPr>
              <a:t>DC</a:t>
            </a:r>
            <a:endParaRPr kumimoji="0" lang="en-US" sz="20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12648" name="Line 343"/>
          <p:cNvSpPr>
            <a:spLocks noChangeShapeType="1"/>
          </p:cNvSpPr>
          <p:nvPr/>
        </p:nvSpPr>
        <p:spPr bwMode="auto">
          <a:xfrm>
            <a:off x="8524875" y="1989138"/>
            <a:ext cx="0" cy="1058862"/>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2649" name="Text Box 345"/>
          <p:cNvSpPr txBox="1">
            <a:spLocks noChangeArrowheads="1"/>
          </p:cNvSpPr>
          <p:nvPr/>
        </p:nvSpPr>
        <p:spPr bwMode="auto">
          <a:xfrm rot="10800000">
            <a:off x="8497888" y="3852863"/>
            <a:ext cx="400050" cy="469900"/>
          </a:xfrm>
          <a:prstGeom prst="rect">
            <a:avLst/>
          </a:prstGeom>
          <a:noFill/>
          <a:ln w="19050">
            <a:noFill/>
            <a:miter lim="800000"/>
            <a:headEnd/>
            <a:tailEnd/>
          </a:ln>
        </p:spPr>
        <p:txBody>
          <a:bodyPr bIns="1188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prstClr val="black"/>
                </a:solidFill>
                <a:effectLst/>
                <a:uLnTx/>
                <a:uFillTx/>
                <a:latin typeface="Arial" charset="0"/>
                <a:ea typeface="+mn-ea"/>
                <a:cs typeface="+mn-cs"/>
              </a:rPr>
              <a:t>_</a:t>
            </a:r>
            <a:endParaRPr kumimoji="0" lang="en-US" sz="20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2650" name="Line 346"/>
          <p:cNvSpPr>
            <a:spLocks noChangeShapeType="1"/>
          </p:cNvSpPr>
          <p:nvPr/>
        </p:nvSpPr>
        <p:spPr bwMode="auto">
          <a:xfrm>
            <a:off x="8524875" y="3832225"/>
            <a:ext cx="0" cy="1101725"/>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2651" name="Line 348"/>
          <p:cNvSpPr>
            <a:spLocks noChangeShapeType="1"/>
          </p:cNvSpPr>
          <p:nvPr/>
        </p:nvSpPr>
        <p:spPr bwMode="auto">
          <a:xfrm rot="5400000" flipH="1">
            <a:off x="4749800" y="3468688"/>
            <a:ext cx="2951163" cy="7937"/>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2652" name="Oval 349"/>
          <p:cNvSpPr>
            <a:spLocks noChangeArrowheads="1"/>
          </p:cNvSpPr>
          <p:nvPr/>
        </p:nvSpPr>
        <p:spPr bwMode="auto">
          <a:xfrm>
            <a:off x="5957888" y="3157538"/>
            <a:ext cx="528637" cy="511175"/>
          </a:xfrm>
          <a:prstGeom prst="ellipse">
            <a:avLst/>
          </a:prstGeom>
          <a:solidFill>
            <a:schemeClr val="bg1"/>
          </a:solidFill>
          <a:ln w="25400">
            <a:solidFill>
              <a:srgbClr val="CC33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2653" name="Text Box 350"/>
          <p:cNvSpPr txBox="1">
            <a:spLocks noChangeArrowheads="1"/>
          </p:cNvSpPr>
          <p:nvPr/>
        </p:nvSpPr>
        <p:spPr bwMode="auto">
          <a:xfrm>
            <a:off x="6216650" y="2740025"/>
            <a:ext cx="331788" cy="396875"/>
          </a:xfrm>
          <a:prstGeom prst="rect">
            <a:avLst/>
          </a:prstGeom>
          <a:noFill/>
          <a:ln w="1905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prstClr val="black"/>
                </a:solidFill>
                <a:effectLst/>
                <a:uLnTx/>
                <a:uFillTx/>
                <a:latin typeface="Arial" charset="0"/>
                <a:ea typeface="+mn-ea"/>
                <a:cs typeface="+mn-cs"/>
              </a:rPr>
              <a:t>+</a:t>
            </a:r>
            <a:endParaRPr kumimoji="0" lang="en-US" sz="20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2654" name="Text Box 353"/>
          <p:cNvSpPr txBox="1">
            <a:spLocks noChangeArrowheads="1"/>
          </p:cNvSpPr>
          <p:nvPr/>
        </p:nvSpPr>
        <p:spPr bwMode="auto">
          <a:xfrm>
            <a:off x="7183438" y="1519238"/>
            <a:ext cx="438150" cy="396875"/>
          </a:xfrm>
          <a:prstGeom prst="rect">
            <a:avLst/>
          </a:prstGeom>
          <a:noFill/>
          <a:ln w="1905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srgbClr val="000066"/>
                </a:solidFill>
                <a:effectLst/>
                <a:uLnTx/>
                <a:uFillTx/>
                <a:latin typeface="Arial Narrow" pitchFamily="34" charset="0"/>
                <a:ea typeface="+mn-ea"/>
                <a:cs typeface="+mn-cs"/>
              </a:rPr>
              <a:t>I</a:t>
            </a:r>
            <a:r>
              <a:rPr kumimoji="0" lang="tr-TR" sz="2000" b="0" i="0" u="none" strike="noStrike" kern="1200" cap="none" spc="0" normalizeH="0" baseline="-25000" noProof="0">
                <a:ln>
                  <a:noFill/>
                </a:ln>
                <a:solidFill>
                  <a:srgbClr val="000066"/>
                </a:solidFill>
                <a:effectLst/>
                <a:uLnTx/>
                <a:uFillTx/>
                <a:latin typeface="Arial Narrow" pitchFamily="34" charset="0"/>
                <a:ea typeface="+mn-ea"/>
                <a:cs typeface="+mn-cs"/>
              </a:rPr>
              <a:t>DC</a:t>
            </a:r>
            <a:endParaRPr kumimoji="0" lang="en-US" sz="20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12655" name="Line 354"/>
          <p:cNvSpPr>
            <a:spLocks noChangeShapeType="1"/>
          </p:cNvSpPr>
          <p:nvPr/>
        </p:nvSpPr>
        <p:spPr bwMode="auto">
          <a:xfrm rot="-5400000">
            <a:off x="7427913" y="2003425"/>
            <a:ext cx="0" cy="434975"/>
          </a:xfrm>
          <a:prstGeom prst="line">
            <a:avLst/>
          </a:prstGeom>
          <a:noFill/>
          <a:ln w="19050">
            <a:solidFill>
              <a:schemeClr val="tx1"/>
            </a:solidFill>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grpSp>
        <p:nvGrpSpPr>
          <p:cNvPr id="2" name="Group 33"/>
          <p:cNvGrpSpPr>
            <a:grpSpLocks/>
          </p:cNvGrpSpPr>
          <p:nvPr/>
        </p:nvGrpSpPr>
        <p:grpSpPr bwMode="auto">
          <a:xfrm>
            <a:off x="8426450" y="3030538"/>
            <a:ext cx="288925" cy="808037"/>
            <a:chOff x="8426450" y="2879725"/>
            <a:chExt cx="288925" cy="958850"/>
          </a:xfrm>
        </p:grpSpPr>
        <p:sp>
          <p:nvSpPr>
            <p:cNvPr id="112664" name="Line 357"/>
            <p:cNvSpPr>
              <a:spLocks noChangeShapeType="1"/>
            </p:cNvSpPr>
            <p:nvPr/>
          </p:nvSpPr>
          <p:spPr bwMode="auto">
            <a:xfrm>
              <a:off x="8521700" y="2879725"/>
              <a:ext cx="187325" cy="87313"/>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2665" name="Line 358"/>
            <p:cNvSpPr>
              <a:spLocks noChangeShapeType="1"/>
            </p:cNvSpPr>
            <p:nvPr/>
          </p:nvSpPr>
          <p:spPr bwMode="auto">
            <a:xfrm flipH="1">
              <a:off x="8426450" y="2960688"/>
              <a:ext cx="274638" cy="107950"/>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2666" name="Line 359"/>
            <p:cNvSpPr>
              <a:spLocks noChangeShapeType="1"/>
            </p:cNvSpPr>
            <p:nvPr/>
          </p:nvSpPr>
          <p:spPr bwMode="auto">
            <a:xfrm>
              <a:off x="8450263" y="3065463"/>
              <a:ext cx="239712" cy="87312"/>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2667" name="Line 360"/>
            <p:cNvSpPr>
              <a:spLocks noChangeShapeType="1"/>
            </p:cNvSpPr>
            <p:nvPr/>
          </p:nvSpPr>
          <p:spPr bwMode="auto">
            <a:xfrm flipH="1">
              <a:off x="8431213" y="3154363"/>
              <a:ext cx="277812" cy="106362"/>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2668" name="Line 361"/>
            <p:cNvSpPr>
              <a:spLocks noChangeShapeType="1"/>
            </p:cNvSpPr>
            <p:nvPr/>
          </p:nvSpPr>
          <p:spPr bwMode="auto">
            <a:xfrm>
              <a:off x="8448675" y="3254375"/>
              <a:ext cx="254000" cy="92075"/>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2669" name="Line 362"/>
            <p:cNvSpPr>
              <a:spLocks noChangeShapeType="1"/>
            </p:cNvSpPr>
            <p:nvPr/>
          </p:nvSpPr>
          <p:spPr bwMode="auto">
            <a:xfrm flipH="1">
              <a:off x="8440738" y="3336925"/>
              <a:ext cx="271462" cy="103188"/>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2670" name="Line 363"/>
            <p:cNvSpPr>
              <a:spLocks noChangeShapeType="1"/>
            </p:cNvSpPr>
            <p:nvPr/>
          </p:nvSpPr>
          <p:spPr bwMode="auto">
            <a:xfrm>
              <a:off x="8432800" y="3441700"/>
              <a:ext cx="273050" cy="106363"/>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2671" name="Line 364"/>
            <p:cNvSpPr>
              <a:spLocks noChangeShapeType="1"/>
            </p:cNvSpPr>
            <p:nvPr/>
          </p:nvSpPr>
          <p:spPr bwMode="auto">
            <a:xfrm flipH="1">
              <a:off x="8510588" y="3760788"/>
              <a:ext cx="204787" cy="77787"/>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2672" name="Line 365"/>
            <p:cNvSpPr>
              <a:spLocks noChangeShapeType="1"/>
            </p:cNvSpPr>
            <p:nvPr/>
          </p:nvSpPr>
          <p:spPr bwMode="auto">
            <a:xfrm flipH="1">
              <a:off x="8442325" y="3546475"/>
              <a:ext cx="269875" cy="103188"/>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2673" name="Line 366"/>
            <p:cNvSpPr>
              <a:spLocks noChangeShapeType="1"/>
            </p:cNvSpPr>
            <p:nvPr/>
          </p:nvSpPr>
          <p:spPr bwMode="auto">
            <a:xfrm>
              <a:off x="8432800" y="3651250"/>
              <a:ext cx="273050" cy="106363"/>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grpSp>
      <p:sp>
        <p:nvSpPr>
          <p:cNvPr id="112657" name="Line 352"/>
          <p:cNvSpPr>
            <a:spLocks noChangeShapeType="1"/>
          </p:cNvSpPr>
          <p:nvPr/>
        </p:nvSpPr>
        <p:spPr bwMode="auto">
          <a:xfrm rot="10800000" flipH="1" flipV="1">
            <a:off x="6240463" y="4938713"/>
            <a:ext cx="2284412"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2658" name="Line 367"/>
          <p:cNvSpPr>
            <a:spLocks noChangeShapeType="1"/>
          </p:cNvSpPr>
          <p:nvPr/>
        </p:nvSpPr>
        <p:spPr bwMode="auto">
          <a:xfrm rot="10800000" flipH="1">
            <a:off x="6223000" y="1989138"/>
            <a:ext cx="2301875"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2659" name="Text Box 368"/>
          <p:cNvSpPr txBox="1">
            <a:spLocks noChangeArrowheads="1"/>
          </p:cNvSpPr>
          <p:nvPr/>
        </p:nvSpPr>
        <p:spPr bwMode="auto">
          <a:xfrm>
            <a:off x="8734425" y="3209925"/>
            <a:ext cx="384175" cy="396875"/>
          </a:xfrm>
          <a:prstGeom prst="rect">
            <a:avLst/>
          </a:prstGeom>
          <a:noFill/>
          <a:ln w="19050">
            <a:noFill/>
            <a:miter lim="800000"/>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srgbClr val="000066"/>
                </a:solidFill>
                <a:effectLst/>
                <a:uLnTx/>
                <a:uFillTx/>
                <a:latin typeface="Arial Narrow" pitchFamily="34" charset="0"/>
                <a:ea typeface="+mn-ea"/>
                <a:cs typeface="+mn-cs"/>
              </a:rPr>
              <a:t>R</a:t>
            </a:r>
            <a:endParaRPr kumimoji="0" lang="en-US" sz="20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12660" name="Text Box 382"/>
          <p:cNvSpPr txBox="1">
            <a:spLocks noChangeArrowheads="1"/>
          </p:cNvSpPr>
          <p:nvPr/>
        </p:nvSpPr>
        <p:spPr bwMode="auto">
          <a:xfrm>
            <a:off x="8551863" y="2635250"/>
            <a:ext cx="331787" cy="396875"/>
          </a:xfrm>
          <a:prstGeom prst="rect">
            <a:avLst/>
          </a:prstGeom>
          <a:noFill/>
          <a:ln w="1905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prstClr val="black"/>
                </a:solidFill>
                <a:effectLst/>
                <a:uLnTx/>
                <a:uFillTx/>
                <a:latin typeface="Arial" charset="0"/>
                <a:ea typeface="+mn-ea"/>
                <a:cs typeface="+mn-cs"/>
              </a:rPr>
              <a:t>+</a:t>
            </a:r>
            <a:endParaRPr kumimoji="0" lang="en-US" sz="20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2661" name="Line 384"/>
          <p:cNvSpPr>
            <a:spLocks noChangeShapeType="1"/>
          </p:cNvSpPr>
          <p:nvPr/>
        </p:nvSpPr>
        <p:spPr bwMode="auto">
          <a:xfrm flipV="1">
            <a:off x="8186738" y="1989138"/>
            <a:ext cx="0" cy="2944812"/>
          </a:xfrm>
          <a:prstGeom prst="line">
            <a:avLst/>
          </a:prstGeom>
          <a:noFill/>
          <a:ln w="19050">
            <a:solidFill>
              <a:srgbClr val="000066"/>
            </a:solidFill>
            <a:prstDash val="sysDot"/>
            <a:round/>
            <a:headEnd type="triangle" w="med" len="me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2662" name="Text Box 385"/>
          <p:cNvSpPr txBox="1">
            <a:spLocks noChangeArrowheads="1"/>
          </p:cNvSpPr>
          <p:nvPr/>
        </p:nvSpPr>
        <p:spPr bwMode="auto">
          <a:xfrm>
            <a:off x="7966075" y="3136900"/>
            <a:ext cx="468313" cy="542925"/>
          </a:xfrm>
          <a:prstGeom prst="rect">
            <a:avLst/>
          </a:prstGeom>
          <a:solidFill>
            <a:srgbClr val="FFFFFF"/>
          </a:solidFill>
          <a:ln w="19050">
            <a:noFill/>
            <a:miter lim="800000"/>
            <a:headEnd/>
            <a:tailEnd/>
          </a:ln>
        </p:spPr>
        <p:txBody>
          <a:bodyPr tIns="118800" bIns="1188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srgbClr val="000066"/>
                </a:solidFill>
                <a:effectLst/>
                <a:uLnTx/>
                <a:uFillTx/>
                <a:latin typeface="Arial Narrow" pitchFamily="34" charset="0"/>
                <a:ea typeface="+mn-ea"/>
                <a:cs typeface="+mn-cs"/>
              </a:rPr>
              <a:t>V</a:t>
            </a:r>
            <a:r>
              <a:rPr kumimoji="0" lang="tr-TR" sz="2000" b="0" i="0" u="none" strike="noStrike" kern="1200" cap="none" spc="0" normalizeH="0" baseline="-25000" noProof="0">
                <a:ln>
                  <a:noFill/>
                </a:ln>
                <a:solidFill>
                  <a:srgbClr val="000066"/>
                </a:solidFill>
                <a:effectLst/>
                <a:uLnTx/>
                <a:uFillTx/>
                <a:latin typeface="Arial Narrow" pitchFamily="34" charset="0"/>
                <a:ea typeface="+mn-ea"/>
                <a:cs typeface="+mn-cs"/>
              </a:rPr>
              <a:t>R</a:t>
            </a:r>
            <a:endParaRPr kumimoji="0" lang="en-US" sz="20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12663" name="Rectangle 390"/>
          <p:cNvSpPr>
            <a:spLocks noChangeArrowheads="1"/>
          </p:cNvSpPr>
          <p:nvPr/>
        </p:nvSpPr>
        <p:spPr bwMode="auto">
          <a:xfrm>
            <a:off x="0" y="2043113"/>
            <a:ext cx="5445125" cy="952047"/>
          </a:xfrm>
          <a:prstGeom prst="rect">
            <a:avLst/>
          </a:prstGeom>
          <a:solidFill>
            <a:srgbClr val="000066"/>
          </a:solidFill>
          <a:ln w="9525">
            <a:noFill/>
            <a:miter lim="800000"/>
            <a:headEnd/>
            <a:tailEnd/>
          </a:ln>
        </p:spPr>
        <p:txBody>
          <a:bodyPr lIns="126000" tIns="82800" rIns="162000" bIns="82800">
            <a:spAutoFit/>
          </a:bodyPr>
          <a:lstStyle/>
          <a:p>
            <a:pPr marL="177800" marR="0" lvl="0" indent="0" algn="l" defTabSz="914400" rtl="0" eaLnBrk="1" fontAlgn="base" latinLnBrk="0" hangingPunct="1">
              <a:lnSpc>
                <a:spcPct val="85000"/>
              </a:lnSpc>
              <a:spcBef>
                <a:spcPct val="0"/>
              </a:spcBef>
              <a:spcAft>
                <a:spcPct val="0"/>
              </a:spcAft>
              <a:buClrTx/>
              <a:buSzTx/>
              <a:buFontTx/>
              <a:buNone/>
              <a:tabLst/>
              <a:defRPr/>
            </a:pPr>
            <a:r>
              <a:rPr kumimoji="0" lang="tr-TR" sz="2000" b="1" i="0" u="none" strike="noStrike" kern="1200" cap="none" spc="0" normalizeH="0" baseline="0" noProof="0">
                <a:ln>
                  <a:noFill/>
                </a:ln>
                <a:solidFill>
                  <a:prstClr val="white"/>
                </a:solidFill>
                <a:effectLst/>
                <a:uLnTx/>
                <a:uFillTx/>
                <a:latin typeface="Arial Narrow" pitchFamily="34" charset="0"/>
                <a:ea typeface="+mn-ea"/>
                <a:cs typeface="+mn-cs"/>
              </a:rPr>
              <a:t>RMS value of an AC current is the value of DC current that would dissipate the same amount of power as the AC current on a resistance R</a:t>
            </a:r>
          </a:p>
        </p:txBody>
      </p:sp>
      <p:sp>
        <p:nvSpPr>
          <p:cNvPr id="36"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Ali </a:t>
            </a:r>
            <a:r>
              <a:rPr kumimoji="0" lang="en-US" sz="1200" b="0" i="0" u="none" strike="noStrike" kern="1200" cap="none" spc="0" normalizeH="0" baseline="0" noProof="0" dirty="0" err="1">
                <a:ln>
                  <a:noFill/>
                </a:ln>
                <a:solidFill>
                  <a:prstClr val="black">
                    <a:tint val="75000"/>
                  </a:prstClr>
                </a:solidFill>
                <a:effectLst/>
                <a:uLnTx/>
                <a:uFillTx/>
                <a:latin typeface="Calibri"/>
                <a:ea typeface="+mn-ea"/>
                <a:cs typeface="+mn-cs"/>
              </a:rPr>
              <a:t>Muhtaroğlu</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7" name="Slide Number Placeholder 12"/>
          <p:cNvSpPr>
            <a:spLocks noGrp="1"/>
          </p:cNvSpPr>
          <p:nvPr>
            <p:ph type="sldNum" sz="quarter" idx="11"/>
          </p:nvPr>
        </p:nvSpPr>
        <p:spPr>
          <a:xfrm>
            <a:off x="8267700" y="6477000"/>
            <a:ext cx="8763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7CEED-90C7-4FD0-AB8C-14085BB9151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71981393"/>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2" descr="magic"/>
          <p:cNvPicPr>
            <a:picLocks noChangeAspect="1" noChangeArrowheads="1"/>
          </p:cNvPicPr>
          <p:nvPr/>
        </p:nvPicPr>
        <p:blipFill>
          <a:blip r:embed="rId3" cstate="print"/>
          <a:srcRect/>
          <a:stretch>
            <a:fillRect/>
          </a:stretch>
        </p:blipFill>
        <p:spPr bwMode="auto">
          <a:xfrm>
            <a:off x="0" y="0"/>
            <a:ext cx="127000" cy="127000"/>
          </a:xfrm>
          <a:prstGeom prst="rect">
            <a:avLst/>
          </a:prstGeom>
          <a:noFill/>
          <a:ln w="9525">
            <a:noFill/>
            <a:miter lim="800000"/>
            <a:headEnd/>
            <a:tailEnd/>
          </a:ln>
        </p:spPr>
      </p:pic>
      <p:sp>
        <p:nvSpPr>
          <p:cNvPr id="113667" name="Rectangle 4"/>
          <p:cNvSpPr>
            <a:spLocks noChangeArrowheads="1"/>
          </p:cNvSpPr>
          <p:nvPr/>
        </p:nvSpPr>
        <p:spPr bwMode="auto">
          <a:xfrm>
            <a:off x="3175" y="1935163"/>
            <a:ext cx="4552950" cy="906462"/>
          </a:xfrm>
          <a:prstGeom prst="rect">
            <a:avLst/>
          </a:prstGeom>
          <a:solidFill>
            <a:srgbClr val="000066"/>
          </a:solidFill>
          <a:ln w="9525">
            <a:noFill/>
            <a:miter lim="800000"/>
            <a:headEnd/>
            <a:tailEnd/>
          </a:ln>
        </p:spPr>
        <p:txBody>
          <a:bodyPr tIns="82800" bIns="82800">
            <a:spAutoFit/>
          </a:bodyPr>
          <a:lstStyle/>
          <a:p>
            <a:pPr marL="177800" marR="0" lvl="0" indent="0" algn="l" defTabSz="914400" rtl="0" eaLnBrk="1" fontAlgn="base" latinLnBrk="0" hangingPunct="1">
              <a:lnSpc>
                <a:spcPct val="80000"/>
              </a:lnSpc>
              <a:spcBef>
                <a:spcPct val="0"/>
              </a:spcBef>
              <a:spcAft>
                <a:spcPct val="0"/>
              </a:spcAft>
              <a:buClrTx/>
              <a:buSzTx/>
              <a:buFontTx/>
              <a:buNone/>
              <a:tabLst/>
              <a:defRPr/>
            </a:pPr>
            <a:r>
              <a:rPr kumimoji="0" lang="tr-TR" sz="2000" b="1" i="0" u="none" strike="noStrike" kern="1200" cap="none" spc="0" normalizeH="0" baseline="0" noProof="0" dirty="0">
                <a:ln>
                  <a:noFill/>
                </a:ln>
                <a:solidFill>
                  <a:prstClr val="white"/>
                </a:solidFill>
                <a:effectLst/>
                <a:uLnTx/>
                <a:uFillTx/>
                <a:latin typeface="Arial Narrow" pitchFamily="34" charset="0"/>
                <a:ea typeface="+mn-ea"/>
                <a:cs typeface="+mn-cs"/>
              </a:rPr>
              <a:t>Now, calculate the power dissipated (the heating effect) in the resistance R in the AC circuit shown </a:t>
            </a:r>
            <a:r>
              <a:rPr kumimoji="0" lang="en-US" sz="2000" b="1" i="0" u="none" strike="noStrike" kern="1200" cap="none" spc="0" normalizeH="0" baseline="0" noProof="0" dirty="0">
                <a:ln>
                  <a:noFill/>
                </a:ln>
                <a:solidFill>
                  <a:prstClr val="white"/>
                </a:solidFill>
                <a:effectLst/>
                <a:uLnTx/>
                <a:uFillTx/>
                <a:latin typeface="Arial Narrow" pitchFamily="34" charset="0"/>
                <a:ea typeface="+mn-ea"/>
                <a:cs typeface="+mn-cs"/>
              </a:rPr>
              <a:t>below:</a:t>
            </a:r>
            <a:endParaRPr kumimoji="0" lang="tr-TR" sz="2000" b="1" i="0" u="none" strike="noStrike" kern="1200" cap="none" spc="0" normalizeH="0" baseline="0" noProof="0" dirty="0">
              <a:ln>
                <a:noFill/>
              </a:ln>
              <a:solidFill>
                <a:prstClr val="white"/>
              </a:solidFill>
              <a:effectLst/>
              <a:uLnTx/>
              <a:uFillTx/>
              <a:latin typeface="Arial Narrow" pitchFamily="34" charset="0"/>
              <a:ea typeface="+mn-ea"/>
              <a:cs typeface="+mn-cs"/>
            </a:endParaRPr>
          </a:p>
        </p:txBody>
      </p:sp>
      <p:sp>
        <p:nvSpPr>
          <p:cNvPr id="113668" name="Rectangle 5"/>
          <p:cNvSpPr>
            <a:spLocks noChangeArrowheads="1"/>
          </p:cNvSpPr>
          <p:nvPr/>
        </p:nvSpPr>
        <p:spPr bwMode="auto">
          <a:xfrm>
            <a:off x="0" y="2855913"/>
            <a:ext cx="4552950" cy="1589145"/>
          </a:xfrm>
          <a:prstGeom prst="rect">
            <a:avLst/>
          </a:prstGeom>
          <a:solidFill>
            <a:srgbClr val="000066"/>
          </a:solidFill>
          <a:ln w="9525">
            <a:noFill/>
            <a:miter lim="800000"/>
            <a:headEnd/>
            <a:tailEnd/>
          </a:ln>
        </p:spPr>
        <p:txBody>
          <a:bodyPr tIns="82800" bIns="82800">
            <a:spAutoFit/>
          </a:bodyPr>
          <a:lstStyle/>
          <a:p>
            <a:pPr marL="177800" marR="0" lvl="0" indent="0" algn="l" defTabSz="914400" rtl="0" eaLnBrk="1" fontAlgn="base" latinLnBrk="0" hangingPunct="1">
              <a:lnSpc>
                <a:spcPct val="110000"/>
              </a:lnSpc>
              <a:spcBef>
                <a:spcPct val="0"/>
              </a:spcBef>
              <a:spcAft>
                <a:spcPct val="0"/>
              </a:spcAft>
              <a:buClrTx/>
              <a:buSzTx/>
              <a:buFontTx/>
              <a:buNone/>
              <a:tabLst/>
              <a:defRPr/>
            </a:pP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V</a:t>
            </a:r>
            <a:r>
              <a:rPr kumimoji="0" lang="tr-TR" sz="2000" b="1" i="0" u="none" strike="noStrike" kern="1200" cap="none" spc="0" normalizeH="0" baseline="-25000" noProof="0">
                <a:ln>
                  <a:noFill/>
                </a:ln>
                <a:solidFill>
                  <a:srgbClr val="FFFF00"/>
                </a:solidFill>
                <a:effectLst/>
                <a:uLnTx/>
                <a:uFillTx/>
                <a:latin typeface="Arial Narrow" pitchFamily="34" charset="0"/>
                <a:ea typeface="+mn-ea"/>
                <a:cs typeface="+mn-cs"/>
              </a:rPr>
              <a:t>R</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(t)    = I(t) </a:t>
            </a:r>
            <a:r>
              <a:rPr kumimoji="0" lang="tr-TR" sz="1400" b="1" i="0" u="none" strike="noStrike" kern="1200" cap="none" spc="0" normalizeH="0" baseline="0" noProof="0">
                <a:ln>
                  <a:noFill/>
                </a:ln>
                <a:solidFill>
                  <a:srgbClr val="FFFF00"/>
                </a:solidFill>
                <a:effectLst/>
                <a:uLnTx/>
                <a:uFillTx/>
                <a:latin typeface="Arial Narrow" pitchFamily="34" charset="0"/>
                <a:ea typeface="+mn-ea"/>
                <a:cs typeface="+mn-cs"/>
              </a:rPr>
              <a:t>x</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R</a:t>
            </a:r>
          </a:p>
          <a:p>
            <a:pPr marL="177800" marR="0" lvl="0" indent="0" algn="l" defTabSz="914400" rtl="0" eaLnBrk="1" fontAlgn="base" latinLnBrk="0" hangingPunct="1">
              <a:lnSpc>
                <a:spcPct val="110000"/>
              </a:lnSpc>
              <a:spcBef>
                <a:spcPct val="0"/>
              </a:spcBef>
              <a:spcAft>
                <a:spcPct val="0"/>
              </a:spcAft>
              <a:buClrTx/>
              <a:buSzTx/>
              <a:buFontTx/>
              <a:buNone/>
              <a:tabLst/>
              <a:defRPr/>
            </a:pP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P</a:t>
            </a:r>
            <a:r>
              <a:rPr kumimoji="0" lang="tr-TR" sz="2000" b="1" i="0" u="none" strike="noStrike" kern="1200" cap="none" spc="0" normalizeH="0" baseline="-25000" noProof="0">
                <a:ln>
                  <a:noFill/>
                </a:ln>
                <a:solidFill>
                  <a:srgbClr val="FFFF00"/>
                </a:solidFill>
                <a:effectLst/>
                <a:uLnTx/>
                <a:uFillTx/>
                <a:latin typeface="Arial Narrow" pitchFamily="34" charset="0"/>
                <a:ea typeface="+mn-ea"/>
                <a:cs typeface="+mn-cs"/>
              </a:rPr>
              <a:t>AC</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(t)</a:t>
            </a:r>
            <a:r>
              <a:rPr kumimoji="0" lang="tr-TR" sz="2400" b="1" i="0" u="none" strike="noStrike" kern="1200" cap="none" spc="0" normalizeH="0" baseline="0" noProof="0">
                <a:ln>
                  <a:noFill/>
                </a:ln>
                <a:solidFill>
                  <a:srgbClr val="FFFF00"/>
                </a:solidFill>
                <a:effectLst/>
                <a:uLnTx/>
                <a:uFillTx/>
                <a:latin typeface="Arial Narrow" pitchFamily="34" charset="0"/>
                <a:ea typeface="+mn-ea"/>
                <a:cs typeface="+mn-cs"/>
              </a:rPr>
              <a:t>  </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V(t) </a:t>
            </a:r>
            <a:r>
              <a:rPr kumimoji="0" lang="tr-TR" sz="1400" b="1" i="0" u="none" strike="noStrike" kern="1200" cap="none" spc="0" normalizeH="0" baseline="0" noProof="0">
                <a:ln>
                  <a:noFill/>
                </a:ln>
                <a:solidFill>
                  <a:srgbClr val="FFFF00"/>
                </a:solidFill>
                <a:effectLst/>
                <a:uLnTx/>
                <a:uFillTx/>
                <a:latin typeface="Arial Narrow" pitchFamily="34" charset="0"/>
                <a:ea typeface="+mn-ea"/>
                <a:cs typeface="+mn-cs"/>
              </a:rPr>
              <a:t>x</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I(t)</a:t>
            </a:r>
          </a:p>
          <a:p>
            <a:pPr marL="177800" marR="0" lvl="0" indent="0" algn="l" defTabSz="914400" rtl="0" eaLnBrk="1" fontAlgn="base" latinLnBrk="0" hangingPunct="1">
              <a:lnSpc>
                <a:spcPct val="110000"/>
              </a:lnSpc>
              <a:spcBef>
                <a:spcPct val="0"/>
              </a:spcBef>
              <a:spcAft>
                <a:spcPct val="0"/>
              </a:spcAft>
              <a:buClrTx/>
              <a:buSzTx/>
              <a:buFontTx/>
              <a:buNone/>
              <a:tabLst/>
              <a:defRPr/>
            </a:pP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 R I(t)</a:t>
            </a:r>
            <a:r>
              <a:rPr kumimoji="0" lang="tr-TR" sz="2000" b="1" i="0" u="none" strike="noStrike" kern="1200" cap="none" spc="0" normalizeH="0" baseline="30000" noProof="0">
                <a:ln>
                  <a:noFill/>
                </a:ln>
                <a:solidFill>
                  <a:srgbClr val="FFFF00"/>
                </a:solidFill>
                <a:effectLst/>
                <a:uLnTx/>
                <a:uFillTx/>
                <a:latin typeface="Arial Narrow" pitchFamily="34" charset="0"/>
                <a:ea typeface="+mn-ea"/>
                <a:cs typeface="+mn-cs"/>
              </a:rPr>
              <a:t>2 </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R ((V</a:t>
            </a:r>
            <a:r>
              <a:rPr kumimoji="0" lang="tr-TR" sz="2000" b="1" i="0" u="none" strike="noStrike" kern="1200" cap="none" spc="0" normalizeH="0" baseline="-25000" noProof="0">
                <a:ln>
                  <a:noFill/>
                </a:ln>
                <a:solidFill>
                  <a:srgbClr val="FFFF00"/>
                </a:solidFill>
                <a:effectLst/>
                <a:uLnTx/>
                <a:uFillTx/>
                <a:latin typeface="Arial Narrow" pitchFamily="34" charset="0"/>
                <a:ea typeface="+mn-ea"/>
                <a:cs typeface="+mn-cs"/>
              </a:rPr>
              <a:t>max</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 R) sin wt )</a:t>
            </a:r>
            <a:r>
              <a:rPr kumimoji="0" lang="tr-TR" sz="2000" b="1" i="0" u="none" strike="noStrike" kern="1200" cap="none" spc="0" normalizeH="0" baseline="30000" noProof="0">
                <a:ln>
                  <a:noFill/>
                </a:ln>
                <a:solidFill>
                  <a:srgbClr val="FFFF00"/>
                </a:solidFill>
                <a:effectLst/>
                <a:uLnTx/>
                <a:uFillTx/>
                <a:latin typeface="Arial Narrow" pitchFamily="34" charset="0"/>
                <a:ea typeface="+mn-ea"/>
                <a:cs typeface="+mn-cs"/>
              </a:rPr>
              <a:t>2</a:t>
            </a:r>
            <a:endPar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endParaRPr>
          </a:p>
          <a:p>
            <a:pPr marL="177800" marR="0" lvl="0" indent="0" algn="l" defTabSz="914400" rtl="0" eaLnBrk="1" fontAlgn="base" latinLnBrk="0" hangingPunct="1">
              <a:lnSpc>
                <a:spcPct val="110000"/>
              </a:lnSpc>
              <a:spcBef>
                <a:spcPct val="0"/>
              </a:spcBef>
              <a:spcAft>
                <a:spcPct val="0"/>
              </a:spcAft>
              <a:buClrTx/>
              <a:buSzTx/>
              <a:buFontTx/>
              <a:buNone/>
              <a:tabLst/>
              <a:defRPr/>
            </a:pP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 R (I </a:t>
            </a:r>
            <a:r>
              <a:rPr kumimoji="0" lang="tr-TR" sz="2000" b="1" i="0" u="none" strike="noStrike" kern="1200" cap="none" spc="0" normalizeH="0" baseline="-25000" noProof="0">
                <a:ln>
                  <a:noFill/>
                </a:ln>
                <a:solidFill>
                  <a:srgbClr val="FFFF00"/>
                </a:solidFill>
                <a:effectLst/>
                <a:uLnTx/>
                <a:uFillTx/>
                <a:latin typeface="Arial Narrow" pitchFamily="34" charset="0"/>
                <a:ea typeface="+mn-ea"/>
                <a:cs typeface="+mn-cs"/>
              </a:rPr>
              <a:t>max </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sin wt )</a:t>
            </a:r>
            <a:r>
              <a:rPr kumimoji="0" lang="tr-TR" sz="2000" b="1" i="0" u="none" strike="noStrike" kern="1200" cap="none" spc="0" normalizeH="0" baseline="30000" noProof="0">
                <a:ln>
                  <a:noFill/>
                </a:ln>
                <a:solidFill>
                  <a:srgbClr val="FFFF00"/>
                </a:solidFill>
                <a:effectLst/>
                <a:uLnTx/>
                <a:uFillTx/>
                <a:latin typeface="Arial Narrow" pitchFamily="34" charset="0"/>
                <a:ea typeface="+mn-ea"/>
                <a:cs typeface="+mn-cs"/>
              </a:rPr>
              <a:t>2</a:t>
            </a:r>
          </a:p>
        </p:txBody>
      </p:sp>
      <p:grpSp>
        <p:nvGrpSpPr>
          <p:cNvPr id="2" name="Group 98"/>
          <p:cNvGrpSpPr>
            <a:grpSpLocks/>
          </p:cNvGrpSpPr>
          <p:nvPr/>
        </p:nvGrpSpPr>
        <p:grpSpPr bwMode="auto">
          <a:xfrm>
            <a:off x="0" y="4443413"/>
            <a:ext cx="4681538" cy="1870075"/>
            <a:chOff x="0" y="2768"/>
            <a:chExt cx="2949" cy="1178"/>
          </a:xfrm>
        </p:grpSpPr>
        <p:sp>
          <p:nvSpPr>
            <p:cNvPr id="113730" name="AutoShape 3"/>
            <p:cNvSpPr>
              <a:spLocks noChangeArrowheads="1"/>
            </p:cNvSpPr>
            <p:nvPr/>
          </p:nvSpPr>
          <p:spPr bwMode="auto">
            <a:xfrm rot="5400000">
              <a:off x="403" y="2803"/>
              <a:ext cx="273" cy="466"/>
            </a:xfrm>
            <a:prstGeom prst="bracePair">
              <a:avLst>
                <a:gd name="adj" fmla="val 17949"/>
              </a:avLst>
            </a:prstGeom>
            <a:noFill/>
            <a:ln w="25400">
              <a:solidFill>
                <a:srgbClr val="CC33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31" name="Text Box 6"/>
            <p:cNvSpPr txBox="1">
              <a:spLocks noChangeArrowheads="1"/>
            </p:cNvSpPr>
            <p:nvPr/>
          </p:nvSpPr>
          <p:spPr bwMode="auto">
            <a:xfrm>
              <a:off x="2725" y="3196"/>
              <a:ext cx="224" cy="212"/>
            </a:xfrm>
            <a:prstGeom prst="rect">
              <a:avLst/>
            </a:prstGeom>
            <a:noFill/>
            <a:ln w="25400">
              <a:noFill/>
              <a:miter lim="800000"/>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srgbClr val="000066"/>
                  </a:solidFill>
                  <a:effectLst/>
                  <a:uLnTx/>
                  <a:uFillTx/>
                  <a:latin typeface="Arial Narrow" pitchFamily="34" charset="0"/>
                  <a:ea typeface="+mn-ea"/>
                  <a:cs typeface="+mn-cs"/>
                </a:rPr>
                <a:t>R</a:t>
              </a:r>
              <a:endParaRPr kumimoji="0" lang="en-US" sz="16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13732" name="Rectangle 7"/>
            <p:cNvSpPr>
              <a:spLocks noChangeArrowheads="1"/>
            </p:cNvSpPr>
            <p:nvPr/>
          </p:nvSpPr>
          <p:spPr bwMode="auto">
            <a:xfrm>
              <a:off x="0" y="3669"/>
              <a:ext cx="1266" cy="277"/>
            </a:xfrm>
            <a:prstGeom prst="rect">
              <a:avLst/>
            </a:prstGeom>
            <a:solidFill>
              <a:srgbClr val="CC3300"/>
            </a:solidFill>
            <a:ln w="9525">
              <a:noFill/>
              <a:miter lim="800000"/>
              <a:headEnd/>
              <a:tailEnd/>
            </a:ln>
          </p:spPr>
          <p:txBody>
            <a:bodyPr lIns="72000" tIns="82800" rIns="72000" bIns="82800">
              <a:spAutoFit/>
            </a:bodyPr>
            <a:lstStyle/>
            <a:p>
              <a:pPr marL="447675" marR="0" lvl="0" indent="-447675" algn="ctr" defTabSz="914400" rtl="0" eaLnBrk="1" fontAlgn="base" latinLnBrk="0" hangingPunct="1">
                <a:lnSpc>
                  <a:spcPct val="100000"/>
                </a:lnSpc>
                <a:spcBef>
                  <a:spcPct val="0"/>
                </a:spcBef>
                <a:spcAft>
                  <a:spcPct val="0"/>
                </a:spcAft>
                <a:buClrTx/>
                <a:buSzTx/>
                <a:buFontTx/>
                <a:buNone/>
                <a:tabLst/>
                <a:defRPr/>
              </a:pPr>
              <a:r>
                <a:rPr kumimoji="0" lang="tr-TR" sz="1800" b="0" i="0" u="none" strike="noStrike" kern="1200" cap="none" spc="0" normalizeH="0" baseline="0" noProof="0">
                  <a:ln>
                    <a:noFill/>
                  </a:ln>
                  <a:solidFill>
                    <a:prstClr val="white"/>
                  </a:solidFill>
                  <a:effectLst/>
                  <a:uLnTx/>
                  <a:uFillTx/>
                  <a:latin typeface="Arial Narrow" pitchFamily="34" charset="0"/>
                  <a:ea typeface="+mn-ea"/>
                  <a:cs typeface="+mn-cs"/>
                </a:rPr>
                <a:t>V(t) = V</a:t>
              </a:r>
              <a:r>
                <a:rPr kumimoji="0" lang="tr-TR" sz="1800" b="0" i="0" u="none" strike="noStrike" kern="1200" cap="none" spc="0" normalizeH="0" baseline="-25000" noProof="0">
                  <a:ln>
                    <a:noFill/>
                  </a:ln>
                  <a:solidFill>
                    <a:prstClr val="white"/>
                  </a:solidFill>
                  <a:effectLst/>
                  <a:uLnTx/>
                  <a:uFillTx/>
                  <a:latin typeface="Arial Narrow" pitchFamily="34" charset="0"/>
                  <a:ea typeface="+mn-ea"/>
                  <a:cs typeface="+mn-cs"/>
                </a:rPr>
                <a:t>max</a:t>
              </a:r>
              <a:r>
                <a:rPr kumimoji="0" lang="tr-TR" sz="1800" b="0" i="0" u="none" strike="noStrike" kern="1200" cap="none" spc="0" normalizeH="0" baseline="0" noProof="0">
                  <a:ln>
                    <a:noFill/>
                  </a:ln>
                  <a:solidFill>
                    <a:prstClr val="white"/>
                  </a:solidFill>
                  <a:effectLst/>
                  <a:uLnTx/>
                  <a:uFillTx/>
                  <a:latin typeface="Arial Narrow" pitchFamily="34" charset="0"/>
                  <a:ea typeface="+mn-ea"/>
                  <a:cs typeface="+mn-cs"/>
                </a:rPr>
                <a:t> sin wt</a:t>
              </a:r>
              <a:endParaRPr kumimoji="0" lang="en-US" sz="1800" b="0" i="0" u="none" strike="noStrike" kern="1200" cap="none" spc="0" normalizeH="0" baseline="0" noProof="0">
                <a:ln>
                  <a:noFill/>
                </a:ln>
                <a:solidFill>
                  <a:prstClr val="white"/>
                </a:solidFill>
                <a:effectLst/>
                <a:uLnTx/>
                <a:uFillTx/>
                <a:latin typeface="Arial Narrow" pitchFamily="34" charset="0"/>
                <a:ea typeface="+mn-ea"/>
                <a:cs typeface="+mn-cs"/>
              </a:endParaRPr>
            </a:p>
          </p:txBody>
        </p:sp>
        <p:sp>
          <p:nvSpPr>
            <p:cNvPr id="113733" name="Line 8"/>
            <p:cNvSpPr>
              <a:spLocks noChangeShapeType="1"/>
            </p:cNvSpPr>
            <p:nvPr/>
          </p:nvSpPr>
          <p:spPr bwMode="auto">
            <a:xfrm flipH="1">
              <a:off x="2659" y="2807"/>
              <a:ext cx="1" cy="345"/>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34" name="Text Box 9"/>
            <p:cNvSpPr txBox="1">
              <a:spLocks noChangeArrowheads="1"/>
            </p:cNvSpPr>
            <p:nvPr/>
          </p:nvSpPr>
          <p:spPr bwMode="auto">
            <a:xfrm rot="10800000">
              <a:off x="2649" y="3492"/>
              <a:ext cx="245" cy="258"/>
            </a:xfrm>
            <a:prstGeom prst="rect">
              <a:avLst/>
            </a:prstGeom>
            <a:noFill/>
            <a:ln w="25400">
              <a:noFill/>
              <a:miter lim="800000"/>
              <a:headEnd/>
              <a:tailEnd/>
            </a:ln>
          </p:spPr>
          <p:txBody>
            <a:bodyPr bIns="1188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prstClr val="black"/>
                  </a:solidFill>
                  <a:effectLst/>
                  <a:uLnTx/>
                  <a:uFillTx/>
                  <a:latin typeface="Arial" charset="0"/>
                  <a:ea typeface="+mn-ea"/>
                  <a:cs typeface="+mn-cs"/>
                </a:rPr>
                <a:t>_</a:t>
              </a:r>
              <a:endParaRPr kumimoji="0" lang="en-US" sz="16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35" name="Line 10"/>
            <p:cNvSpPr>
              <a:spLocks noChangeShapeType="1"/>
            </p:cNvSpPr>
            <p:nvPr/>
          </p:nvSpPr>
          <p:spPr bwMode="auto">
            <a:xfrm>
              <a:off x="2660" y="3511"/>
              <a:ext cx="0" cy="419"/>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36" name="Line 11"/>
            <p:cNvSpPr>
              <a:spLocks noChangeShapeType="1"/>
            </p:cNvSpPr>
            <p:nvPr/>
          </p:nvSpPr>
          <p:spPr bwMode="auto">
            <a:xfrm rot="5400000" flipH="1">
              <a:off x="1330" y="3016"/>
              <a:ext cx="425"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37" name="Line 12"/>
            <p:cNvSpPr>
              <a:spLocks noChangeShapeType="1"/>
            </p:cNvSpPr>
            <p:nvPr/>
          </p:nvSpPr>
          <p:spPr bwMode="auto">
            <a:xfrm rot="5400000" flipH="1">
              <a:off x="1326" y="3710"/>
              <a:ext cx="452"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38" name="Text Box 13"/>
            <p:cNvSpPr txBox="1">
              <a:spLocks noChangeArrowheads="1"/>
            </p:cNvSpPr>
            <p:nvPr/>
          </p:nvSpPr>
          <p:spPr bwMode="auto">
            <a:xfrm>
              <a:off x="1523" y="3065"/>
              <a:ext cx="191" cy="212"/>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prstClr val="black"/>
                  </a:solidFill>
                  <a:effectLst/>
                  <a:uLnTx/>
                  <a:uFillTx/>
                  <a:latin typeface="Arial" charset="0"/>
                  <a:ea typeface="+mn-ea"/>
                  <a:cs typeface="+mn-cs"/>
                </a:rPr>
                <a:t>+</a:t>
              </a:r>
              <a:endParaRPr kumimoji="0" lang="en-US" sz="16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39" name="Line 14"/>
            <p:cNvSpPr>
              <a:spLocks noChangeShapeType="1"/>
            </p:cNvSpPr>
            <p:nvPr/>
          </p:nvSpPr>
          <p:spPr bwMode="auto">
            <a:xfrm rot="10800000" flipH="1" flipV="1">
              <a:off x="1552" y="3932"/>
              <a:ext cx="1108"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40" name="Text Box 15"/>
            <p:cNvSpPr txBox="1">
              <a:spLocks noChangeArrowheads="1"/>
            </p:cNvSpPr>
            <p:nvPr/>
          </p:nvSpPr>
          <p:spPr bwMode="auto">
            <a:xfrm>
              <a:off x="1707" y="2789"/>
              <a:ext cx="250" cy="212"/>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srgbClr val="000066"/>
                  </a:solidFill>
                  <a:effectLst/>
                  <a:uLnTx/>
                  <a:uFillTx/>
                  <a:latin typeface="Arial Narrow" pitchFamily="34" charset="0"/>
                  <a:ea typeface="+mn-ea"/>
                  <a:cs typeface="+mn-cs"/>
                </a:rPr>
                <a:t>I(t)</a:t>
              </a:r>
              <a:endParaRPr kumimoji="0" lang="en-US" sz="16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13741" name="Line 16"/>
            <p:cNvSpPr>
              <a:spLocks noChangeShapeType="1"/>
            </p:cNvSpPr>
            <p:nvPr/>
          </p:nvSpPr>
          <p:spPr bwMode="auto">
            <a:xfrm rot="-5400000">
              <a:off x="2143" y="2792"/>
              <a:ext cx="0" cy="190"/>
            </a:xfrm>
            <a:prstGeom prst="line">
              <a:avLst/>
            </a:prstGeom>
            <a:noFill/>
            <a:ln w="25400">
              <a:solidFill>
                <a:schemeClr val="tx1"/>
              </a:solidFill>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42" name="Text Box 17"/>
            <p:cNvSpPr txBox="1">
              <a:spLocks noChangeArrowheads="1"/>
            </p:cNvSpPr>
            <p:nvPr/>
          </p:nvSpPr>
          <p:spPr bwMode="auto">
            <a:xfrm>
              <a:off x="1258" y="3013"/>
              <a:ext cx="332" cy="221"/>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700" b="0" i="0" u="none" strike="noStrike" kern="1200" cap="none" spc="0" normalizeH="0" baseline="0" noProof="0">
                  <a:ln>
                    <a:noFill/>
                  </a:ln>
                  <a:solidFill>
                    <a:srgbClr val="000066"/>
                  </a:solidFill>
                  <a:effectLst/>
                  <a:uLnTx/>
                  <a:uFillTx/>
                  <a:latin typeface="Arial Narrow" pitchFamily="34" charset="0"/>
                  <a:ea typeface="+mn-ea"/>
                  <a:cs typeface="+mn-cs"/>
                </a:rPr>
                <a:t>V(t) </a:t>
              </a:r>
              <a:endParaRPr kumimoji="0" lang="en-US" sz="17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13743" name="Line 18"/>
            <p:cNvSpPr>
              <a:spLocks noChangeShapeType="1"/>
            </p:cNvSpPr>
            <p:nvPr/>
          </p:nvSpPr>
          <p:spPr bwMode="auto">
            <a:xfrm>
              <a:off x="2659" y="3148"/>
              <a:ext cx="83" cy="33"/>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44" name="Line 19"/>
            <p:cNvSpPr>
              <a:spLocks noChangeShapeType="1"/>
            </p:cNvSpPr>
            <p:nvPr/>
          </p:nvSpPr>
          <p:spPr bwMode="auto">
            <a:xfrm flipH="1">
              <a:off x="2618" y="3179"/>
              <a:ext cx="121" cy="41"/>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45" name="Line 20"/>
            <p:cNvSpPr>
              <a:spLocks noChangeShapeType="1"/>
            </p:cNvSpPr>
            <p:nvPr/>
          </p:nvSpPr>
          <p:spPr bwMode="auto">
            <a:xfrm>
              <a:off x="2629" y="3219"/>
              <a:ext cx="106" cy="33"/>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46" name="Line 21"/>
            <p:cNvSpPr>
              <a:spLocks noChangeShapeType="1"/>
            </p:cNvSpPr>
            <p:nvPr/>
          </p:nvSpPr>
          <p:spPr bwMode="auto">
            <a:xfrm flipH="1">
              <a:off x="2621" y="3253"/>
              <a:ext cx="122" cy="41"/>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47" name="Line 22"/>
            <p:cNvSpPr>
              <a:spLocks noChangeShapeType="1"/>
            </p:cNvSpPr>
            <p:nvPr/>
          </p:nvSpPr>
          <p:spPr bwMode="auto">
            <a:xfrm>
              <a:off x="2628" y="3291"/>
              <a:ext cx="112" cy="35"/>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48" name="Line 23"/>
            <p:cNvSpPr>
              <a:spLocks noChangeShapeType="1"/>
            </p:cNvSpPr>
            <p:nvPr/>
          </p:nvSpPr>
          <p:spPr bwMode="auto">
            <a:xfrm flipH="1">
              <a:off x="2625" y="3323"/>
              <a:ext cx="120" cy="39"/>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49" name="Line 24"/>
            <p:cNvSpPr>
              <a:spLocks noChangeShapeType="1"/>
            </p:cNvSpPr>
            <p:nvPr/>
          </p:nvSpPr>
          <p:spPr bwMode="auto">
            <a:xfrm>
              <a:off x="2621" y="3363"/>
              <a:ext cx="120" cy="40"/>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50" name="Line 25"/>
            <p:cNvSpPr>
              <a:spLocks noChangeShapeType="1"/>
            </p:cNvSpPr>
            <p:nvPr/>
          </p:nvSpPr>
          <p:spPr bwMode="auto">
            <a:xfrm flipH="1">
              <a:off x="2656" y="3484"/>
              <a:ext cx="90" cy="30"/>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51" name="Line 26"/>
            <p:cNvSpPr>
              <a:spLocks noChangeShapeType="1"/>
            </p:cNvSpPr>
            <p:nvPr/>
          </p:nvSpPr>
          <p:spPr bwMode="auto">
            <a:xfrm flipH="1">
              <a:off x="2624" y="3403"/>
              <a:ext cx="119" cy="39"/>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52" name="Line 27"/>
            <p:cNvSpPr>
              <a:spLocks noChangeShapeType="1"/>
            </p:cNvSpPr>
            <p:nvPr/>
          </p:nvSpPr>
          <p:spPr bwMode="auto">
            <a:xfrm>
              <a:off x="2621" y="3442"/>
              <a:ext cx="120" cy="41"/>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53" name="Line 28"/>
            <p:cNvSpPr>
              <a:spLocks noChangeShapeType="1"/>
            </p:cNvSpPr>
            <p:nvPr/>
          </p:nvSpPr>
          <p:spPr bwMode="auto">
            <a:xfrm rot="10800000" flipH="1" flipV="1">
              <a:off x="1543" y="2799"/>
              <a:ext cx="1117" cy="4"/>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54" name="Text Box 29"/>
            <p:cNvSpPr txBox="1">
              <a:spLocks noChangeArrowheads="1"/>
            </p:cNvSpPr>
            <p:nvPr/>
          </p:nvSpPr>
          <p:spPr bwMode="auto">
            <a:xfrm>
              <a:off x="2646" y="2962"/>
              <a:ext cx="191" cy="212"/>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prstClr val="black"/>
                  </a:solidFill>
                  <a:effectLst/>
                  <a:uLnTx/>
                  <a:uFillTx/>
                  <a:latin typeface="Arial" charset="0"/>
                  <a:ea typeface="+mn-ea"/>
                  <a:cs typeface="+mn-cs"/>
                </a:rPr>
                <a:t>+</a:t>
              </a:r>
              <a:endParaRPr kumimoji="0" lang="en-US" sz="16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55" name="Line 30"/>
            <p:cNvSpPr>
              <a:spLocks noChangeShapeType="1"/>
            </p:cNvSpPr>
            <p:nvPr/>
          </p:nvSpPr>
          <p:spPr bwMode="auto">
            <a:xfrm flipV="1">
              <a:off x="2328" y="2803"/>
              <a:ext cx="0" cy="1127"/>
            </a:xfrm>
            <a:prstGeom prst="line">
              <a:avLst/>
            </a:prstGeom>
            <a:noFill/>
            <a:ln w="25400">
              <a:solidFill>
                <a:srgbClr val="000066"/>
              </a:solidFill>
              <a:prstDash val="sysDot"/>
              <a:round/>
              <a:headEnd type="triangle" w="med" len="me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56" name="Text Box 31"/>
            <p:cNvSpPr txBox="1">
              <a:spLocks noChangeArrowheads="1"/>
            </p:cNvSpPr>
            <p:nvPr/>
          </p:nvSpPr>
          <p:spPr bwMode="auto">
            <a:xfrm>
              <a:off x="2198" y="3226"/>
              <a:ext cx="353" cy="221"/>
            </a:xfrm>
            <a:prstGeom prst="rect">
              <a:avLst/>
            </a:prstGeom>
            <a:solidFill>
              <a:srgbClr val="FFFFFF"/>
            </a:solid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700" b="0" i="0" u="none" strike="noStrike" kern="1200" cap="none" spc="0" normalizeH="0" baseline="0" noProof="0">
                  <a:ln>
                    <a:noFill/>
                  </a:ln>
                  <a:solidFill>
                    <a:srgbClr val="000066"/>
                  </a:solidFill>
                  <a:effectLst/>
                  <a:uLnTx/>
                  <a:uFillTx/>
                  <a:latin typeface="Arial Narrow" pitchFamily="34" charset="0"/>
                  <a:ea typeface="+mn-ea"/>
                  <a:cs typeface="+mn-cs"/>
                </a:rPr>
                <a:t>V</a:t>
              </a:r>
              <a:r>
                <a:rPr kumimoji="0" lang="tr-TR" sz="1700" b="0" i="0" u="none" strike="noStrike" kern="1200" cap="none" spc="0" normalizeH="0" baseline="-25000" noProof="0">
                  <a:ln>
                    <a:noFill/>
                  </a:ln>
                  <a:solidFill>
                    <a:srgbClr val="000066"/>
                  </a:solidFill>
                  <a:effectLst/>
                  <a:uLnTx/>
                  <a:uFillTx/>
                  <a:latin typeface="Arial Narrow" pitchFamily="34" charset="0"/>
                  <a:ea typeface="+mn-ea"/>
                  <a:cs typeface="+mn-cs"/>
                </a:rPr>
                <a:t>R</a:t>
              </a:r>
              <a:r>
                <a:rPr kumimoji="0" lang="tr-TR" sz="1700" b="0" i="0" u="none" strike="noStrike" kern="1200" cap="none" spc="0" normalizeH="0" baseline="0" noProof="0">
                  <a:ln>
                    <a:noFill/>
                  </a:ln>
                  <a:solidFill>
                    <a:srgbClr val="000066"/>
                  </a:solidFill>
                  <a:effectLst/>
                  <a:uLnTx/>
                  <a:uFillTx/>
                  <a:latin typeface="Arial Narrow" pitchFamily="34" charset="0"/>
                  <a:ea typeface="+mn-ea"/>
                  <a:cs typeface="+mn-cs"/>
                </a:rPr>
                <a:t>(t)</a:t>
              </a:r>
              <a:endParaRPr kumimoji="0" lang="en-US" sz="17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13757" name="Oval 32"/>
            <p:cNvSpPr>
              <a:spLocks noChangeArrowheads="1"/>
            </p:cNvSpPr>
            <p:nvPr/>
          </p:nvSpPr>
          <p:spPr bwMode="auto">
            <a:xfrm>
              <a:off x="1410" y="3228"/>
              <a:ext cx="266" cy="273"/>
            </a:xfrm>
            <a:prstGeom prst="ellipse">
              <a:avLst/>
            </a:prstGeom>
            <a:solidFill>
              <a:srgbClr val="FFFFFF"/>
            </a:solidFill>
            <a:ln w="25400">
              <a:solidFill>
                <a:srgbClr val="CC33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58" name="Freeform 33"/>
            <p:cNvSpPr>
              <a:spLocks/>
            </p:cNvSpPr>
            <p:nvPr/>
          </p:nvSpPr>
          <p:spPr bwMode="auto">
            <a:xfrm rot="-180000">
              <a:off x="1460" y="3301"/>
              <a:ext cx="163" cy="113"/>
            </a:xfrm>
            <a:custGeom>
              <a:avLst/>
              <a:gdLst>
                <a:gd name="T0" fmla="*/ 0 w 499"/>
                <a:gd name="T1" fmla="*/ 0 h 306"/>
                <a:gd name="T2" fmla="*/ 0 w 499"/>
                <a:gd name="T3" fmla="*/ 0 h 306"/>
                <a:gd name="T4" fmla="*/ 0 w 499"/>
                <a:gd name="T5" fmla="*/ 0 h 306"/>
                <a:gd name="T6" fmla="*/ 0 w 499"/>
                <a:gd name="T7" fmla="*/ 0 h 306"/>
                <a:gd name="T8" fmla="*/ 0 w 499"/>
                <a:gd name="T9" fmla="*/ 0 h 306"/>
                <a:gd name="T10" fmla="*/ 0 w 499"/>
                <a:gd name="T11" fmla="*/ 0 h 306"/>
                <a:gd name="T12" fmla="*/ 0 w 499"/>
                <a:gd name="T13" fmla="*/ 0 h 306"/>
                <a:gd name="T14" fmla="*/ 0 w 499"/>
                <a:gd name="T15" fmla="*/ 0 h 306"/>
                <a:gd name="T16" fmla="*/ 0 w 499"/>
                <a:gd name="T17" fmla="*/ 0 h 306"/>
                <a:gd name="T18" fmla="*/ 0 w 499"/>
                <a:gd name="T19" fmla="*/ 0 h 3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9"/>
                <a:gd name="T31" fmla="*/ 0 h 306"/>
                <a:gd name="T32" fmla="*/ 499 w 499"/>
                <a:gd name="T33" fmla="*/ 306 h 3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9" h="306">
                  <a:moveTo>
                    <a:pt x="0" y="126"/>
                  </a:moveTo>
                  <a:cubicBezTo>
                    <a:pt x="10" y="96"/>
                    <a:pt x="27" y="75"/>
                    <a:pt x="48" y="54"/>
                  </a:cubicBezTo>
                  <a:cubicBezTo>
                    <a:pt x="58" y="23"/>
                    <a:pt x="71" y="10"/>
                    <a:pt x="102" y="0"/>
                  </a:cubicBezTo>
                  <a:cubicBezTo>
                    <a:pt x="122" y="2"/>
                    <a:pt x="143" y="0"/>
                    <a:pt x="162" y="6"/>
                  </a:cubicBezTo>
                  <a:cubicBezTo>
                    <a:pt x="195" y="16"/>
                    <a:pt x="197" y="82"/>
                    <a:pt x="204" y="108"/>
                  </a:cubicBezTo>
                  <a:cubicBezTo>
                    <a:pt x="214" y="196"/>
                    <a:pt x="223" y="274"/>
                    <a:pt x="318" y="306"/>
                  </a:cubicBezTo>
                  <a:cubicBezTo>
                    <a:pt x="336" y="304"/>
                    <a:pt x="354" y="304"/>
                    <a:pt x="372" y="300"/>
                  </a:cubicBezTo>
                  <a:cubicBezTo>
                    <a:pt x="399" y="293"/>
                    <a:pt x="427" y="248"/>
                    <a:pt x="444" y="228"/>
                  </a:cubicBezTo>
                  <a:cubicBezTo>
                    <a:pt x="465" y="202"/>
                    <a:pt x="448" y="219"/>
                    <a:pt x="462" y="192"/>
                  </a:cubicBezTo>
                  <a:cubicBezTo>
                    <a:pt x="466" y="184"/>
                    <a:pt x="499" y="146"/>
                    <a:pt x="468" y="162"/>
                  </a:cubicBezTo>
                </a:path>
              </a:pathLst>
            </a:custGeom>
            <a:noFill/>
            <a:ln w="25400">
              <a:solidFill>
                <a:srgbClr val="CC3300"/>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59" name="Rectangle 34"/>
            <p:cNvSpPr>
              <a:spLocks noChangeArrowheads="1"/>
            </p:cNvSpPr>
            <p:nvPr/>
          </p:nvSpPr>
          <p:spPr bwMode="auto">
            <a:xfrm>
              <a:off x="0" y="2768"/>
              <a:ext cx="1258" cy="277"/>
            </a:xfrm>
            <a:prstGeom prst="rect">
              <a:avLst/>
            </a:prstGeom>
            <a:solidFill>
              <a:srgbClr val="CC3300"/>
            </a:solidFill>
            <a:ln w="9525">
              <a:noFill/>
              <a:miter lim="800000"/>
              <a:headEnd/>
              <a:tailEnd/>
            </a:ln>
          </p:spPr>
          <p:txBody>
            <a:bodyPr lIns="72000" tIns="82800" rIns="72000" bIns="828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800" b="0" i="0" u="none" strike="noStrike" kern="1200" cap="none" spc="0" normalizeH="0" baseline="0" noProof="0">
                  <a:ln>
                    <a:noFill/>
                  </a:ln>
                  <a:solidFill>
                    <a:prstClr val="white"/>
                  </a:solidFill>
                  <a:effectLst/>
                  <a:uLnTx/>
                  <a:uFillTx/>
                  <a:latin typeface="Arial Narrow" pitchFamily="34" charset="0"/>
                  <a:ea typeface="+mn-ea"/>
                  <a:cs typeface="+mn-cs"/>
                </a:rPr>
                <a:t>I(t) = (V</a:t>
              </a:r>
              <a:r>
                <a:rPr kumimoji="0" lang="tr-TR" sz="1800" b="0" i="0" u="none" strike="noStrike" kern="1200" cap="none" spc="0" normalizeH="0" baseline="-25000" noProof="0">
                  <a:ln>
                    <a:noFill/>
                  </a:ln>
                  <a:solidFill>
                    <a:prstClr val="white"/>
                  </a:solidFill>
                  <a:effectLst/>
                  <a:uLnTx/>
                  <a:uFillTx/>
                  <a:latin typeface="Arial Narrow" pitchFamily="34" charset="0"/>
                  <a:ea typeface="+mn-ea"/>
                  <a:cs typeface="+mn-cs"/>
                </a:rPr>
                <a:t>max</a:t>
              </a:r>
              <a:r>
                <a:rPr kumimoji="0" lang="tr-TR" sz="1800" b="0" i="0" u="none" strike="noStrike" kern="1200" cap="none" spc="0" normalizeH="0" baseline="0" noProof="0">
                  <a:ln>
                    <a:noFill/>
                  </a:ln>
                  <a:solidFill>
                    <a:prstClr val="white"/>
                  </a:solidFill>
                  <a:effectLst/>
                  <a:uLnTx/>
                  <a:uFillTx/>
                  <a:latin typeface="Arial Narrow" pitchFamily="34" charset="0"/>
                  <a:ea typeface="+mn-ea"/>
                  <a:cs typeface="+mn-cs"/>
                </a:rPr>
                <a:t> / R) sin wt</a:t>
              </a:r>
              <a:endParaRPr kumimoji="0" lang="en-US" sz="1800" b="0" i="0" u="none" strike="noStrike" kern="1200" cap="none" spc="0" normalizeH="0" baseline="0" noProof="0">
                <a:ln>
                  <a:noFill/>
                </a:ln>
                <a:solidFill>
                  <a:prstClr val="white"/>
                </a:solidFill>
                <a:effectLst/>
                <a:uLnTx/>
                <a:uFillTx/>
                <a:latin typeface="Arial Narrow" pitchFamily="34" charset="0"/>
                <a:ea typeface="+mn-ea"/>
                <a:cs typeface="+mn-cs"/>
              </a:endParaRPr>
            </a:p>
          </p:txBody>
        </p:sp>
        <p:sp>
          <p:nvSpPr>
            <p:cNvPr id="113760" name="Line 35"/>
            <p:cNvSpPr>
              <a:spLocks noChangeShapeType="1"/>
            </p:cNvSpPr>
            <p:nvPr/>
          </p:nvSpPr>
          <p:spPr bwMode="auto">
            <a:xfrm rot="-5400000">
              <a:off x="1450" y="2687"/>
              <a:ext cx="0" cy="452"/>
            </a:xfrm>
            <a:prstGeom prst="line">
              <a:avLst/>
            </a:prstGeom>
            <a:noFill/>
            <a:ln w="25400">
              <a:solidFill>
                <a:srgbClr val="CC3300"/>
              </a:solidFill>
              <a:prstDash val="sysDot"/>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61" name="Line 36"/>
            <p:cNvSpPr>
              <a:spLocks noChangeShapeType="1"/>
            </p:cNvSpPr>
            <p:nvPr/>
          </p:nvSpPr>
          <p:spPr bwMode="auto">
            <a:xfrm rot="-5400000">
              <a:off x="1221" y="3227"/>
              <a:ext cx="0" cy="284"/>
            </a:xfrm>
            <a:prstGeom prst="line">
              <a:avLst/>
            </a:prstGeom>
            <a:noFill/>
            <a:ln w="25400">
              <a:solidFill>
                <a:srgbClr val="CC3300"/>
              </a:solidFill>
              <a:prstDash val="sysDot"/>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62" name="Line 37"/>
            <p:cNvSpPr>
              <a:spLocks noChangeShapeType="1"/>
            </p:cNvSpPr>
            <p:nvPr/>
          </p:nvSpPr>
          <p:spPr bwMode="auto">
            <a:xfrm>
              <a:off x="1080" y="3383"/>
              <a:ext cx="0" cy="372"/>
            </a:xfrm>
            <a:prstGeom prst="line">
              <a:avLst/>
            </a:prstGeom>
            <a:noFill/>
            <a:ln w="25400">
              <a:solidFill>
                <a:srgbClr val="CC3300"/>
              </a:solidFill>
              <a:prstDash val="sysDot"/>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63" name="Rectangle 38"/>
            <p:cNvSpPr>
              <a:spLocks noChangeArrowheads="1"/>
            </p:cNvSpPr>
            <p:nvPr/>
          </p:nvSpPr>
          <p:spPr bwMode="auto">
            <a:xfrm>
              <a:off x="364" y="3212"/>
              <a:ext cx="324" cy="277"/>
            </a:xfrm>
            <a:prstGeom prst="rect">
              <a:avLst/>
            </a:prstGeom>
            <a:solidFill>
              <a:srgbClr val="CC3300"/>
            </a:solidFill>
            <a:ln w="9525">
              <a:noFill/>
              <a:miter lim="800000"/>
              <a:headEnd/>
              <a:tailEnd/>
            </a:ln>
          </p:spPr>
          <p:txBody>
            <a:bodyPr lIns="72000" tIns="82800" rIns="72000" bIns="8280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tr-TR" sz="1800" b="0" i="0" u="none" strike="noStrike" kern="1200" cap="none" spc="0" normalizeH="0" baseline="0" noProof="0">
                  <a:ln>
                    <a:noFill/>
                  </a:ln>
                  <a:solidFill>
                    <a:prstClr val="white"/>
                  </a:solidFill>
                  <a:effectLst/>
                  <a:uLnTx/>
                  <a:uFillTx/>
                  <a:latin typeface="Arial Narrow" pitchFamily="34" charset="0"/>
                  <a:ea typeface="+mn-ea"/>
                  <a:cs typeface="+mn-cs"/>
                </a:rPr>
                <a:t>I</a:t>
              </a:r>
              <a:r>
                <a:rPr kumimoji="0" lang="tr-TR" sz="1800" b="0" i="0" u="none" strike="noStrike" kern="1200" cap="none" spc="0" normalizeH="0" baseline="-25000" noProof="0">
                  <a:ln>
                    <a:noFill/>
                  </a:ln>
                  <a:solidFill>
                    <a:prstClr val="white"/>
                  </a:solidFill>
                  <a:effectLst/>
                  <a:uLnTx/>
                  <a:uFillTx/>
                  <a:latin typeface="Arial Narrow" pitchFamily="34" charset="0"/>
                  <a:ea typeface="+mn-ea"/>
                  <a:cs typeface="+mn-cs"/>
                </a:rPr>
                <a:t>max</a:t>
              </a:r>
              <a:endParaRPr kumimoji="0" lang="en-US" sz="1800" b="0" i="0" u="none" strike="noStrike" kern="1200" cap="none" spc="0" normalizeH="0" baseline="-25000" noProof="0">
                <a:ln>
                  <a:noFill/>
                </a:ln>
                <a:solidFill>
                  <a:prstClr val="white"/>
                </a:solidFill>
                <a:effectLst/>
                <a:uLnTx/>
                <a:uFillTx/>
                <a:latin typeface="Arial Narrow" pitchFamily="34" charset="0"/>
                <a:ea typeface="+mn-ea"/>
                <a:cs typeface="+mn-cs"/>
              </a:endParaRPr>
            </a:p>
          </p:txBody>
        </p:sp>
      </p:grpSp>
      <p:sp>
        <p:nvSpPr>
          <p:cNvPr id="113670" name="Line 39"/>
          <p:cNvSpPr>
            <a:spLocks noChangeShapeType="1"/>
          </p:cNvSpPr>
          <p:nvPr/>
        </p:nvSpPr>
        <p:spPr bwMode="auto">
          <a:xfrm>
            <a:off x="0" y="0"/>
            <a:ext cx="914400" cy="0"/>
          </a:xfrm>
          <a:prstGeom prst="line">
            <a:avLst/>
          </a:prstGeom>
          <a:noFill/>
          <a:ln w="952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71" name="Line 41"/>
          <p:cNvSpPr>
            <a:spLocks noChangeShapeType="1"/>
          </p:cNvSpPr>
          <p:nvPr/>
        </p:nvSpPr>
        <p:spPr bwMode="auto">
          <a:xfrm>
            <a:off x="0" y="0"/>
            <a:ext cx="0" cy="914400"/>
          </a:xfrm>
          <a:prstGeom prst="line">
            <a:avLst/>
          </a:prstGeom>
          <a:noFill/>
          <a:ln w="9525">
            <a:solidFill>
              <a:srgbClr val="00FF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grpSp>
        <p:nvGrpSpPr>
          <p:cNvPr id="3" name="Group 99"/>
          <p:cNvGrpSpPr>
            <a:grpSpLocks/>
          </p:cNvGrpSpPr>
          <p:nvPr/>
        </p:nvGrpSpPr>
        <p:grpSpPr bwMode="auto">
          <a:xfrm>
            <a:off x="4660900" y="1927225"/>
            <a:ext cx="4684713" cy="4311650"/>
            <a:chOff x="2936" y="1214"/>
            <a:chExt cx="2951" cy="2716"/>
          </a:xfrm>
        </p:grpSpPr>
        <p:sp>
          <p:nvSpPr>
            <p:cNvPr id="113679" name="Rectangle 40"/>
            <p:cNvSpPr>
              <a:spLocks noChangeArrowheads="1"/>
            </p:cNvSpPr>
            <p:nvPr/>
          </p:nvSpPr>
          <p:spPr bwMode="auto">
            <a:xfrm>
              <a:off x="3171" y="1272"/>
              <a:ext cx="2515" cy="2600"/>
            </a:xfrm>
            <a:prstGeom prst="rect">
              <a:avLst/>
            </a:prstGeom>
            <a:solidFill>
              <a:srgbClr val="C0C0C0">
                <a:alpha val="72156"/>
              </a:srgbClr>
            </a:solidFill>
            <a:ln w="9525">
              <a:solidFill>
                <a:srgbClr val="808080"/>
              </a:solid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80" name="Line 42"/>
            <p:cNvSpPr>
              <a:spLocks noChangeShapeType="1"/>
            </p:cNvSpPr>
            <p:nvPr/>
          </p:nvSpPr>
          <p:spPr bwMode="auto">
            <a:xfrm>
              <a:off x="3171" y="3872"/>
              <a:ext cx="2515" cy="1"/>
            </a:xfrm>
            <a:prstGeom prst="line">
              <a:avLst/>
            </a:prstGeom>
            <a:noFill/>
            <a:ln w="0">
              <a:solidFill>
                <a:srgbClr val="969696"/>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81" name="Line 43"/>
            <p:cNvSpPr>
              <a:spLocks noChangeShapeType="1"/>
            </p:cNvSpPr>
            <p:nvPr/>
          </p:nvSpPr>
          <p:spPr bwMode="auto">
            <a:xfrm>
              <a:off x="3171" y="3584"/>
              <a:ext cx="2515" cy="2"/>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82" name="Line 44"/>
            <p:cNvSpPr>
              <a:spLocks noChangeShapeType="1"/>
            </p:cNvSpPr>
            <p:nvPr/>
          </p:nvSpPr>
          <p:spPr bwMode="auto">
            <a:xfrm>
              <a:off x="3171" y="3298"/>
              <a:ext cx="2515" cy="1"/>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83" name="Line 45"/>
            <p:cNvSpPr>
              <a:spLocks noChangeShapeType="1"/>
            </p:cNvSpPr>
            <p:nvPr/>
          </p:nvSpPr>
          <p:spPr bwMode="auto">
            <a:xfrm>
              <a:off x="3189" y="2983"/>
              <a:ext cx="2515" cy="1"/>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84" name="Line 46"/>
            <p:cNvSpPr>
              <a:spLocks noChangeShapeType="1"/>
            </p:cNvSpPr>
            <p:nvPr/>
          </p:nvSpPr>
          <p:spPr bwMode="auto">
            <a:xfrm>
              <a:off x="3171" y="2429"/>
              <a:ext cx="2515" cy="1"/>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85" name="Line 47"/>
            <p:cNvSpPr>
              <a:spLocks noChangeShapeType="1"/>
            </p:cNvSpPr>
            <p:nvPr/>
          </p:nvSpPr>
          <p:spPr bwMode="auto">
            <a:xfrm>
              <a:off x="3171" y="2141"/>
              <a:ext cx="2515" cy="1"/>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86" name="Line 48"/>
            <p:cNvSpPr>
              <a:spLocks noChangeShapeType="1"/>
            </p:cNvSpPr>
            <p:nvPr/>
          </p:nvSpPr>
          <p:spPr bwMode="auto">
            <a:xfrm>
              <a:off x="3171" y="1846"/>
              <a:ext cx="2515" cy="1"/>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87" name="Line 49"/>
            <p:cNvSpPr>
              <a:spLocks noChangeShapeType="1"/>
            </p:cNvSpPr>
            <p:nvPr/>
          </p:nvSpPr>
          <p:spPr bwMode="auto">
            <a:xfrm>
              <a:off x="3171" y="1558"/>
              <a:ext cx="2515" cy="2"/>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88" name="Line 50"/>
            <p:cNvSpPr>
              <a:spLocks noChangeShapeType="1"/>
            </p:cNvSpPr>
            <p:nvPr/>
          </p:nvSpPr>
          <p:spPr bwMode="auto">
            <a:xfrm>
              <a:off x="3171" y="1272"/>
              <a:ext cx="2515" cy="1"/>
            </a:xfrm>
            <a:prstGeom prst="line">
              <a:avLst/>
            </a:prstGeom>
            <a:noFill/>
            <a:ln w="0">
              <a:solidFill>
                <a:srgbClr val="969696"/>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89" name="Line 51"/>
            <p:cNvSpPr>
              <a:spLocks noChangeShapeType="1"/>
            </p:cNvSpPr>
            <p:nvPr/>
          </p:nvSpPr>
          <p:spPr bwMode="auto">
            <a:xfrm>
              <a:off x="3730" y="1272"/>
              <a:ext cx="1" cy="2600"/>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90" name="Line 52"/>
            <p:cNvSpPr>
              <a:spLocks noChangeShapeType="1"/>
            </p:cNvSpPr>
            <p:nvPr/>
          </p:nvSpPr>
          <p:spPr bwMode="auto">
            <a:xfrm>
              <a:off x="4014" y="1272"/>
              <a:ext cx="1" cy="2600"/>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91" name="Line 53"/>
            <p:cNvSpPr>
              <a:spLocks noChangeShapeType="1"/>
            </p:cNvSpPr>
            <p:nvPr/>
          </p:nvSpPr>
          <p:spPr bwMode="auto">
            <a:xfrm>
              <a:off x="4286" y="1272"/>
              <a:ext cx="1" cy="2600"/>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92" name="Line 54"/>
            <p:cNvSpPr>
              <a:spLocks noChangeShapeType="1"/>
            </p:cNvSpPr>
            <p:nvPr/>
          </p:nvSpPr>
          <p:spPr bwMode="auto">
            <a:xfrm>
              <a:off x="4577" y="1272"/>
              <a:ext cx="1" cy="2600"/>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93" name="Line 55"/>
            <p:cNvSpPr>
              <a:spLocks noChangeShapeType="1"/>
            </p:cNvSpPr>
            <p:nvPr/>
          </p:nvSpPr>
          <p:spPr bwMode="auto">
            <a:xfrm>
              <a:off x="4866" y="1272"/>
              <a:ext cx="1" cy="2600"/>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94" name="Line 56"/>
            <p:cNvSpPr>
              <a:spLocks noChangeShapeType="1"/>
            </p:cNvSpPr>
            <p:nvPr/>
          </p:nvSpPr>
          <p:spPr bwMode="auto">
            <a:xfrm>
              <a:off x="5421" y="1272"/>
              <a:ext cx="1" cy="2600"/>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95" name="Line 57"/>
            <p:cNvSpPr>
              <a:spLocks noChangeShapeType="1"/>
            </p:cNvSpPr>
            <p:nvPr/>
          </p:nvSpPr>
          <p:spPr bwMode="auto">
            <a:xfrm>
              <a:off x="5686" y="1272"/>
              <a:ext cx="1" cy="2600"/>
            </a:xfrm>
            <a:prstGeom prst="line">
              <a:avLst/>
            </a:prstGeom>
            <a:noFill/>
            <a:ln w="0">
              <a:solidFill>
                <a:srgbClr val="969696"/>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96" name="Rectangle 58"/>
            <p:cNvSpPr>
              <a:spLocks noChangeArrowheads="1"/>
            </p:cNvSpPr>
            <p:nvPr/>
          </p:nvSpPr>
          <p:spPr bwMode="auto">
            <a:xfrm>
              <a:off x="3171" y="1272"/>
              <a:ext cx="2515" cy="2600"/>
            </a:xfrm>
            <a:prstGeom prst="rect">
              <a:avLst/>
            </a:prstGeom>
            <a:noFill/>
            <a:ln w="7938">
              <a:solidFill>
                <a:srgbClr val="808080"/>
              </a:solid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97" name="Line 59"/>
            <p:cNvSpPr>
              <a:spLocks noChangeShapeType="1"/>
            </p:cNvSpPr>
            <p:nvPr/>
          </p:nvSpPr>
          <p:spPr bwMode="auto">
            <a:xfrm>
              <a:off x="3106" y="1272"/>
              <a:ext cx="1" cy="2600"/>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98" name="Line 60"/>
            <p:cNvSpPr>
              <a:spLocks noChangeShapeType="1"/>
            </p:cNvSpPr>
            <p:nvPr/>
          </p:nvSpPr>
          <p:spPr bwMode="auto">
            <a:xfrm>
              <a:off x="3088" y="3872"/>
              <a:ext cx="18" cy="1"/>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99" name="Line 61"/>
            <p:cNvSpPr>
              <a:spLocks noChangeShapeType="1"/>
            </p:cNvSpPr>
            <p:nvPr/>
          </p:nvSpPr>
          <p:spPr bwMode="auto">
            <a:xfrm>
              <a:off x="3088" y="3584"/>
              <a:ext cx="18" cy="2"/>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00" name="Line 62"/>
            <p:cNvSpPr>
              <a:spLocks noChangeShapeType="1"/>
            </p:cNvSpPr>
            <p:nvPr/>
          </p:nvSpPr>
          <p:spPr bwMode="auto">
            <a:xfrm>
              <a:off x="3088" y="3298"/>
              <a:ext cx="18" cy="1"/>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01" name="Line 63"/>
            <p:cNvSpPr>
              <a:spLocks noChangeShapeType="1"/>
            </p:cNvSpPr>
            <p:nvPr/>
          </p:nvSpPr>
          <p:spPr bwMode="auto">
            <a:xfrm>
              <a:off x="3123" y="2894"/>
              <a:ext cx="19" cy="1"/>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02" name="Line 64"/>
            <p:cNvSpPr>
              <a:spLocks noChangeShapeType="1"/>
            </p:cNvSpPr>
            <p:nvPr/>
          </p:nvSpPr>
          <p:spPr bwMode="auto">
            <a:xfrm>
              <a:off x="3088" y="2715"/>
              <a:ext cx="18" cy="1"/>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03" name="Line 65"/>
            <p:cNvSpPr>
              <a:spLocks noChangeShapeType="1"/>
            </p:cNvSpPr>
            <p:nvPr/>
          </p:nvSpPr>
          <p:spPr bwMode="auto">
            <a:xfrm>
              <a:off x="3088" y="2429"/>
              <a:ext cx="18" cy="1"/>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04" name="Line 66"/>
            <p:cNvSpPr>
              <a:spLocks noChangeShapeType="1"/>
            </p:cNvSpPr>
            <p:nvPr/>
          </p:nvSpPr>
          <p:spPr bwMode="auto">
            <a:xfrm>
              <a:off x="3088" y="2141"/>
              <a:ext cx="18" cy="1"/>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05" name="Line 67"/>
            <p:cNvSpPr>
              <a:spLocks noChangeShapeType="1"/>
            </p:cNvSpPr>
            <p:nvPr/>
          </p:nvSpPr>
          <p:spPr bwMode="auto">
            <a:xfrm>
              <a:off x="3088" y="1846"/>
              <a:ext cx="18" cy="1"/>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06" name="Line 68"/>
            <p:cNvSpPr>
              <a:spLocks noChangeShapeType="1"/>
            </p:cNvSpPr>
            <p:nvPr/>
          </p:nvSpPr>
          <p:spPr bwMode="auto">
            <a:xfrm>
              <a:off x="3088" y="1558"/>
              <a:ext cx="18" cy="2"/>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07" name="Line 69"/>
            <p:cNvSpPr>
              <a:spLocks noChangeShapeType="1"/>
            </p:cNvSpPr>
            <p:nvPr/>
          </p:nvSpPr>
          <p:spPr bwMode="auto">
            <a:xfrm>
              <a:off x="3088" y="1272"/>
              <a:ext cx="18" cy="1"/>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08" name="Line 70"/>
            <p:cNvSpPr>
              <a:spLocks noChangeShapeType="1"/>
            </p:cNvSpPr>
            <p:nvPr/>
          </p:nvSpPr>
          <p:spPr bwMode="auto">
            <a:xfrm>
              <a:off x="3171" y="2715"/>
              <a:ext cx="2515" cy="1"/>
            </a:xfrm>
            <a:prstGeom prst="line">
              <a:avLst/>
            </a:prstGeom>
            <a:noFill/>
            <a:ln w="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09" name="Line 71"/>
            <p:cNvSpPr>
              <a:spLocks noChangeShapeType="1"/>
            </p:cNvSpPr>
            <p:nvPr/>
          </p:nvSpPr>
          <p:spPr bwMode="auto">
            <a:xfrm flipV="1">
              <a:off x="3106" y="2715"/>
              <a:ext cx="1" cy="30"/>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10" name="Freeform 72"/>
            <p:cNvSpPr>
              <a:spLocks/>
            </p:cNvSpPr>
            <p:nvPr/>
          </p:nvSpPr>
          <p:spPr bwMode="auto">
            <a:xfrm>
              <a:off x="3171" y="1846"/>
              <a:ext cx="2259" cy="1738"/>
            </a:xfrm>
            <a:custGeom>
              <a:avLst/>
              <a:gdLst>
                <a:gd name="T0" fmla="*/ 2147483647 w 494"/>
                <a:gd name="T1" fmla="*/ 2147483647 h 242"/>
                <a:gd name="T2" fmla="*/ 2147483647 w 494"/>
                <a:gd name="T3" fmla="*/ 2147483647 h 242"/>
                <a:gd name="T4" fmla="*/ 2147483647 w 494"/>
                <a:gd name="T5" fmla="*/ 2147483647 h 242"/>
                <a:gd name="T6" fmla="*/ 2147483647 w 494"/>
                <a:gd name="T7" fmla="*/ 2147483647 h 242"/>
                <a:gd name="T8" fmla="*/ 2147483647 w 494"/>
                <a:gd name="T9" fmla="*/ 2147483647 h 242"/>
                <a:gd name="T10" fmla="*/ 2147483647 w 494"/>
                <a:gd name="T11" fmla="*/ 2147483647 h 242"/>
                <a:gd name="T12" fmla="*/ 2147483647 w 494"/>
                <a:gd name="T13" fmla="*/ 2147483647 h 242"/>
                <a:gd name="T14" fmla="*/ 2147483647 w 494"/>
                <a:gd name="T15" fmla="*/ 2147483647 h 242"/>
                <a:gd name="T16" fmla="*/ 2147483647 w 494"/>
                <a:gd name="T17" fmla="*/ 2147483647 h 242"/>
                <a:gd name="T18" fmla="*/ 2147483647 w 494"/>
                <a:gd name="T19" fmla="*/ 2147483647 h 242"/>
                <a:gd name="T20" fmla="*/ 2147483647 w 494"/>
                <a:gd name="T21" fmla="*/ 2147483647 h 242"/>
                <a:gd name="T22" fmla="*/ 2147483647 w 494"/>
                <a:gd name="T23" fmla="*/ 2147483647 h 242"/>
                <a:gd name="T24" fmla="*/ 2147483647 w 494"/>
                <a:gd name="T25" fmla="*/ 0 h 242"/>
                <a:gd name="T26" fmla="*/ 2147483647 w 494"/>
                <a:gd name="T27" fmla="*/ 2147483647 h 242"/>
                <a:gd name="T28" fmla="*/ 2147483647 w 494"/>
                <a:gd name="T29" fmla="*/ 2147483647 h 242"/>
                <a:gd name="T30" fmla="*/ 2147483647 w 494"/>
                <a:gd name="T31" fmla="*/ 2147483647 h 242"/>
                <a:gd name="T32" fmla="*/ 2147483647 w 494"/>
                <a:gd name="T33" fmla="*/ 2147483647 h 242"/>
                <a:gd name="T34" fmla="*/ 2147483647 w 494"/>
                <a:gd name="T35" fmla="*/ 2147483647 h 242"/>
                <a:gd name="T36" fmla="*/ 2147483647 w 494"/>
                <a:gd name="T37" fmla="*/ 2147483647 h 242"/>
                <a:gd name="T38" fmla="*/ 2147483647 w 494"/>
                <a:gd name="T39" fmla="*/ 2147483647 h 242"/>
                <a:gd name="T40" fmla="*/ 2147483647 w 494"/>
                <a:gd name="T41" fmla="*/ 2147483647 h 242"/>
                <a:gd name="T42" fmla="*/ 2147483647 w 494"/>
                <a:gd name="T43" fmla="*/ 2147483647 h 242"/>
                <a:gd name="T44" fmla="*/ 2147483647 w 494"/>
                <a:gd name="T45" fmla="*/ 2147483647 h 242"/>
                <a:gd name="T46" fmla="*/ 2147483647 w 494"/>
                <a:gd name="T47" fmla="*/ 2147483647 h 242"/>
                <a:gd name="T48" fmla="*/ 2147483647 w 494"/>
                <a:gd name="T49" fmla="*/ 2147483647 h 242"/>
                <a:gd name="T50" fmla="*/ 2147483647 w 494"/>
                <a:gd name="T51" fmla="*/ 2147483647 h 242"/>
                <a:gd name="T52" fmla="*/ 2147483647 w 494"/>
                <a:gd name="T53" fmla="*/ 2147483647 h 242"/>
                <a:gd name="T54" fmla="*/ 2147483647 w 494"/>
                <a:gd name="T55" fmla="*/ 2147483647 h 242"/>
                <a:gd name="T56" fmla="*/ 2147483647 w 494"/>
                <a:gd name="T57" fmla="*/ 2147483647 h 242"/>
                <a:gd name="T58" fmla="*/ 2147483647 w 494"/>
                <a:gd name="T59" fmla="*/ 2147483647 h 242"/>
                <a:gd name="T60" fmla="*/ 2147483647 w 494"/>
                <a:gd name="T61" fmla="*/ 2147483647 h 242"/>
                <a:gd name="T62" fmla="*/ 2147483647 w 494"/>
                <a:gd name="T63" fmla="*/ 2147483647 h 242"/>
                <a:gd name="T64" fmla="*/ 2147483647 w 494"/>
                <a:gd name="T65" fmla="*/ 2147483647 h 242"/>
                <a:gd name="T66" fmla="*/ 2147483647 w 494"/>
                <a:gd name="T67" fmla="*/ 2147483647 h 242"/>
                <a:gd name="T68" fmla="*/ 2147483647 w 494"/>
                <a:gd name="T69" fmla="*/ 2147483647 h 242"/>
                <a:gd name="T70" fmla="*/ 2147483647 w 494"/>
                <a:gd name="T71" fmla="*/ 2147483647 h 242"/>
                <a:gd name="T72" fmla="*/ 2147483647 w 494"/>
                <a:gd name="T73" fmla="*/ 2147483647 h 242"/>
                <a:gd name="T74" fmla="*/ 2147483647 w 494"/>
                <a:gd name="T75" fmla="*/ 2147483647 h 242"/>
                <a:gd name="T76" fmla="*/ 2147483647 w 494"/>
                <a:gd name="T77" fmla="*/ 2147483647 h 242"/>
                <a:gd name="T78" fmla="*/ 2147483647 w 494"/>
                <a:gd name="T79" fmla="*/ 2147483647 h 242"/>
                <a:gd name="T80" fmla="*/ 2147483647 w 494"/>
                <a:gd name="T81" fmla="*/ 2147483647 h 242"/>
                <a:gd name="T82" fmla="*/ 2147483647 w 494"/>
                <a:gd name="T83" fmla="*/ 2147483647 h 242"/>
                <a:gd name="T84" fmla="*/ 2147483647 w 494"/>
                <a:gd name="T85" fmla="*/ 2147483647 h 242"/>
                <a:gd name="T86" fmla="*/ 2147483647 w 494"/>
                <a:gd name="T87" fmla="*/ 2147483647 h 242"/>
                <a:gd name="T88" fmla="*/ 2147483647 w 494"/>
                <a:gd name="T89" fmla="*/ 2147483647 h 242"/>
                <a:gd name="T90" fmla="*/ 2147483647 w 494"/>
                <a:gd name="T91" fmla="*/ 2147483647 h 242"/>
                <a:gd name="T92" fmla="*/ 2147483647 w 494"/>
                <a:gd name="T93" fmla="*/ 2147483647 h 242"/>
                <a:gd name="T94" fmla="*/ 2147483647 w 494"/>
                <a:gd name="T95" fmla="*/ 2147483647 h 242"/>
                <a:gd name="T96" fmla="*/ 2147483647 w 494"/>
                <a:gd name="T97" fmla="*/ 2147483647 h 242"/>
                <a:gd name="T98" fmla="*/ 2147483647 w 494"/>
                <a:gd name="T99" fmla="*/ 2147483647 h 24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94"/>
                <a:gd name="T151" fmla="*/ 0 h 242"/>
                <a:gd name="T152" fmla="*/ 494 w 494"/>
                <a:gd name="T153" fmla="*/ 242 h 24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94" h="242">
                  <a:moveTo>
                    <a:pt x="0" y="121"/>
                  </a:moveTo>
                  <a:lnTo>
                    <a:pt x="5" y="114"/>
                  </a:lnTo>
                  <a:lnTo>
                    <a:pt x="10" y="106"/>
                  </a:lnTo>
                  <a:lnTo>
                    <a:pt x="15" y="99"/>
                  </a:lnTo>
                  <a:lnTo>
                    <a:pt x="20" y="91"/>
                  </a:lnTo>
                  <a:lnTo>
                    <a:pt x="25" y="84"/>
                  </a:lnTo>
                  <a:lnTo>
                    <a:pt x="30" y="77"/>
                  </a:lnTo>
                  <a:lnTo>
                    <a:pt x="35" y="70"/>
                  </a:lnTo>
                  <a:lnTo>
                    <a:pt x="39" y="63"/>
                  </a:lnTo>
                  <a:lnTo>
                    <a:pt x="44" y="56"/>
                  </a:lnTo>
                  <a:lnTo>
                    <a:pt x="49" y="50"/>
                  </a:lnTo>
                  <a:lnTo>
                    <a:pt x="54" y="44"/>
                  </a:lnTo>
                  <a:lnTo>
                    <a:pt x="59" y="39"/>
                  </a:lnTo>
                  <a:lnTo>
                    <a:pt x="64" y="33"/>
                  </a:lnTo>
                  <a:lnTo>
                    <a:pt x="69" y="28"/>
                  </a:lnTo>
                  <a:lnTo>
                    <a:pt x="74" y="23"/>
                  </a:lnTo>
                  <a:lnTo>
                    <a:pt x="79" y="19"/>
                  </a:lnTo>
                  <a:lnTo>
                    <a:pt x="84" y="15"/>
                  </a:lnTo>
                  <a:lnTo>
                    <a:pt x="89" y="12"/>
                  </a:lnTo>
                  <a:lnTo>
                    <a:pt x="94" y="9"/>
                  </a:lnTo>
                  <a:lnTo>
                    <a:pt x="99" y="6"/>
                  </a:lnTo>
                  <a:lnTo>
                    <a:pt x="104" y="4"/>
                  </a:lnTo>
                  <a:lnTo>
                    <a:pt x="109" y="3"/>
                  </a:lnTo>
                  <a:lnTo>
                    <a:pt x="114" y="1"/>
                  </a:lnTo>
                  <a:lnTo>
                    <a:pt x="118" y="1"/>
                  </a:lnTo>
                  <a:lnTo>
                    <a:pt x="123" y="0"/>
                  </a:lnTo>
                  <a:lnTo>
                    <a:pt x="128" y="1"/>
                  </a:lnTo>
                  <a:lnTo>
                    <a:pt x="133" y="1"/>
                  </a:lnTo>
                  <a:lnTo>
                    <a:pt x="138" y="3"/>
                  </a:lnTo>
                  <a:lnTo>
                    <a:pt x="143" y="4"/>
                  </a:lnTo>
                  <a:lnTo>
                    <a:pt x="148" y="6"/>
                  </a:lnTo>
                  <a:lnTo>
                    <a:pt x="153" y="9"/>
                  </a:lnTo>
                  <a:lnTo>
                    <a:pt x="158" y="12"/>
                  </a:lnTo>
                  <a:lnTo>
                    <a:pt x="163" y="15"/>
                  </a:lnTo>
                  <a:lnTo>
                    <a:pt x="168" y="19"/>
                  </a:lnTo>
                  <a:lnTo>
                    <a:pt x="173" y="23"/>
                  </a:lnTo>
                  <a:lnTo>
                    <a:pt x="178" y="28"/>
                  </a:lnTo>
                  <a:lnTo>
                    <a:pt x="183" y="33"/>
                  </a:lnTo>
                  <a:lnTo>
                    <a:pt x="188" y="39"/>
                  </a:lnTo>
                  <a:lnTo>
                    <a:pt x="193" y="44"/>
                  </a:lnTo>
                  <a:lnTo>
                    <a:pt x="197" y="50"/>
                  </a:lnTo>
                  <a:lnTo>
                    <a:pt x="202" y="56"/>
                  </a:lnTo>
                  <a:lnTo>
                    <a:pt x="207" y="63"/>
                  </a:lnTo>
                  <a:lnTo>
                    <a:pt x="212" y="70"/>
                  </a:lnTo>
                  <a:lnTo>
                    <a:pt x="217" y="77"/>
                  </a:lnTo>
                  <a:lnTo>
                    <a:pt x="222" y="84"/>
                  </a:lnTo>
                  <a:lnTo>
                    <a:pt x="227" y="91"/>
                  </a:lnTo>
                  <a:lnTo>
                    <a:pt x="232" y="99"/>
                  </a:lnTo>
                  <a:lnTo>
                    <a:pt x="237" y="106"/>
                  </a:lnTo>
                  <a:lnTo>
                    <a:pt x="242" y="114"/>
                  </a:lnTo>
                  <a:lnTo>
                    <a:pt x="247" y="121"/>
                  </a:lnTo>
                  <a:lnTo>
                    <a:pt x="252" y="129"/>
                  </a:lnTo>
                  <a:lnTo>
                    <a:pt x="257" y="136"/>
                  </a:lnTo>
                  <a:lnTo>
                    <a:pt x="262" y="144"/>
                  </a:lnTo>
                  <a:lnTo>
                    <a:pt x="267" y="151"/>
                  </a:lnTo>
                  <a:lnTo>
                    <a:pt x="272" y="158"/>
                  </a:lnTo>
                  <a:lnTo>
                    <a:pt x="276" y="166"/>
                  </a:lnTo>
                  <a:lnTo>
                    <a:pt x="281" y="172"/>
                  </a:lnTo>
                  <a:lnTo>
                    <a:pt x="286" y="179"/>
                  </a:lnTo>
                  <a:lnTo>
                    <a:pt x="291" y="186"/>
                  </a:lnTo>
                  <a:lnTo>
                    <a:pt x="296" y="192"/>
                  </a:lnTo>
                  <a:lnTo>
                    <a:pt x="301" y="198"/>
                  </a:lnTo>
                  <a:lnTo>
                    <a:pt x="306" y="204"/>
                  </a:lnTo>
                  <a:lnTo>
                    <a:pt x="311" y="209"/>
                  </a:lnTo>
                  <a:lnTo>
                    <a:pt x="316" y="214"/>
                  </a:lnTo>
                  <a:lnTo>
                    <a:pt x="321" y="219"/>
                  </a:lnTo>
                  <a:lnTo>
                    <a:pt x="326" y="223"/>
                  </a:lnTo>
                  <a:lnTo>
                    <a:pt x="331" y="227"/>
                  </a:lnTo>
                  <a:lnTo>
                    <a:pt x="336" y="230"/>
                  </a:lnTo>
                  <a:lnTo>
                    <a:pt x="341" y="233"/>
                  </a:lnTo>
                  <a:lnTo>
                    <a:pt x="346" y="236"/>
                  </a:lnTo>
                  <a:lnTo>
                    <a:pt x="351" y="238"/>
                  </a:lnTo>
                  <a:lnTo>
                    <a:pt x="355" y="240"/>
                  </a:lnTo>
                  <a:lnTo>
                    <a:pt x="360" y="241"/>
                  </a:lnTo>
                  <a:lnTo>
                    <a:pt x="365" y="242"/>
                  </a:lnTo>
                  <a:lnTo>
                    <a:pt x="370" y="242"/>
                  </a:lnTo>
                  <a:lnTo>
                    <a:pt x="375" y="242"/>
                  </a:lnTo>
                  <a:lnTo>
                    <a:pt x="380" y="241"/>
                  </a:lnTo>
                  <a:lnTo>
                    <a:pt x="385" y="240"/>
                  </a:lnTo>
                  <a:lnTo>
                    <a:pt x="390" y="238"/>
                  </a:lnTo>
                  <a:lnTo>
                    <a:pt x="395" y="236"/>
                  </a:lnTo>
                  <a:lnTo>
                    <a:pt x="400" y="233"/>
                  </a:lnTo>
                  <a:lnTo>
                    <a:pt x="405" y="230"/>
                  </a:lnTo>
                  <a:lnTo>
                    <a:pt x="410" y="227"/>
                  </a:lnTo>
                  <a:lnTo>
                    <a:pt x="415" y="223"/>
                  </a:lnTo>
                  <a:lnTo>
                    <a:pt x="420" y="219"/>
                  </a:lnTo>
                  <a:lnTo>
                    <a:pt x="425" y="214"/>
                  </a:lnTo>
                  <a:lnTo>
                    <a:pt x="430" y="209"/>
                  </a:lnTo>
                  <a:lnTo>
                    <a:pt x="434" y="204"/>
                  </a:lnTo>
                  <a:lnTo>
                    <a:pt x="439" y="198"/>
                  </a:lnTo>
                  <a:lnTo>
                    <a:pt x="444" y="192"/>
                  </a:lnTo>
                  <a:lnTo>
                    <a:pt x="449" y="186"/>
                  </a:lnTo>
                  <a:lnTo>
                    <a:pt x="454" y="179"/>
                  </a:lnTo>
                  <a:lnTo>
                    <a:pt x="459" y="172"/>
                  </a:lnTo>
                  <a:lnTo>
                    <a:pt x="464" y="166"/>
                  </a:lnTo>
                  <a:lnTo>
                    <a:pt x="469" y="158"/>
                  </a:lnTo>
                  <a:lnTo>
                    <a:pt x="474" y="151"/>
                  </a:lnTo>
                  <a:lnTo>
                    <a:pt x="479" y="144"/>
                  </a:lnTo>
                  <a:lnTo>
                    <a:pt x="484" y="136"/>
                  </a:lnTo>
                  <a:lnTo>
                    <a:pt x="489" y="129"/>
                  </a:lnTo>
                  <a:lnTo>
                    <a:pt x="494" y="121"/>
                  </a:lnTo>
                </a:path>
              </a:pathLst>
            </a:custGeom>
            <a:noFill/>
            <a:ln w="25400">
              <a:solidFill>
                <a:srgbClr val="CC33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11" name="Freeform 73"/>
            <p:cNvSpPr>
              <a:spLocks/>
            </p:cNvSpPr>
            <p:nvPr/>
          </p:nvSpPr>
          <p:spPr bwMode="auto">
            <a:xfrm>
              <a:off x="3171" y="1416"/>
              <a:ext cx="2259" cy="1299"/>
            </a:xfrm>
            <a:custGeom>
              <a:avLst/>
              <a:gdLst>
                <a:gd name="T0" fmla="*/ 2147483647 w 494"/>
                <a:gd name="T1" fmla="*/ 2147483647 h 181"/>
                <a:gd name="T2" fmla="*/ 2147483647 w 494"/>
                <a:gd name="T3" fmla="*/ 2147483647 h 181"/>
                <a:gd name="T4" fmla="*/ 2147483647 w 494"/>
                <a:gd name="T5" fmla="*/ 2147483647 h 181"/>
                <a:gd name="T6" fmla="*/ 2147483647 w 494"/>
                <a:gd name="T7" fmla="*/ 2147483647 h 181"/>
                <a:gd name="T8" fmla="*/ 2147483647 w 494"/>
                <a:gd name="T9" fmla="*/ 2147483647 h 181"/>
                <a:gd name="T10" fmla="*/ 2147483647 w 494"/>
                <a:gd name="T11" fmla="*/ 2147483647 h 181"/>
                <a:gd name="T12" fmla="*/ 2147483647 w 494"/>
                <a:gd name="T13" fmla="*/ 2147483647 h 181"/>
                <a:gd name="T14" fmla="*/ 2147483647 w 494"/>
                <a:gd name="T15" fmla="*/ 2147483647 h 181"/>
                <a:gd name="T16" fmla="*/ 2147483647 w 494"/>
                <a:gd name="T17" fmla="*/ 2147483647 h 181"/>
                <a:gd name="T18" fmla="*/ 2147483647 w 494"/>
                <a:gd name="T19" fmla="*/ 2147483647 h 181"/>
                <a:gd name="T20" fmla="*/ 2147483647 w 494"/>
                <a:gd name="T21" fmla="*/ 2147483647 h 181"/>
                <a:gd name="T22" fmla="*/ 2147483647 w 494"/>
                <a:gd name="T23" fmla="*/ 2147483647 h 181"/>
                <a:gd name="T24" fmla="*/ 2147483647 w 494"/>
                <a:gd name="T25" fmla="*/ 0 h 181"/>
                <a:gd name="T26" fmla="*/ 2147483647 w 494"/>
                <a:gd name="T27" fmla="*/ 2147483647 h 181"/>
                <a:gd name="T28" fmla="*/ 2147483647 w 494"/>
                <a:gd name="T29" fmla="*/ 2147483647 h 181"/>
                <a:gd name="T30" fmla="*/ 2147483647 w 494"/>
                <a:gd name="T31" fmla="*/ 2147483647 h 181"/>
                <a:gd name="T32" fmla="*/ 2147483647 w 494"/>
                <a:gd name="T33" fmla="*/ 2147483647 h 181"/>
                <a:gd name="T34" fmla="*/ 2147483647 w 494"/>
                <a:gd name="T35" fmla="*/ 2147483647 h 181"/>
                <a:gd name="T36" fmla="*/ 2147483647 w 494"/>
                <a:gd name="T37" fmla="*/ 2147483647 h 181"/>
                <a:gd name="T38" fmla="*/ 2147483647 w 494"/>
                <a:gd name="T39" fmla="*/ 2147483647 h 181"/>
                <a:gd name="T40" fmla="*/ 2147483647 w 494"/>
                <a:gd name="T41" fmla="*/ 2147483647 h 181"/>
                <a:gd name="T42" fmla="*/ 2147483647 w 494"/>
                <a:gd name="T43" fmla="*/ 2147483647 h 181"/>
                <a:gd name="T44" fmla="*/ 2147483647 w 494"/>
                <a:gd name="T45" fmla="*/ 2147483647 h 181"/>
                <a:gd name="T46" fmla="*/ 2147483647 w 494"/>
                <a:gd name="T47" fmla="*/ 2147483647 h 181"/>
                <a:gd name="T48" fmla="*/ 2147483647 w 494"/>
                <a:gd name="T49" fmla="*/ 2147483647 h 181"/>
                <a:gd name="T50" fmla="*/ 2147483647 w 494"/>
                <a:gd name="T51" fmla="*/ 2147483647 h 181"/>
                <a:gd name="T52" fmla="*/ 2147483647 w 494"/>
                <a:gd name="T53" fmla="*/ 2147483647 h 181"/>
                <a:gd name="T54" fmla="*/ 2147483647 w 494"/>
                <a:gd name="T55" fmla="*/ 2147483647 h 181"/>
                <a:gd name="T56" fmla="*/ 2147483647 w 494"/>
                <a:gd name="T57" fmla="*/ 2147483647 h 181"/>
                <a:gd name="T58" fmla="*/ 2147483647 w 494"/>
                <a:gd name="T59" fmla="*/ 2147483647 h 181"/>
                <a:gd name="T60" fmla="*/ 2147483647 w 494"/>
                <a:gd name="T61" fmla="*/ 2147483647 h 181"/>
                <a:gd name="T62" fmla="*/ 2147483647 w 494"/>
                <a:gd name="T63" fmla="*/ 2147483647 h 181"/>
                <a:gd name="T64" fmla="*/ 2147483647 w 494"/>
                <a:gd name="T65" fmla="*/ 2147483647 h 181"/>
                <a:gd name="T66" fmla="*/ 2147483647 w 494"/>
                <a:gd name="T67" fmla="*/ 2147483647 h 181"/>
                <a:gd name="T68" fmla="*/ 2147483647 w 494"/>
                <a:gd name="T69" fmla="*/ 2147483647 h 181"/>
                <a:gd name="T70" fmla="*/ 2147483647 w 494"/>
                <a:gd name="T71" fmla="*/ 2147483647 h 181"/>
                <a:gd name="T72" fmla="*/ 2147483647 w 494"/>
                <a:gd name="T73" fmla="*/ 2147483647 h 181"/>
                <a:gd name="T74" fmla="*/ 2147483647 w 494"/>
                <a:gd name="T75" fmla="*/ 0 h 181"/>
                <a:gd name="T76" fmla="*/ 2147483647 w 494"/>
                <a:gd name="T77" fmla="*/ 2147483647 h 181"/>
                <a:gd name="T78" fmla="*/ 2147483647 w 494"/>
                <a:gd name="T79" fmla="*/ 2147483647 h 181"/>
                <a:gd name="T80" fmla="*/ 2147483647 w 494"/>
                <a:gd name="T81" fmla="*/ 2147483647 h 181"/>
                <a:gd name="T82" fmla="*/ 2147483647 w 494"/>
                <a:gd name="T83" fmla="*/ 2147483647 h 181"/>
                <a:gd name="T84" fmla="*/ 2147483647 w 494"/>
                <a:gd name="T85" fmla="*/ 2147483647 h 181"/>
                <a:gd name="T86" fmla="*/ 2147483647 w 494"/>
                <a:gd name="T87" fmla="*/ 2147483647 h 181"/>
                <a:gd name="T88" fmla="*/ 2147483647 w 494"/>
                <a:gd name="T89" fmla="*/ 2147483647 h 181"/>
                <a:gd name="T90" fmla="*/ 2147483647 w 494"/>
                <a:gd name="T91" fmla="*/ 2147483647 h 181"/>
                <a:gd name="T92" fmla="*/ 2147483647 w 494"/>
                <a:gd name="T93" fmla="*/ 2147483647 h 181"/>
                <a:gd name="T94" fmla="*/ 2147483647 w 494"/>
                <a:gd name="T95" fmla="*/ 2147483647 h 181"/>
                <a:gd name="T96" fmla="*/ 2147483647 w 494"/>
                <a:gd name="T97" fmla="*/ 2147483647 h 181"/>
                <a:gd name="T98" fmla="*/ 2147483647 w 494"/>
                <a:gd name="T99" fmla="*/ 2147483647 h 1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94"/>
                <a:gd name="T151" fmla="*/ 0 h 181"/>
                <a:gd name="T152" fmla="*/ 494 w 494"/>
                <a:gd name="T153" fmla="*/ 181 h 1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94" h="181">
                  <a:moveTo>
                    <a:pt x="0" y="181"/>
                  </a:moveTo>
                  <a:lnTo>
                    <a:pt x="5" y="180"/>
                  </a:lnTo>
                  <a:lnTo>
                    <a:pt x="10" y="178"/>
                  </a:lnTo>
                  <a:lnTo>
                    <a:pt x="15" y="175"/>
                  </a:lnTo>
                  <a:lnTo>
                    <a:pt x="20" y="170"/>
                  </a:lnTo>
                  <a:lnTo>
                    <a:pt x="25" y="164"/>
                  </a:lnTo>
                  <a:lnTo>
                    <a:pt x="30" y="157"/>
                  </a:lnTo>
                  <a:lnTo>
                    <a:pt x="35" y="148"/>
                  </a:lnTo>
                  <a:lnTo>
                    <a:pt x="39" y="139"/>
                  </a:lnTo>
                  <a:lnTo>
                    <a:pt x="44" y="129"/>
                  </a:lnTo>
                  <a:lnTo>
                    <a:pt x="49" y="119"/>
                  </a:lnTo>
                  <a:lnTo>
                    <a:pt x="54" y="108"/>
                  </a:lnTo>
                  <a:lnTo>
                    <a:pt x="59" y="96"/>
                  </a:lnTo>
                  <a:lnTo>
                    <a:pt x="64" y="85"/>
                  </a:lnTo>
                  <a:lnTo>
                    <a:pt x="69" y="74"/>
                  </a:lnTo>
                  <a:lnTo>
                    <a:pt x="74" y="63"/>
                  </a:lnTo>
                  <a:lnTo>
                    <a:pt x="79" y="52"/>
                  </a:lnTo>
                  <a:lnTo>
                    <a:pt x="84" y="42"/>
                  </a:lnTo>
                  <a:lnTo>
                    <a:pt x="89" y="33"/>
                  </a:lnTo>
                  <a:lnTo>
                    <a:pt x="94" y="25"/>
                  </a:lnTo>
                  <a:lnTo>
                    <a:pt x="99" y="17"/>
                  </a:lnTo>
                  <a:lnTo>
                    <a:pt x="104" y="11"/>
                  </a:lnTo>
                  <a:lnTo>
                    <a:pt x="109" y="6"/>
                  </a:lnTo>
                  <a:lnTo>
                    <a:pt x="114" y="3"/>
                  </a:lnTo>
                  <a:lnTo>
                    <a:pt x="118" y="1"/>
                  </a:lnTo>
                  <a:lnTo>
                    <a:pt x="123" y="0"/>
                  </a:lnTo>
                  <a:lnTo>
                    <a:pt x="128" y="1"/>
                  </a:lnTo>
                  <a:lnTo>
                    <a:pt x="133" y="3"/>
                  </a:lnTo>
                  <a:lnTo>
                    <a:pt x="138" y="6"/>
                  </a:lnTo>
                  <a:lnTo>
                    <a:pt x="143" y="11"/>
                  </a:lnTo>
                  <a:lnTo>
                    <a:pt x="148" y="17"/>
                  </a:lnTo>
                  <a:lnTo>
                    <a:pt x="153" y="25"/>
                  </a:lnTo>
                  <a:lnTo>
                    <a:pt x="158" y="33"/>
                  </a:lnTo>
                  <a:lnTo>
                    <a:pt x="163" y="42"/>
                  </a:lnTo>
                  <a:lnTo>
                    <a:pt x="168" y="52"/>
                  </a:lnTo>
                  <a:lnTo>
                    <a:pt x="173" y="63"/>
                  </a:lnTo>
                  <a:lnTo>
                    <a:pt x="178" y="74"/>
                  </a:lnTo>
                  <a:lnTo>
                    <a:pt x="183" y="85"/>
                  </a:lnTo>
                  <a:lnTo>
                    <a:pt x="188" y="96"/>
                  </a:lnTo>
                  <a:lnTo>
                    <a:pt x="193" y="108"/>
                  </a:lnTo>
                  <a:lnTo>
                    <a:pt x="197" y="119"/>
                  </a:lnTo>
                  <a:lnTo>
                    <a:pt x="202" y="129"/>
                  </a:lnTo>
                  <a:lnTo>
                    <a:pt x="207" y="139"/>
                  </a:lnTo>
                  <a:lnTo>
                    <a:pt x="212" y="148"/>
                  </a:lnTo>
                  <a:lnTo>
                    <a:pt x="217" y="157"/>
                  </a:lnTo>
                  <a:lnTo>
                    <a:pt x="222" y="164"/>
                  </a:lnTo>
                  <a:lnTo>
                    <a:pt x="227" y="170"/>
                  </a:lnTo>
                  <a:lnTo>
                    <a:pt x="232" y="175"/>
                  </a:lnTo>
                  <a:lnTo>
                    <a:pt x="237" y="178"/>
                  </a:lnTo>
                  <a:lnTo>
                    <a:pt x="242" y="180"/>
                  </a:lnTo>
                  <a:lnTo>
                    <a:pt x="247" y="181"/>
                  </a:lnTo>
                  <a:lnTo>
                    <a:pt x="252" y="180"/>
                  </a:lnTo>
                  <a:lnTo>
                    <a:pt x="257" y="178"/>
                  </a:lnTo>
                  <a:lnTo>
                    <a:pt x="262" y="175"/>
                  </a:lnTo>
                  <a:lnTo>
                    <a:pt x="267" y="170"/>
                  </a:lnTo>
                  <a:lnTo>
                    <a:pt x="272" y="164"/>
                  </a:lnTo>
                  <a:lnTo>
                    <a:pt x="276" y="157"/>
                  </a:lnTo>
                  <a:lnTo>
                    <a:pt x="281" y="148"/>
                  </a:lnTo>
                  <a:lnTo>
                    <a:pt x="286" y="139"/>
                  </a:lnTo>
                  <a:lnTo>
                    <a:pt x="291" y="129"/>
                  </a:lnTo>
                  <a:lnTo>
                    <a:pt x="296" y="119"/>
                  </a:lnTo>
                  <a:lnTo>
                    <a:pt x="301" y="108"/>
                  </a:lnTo>
                  <a:lnTo>
                    <a:pt x="306" y="96"/>
                  </a:lnTo>
                  <a:lnTo>
                    <a:pt x="311" y="85"/>
                  </a:lnTo>
                  <a:lnTo>
                    <a:pt x="316" y="74"/>
                  </a:lnTo>
                  <a:lnTo>
                    <a:pt x="321" y="63"/>
                  </a:lnTo>
                  <a:lnTo>
                    <a:pt x="326" y="52"/>
                  </a:lnTo>
                  <a:lnTo>
                    <a:pt x="331" y="42"/>
                  </a:lnTo>
                  <a:lnTo>
                    <a:pt x="336" y="33"/>
                  </a:lnTo>
                  <a:lnTo>
                    <a:pt x="341" y="25"/>
                  </a:lnTo>
                  <a:lnTo>
                    <a:pt x="346" y="17"/>
                  </a:lnTo>
                  <a:lnTo>
                    <a:pt x="351" y="11"/>
                  </a:lnTo>
                  <a:lnTo>
                    <a:pt x="355" y="6"/>
                  </a:lnTo>
                  <a:lnTo>
                    <a:pt x="360" y="3"/>
                  </a:lnTo>
                  <a:lnTo>
                    <a:pt x="365" y="1"/>
                  </a:lnTo>
                  <a:lnTo>
                    <a:pt x="370" y="0"/>
                  </a:lnTo>
                  <a:lnTo>
                    <a:pt x="375" y="1"/>
                  </a:lnTo>
                  <a:lnTo>
                    <a:pt x="380" y="3"/>
                  </a:lnTo>
                  <a:lnTo>
                    <a:pt x="385" y="6"/>
                  </a:lnTo>
                  <a:lnTo>
                    <a:pt x="390" y="11"/>
                  </a:lnTo>
                  <a:lnTo>
                    <a:pt x="395" y="17"/>
                  </a:lnTo>
                  <a:lnTo>
                    <a:pt x="400" y="25"/>
                  </a:lnTo>
                  <a:lnTo>
                    <a:pt x="405" y="33"/>
                  </a:lnTo>
                  <a:lnTo>
                    <a:pt x="410" y="42"/>
                  </a:lnTo>
                  <a:lnTo>
                    <a:pt x="415" y="52"/>
                  </a:lnTo>
                  <a:lnTo>
                    <a:pt x="420" y="63"/>
                  </a:lnTo>
                  <a:lnTo>
                    <a:pt x="425" y="74"/>
                  </a:lnTo>
                  <a:lnTo>
                    <a:pt x="430" y="85"/>
                  </a:lnTo>
                  <a:lnTo>
                    <a:pt x="434" y="96"/>
                  </a:lnTo>
                  <a:lnTo>
                    <a:pt x="439" y="108"/>
                  </a:lnTo>
                  <a:lnTo>
                    <a:pt x="444" y="119"/>
                  </a:lnTo>
                  <a:lnTo>
                    <a:pt x="449" y="129"/>
                  </a:lnTo>
                  <a:lnTo>
                    <a:pt x="454" y="139"/>
                  </a:lnTo>
                  <a:lnTo>
                    <a:pt x="459" y="148"/>
                  </a:lnTo>
                  <a:lnTo>
                    <a:pt x="464" y="157"/>
                  </a:lnTo>
                  <a:lnTo>
                    <a:pt x="469" y="164"/>
                  </a:lnTo>
                  <a:lnTo>
                    <a:pt x="474" y="170"/>
                  </a:lnTo>
                  <a:lnTo>
                    <a:pt x="479" y="175"/>
                  </a:lnTo>
                  <a:lnTo>
                    <a:pt x="484" y="178"/>
                  </a:lnTo>
                  <a:lnTo>
                    <a:pt x="489" y="180"/>
                  </a:lnTo>
                  <a:lnTo>
                    <a:pt x="494" y="181"/>
                  </a:lnTo>
                </a:path>
              </a:pathLst>
            </a:custGeom>
            <a:noFill/>
            <a:ln w="25400">
              <a:solidFill>
                <a:srgbClr val="000066"/>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12" name="Rectangle 74"/>
            <p:cNvSpPr>
              <a:spLocks noChangeArrowheads="1"/>
            </p:cNvSpPr>
            <p:nvPr/>
          </p:nvSpPr>
          <p:spPr bwMode="auto">
            <a:xfrm>
              <a:off x="2956" y="3814"/>
              <a:ext cx="165" cy="116"/>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-2</a:t>
              </a:r>
              <a:r>
                <a:rPr kumimoji="0" lang="tr-TR" sz="1200" b="0" i="0" u="none" strike="noStrike" kern="1200" cap="none" spc="0" normalizeH="0" baseline="0" noProof="0">
                  <a:ln>
                    <a:noFill/>
                  </a:ln>
                  <a:solidFill>
                    <a:srgbClr val="000000"/>
                  </a:solidFill>
                  <a:effectLst/>
                  <a:uLnTx/>
                  <a:uFillTx/>
                  <a:latin typeface="Arial" charset="0"/>
                  <a:ea typeface="+mn-ea"/>
                  <a:cs typeface="+mn-cs"/>
                </a:rPr>
                <a:t>.0</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13" name="Rectangle 75"/>
            <p:cNvSpPr>
              <a:spLocks noChangeArrowheads="1"/>
            </p:cNvSpPr>
            <p:nvPr/>
          </p:nvSpPr>
          <p:spPr bwMode="auto">
            <a:xfrm>
              <a:off x="2960" y="3528"/>
              <a:ext cx="167" cy="116"/>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-1.5</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14" name="Rectangle 76"/>
            <p:cNvSpPr>
              <a:spLocks noChangeArrowheads="1"/>
            </p:cNvSpPr>
            <p:nvPr/>
          </p:nvSpPr>
          <p:spPr bwMode="auto">
            <a:xfrm>
              <a:off x="2956" y="3240"/>
              <a:ext cx="167" cy="116"/>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-1</a:t>
              </a:r>
              <a:r>
                <a:rPr kumimoji="0" lang="tr-TR" sz="1200" b="0" i="0" u="none" strike="noStrike" kern="1200" cap="none" spc="0" normalizeH="0" baseline="0" noProof="0">
                  <a:ln>
                    <a:noFill/>
                  </a:ln>
                  <a:solidFill>
                    <a:srgbClr val="000000"/>
                  </a:solidFill>
                  <a:effectLst/>
                  <a:uLnTx/>
                  <a:uFillTx/>
                  <a:latin typeface="Arial" charset="0"/>
                  <a:ea typeface="+mn-ea"/>
                  <a:cs typeface="+mn-cs"/>
                </a:rPr>
                <a:t>.0</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15" name="Rectangle 77"/>
            <p:cNvSpPr>
              <a:spLocks noChangeArrowheads="1"/>
            </p:cNvSpPr>
            <p:nvPr/>
          </p:nvSpPr>
          <p:spPr bwMode="auto">
            <a:xfrm>
              <a:off x="2936" y="2959"/>
              <a:ext cx="167" cy="116"/>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-0.5</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16" name="Rectangle 78"/>
            <p:cNvSpPr>
              <a:spLocks noChangeArrowheads="1"/>
            </p:cNvSpPr>
            <p:nvPr/>
          </p:nvSpPr>
          <p:spPr bwMode="auto">
            <a:xfrm>
              <a:off x="3041" y="2659"/>
              <a:ext cx="53" cy="115"/>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0</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17" name="Rectangle 79"/>
            <p:cNvSpPr>
              <a:spLocks noChangeArrowheads="1"/>
            </p:cNvSpPr>
            <p:nvPr/>
          </p:nvSpPr>
          <p:spPr bwMode="auto">
            <a:xfrm>
              <a:off x="2978" y="2371"/>
              <a:ext cx="134" cy="116"/>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0.5</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18" name="Rectangle 80"/>
            <p:cNvSpPr>
              <a:spLocks noChangeArrowheads="1"/>
            </p:cNvSpPr>
            <p:nvPr/>
          </p:nvSpPr>
          <p:spPr bwMode="auto">
            <a:xfrm>
              <a:off x="2975" y="2083"/>
              <a:ext cx="134" cy="116"/>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1</a:t>
              </a:r>
              <a:r>
                <a:rPr kumimoji="0" lang="tr-TR" sz="1200" b="0" i="0" u="none" strike="noStrike" kern="1200" cap="none" spc="0" normalizeH="0" baseline="0" noProof="0">
                  <a:ln>
                    <a:noFill/>
                  </a:ln>
                  <a:solidFill>
                    <a:srgbClr val="000000"/>
                  </a:solidFill>
                  <a:effectLst/>
                  <a:uLnTx/>
                  <a:uFillTx/>
                  <a:latin typeface="Arial" charset="0"/>
                  <a:ea typeface="+mn-ea"/>
                  <a:cs typeface="+mn-cs"/>
                </a:rPr>
                <a:t>.0</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19" name="Rectangle 81"/>
            <p:cNvSpPr>
              <a:spLocks noChangeArrowheads="1"/>
            </p:cNvSpPr>
            <p:nvPr/>
          </p:nvSpPr>
          <p:spPr bwMode="auto">
            <a:xfrm>
              <a:off x="2978" y="1788"/>
              <a:ext cx="133" cy="116"/>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1.5</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20" name="Rectangle 82"/>
            <p:cNvSpPr>
              <a:spLocks noChangeArrowheads="1"/>
            </p:cNvSpPr>
            <p:nvPr/>
          </p:nvSpPr>
          <p:spPr bwMode="auto">
            <a:xfrm>
              <a:off x="2975" y="1502"/>
              <a:ext cx="134" cy="116"/>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2</a:t>
              </a:r>
              <a:r>
                <a:rPr kumimoji="0" lang="tr-TR" sz="1200" b="0" i="0" u="none" strike="noStrike" kern="1200" cap="none" spc="0" normalizeH="0" baseline="0" noProof="0">
                  <a:ln>
                    <a:noFill/>
                  </a:ln>
                  <a:solidFill>
                    <a:srgbClr val="000000"/>
                  </a:solidFill>
                  <a:effectLst/>
                  <a:uLnTx/>
                  <a:uFillTx/>
                  <a:latin typeface="Arial" charset="0"/>
                  <a:ea typeface="+mn-ea"/>
                  <a:cs typeface="+mn-cs"/>
                </a:rPr>
                <a:t>.0</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21" name="Rectangle 83"/>
            <p:cNvSpPr>
              <a:spLocks noChangeArrowheads="1"/>
            </p:cNvSpPr>
            <p:nvPr/>
          </p:nvSpPr>
          <p:spPr bwMode="auto">
            <a:xfrm>
              <a:off x="2978" y="1214"/>
              <a:ext cx="134" cy="116"/>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2.5</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22" name="Text Box 84"/>
            <p:cNvSpPr txBox="1">
              <a:spLocks noChangeArrowheads="1"/>
            </p:cNvSpPr>
            <p:nvPr/>
          </p:nvSpPr>
          <p:spPr bwMode="auto">
            <a:xfrm>
              <a:off x="4995" y="2457"/>
              <a:ext cx="892" cy="173"/>
            </a:xfrm>
            <a:prstGeom prst="rect">
              <a:avLst/>
            </a:prstGeom>
            <a:noFill/>
            <a:ln w="9525">
              <a:noFill/>
              <a:miter lim="800000"/>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srgbClr val="000066"/>
                  </a:solidFill>
                  <a:effectLst/>
                  <a:uLnTx/>
                  <a:uFillTx/>
                  <a:latin typeface="Arial Narrow" pitchFamily="34" charset="0"/>
                  <a:ea typeface="+mn-ea"/>
                  <a:cs typeface="+mn-cs"/>
                </a:rPr>
                <a:t>Angle    (Radians)</a:t>
              </a:r>
              <a:endParaRPr kumimoji="0" lang="en-US" sz="1200" b="0" i="0" u="none" strike="noStrike" kern="1200" cap="none" spc="0" normalizeH="0" baseline="0" noProof="0">
                <a:ln>
                  <a:noFill/>
                </a:ln>
                <a:solidFill>
                  <a:srgbClr val="000066"/>
                </a:solidFill>
                <a:effectLst/>
                <a:uLnTx/>
                <a:uFillTx/>
                <a:latin typeface="Arial Narrow" pitchFamily="34" charset="0"/>
                <a:ea typeface="+mn-ea"/>
                <a:cs typeface="+mn-cs"/>
              </a:endParaRPr>
            </a:p>
          </p:txBody>
        </p:sp>
        <p:sp>
          <p:nvSpPr>
            <p:cNvPr id="113723" name="Rectangle 85"/>
            <p:cNvSpPr>
              <a:spLocks noChangeArrowheads="1"/>
            </p:cNvSpPr>
            <p:nvPr/>
          </p:nvSpPr>
          <p:spPr bwMode="auto">
            <a:xfrm>
              <a:off x="4273" y="2736"/>
              <a:ext cx="109" cy="133"/>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rPr>
                <a:t></a:t>
              </a:r>
            </a:p>
          </p:txBody>
        </p:sp>
        <p:sp>
          <p:nvSpPr>
            <p:cNvPr id="113724" name="Rectangle 86"/>
            <p:cNvSpPr>
              <a:spLocks noChangeArrowheads="1"/>
            </p:cNvSpPr>
            <p:nvPr/>
          </p:nvSpPr>
          <p:spPr bwMode="auto">
            <a:xfrm>
              <a:off x="3657" y="2755"/>
              <a:ext cx="207" cy="134"/>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rPr>
                <a:t></a:t>
              </a:r>
              <a:r>
                <a:rPr kumimoji="0" lang="tr-TR" sz="12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rPr>
                <a:t>/2</a:t>
              </a:r>
              <a:endParaRPr kumimoji="0" lang="en-US" sz="12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endParaRPr>
            </a:p>
          </p:txBody>
        </p:sp>
        <p:sp>
          <p:nvSpPr>
            <p:cNvPr id="113725" name="Rectangle 87"/>
            <p:cNvSpPr>
              <a:spLocks noChangeArrowheads="1"/>
            </p:cNvSpPr>
            <p:nvPr/>
          </p:nvSpPr>
          <p:spPr bwMode="auto">
            <a:xfrm>
              <a:off x="4797" y="2755"/>
              <a:ext cx="243" cy="134"/>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srgbClr val="000066"/>
                  </a:solidFill>
                  <a:effectLst/>
                  <a:uLnTx/>
                  <a:uFillTx/>
                  <a:latin typeface="Arial Narrow" pitchFamily="34" charset="0"/>
                  <a:ea typeface="+mn-ea"/>
                  <a:cs typeface="+mn-cs"/>
                </a:rPr>
                <a:t>3</a:t>
              </a:r>
              <a:r>
                <a:rPr kumimoji="0" lang="en-US" sz="14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rPr>
                <a:t></a:t>
              </a:r>
              <a:r>
                <a:rPr kumimoji="0" lang="tr-TR" sz="12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rPr>
                <a:t>/2</a:t>
              </a:r>
              <a:endParaRPr kumimoji="0" lang="en-US" sz="12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endParaRPr>
            </a:p>
          </p:txBody>
        </p:sp>
        <p:sp>
          <p:nvSpPr>
            <p:cNvPr id="113726" name="Rectangle 88"/>
            <p:cNvSpPr>
              <a:spLocks noChangeArrowheads="1"/>
            </p:cNvSpPr>
            <p:nvPr/>
          </p:nvSpPr>
          <p:spPr bwMode="auto">
            <a:xfrm>
              <a:off x="5388" y="2749"/>
              <a:ext cx="173" cy="135"/>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66"/>
                  </a:solidFill>
                  <a:effectLst/>
                  <a:uLnTx/>
                  <a:uFillTx/>
                  <a:latin typeface="Arial Narrow" pitchFamily="34" charset="0"/>
                  <a:ea typeface="+mn-ea"/>
                  <a:cs typeface="+mn-cs"/>
                </a:rPr>
                <a:t>2</a:t>
              </a:r>
              <a:r>
                <a:rPr kumimoji="0" lang="en-US" sz="14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rPr>
                <a:t></a:t>
              </a:r>
            </a:p>
          </p:txBody>
        </p:sp>
        <p:sp>
          <p:nvSpPr>
            <p:cNvPr id="113727" name="Rectangle 89"/>
            <p:cNvSpPr>
              <a:spLocks noChangeArrowheads="1"/>
            </p:cNvSpPr>
            <p:nvPr/>
          </p:nvSpPr>
          <p:spPr bwMode="auto">
            <a:xfrm>
              <a:off x="3208" y="2779"/>
              <a:ext cx="207" cy="114"/>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srgbClr val="000066"/>
                  </a:solidFill>
                  <a:effectLst/>
                  <a:uLnTx/>
                  <a:uFillTx/>
                  <a:latin typeface="Arial" charset="0"/>
                  <a:ea typeface="+mn-ea"/>
                  <a:cs typeface="+mn-cs"/>
                  <a:sym typeface="Symbol" pitchFamily="18" charset="2"/>
                </a:rPr>
                <a:t>0</a:t>
              </a:r>
              <a:endParaRPr kumimoji="0" lang="en-US" sz="1200" b="0" i="0" u="none" strike="noStrike" kern="1200" cap="none" spc="0" normalizeH="0" baseline="0" noProof="0">
                <a:ln>
                  <a:noFill/>
                </a:ln>
                <a:solidFill>
                  <a:srgbClr val="000066"/>
                </a:solidFill>
                <a:effectLst/>
                <a:uLnTx/>
                <a:uFillTx/>
                <a:latin typeface="Arial" charset="0"/>
                <a:ea typeface="+mn-ea"/>
                <a:cs typeface="+mn-cs"/>
                <a:sym typeface="Symbol" pitchFamily="18" charset="2"/>
              </a:endParaRPr>
            </a:p>
          </p:txBody>
        </p:sp>
        <p:sp>
          <p:nvSpPr>
            <p:cNvPr id="113728" name="Line 90"/>
            <p:cNvSpPr>
              <a:spLocks noChangeShapeType="1"/>
            </p:cNvSpPr>
            <p:nvPr/>
          </p:nvSpPr>
          <p:spPr bwMode="auto">
            <a:xfrm>
              <a:off x="3438" y="1279"/>
              <a:ext cx="1" cy="2600"/>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729" name="Line 91"/>
            <p:cNvSpPr>
              <a:spLocks noChangeShapeType="1"/>
            </p:cNvSpPr>
            <p:nvPr/>
          </p:nvSpPr>
          <p:spPr bwMode="auto">
            <a:xfrm>
              <a:off x="5154" y="1272"/>
              <a:ext cx="1" cy="2600"/>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grpSp>
      <p:sp>
        <p:nvSpPr>
          <p:cNvPr id="113673" name="Line 92"/>
          <p:cNvSpPr>
            <a:spLocks noChangeShapeType="1"/>
          </p:cNvSpPr>
          <p:nvPr/>
        </p:nvSpPr>
        <p:spPr bwMode="auto">
          <a:xfrm>
            <a:off x="5721350" y="1557338"/>
            <a:ext cx="17463" cy="1357312"/>
          </a:xfrm>
          <a:prstGeom prst="line">
            <a:avLst/>
          </a:prstGeom>
          <a:noFill/>
          <a:ln w="22225">
            <a:solidFill>
              <a:srgbClr val="CC3300"/>
            </a:solidFill>
            <a:prstDash val="sysDot"/>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74" name="Line 93"/>
          <p:cNvSpPr>
            <a:spLocks noChangeShapeType="1"/>
          </p:cNvSpPr>
          <p:nvPr/>
        </p:nvSpPr>
        <p:spPr bwMode="auto">
          <a:xfrm>
            <a:off x="7358063" y="1598613"/>
            <a:ext cx="0" cy="1263650"/>
          </a:xfrm>
          <a:prstGeom prst="line">
            <a:avLst/>
          </a:prstGeom>
          <a:noFill/>
          <a:ln w="22225">
            <a:solidFill>
              <a:srgbClr val="000066"/>
            </a:solidFill>
            <a:prstDash val="sysDot"/>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3675" name="Rectangle 94"/>
          <p:cNvSpPr>
            <a:spLocks noChangeArrowheads="1"/>
          </p:cNvSpPr>
          <p:nvPr/>
        </p:nvSpPr>
        <p:spPr bwMode="auto">
          <a:xfrm>
            <a:off x="6767513" y="1371600"/>
            <a:ext cx="2376487" cy="542925"/>
          </a:xfrm>
          <a:prstGeom prst="rect">
            <a:avLst/>
          </a:prstGeom>
          <a:solidFill>
            <a:srgbClr val="000066"/>
          </a:solidFill>
          <a:ln w="9525">
            <a:noFill/>
            <a:miter lim="800000"/>
            <a:headEnd/>
            <a:tailEnd/>
          </a:ln>
        </p:spPr>
        <p:txBody>
          <a:bodyPr tIns="118800" bIns="118800">
            <a:spAutoFit/>
          </a:bodyPr>
          <a:lstStyle/>
          <a:p>
            <a:pPr marL="447675" marR="0" lvl="0" indent="-447675" algn="ctr" defTabSz="914400" rtl="0" eaLnBrk="1" fontAlgn="base" latinLnBrk="0" hangingPunct="1">
              <a:lnSpc>
                <a:spcPct val="100000"/>
              </a:lnSpc>
              <a:spcBef>
                <a:spcPct val="0"/>
              </a:spcBef>
              <a:spcAft>
                <a:spcPct val="0"/>
              </a:spcAft>
              <a:buClrTx/>
              <a:buSzTx/>
              <a:buFontTx/>
              <a:buNone/>
              <a:tabLst/>
              <a:defRPr/>
            </a:pP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I </a:t>
            </a:r>
            <a:r>
              <a:rPr kumimoji="0" lang="tr-TR" sz="2000" b="1" i="0" u="none" strike="noStrike" kern="1200" cap="none" spc="0" normalizeH="0" baseline="30000" noProof="0">
                <a:ln>
                  <a:noFill/>
                </a:ln>
                <a:solidFill>
                  <a:srgbClr val="FFFF00"/>
                </a:solidFill>
                <a:effectLst/>
                <a:uLnTx/>
                <a:uFillTx/>
                <a:latin typeface="Arial Narrow" pitchFamily="34" charset="0"/>
                <a:ea typeface="+mn-ea"/>
                <a:cs typeface="+mn-cs"/>
              </a:rPr>
              <a:t>2</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(t) = (I</a:t>
            </a:r>
            <a:r>
              <a:rPr kumimoji="0" lang="tr-TR" sz="2000" b="1" i="0" u="none" strike="noStrike" kern="1200" cap="none" spc="0" normalizeH="0" baseline="-25000" noProof="0">
                <a:ln>
                  <a:noFill/>
                </a:ln>
                <a:solidFill>
                  <a:srgbClr val="FFFF00"/>
                </a:solidFill>
                <a:effectLst/>
                <a:uLnTx/>
                <a:uFillTx/>
                <a:latin typeface="Arial Narrow" pitchFamily="34" charset="0"/>
                <a:ea typeface="+mn-ea"/>
                <a:cs typeface="+mn-cs"/>
              </a:rPr>
              <a:t>max</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sin wt )</a:t>
            </a:r>
            <a:r>
              <a:rPr kumimoji="0" lang="tr-TR" sz="2000" b="1" i="0" u="none" strike="noStrike" kern="1200" cap="none" spc="0" normalizeH="0" baseline="30000" noProof="0">
                <a:ln>
                  <a:noFill/>
                </a:ln>
                <a:solidFill>
                  <a:srgbClr val="FFFF00"/>
                </a:solidFill>
                <a:effectLst/>
                <a:uLnTx/>
                <a:uFillTx/>
                <a:latin typeface="Arial Narrow" pitchFamily="34" charset="0"/>
                <a:ea typeface="+mn-ea"/>
                <a:cs typeface="+mn-cs"/>
              </a:rPr>
              <a:t>2</a:t>
            </a:r>
            <a:endParaRPr kumimoji="0" lang="en-US" sz="2000" b="1" i="0" u="none" strike="noStrike" kern="1200" cap="none" spc="0" normalizeH="0" baseline="30000" noProof="0">
              <a:ln>
                <a:noFill/>
              </a:ln>
              <a:solidFill>
                <a:srgbClr val="FFFF00"/>
              </a:solidFill>
              <a:effectLst/>
              <a:uLnTx/>
              <a:uFillTx/>
              <a:latin typeface="Arial Narrow" pitchFamily="34" charset="0"/>
              <a:ea typeface="+mn-ea"/>
              <a:cs typeface="+mn-cs"/>
            </a:endParaRPr>
          </a:p>
        </p:txBody>
      </p:sp>
      <p:sp>
        <p:nvSpPr>
          <p:cNvPr id="113676" name="Rectangle 95"/>
          <p:cNvSpPr>
            <a:spLocks noChangeArrowheads="1"/>
          </p:cNvSpPr>
          <p:nvPr/>
        </p:nvSpPr>
        <p:spPr bwMode="auto">
          <a:xfrm>
            <a:off x="4586288" y="1371600"/>
            <a:ext cx="2141537" cy="542925"/>
          </a:xfrm>
          <a:prstGeom prst="rect">
            <a:avLst/>
          </a:prstGeom>
          <a:solidFill>
            <a:srgbClr val="CC3300"/>
          </a:solidFill>
          <a:ln w="9525">
            <a:noFill/>
            <a:miter lim="800000"/>
            <a:headEnd/>
            <a:tailEnd/>
          </a:ln>
        </p:spPr>
        <p:txBody>
          <a:bodyPr tIns="118800" bIns="118800">
            <a:spAutoFit/>
          </a:bodyPr>
          <a:lstStyle/>
          <a:p>
            <a:pPr marL="447675" marR="0" lvl="0" indent="-447675" algn="ctr"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prstClr val="white"/>
                </a:solidFill>
                <a:effectLst/>
                <a:uLnTx/>
                <a:uFillTx/>
                <a:latin typeface="Arial Narrow" pitchFamily="34" charset="0"/>
                <a:ea typeface="+mn-ea"/>
                <a:cs typeface="+mn-cs"/>
              </a:rPr>
              <a:t>I(t) = I</a:t>
            </a:r>
            <a:r>
              <a:rPr kumimoji="0" lang="tr-TR" sz="2000" b="0" i="0" u="none" strike="noStrike" kern="1200" cap="none" spc="0" normalizeH="0" baseline="-25000" noProof="0">
                <a:ln>
                  <a:noFill/>
                </a:ln>
                <a:solidFill>
                  <a:prstClr val="white"/>
                </a:solidFill>
                <a:effectLst/>
                <a:uLnTx/>
                <a:uFillTx/>
                <a:latin typeface="Arial Narrow" pitchFamily="34" charset="0"/>
                <a:ea typeface="+mn-ea"/>
                <a:cs typeface="+mn-cs"/>
              </a:rPr>
              <a:t>max</a:t>
            </a:r>
            <a:r>
              <a:rPr kumimoji="0" lang="tr-TR" sz="2000" b="0" i="0" u="none" strike="noStrike" kern="1200" cap="none" spc="0" normalizeH="0" baseline="0" noProof="0">
                <a:ln>
                  <a:noFill/>
                </a:ln>
                <a:solidFill>
                  <a:prstClr val="white"/>
                </a:solidFill>
                <a:effectLst/>
                <a:uLnTx/>
                <a:uFillTx/>
                <a:latin typeface="Arial Narrow" pitchFamily="34" charset="0"/>
                <a:ea typeface="+mn-ea"/>
                <a:cs typeface="+mn-cs"/>
              </a:rPr>
              <a:t> sin wt </a:t>
            </a:r>
            <a:endParaRPr kumimoji="0" lang="en-US" sz="2000" b="0" i="0" u="none" strike="noStrike" kern="1200" cap="none" spc="0" normalizeH="0" baseline="0" noProof="0">
              <a:ln>
                <a:noFill/>
              </a:ln>
              <a:solidFill>
                <a:prstClr val="white"/>
              </a:solidFill>
              <a:effectLst/>
              <a:uLnTx/>
              <a:uFillTx/>
              <a:latin typeface="Arial Narrow" pitchFamily="34" charset="0"/>
              <a:ea typeface="+mn-ea"/>
              <a:cs typeface="+mn-cs"/>
            </a:endParaRPr>
          </a:p>
        </p:txBody>
      </p:sp>
      <p:sp>
        <p:nvSpPr>
          <p:cNvPr id="113677" name="Rectangle 96"/>
          <p:cNvSpPr>
            <a:spLocks noChangeArrowheads="1"/>
          </p:cNvSpPr>
          <p:nvPr/>
        </p:nvSpPr>
        <p:spPr bwMode="auto">
          <a:xfrm>
            <a:off x="0" y="1376363"/>
            <a:ext cx="4551363" cy="542925"/>
          </a:xfrm>
          <a:prstGeom prst="rect">
            <a:avLst/>
          </a:prstGeom>
          <a:solidFill>
            <a:srgbClr val="000066"/>
          </a:solidFill>
          <a:ln w="9525" algn="ctr">
            <a:noFill/>
            <a:miter lim="800000"/>
            <a:headEnd/>
            <a:tailEnd/>
          </a:ln>
        </p:spPr>
        <p:txBody>
          <a:bodyPr lIns="54000" tIns="118800" rIns="54000" bIns="118800">
            <a:spAutoFit/>
          </a:bodyPr>
          <a:lstStyle/>
          <a:p>
            <a:pPr marL="0" marR="0" lvl="0" indent="4763" algn="ctr"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dirty="0">
                <a:ln>
                  <a:noFill/>
                </a:ln>
                <a:solidFill>
                  <a:srgbClr val="FFFF00"/>
                </a:solidFill>
                <a:effectLst/>
                <a:uLnTx/>
                <a:uFillTx/>
                <a:latin typeface="Arial Black" pitchFamily="34" charset="0"/>
                <a:ea typeface="+mn-ea"/>
                <a:cs typeface="+mn-cs"/>
              </a:rPr>
              <a:t>RMS (Root Mean Square)</a:t>
            </a:r>
            <a:endParaRPr kumimoji="0" lang="en-US" sz="2000" b="0" i="0" u="none" strike="noStrike" kern="1200" cap="none" spc="0" normalizeH="0" baseline="0" noProof="0" dirty="0">
              <a:ln>
                <a:noFill/>
              </a:ln>
              <a:solidFill>
                <a:srgbClr val="FFFF00"/>
              </a:solidFill>
              <a:effectLst/>
              <a:uLnTx/>
              <a:uFillTx/>
              <a:latin typeface="Arial Black" pitchFamily="34" charset="0"/>
              <a:ea typeface="+mn-ea"/>
              <a:cs typeface="+mn-cs"/>
            </a:endParaRPr>
          </a:p>
        </p:txBody>
      </p:sp>
      <p:sp>
        <p:nvSpPr>
          <p:cNvPr id="100" name="Rectangle 4"/>
          <p:cNvSpPr>
            <a:spLocks noChangeArrowheads="1"/>
          </p:cNvSpPr>
          <p:nvPr/>
        </p:nvSpPr>
        <p:spPr bwMode="auto">
          <a:xfrm>
            <a:off x="3124200" y="114300"/>
            <a:ext cx="1820563" cy="52322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800" b="0" i="0" u="none" strike="noStrike" kern="1200" cap="none" spc="0" normalizeH="0" baseline="0" noProof="0" dirty="0">
                <a:ln>
                  <a:noFill/>
                </a:ln>
                <a:solidFill>
                  <a:prstClr val="black"/>
                </a:solidFill>
                <a:effectLst/>
                <a:uLnTx/>
                <a:uFillTx/>
                <a:latin typeface="Calibri"/>
                <a:ea typeface="+mn-ea"/>
                <a:cs typeface="+mn-cs"/>
              </a:rPr>
              <a:t>RMS Value </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1"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Ali </a:t>
            </a:r>
            <a:r>
              <a:rPr kumimoji="0" lang="en-US" sz="1200" b="0" i="0" u="none" strike="noStrike" kern="1200" cap="none" spc="0" normalizeH="0" baseline="0" noProof="0" dirty="0" err="1">
                <a:ln>
                  <a:noFill/>
                </a:ln>
                <a:solidFill>
                  <a:prstClr val="black">
                    <a:tint val="75000"/>
                  </a:prstClr>
                </a:solidFill>
                <a:effectLst/>
                <a:uLnTx/>
                <a:uFillTx/>
                <a:latin typeface="Calibri"/>
                <a:ea typeface="+mn-ea"/>
                <a:cs typeface="+mn-cs"/>
              </a:rPr>
              <a:t>Muhtaroğlu</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02" name="Slide Number Placeholder 12"/>
          <p:cNvSpPr>
            <a:spLocks noGrp="1"/>
          </p:cNvSpPr>
          <p:nvPr>
            <p:ph type="sldNum" sz="quarter" idx="11"/>
          </p:nvPr>
        </p:nvSpPr>
        <p:spPr>
          <a:xfrm>
            <a:off x="8267700" y="6477000"/>
            <a:ext cx="8763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57CEED-90C7-4FD0-AB8C-14085BB9151E}"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24634809"/>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0" name="Picture 2" descr="magic"/>
          <p:cNvPicPr>
            <a:picLocks noChangeAspect="1" noChangeArrowheads="1"/>
          </p:cNvPicPr>
          <p:nvPr/>
        </p:nvPicPr>
        <p:blipFill>
          <a:blip r:embed="rId3" cstate="print"/>
          <a:srcRect/>
          <a:stretch>
            <a:fillRect/>
          </a:stretch>
        </p:blipFill>
        <p:spPr bwMode="auto">
          <a:xfrm>
            <a:off x="0" y="0"/>
            <a:ext cx="127000" cy="127000"/>
          </a:xfrm>
          <a:prstGeom prst="rect">
            <a:avLst/>
          </a:prstGeom>
          <a:noFill/>
          <a:ln w="9525">
            <a:noFill/>
            <a:miter lim="800000"/>
            <a:headEnd/>
            <a:tailEnd/>
          </a:ln>
        </p:spPr>
      </p:pic>
      <p:sp>
        <p:nvSpPr>
          <p:cNvPr id="114692" name="Rectangle 4"/>
          <p:cNvSpPr>
            <a:spLocks noChangeArrowheads="1"/>
          </p:cNvSpPr>
          <p:nvPr/>
        </p:nvSpPr>
        <p:spPr bwMode="auto">
          <a:xfrm>
            <a:off x="0" y="1482725"/>
            <a:ext cx="4373563" cy="654050"/>
          </a:xfrm>
          <a:prstGeom prst="rect">
            <a:avLst/>
          </a:prstGeom>
          <a:solidFill>
            <a:srgbClr val="000066"/>
          </a:solidFill>
          <a:ln w="9525" algn="ctr">
            <a:noFill/>
            <a:miter lim="800000"/>
            <a:headEnd/>
            <a:tailEnd/>
          </a:ln>
        </p:spPr>
        <p:txBody>
          <a:bodyPr lIns="54000" tIns="190800" rIns="54000" bIns="158400">
            <a:spAutoFit/>
          </a:bodyPr>
          <a:lstStyle/>
          <a:p>
            <a:pPr marL="0" marR="0" lvl="0" indent="4763" algn="ctr" defTabSz="914400" rtl="0" eaLnBrk="1" fontAlgn="base" latinLnBrk="0" hangingPunct="1">
              <a:lnSpc>
                <a:spcPct val="100000"/>
              </a:lnSpc>
              <a:spcBef>
                <a:spcPct val="0"/>
              </a:spcBef>
              <a:spcAft>
                <a:spcPct val="0"/>
              </a:spcAft>
              <a:buClrTx/>
              <a:buSzTx/>
              <a:buFontTx/>
              <a:buNone/>
              <a:tabLst/>
              <a:defRPr/>
            </a:pPr>
            <a:r>
              <a:rPr kumimoji="0" lang="tr-TR" sz="2000" b="1" i="0" u="none" strike="noStrike" kern="1200" cap="none" spc="0" normalizeH="0" baseline="0" noProof="0">
                <a:ln>
                  <a:noFill/>
                </a:ln>
                <a:solidFill>
                  <a:srgbClr val="FFFF00"/>
                </a:solidFill>
                <a:effectLst/>
                <a:uLnTx/>
                <a:uFillTx/>
                <a:latin typeface="Arial Black" pitchFamily="34" charset="0"/>
                <a:ea typeface="+mn-ea"/>
                <a:cs typeface="+mn-cs"/>
              </a:rPr>
              <a:t>Definition</a:t>
            </a:r>
            <a:endParaRPr kumimoji="0" lang="en-US" sz="2000" b="1" i="0" u="none" strike="noStrike" kern="1200" cap="none" spc="0" normalizeH="0" baseline="0" noProof="0">
              <a:ln>
                <a:noFill/>
              </a:ln>
              <a:solidFill>
                <a:srgbClr val="FFFF00"/>
              </a:solidFill>
              <a:effectLst/>
              <a:uLnTx/>
              <a:uFillTx/>
              <a:latin typeface="Arial Black" pitchFamily="34" charset="0"/>
              <a:ea typeface="+mn-ea"/>
              <a:cs typeface="+mn-cs"/>
            </a:endParaRPr>
          </a:p>
        </p:txBody>
      </p:sp>
      <p:sp>
        <p:nvSpPr>
          <p:cNvPr id="114693" name="Text Box 7"/>
          <p:cNvSpPr txBox="1">
            <a:spLocks noChangeArrowheads="1"/>
          </p:cNvSpPr>
          <p:nvPr/>
        </p:nvSpPr>
        <p:spPr bwMode="auto">
          <a:xfrm>
            <a:off x="6324600" y="3179763"/>
            <a:ext cx="519113" cy="396875"/>
          </a:xfrm>
          <a:prstGeom prst="rect">
            <a:avLst/>
          </a:prstGeom>
          <a:noFill/>
          <a:ln w="1905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srgbClr val="000066"/>
                </a:solidFill>
                <a:effectLst/>
                <a:uLnTx/>
                <a:uFillTx/>
                <a:latin typeface="Arial Narrow" pitchFamily="34" charset="0"/>
                <a:ea typeface="+mn-ea"/>
                <a:cs typeface="+mn-cs"/>
              </a:rPr>
              <a:t>V</a:t>
            </a:r>
            <a:r>
              <a:rPr kumimoji="0" lang="tr-TR" sz="2000" b="0" i="0" u="none" strike="noStrike" kern="1200" cap="none" spc="0" normalizeH="0" baseline="-25000" noProof="0">
                <a:ln>
                  <a:noFill/>
                </a:ln>
                <a:solidFill>
                  <a:srgbClr val="000066"/>
                </a:solidFill>
                <a:effectLst/>
                <a:uLnTx/>
                <a:uFillTx/>
                <a:latin typeface="Arial Narrow" pitchFamily="34" charset="0"/>
                <a:ea typeface="+mn-ea"/>
                <a:cs typeface="+mn-cs"/>
              </a:rPr>
              <a:t>DC</a:t>
            </a:r>
            <a:endParaRPr kumimoji="0" lang="en-US" sz="20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14694" name="Line 8"/>
          <p:cNvSpPr>
            <a:spLocks noChangeShapeType="1"/>
          </p:cNvSpPr>
          <p:nvPr/>
        </p:nvSpPr>
        <p:spPr bwMode="auto">
          <a:xfrm flipH="1">
            <a:off x="8724900" y="2506663"/>
            <a:ext cx="3175" cy="522287"/>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695" name="Text Box 9"/>
          <p:cNvSpPr txBox="1">
            <a:spLocks noChangeArrowheads="1"/>
          </p:cNvSpPr>
          <p:nvPr/>
        </p:nvSpPr>
        <p:spPr bwMode="auto">
          <a:xfrm rot="10800000">
            <a:off x="8764588" y="3535363"/>
            <a:ext cx="300037" cy="469900"/>
          </a:xfrm>
          <a:prstGeom prst="rect">
            <a:avLst/>
          </a:prstGeom>
          <a:noFill/>
          <a:ln w="19050">
            <a:noFill/>
            <a:miter lim="800000"/>
            <a:headEnd/>
            <a:tailEnd/>
          </a:ln>
        </p:spPr>
        <p:txBody>
          <a:bodyPr bIns="1188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prstClr val="black"/>
                </a:solidFill>
                <a:effectLst/>
                <a:uLnTx/>
                <a:uFillTx/>
                <a:latin typeface="Arial" charset="0"/>
                <a:ea typeface="+mn-ea"/>
                <a:cs typeface="+mn-cs"/>
              </a:rPr>
              <a:t>_</a:t>
            </a:r>
            <a:endParaRPr kumimoji="0" lang="en-US" sz="20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696" name="Line 10"/>
          <p:cNvSpPr>
            <a:spLocks noChangeShapeType="1"/>
          </p:cNvSpPr>
          <p:nvPr/>
        </p:nvSpPr>
        <p:spPr bwMode="auto">
          <a:xfrm>
            <a:off x="8728075" y="3570288"/>
            <a:ext cx="0" cy="636587"/>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697" name="Line 11"/>
          <p:cNvSpPr>
            <a:spLocks noChangeShapeType="1"/>
          </p:cNvSpPr>
          <p:nvPr/>
        </p:nvSpPr>
        <p:spPr bwMode="auto">
          <a:xfrm rot="5400000" flipH="1">
            <a:off x="6145213" y="3360737"/>
            <a:ext cx="1703388" cy="4763"/>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698" name="Text Box 13"/>
          <p:cNvSpPr txBox="1">
            <a:spLocks noChangeArrowheads="1"/>
          </p:cNvSpPr>
          <p:nvPr/>
        </p:nvSpPr>
        <p:spPr bwMode="auto">
          <a:xfrm>
            <a:off x="6967538" y="2884488"/>
            <a:ext cx="331787" cy="396875"/>
          </a:xfrm>
          <a:prstGeom prst="rect">
            <a:avLst/>
          </a:prstGeom>
          <a:noFill/>
          <a:ln w="1905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prstClr val="black"/>
                </a:solidFill>
                <a:effectLst/>
                <a:uLnTx/>
                <a:uFillTx/>
                <a:latin typeface="Arial" charset="0"/>
                <a:ea typeface="+mn-ea"/>
                <a:cs typeface="+mn-cs"/>
              </a:rPr>
              <a:t>+</a:t>
            </a:r>
            <a:endParaRPr kumimoji="0" lang="en-US" sz="20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699" name="Text Box 14"/>
          <p:cNvSpPr txBox="1">
            <a:spLocks noChangeArrowheads="1"/>
          </p:cNvSpPr>
          <p:nvPr/>
        </p:nvSpPr>
        <p:spPr bwMode="auto">
          <a:xfrm>
            <a:off x="7396163" y="2116138"/>
            <a:ext cx="438150" cy="396875"/>
          </a:xfrm>
          <a:prstGeom prst="rect">
            <a:avLst/>
          </a:prstGeom>
          <a:noFill/>
          <a:ln w="1905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srgbClr val="000066"/>
                </a:solidFill>
                <a:effectLst/>
                <a:uLnTx/>
                <a:uFillTx/>
                <a:latin typeface="Arial Narrow" pitchFamily="34" charset="0"/>
                <a:ea typeface="+mn-ea"/>
                <a:cs typeface="+mn-cs"/>
              </a:rPr>
              <a:t>I</a:t>
            </a:r>
            <a:r>
              <a:rPr kumimoji="0" lang="tr-TR" sz="2000" b="0" i="0" u="none" strike="noStrike" kern="1200" cap="none" spc="0" normalizeH="0" baseline="-25000" noProof="0">
                <a:ln>
                  <a:noFill/>
                </a:ln>
                <a:solidFill>
                  <a:srgbClr val="000066"/>
                </a:solidFill>
                <a:effectLst/>
                <a:uLnTx/>
                <a:uFillTx/>
                <a:latin typeface="Arial Narrow" pitchFamily="34" charset="0"/>
                <a:ea typeface="+mn-ea"/>
                <a:cs typeface="+mn-cs"/>
              </a:rPr>
              <a:t>DC</a:t>
            </a:r>
            <a:endParaRPr kumimoji="0" lang="en-US" sz="20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14700" name="Line 15"/>
          <p:cNvSpPr>
            <a:spLocks noChangeShapeType="1"/>
          </p:cNvSpPr>
          <p:nvPr/>
        </p:nvSpPr>
        <p:spPr bwMode="auto">
          <a:xfrm rot="-5400000">
            <a:off x="7902576" y="2476500"/>
            <a:ext cx="0" cy="327025"/>
          </a:xfrm>
          <a:prstGeom prst="line">
            <a:avLst/>
          </a:prstGeom>
          <a:noFill/>
          <a:ln w="19050">
            <a:solidFill>
              <a:schemeClr val="tx1"/>
            </a:solidFill>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01" name="Line 16"/>
          <p:cNvSpPr>
            <a:spLocks noChangeShapeType="1"/>
          </p:cNvSpPr>
          <p:nvPr/>
        </p:nvSpPr>
        <p:spPr bwMode="auto">
          <a:xfrm>
            <a:off x="8724900" y="3021013"/>
            <a:ext cx="141288" cy="50800"/>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02" name="Line 17"/>
          <p:cNvSpPr>
            <a:spLocks noChangeShapeType="1"/>
          </p:cNvSpPr>
          <p:nvPr/>
        </p:nvSpPr>
        <p:spPr bwMode="auto">
          <a:xfrm flipH="1">
            <a:off x="8653463" y="3067050"/>
            <a:ext cx="207962" cy="61913"/>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03" name="Line 18"/>
          <p:cNvSpPr>
            <a:spLocks noChangeShapeType="1"/>
          </p:cNvSpPr>
          <p:nvPr/>
        </p:nvSpPr>
        <p:spPr bwMode="auto">
          <a:xfrm>
            <a:off x="8672513" y="3127375"/>
            <a:ext cx="179387" cy="50800"/>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04" name="Line 19"/>
          <p:cNvSpPr>
            <a:spLocks noChangeShapeType="1"/>
          </p:cNvSpPr>
          <p:nvPr/>
        </p:nvSpPr>
        <p:spPr bwMode="auto">
          <a:xfrm flipH="1">
            <a:off x="8656638" y="3179763"/>
            <a:ext cx="209550" cy="60325"/>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05" name="Line 20"/>
          <p:cNvSpPr>
            <a:spLocks noChangeShapeType="1"/>
          </p:cNvSpPr>
          <p:nvPr/>
        </p:nvSpPr>
        <p:spPr bwMode="auto">
          <a:xfrm>
            <a:off x="8670925" y="3236913"/>
            <a:ext cx="192088" cy="52387"/>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06" name="Line 21"/>
          <p:cNvSpPr>
            <a:spLocks noChangeShapeType="1"/>
          </p:cNvSpPr>
          <p:nvPr/>
        </p:nvSpPr>
        <p:spPr bwMode="auto">
          <a:xfrm flipH="1">
            <a:off x="8666163" y="3284538"/>
            <a:ext cx="203200" cy="60325"/>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07" name="Line 22"/>
          <p:cNvSpPr>
            <a:spLocks noChangeShapeType="1"/>
          </p:cNvSpPr>
          <p:nvPr/>
        </p:nvSpPr>
        <p:spPr bwMode="auto">
          <a:xfrm>
            <a:off x="8658225" y="3344863"/>
            <a:ext cx="206375" cy="61912"/>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08" name="Line 23"/>
          <p:cNvSpPr>
            <a:spLocks noChangeShapeType="1"/>
          </p:cNvSpPr>
          <p:nvPr/>
        </p:nvSpPr>
        <p:spPr bwMode="auto">
          <a:xfrm flipH="1">
            <a:off x="8718550" y="3529013"/>
            <a:ext cx="152400" cy="44450"/>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09" name="Line 24"/>
          <p:cNvSpPr>
            <a:spLocks noChangeShapeType="1"/>
          </p:cNvSpPr>
          <p:nvPr/>
        </p:nvSpPr>
        <p:spPr bwMode="auto">
          <a:xfrm flipH="1">
            <a:off x="8666163" y="3405188"/>
            <a:ext cx="203200" cy="60325"/>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10" name="Line 25"/>
          <p:cNvSpPr>
            <a:spLocks noChangeShapeType="1"/>
          </p:cNvSpPr>
          <p:nvPr/>
        </p:nvSpPr>
        <p:spPr bwMode="auto">
          <a:xfrm>
            <a:off x="8658225" y="3465513"/>
            <a:ext cx="206375" cy="61912"/>
          </a:xfrm>
          <a:prstGeom prst="line">
            <a:avLst/>
          </a:prstGeom>
          <a:noFill/>
          <a:ln w="317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grpSp>
        <p:nvGrpSpPr>
          <p:cNvPr id="2" name="Group 26"/>
          <p:cNvGrpSpPr>
            <a:grpSpLocks/>
          </p:cNvGrpSpPr>
          <p:nvPr/>
        </p:nvGrpSpPr>
        <p:grpSpPr bwMode="auto">
          <a:xfrm>
            <a:off x="6996113" y="2506663"/>
            <a:ext cx="1731962" cy="1703387"/>
            <a:chOff x="3737" y="1253"/>
            <a:chExt cx="1613" cy="1858"/>
          </a:xfrm>
        </p:grpSpPr>
        <p:sp>
          <p:nvSpPr>
            <p:cNvPr id="114755" name="Line 27"/>
            <p:cNvSpPr>
              <a:spLocks noChangeShapeType="1"/>
            </p:cNvSpPr>
            <p:nvPr/>
          </p:nvSpPr>
          <p:spPr bwMode="auto">
            <a:xfrm rot="10800000" flipH="1" flipV="1">
              <a:off x="3749" y="3111"/>
              <a:ext cx="1601" cy="0"/>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56" name="Line 28"/>
            <p:cNvSpPr>
              <a:spLocks noChangeShapeType="1"/>
            </p:cNvSpPr>
            <p:nvPr/>
          </p:nvSpPr>
          <p:spPr bwMode="auto">
            <a:xfrm rot="10800000" flipH="1">
              <a:off x="3737" y="1253"/>
              <a:ext cx="1613" cy="0"/>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grpSp>
      <p:sp>
        <p:nvSpPr>
          <p:cNvPr id="114712" name="Text Box 29"/>
          <p:cNvSpPr txBox="1">
            <a:spLocks noChangeArrowheads="1"/>
          </p:cNvSpPr>
          <p:nvPr/>
        </p:nvSpPr>
        <p:spPr bwMode="auto">
          <a:xfrm>
            <a:off x="8815388" y="3094038"/>
            <a:ext cx="384175" cy="336550"/>
          </a:xfrm>
          <a:prstGeom prst="rect">
            <a:avLst/>
          </a:prstGeom>
          <a:noFill/>
          <a:ln w="19050">
            <a:noFill/>
            <a:miter lim="800000"/>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srgbClr val="000066"/>
                </a:solidFill>
                <a:effectLst/>
                <a:uLnTx/>
                <a:uFillTx/>
                <a:latin typeface="Arial Narrow" pitchFamily="34" charset="0"/>
                <a:ea typeface="+mn-ea"/>
                <a:cs typeface="+mn-cs"/>
              </a:rPr>
              <a:t>R</a:t>
            </a:r>
            <a:endParaRPr kumimoji="0" lang="en-US" sz="16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14713" name="Text Box 30"/>
          <p:cNvSpPr txBox="1">
            <a:spLocks noChangeArrowheads="1"/>
          </p:cNvSpPr>
          <p:nvPr/>
        </p:nvSpPr>
        <p:spPr bwMode="auto">
          <a:xfrm>
            <a:off x="8713788" y="2674938"/>
            <a:ext cx="331787" cy="396875"/>
          </a:xfrm>
          <a:prstGeom prst="rect">
            <a:avLst/>
          </a:prstGeom>
          <a:noFill/>
          <a:ln w="1905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prstClr val="black"/>
                </a:solidFill>
                <a:effectLst/>
                <a:uLnTx/>
                <a:uFillTx/>
                <a:latin typeface="Arial" charset="0"/>
                <a:ea typeface="+mn-ea"/>
                <a:cs typeface="+mn-cs"/>
              </a:rPr>
              <a:t>+</a:t>
            </a:r>
            <a:endParaRPr kumimoji="0" lang="en-US" sz="20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14" name="Line 31"/>
          <p:cNvSpPr>
            <a:spLocks noChangeShapeType="1"/>
          </p:cNvSpPr>
          <p:nvPr/>
        </p:nvSpPr>
        <p:spPr bwMode="auto">
          <a:xfrm flipV="1">
            <a:off x="8474075" y="2506663"/>
            <a:ext cx="0" cy="1700212"/>
          </a:xfrm>
          <a:prstGeom prst="line">
            <a:avLst/>
          </a:prstGeom>
          <a:noFill/>
          <a:ln w="19050">
            <a:solidFill>
              <a:srgbClr val="000066"/>
            </a:solidFill>
            <a:prstDash val="sysDot"/>
            <a:round/>
            <a:headEnd type="triangle" w="med" len="me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15" name="Text Box 32"/>
          <p:cNvSpPr txBox="1">
            <a:spLocks noChangeArrowheads="1"/>
          </p:cNvSpPr>
          <p:nvPr/>
        </p:nvSpPr>
        <p:spPr bwMode="auto">
          <a:xfrm>
            <a:off x="8204200" y="3097213"/>
            <a:ext cx="455613" cy="542925"/>
          </a:xfrm>
          <a:prstGeom prst="rect">
            <a:avLst/>
          </a:prstGeom>
          <a:solidFill>
            <a:srgbClr val="FFFFFF"/>
          </a:solidFill>
          <a:ln w="19050">
            <a:noFill/>
            <a:miter lim="800000"/>
            <a:headEnd/>
            <a:tailEnd/>
          </a:ln>
        </p:spPr>
        <p:txBody>
          <a:bodyPr tIns="118800" bIns="1188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srgbClr val="000066"/>
                </a:solidFill>
                <a:effectLst/>
                <a:uLnTx/>
                <a:uFillTx/>
                <a:latin typeface="Arial Narrow" pitchFamily="34" charset="0"/>
                <a:ea typeface="+mn-ea"/>
                <a:cs typeface="+mn-cs"/>
              </a:rPr>
              <a:t>V</a:t>
            </a:r>
            <a:r>
              <a:rPr kumimoji="0" lang="tr-TR" sz="2000" b="0" i="0" u="none" strike="noStrike" kern="1200" cap="none" spc="0" normalizeH="0" baseline="-25000" noProof="0">
                <a:ln>
                  <a:noFill/>
                </a:ln>
                <a:solidFill>
                  <a:srgbClr val="000066"/>
                </a:solidFill>
                <a:effectLst/>
                <a:uLnTx/>
                <a:uFillTx/>
                <a:latin typeface="Arial Narrow" pitchFamily="34" charset="0"/>
                <a:ea typeface="+mn-ea"/>
                <a:cs typeface="+mn-cs"/>
              </a:rPr>
              <a:t>R</a:t>
            </a:r>
            <a:endParaRPr kumimoji="0" lang="en-US" sz="20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14716" name="Rectangle 33"/>
          <p:cNvSpPr>
            <a:spLocks noChangeArrowheads="1"/>
          </p:cNvSpPr>
          <p:nvPr/>
        </p:nvSpPr>
        <p:spPr bwMode="auto">
          <a:xfrm>
            <a:off x="4398963" y="1487488"/>
            <a:ext cx="4745037" cy="654050"/>
          </a:xfrm>
          <a:prstGeom prst="rect">
            <a:avLst/>
          </a:prstGeom>
          <a:solidFill>
            <a:srgbClr val="000066"/>
          </a:solidFill>
          <a:ln w="9525">
            <a:noFill/>
            <a:miter lim="800000"/>
            <a:headEnd/>
            <a:tailEnd/>
          </a:ln>
        </p:spPr>
        <p:txBody>
          <a:bodyPr lIns="126000" tIns="82800" rIns="162000" bIns="82800">
            <a:spAutoFit/>
          </a:bodyPr>
          <a:lstStyle/>
          <a:p>
            <a:pPr marL="177800" marR="0" lvl="0" indent="0" algn="l" defTabSz="914400" rtl="0" eaLnBrk="1" fontAlgn="base" latinLnBrk="0" hangingPunct="1">
              <a:lnSpc>
                <a:spcPct val="80000"/>
              </a:lnSpc>
              <a:spcBef>
                <a:spcPct val="0"/>
              </a:spcBef>
              <a:spcAft>
                <a:spcPct val="0"/>
              </a:spcAft>
              <a:buClrTx/>
              <a:buSzTx/>
              <a:buFontTx/>
              <a:buNone/>
              <a:tabLst/>
              <a:defRPr/>
            </a:pPr>
            <a:r>
              <a:rPr kumimoji="0" lang="tr-TR" sz="2000" b="1" i="0" u="none" strike="noStrike" kern="1200" cap="none" spc="0" normalizeH="0" baseline="0" noProof="0">
                <a:ln>
                  <a:noFill/>
                </a:ln>
                <a:solidFill>
                  <a:prstClr val="white"/>
                </a:solidFill>
                <a:effectLst/>
                <a:uLnTx/>
                <a:uFillTx/>
                <a:latin typeface="Arial Narrow" pitchFamily="34" charset="0"/>
                <a:ea typeface="+mn-ea"/>
                <a:cs typeface="+mn-cs"/>
              </a:rPr>
              <a:t>Now let us equate the power dissipations in the above cases</a:t>
            </a:r>
          </a:p>
        </p:txBody>
      </p:sp>
      <p:sp>
        <p:nvSpPr>
          <p:cNvPr id="114717" name="AutoShape 37"/>
          <p:cNvSpPr>
            <a:spLocks noChangeArrowheads="1"/>
          </p:cNvSpPr>
          <p:nvPr/>
        </p:nvSpPr>
        <p:spPr bwMode="auto">
          <a:xfrm rot="5400000">
            <a:off x="5158582" y="4441031"/>
            <a:ext cx="433388" cy="739775"/>
          </a:xfrm>
          <a:prstGeom prst="bracePair">
            <a:avLst>
              <a:gd name="adj" fmla="val 17949"/>
            </a:avLst>
          </a:prstGeom>
          <a:noFill/>
          <a:ln w="25400">
            <a:solidFill>
              <a:srgbClr val="CC33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1" i="0" u="none" strike="noStrike" kern="1200" cap="none" spc="0" normalizeH="0" baseline="0" noProof="0">
              <a:ln>
                <a:noFill/>
              </a:ln>
              <a:solidFill>
                <a:prstClr val="black"/>
              </a:solidFill>
              <a:effectLst/>
              <a:uLnTx/>
              <a:uFillTx/>
              <a:latin typeface="Arial" charset="0"/>
              <a:ea typeface="+mn-ea"/>
              <a:cs typeface="+mn-cs"/>
            </a:endParaRPr>
          </a:p>
        </p:txBody>
      </p:sp>
      <p:sp>
        <p:nvSpPr>
          <p:cNvPr id="114718" name="Text Box 38"/>
          <p:cNvSpPr txBox="1">
            <a:spLocks noChangeArrowheads="1"/>
          </p:cNvSpPr>
          <p:nvPr/>
        </p:nvSpPr>
        <p:spPr bwMode="auto">
          <a:xfrm>
            <a:off x="8843963" y="5065713"/>
            <a:ext cx="355600" cy="336550"/>
          </a:xfrm>
          <a:prstGeom prst="rect">
            <a:avLst/>
          </a:prstGeom>
          <a:noFill/>
          <a:ln w="25400">
            <a:noFill/>
            <a:miter lim="800000"/>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srgbClr val="000066"/>
                </a:solidFill>
                <a:effectLst/>
                <a:uLnTx/>
                <a:uFillTx/>
                <a:latin typeface="Arial Narrow" pitchFamily="34" charset="0"/>
                <a:ea typeface="+mn-ea"/>
                <a:cs typeface="+mn-cs"/>
              </a:rPr>
              <a:t>R</a:t>
            </a:r>
            <a:endParaRPr kumimoji="0" lang="en-US" sz="16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14719" name="Rectangle 39"/>
          <p:cNvSpPr>
            <a:spLocks noChangeArrowheads="1"/>
          </p:cNvSpPr>
          <p:nvPr/>
        </p:nvSpPr>
        <p:spPr bwMode="auto">
          <a:xfrm>
            <a:off x="4518025" y="5816600"/>
            <a:ext cx="2009775" cy="444216"/>
          </a:xfrm>
          <a:prstGeom prst="rect">
            <a:avLst/>
          </a:prstGeom>
          <a:solidFill>
            <a:srgbClr val="CC3300"/>
          </a:solidFill>
          <a:ln w="9525">
            <a:noFill/>
            <a:miter lim="800000"/>
            <a:headEnd/>
            <a:tailEnd/>
          </a:ln>
        </p:spPr>
        <p:txBody>
          <a:bodyPr lIns="72000" tIns="82800" rIns="72000" bIns="82800">
            <a:spAutoFit/>
          </a:bodyPr>
          <a:lstStyle/>
          <a:p>
            <a:pPr marL="447675" marR="0" lvl="0" indent="-447675" algn="ctr" defTabSz="914400" rtl="0" eaLnBrk="1" fontAlgn="base" latinLnBrk="0" hangingPunct="1">
              <a:lnSpc>
                <a:spcPct val="100000"/>
              </a:lnSpc>
              <a:spcBef>
                <a:spcPct val="0"/>
              </a:spcBef>
              <a:spcAft>
                <a:spcPct val="0"/>
              </a:spcAft>
              <a:buClrTx/>
              <a:buSzTx/>
              <a:buFontTx/>
              <a:buNone/>
              <a:tabLst/>
              <a:defRPr/>
            </a:pP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rPr>
              <a:t>V(t) = V</a:t>
            </a:r>
            <a:r>
              <a:rPr kumimoji="0" lang="tr-TR" sz="1800" b="1" i="0" u="none" strike="noStrike" kern="1200" cap="none" spc="0" normalizeH="0" baseline="-25000" noProof="0">
                <a:ln>
                  <a:noFill/>
                </a:ln>
                <a:solidFill>
                  <a:prstClr val="white"/>
                </a:solidFill>
                <a:effectLst/>
                <a:uLnTx/>
                <a:uFillTx/>
                <a:latin typeface="Arial Narrow" pitchFamily="34" charset="0"/>
                <a:ea typeface="+mn-ea"/>
                <a:cs typeface="+mn-cs"/>
              </a:rPr>
              <a:t>max</a:t>
            </a: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rPr>
              <a:t> sin wt</a:t>
            </a:r>
            <a:endParaRPr kumimoji="0" lang="en-US" sz="1800" b="1" i="0" u="none" strike="noStrike" kern="1200" cap="none" spc="0" normalizeH="0" baseline="0" noProof="0">
              <a:ln>
                <a:noFill/>
              </a:ln>
              <a:solidFill>
                <a:prstClr val="white"/>
              </a:solidFill>
              <a:effectLst/>
              <a:uLnTx/>
              <a:uFillTx/>
              <a:latin typeface="Arial Narrow" pitchFamily="34" charset="0"/>
              <a:ea typeface="+mn-ea"/>
              <a:cs typeface="+mn-cs"/>
            </a:endParaRPr>
          </a:p>
        </p:txBody>
      </p:sp>
      <p:sp>
        <p:nvSpPr>
          <p:cNvPr id="114720" name="Line 40"/>
          <p:cNvSpPr>
            <a:spLocks noChangeShapeType="1"/>
          </p:cNvSpPr>
          <p:nvPr/>
        </p:nvSpPr>
        <p:spPr bwMode="auto">
          <a:xfrm flipH="1">
            <a:off x="8739188" y="4448175"/>
            <a:ext cx="1587" cy="547688"/>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21" name="Text Box 41"/>
          <p:cNvSpPr txBox="1">
            <a:spLocks noChangeArrowheads="1"/>
          </p:cNvSpPr>
          <p:nvPr/>
        </p:nvSpPr>
        <p:spPr bwMode="auto">
          <a:xfrm rot="10800000">
            <a:off x="8723313" y="5535613"/>
            <a:ext cx="388937" cy="409575"/>
          </a:xfrm>
          <a:prstGeom prst="rect">
            <a:avLst/>
          </a:prstGeom>
          <a:noFill/>
          <a:ln w="25400">
            <a:noFill/>
            <a:miter lim="800000"/>
            <a:headEnd/>
            <a:tailEnd/>
          </a:ln>
        </p:spPr>
        <p:txBody>
          <a:bodyPr bIns="1188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prstClr val="black"/>
                </a:solidFill>
                <a:effectLst/>
                <a:uLnTx/>
                <a:uFillTx/>
                <a:latin typeface="Arial" charset="0"/>
                <a:ea typeface="+mn-ea"/>
                <a:cs typeface="+mn-cs"/>
              </a:rPr>
              <a:t>_</a:t>
            </a:r>
            <a:endParaRPr kumimoji="0" lang="en-US" sz="16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22" name="Line 42"/>
          <p:cNvSpPr>
            <a:spLocks noChangeShapeType="1"/>
          </p:cNvSpPr>
          <p:nvPr/>
        </p:nvSpPr>
        <p:spPr bwMode="auto">
          <a:xfrm>
            <a:off x="8740775" y="5565775"/>
            <a:ext cx="0" cy="665163"/>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23" name="Line 43"/>
          <p:cNvSpPr>
            <a:spLocks noChangeShapeType="1"/>
          </p:cNvSpPr>
          <p:nvPr/>
        </p:nvSpPr>
        <p:spPr bwMode="auto">
          <a:xfrm rot="5400000" flipH="1">
            <a:off x="6630194" y="4779169"/>
            <a:ext cx="674688"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24" name="Line 44"/>
          <p:cNvSpPr>
            <a:spLocks noChangeShapeType="1"/>
          </p:cNvSpPr>
          <p:nvPr/>
        </p:nvSpPr>
        <p:spPr bwMode="auto">
          <a:xfrm rot="5400000" flipH="1">
            <a:off x="6623050" y="5881688"/>
            <a:ext cx="717550"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25" name="Text Box 45"/>
          <p:cNvSpPr txBox="1">
            <a:spLocks noChangeArrowheads="1"/>
          </p:cNvSpPr>
          <p:nvPr/>
        </p:nvSpPr>
        <p:spPr bwMode="auto">
          <a:xfrm>
            <a:off x="6935788" y="4857750"/>
            <a:ext cx="303212" cy="336550"/>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prstClr val="black"/>
                </a:solidFill>
                <a:effectLst/>
                <a:uLnTx/>
                <a:uFillTx/>
                <a:latin typeface="Arial" charset="0"/>
                <a:ea typeface="+mn-ea"/>
                <a:cs typeface="+mn-cs"/>
              </a:rPr>
              <a:t>+</a:t>
            </a:r>
            <a:endParaRPr kumimoji="0" lang="en-US" sz="16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26" name="Line 46"/>
          <p:cNvSpPr>
            <a:spLocks noChangeShapeType="1"/>
          </p:cNvSpPr>
          <p:nvPr/>
        </p:nvSpPr>
        <p:spPr bwMode="auto">
          <a:xfrm rot="10800000" flipH="1" flipV="1">
            <a:off x="6981825" y="6234113"/>
            <a:ext cx="1758950"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27" name="Text Box 47"/>
          <p:cNvSpPr txBox="1">
            <a:spLocks noChangeArrowheads="1"/>
          </p:cNvSpPr>
          <p:nvPr/>
        </p:nvSpPr>
        <p:spPr bwMode="auto">
          <a:xfrm>
            <a:off x="7227888" y="4419600"/>
            <a:ext cx="396875" cy="336550"/>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srgbClr val="000066"/>
                </a:solidFill>
                <a:effectLst/>
                <a:uLnTx/>
                <a:uFillTx/>
                <a:latin typeface="Arial Narrow" pitchFamily="34" charset="0"/>
                <a:ea typeface="+mn-ea"/>
                <a:cs typeface="+mn-cs"/>
              </a:rPr>
              <a:t>I(t)</a:t>
            </a:r>
            <a:endParaRPr kumimoji="0" lang="en-US" sz="16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14728" name="Line 48"/>
          <p:cNvSpPr>
            <a:spLocks noChangeShapeType="1"/>
          </p:cNvSpPr>
          <p:nvPr/>
        </p:nvSpPr>
        <p:spPr bwMode="auto">
          <a:xfrm rot="-5400000">
            <a:off x="7920038" y="4424362"/>
            <a:ext cx="0" cy="301625"/>
          </a:xfrm>
          <a:prstGeom prst="line">
            <a:avLst/>
          </a:prstGeom>
          <a:noFill/>
          <a:ln w="25400">
            <a:solidFill>
              <a:schemeClr val="tx1"/>
            </a:solidFill>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29" name="Text Box 49"/>
          <p:cNvSpPr txBox="1">
            <a:spLocks noChangeArrowheads="1"/>
          </p:cNvSpPr>
          <p:nvPr/>
        </p:nvSpPr>
        <p:spPr bwMode="auto">
          <a:xfrm>
            <a:off x="6515100" y="4775200"/>
            <a:ext cx="527050" cy="350838"/>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700" b="0" i="0" u="none" strike="noStrike" kern="1200" cap="none" spc="0" normalizeH="0" baseline="0" noProof="0">
                <a:ln>
                  <a:noFill/>
                </a:ln>
                <a:solidFill>
                  <a:srgbClr val="000066"/>
                </a:solidFill>
                <a:effectLst/>
                <a:uLnTx/>
                <a:uFillTx/>
                <a:latin typeface="Arial Narrow" pitchFamily="34" charset="0"/>
                <a:ea typeface="+mn-ea"/>
                <a:cs typeface="+mn-cs"/>
              </a:rPr>
              <a:t>V(t) </a:t>
            </a:r>
            <a:endParaRPr kumimoji="0" lang="en-US" sz="17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14730" name="Line 50"/>
          <p:cNvSpPr>
            <a:spLocks noChangeShapeType="1"/>
          </p:cNvSpPr>
          <p:nvPr/>
        </p:nvSpPr>
        <p:spPr bwMode="auto">
          <a:xfrm>
            <a:off x="8739188" y="4989513"/>
            <a:ext cx="131762" cy="52387"/>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31" name="Line 51"/>
          <p:cNvSpPr>
            <a:spLocks noChangeShapeType="1"/>
          </p:cNvSpPr>
          <p:nvPr/>
        </p:nvSpPr>
        <p:spPr bwMode="auto">
          <a:xfrm flipH="1">
            <a:off x="8674100" y="5038725"/>
            <a:ext cx="192088" cy="65088"/>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32" name="Line 52"/>
          <p:cNvSpPr>
            <a:spLocks noChangeShapeType="1"/>
          </p:cNvSpPr>
          <p:nvPr/>
        </p:nvSpPr>
        <p:spPr bwMode="auto">
          <a:xfrm>
            <a:off x="8691563" y="5102225"/>
            <a:ext cx="168275" cy="52388"/>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33" name="Line 53"/>
          <p:cNvSpPr>
            <a:spLocks noChangeShapeType="1"/>
          </p:cNvSpPr>
          <p:nvPr/>
        </p:nvSpPr>
        <p:spPr bwMode="auto">
          <a:xfrm flipH="1">
            <a:off x="8678863" y="5156200"/>
            <a:ext cx="193675" cy="65088"/>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34" name="Line 54"/>
          <p:cNvSpPr>
            <a:spLocks noChangeShapeType="1"/>
          </p:cNvSpPr>
          <p:nvPr/>
        </p:nvSpPr>
        <p:spPr bwMode="auto">
          <a:xfrm>
            <a:off x="8689975" y="5216525"/>
            <a:ext cx="177800" cy="55563"/>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35" name="Line 55"/>
          <p:cNvSpPr>
            <a:spLocks noChangeShapeType="1"/>
          </p:cNvSpPr>
          <p:nvPr/>
        </p:nvSpPr>
        <p:spPr bwMode="auto">
          <a:xfrm flipH="1">
            <a:off x="8685213" y="5267325"/>
            <a:ext cx="190500" cy="61913"/>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36" name="Line 56"/>
          <p:cNvSpPr>
            <a:spLocks noChangeShapeType="1"/>
          </p:cNvSpPr>
          <p:nvPr/>
        </p:nvSpPr>
        <p:spPr bwMode="auto">
          <a:xfrm>
            <a:off x="8678863" y="5330825"/>
            <a:ext cx="190500" cy="63500"/>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37" name="Line 57"/>
          <p:cNvSpPr>
            <a:spLocks noChangeShapeType="1"/>
          </p:cNvSpPr>
          <p:nvPr/>
        </p:nvSpPr>
        <p:spPr bwMode="auto">
          <a:xfrm flipH="1">
            <a:off x="8734425" y="5522913"/>
            <a:ext cx="142875" cy="47625"/>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38" name="Line 58"/>
          <p:cNvSpPr>
            <a:spLocks noChangeShapeType="1"/>
          </p:cNvSpPr>
          <p:nvPr/>
        </p:nvSpPr>
        <p:spPr bwMode="auto">
          <a:xfrm flipH="1">
            <a:off x="8683625" y="5394325"/>
            <a:ext cx="188913" cy="61913"/>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39" name="Line 59"/>
          <p:cNvSpPr>
            <a:spLocks noChangeShapeType="1"/>
          </p:cNvSpPr>
          <p:nvPr/>
        </p:nvSpPr>
        <p:spPr bwMode="auto">
          <a:xfrm>
            <a:off x="8678863" y="5456238"/>
            <a:ext cx="190500" cy="65087"/>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40" name="Line 60"/>
          <p:cNvSpPr>
            <a:spLocks noChangeShapeType="1"/>
          </p:cNvSpPr>
          <p:nvPr/>
        </p:nvSpPr>
        <p:spPr bwMode="auto">
          <a:xfrm rot="10800000" flipH="1" flipV="1">
            <a:off x="6967538" y="4435475"/>
            <a:ext cx="1773237" cy="635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41" name="Text Box 61"/>
          <p:cNvSpPr txBox="1">
            <a:spLocks noChangeArrowheads="1"/>
          </p:cNvSpPr>
          <p:nvPr/>
        </p:nvSpPr>
        <p:spPr bwMode="auto">
          <a:xfrm>
            <a:off x="8718550" y="4694238"/>
            <a:ext cx="303213" cy="336550"/>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prstClr val="black"/>
                </a:solidFill>
                <a:effectLst/>
                <a:uLnTx/>
                <a:uFillTx/>
                <a:latin typeface="Arial" charset="0"/>
                <a:ea typeface="+mn-ea"/>
                <a:cs typeface="+mn-cs"/>
              </a:rPr>
              <a:t>+</a:t>
            </a:r>
            <a:endParaRPr kumimoji="0" lang="en-US" sz="16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42" name="Line 62"/>
          <p:cNvSpPr>
            <a:spLocks noChangeShapeType="1"/>
          </p:cNvSpPr>
          <p:nvPr/>
        </p:nvSpPr>
        <p:spPr bwMode="auto">
          <a:xfrm flipV="1">
            <a:off x="8213725" y="4441825"/>
            <a:ext cx="0" cy="1789113"/>
          </a:xfrm>
          <a:prstGeom prst="line">
            <a:avLst/>
          </a:prstGeom>
          <a:noFill/>
          <a:ln w="25400">
            <a:solidFill>
              <a:srgbClr val="000066"/>
            </a:solidFill>
            <a:prstDash val="sysDot"/>
            <a:round/>
            <a:headEnd type="triangle" w="med" len="me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43" name="Text Box 63"/>
          <p:cNvSpPr txBox="1">
            <a:spLocks noChangeArrowheads="1"/>
          </p:cNvSpPr>
          <p:nvPr/>
        </p:nvSpPr>
        <p:spPr bwMode="auto">
          <a:xfrm>
            <a:off x="8007350" y="5113338"/>
            <a:ext cx="477838" cy="350837"/>
          </a:xfrm>
          <a:prstGeom prst="rect">
            <a:avLst/>
          </a:prstGeom>
          <a:solidFill>
            <a:srgbClr val="FFFFFF"/>
          </a:solid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700" b="0" i="0" u="none" strike="noStrike" kern="1200" cap="none" spc="0" normalizeH="0" baseline="0" noProof="0">
                <a:ln>
                  <a:noFill/>
                </a:ln>
                <a:solidFill>
                  <a:srgbClr val="000066"/>
                </a:solidFill>
                <a:effectLst/>
                <a:uLnTx/>
                <a:uFillTx/>
                <a:latin typeface="Arial Narrow" pitchFamily="34" charset="0"/>
                <a:ea typeface="+mn-ea"/>
                <a:cs typeface="+mn-cs"/>
              </a:rPr>
              <a:t>V(t)</a:t>
            </a:r>
            <a:endParaRPr kumimoji="0" lang="en-US" sz="17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14744" name="Oval 64"/>
          <p:cNvSpPr>
            <a:spLocks noChangeArrowheads="1"/>
          </p:cNvSpPr>
          <p:nvPr/>
        </p:nvSpPr>
        <p:spPr bwMode="auto">
          <a:xfrm>
            <a:off x="6756400" y="5116513"/>
            <a:ext cx="422275" cy="433387"/>
          </a:xfrm>
          <a:prstGeom prst="ellipse">
            <a:avLst/>
          </a:prstGeom>
          <a:solidFill>
            <a:srgbClr val="FFFFFF"/>
          </a:solidFill>
          <a:ln w="25400">
            <a:solidFill>
              <a:srgbClr val="CC33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45" name="Freeform 65"/>
          <p:cNvSpPr>
            <a:spLocks/>
          </p:cNvSpPr>
          <p:nvPr/>
        </p:nvSpPr>
        <p:spPr bwMode="auto">
          <a:xfrm rot="-180000">
            <a:off x="6835775" y="5232400"/>
            <a:ext cx="258763" cy="179388"/>
          </a:xfrm>
          <a:custGeom>
            <a:avLst/>
            <a:gdLst>
              <a:gd name="T0" fmla="*/ 0 w 499"/>
              <a:gd name="T1" fmla="*/ 2147483647 h 306"/>
              <a:gd name="T2" fmla="*/ 2147483647 w 499"/>
              <a:gd name="T3" fmla="*/ 2147483647 h 306"/>
              <a:gd name="T4" fmla="*/ 2147483647 w 499"/>
              <a:gd name="T5" fmla="*/ 0 h 306"/>
              <a:gd name="T6" fmla="*/ 2147483647 w 499"/>
              <a:gd name="T7" fmla="*/ 2147483647 h 306"/>
              <a:gd name="T8" fmla="*/ 2147483647 w 499"/>
              <a:gd name="T9" fmla="*/ 2147483647 h 306"/>
              <a:gd name="T10" fmla="*/ 2147483647 w 499"/>
              <a:gd name="T11" fmla="*/ 2147483647 h 306"/>
              <a:gd name="T12" fmla="*/ 2147483647 w 499"/>
              <a:gd name="T13" fmla="*/ 2147483647 h 306"/>
              <a:gd name="T14" fmla="*/ 2147483647 w 499"/>
              <a:gd name="T15" fmla="*/ 2147483647 h 306"/>
              <a:gd name="T16" fmla="*/ 2147483647 w 499"/>
              <a:gd name="T17" fmla="*/ 2147483647 h 306"/>
              <a:gd name="T18" fmla="*/ 2147483647 w 499"/>
              <a:gd name="T19" fmla="*/ 2147483647 h 3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9"/>
              <a:gd name="T31" fmla="*/ 0 h 306"/>
              <a:gd name="T32" fmla="*/ 499 w 499"/>
              <a:gd name="T33" fmla="*/ 306 h 3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9" h="306">
                <a:moveTo>
                  <a:pt x="0" y="126"/>
                </a:moveTo>
                <a:cubicBezTo>
                  <a:pt x="10" y="96"/>
                  <a:pt x="27" y="75"/>
                  <a:pt x="48" y="54"/>
                </a:cubicBezTo>
                <a:cubicBezTo>
                  <a:pt x="58" y="23"/>
                  <a:pt x="71" y="10"/>
                  <a:pt x="102" y="0"/>
                </a:cubicBezTo>
                <a:cubicBezTo>
                  <a:pt x="122" y="2"/>
                  <a:pt x="143" y="0"/>
                  <a:pt x="162" y="6"/>
                </a:cubicBezTo>
                <a:cubicBezTo>
                  <a:pt x="195" y="16"/>
                  <a:pt x="197" y="82"/>
                  <a:pt x="204" y="108"/>
                </a:cubicBezTo>
                <a:cubicBezTo>
                  <a:pt x="214" y="196"/>
                  <a:pt x="223" y="274"/>
                  <a:pt x="318" y="306"/>
                </a:cubicBezTo>
                <a:cubicBezTo>
                  <a:pt x="336" y="304"/>
                  <a:pt x="354" y="304"/>
                  <a:pt x="372" y="300"/>
                </a:cubicBezTo>
                <a:cubicBezTo>
                  <a:pt x="399" y="293"/>
                  <a:pt x="427" y="248"/>
                  <a:pt x="444" y="228"/>
                </a:cubicBezTo>
                <a:cubicBezTo>
                  <a:pt x="465" y="202"/>
                  <a:pt x="448" y="219"/>
                  <a:pt x="462" y="192"/>
                </a:cubicBezTo>
                <a:cubicBezTo>
                  <a:pt x="466" y="184"/>
                  <a:pt x="499" y="146"/>
                  <a:pt x="468" y="162"/>
                </a:cubicBezTo>
              </a:path>
            </a:pathLst>
          </a:custGeom>
          <a:noFill/>
          <a:ln w="25400">
            <a:solidFill>
              <a:srgbClr val="CC3300"/>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4746" name="Rectangle 66"/>
          <p:cNvSpPr>
            <a:spLocks noChangeArrowheads="1"/>
          </p:cNvSpPr>
          <p:nvPr/>
        </p:nvSpPr>
        <p:spPr bwMode="auto">
          <a:xfrm>
            <a:off x="4518025" y="4386263"/>
            <a:ext cx="1997075" cy="444216"/>
          </a:xfrm>
          <a:prstGeom prst="rect">
            <a:avLst/>
          </a:prstGeom>
          <a:solidFill>
            <a:srgbClr val="CC3300"/>
          </a:solidFill>
          <a:ln w="9525">
            <a:noFill/>
            <a:miter lim="800000"/>
            <a:headEnd/>
            <a:tailEnd/>
          </a:ln>
        </p:spPr>
        <p:txBody>
          <a:bodyPr lIns="72000" tIns="82800" rIns="72000" bIns="828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rPr>
              <a:t>I(t) = (V</a:t>
            </a:r>
            <a:r>
              <a:rPr kumimoji="0" lang="tr-TR" sz="1800" b="1" i="0" u="none" strike="noStrike" kern="1200" cap="none" spc="0" normalizeH="0" baseline="-25000" noProof="0">
                <a:ln>
                  <a:noFill/>
                </a:ln>
                <a:solidFill>
                  <a:prstClr val="white"/>
                </a:solidFill>
                <a:effectLst/>
                <a:uLnTx/>
                <a:uFillTx/>
                <a:latin typeface="Arial Narrow" pitchFamily="34" charset="0"/>
                <a:ea typeface="+mn-ea"/>
                <a:cs typeface="+mn-cs"/>
              </a:rPr>
              <a:t>max</a:t>
            </a: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rPr>
              <a:t> / R) sin wt</a:t>
            </a:r>
            <a:endParaRPr kumimoji="0" lang="en-US" sz="1800" b="1" i="0" u="none" strike="noStrike" kern="1200" cap="none" spc="0" normalizeH="0" baseline="0" noProof="0">
              <a:ln>
                <a:noFill/>
              </a:ln>
              <a:solidFill>
                <a:prstClr val="white"/>
              </a:solidFill>
              <a:effectLst/>
              <a:uLnTx/>
              <a:uFillTx/>
              <a:latin typeface="Arial Narrow" pitchFamily="34" charset="0"/>
              <a:ea typeface="+mn-ea"/>
              <a:cs typeface="+mn-cs"/>
            </a:endParaRPr>
          </a:p>
        </p:txBody>
      </p:sp>
      <p:sp>
        <p:nvSpPr>
          <p:cNvPr id="114747" name="Line 67"/>
          <p:cNvSpPr>
            <a:spLocks noChangeShapeType="1"/>
          </p:cNvSpPr>
          <p:nvPr/>
        </p:nvSpPr>
        <p:spPr bwMode="auto">
          <a:xfrm rot="-5400000">
            <a:off x="6819900" y="4257675"/>
            <a:ext cx="0" cy="717550"/>
          </a:xfrm>
          <a:prstGeom prst="line">
            <a:avLst/>
          </a:prstGeom>
          <a:noFill/>
          <a:ln w="25400">
            <a:solidFill>
              <a:srgbClr val="CC3300"/>
            </a:solidFill>
            <a:prstDash val="sysDot"/>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grpSp>
        <p:nvGrpSpPr>
          <p:cNvPr id="3" name="Group 73"/>
          <p:cNvGrpSpPr>
            <a:grpSpLocks/>
          </p:cNvGrpSpPr>
          <p:nvPr/>
        </p:nvGrpSpPr>
        <p:grpSpPr bwMode="auto">
          <a:xfrm>
            <a:off x="6230938" y="5340350"/>
            <a:ext cx="450850" cy="612775"/>
            <a:chOff x="3925" y="3364"/>
            <a:chExt cx="284" cy="386"/>
          </a:xfrm>
        </p:grpSpPr>
        <p:sp>
          <p:nvSpPr>
            <p:cNvPr id="114753" name="Line 68"/>
            <p:cNvSpPr>
              <a:spLocks noChangeShapeType="1"/>
            </p:cNvSpPr>
            <p:nvPr/>
          </p:nvSpPr>
          <p:spPr bwMode="auto">
            <a:xfrm rot="-5400000">
              <a:off x="4067" y="3222"/>
              <a:ext cx="0" cy="284"/>
            </a:xfrm>
            <a:prstGeom prst="line">
              <a:avLst/>
            </a:prstGeom>
            <a:noFill/>
            <a:ln w="25400">
              <a:solidFill>
                <a:srgbClr val="CC3300"/>
              </a:solidFill>
              <a:prstDash val="sysDot"/>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1" i="0" u="none" strike="noStrike" kern="1200" cap="none" spc="0" normalizeH="0" baseline="0" noProof="0">
                <a:ln>
                  <a:noFill/>
                </a:ln>
                <a:solidFill>
                  <a:prstClr val="black"/>
                </a:solidFill>
                <a:effectLst/>
                <a:uLnTx/>
                <a:uFillTx/>
                <a:latin typeface="Arial" charset="0"/>
                <a:ea typeface="+mn-ea"/>
                <a:cs typeface="+mn-cs"/>
              </a:endParaRPr>
            </a:p>
          </p:txBody>
        </p:sp>
        <p:sp>
          <p:nvSpPr>
            <p:cNvPr id="114754" name="Line 69"/>
            <p:cNvSpPr>
              <a:spLocks noChangeShapeType="1"/>
            </p:cNvSpPr>
            <p:nvPr/>
          </p:nvSpPr>
          <p:spPr bwMode="auto">
            <a:xfrm>
              <a:off x="3926" y="3378"/>
              <a:ext cx="0" cy="372"/>
            </a:xfrm>
            <a:prstGeom prst="line">
              <a:avLst/>
            </a:prstGeom>
            <a:noFill/>
            <a:ln w="25400">
              <a:solidFill>
                <a:srgbClr val="CC3300"/>
              </a:solidFill>
              <a:prstDash val="sysDot"/>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1" i="0" u="none" strike="noStrike" kern="1200" cap="none" spc="0" normalizeH="0" baseline="0" noProof="0">
                <a:ln>
                  <a:noFill/>
                </a:ln>
                <a:solidFill>
                  <a:prstClr val="black"/>
                </a:solidFill>
                <a:effectLst/>
                <a:uLnTx/>
                <a:uFillTx/>
                <a:latin typeface="Arial" charset="0"/>
                <a:ea typeface="+mn-ea"/>
                <a:cs typeface="+mn-cs"/>
              </a:endParaRPr>
            </a:p>
          </p:txBody>
        </p:sp>
      </p:grpSp>
      <p:sp>
        <p:nvSpPr>
          <p:cNvPr id="114749" name="Rectangle 70"/>
          <p:cNvSpPr>
            <a:spLocks noChangeArrowheads="1"/>
          </p:cNvSpPr>
          <p:nvPr/>
        </p:nvSpPr>
        <p:spPr bwMode="auto">
          <a:xfrm>
            <a:off x="5095875" y="5091113"/>
            <a:ext cx="514350" cy="444216"/>
          </a:xfrm>
          <a:prstGeom prst="rect">
            <a:avLst/>
          </a:prstGeom>
          <a:solidFill>
            <a:srgbClr val="CC3300"/>
          </a:solidFill>
          <a:ln w="9525">
            <a:noFill/>
            <a:miter lim="800000"/>
            <a:headEnd/>
            <a:tailEnd/>
          </a:ln>
        </p:spPr>
        <p:txBody>
          <a:bodyPr lIns="72000" tIns="82800" rIns="72000" bIns="8280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rPr>
              <a:t>I</a:t>
            </a:r>
            <a:r>
              <a:rPr kumimoji="0" lang="tr-TR" sz="1800" b="1" i="0" u="none" strike="noStrike" kern="1200" cap="none" spc="0" normalizeH="0" baseline="-25000" noProof="0">
                <a:ln>
                  <a:noFill/>
                </a:ln>
                <a:solidFill>
                  <a:prstClr val="white"/>
                </a:solidFill>
                <a:effectLst/>
                <a:uLnTx/>
                <a:uFillTx/>
                <a:latin typeface="Arial Narrow" pitchFamily="34" charset="0"/>
                <a:ea typeface="+mn-ea"/>
                <a:cs typeface="+mn-cs"/>
              </a:rPr>
              <a:t>max</a:t>
            </a:r>
            <a:endParaRPr kumimoji="0" lang="en-US" sz="1800" b="1" i="0" u="none" strike="noStrike" kern="1200" cap="none" spc="0" normalizeH="0" baseline="-25000" noProof="0">
              <a:ln>
                <a:noFill/>
              </a:ln>
              <a:solidFill>
                <a:prstClr val="white"/>
              </a:solidFill>
              <a:effectLst/>
              <a:uLnTx/>
              <a:uFillTx/>
              <a:latin typeface="Arial Narrow" pitchFamily="34" charset="0"/>
              <a:ea typeface="+mn-ea"/>
              <a:cs typeface="+mn-cs"/>
            </a:endParaRPr>
          </a:p>
        </p:txBody>
      </p:sp>
      <p:sp>
        <p:nvSpPr>
          <p:cNvPr id="114750" name="Rectangle 74"/>
          <p:cNvSpPr>
            <a:spLocks noChangeArrowheads="1"/>
          </p:cNvSpPr>
          <p:nvPr/>
        </p:nvSpPr>
        <p:spPr bwMode="auto">
          <a:xfrm>
            <a:off x="-7938" y="2157413"/>
            <a:ext cx="4376738" cy="1420812"/>
          </a:xfrm>
          <a:prstGeom prst="rect">
            <a:avLst/>
          </a:prstGeom>
          <a:solidFill>
            <a:srgbClr val="000066"/>
          </a:solidFill>
          <a:ln w="9525">
            <a:noFill/>
            <a:miter lim="800000"/>
            <a:headEnd/>
            <a:tailEnd/>
          </a:ln>
        </p:spPr>
        <p:txBody>
          <a:bodyPr tIns="154800" bIns="154800">
            <a:spAutoFit/>
          </a:body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V</a:t>
            </a:r>
            <a:r>
              <a:rPr kumimoji="0" lang="tr-TR" sz="2000" b="1" i="0" u="none" strike="noStrike" kern="1200" cap="none" spc="0" normalizeH="0" baseline="-25000" noProof="0">
                <a:ln>
                  <a:noFill/>
                </a:ln>
                <a:solidFill>
                  <a:srgbClr val="FFFF00"/>
                </a:solidFill>
                <a:effectLst/>
                <a:uLnTx/>
                <a:uFillTx/>
                <a:latin typeface="Arial Narrow" pitchFamily="34" charset="0"/>
                <a:ea typeface="+mn-ea"/>
                <a:cs typeface="+mn-cs"/>
              </a:rPr>
              <a:t>R</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 R </a:t>
            </a:r>
            <a:r>
              <a:rPr kumimoji="0" lang="tr-TR" sz="1400" b="1" i="0" u="none" strike="noStrike" kern="1200" cap="none" spc="0" normalizeH="0" baseline="0" noProof="0">
                <a:ln>
                  <a:noFill/>
                </a:ln>
                <a:solidFill>
                  <a:srgbClr val="FFFF00"/>
                </a:solidFill>
                <a:effectLst/>
                <a:uLnTx/>
                <a:uFillTx/>
                <a:latin typeface="Arial Narrow" pitchFamily="34" charset="0"/>
                <a:ea typeface="+mn-ea"/>
                <a:cs typeface="+mn-cs"/>
              </a:rPr>
              <a:t>x</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I</a:t>
            </a:r>
            <a:r>
              <a:rPr kumimoji="0" lang="tr-TR" sz="2000" b="1" i="0" u="none" strike="noStrike" kern="1200" cap="none" spc="0" normalizeH="0" baseline="-25000" noProof="0">
                <a:ln>
                  <a:noFill/>
                </a:ln>
                <a:solidFill>
                  <a:srgbClr val="FFFF00"/>
                </a:solidFill>
                <a:effectLst/>
                <a:uLnTx/>
                <a:uFillTx/>
                <a:latin typeface="Arial Narrow" pitchFamily="34" charset="0"/>
                <a:ea typeface="+mn-ea"/>
                <a:cs typeface="+mn-cs"/>
              </a:rPr>
              <a:t>DC</a:t>
            </a:r>
            <a:endPar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P</a:t>
            </a:r>
            <a:r>
              <a:rPr kumimoji="0" lang="tr-TR" sz="2000" b="1" i="0" u="none" strike="noStrike" kern="1200" cap="none" spc="0" normalizeH="0" baseline="-25000" noProof="0">
                <a:ln>
                  <a:noFill/>
                </a:ln>
                <a:solidFill>
                  <a:srgbClr val="FFFF00"/>
                </a:solidFill>
                <a:effectLst/>
                <a:uLnTx/>
                <a:uFillTx/>
                <a:latin typeface="Arial Narrow" pitchFamily="34" charset="0"/>
                <a:ea typeface="+mn-ea"/>
                <a:cs typeface="+mn-cs"/>
              </a:rPr>
              <a:t>DC</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 V</a:t>
            </a:r>
            <a:r>
              <a:rPr kumimoji="0" lang="tr-TR" sz="2000" b="1" i="0" u="none" strike="noStrike" kern="1200" cap="none" spc="0" normalizeH="0" baseline="-25000" noProof="0">
                <a:ln>
                  <a:noFill/>
                </a:ln>
                <a:solidFill>
                  <a:srgbClr val="FFFF00"/>
                </a:solidFill>
                <a:effectLst/>
                <a:uLnTx/>
                <a:uFillTx/>
                <a:latin typeface="Arial Narrow" pitchFamily="34" charset="0"/>
                <a:ea typeface="+mn-ea"/>
                <a:cs typeface="+mn-cs"/>
              </a:rPr>
              <a:t>R</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a:t>
            </a:r>
            <a:r>
              <a:rPr kumimoji="0" lang="tr-TR" sz="1400" b="1" i="0" u="none" strike="noStrike" kern="1200" cap="none" spc="0" normalizeH="0" baseline="0" noProof="0">
                <a:ln>
                  <a:noFill/>
                </a:ln>
                <a:solidFill>
                  <a:srgbClr val="FFFF00"/>
                </a:solidFill>
                <a:effectLst/>
                <a:uLnTx/>
                <a:uFillTx/>
                <a:latin typeface="Arial Narrow" pitchFamily="34" charset="0"/>
                <a:ea typeface="+mn-ea"/>
                <a:cs typeface="+mn-cs"/>
              </a:rPr>
              <a:t>x</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I</a:t>
            </a:r>
            <a:r>
              <a:rPr kumimoji="0" lang="tr-TR" sz="2000" b="1" i="0" u="none" strike="noStrike" kern="1200" cap="none" spc="0" normalizeH="0" baseline="-25000" noProof="0">
                <a:ln>
                  <a:noFill/>
                </a:ln>
                <a:solidFill>
                  <a:srgbClr val="FFFF00"/>
                </a:solidFill>
                <a:effectLst/>
                <a:uLnTx/>
                <a:uFillTx/>
                <a:latin typeface="Arial Narrow" pitchFamily="34" charset="0"/>
                <a:ea typeface="+mn-ea"/>
                <a:cs typeface="+mn-cs"/>
              </a:rPr>
              <a:t>DC</a:t>
            </a:r>
            <a:endPar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endParaRPr>
          </a:p>
          <a:p>
            <a:pPr marL="0" marR="0" lvl="0" indent="0" algn="l" defTabSz="914400" rtl="0" eaLnBrk="1" fontAlgn="base" latinLnBrk="0" hangingPunct="1">
              <a:lnSpc>
                <a:spcPct val="120000"/>
              </a:lnSpc>
              <a:spcBef>
                <a:spcPct val="0"/>
              </a:spcBef>
              <a:spcAft>
                <a:spcPct val="0"/>
              </a:spcAft>
              <a:buClrTx/>
              <a:buSzTx/>
              <a:buFontTx/>
              <a:buNone/>
              <a:tabLst/>
              <a:defRPr/>
            </a:pP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 R </a:t>
            </a:r>
            <a:r>
              <a:rPr kumimoji="0" lang="tr-TR" sz="1400" b="1" i="0" u="none" strike="noStrike" kern="1200" cap="none" spc="0" normalizeH="0" baseline="0" noProof="0">
                <a:ln>
                  <a:noFill/>
                </a:ln>
                <a:solidFill>
                  <a:srgbClr val="FFFF00"/>
                </a:solidFill>
                <a:effectLst/>
                <a:uLnTx/>
                <a:uFillTx/>
                <a:latin typeface="Arial Narrow" pitchFamily="34" charset="0"/>
                <a:ea typeface="+mn-ea"/>
                <a:cs typeface="+mn-cs"/>
              </a:rPr>
              <a:t>x</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I</a:t>
            </a:r>
            <a:r>
              <a:rPr kumimoji="0" lang="tr-TR" sz="2000" b="1" i="0" u="none" strike="noStrike" kern="1200" cap="none" spc="0" normalizeH="0" baseline="-25000" noProof="0">
                <a:ln>
                  <a:noFill/>
                </a:ln>
                <a:solidFill>
                  <a:srgbClr val="FFFF00"/>
                </a:solidFill>
                <a:effectLst/>
                <a:uLnTx/>
                <a:uFillTx/>
                <a:latin typeface="Arial Narrow" pitchFamily="34" charset="0"/>
                <a:ea typeface="+mn-ea"/>
                <a:cs typeface="+mn-cs"/>
              </a:rPr>
              <a:t>DC</a:t>
            </a:r>
            <a:r>
              <a:rPr kumimoji="0" lang="tr-TR" sz="2000" b="1" i="0" u="none" strike="noStrike" kern="1200" cap="none" spc="0" normalizeH="0" baseline="30000" noProof="0">
                <a:ln>
                  <a:noFill/>
                </a:ln>
                <a:solidFill>
                  <a:srgbClr val="FFFF00"/>
                </a:solidFill>
                <a:effectLst/>
                <a:uLnTx/>
                <a:uFillTx/>
                <a:latin typeface="Arial Narrow" pitchFamily="34" charset="0"/>
                <a:ea typeface="+mn-ea"/>
                <a:cs typeface="+mn-cs"/>
              </a:rPr>
              <a:t>2</a:t>
            </a:r>
          </a:p>
        </p:txBody>
      </p:sp>
      <p:sp>
        <p:nvSpPr>
          <p:cNvPr id="114751" name="Rectangle 75"/>
          <p:cNvSpPr>
            <a:spLocks noChangeArrowheads="1"/>
          </p:cNvSpPr>
          <p:nvPr/>
        </p:nvSpPr>
        <p:spPr bwMode="auto">
          <a:xfrm>
            <a:off x="0" y="3582988"/>
            <a:ext cx="4364038" cy="1844675"/>
          </a:xfrm>
          <a:prstGeom prst="rect">
            <a:avLst/>
          </a:prstGeom>
          <a:solidFill>
            <a:srgbClr val="000066"/>
          </a:solidFill>
          <a:ln w="9525">
            <a:noFill/>
            <a:miter lim="800000"/>
            <a:headEnd/>
            <a:tailEnd/>
          </a:ln>
        </p:spPr>
        <p:txBody>
          <a:bodyPr tIns="154800" bIns="154800">
            <a:spAutoFit/>
          </a:bodyPr>
          <a:lstStyle/>
          <a:p>
            <a:pPr marL="177800" marR="0" lvl="0" indent="0" algn="l" defTabSz="914400" rtl="0" eaLnBrk="1" fontAlgn="base" latinLnBrk="0" hangingPunct="1">
              <a:lnSpc>
                <a:spcPct val="120000"/>
              </a:lnSpc>
              <a:spcBef>
                <a:spcPct val="0"/>
              </a:spcBef>
              <a:spcAft>
                <a:spcPct val="0"/>
              </a:spcAft>
              <a:buClrTx/>
              <a:buSzTx/>
              <a:buFontTx/>
              <a:buNone/>
              <a:tabLst/>
              <a:defRPr/>
            </a:pP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V</a:t>
            </a:r>
            <a:r>
              <a:rPr kumimoji="0" lang="tr-TR" sz="2000" b="1" i="0" u="none" strike="noStrike" kern="1200" cap="none" spc="0" normalizeH="0" baseline="-25000" noProof="0">
                <a:ln>
                  <a:noFill/>
                </a:ln>
                <a:solidFill>
                  <a:srgbClr val="FFFF00"/>
                </a:solidFill>
                <a:effectLst/>
                <a:uLnTx/>
                <a:uFillTx/>
                <a:latin typeface="Arial Narrow" pitchFamily="34" charset="0"/>
                <a:ea typeface="+mn-ea"/>
                <a:cs typeface="+mn-cs"/>
              </a:rPr>
              <a:t>R</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(t)  </a:t>
            </a:r>
            <a:r>
              <a:rPr kumimoji="0" lang="tr-TR" sz="2400" b="1" i="0" u="none" strike="noStrike" kern="1200" cap="none" spc="0" normalizeH="0" baseline="0" noProof="0">
                <a:ln>
                  <a:noFill/>
                </a:ln>
                <a:solidFill>
                  <a:srgbClr val="FFFF00"/>
                </a:solidFill>
                <a:effectLst/>
                <a:uLnTx/>
                <a:uFillTx/>
                <a:latin typeface="Arial Narrow" pitchFamily="34" charset="0"/>
                <a:ea typeface="+mn-ea"/>
                <a:cs typeface="+mn-cs"/>
              </a:rPr>
              <a:t> </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R </a:t>
            </a:r>
            <a:r>
              <a:rPr kumimoji="0" lang="tr-TR" sz="1400" b="1" i="0" u="none" strike="noStrike" kern="1200" cap="none" spc="0" normalizeH="0" baseline="0" noProof="0">
                <a:ln>
                  <a:noFill/>
                </a:ln>
                <a:solidFill>
                  <a:srgbClr val="FFFF00"/>
                </a:solidFill>
                <a:effectLst/>
                <a:uLnTx/>
                <a:uFillTx/>
                <a:latin typeface="Arial" charset="0"/>
                <a:ea typeface="+mn-ea"/>
                <a:cs typeface="+mn-cs"/>
              </a:rPr>
              <a:t>x</a:t>
            </a:r>
            <a:r>
              <a:rPr kumimoji="0" lang="tr-TR" sz="2000" b="1" i="0" u="none" strike="noStrike" kern="1200" cap="none" spc="0" normalizeH="0" baseline="0" noProof="0">
                <a:ln>
                  <a:noFill/>
                </a:ln>
                <a:solidFill>
                  <a:srgbClr val="FFFF00"/>
                </a:solidFill>
                <a:effectLst/>
                <a:uLnTx/>
                <a:uFillTx/>
                <a:latin typeface="Arial" charset="0"/>
                <a:ea typeface="+mn-ea"/>
                <a:cs typeface="+mn-cs"/>
              </a:rPr>
              <a:t> </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I(t) 	</a:t>
            </a:r>
          </a:p>
          <a:p>
            <a:pPr marL="177800" marR="0" lvl="0" indent="0" algn="l" defTabSz="914400" rtl="0" eaLnBrk="1" fontAlgn="base" latinLnBrk="0" hangingPunct="1">
              <a:lnSpc>
                <a:spcPct val="120000"/>
              </a:lnSpc>
              <a:spcBef>
                <a:spcPct val="0"/>
              </a:spcBef>
              <a:spcAft>
                <a:spcPct val="0"/>
              </a:spcAft>
              <a:buClrTx/>
              <a:buSzTx/>
              <a:buFontTx/>
              <a:buNone/>
              <a:tabLst/>
              <a:defRPr/>
            </a:pP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P</a:t>
            </a:r>
            <a:r>
              <a:rPr kumimoji="0" lang="tr-TR" sz="2000" b="1" i="0" u="none" strike="noStrike" kern="1200" cap="none" spc="0" normalizeH="0" baseline="-25000" noProof="0">
                <a:ln>
                  <a:noFill/>
                </a:ln>
                <a:solidFill>
                  <a:srgbClr val="FFFF00"/>
                </a:solidFill>
                <a:effectLst/>
                <a:uLnTx/>
                <a:uFillTx/>
                <a:latin typeface="Arial Narrow" pitchFamily="34" charset="0"/>
                <a:ea typeface="+mn-ea"/>
                <a:cs typeface="+mn-cs"/>
              </a:rPr>
              <a:t>AC</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(t) </a:t>
            </a:r>
            <a:r>
              <a:rPr kumimoji="0" lang="tr-TR" sz="1800" b="1" i="0" u="none" strike="noStrike" kern="1200" cap="none" spc="0" normalizeH="0" baseline="0" noProof="0">
                <a:ln>
                  <a:noFill/>
                </a:ln>
                <a:solidFill>
                  <a:srgbClr val="FFFF00"/>
                </a:solidFill>
                <a:effectLst/>
                <a:uLnTx/>
                <a:uFillTx/>
                <a:latin typeface="Arial Narrow" pitchFamily="34" charset="0"/>
                <a:ea typeface="+mn-ea"/>
                <a:cs typeface="+mn-cs"/>
              </a:rPr>
              <a:t> </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V(t) </a:t>
            </a:r>
            <a:r>
              <a:rPr kumimoji="0" lang="tr-TR" sz="1400" b="1" i="0" u="none" strike="noStrike" kern="1200" cap="none" spc="0" normalizeH="0" baseline="0" noProof="0">
                <a:ln>
                  <a:noFill/>
                </a:ln>
                <a:solidFill>
                  <a:srgbClr val="FFFF00"/>
                </a:solidFill>
                <a:effectLst/>
                <a:uLnTx/>
                <a:uFillTx/>
                <a:latin typeface="Arial Narrow" pitchFamily="34" charset="0"/>
                <a:ea typeface="+mn-ea"/>
                <a:cs typeface="+mn-cs"/>
              </a:rPr>
              <a:t>x</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I(t)</a:t>
            </a:r>
          </a:p>
          <a:p>
            <a:pPr marL="177800" marR="0" lvl="0" indent="0" algn="l" defTabSz="914400" rtl="0" eaLnBrk="1" fontAlgn="base" latinLnBrk="0" hangingPunct="1">
              <a:lnSpc>
                <a:spcPct val="120000"/>
              </a:lnSpc>
              <a:spcBef>
                <a:spcPct val="0"/>
              </a:spcBef>
              <a:spcAft>
                <a:spcPct val="0"/>
              </a:spcAft>
              <a:buClrTx/>
              <a:buSzTx/>
              <a:buFontTx/>
              <a:buNone/>
              <a:tabLst/>
              <a:defRPr/>
            </a:pP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 R I(t)</a:t>
            </a:r>
            <a:r>
              <a:rPr kumimoji="0" lang="tr-TR" sz="2000" b="1" i="0" u="none" strike="noStrike" kern="1200" cap="none" spc="0" normalizeH="0" baseline="30000" noProof="0">
                <a:ln>
                  <a:noFill/>
                </a:ln>
                <a:solidFill>
                  <a:srgbClr val="FFFF00"/>
                </a:solidFill>
                <a:effectLst/>
                <a:uLnTx/>
                <a:uFillTx/>
                <a:latin typeface="Arial Narrow" pitchFamily="34" charset="0"/>
                <a:ea typeface="+mn-ea"/>
                <a:cs typeface="+mn-cs"/>
              </a:rPr>
              <a:t>2 </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R ((V</a:t>
            </a:r>
            <a:r>
              <a:rPr kumimoji="0" lang="tr-TR" sz="2000" b="1" i="0" u="none" strike="noStrike" kern="1200" cap="none" spc="0" normalizeH="0" baseline="-25000" noProof="0">
                <a:ln>
                  <a:noFill/>
                </a:ln>
                <a:solidFill>
                  <a:srgbClr val="FFFF00"/>
                </a:solidFill>
                <a:effectLst/>
                <a:uLnTx/>
                <a:uFillTx/>
                <a:latin typeface="Arial Narrow" pitchFamily="34" charset="0"/>
                <a:ea typeface="+mn-ea"/>
                <a:cs typeface="+mn-cs"/>
              </a:rPr>
              <a:t>max</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 R) sin wt )</a:t>
            </a:r>
            <a:r>
              <a:rPr kumimoji="0" lang="tr-TR" sz="2000" b="1" i="0" u="none" strike="noStrike" kern="1200" cap="none" spc="0" normalizeH="0" baseline="30000" noProof="0">
                <a:ln>
                  <a:noFill/>
                </a:ln>
                <a:solidFill>
                  <a:srgbClr val="FFFF00"/>
                </a:solidFill>
                <a:effectLst/>
                <a:uLnTx/>
                <a:uFillTx/>
                <a:latin typeface="Arial Narrow" pitchFamily="34" charset="0"/>
                <a:ea typeface="+mn-ea"/>
                <a:cs typeface="+mn-cs"/>
              </a:rPr>
              <a:t>2</a:t>
            </a:r>
            <a:endPar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endParaRPr>
          </a:p>
          <a:p>
            <a:pPr marL="177800" marR="0" lvl="0" indent="0" algn="l" defTabSz="914400" rtl="0" eaLnBrk="1" fontAlgn="base" latinLnBrk="0" hangingPunct="1">
              <a:lnSpc>
                <a:spcPct val="120000"/>
              </a:lnSpc>
              <a:spcBef>
                <a:spcPct val="0"/>
              </a:spcBef>
              <a:spcAft>
                <a:spcPct val="0"/>
              </a:spcAft>
              <a:buClrTx/>
              <a:buSzTx/>
              <a:buFontTx/>
              <a:buNone/>
              <a:tabLst/>
              <a:defRPr/>
            </a:pP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            = R (I </a:t>
            </a:r>
            <a:r>
              <a:rPr kumimoji="0" lang="tr-TR" sz="2000" b="1" i="0" u="none" strike="noStrike" kern="1200" cap="none" spc="0" normalizeH="0" baseline="-25000" noProof="0">
                <a:ln>
                  <a:noFill/>
                </a:ln>
                <a:solidFill>
                  <a:srgbClr val="FFFF00"/>
                </a:solidFill>
                <a:effectLst/>
                <a:uLnTx/>
                <a:uFillTx/>
                <a:latin typeface="Arial Narrow" pitchFamily="34" charset="0"/>
                <a:ea typeface="+mn-ea"/>
                <a:cs typeface="+mn-cs"/>
              </a:rPr>
              <a:t>max </a:t>
            </a:r>
            <a:r>
              <a:rPr kumimoji="0" lang="tr-TR" sz="2000" b="1" i="0" u="none" strike="noStrike" kern="1200" cap="none" spc="0" normalizeH="0" baseline="0" noProof="0">
                <a:ln>
                  <a:noFill/>
                </a:ln>
                <a:solidFill>
                  <a:srgbClr val="FFFF00"/>
                </a:solidFill>
                <a:effectLst/>
                <a:uLnTx/>
                <a:uFillTx/>
                <a:latin typeface="Arial Narrow" pitchFamily="34" charset="0"/>
                <a:ea typeface="+mn-ea"/>
                <a:cs typeface="+mn-cs"/>
              </a:rPr>
              <a:t>sin wt )</a:t>
            </a:r>
            <a:r>
              <a:rPr kumimoji="0" lang="tr-TR" sz="2000" b="1" i="0" u="none" strike="noStrike" kern="1200" cap="none" spc="0" normalizeH="0" baseline="30000" noProof="0">
                <a:ln>
                  <a:noFill/>
                </a:ln>
                <a:solidFill>
                  <a:srgbClr val="FFFF00"/>
                </a:solidFill>
                <a:effectLst/>
                <a:uLnTx/>
                <a:uFillTx/>
                <a:latin typeface="Arial Narrow" pitchFamily="34" charset="0"/>
                <a:ea typeface="+mn-ea"/>
                <a:cs typeface="+mn-cs"/>
              </a:rPr>
              <a:t>2</a:t>
            </a:r>
          </a:p>
        </p:txBody>
      </p:sp>
      <p:sp>
        <p:nvSpPr>
          <p:cNvPr id="114752" name="Oval 76"/>
          <p:cNvSpPr>
            <a:spLocks noChangeArrowheads="1"/>
          </p:cNvSpPr>
          <p:nvPr/>
        </p:nvSpPr>
        <p:spPr bwMode="auto">
          <a:xfrm>
            <a:off x="6791325" y="3173413"/>
            <a:ext cx="422275" cy="433387"/>
          </a:xfrm>
          <a:prstGeom prst="ellipse">
            <a:avLst/>
          </a:prstGeom>
          <a:solidFill>
            <a:srgbClr val="FFFFFF"/>
          </a:solidFill>
          <a:ln w="25400">
            <a:solidFill>
              <a:srgbClr val="CC33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71" name="Rectangle 4"/>
          <p:cNvSpPr>
            <a:spLocks noChangeArrowheads="1"/>
          </p:cNvSpPr>
          <p:nvPr/>
        </p:nvSpPr>
        <p:spPr bwMode="auto">
          <a:xfrm>
            <a:off x="3124200" y="114300"/>
            <a:ext cx="1820563" cy="52322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800" b="0" i="0" u="none" strike="noStrike" kern="1200" cap="none" spc="0" normalizeH="0" baseline="0" noProof="0" dirty="0">
                <a:ln>
                  <a:noFill/>
                </a:ln>
                <a:solidFill>
                  <a:prstClr val="black"/>
                </a:solidFill>
                <a:effectLst/>
                <a:uLnTx/>
                <a:uFillTx/>
                <a:latin typeface="Calibri"/>
                <a:ea typeface="+mn-ea"/>
                <a:cs typeface="+mn-cs"/>
              </a:rPr>
              <a:t>RMS Value </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2"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Ali </a:t>
            </a:r>
            <a:r>
              <a:rPr kumimoji="0" lang="en-US" sz="1200" b="0" i="0" u="none" strike="noStrike" kern="1200" cap="none" spc="0" normalizeH="0" baseline="0" noProof="0" dirty="0" err="1">
                <a:ln>
                  <a:noFill/>
                </a:ln>
                <a:solidFill>
                  <a:prstClr val="black">
                    <a:tint val="75000"/>
                  </a:prstClr>
                </a:solidFill>
                <a:effectLst/>
                <a:uLnTx/>
                <a:uFillTx/>
                <a:latin typeface="Calibri"/>
                <a:ea typeface="+mn-ea"/>
                <a:cs typeface="+mn-cs"/>
              </a:rPr>
              <a:t>Muhtaroğlu</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3" name="Slide Number Placeholder 12"/>
          <p:cNvSpPr>
            <a:spLocks noGrp="1"/>
          </p:cNvSpPr>
          <p:nvPr>
            <p:ph type="sldNum" sz="quarter" idx="11"/>
          </p:nvPr>
        </p:nvSpPr>
        <p:spPr>
          <a:xfrm>
            <a:off x="8267700" y="6477000"/>
            <a:ext cx="8763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7CEED-90C7-4FD0-AB8C-14085BB9151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47829424"/>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Line 135"/>
          <p:cNvSpPr>
            <a:spLocks noChangeShapeType="1"/>
          </p:cNvSpPr>
          <p:nvPr/>
        </p:nvSpPr>
        <p:spPr bwMode="auto">
          <a:xfrm>
            <a:off x="4102100" y="3375025"/>
            <a:ext cx="0" cy="1263650"/>
          </a:xfrm>
          <a:prstGeom prst="line">
            <a:avLst/>
          </a:prstGeom>
          <a:noFill/>
          <a:ln w="25400">
            <a:solidFill>
              <a:srgbClr val="CC3300"/>
            </a:solidFill>
            <a:prstDash val="sysDot"/>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pic>
        <p:nvPicPr>
          <p:cNvPr id="123907" name="Picture 251" descr="magic"/>
          <p:cNvPicPr>
            <a:picLocks noChangeAspect="1" noChangeArrowheads="1"/>
          </p:cNvPicPr>
          <p:nvPr/>
        </p:nvPicPr>
        <p:blipFill>
          <a:blip r:embed="rId3" cstate="print"/>
          <a:srcRect/>
          <a:stretch>
            <a:fillRect/>
          </a:stretch>
        </p:blipFill>
        <p:spPr bwMode="auto">
          <a:xfrm>
            <a:off x="0" y="0"/>
            <a:ext cx="127000" cy="127000"/>
          </a:xfrm>
          <a:prstGeom prst="rect">
            <a:avLst/>
          </a:prstGeom>
          <a:noFill/>
          <a:ln w="9525">
            <a:noFill/>
            <a:miter lim="800000"/>
            <a:headEnd/>
            <a:tailEnd/>
          </a:ln>
        </p:spPr>
      </p:pic>
      <p:sp>
        <p:nvSpPr>
          <p:cNvPr id="123908" name="Rectangle 3"/>
          <p:cNvSpPr>
            <a:spLocks noChangeArrowheads="1"/>
          </p:cNvSpPr>
          <p:nvPr/>
        </p:nvSpPr>
        <p:spPr bwMode="auto">
          <a:xfrm>
            <a:off x="0" y="1371600"/>
            <a:ext cx="4552950" cy="573088"/>
          </a:xfrm>
          <a:prstGeom prst="rect">
            <a:avLst/>
          </a:prstGeom>
          <a:solidFill>
            <a:srgbClr val="000066"/>
          </a:solidFill>
          <a:ln w="9525" algn="ctr">
            <a:noFill/>
            <a:miter lim="800000"/>
            <a:headEnd/>
            <a:tailEnd/>
          </a:ln>
        </p:spPr>
        <p:txBody>
          <a:bodyPr lIns="54000" tIns="118800" rIns="54000" bIns="118800">
            <a:spAutoFit/>
          </a:bodyPr>
          <a:lstStyle/>
          <a:p>
            <a:pPr marL="0" marR="0" lvl="0" indent="4763" algn="ctr" defTabSz="914400" rtl="0" eaLnBrk="1" fontAlgn="base" latinLnBrk="0" hangingPunct="1">
              <a:lnSpc>
                <a:spcPct val="100000"/>
              </a:lnSpc>
              <a:spcBef>
                <a:spcPct val="0"/>
              </a:spcBef>
              <a:spcAft>
                <a:spcPct val="0"/>
              </a:spcAft>
              <a:buClrTx/>
              <a:buSzTx/>
              <a:buFontTx/>
              <a:buNone/>
              <a:tabLst/>
              <a:defRPr/>
            </a:pPr>
            <a:r>
              <a:rPr kumimoji="0" lang="tr-TR" sz="2200" b="1" i="0" u="none" strike="noStrike" kern="1200" cap="none" spc="0" normalizeH="0" baseline="0" noProof="0">
                <a:ln>
                  <a:noFill/>
                </a:ln>
                <a:solidFill>
                  <a:srgbClr val="FFFF00"/>
                </a:solidFill>
                <a:effectLst/>
                <a:uLnTx/>
                <a:uFillTx/>
                <a:latin typeface="Arial Black" pitchFamily="34" charset="0"/>
                <a:ea typeface="+mn-ea"/>
                <a:cs typeface="+mn-cs"/>
              </a:rPr>
              <a:t>Definition </a:t>
            </a:r>
            <a:endParaRPr kumimoji="0" lang="en-US" sz="2200" b="1" i="0" u="none" strike="noStrike" kern="1200" cap="none" spc="0" normalizeH="0" baseline="0" noProof="0">
              <a:ln>
                <a:noFill/>
              </a:ln>
              <a:solidFill>
                <a:srgbClr val="FFFF00"/>
              </a:solidFill>
              <a:effectLst/>
              <a:uLnTx/>
              <a:uFillTx/>
              <a:latin typeface="Arial Black" pitchFamily="34" charset="0"/>
              <a:ea typeface="+mn-ea"/>
              <a:cs typeface="+mn-cs"/>
            </a:endParaRPr>
          </a:p>
        </p:txBody>
      </p:sp>
      <p:sp>
        <p:nvSpPr>
          <p:cNvPr id="123909" name="Rectangle 4"/>
          <p:cNvSpPr>
            <a:spLocks noChangeArrowheads="1"/>
          </p:cNvSpPr>
          <p:nvPr/>
        </p:nvSpPr>
        <p:spPr bwMode="auto">
          <a:xfrm>
            <a:off x="0" y="1974850"/>
            <a:ext cx="4552950" cy="1213658"/>
          </a:xfrm>
          <a:prstGeom prst="rect">
            <a:avLst/>
          </a:prstGeom>
          <a:solidFill>
            <a:srgbClr val="000066"/>
          </a:solidFill>
          <a:ln w="9525">
            <a:noFill/>
            <a:miter lim="800000"/>
            <a:headEnd/>
            <a:tailEnd/>
          </a:ln>
        </p:spPr>
        <p:txBody>
          <a:bodyPr tIns="82800" bIns="82800">
            <a:spAutoFit/>
          </a:bodyPr>
          <a:lstStyle/>
          <a:p>
            <a:pPr marL="177800" marR="0" lvl="0" indent="0" algn="l" defTabSz="914400" rtl="0" eaLnBrk="1" fontAlgn="base" latinLnBrk="0" hangingPunct="1">
              <a:lnSpc>
                <a:spcPct val="85000"/>
              </a:lnSpc>
              <a:spcBef>
                <a:spcPct val="0"/>
              </a:spcBef>
              <a:spcAft>
                <a:spcPct val="0"/>
              </a:spcAft>
              <a:buClrTx/>
              <a:buSzTx/>
              <a:buFontTx/>
              <a:buNone/>
              <a:tabLst/>
              <a:defRPr/>
            </a:pPr>
            <a:r>
              <a:rPr kumimoji="0" lang="tr-TR" sz="2000" b="1" i="0" u="sng" strike="noStrike" kern="1200" cap="none" spc="0" normalizeH="0" baseline="0" noProof="0">
                <a:ln>
                  <a:noFill/>
                </a:ln>
                <a:solidFill>
                  <a:srgbClr val="FFFF00"/>
                </a:solidFill>
                <a:effectLst/>
                <a:uLnTx/>
                <a:uFillTx/>
                <a:latin typeface="Arial Narrow" pitchFamily="34" charset="0"/>
                <a:ea typeface="+mn-ea"/>
                <a:cs typeface="+mn-cs"/>
              </a:rPr>
              <a:t>RMS value of an AC current is the value  of DC current that would dissipate the same amount of power as AC current on  a resistance R</a:t>
            </a:r>
            <a:endParaRPr kumimoji="0" lang="tr-TR" sz="2000" b="1" i="0" u="sng" strike="noStrike" kern="1200" cap="none" spc="0" normalizeH="0" baseline="30000" noProof="0">
              <a:ln>
                <a:noFill/>
              </a:ln>
              <a:solidFill>
                <a:srgbClr val="FFFF00"/>
              </a:solidFill>
              <a:effectLst/>
              <a:uLnTx/>
              <a:uFillTx/>
              <a:latin typeface="Arial Narrow" pitchFamily="34" charset="0"/>
              <a:ea typeface="+mn-ea"/>
              <a:cs typeface="+mn-cs"/>
            </a:endParaRPr>
          </a:p>
        </p:txBody>
      </p:sp>
      <p:sp>
        <p:nvSpPr>
          <p:cNvPr id="123910" name="Line 70"/>
          <p:cNvSpPr>
            <a:spLocks noChangeShapeType="1"/>
          </p:cNvSpPr>
          <p:nvPr/>
        </p:nvSpPr>
        <p:spPr bwMode="auto">
          <a:xfrm flipV="1">
            <a:off x="674688" y="4135438"/>
            <a:ext cx="1508125" cy="735012"/>
          </a:xfrm>
          <a:prstGeom prst="line">
            <a:avLst/>
          </a:prstGeom>
          <a:noFill/>
          <a:ln w="25400">
            <a:noFill/>
            <a:round/>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11" name="Line 71"/>
          <p:cNvSpPr>
            <a:spLocks noChangeShapeType="1"/>
          </p:cNvSpPr>
          <p:nvPr/>
        </p:nvSpPr>
        <p:spPr bwMode="auto">
          <a:xfrm flipH="1">
            <a:off x="2012950" y="4221163"/>
            <a:ext cx="3175" cy="60325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12" name="Text Box 72"/>
          <p:cNvSpPr txBox="1">
            <a:spLocks noChangeArrowheads="1"/>
          </p:cNvSpPr>
          <p:nvPr/>
        </p:nvSpPr>
        <p:spPr bwMode="auto">
          <a:xfrm rot="10800000">
            <a:off x="1712913" y="5411788"/>
            <a:ext cx="250825" cy="439737"/>
          </a:xfrm>
          <a:prstGeom prst="rect">
            <a:avLst/>
          </a:prstGeom>
          <a:noFill/>
          <a:ln w="25400">
            <a:noFill/>
            <a:miter lim="800000"/>
            <a:headEnd/>
            <a:tailEnd/>
          </a:ln>
        </p:spPr>
        <p:txBody>
          <a:bodyPr bIns="1188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800" b="0" i="0" u="none" strike="noStrike" kern="1200" cap="none" spc="0" normalizeH="0" baseline="0" noProof="0">
                <a:ln>
                  <a:noFill/>
                </a:ln>
                <a:solidFill>
                  <a:prstClr val="black"/>
                </a:solidFill>
                <a:effectLst/>
                <a:uLnTx/>
                <a:uFillTx/>
                <a:latin typeface="Arial" charset="0"/>
                <a:ea typeface="+mn-ea"/>
                <a:cs typeface="+mn-cs"/>
              </a:rPr>
              <a:t>_</a:t>
            </a:r>
            <a:endParaRPr kumimoji="0" lang="en-US"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13" name="Line 73"/>
          <p:cNvSpPr>
            <a:spLocks noChangeShapeType="1"/>
          </p:cNvSpPr>
          <p:nvPr/>
        </p:nvSpPr>
        <p:spPr bwMode="auto">
          <a:xfrm>
            <a:off x="2016125" y="5451475"/>
            <a:ext cx="0" cy="73660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14" name="Line 74"/>
          <p:cNvSpPr>
            <a:spLocks noChangeShapeType="1"/>
          </p:cNvSpPr>
          <p:nvPr/>
        </p:nvSpPr>
        <p:spPr bwMode="auto">
          <a:xfrm rot="5400000" flipH="1">
            <a:off x="35719" y="4583907"/>
            <a:ext cx="744537"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15" name="Line 75"/>
          <p:cNvSpPr>
            <a:spLocks noChangeShapeType="1"/>
          </p:cNvSpPr>
          <p:nvPr/>
        </p:nvSpPr>
        <p:spPr bwMode="auto">
          <a:xfrm rot="5400000" flipH="1">
            <a:off x="25400" y="5800726"/>
            <a:ext cx="790575"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16" name="Text Box 77"/>
          <p:cNvSpPr txBox="1">
            <a:spLocks noChangeArrowheads="1"/>
          </p:cNvSpPr>
          <p:nvPr/>
        </p:nvSpPr>
        <p:spPr bwMode="auto">
          <a:xfrm>
            <a:off x="379413" y="4619625"/>
            <a:ext cx="331787" cy="396875"/>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prstClr val="black"/>
                </a:solidFill>
                <a:effectLst/>
                <a:uLnTx/>
                <a:uFillTx/>
                <a:latin typeface="Arial" charset="0"/>
                <a:ea typeface="+mn-ea"/>
                <a:cs typeface="+mn-cs"/>
              </a:rPr>
              <a:t>+</a:t>
            </a:r>
            <a:endParaRPr kumimoji="0" lang="en-US" sz="20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17" name="Line 78"/>
          <p:cNvSpPr>
            <a:spLocks noChangeShapeType="1"/>
          </p:cNvSpPr>
          <p:nvPr/>
        </p:nvSpPr>
        <p:spPr bwMode="auto">
          <a:xfrm rot="10800000" flipH="1" flipV="1">
            <a:off x="420688" y="6189663"/>
            <a:ext cx="1595437"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18" name="Text Box 79"/>
          <p:cNvSpPr txBox="1">
            <a:spLocks noChangeArrowheads="1"/>
          </p:cNvSpPr>
          <p:nvPr/>
        </p:nvSpPr>
        <p:spPr bwMode="auto">
          <a:xfrm>
            <a:off x="927100" y="4254500"/>
            <a:ext cx="395288" cy="334963"/>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srgbClr val="000066"/>
                </a:solidFill>
                <a:effectLst/>
                <a:uLnTx/>
                <a:uFillTx/>
                <a:latin typeface="Arial Narrow" pitchFamily="34" charset="0"/>
                <a:ea typeface="+mn-ea"/>
                <a:cs typeface="+mn-cs"/>
              </a:rPr>
              <a:t>I</a:t>
            </a:r>
            <a:r>
              <a:rPr kumimoji="0" lang="tr-TR" sz="1600" b="0" i="0" u="none" strike="noStrike" kern="1200" cap="none" spc="0" normalizeH="0" baseline="-25000" noProof="0">
                <a:ln>
                  <a:noFill/>
                </a:ln>
                <a:solidFill>
                  <a:srgbClr val="000066"/>
                </a:solidFill>
                <a:effectLst/>
                <a:uLnTx/>
                <a:uFillTx/>
                <a:latin typeface="Arial Narrow" pitchFamily="34" charset="0"/>
                <a:ea typeface="+mn-ea"/>
                <a:cs typeface="+mn-cs"/>
              </a:rPr>
              <a:t>DC</a:t>
            </a:r>
            <a:endParaRPr kumimoji="0" lang="en-US" sz="16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23919" name="Line 80"/>
          <p:cNvSpPr>
            <a:spLocks noChangeShapeType="1"/>
          </p:cNvSpPr>
          <p:nvPr/>
        </p:nvSpPr>
        <p:spPr bwMode="auto">
          <a:xfrm rot="-5400000">
            <a:off x="1374775" y="4298950"/>
            <a:ext cx="0" cy="273050"/>
          </a:xfrm>
          <a:prstGeom prst="line">
            <a:avLst/>
          </a:prstGeom>
          <a:noFill/>
          <a:ln w="25400">
            <a:solidFill>
              <a:schemeClr val="tx1"/>
            </a:solidFill>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0" name="Line 82"/>
          <p:cNvSpPr>
            <a:spLocks noChangeShapeType="1"/>
          </p:cNvSpPr>
          <p:nvPr/>
        </p:nvSpPr>
        <p:spPr bwMode="auto">
          <a:xfrm>
            <a:off x="2014538" y="4816475"/>
            <a:ext cx="117475" cy="58738"/>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1" name="Line 83"/>
          <p:cNvSpPr>
            <a:spLocks noChangeShapeType="1"/>
          </p:cNvSpPr>
          <p:nvPr/>
        </p:nvSpPr>
        <p:spPr bwMode="auto">
          <a:xfrm flipH="1">
            <a:off x="1955800" y="4870450"/>
            <a:ext cx="169863" cy="73025"/>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2" name="Line 84"/>
          <p:cNvSpPr>
            <a:spLocks noChangeShapeType="1"/>
          </p:cNvSpPr>
          <p:nvPr/>
        </p:nvSpPr>
        <p:spPr bwMode="auto">
          <a:xfrm>
            <a:off x="1971675" y="4940300"/>
            <a:ext cx="149225" cy="57150"/>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3" name="Line 85"/>
          <p:cNvSpPr>
            <a:spLocks noChangeShapeType="1"/>
          </p:cNvSpPr>
          <p:nvPr/>
        </p:nvSpPr>
        <p:spPr bwMode="auto">
          <a:xfrm flipH="1">
            <a:off x="1958975" y="4999038"/>
            <a:ext cx="173038" cy="71437"/>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4" name="Line 86"/>
          <p:cNvSpPr>
            <a:spLocks noChangeShapeType="1"/>
          </p:cNvSpPr>
          <p:nvPr/>
        </p:nvSpPr>
        <p:spPr bwMode="auto">
          <a:xfrm>
            <a:off x="1968500" y="5067300"/>
            <a:ext cx="157163" cy="60325"/>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5" name="Line 87"/>
          <p:cNvSpPr>
            <a:spLocks noChangeShapeType="1"/>
          </p:cNvSpPr>
          <p:nvPr/>
        </p:nvSpPr>
        <p:spPr bwMode="auto">
          <a:xfrm flipH="1">
            <a:off x="1966913" y="5121275"/>
            <a:ext cx="168275" cy="68263"/>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6" name="Line 88"/>
          <p:cNvSpPr>
            <a:spLocks noChangeShapeType="1"/>
          </p:cNvSpPr>
          <p:nvPr/>
        </p:nvSpPr>
        <p:spPr bwMode="auto">
          <a:xfrm>
            <a:off x="1960563" y="5191125"/>
            <a:ext cx="168275" cy="71438"/>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7" name="Line 89"/>
          <p:cNvSpPr>
            <a:spLocks noChangeShapeType="1"/>
          </p:cNvSpPr>
          <p:nvPr/>
        </p:nvSpPr>
        <p:spPr bwMode="auto">
          <a:xfrm flipH="1">
            <a:off x="2009775" y="5403850"/>
            <a:ext cx="127000" cy="52388"/>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8" name="Line 90"/>
          <p:cNvSpPr>
            <a:spLocks noChangeShapeType="1"/>
          </p:cNvSpPr>
          <p:nvPr/>
        </p:nvSpPr>
        <p:spPr bwMode="auto">
          <a:xfrm flipH="1">
            <a:off x="1965325" y="5260975"/>
            <a:ext cx="166688" cy="68263"/>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9" name="Line 91"/>
          <p:cNvSpPr>
            <a:spLocks noChangeShapeType="1"/>
          </p:cNvSpPr>
          <p:nvPr/>
        </p:nvSpPr>
        <p:spPr bwMode="auto">
          <a:xfrm>
            <a:off x="1960563" y="5330825"/>
            <a:ext cx="168275" cy="71438"/>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30" name="Line 92"/>
          <p:cNvSpPr>
            <a:spLocks noChangeShapeType="1"/>
          </p:cNvSpPr>
          <p:nvPr/>
        </p:nvSpPr>
        <p:spPr bwMode="auto">
          <a:xfrm rot="10800000" flipH="1" flipV="1">
            <a:off x="398463" y="4221163"/>
            <a:ext cx="1628775"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31" name="Text Box 93"/>
          <p:cNvSpPr txBox="1">
            <a:spLocks noChangeArrowheads="1"/>
          </p:cNvSpPr>
          <p:nvPr/>
        </p:nvSpPr>
        <p:spPr bwMode="auto">
          <a:xfrm>
            <a:off x="2079625" y="4964113"/>
            <a:ext cx="241300" cy="336550"/>
          </a:xfrm>
          <a:prstGeom prst="rect">
            <a:avLst/>
          </a:prstGeom>
          <a:noFill/>
          <a:ln w="25400">
            <a:noFill/>
            <a:miter lim="800000"/>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srgbClr val="000066"/>
                </a:solidFill>
                <a:effectLst/>
                <a:uLnTx/>
                <a:uFillTx/>
                <a:latin typeface="Arial Narrow" pitchFamily="34" charset="0"/>
                <a:ea typeface="+mn-ea"/>
                <a:cs typeface="+mn-cs"/>
              </a:rPr>
              <a:t>R</a:t>
            </a:r>
            <a:endParaRPr kumimoji="0" lang="en-US" sz="16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23932" name="Text Box 94"/>
          <p:cNvSpPr txBox="1">
            <a:spLocks noChangeArrowheads="1"/>
          </p:cNvSpPr>
          <p:nvPr/>
        </p:nvSpPr>
        <p:spPr bwMode="auto">
          <a:xfrm>
            <a:off x="1704975" y="4552950"/>
            <a:ext cx="331788" cy="396875"/>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prstClr val="black"/>
                </a:solidFill>
                <a:effectLst/>
                <a:uLnTx/>
                <a:uFillTx/>
                <a:latin typeface="Arial" charset="0"/>
                <a:ea typeface="+mn-ea"/>
                <a:cs typeface="+mn-cs"/>
              </a:rPr>
              <a:t>+</a:t>
            </a:r>
            <a:endParaRPr kumimoji="0" lang="en-US" sz="20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33" name="Line 96"/>
          <p:cNvSpPr>
            <a:spLocks noChangeShapeType="1"/>
          </p:cNvSpPr>
          <p:nvPr/>
        </p:nvSpPr>
        <p:spPr bwMode="auto">
          <a:xfrm flipV="1">
            <a:off x="1677988" y="4213225"/>
            <a:ext cx="0" cy="1974850"/>
          </a:xfrm>
          <a:prstGeom prst="line">
            <a:avLst/>
          </a:prstGeom>
          <a:noFill/>
          <a:ln w="25400">
            <a:solidFill>
              <a:srgbClr val="000066"/>
            </a:solidFill>
            <a:prstDash val="sysDot"/>
            <a:round/>
            <a:headEnd type="triangle" w="med" len="me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34" name="Text Box 97"/>
          <p:cNvSpPr txBox="1">
            <a:spLocks noChangeArrowheads="1"/>
          </p:cNvSpPr>
          <p:nvPr/>
        </p:nvSpPr>
        <p:spPr bwMode="auto">
          <a:xfrm>
            <a:off x="1490663" y="4954588"/>
            <a:ext cx="384175" cy="350837"/>
          </a:xfrm>
          <a:prstGeom prst="rect">
            <a:avLst/>
          </a:prstGeom>
          <a:solidFill>
            <a:srgbClr val="FFFFFF"/>
          </a:solid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700" b="0" i="0" u="none" strike="noStrike" kern="1200" cap="none" spc="0" normalizeH="0" baseline="0" noProof="0">
                <a:ln>
                  <a:noFill/>
                </a:ln>
                <a:solidFill>
                  <a:srgbClr val="000066"/>
                </a:solidFill>
                <a:effectLst/>
                <a:uLnTx/>
                <a:uFillTx/>
                <a:latin typeface="Arial Narrow" pitchFamily="34" charset="0"/>
                <a:ea typeface="+mn-ea"/>
                <a:cs typeface="+mn-cs"/>
              </a:rPr>
              <a:t>V</a:t>
            </a:r>
            <a:r>
              <a:rPr kumimoji="0" lang="tr-TR" sz="1700" b="0" i="0" u="none" strike="noStrike" kern="1200" cap="none" spc="0" normalizeH="0" baseline="-25000" noProof="0">
                <a:ln>
                  <a:noFill/>
                </a:ln>
                <a:solidFill>
                  <a:srgbClr val="000066"/>
                </a:solidFill>
                <a:effectLst/>
                <a:uLnTx/>
                <a:uFillTx/>
                <a:latin typeface="Arial Narrow" pitchFamily="34" charset="0"/>
                <a:ea typeface="+mn-ea"/>
                <a:cs typeface="+mn-cs"/>
              </a:rPr>
              <a:t>R</a:t>
            </a:r>
            <a:endParaRPr kumimoji="0" lang="en-US" sz="17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23935" name="Line 99"/>
          <p:cNvSpPr>
            <a:spLocks noChangeShapeType="1"/>
          </p:cNvSpPr>
          <p:nvPr/>
        </p:nvSpPr>
        <p:spPr bwMode="auto">
          <a:xfrm flipV="1">
            <a:off x="2897188" y="4110038"/>
            <a:ext cx="1516062" cy="744537"/>
          </a:xfrm>
          <a:prstGeom prst="line">
            <a:avLst/>
          </a:prstGeom>
          <a:noFill/>
          <a:ln w="25400">
            <a:noFill/>
            <a:round/>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36" name="Line 100"/>
          <p:cNvSpPr>
            <a:spLocks noChangeShapeType="1"/>
          </p:cNvSpPr>
          <p:nvPr/>
        </p:nvSpPr>
        <p:spPr bwMode="auto">
          <a:xfrm flipH="1">
            <a:off x="4243388" y="4195763"/>
            <a:ext cx="1587" cy="611187"/>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37" name="Text Box 101"/>
          <p:cNvSpPr txBox="1">
            <a:spLocks noChangeArrowheads="1"/>
          </p:cNvSpPr>
          <p:nvPr/>
        </p:nvSpPr>
        <p:spPr bwMode="auto">
          <a:xfrm rot="10800000">
            <a:off x="4229100" y="5422900"/>
            <a:ext cx="354013" cy="439738"/>
          </a:xfrm>
          <a:prstGeom prst="rect">
            <a:avLst/>
          </a:prstGeom>
          <a:noFill/>
          <a:ln w="25400">
            <a:noFill/>
            <a:miter lim="800000"/>
            <a:headEnd/>
            <a:tailEnd/>
          </a:ln>
        </p:spPr>
        <p:txBody>
          <a:bodyPr bIns="1188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800" b="0" i="0" u="none" strike="noStrike" kern="1200" cap="none" spc="0" normalizeH="0" baseline="0" noProof="0">
                <a:ln>
                  <a:noFill/>
                </a:ln>
                <a:solidFill>
                  <a:prstClr val="black"/>
                </a:solidFill>
                <a:effectLst/>
                <a:uLnTx/>
                <a:uFillTx/>
                <a:latin typeface="Arial" charset="0"/>
                <a:ea typeface="+mn-ea"/>
                <a:cs typeface="+mn-cs"/>
              </a:rPr>
              <a:t>_</a:t>
            </a:r>
            <a:endParaRPr kumimoji="0" lang="en-US"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38" name="Line 102"/>
          <p:cNvSpPr>
            <a:spLocks noChangeShapeType="1"/>
          </p:cNvSpPr>
          <p:nvPr/>
        </p:nvSpPr>
        <p:spPr bwMode="auto">
          <a:xfrm>
            <a:off x="4244975" y="5443538"/>
            <a:ext cx="0" cy="74295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39" name="Line 103"/>
          <p:cNvSpPr>
            <a:spLocks noChangeShapeType="1"/>
          </p:cNvSpPr>
          <p:nvPr/>
        </p:nvSpPr>
        <p:spPr bwMode="auto">
          <a:xfrm rot="5400000" flipH="1">
            <a:off x="2254250" y="4564063"/>
            <a:ext cx="752475"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40" name="Line 104"/>
          <p:cNvSpPr>
            <a:spLocks noChangeShapeType="1"/>
          </p:cNvSpPr>
          <p:nvPr/>
        </p:nvSpPr>
        <p:spPr bwMode="auto">
          <a:xfrm rot="5400000" flipH="1">
            <a:off x="2243138" y="5795963"/>
            <a:ext cx="800100"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41" name="Text Box 105"/>
          <p:cNvSpPr txBox="1">
            <a:spLocks noChangeArrowheads="1"/>
          </p:cNvSpPr>
          <p:nvPr/>
        </p:nvSpPr>
        <p:spPr bwMode="auto">
          <a:xfrm>
            <a:off x="2600325" y="4600575"/>
            <a:ext cx="331788" cy="396875"/>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prstClr val="black"/>
                </a:solidFill>
                <a:effectLst/>
                <a:uLnTx/>
                <a:uFillTx/>
                <a:latin typeface="Arial" charset="0"/>
                <a:ea typeface="+mn-ea"/>
                <a:cs typeface="+mn-cs"/>
              </a:rPr>
              <a:t>+</a:t>
            </a:r>
            <a:endParaRPr kumimoji="0" lang="en-US" sz="20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42" name="Line 106"/>
          <p:cNvSpPr>
            <a:spLocks noChangeShapeType="1"/>
          </p:cNvSpPr>
          <p:nvPr/>
        </p:nvSpPr>
        <p:spPr bwMode="auto">
          <a:xfrm rot="10800000" flipH="1" flipV="1">
            <a:off x="2643188" y="6189663"/>
            <a:ext cx="1601787"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43" name="Text Box 107"/>
          <p:cNvSpPr txBox="1">
            <a:spLocks noChangeArrowheads="1"/>
          </p:cNvSpPr>
          <p:nvPr/>
        </p:nvSpPr>
        <p:spPr bwMode="auto">
          <a:xfrm>
            <a:off x="2876550" y="4217988"/>
            <a:ext cx="396875" cy="336550"/>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srgbClr val="000066"/>
                </a:solidFill>
                <a:effectLst/>
                <a:uLnTx/>
                <a:uFillTx/>
                <a:latin typeface="Arial Narrow" pitchFamily="34" charset="0"/>
                <a:ea typeface="+mn-ea"/>
                <a:cs typeface="+mn-cs"/>
              </a:rPr>
              <a:t>I(t)</a:t>
            </a:r>
            <a:endParaRPr kumimoji="0" lang="en-US" sz="16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23944" name="Line 108"/>
          <p:cNvSpPr>
            <a:spLocks noChangeShapeType="1"/>
          </p:cNvSpPr>
          <p:nvPr/>
        </p:nvSpPr>
        <p:spPr bwMode="auto">
          <a:xfrm rot="-5400000">
            <a:off x="3479801" y="4254500"/>
            <a:ext cx="0" cy="276225"/>
          </a:xfrm>
          <a:prstGeom prst="line">
            <a:avLst/>
          </a:prstGeom>
          <a:noFill/>
          <a:ln w="25400">
            <a:solidFill>
              <a:schemeClr val="tx1"/>
            </a:solidFill>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45" name="Text Box 109"/>
          <p:cNvSpPr txBox="1">
            <a:spLocks noChangeArrowheads="1"/>
          </p:cNvSpPr>
          <p:nvPr/>
        </p:nvSpPr>
        <p:spPr bwMode="auto">
          <a:xfrm>
            <a:off x="2217738" y="4559300"/>
            <a:ext cx="527050" cy="350838"/>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700" b="0" i="0" u="none" strike="noStrike" kern="1200" cap="none" spc="0" normalizeH="0" baseline="0" noProof="0">
                <a:ln>
                  <a:noFill/>
                </a:ln>
                <a:solidFill>
                  <a:srgbClr val="000066"/>
                </a:solidFill>
                <a:effectLst/>
                <a:uLnTx/>
                <a:uFillTx/>
                <a:latin typeface="Arial Narrow" pitchFamily="34" charset="0"/>
                <a:ea typeface="+mn-ea"/>
                <a:cs typeface="+mn-cs"/>
              </a:rPr>
              <a:t>V(t) </a:t>
            </a:r>
            <a:endParaRPr kumimoji="0" lang="en-US" sz="17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23946" name="Line 111"/>
          <p:cNvSpPr>
            <a:spLocks noChangeShapeType="1"/>
          </p:cNvSpPr>
          <p:nvPr/>
        </p:nvSpPr>
        <p:spPr bwMode="auto">
          <a:xfrm>
            <a:off x="4243388" y="4799013"/>
            <a:ext cx="119062" cy="58737"/>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47" name="Line 112"/>
          <p:cNvSpPr>
            <a:spLocks noChangeShapeType="1"/>
          </p:cNvSpPr>
          <p:nvPr/>
        </p:nvSpPr>
        <p:spPr bwMode="auto">
          <a:xfrm flipH="1">
            <a:off x="4184650" y="4852988"/>
            <a:ext cx="173038" cy="74612"/>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48" name="Line 113"/>
          <p:cNvSpPr>
            <a:spLocks noChangeShapeType="1"/>
          </p:cNvSpPr>
          <p:nvPr/>
        </p:nvSpPr>
        <p:spPr bwMode="auto">
          <a:xfrm>
            <a:off x="4200525" y="4924425"/>
            <a:ext cx="152400" cy="58738"/>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49" name="Line 114"/>
          <p:cNvSpPr>
            <a:spLocks noChangeShapeType="1"/>
          </p:cNvSpPr>
          <p:nvPr/>
        </p:nvSpPr>
        <p:spPr bwMode="auto">
          <a:xfrm flipH="1">
            <a:off x="4187825" y="4984750"/>
            <a:ext cx="176213" cy="73025"/>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0" name="Line 115"/>
          <p:cNvSpPr>
            <a:spLocks noChangeShapeType="1"/>
          </p:cNvSpPr>
          <p:nvPr/>
        </p:nvSpPr>
        <p:spPr bwMode="auto">
          <a:xfrm>
            <a:off x="4197350" y="5053013"/>
            <a:ext cx="160338" cy="61912"/>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1" name="Line 116"/>
          <p:cNvSpPr>
            <a:spLocks noChangeShapeType="1"/>
          </p:cNvSpPr>
          <p:nvPr/>
        </p:nvSpPr>
        <p:spPr bwMode="auto">
          <a:xfrm flipH="1">
            <a:off x="4195763" y="5108575"/>
            <a:ext cx="171450" cy="69850"/>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2" name="Line 117"/>
          <p:cNvSpPr>
            <a:spLocks noChangeShapeType="1"/>
          </p:cNvSpPr>
          <p:nvPr/>
        </p:nvSpPr>
        <p:spPr bwMode="auto">
          <a:xfrm>
            <a:off x="4189413" y="5180013"/>
            <a:ext cx="171450" cy="71437"/>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3" name="Line 118"/>
          <p:cNvSpPr>
            <a:spLocks noChangeShapeType="1"/>
          </p:cNvSpPr>
          <p:nvPr/>
        </p:nvSpPr>
        <p:spPr bwMode="auto">
          <a:xfrm flipH="1">
            <a:off x="4238625" y="5395913"/>
            <a:ext cx="128588" cy="52387"/>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4" name="Line 119"/>
          <p:cNvSpPr>
            <a:spLocks noChangeShapeType="1"/>
          </p:cNvSpPr>
          <p:nvPr/>
        </p:nvSpPr>
        <p:spPr bwMode="auto">
          <a:xfrm flipH="1">
            <a:off x="4194175" y="5249863"/>
            <a:ext cx="169863" cy="69850"/>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5" name="Line 120"/>
          <p:cNvSpPr>
            <a:spLocks noChangeShapeType="1"/>
          </p:cNvSpPr>
          <p:nvPr/>
        </p:nvSpPr>
        <p:spPr bwMode="auto">
          <a:xfrm>
            <a:off x="4189413" y="5321300"/>
            <a:ext cx="171450" cy="73025"/>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6" name="Line 121"/>
          <p:cNvSpPr>
            <a:spLocks noChangeShapeType="1"/>
          </p:cNvSpPr>
          <p:nvPr/>
        </p:nvSpPr>
        <p:spPr bwMode="auto">
          <a:xfrm rot="10800000" flipH="1" flipV="1">
            <a:off x="2630488" y="4195763"/>
            <a:ext cx="1614487"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7" name="Text Box 122"/>
          <p:cNvSpPr txBox="1">
            <a:spLocks noChangeArrowheads="1"/>
          </p:cNvSpPr>
          <p:nvPr/>
        </p:nvSpPr>
        <p:spPr bwMode="auto">
          <a:xfrm>
            <a:off x="4224338" y="4513263"/>
            <a:ext cx="331787" cy="396875"/>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prstClr val="black"/>
                </a:solidFill>
                <a:effectLst/>
                <a:uLnTx/>
                <a:uFillTx/>
                <a:latin typeface="Arial" charset="0"/>
                <a:ea typeface="+mn-ea"/>
                <a:cs typeface="+mn-cs"/>
              </a:rPr>
              <a:t>+</a:t>
            </a:r>
            <a:endParaRPr kumimoji="0" lang="en-US" sz="20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8" name="Line 124"/>
          <p:cNvSpPr>
            <a:spLocks noChangeShapeType="1"/>
          </p:cNvSpPr>
          <p:nvPr/>
        </p:nvSpPr>
        <p:spPr bwMode="auto">
          <a:xfrm flipV="1">
            <a:off x="3763963" y="4187825"/>
            <a:ext cx="0" cy="1998663"/>
          </a:xfrm>
          <a:prstGeom prst="line">
            <a:avLst/>
          </a:prstGeom>
          <a:noFill/>
          <a:ln w="25400">
            <a:solidFill>
              <a:srgbClr val="000066"/>
            </a:solidFill>
            <a:prstDash val="sysDot"/>
            <a:round/>
            <a:headEnd type="triangle" w="med" len="me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9" name="Text Box 125"/>
          <p:cNvSpPr txBox="1">
            <a:spLocks noChangeArrowheads="1"/>
          </p:cNvSpPr>
          <p:nvPr/>
        </p:nvSpPr>
        <p:spPr bwMode="auto">
          <a:xfrm>
            <a:off x="3576638" y="4937125"/>
            <a:ext cx="560387" cy="350838"/>
          </a:xfrm>
          <a:prstGeom prst="rect">
            <a:avLst/>
          </a:prstGeom>
          <a:solidFill>
            <a:srgbClr val="FFFFFF"/>
          </a:solid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700" b="0" i="0" u="none" strike="noStrike" kern="1200" cap="none" spc="0" normalizeH="0" baseline="0" noProof="0">
                <a:ln>
                  <a:noFill/>
                </a:ln>
                <a:solidFill>
                  <a:srgbClr val="000066"/>
                </a:solidFill>
                <a:effectLst/>
                <a:uLnTx/>
                <a:uFillTx/>
                <a:latin typeface="Arial Narrow" pitchFamily="34" charset="0"/>
                <a:ea typeface="+mn-ea"/>
                <a:cs typeface="+mn-cs"/>
              </a:rPr>
              <a:t>V</a:t>
            </a:r>
            <a:r>
              <a:rPr kumimoji="0" lang="tr-TR" sz="1700" b="0" i="0" u="none" strike="noStrike" kern="1200" cap="none" spc="0" normalizeH="0" baseline="-25000" noProof="0">
                <a:ln>
                  <a:noFill/>
                </a:ln>
                <a:solidFill>
                  <a:srgbClr val="000066"/>
                </a:solidFill>
                <a:effectLst/>
                <a:uLnTx/>
                <a:uFillTx/>
                <a:latin typeface="Arial Narrow" pitchFamily="34" charset="0"/>
                <a:ea typeface="+mn-ea"/>
                <a:cs typeface="+mn-cs"/>
              </a:rPr>
              <a:t>R</a:t>
            </a:r>
            <a:r>
              <a:rPr kumimoji="0" lang="tr-TR" sz="1700" b="0" i="0" u="none" strike="noStrike" kern="1200" cap="none" spc="0" normalizeH="0" baseline="0" noProof="0">
                <a:ln>
                  <a:noFill/>
                </a:ln>
                <a:solidFill>
                  <a:srgbClr val="000066"/>
                </a:solidFill>
                <a:effectLst/>
                <a:uLnTx/>
                <a:uFillTx/>
                <a:latin typeface="Arial Narrow" pitchFamily="34" charset="0"/>
                <a:ea typeface="+mn-ea"/>
                <a:cs typeface="+mn-cs"/>
              </a:rPr>
              <a:t>(t)</a:t>
            </a:r>
            <a:endParaRPr kumimoji="0" lang="en-US" sz="17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23960" name="Oval 127"/>
          <p:cNvSpPr>
            <a:spLocks noChangeArrowheads="1"/>
          </p:cNvSpPr>
          <p:nvPr/>
        </p:nvSpPr>
        <p:spPr bwMode="auto">
          <a:xfrm>
            <a:off x="2408238" y="4940300"/>
            <a:ext cx="501650" cy="484188"/>
          </a:xfrm>
          <a:prstGeom prst="ellipse">
            <a:avLst/>
          </a:prstGeom>
          <a:solidFill>
            <a:srgbClr val="FFFFFF"/>
          </a:solidFill>
          <a:ln w="38100">
            <a:solidFill>
              <a:srgbClr val="CC33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61" name="Freeform 128"/>
          <p:cNvSpPr>
            <a:spLocks/>
          </p:cNvSpPr>
          <p:nvPr/>
        </p:nvSpPr>
        <p:spPr bwMode="auto">
          <a:xfrm rot="-180000">
            <a:off x="2530475" y="5070475"/>
            <a:ext cx="269875" cy="200025"/>
          </a:xfrm>
          <a:custGeom>
            <a:avLst/>
            <a:gdLst>
              <a:gd name="T0" fmla="*/ 0 w 499"/>
              <a:gd name="T1" fmla="*/ 2147483647 h 306"/>
              <a:gd name="T2" fmla="*/ 2147483647 w 499"/>
              <a:gd name="T3" fmla="*/ 2147483647 h 306"/>
              <a:gd name="T4" fmla="*/ 2147483647 w 499"/>
              <a:gd name="T5" fmla="*/ 0 h 306"/>
              <a:gd name="T6" fmla="*/ 2147483647 w 499"/>
              <a:gd name="T7" fmla="*/ 2147483647 h 306"/>
              <a:gd name="T8" fmla="*/ 2147483647 w 499"/>
              <a:gd name="T9" fmla="*/ 2147483647 h 306"/>
              <a:gd name="T10" fmla="*/ 2147483647 w 499"/>
              <a:gd name="T11" fmla="*/ 2147483647 h 306"/>
              <a:gd name="T12" fmla="*/ 2147483647 w 499"/>
              <a:gd name="T13" fmla="*/ 2147483647 h 306"/>
              <a:gd name="T14" fmla="*/ 2147483647 w 499"/>
              <a:gd name="T15" fmla="*/ 2147483647 h 306"/>
              <a:gd name="T16" fmla="*/ 2147483647 w 499"/>
              <a:gd name="T17" fmla="*/ 2147483647 h 306"/>
              <a:gd name="T18" fmla="*/ 2147483647 w 499"/>
              <a:gd name="T19" fmla="*/ 2147483647 h 3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9"/>
              <a:gd name="T31" fmla="*/ 0 h 306"/>
              <a:gd name="T32" fmla="*/ 499 w 499"/>
              <a:gd name="T33" fmla="*/ 306 h 3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9" h="306">
                <a:moveTo>
                  <a:pt x="0" y="126"/>
                </a:moveTo>
                <a:cubicBezTo>
                  <a:pt x="10" y="96"/>
                  <a:pt x="27" y="75"/>
                  <a:pt x="48" y="54"/>
                </a:cubicBezTo>
                <a:cubicBezTo>
                  <a:pt x="58" y="23"/>
                  <a:pt x="71" y="10"/>
                  <a:pt x="102" y="0"/>
                </a:cubicBezTo>
                <a:cubicBezTo>
                  <a:pt x="122" y="2"/>
                  <a:pt x="143" y="0"/>
                  <a:pt x="162" y="6"/>
                </a:cubicBezTo>
                <a:cubicBezTo>
                  <a:pt x="195" y="16"/>
                  <a:pt x="197" y="82"/>
                  <a:pt x="204" y="108"/>
                </a:cubicBezTo>
                <a:cubicBezTo>
                  <a:pt x="214" y="196"/>
                  <a:pt x="223" y="274"/>
                  <a:pt x="318" y="306"/>
                </a:cubicBezTo>
                <a:cubicBezTo>
                  <a:pt x="336" y="304"/>
                  <a:pt x="354" y="304"/>
                  <a:pt x="372" y="300"/>
                </a:cubicBezTo>
                <a:cubicBezTo>
                  <a:pt x="399" y="293"/>
                  <a:pt x="427" y="248"/>
                  <a:pt x="444" y="228"/>
                </a:cubicBezTo>
                <a:cubicBezTo>
                  <a:pt x="465" y="202"/>
                  <a:pt x="448" y="219"/>
                  <a:pt x="462" y="192"/>
                </a:cubicBezTo>
                <a:cubicBezTo>
                  <a:pt x="466" y="184"/>
                  <a:pt x="499" y="146"/>
                  <a:pt x="468" y="162"/>
                </a:cubicBezTo>
              </a:path>
            </a:pathLst>
          </a:custGeom>
          <a:noFill/>
          <a:ln w="38100">
            <a:solidFill>
              <a:srgbClr val="CC3300"/>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62" name="Rectangle 130"/>
          <p:cNvSpPr>
            <a:spLocks noChangeArrowheads="1"/>
          </p:cNvSpPr>
          <p:nvPr/>
        </p:nvSpPr>
        <p:spPr bwMode="auto">
          <a:xfrm>
            <a:off x="0" y="3206750"/>
            <a:ext cx="2187575" cy="573088"/>
          </a:xfrm>
          <a:prstGeom prst="rect">
            <a:avLst/>
          </a:prstGeom>
          <a:solidFill>
            <a:srgbClr val="CC3300"/>
          </a:solidFill>
          <a:ln w="9525">
            <a:noFill/>
            <a:miter lim="800000"/>
            <a:headEnd/>
            <a:tailEnd/>
          </a:ln>
        </p:spPr>
        <p:txBody>
          <a:bodyPr tIns="118800" bIns="118800">
            <a:spAutoFit/>
          </a:bodyPr>
          <a:lstStyle/>
          <a:p>
            <a:pPr marL="0" marR="0" lvl="0" indent="0" algn="ctr" defTabSz="914400" rtl="0" eaLnBrk="1" fontAlgn="base" latinLnBrk="0" hangingPunct="1">
              <a:lnSpc>
                <a:spcPct val="110000"/>
              </a:lnSpc>
              <a:spcBef>
                <a:spcPct val="0"/>
              </a:spcBef>
              <a:spcAft>
                <a:spcPct val="0"/>
              </a:spcAft>
              <a:buClrTx/>
              <a:buSzTx/>
              <a:buFontTx/>
              <a:buNone/>
              <a:tabLst/>
              <a:defRPr/>
            </a:pPr>
            <a:r>
              <a:rPr kumimoji="0" lang="tr-TR" sz="2000" b="0" i="0" u="none" strike="noStrike" kern="1200" cap="none" spc="0" normalizeH="0" baseline="0" noProof="0">
                <a:ln>
                  <a:noFill/>
                </a:ln>
                <a:solidFill>
                  <a:prstClr val="white"/>
                </a:solidFill>
                <a:effectLst/>
                <a:uLnTx/>
                <a:uFillTx/>
                <a:latin typeface="Arial Narrow" pitchFamily="34" charset="0"/>
                <a:ea typeface="+mn-ea"/>
                <a:cs typeface="+mn-cs"/>
              </a:rPr>
              <a:t>P</a:t>
            </a:r>
            <a:r>
              <a:rPr kumimoji="0" lang="tr-TR" sz="2000" b="0" i="0" u="none" strike="noStrike" kern="1200" cap="none" spc="0" normalizeH="0" baseline="-25000" noProof="0">
                <a:ln>
                  <a:noFill/>
                </a:ln>
                <a:solidFill>
                  <a:prstClr val="white"/>
                </a:solidFill>
                <a:effectLst/>
                <a:uLnTx/>
                <a:uFillTx/>
                <a:latin typeface="Arial Narrow" pitchFamily="34" charset="0"/>
                <a:ea typeface="+mn-ea"/>
                <a:cs typeface="+mn-cs"/>
              </a:rPr>
              <a:t>avg </a:t>
            </a:r>
            <a:r>
              <a:rPr kumimoji="0" lang="tr-TR" sz="2000" b="0" i="0" u="none" strike="noStrike" kern="1200" cap="none" spc="0" normalizeH="0" baseline="0" noProof="0">
                <a:ln>
                  <a:noFill/>
                </a:ln>
                <a:solidFill>
                  <a:prstClr val="white"/>
                </a:solidFill>
                <a:effectLst/>
                <a:uLnTx/>
                <a:uFillTx/>
                <a:latin typeface="Arial Narrow" pitchFamily="34" charset="0"/>
                <a:ea typeface="+mn-ea"/>
                <a:cs typeface="+mn-cs"/>
                <a:sym typeface="Symbol" pitchFamily="18" charset="2"/>
              </a:rPr>
              <a:t>= R  I</a:t>
            </a:r>
            <a:r>
              <a:rPr kumimoji="0" lang="tr-TR" sz="2000" b="0" i="0" u="none" strike="noStrike" kern="1200" cap="none" spc="0" normalizeH="0" baseline="-25000" noProof="0">
                <a:ln>
                  <a:noFill/>
                </a:ln>
                <a:solidFill>
                  <a:prstClr val="white"/>
                </a:solidFill>
                <a:effectLst/>
                <a:uLnTx/>
                <a:uFillTx/>
                <a:latin typeface="Arial Narrow" pitchFamily="34" charset="0"/>
                <a:ea typeface="+mn-ea"/>
                <a:cs typeface="+mn-cs"/>
                <a:sym typeface="Symbol" pitchFamily="18" charset="2"/>
              </a:rPr>
              <a:t>DC</a:t>
            </a:r>
            <a:r>
              <a:rPr kumimoji="0" lang="tr-TR" sz="2000" b="0" i="0" u="none" strike="noStrike" kern="1200" cap="none" spc="0" normalizeH="0" baseline="30000" noProof="0">
                <a:ln>
                  <a:noFill/>
                </a:ln>
                <a:solidFill>
                  <a:prstClr val="white"/>
                </a:solidFill>
                <a:effectLst/>
                <a:uLnTx/>
                <a:uFillTx/>
                <a:latin typeface="Arial Narrow" pitchFamily="34" charset="0"/>
                <a:ea typeface="+mn-ea"/>
                <a:cs typeface="+mn-cs"/>
                <a:sym typeface="Symbol" pitchFamily="18" charset="2"/>
              </a:rPr>
              <a:t>2</a:t>
            </a:r>
          </a:p>
        </p:txBody>
      </p:sp>
      <p:sp>
        <p:nvSpPr>
          <p:cNvPr id="123963" name="Rectangle 131"/>
          <p:cNvSpPr>
            <a:spLocks noChangeArrowheads="1"/>
          </p:cNvSpPr>
          <p:nvPr/>
        </p:nvSpPr>
        <p:spPr bwMode="auto">
          <a:xfrm>
            <a:off x="2495550" y="3213100"/>
            <a:ext cx="2057400" cy="573088"/>
          </a:xfrm>
          <a:prstGeom prst="rect">
            <a:avLst/>
          </a:prstGeom>
          <a:solidFill>
            <a:srgbClr val="CC3300"/>
          </a:solidFill>
          <a:ln w="9525">
            <a:noFill/>
            <a:miter lim="800000"/>
            <a:headEnd/>
            <a:tailEnd/>
          </a:ln>
        </p:spPr>
        <p:txBody>
          <a:bodyPr tIns="118800" bIns="118800">
            <a:spAutoFit/>
          </a:bodyPr>
          <a:lstStyle/>
          <a:p>
            <a:pPr marL="0" marR="0" lvl="0" indent="0" algn="ctr" defTabSz="914400" rtl="0" eaLnBrk="1" fontAlgn="base" latinLnBrk="0" hangingPunct="1">
              <a:lnSpc>
                <a:spcPct val="110000"/>
              </a:lnSpc>
              <a:spcBef>
                <a:spcPct val="0"/>
              </a:spcBef>
              <a:spcAft>
                <a:spcPct val="0"/>
              </a:spcAft>
              <a:buClrTx/>
              <a:buSzTx/>
              <a:buFontTx/>
              <a:buNone/>
              <a:tabLst/>
              <a:defRPr/>
            </a:pPr>
            <a:r>
              <a:rPr kumimoji="0" lang="tr-TR" sz="2000" b="0" i="0" u="none" strike="noStrike" kern="1200" cap="none" spc="0" normalizeH="0" baseline="0" noProof="0">
                <a:ln>
                  <a:noFill/>
                </a:ln>
                <a:solidFill>
                  <a:prstClr val="white"/>
                </a:solidFill>
                <a:effectLst/>
                <a:uLnTx/>
                <a:uFillTx/>
                <a:latin typeface="Arial Narrow" pitchFamily="34" charset="0"/>
                <a:ea typeface="+mn-ea"/>
                <a:cs typeface="+mn-cs"/>
              </a:rPr>
              <a:t>P</a:t>
            </a:r>
            <a:r>
              <a:rPr kumimoji="0" lang="tr-TR" sz="2000" b="0" i="0" u="none" strike="noStrike" kern="1200" cap="none" spc="0" normalizeH="0" baseline="-25000" noProof="0">
                <a:ln>
                  <a:noFill/>
                </a:ln>
                <a:solidFill>
                  <a:prstClr val="white"/>
                </a:solidFill>
                <a:effectLst/>
                <a:uLnTx/>
                <a:uFillTx/>
                <a:latin typeface="Arial Narrow" pitchFamily="34" charset="0"/>
                <a:ea typeface="+mn-ea"/>
                <a:cs typeface="+mn-cs"/>
              </a:rPr>
              <a:t>avg </a:t>
            </a:r>
            <a:r>
              <a:rPr kumimoji="0" lang="tr-TR" sz="2000" b="0" i="0" u="none" strike="noStrike" kern="1200" cap="none" spc="0" normalizeH="0" baseline="0" noProof="0">
                <a:ln>
                  <a:noFill/>
                </a:ln>
                <a:solidFill>
                  <a:prstClr val="white"/>
                </a:solidFill>
                <a:effectLst/>
                <a:uLnTx/>
                <a:uFillTx/>
                <a:latin typeface="Arial Narrow" pitchFamily="34" charset="0"/>
                <a:ea typeface="+mn-ea"/>
                <a:cs typeface="+mn-cs"/>
                <a:sym typeface="Symbol" pitchFamily="18" charset="2"/>
              </a:rPr>
              <a:t>= R  I</a:t>
            </a:r>
            <a:r>
              <a:rPr kumimoji="0" lang="tr-TR" sz="2000" b="0" i="0" u="none" strike="noStrike" kern="1200" cap="none" spc="0" normalizeH="0" baseline="-25000" noProof="0">
                <a:ln>
                  <a:noFill/>
                </a:ln>
                <a:solidFill>
                  <a:prstClr val="white"/>
                </a:solidFill>
                <a:effectLst/>
                <a:uLnTx/>
                <a:uFillTx/>
                <a:latin typeface="Arial Narrow" pitchFamily="34" charset="0"/>
                <a:ea typeface="+mn-ea"/>
                <a:cs typeface="+mn-cs"/>
                <a:sym typeface="Symbol" pitchFamily="18" charset="2"/>
              </a:rPr>
              <a:t>rms</a:t>
            </a:r>
            <a:r>
              <a:rPr kumimoji="0" lang="tr-TR" sz="2000" b="0" i="0" u="none" strike="noStrike" kern="1200" cap="none" spc="0" normalizeH="0" baseline="30000" noProof="0">
                <a:ln>
                  <a:noFill/>
                </a:ln>
                <a:solidFill>
                  <a:prstClr val="white"/>
                </a:solidFill>
                <a:effectLst/>
                <a:uLnTx/>
                <a:uFillTx/>
                <a:latin typeface="Arial Narrow" pitchFamily="34" charset="0"/>
                <a:ea typeface="+mn-ea"/>
                <a:cs typeface="+mn-cs"/>
                <a:sym typeface="Symbol" pitchFamily="18" charset="2"/>
              </a:rPr>
              <a:t>2</a:t>
            </a:r>
          </a:p>
        </p:txBody>
      </p:sp>
      <p:sp>
        <p:nvSpPr>
          <p:cNvPr id="123964" name="Line 134"/>
          <p:cNvSpPr>
            <a:spLocks noChangeShapeType="1"/>
          </p:cNvSpPr>
          <p:nvPr/>
        </p:nvSpPr>
        <p:spPr bwMode="auto">
          <a:xfrm>
            <a:off x="1773238" y="3314700"/>
            <a:ext cx="0" cy="1263650"/>
          </a:xfrm>
          <a:prstGeom prst="line">
            <a:avLst/>
          </a:prstGeom>
          <a:noFill/>
          <a:ln w="25400">
            <a:solidFill>
              <a:srgbClr val="CC3300"/>
            </a:solidFill>
            <a:prstDash val="sysDot"/>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65" name="Text Box 145"/>
          <p:cNvSpPr txBox="1">
            <a:spLocks noChangeArrowheads="1"/>
          </p:cNvSpPr>
          <p:nvPr/>
        </p:nvSpPr>
        <p:spPr bwMode="auto">
          <a:xfrm>
            <a:off x="2182813" y="3335338"/>
            <a:ext cx="331787" cy="396875"/>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srgbClr val="CC3300"/>
                </a:solidFill>
                <a:effectLst/>
                <a:uLnTx/>
                <a:uFillTx/>
                <a:latin typeface="Arial" charset="0"/>
                <a:ea typeface="+mn-ea"/>
                <a:cs typeface="+mn-cs"/>
              </a:rPr>
              <a:t>=</a:t>
            </a:r>
            <a:endParaRPr kumimoji="0" lang="en-US" sz="2000" b="0" i="0" u="none" strike="noStrike" kern="1200" cap="none" spc="0" normalizeH="0" baseline="0" noProof="0">
              <a:ln>
                <a:noFill/>
              </a:ln>
              <a:solidFill>
                <a:srgbClr val="CC3300"/>
              </a:solidFill>
              <a:effectLst/>
              <a:uLnTx/>
              <a:uFillTx/>
              <a:latin typeface="Arial" charset="0"/>
              <a:ea typeface="+mn-ea"/>
              <a:cs typeface="+mn-cs"/>
            </a:endParaRPr>
          </a:p>
        </p:txBody>
      </p:sp>
      <p:sp>
        <p:nvSpPr>
          <p:cNvPr id="123966" name="Text Box 147"/>
          <p:cNvSpPr txBox="1">
            <a:spLocks noChangeArrowheads="1"/>
          </p:cNvSpPr>
          <p:nvPr/>
        </p:nvSpPr>
        <p:spPr bwMode="auto">
          <a:xfrm>
            <a:off x="-28575" y="4533900"/>
            <a:ext cx="515938" cy="350838"/>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700" b="0" i="0" u="none" strike="noStrike" kern="1200" cap="none" spc="0" normalizeH="0" baseline="0" noProof="0">
                <a:ln>
                  <a:noFill/>
                </a:ln>
                <a:solidFill>
                  <a:srgbClr val="000066"/>
                </a:solidFill>
                <a:effectLst/>
                <a:uLnTx/>
                <a:uFillTx/>
                <a:latin typeface="Arial Narrow" pitchFamily="34" charset="0"/>
                <a:ea typeface="+mn-ea"/>
                <a:cs typeface="+mn-cs"/>
              </a:rPr>
              <a:t>V</a:t>
            </a:r>
            <a:r>
              <a:rPr kumimoji="0" lang="tr-TR" sz="1700" b="0" i="0" u="none" strike="noStrike" kern="1200" cap="none" spc="0" normalizeH="0" baseline="-25000" noProof="0">
                <a:ln>
                  <a:noFill/>
                </a:ln>
                <a:solidFill>
                  <a:srgbClr val="000066"/>
                </a:solidFill>
                <a:effectLst/>
                <a:uLnTx/>
                <a:uFillTx/>
                <a:latin typeface="Arial Narrow" pitchFamily="34" charset="0"/>
                <a:ea typeface="+mn-ea"/>
                <a:cs typeface="+mn-cs"/>
              </a:rPr>
              <a:t>DC</a:t>
            </a:r>
            <a:r>
              <a:rPr kumimoji="0" lang="tr-TR" sz="1700" b="0" i="0" u="none" strike="noStrike" kern="1200" cap="none" spc="0" normalizeH="0" baseline="0" noProof="0">
                <a:ln>
                  <a:noFill/>
                </a:ln>
                <a:solidFill>
                  <a:srgbClr val="000066"/>
                </a:solidFill>
                <a:effectLst/>
                <a:uLnTx/>
                <a:uFillTx/>
                <a:latin typeface="Arial Narrow" pitchFamily="34" charset="0"/>
                <a:ea typeface="+mn-ea"/>
                <a:cs typeface="+mn-cs"/>
              </a:rPr>
              <a:t> </a:t>
            </a:r>
            <a:endParaRPr kumimoji="0" lang="en-US" sz="17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23967" name="Text Box 146"/>
          <p:cNvSpPr txBox="1">
            <a:spLocks noChangeArrowheads="1"/>
          </p:cNvSpPr>
          <p:nvPr/>
        </p:nvSpPr>
        <p:spPr bwMode="auto">
          <a:xfrm>
            <a:off x="4397375" y="4938713"/>
            <a:ext cx="241300" cy="336550"/>
          </a:xfrm>
          <a:prstGeom prst="rect">
            <a:avLst/>
          </a:prstGeom>
          <a:noFill/>
          <a:ln w="25400">
            <a:noFill/>
            <a:miter lim="800000"/>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srgbClr val="000066"/>
                </a:solidFill>
                <a:effectLst/>
                <a:uLnTx/>
                <a:uFillTx/>
                <a:latin typeface="Arial Narrow" pitchFamily="34" charset="0"/>
                <a:ea typeface="+mn-ea"/>
                <a:cs typeface="+mn-cs"/>
              </a:rPr>
              <a:t>R</a:t>
            </a:r>
            <a:endParaRPr kumimoji="0" lang="en-US" sz="16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23968" name="Rectangle 142"/>
          <p:cNvSpPr>
            <a:spLocks noChangeArrowheads="1"/>
          </p:cNvSpPr>
          <p:nvPr/>
        </p:nvSpPr>
        <p:spPr bwMode="auto">
          <a:xfrm>
            <a:off x="4595813" y="1365250"/>
            <a:ext cx="2124075" cy="603250"/>
          </a:xfrm>
          <a:prstGeom prst="rect">
            <a:avLst/>
          </a:prstGeom>
          <a:solidFill>
            <a:srgbClr val="000066"/>
          </a:solidFill>
          <a:ln w="9525" algn="ctr">
            <a:noFill/>
            <a:miter lim="800000"/>
            <a:headEnd/>
            <a:tailEnd/>
          </a:ln>
        </p:spPr>
        <p:txBody>
          <a:bodyPr lIns="54000" tIns="172800" rIns="54000" bIns="154800">
            <a:spAutoFit/>
          </a:bodyPr>
          <a:lstStyle/>
          <a:p>
            <a:pPr marL="447675" marR="0" lvl="0" indent="-447675" algn="ctr" defTabSz="914400" rtl="0" eaLnBrk="1" fontAlgn="base" latinLnBrk="0" hangingPunct="1">
              <a:lnSpc>
                <a:spcPct val="100000"/>
              </a:lnSpc>
              <a:spcBef>
                <a:spcPct val="0"/>
              </a:spcBef>
              <a:spcAft>
                <a:spcPct val="0"/>
              </a:spcAft>
              <a:buClrTx/>
              <a:buSzTx/>
              <a:buFontTx/>
              <a:buNone/>
              <a:tabLst/>
              <a:defRPr/>
            </a:pPr>
            <a:r>
              <a:rPr kumimoji="0" lang="tr-TR" sz="1800" b="1" i="0" u="none" strike="noStrike" kern="1200" cap="none" spc="0" normalizeH="0" baseline="0" noProof="0">
                <a:ln>
                  <a:noFill/>
                </a:ln>
                <a:solidFill>
                  <a:srgbClr val="FFFF00"/>
                </a:solidFill>
                <a:effectLst/>
                <a:uLnTx/>
                <a:uFillTx/>
                <a:latin typeface="Arial Narrow" pitchFamily="34" charset="0"/>
                <a:ea typeface="+mn-ea"/>
                <a:cs typeface="+mn-cs"/>
              </a:rPr>
              <a:t>I</a:t>
            </a:r>
            <a:r>
              <a:rPr kumimoji="0" lang="tr-TR" sz="1800" b="1" i="0" u="none" strike="noStrike" kern="1200" cap="none" spc="0" normalizeH="0" baseline="30000" noProof="0">
                <a:ln>
                  <a:noFill/>
                </a:ln>
                <a:solidFill>
                  <a:srgbClr val="FFFF00"/>
                </a:solidFill>
                <a:effectLst/>
                <a:uLnTx/>
                <a:uFillTx/>
                <a:latin typeface="Arial Narrow" pitchFamily="34" charset="0"/>
                <a:ea typeface="+mn-ea"/>
                <a:cs typeface="+mn-cs"/>
              </a:rPr>
              <a:t>2</a:t>
            </a:r>
            <a:r>
              <a:rPr kumimoji="0" lang="tr-TR" sz="1800" b="1" i="0" u="none" strike="noStrike" kern="1200" cap="none" spc="0" normalizeH="0" baseline="0" noProof="0">
                <a:ln>
                  <a:noFill/>
                </a:ln>
                <a:solidFill>
                  <a:srgbClr val="FFFF00"/>
                </a:solidFill>
                <a:effectLst/>
                <a:uLnTx/>
                <a:uFillTx/>
                <a:latin typeface="Arial Narrow" pitchFamily="34" charset="0"/>
                <a:ea typeface="+mn-ea"/>
                <a:cs typeface="+mn-cs"/>
              </a:rPr>
              <a:t>(t) = ( I</a:t>
            </a:r>
            <a:r>
              <a:rPr kumimoji="0" lang="tr-TR" sz="1800" b="1" i="0" u="none" strike="noStrike" kern="1200" cap="none" spc="0" normalizeH="0" baseline="-25000" noProof="0">
                <a:ln>
                  <a:noFill/>
                </a:ln>
                <a:solidFill>
                  <a:srgbClr val="FFFF00"/>
                </a:solidFill>
                <a:effectLst/>
                <a:uLnTx/>
                <a:uFillTx/>
                <a:latin typeface="Arial Narrow" pitchFamily="34" charset="0"/>
                <a:ea typeface="+mn-ea"/>
                <a:cs typeface="+mn-cs"/>
              </a:rPr>
              <a:t>max</a:t>
            </a:r>
            <a:r>
              <a:rPr kumimoji="0" lang="tr-TR" sz="1800" b="1" i="0" u="none" strike="noStrike" kern="1200" cap="none" spc="0" normalizeH="0" baseline="0" noProof="0">
                <a:ln>
                  <a:noFill/>
                </a:ln>
                <a:solidFill>
                  <a:srgbClr val="FFFF00"/>
                </a:solidFill>
                <a:effectLst/>
                <a:uLnTx/>
                <a:uFillTx/>
                <a:latin typeface="Arial Narrow" pitchFamily="34" charset="0"/>
                <a:ea typeface="+mn-ea"/>
                <a:cs typeface="+mn-cs"/>
              </a:rPr>
              <a:t> sin wt )</a:t>
            </a:r>
            <a:r>
              <a:rPr kumimoji="0" lang="tr-TR" sz="1800" b="1" i="0" u="none" strike="noStrike" kern="1200" cap="none" spc="0" normalizeH="0" baseline="30000" noProof="0">
                <a:ln>
                  <a:noFill/>
                </a:ln>
                <a:solidFill>
                  <a:srgbClr val="FFFF00"/>
                </a:solidFill>
                <a:effectLst/>
                <a:uLnTx/>
                <a:uFillTx/>
                <a:latin typeface="Arial Narrow" pitchFamily="34" charset="0"/>
                <a:ea typeface="+mn-ea"/>
                <a:cs typeface="+mn-cs"/>
              </a:rPr>
              <a:t>2</a:t>
            </a:r>
            <a:endParaRPr kumimoji="0" lang="en-US" sz="1800" b="1" i="0" u="none" strike="noStrike" kern="1200" cap="none" spc="0" normalizeH="0" baseline="30000" noProof="0">
              <a:ln>
                <a:noFill/>
              </a:ln>
              <a:solidFill>
                <a:srgbClr val="FFFF00"/>
              </a:solidFill>
              <a:effectLst/>
              <a:uLnTx/>
              <a:uFillTx/>
              <a:latin typeface="Arial Narrow" pitchFamily="34" charset="0"/>
              <a:ea typeface="+mn-ea"/>
              <a:cs typeface="+mn-cs"/>
            </a:endParaRPr>
          </a:p>
        </p:txBody>
      </p:sp>
      <p:sp>
        <p:nvSpPr>
          <p:cNvPr id="123969" name="Line 252"/>
          <p:cNvSpPr>
            <a:spLocks noChangeShapeType="1"/>
          </p:cNvSpPr>
          <p:nvPr/>
        </p:nvSpPr>
        <p:spPr bwMode="auto">
          <a:xfrm>
            <a:off x="0" y="0"/>
            <a:ext cx="914400" cy="0"/>
          </a:xfrm>
          <a:prstGeom prst="line">
            <a:avLst/>
          </a:prstGeom>
          <a:noFill/>
          <a:ln w="952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0" name="Rectangle 211"/>
          <p:cNvSpPr>
            <a:spLocks noChangeArrowheads="1"/>
          </p:cNvSpPr>
          <p:nvPr/>
        </p:nvSpPr>
        <p:spPr bwMode="auto">
          <a:xfrm>
            <a:off x="4940300" y="2298700"/>
            <a:ext cx="3895725" cy="3875088"/>
          </a:xfrm>
          <a:prstGeom prst="rect">
            <a:avLst/>
          </a:prstGeom>
          <a:solidFill>
            <a:srgbClr val="C0C0C0">
              <a:alpha val="72940"/>
            </a:srgbClr>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1" name="Line 253"/>
          <p:cNvSpPr>
            <a:spLocks noChangeShapeType="1"/>
          </p:cNvSpPr>
          <p:nvPr/>
        </p:nvSpPr>
        <p:spPr bwMode="auto">
          <a:xfrm>
            <a:off x="0" y="0"/>
            <a:ext cx="0" cy="914400"/>
          </a:xfrm>
          <a:prstGeom prst="line">
            <a:avLst/>
          </a:prstGeom>
          <a:noFill/>
          <a:ln w="9525">
            <a:solidFill>
              <a:srgbClr val="00FF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2" name="Line 212"/>
          <p:cNvSpPr>
            <a:spLocks noChangeShapeType="1"/>
          </p:cNvSpPr>
          <p:nvPr/>
        </p:nvSpPr>
        <p:spPr bwMode="auto">
          <a:xfrm>
            <a:off x="4870450" y="5386388"/>
            <a:ext cx="31750" cy="1587"/>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3" name="Line 213"/>
          <p:cNvSpPr>
            <a:spLocks noChangeShapeType="1"/>
          </p:cNvSpPr>
          <p:nvPr/>
        </p:nvSpPr>
        <p:spPr bwMode="auto">
          <a:xfrm>
            <a:off x="5424488" y="2295525"/>
            <a:ext cx="1587" cy="38766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4" name="Line 214"/>
          <p:cNvSpPr>
            <a:spLocks noChangeShapeType="1"/>
          </p:cNvSpPr>
          <p:nvPr/>
        </p:nvSpPr>
        <p:spPr bwMode="auto">
          <a:xfrm>
            <a:off x="5913438" y="2306638"/>
            <a:ext cx="1587" cy="38766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5" name="Line 215"/>
          <p:cNvSpPr>
            <a:spLocks noChangeShapeType="1"/>
          </p:cNvSpPr>
          <p:nvPr/>
        </p:nvSpPr>
        <p:spPr bwMode="auto">
          <a:xfrm>
            <a:off x="6916738" y="2308225"/>
            <a:ext cx="3175" cy="38766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6" name="Line 216"/>
          <p:cNvSpPr>
            <a:spLocks noChangeShapeType="1"/>
          </p:cNvSpPr>
          <p:nvPr/>
        </p:nvSpPr>
        <p:spPr bwMode="auto">
          <a:xfrm>
            <a:off x="7377113" y="2306638"/>
            <a:ext cx="1587" cy="38766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7" name="Line 217"/>
          <p:cNvSpPr>
            <a:spLocks noChangeShapeType="1"/>
          </p:cNvSpPr>
          <p:nvPr/>
        </p:nvSpPr>
        <p:spPr bwMode="auto">
          <a:xfrm>
            <a:off x="7864475" y="2306638"/>
            <a:ext cx="1588" cy="38766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8" name="Line 218"/>
          <p:cNvSpPr>
            <a:spLocks noChangeShapeType="1"/>
          </p:cNvSpPr>
          <p:nvPr/>
        </p:nvSpPr>
        <p:spPr bwMode="auto">
          <a:xfrm>
            <a:off x="8837613" y="2284413"/>
            <a:ext cx="1587" cy="38766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9" name="Line 219"/>
          <p:cNvSpPr>
            <a:spLocks noChangeShapeType="1"/>
          </p:cNvSpPr>
          <p:nvPr/>
        </p:nvSpPr>
        <p:spPr bwMode="auto">
          <a:xfrm>
            <a:off x="4864100" y="5976938"/>
            <a:ext cx="33338" cy="3175"/>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0" name="Line 220"/>
          <p:cNvSpPr>
            <a:spLocks noChangeShapeType="1"/>
          </p:cNvSpPr>
          <p:nvPr/>
        </p:nvSpPr>
        <p:spPr bwMode="auto">
          <a:xfrm>
            <a:off x="4870450" y="5451475"/>
            <a:ext cx="31750" cy="3175"/>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1" name="Line 221"/>
          <p:cNvSpPr>
            <a:spLocks noChangeShapeType="1"/>
          </p:cNvSpPr>
          <p:nvPr/>
        </p:nvSpPr>
        <p:spPr bwMode="auto">
          <a:xfrm>
            <a:off x="4870450" y="5815013"/>
            <a:ext cx="31750" cy="3175"/>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2" name="Line 222"/>
          <p:cNvSpPr>
            <a:spLocks noChangeShapeType="1"/>
          </p:cNvSpPr>
          <p:nvPr/>
        </p:nvSpPr>
        <p:spPr bwMode="auto">
          <a:xfrm>
            <a:off x="4870450" y="4195763"/>
            <a:ext cx="31750" cy="1587"/>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3" name="Line 223"/>
          <p:cNvSpPr>
            <a:spLocks noChangeShapeType="1"/>
          </p:cNvSpPr>
          <p:nvPr/>
        </p:nvSpPr>
        <p:spPr bwMode="auto">
          <a:xfrm>
            <a:off x="4870450" y="3549650"/>
            <a:ext cx="31750" cy="3175"/>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4" name="Line 224"/>
          <p:cNvSpPr>
            <a:spLocks noChangeShapeType="1"/>
          </p:cNvSpPr>
          <p:nvPr/>
        </p:nvSpPr>
        <p:spPr bwMode="auto">
          <a:xfrm>
            <a:off x="4870450" y="2921000"/>
            <a:ext cx="31750" cy="3175"/>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5" name="Line 225"/>
          <p:cNvSpPr>
            <a:spLocks noChangeShapeType="1"/>
          </p:cNvSpPr>
          <p:nvPr/>
        </p:nvSpPr>
        <p:spPr bwMode="auto">
          <a:xfrm>
            <a:off x="4870450" y="2295525"/>
            <a:ext cx="31750" cy="1588"/>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6" name="Line 226"/>
          <p:cNvSpPr>
            <a:spLocks noChangeShapeType="1"/>
          </p:cNvSpPr>
          <p:nvPr/>
        </p:nvSpPr>
        <p:spPr bwMode="auto">
          <a:xfrm>
            <a:off x="4951413" y="6170613"/>
            <a:ext cx="3875087" cy="1587"/>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7" name="Line 227"/>
          <p:cNvSpPr>
            <a:spLocks noChangeShapeType="1"/>
          </p:cNvSpPr>
          <p:nvPr/>
        </p:nvSpPr>
        <p:spPr bwMode="auto">
          <a:xfrm>
            <a:off x="4946650" y="4824413"/>
            <a:ext cx="3875088" cy="31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8" name="Line 228"/>
          <p:cNvSpPr>
            <a:spLocks noChangeShapeType="1"/>
          </p:cNvSpPr>
          <p:nvPr/>
        </p:nvSpPr>
        <p:spPr bwMode="auto">
          <a:xfrm>
            <a:off x="4946650" y="4195763"/>
            <a:ext cx="3875088" cy="1587"/>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9" name="Line 229"/>
          <p:cNvSpPr>
            <a:spLocks noChangeShapeType="1"/>
          </p:cNvSpPr>
          <p:nvPr/>
        </p:nvSpPr>
        <p:spPr bwMode="auto">
          <a:xfrm>
            <a:off x="4946650" y="3549650"/>
            <a:ext cx="3875088" cy="31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0" name="Line 230"/>
          <p:cNvSpPr>
            <a:spLocks noChangeShapeType="1"/>
          </p:cNvSpPr>
          <p:nvPr/>
        </p:nvSpPr>
        <p:spPr bwMode="auto">
          <a:xfrm>
            <a:off x="4946650" y="2921000"/>
            <a:ext cx="3875088" cy="31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1" name="Line 231"/>
          <p:cNvSpPr>
            <a:spLocks noChangeShapeType="1"/>
          </p:cNvSpPr>
          <p:nvPr/>
        </p:nvSpPr>
        <p:spPr bwMode="auto">
          <a:xfrm>
            <a:off x="4940300" y="2297113"/>
            <a:ext cx="3875088" cy="1587"/>
          </a:xfrm>
          <a:prstGeom prst="line">
            <a:avLst/>
          </a:prstGeom>
          <a:noFill/>
          <a:ln w="3175">
            <a:solidFill>
              <a:srgbClr val="969696"/>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2" name="Line 232"/>
          <p:cNvSpPr>
            <a:spLocks noChangeShapeType="1"/>
          </p:cNvSpPr>
          <p:nvPr/>
        </p:nvSpPr>
        <p:spPr bwMode="auto">
          <a:xfrm flipV="1">
            <a:off x="4951413" y="5481638"/>
            <a:ext cx="4133850"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3" name="Line 233"/>
          <p:cNvSpPr>
            <a:spLocks noChangeShapeType="1"/>
          </p:cNvSpPr>
          <p:nvPr/>
        </p:nvSpPr>
        <p:spPr bwMode="auto">
          <a:xfrm flipV="1">
            <a:off x="4902200" y="5451475"/>
            <a:ext cx="1588" cy="63500"/>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4" name="Freeform 234"/>
          <p:cNvSpPr>
            <a:spLocks/>
          </p:cNvSpPr>
          <p:nvPr/>
        </p:nvSpPr>
        <p:spPr bwMode="auto">
          <a:xfrm>
            <a:off x="4946650" y="2609850"/>
            <a:ext cx="3905250" cy="2841625"/>
          </a:xfrm>
          <a:custGeom>
            <a:avLst/>
            <a:gdLst>
              <a:gd name="T0" fmla="*/ 2147483647 w 494"/>
              <a:gd name="T1" fmla="*/ 2147483647 h 181"/>
              <a:gd name="T2" fmla="*/ 2147483647 w 494"/>
              <a:gd name="T3" fmla="*/ 2147483647 h 181"/>
              <a:gd name="T4" fmla="*/ 2147483647 w 494"/>
              <a:gd name="T5" fmla="*/ 2147483647 h 181"/>
              <a:gd name="T6" fmla="*/ 2147483647 w 494"/>
              <a:gd name="T7" fmla="*/ 2147483647 h 181"/>
              <a:gd name="T8" fmla="*/ 2147483647 w 494"/>
              <a:gd name="T9" fmla="*/ 2147483647 h 181"/>
              <a:gd name="T10" fmla="*/ 2147483647 w 494"/>
              <a:gd name="T11" fmla="*/ 2147483647 h 181"/>
              <a:gd name="T12" fmla="*/ 2147483647 w 494"/>
              <a:gd name="T13" fmla="*/ 2147483647 h 181"/>
              <a:gd name="T14" fmla="*/ 2147483647 w 494"/>
              <a:gd name="T15" fmla="*/ 2147483647 h 181"/>
              <a:gd name="T16" fmla="*/ 2147483647 w 494"/>
              <a:gd name="T17" fmla="*/ 2147483647 h 181"/>
              <a:gd name="T18" fmla="*/ 2147483647 w 494"/>
              <a:gd name="T19" fmla="*/ 2147483647 h 181"/>
              <a:gd name="T20" fmla="*/ 2147483647 w 494"/>
              <a:gd name="T21" fmla="*/ 2147483647 h 181"/>
              <a:gd name="T22" fmla="*/ 2147483647 w 494"/>
              <a:gd name="T23" fmla="*/ 2147483647 h 181"/>
              <a:gd name="T24" fmla="*/ 2147483647 w 494"/>
              <a:gd name="T25" fmla="*/ 0 h 181"/>
              <a:gd name="T26" fmla="*/ 2147483647 w 494"/>
              <a:gd name="T27" fmla="*/ 2147483647 h 181"/>
              <a:gd name="T28" fmla="*/ 2147483647 w 494"/>
              <a:gd name="T29" fmla="*/ 2147483647 h 181"/>
              <a:gd name="T30" fmla="*/ 2147483647 w 494"/>
              <a:gd name="T31" fmla="*/ 2147483647 h 181"/>
              <a:gd name="T32" fmla="*/ 2147483647 w 494"/>
              <a:gd name="T33" fmla="*/ 2147483647 h 181"/>
              <a:gd name="T34" fmla="*/ 2147483647 w 494"/>
              <a:gd name="T35" fmla="*/ 2147483647 h 181"/>
              <a:gd name="T36" fmla="*/ 2147483647 w 494"/>
              <a:gd name="T37" fmla="*/ 2147483647 h 181"/>
              <a:gd name="T38" fmla="*/ 2147483647 w 494"/>
              <a:gd name="T39" fmla="*/ 2147483647 h 181"/>
              <a:gd name="T40" fmla="*/ 2147483647 w 494"/>
              <a:gd name="T41" fmla="*/ 2147483647 h 181"/>
              <a:gd name="T42" fmla="*/ 2147483647 w 494"/>
              <a:gd name="T43" fmla="*/ 2147483647 h 181"/>
              <a:gd name="T44" fmla="*/ 2147483647 w 494"/>
              <a:gd name="T45" fmla="*/ 2147483647 h 181"/>
              <a:gd name="T46" fmla="*/ 2147483647 w 494"/>
              <a:gd name="T47" fmla="*/ 2147483647 h 181"/>
              <a:gd name="T48" fmla="*/ 2147483647 w 494"/>
              <a:gd name="T49" fmla="*/ 2147483647 h 181"/>
              <a:gd name="T50" fmla="*/ 2147483647 w 494"/>
              <a:gd name="T51" fmla="*/ 2147483647 h 181"/>
              <a:gd name="T52" fmla="*/ 2147483647 w 494"/>
              <a:gd name="T53" fmla="*/ 2147483647 h 181"/>
              <a:gd name="T54" fmla="*/ 2147483647 w 494"/>
              <a:gd name="T55" fmla="*/ 2147483647 h 181"/>
              <a:gd name="T56" fmla="*/ 2147483647 w 494"/>
              <a:gd name="T57" fmla="*/ 2147483647 h 181"/>
              <a:gd name="T58" fmla="*/ 2147483647 w 494"/>
              <a:gd name="T59" fmla="*/ 2147483647 h 181"/>
              <a:gd name="T60" fmla="*/ 2147483647 w 494"/>
              <a:gd name="T61" fmla="*/ 2147483647 h 181"/>
              <a:gd name="T62" fmla="*/ 2147483647 w 494"/>
              <a:gd name="T63" fmla="*/ 2147483647 h 181"/>
              <a:gd name="T64" fmla="*/ 2147483647 w 494"/>
              <a:gd name="T65" fmla="*/ 2147483647 h 181"/>
              <a:gd name="T66" fmla="*/ 2147483647 w 494"/>
              <a:gd name="T67" fmla="*/ 2147483647 h 181"/>
              <a:gd name="T68" fmla="*/ 2147483647 w 494"/>
              <a:gd name="T69" fmla="*/ 2147483647 h 181"/>
              <a:gd name="T70" fmla="*/ 2147483647 w 494"/>
              <a:gd name="T71" fmla="*/ 2147483647 h 181"/>
              <a:gd name="T72" fmla="*/ 2147483647 w 494"/>
              <a:gd name="T73" fmla="*/ 2147483647 h 181"/>
              <a:gd name="T74" fmla="*/ 2147483647 w 494"/>
              <a:gd name="T75" fmla="*/ 0 h 181"/>
              <a:gd name="T76" fmla="*/ 2147483647 w 494"/>
              <a:gd name="T77" fmla="*/ 2147483647 h 181"/>
              <a:gd name="T78" fmla="*/ 2147483647 w 494"/>
              <a:gd name="T79" fmla="*/ 2147483647 h 181"/>
              <a:gd name="T80" fmla="*/ 2147483647 w 494"/>
              <a:gd name="T81" fmla="*/ 2147483647 h 181"/>
              <a:gd name="T82" fmla="*/ 2147483647 w 494"/>
              <a:gd name="T83" fmla="*/ 2147483647 h 181"/>
              <a:gd name="T84" fmla="*/ 2147483647 w 494"/>
              <a:gd name="T85" fmla="*/ 2147483647 h 181"/>
              <a:gd name="T86" fmla="*/ 2147483647 w 494"/>
              <a:gd name="T87" fmla="*/ 2147483647 h 181"/>
              <a:gd name="T88" fmla="*/ 2147483647 w 494"/>
              <a:gd name="T89" fmla="*/ 2147483647 h 181"/>
              <a:gd name="T90" fmla="*/ 2147483647 w 494"/>
              <a:gd name="T91" fmla="*/ 2147483647 h 181"/>
              <a:gd name="T92" fmla="*/ 2147483647 w 494"/>
              <a:gd name="T93" fmla="*/ 2147483647 h 181"/>
              <a:gd name="T94" fmla="*/ 2147483647 w 494"/>
              <a:gd name="T95" fmla="*/ 2147483647 h 181"/>
              <a:gd name="T96" fmla="*/ 2147483647 w 494"/>
              <a:gd name="T97" fmla="*/ 2147483647 h 181"/>
              <a:gd name="T98" fmla="*/ 2147483647 w 494"/>
              <a:gd name="T99" fmla="*/ 2147483647 h 1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94"/>
              <a:gd name="T151" fmla="*/ 0 h 181"/>
              <a:gd name="T152" fmla="*/ 494 w 494"/>
              <a:gd name="T153" fmla="*/ 181 h 1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94" h="181">
                <a:moveTo>
                  <a:pt x="0" y="181"/>
                </a:moveTo>
                <a:lnTo>
                  <a:pt x="5" y="180"/>
                </a:lnTo>
                <a:lnTo>
                  <a:pt x="10" y="178"/>
                </a:lnTo>
                <a:lnTo>
                  <a:pt x="15" y="175"/>
                </a:lnTo>
                <a:lnTo>
                  <a:pt x="20" y="170"/>
                </a:lnTo>
                <a:lnTo>
                  <a:pt x="25" y="164"/>
                </a:lnTo>
                <a:lnTo>
                  <a:pt x="30" y="157"/>
                </a:lnTo>
                <a:lnTo>
                  <a:pt x="35" y="148"/>
                </a:lnTo>
                <a:lnTo>
                  <a:pt x="39" y="139"/>
                </a:lnTo>
                <a:lnTo>
                  <a:pt x="44" y="129"/>
                </a:lnTo>
                <a:lnTo>
                  <a:pt x="49" y="119"/>
                </a:lnTo>
                <a:lnTo>
                  <a:pt x="54" y="108"/>
                </a:lnTo>
                <a:lnTo>
                  <a:pt x="59" y="96"/>
                </a:lnTo>
                <a:lnTo>
                  <a:pt x="64" y="85"/>
                </a:lnTo>
                <a:lnTo>
                  <a:pt x="69" y="74"/>
                </a:lnTo>
                <a:lnTo>
                  <a:pt x="74" y="63"/>
                </a:lnTo>
                <a:lnTo>
                  <a:pt x="79" y="52"/>
                </a:lnTo>
                <a:lnTo>
                  <a:pt x="84" y="42"/>
                </a:lnTo>
                <a:lnTo>
                  <a:pt x="89" y="33"/>
                </a:lnTo>
                <a:lnTo>
                  <a:pt x="94" y="25"/>
                </a:lnTo>
                <a:lnTo>
                  <a:pt x="99" y="17"/>
                </a:lnTo>
                <a:lnTo>
                  <a:pt x="104" y="11"/>
                </a:lnTo>
                <a:lnTo>
                  <a:pt x="109" y="6"/>
                </a:lnTo>
                <a:lnTo>
                  <a:pt x="114" y="3"/>
                </a:lnTo>
                <a:lnTo>
                  <a:pt x="118" y="1"/>
                </a:lnTo>
                <a:lnTo>
                  <a:pt x="123" y="0"/>
                </a:lnTo>
                <a:lnTo>
                  <a:pt x="128" y="1"/>
                </a:lnTo>
                <a:lnTo>
                  <a:pt x="133" y="3"/>
                </a:lnTo>
                <a:lnTo>
                  <a:pt x="138" y="6"/>
                </a:lnTo>
                <a:lnTo>
                  <a:pt x="143" y="11"/>
                </a:lnTo>
                <a:lnTo>
                  <a:pt x="148" y="17"/>
                </a:lnTo>
                <a:lnTo>
                  <a:pt x="153" y="25"/>
                </a:lnTo>
                <a:lnTo>
                  <a:pt x="158" y="33"/>
                </a:lnTo>
                <a:lnTo>
                  <a:pt x="163" y="42"/>
                </a:lnTo>
                <a:lnTo>
                  <a:pt x="168" y="52"/>
                </a:lnTo>
                <a:lnTo>
                  <a:pt x="173" y="63"/>
                </a:lnTo>
                <a:lnTo>
                  <a:pt x="178" y="74"/>
                </a:lnTo>
                <a:lnTo>
                  <a:pt x="183" y="85"/>
                </a:lnTo>
                <a:lnTo>
                  <a:pt x="188" y="96"/>
                </a:lnTo>
                <a:lnTo>
                  <a:pt x="193" y="108"/>
                </a:lnTo>
                <a:lnTo>
                  <a:pt x="197" y="119"/>
                </a:lnTo>
                <a:lnTo>
                  <a:pt x="202" y="129"/>
                </a:lnTo>
                <a:lnTo>
                  <a:pt x="207" y="139"/>
                </a:lnTo>
                <a:lnTo>
                  <a:pt x="212" y="148"/>
                </a:lnTo>
                <a:lnTo>
                  <a:pt x="217" y="157"/>
                </a:lnTo>
                <a:lnTo>
                  <a:pt x="222" y="164"/>
                </a:lnTo>
                <a:lnTo>
                  <a:pt x="227" y="170"/>
                </a:lnTo>
                <a:lnTo>
                  <a:pt x="232" y="175"/>
                </a:lnTo>
                <a:lnTo>
                  <a:pt x="237" y="178"/>
                </a:lnTo>
                <a:lnTo>
                  <a:pt x="242" y="180"/>
                </a:lnTo>
                <a:lnTo>
                  <a:pt x="247" y="181"/>
                </a:lnTo>
                <a:lnTo>
                  <a:pt x="252" y="180"/>
                </a:lnTo>
                <a:lnTo>
                  <a:pt x="257" y="178"/>
                </a:lnTo>
                <a:lnTo>
                  <a:pt x="262" y="175"/>
                </a:lnTo>
                <a:lnTo>
                  <a:pt x="267" y="170"/>
                </a:lnTo>
                <a:lnTo>
                  <a:pt x="272" y="164"/>
                </a:lnTo>
                <a:lnTo>
                  <a:pt x="276" y="157"/>
                </a:lnTo>
                <a:lnTo>
                  <a:pt x="281" y="148"/>
                </a:lnTo>
                <a:lnTo>
                  <a:pt x="286" y="139"/>
                </a:lnTo>
                <a:lnTo>
                  <a:pt x="291" y="129"/>
                </a:lnTo>
                <a:lnTo>
                  <a:pt x="296" y="119"/>
                </a:lnTo>
                <a:lnTo>
                  <a:pt x="301" y="108"/>
                </a:lnTo>
                <a:lnTo>
                  <a:pt x="306" y="96"/>
                </a:lnTo>
                <a:lnTo>
                  <a:pt x="311" y="85"/>
                </a:lnTo>
                <a:lnTo>
                  <a:pt x="316" y="74"/>
                </a:lnTo>
                <a:lnTo>
                  <a:pt x="321" y="63"/>
                </a:lnTo>
                <a:lnTo>
                  <a:pt x="326" y="52"/>
                </a:lnTo>
                <a:lnTo>
                  <a:pt x="331" y="42"/>
                </a:lnTo>
                <a:lnTo>
                  <a:pt x="336" y="33"/>
                </a:lnTo>
                <a:lnTo>
                  <a:pt x="341" y="25"/>
                </a:lnTo>
                <a:lnTo>
                  <a:pt x="346" y="17"/>
                </a:lnTo>
                <a:lnTo>
                  <a:pt x="351" y="11"/>
                </a:lnTo>
                <a:lnTo>
                  <a:pt x="355" y="6"/>
                </a:lnTo>
                <a:lnTo>
                  <a:pt x="360" y="3"/>
                </a:lnTo>
                <a:lnTo>
                  <a:pt x="365" y="1"/>
                </a:lnTo>
                <a:lnTo>
                  <a:pt x="370" y="0"/>
                </a:lnTo>
                <a:lnTo>
                  <a:pt x="375" y="1"/>
                </a:lnTo>
                <a:lnTo>
                  <a:pt x="380" y="3"/>
                </a:lnTo>
                <a:lnTo>
                  <a:pt x="385" y="6"/>
                </a:lnTo>
                <a:lnTo>
                  <a:pt x="390" y="11"/>
                </a:lnTo>
                <a:lnTo>
                  <a:pt x="395" y="17"/>
                </a:lnTo>
                <a:lnTo>
                  <a:pt x="400" y="25"/>
                </a:lnTo>
                <a:lnTo>
                  <a:pt x="405" y="33"/>
                </a:lnTo>
                <a:lnTo>
                  <a:pt x="410" y="42"/>
                </a:lnTo>
                <a:lnTo>
                  <a:pt x="415" y="52"/>
                </a:lnTo>
                <a:lnTo>
                  <a:pt x="420" y="63"/>
                </a:lnTo>
                <a:lnTo>
                  <a:pt x="425" y="74"/>
                </a:lnTo>
                <a:lnTo>
                  <a:pt x="430" y="85"/>
                </a:lnTo>
                <a:lnTo>
                  <a:pt x="434" y="96"/>
                </a:lnTo>
                <a:lnTo>
                  <a:pt x="439" y="108"/>
                </a:lnTo>
                <a:lnTo>
                  <a:pt x="444" y="119"/>
                </a:lnTo>
                <a:lnTo>
                  <a:pt x="449" y="129"/>
                </a:lnTo>
                <a:lnTo>
                  <a:pt x="454" y="139"/>
                </a:lnTo>
                <a:lnTo>
                  <a:pt x="459" y="148"/>
                </a:lnTo>
                <a:lnTo>
                  <a:pt x="464" y="157"/>
                </a:lnTo>
                <a:lnTo>
                  <a:pt x="469" y="164"/>
                </a:lnTo>
                <a:lnTo>
                  <a:pt x="474" y="170"/>
                </a:lnTo>
                <a:lnTo>
                  <a:pt x="479" y="175"/>
                </a:lnTo>
                <a:lnTo>
                  <a:pt x="484" y="178"/>
                </a:lnTo>
                <a:lnTo>
                  <a:pt x="489" y="180"/>
                </a:lnTo>
                <a:lnTo>
                  <a:pt x="494" y="181"/>
                </a:lnTo>
              </a:path>
            </a:pathLst>
          </a:custGeom>
          <a:noFill/>
          <a:ln w="25400">
            <a:solidFill>
              <a:srgbClr val="000066"/>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5" name="Rectangle 235"/>
          <p:cNvSpPr>
            <a:spLocks noChangeArrowheads="1"/>
          </p:cNvSpPr>
          <p:nvPr/>
        </p:nvSpPr>
        <p:spPr bwMode="auto">
          <a:xfrm>
            <a:off x="4789488" y="5326063"/>
            <a:ext cx="84137" cy="182562"/>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0</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6" name="Rectangle 236"/>
          <p:cNvSpPr>
            <a:spLocks noChangeArrowheads="1"/>
          </p:cNvSpPr>
          <p:nvPr/>
        </p:nvSpPr>
        <p:spPr bwMode="auto">
          <a:xfrm>
            <a:off x="4679950" y="4697413"/>
            <a:ext cx="212725" cy="18415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0.5</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7" name="Rectangle 237"/>
          <p:cNvSpPr>
            <a:spLocks noChangeArrowheads="1"/>
          </p:cNvSpPr>
          <p:nvPr/>
        </p:nvSpPr>
        <p:spPr bwMode="auto">
          <a:xfrm>
            <a:off x="4675188" y="4068763"/>
            <a:ext cx="212725" cy="18415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1</a:t>
            </a:r>
            <a:r>
              <a:rPr kumimoji="0" lang="tr-TR" sz="1200" b="0" i="0" u="none" strike="noStrike" kern="1200" cap="none" spc="0" normalizeH="0" baseline="0" noProof="0">
                <a:ln>
                  <a:noFill/>
                </a:ln>
                <a:solidFill>
                  <a:srgbClr val="000000"/>
                </a:solidFill>
                <a:effectLst/>
                <a:uLnTx/>
                <a:uFillTx/>
                <a:latin typeface="Arial" charset="0"/>
                <a:ea typeface="+mn-ea"/>
                <a:cs typeface="+mn-cs"/>
              </a:rPr>
              <a:t>.0</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8" name="Rectangle 238"/>
          <p:cNvSpPr>
            <a:spLocks noChangeArrowheads="1"/>
          </p:cNvSpPr>
          <p:nvPr/>
        </p:nvSpPr>
        <p:spPr bwMode="auto">
          <a:xfrm>
            <a:off x="4679950" y="3424238"/>
            <a:ext cx="212725" cy="18415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1.5</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9" name="Rectangle 239"/>
          <p:cNvSpPr>
            <a:spLocks noChangeArrowheads="1"/>
          </p:cNvSpPr>
          <p:nvPr/>
        </p:nvSpPr>
        <p:spPr bwMode="auto">
          <a:xfrm>
            <a:off x="4675188" y="2797175"/>
            <a:ext cx="212725" cy="18415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2</a:t>
            </a:r>
            <a:r>
              <a:rPr kumimoji="0" lang="tr-TR" sz="1200" b="0" i="0" u="none" strike="noStrike" kern="1200" cap="none" spc="0" normalizeH="0" baseline="0" noProof="0">
                <a:ln>
                  <a:noFill/>
                </a:ln>
                <a:solidFill>
                  <a:srgbClr val="000000"/>
                </a:solidFill>
                <a:effectLst/>
                <a:uLnTx/>
                <a:uFillTx/>
                <a:latin typeface="Arial" charset="0"/>
                <a:ea typeface="+mn-ea"/>
                <a:cs typeface="+mn-cs"/>
              </a:rPr>
              <a:t>.0</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000" name="Rectangle 240"/>
          <p:cNvSpPr>
            <a:spLocks noChangeArrowheads="1"/>
          </p:cNvSpPr>
          <p:nvPr/>
        </p:nvSpPr>
        <p:spPr bwMode="auto">
          <a:xfrm>
            <a:off x="4679950" y="2166938"/>
            <a:ext cx="212725" cy="18415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2.5</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001" name="Line 241"/>
          <p:cNvSpPr>
            <a:spLocks noChangeShapeType="1"/>
          </p:cNvSpPr>
          <p:nvPr/>
        </p:nvSpPr>
        <p:spPr bwMode="auto">
          <a:xfrm flipV="1">
            <a:off x="4932363" y="3990975"/>
            <a:ext cx="3881437" cy="9525"/>
          </a:xfrm>
          <a:prstGeom prst="line">
            <a:avLst/>
          </a:prstGeom>
          <a:noFill/>
          <a:ln w="25400">
            <a:solidFill>
              <a:srgbClr val="000066"/>
            </a:solidFill>
            <a:prstDash val="sysDot"/>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002" name="Text Box 242"/>
          <p:cNvSpPr txBox="1">
            <a:spLocks noChangeArrowheads="1"/>
          </p:cNvSpPr>
          <p:nvPr/>
        </p:nvSpPr>
        <p:spPr bwMode="auto">
          <a:xfrm>
            <a:off x="7940675" y="5649913"/>
            <a:ext cx="1136650" cy="274637"/>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srgbClr val="000066"/>
                </a:solidFill>
                <a:effectLst/>
                <a:uLnTx/>
                <a:uFillTx/>
                <a:latin typeface="Arial Narrow" pitchFamily="34" charset="0"/>
                <a:ea typeface="+mn-ea"/>
                <a:cs typeface="+mn-cs"/>
              </a:rPr>
              <a:t>Angle (Radians)</a:t>
            </a:r>
            <a:endParaRPr kumimoji="0" lang="en-US" sz="1200" b="0" i="0" u="none" strike="noStrike" kern="1200" cap="none" spc="0" normalizeH="0" baseline="0" noProof="0">
              <a:ln>
                <a:noFill/>
              </a:ln>
              <a:solidFill>
                <a:srgbClr val="000066"/>
              </a:solidFill>
              <a:effectLst/>
              <a:uLnTx/>
              <a:uFillTx/>
              <a:latin typeface="Arial Narrow" pitchFamily="34" charset="0"/>
              <a:ea typeface="+mn-ea"/>
              <a:cs typeface="+mn-cs"/>
            </a:endParaRPr>
          </a:p>
        </p:txBody>
      </p:sp>
      <p:sp>
        <p:nvSpPr>
          <p:cNvPr id="124003" name="Line 243"/>
          <p:cNvSpPr>
            <a:spLocks noChangeShapeType="1"/>
          </p:cNvSpPr>
          <p:nvPr/>
        </p:nvSpPr>
        <p:spPr bwMode="auto">
          <a:xfrm>
            <a:off x="6434138" y="2306638"/>
            <a:ext cx="1587" cy="38766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004" name="Line 244"/>
          <p:cNvSpPr>
            <a:spLocks noChangeShapeType="1"/>
          </p:cNvSpPr>
          <p:nvPr/>
        </p:nvSpPr>
        <p:spPr bwMode="auto">
          <a:xfrm>
            <a:off x="8362950" y="2306638"/>
            <a:ext cx="1588" cy="38766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005" name="Line 245"/>
          <p:cNvSpPr>
            <a:spLocks noChangeShapeType="1"/>
          </p:cNvSpPr>
          <p:nvPr/>
        </p:nvSpPr>
        <p:spPr bwMode="auto">
          <a:xfrm>
            <a:off x="4945063" y="2295525"/>
            <a:ext cx="1587" cy="38766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006" name="Rectangle 246"/>
          <p:cNvSpPr>
            <a:spLocks noChangeArrowheads="1"/>
          </p:cNvSpPr>
          <p:nvPr/>
        </p:nvSpPr>
        <p:spPr bwMode="auto">
          <a:xfrm>
            <a:off x="6851650" y="5453063"/>
            <a:ext cx="188913" cy="212725"/>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rPr>
              <a:t></a:t>
            </a:r>
          </a:p>
        </p:txBody>
      </p:sp>
      <p:sp>
        <p:nvSpPr>
          <p:cNvPr id="124007" name="Rectangle 247"/>
          <p:cNvSpPr>
            <a:spLocks noChangeArrowheads="1"/>
          </p:cNvSpPr>
          <p:nvPr/>
        </p:nvSpPr>
        <p:spPr bwMode="auto">
          <a:xfrm>
            <a:off x="5786438" y="5480050"/>
            <a:ext cx="358775" cy="212725"/>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rPr>
              <a:t></a:t>
            </a:r>
            <a:r>
              <a:rPr kumimoji="0" lang="tr-TR" sz="12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rPr>
              <a:t>/2</a:t>
            </a:r>
            <a:endParaRPr kumimoji="0" lang="en-US" sz="12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endParaRPr>
          </a:p>
        </p:txBody>
      </p:sp>
      <p:sp>
        <p:nvSpPr>
          <p:cNvPr id="124008" name="Rectangle 248"/>
          <p:cNvSpPr>
            <a:spLocks noChangeArrowheads="1"/>
          </p:cNvSpPr>
          <p:nvPr/>
        </p:nvSpPr>
        <p:spPr bwMode="auto">
          <a:xfrm>
            <a:off x="7758113" y="5480050"/>
            <a:ext cx="419100" cy="212725"/>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srgbClr val="000066"/>
                </a:solidFill>
                <a:effectLst/>
                <a:uLnTx/>
                <a:uFillTx/>
                <a:latin typeface="Arial Narrow" pitchFamily="34" charset="0"/>
                <a:ea typeface="+mn-ea"/>
                <a:cs typeface="+mn-cs"/>
              </a:rPr>
              <a:t>3</a:t>
            </a:r>
            <a:r>
              <a:rPr kumimoji="0" lang="en-US" sz="14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rPr>
              <a:t></a:t>
            </a:r>
            <a:r>
              <a:rPr kumimoji="0" lang="tr-TR" sz="12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rPr>
              <a:t>/2</a:t>
            </a:r>
            <a:endParaRPr kumimoji="0" lang="en-US" sz="12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endParaRPr>
          </a:p>
        </p:txBody>
      </p:sp>
      <p:sp>
        <p:nvSpPr>
          <p:cNvPr id="124009" name="Rectangle 249"/>
          <p:cNvSpPr>
            <a:spLocks noChangeArrowheads="1"/>
          </p:cNvSpPr>
          <p:nvPr/>
        </p:nvSpPr>
        <p:spPr bwMode="auto">
          <a:xfrm>
            <a:off x="8636000" y="5472113"/>
            <a:ext cx="298450" cy="212725"/>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66"/>
                </a:solidFill>
                <a:effectLst/>
                <a:uLnTx/>
                <a:uFillTx/>
                <a:latin typeface="Arial Narrow" pitchFamily="34" charset="0"/>
                <a:ea typeface="+mn-ea"/>
                <a:cs typeface="+mn-cs"/>
              </a:rPr>
              <a:t>2</a:t>
            </a:r>
            <a:r>
              <a:rPr kumimoji="0" lang="en-US" sz="14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rPr>
              <a:t></a:t>
            </a:r>
          </a:p>
        </p:txBody>
      </p:sp>
      <p:sp>
        <p:nvSpPr>
          <p:cNvPr id="124010" name="Rectangle 250"/>
          <p:cNvSpPr>
            <a:spLocks noChangeArrowheads="1"/>
          </p:cNvSpPr>
          <p:nvPr/>
        </p:nvSpPr>
        <p:spPr bwMode="auto">
          <a:xfrm>
            <a:off x="5011738" y="5513388"/>
            <a:ext cx="357187" cy="182562"/>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srgbClr val="000066"/>
                </a:solidFill>
                <a:effectLst/>
                <a:uLnTx/>
                <a:uFillTx/>
                <a:latin typeface="Arial" charset="0"/>
                <a:ea typeface="+mn-ea"/>
                <a:cs typeface="+mn-cs"/>
                <a:sym typeface="Symbol" pitchFamily="18" charset="2"/>
              </a:rPr>
              <a:t>0</a:t>
            </a:r>
            <a:endParaRPr kumimoji="0" lang="en-US" sz="1200" b="0" i="0" u="none" strike="noStrike" kern="1200" cap="none" spc="0" normalizeH="0" baseline="0" noProof="0">
              <a:ln>
                <a:noFill/>
              </a:ln>
              <a:solidFill>
                <a:srgbClr val="000066"/>
              </a:solidFill>
              <a:effectLst/>
              <a:uLnTx/>
              <a:uFillTx/>
              <a:latin typeface="Arial" charset="0"/>
              <a:ea typeface="+mn-ea"/>
              <a:cs typeface="+mn-cs"/>
              <a:sym typeface="Symbol" pitchFamily="18" charset="2"/>
            </a:endParaRPr>
          </a:p>
        </p:txBody>
      </p:sp>
      <p:sp>
        <p:nvSpPr>
          <p:cNvPr id="124011" name="Line 136"/>
          <p:cNvSpPr>
            <a:spLocks noChangeShapeType="1"/>
          </p:cNvSpPr>
          <p:nvPr/>
        </p:nvSpPr>
        <p:spPr bwMode="auto">
          <a:xfrm flipH="1">
            <a:off x="7488238" y="3979863"/>
            <a:ext cx="0" cy="1477962"/>
          </a:xfrm>
          <a:prstGeom prst="line">
            <a:avLst/>
          </a:prstGeom>
          <a:noFill/>
          <a:ln w="19050">
            <a:solidFill>
              <a:srgbClr val="000066"/>
            </a:solidFill>
            <a:prstDash val="sysDot"/>
            <a:round/>
            <a:headEnd type="triangle" w="med" len="me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grpSp>
        <p:nvGrpSpPr>
          <p:cNvPr id="2" name="Group 114"/>
          <p:cNvGrpSpPr>
            <a:grpSpLocks/>
          </p:cNvGrpSpPr>
          <p:nvPr/>
        </p:nvGrpSpPr>
        <p:grpSpPr bwMode="auto">
          <a:xfrm>
            <a:off x="7524750" y="1412875"/>
            <a:ext cx="269875" cy="3275013"/>
            <a:chOff x="7524750" y="1412875"/>
            <a:chExt cx="269875" cy="3611563"/>
          </a:xfrm>
        </p:grpSpPr>
        <p:sp>
          <p:nvSpPr>
            <p:cNvPr id="124018" name="Line 67"/>
            <p:cNvSpPr>
              <a:spLocks noChangeShapeType="1"/>
            </p:cNvSpPr>
            <p:nvPr/>
          </p:nvSpPr>
          <p:spPr bwMode="auto">
            <a:xfrm>
              <a:off x="7777163" y="1412875"/>
              <a:ext cx="17462" cy="3611563"/>
            </a:xfrm>
            <a:prstGeom prst="line">
              <a:avLst/>
            </a:prstGeom>
            <a:noFill/>
            <a:ln w="25400">
              <a:solidFill>
                <a:srgbClr val="CC3300"/>
              </a:solidFill>
              <a:prstDash val="sysDot"/>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019" name="Line 137"/>
            <p:cNvSpPr>
              <a:spLocks noChangeShapeType="1"/>
            </p:cNvSpPr>
            <p:nvPr/>
          </p:nvSpPr>
          <p:spPr bwMode="auto">
            <a:xfrm rot="5400000">
              <a:off x="7659688" y="4889500"/>
              <a:ext cx="0" cy="269875"/>
            </a:xfrm>
            <a:prstGeom prst="line">
              <a:avLst/>
            </a:prstGeom>
            <a:noFill/>
            <a:ln w="25400">
              <a:solidFill>
                <a:srgbClr val="CC3300"/>
              </a:solidFill>
              <a:prstDash val="sysDot"/>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grpSp>
      <p:sp>
        <p:nvSpPr>
          <p:cNvPr id="124013" name="Rectangle 143"/>
          <p:cNvSpPr>
            <a:spLocks noChangeArrowheads="1"/>
          </p:cNvSpPr>
          <p:nvPr/>
        </p:nvSpPr>
        <p:spPr bwMode="auto">
          <a:xfrm>
            <a:off x="6753225" y="1365250"/>
            <a:ext cx="2390775" cy="609252"/>
          </a:xfrm>
          <a:prstGeom prst="rect">
            <a:avLst/>
          </a:prstGeom>
          <a:solidFill>
            <a:srgbClr val="CC3300"/>
          </a:solidFill>
          <a:ln w="9525">
            <a:noFill/>
            <a:miter lim="800000"/>
            <a:headEnd/>
            <a:tailEnd/>
          </a:ln>
        </p:spPr>
        <p:txBody>
          <a:bodyPr tIns="118800" bIns="118800">
            <a:spAutoFit/>
          </a:bodyPr>
          <a:lstStyle/>
          <a:p>
            <a:pPr marL="447675" marR="0" lvl="0" indent="-447675" algn="ctr" defTabSz="914400" rtl="0" eaLnBrk="1" fontAlgn="base" latinLnBrk="0" hangingPunct="1">
              <a:lnSpc>
                <a:spcPct val="100000"/>
              </a:lnSpc>
              <a:spcBef>
                <a:spcPct val="0"/>
              </a:spcBef>
              <a:spcAft>
                <a:spcPct val="0"/>
              </a:spcAft>
              <a:buClrTx/>
              <a:buSzTx/>
              <a:buFontTx/>
              <a:buNone/>
              <a:tabLst/>
              <a:defRPr/>
            </a:pP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rPr>
              <a:t>I</a:t>
            </a:r>
            <a:r>
              <a:rPr kumimoji="0" lang="tr-TR" sz="1800" b="1" i="0" u="none" strike="noStrike" kern="1200" cap="none" spc="0" normalizeH="0" baseline="-25000" noProof="0">
                <a:ln>
                  <a:noFill/>
                </a:ln>
                <a:solidFill>
                  <a:prstClr val="white"/>
                </a:solidFill>
                <a:effectLst/>
                <a:uLnTx/>
                <a:uFillTx/>
                <a:latin typeface="Arial Narrow" pitchFamily="34" charset="0"/>
                <a:ea typeface="+mn-ea"/>
                <a:cs typeface="+mn-cs"/>
              </a:rPr>
              <a:t>rms</a:t>
            </a: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rPr>
              <a:t> = </a:t>
            </a:r>
            <a:r>
              <a:rPr kumimoji="0" lang="tr-TR" sz="2400" b="1" i="0" u="none" strike="noStrike" kern="1200" cap="none" spc="0" normalizeH="0" baseline="0" noProof="0">
                <a:ln>
                  <a:noFill/>
                </a:ln>
                <a:solidFill>
                  <a:prstClr val="white"/>
                </a:solidFill>
                <a:effectLst/>
                <a:uLnTx/>
                <a:uFillTx/>
                <a:latin typeface="Arial Narrow" pitchFamily="34" charset="0"/>
                <a:ea typeface="+mn-ea"/>
                <a:cs typeface="+mn-cs"/>
                <a:sym typeface="Symbol" pitchFamily="18" charset="2"/>
              </a:rPr>
              <a:t>√ </a:t>
            </a: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rPr>
              <a:t>( 1/T ) </a:t>
            </a: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sym typeface="Symbol" pitchFamily="18" charset="2"/>
              </a:rPr>
              <a:t>  </a:t>
            </a: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rPr>
              <a:t>I(t)</a:t>
            </a:r>
            <a:r>
              <a:rPr kumimoji="0" lang="tr-TR" sz="1800" b="1" i="0" u="none" strike="noStrike" kern="1200" cap="none" spc="0" normalizeH="0" baseline="30000" noProof="0">
                <a:ln>
                  <a:noFill/>
                </a:ln>
                <a:solidFill>
                  <a:prstClr val="white"/>
                </a:solidFill>
                <a:effectLst/>
                <a:uLnTx/>
                <a:uFillTx/>
                <a:latin typeface="Arial Narrow" pitchFamily="34" charset="0"/>
                <a:ea typeface="+mn-ea"/>
                <a:cs typeface="+mn-cs"/>
              </a:rPr>
              <a:t>2</a:t>
            </a: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rPr>
              <a:t> </a:t>
            </a: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sym typeface="Symbol" pitchFamily="18" charset="2"/>
              </a:rPr>
              <a:t>dt</a:t>
            </a:r>
            <a:endParaRPr kumimoji="0" lang="en-US" sz="1800" b="1" i="0" u="none" strike="noStrike" kern="1200" cap="none" spc="0" normalizeH="0" baseline="30000" noProof="0">
              <a:ln>
                <a:noFill/>
              </a:ln>
              <a:solidFill>
                <a:prstClr val="white"/>
              </a:solidFill>
              <a:effectLst/>
              <a:uLnTx/>
              <a:uFillTx/>
              <a:latin typeface="Arial Narrow" pitchFamily="34" charset="0"/>
              <a:ea typeface="+mn-ea"/>
              <a:cs typeface="+mn-cs"/>
              <a:sym typeface="Symbol" pitchFamily="18" charset="2"/>
            </a:endParaRPr>
          </a:p>
        </p:txBody>
      </p:sp>
      <p:sp>
        <p:nvSpPr>
          <p:cNvPr id="124014" name="Line 144"/>
          <p:cNvSpPr>
            <a:spLocks noChangeShapeType="1"/>
          </p:cNvSpPr>
          <p:nvPr/>
        </p:nvSpPr>
        <p:spPr bwMode="auto">
          <a:xfrm flipV="1">
            <a:off x="7608888" y="1501775"/>
            <a:ext cx="1363662" cy="0"/>
          </a:xfrm>
          <a:prstGeom prst="line">
            <a:avLst/>
          </a:prstGeom>
          <a:noFill/>
          <a:ln w="19050">
            <a:solidFill>
              <a:srgbClr val="FFFFFF"/>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015" name="Line 65"/>
          <p:cNvSpPr>
            <a:spLocks noChangeShapeType="1"/>
          </p:cNvSpPr>
          <p:nvPr/>
        </p:nvSpPr>
        <p:spPr bwMode="auto">
          <a:xfrm>
            <a:off x="5557838" y="1827213"/>
            <a:ext cx="0" cy="1263650"/>
          </a:xfrm>
          <a:prstGeom prst="line">
            <a:avLst/>
          </a:prstGeom>
          <a:noFill/>
          <a:ln w="25400">
            <a:solidFill>
              <a:srgbClr val="000066"/>
            </a:solidFill>
            <a:prstDash val="sysDot"/>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017" name="Oval 255"/>
          <p:cNvSpPr>
            <a:spLocks noChangeArrowheads="1"/>
          </p:cNvSpPr>
          <p:nvPr/>
        </p:nvSpPr>
        <p:spPr bwMode="auto">
          <a:xfrm>
            <a:off x="163513" y="4930775"/>
            <a:ext cx="501650" cy="484188"/>
          </a:xfrm>
          <a:prstGeom prst="ellipse">
            <a:avLst/>
          </a:prstGeom>
          <a:solidFill>
            <a:srgbClr val="FFFFFF"/>
          </a:solidFill>
          <a:ln w="38100">
            <a:solidFill>
              <a:srgbClr val="CC33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6" name="Rectangle 4"/>
          <p:cNvSpPr>
            <a:spLocks noChangeArrowheads="1"/>
          </p:cNvSpPr>
          <p:nvPr/>
        </p:nvSpPr>
        <p:spPr bwMode="auto">
          <a:xfrm>
            <a:off x="3124200" y="114300"/>
            <a:ext cx="1820563" cy="52322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800" b="0" i="0" u="none" strike="noStrike" kern="1200" cap="none" spc="0" normalizeH="0" baseline="0" noProof="0" dirty="0">
                <a:ln>
                  <a:noFill/>
                </a:ln>
                <a:solidFill>
                  <a:prstClr val="black"/>
                </a:solidFill>
                <a:effectLst/>
                <a:uLnTx/>
                <a:uFillTx/>
                <a:latin typeface="Calibri"/>
                <a:ea typeface="+mn-ea"/>
                <a:cs typeface="+mn-cs"/>
              </a:rPr>
              <a:t>RMS Value </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7"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Ali </a:t>
            </a:r>
            <a:r>
              <a:rPr kumimoji="0" lang="en-US" sz="1200" b="0" i="0" u="none" strike="noStrike" kern="1200" cap="none" spc="0" normalizeH="0" baseline="0" noProof="0" dirty="0" err="1">
                <a:ln>
                  <a:noFill/>
                </a:ln>
                <a:solidFill>
                  <a:prstClr val="black">
                    <a:tint val="75000"/>
                  </a:prstClr>
                </a:solidFill>
                <a:effectLst/>
                <a:uLnTx/>
                <a:uFillTx/>
                <a:latin typeface="Calibri"/>
                <a:ea typeface="+mn-ea"/>
                <a:cs typeface="+mn-cs"/>
              </a:rPr>
              <a:t>Muhtaroğlu</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18" name="Slide Number Placeholder 12"/>
          <p:cNvSpPr>
            <a:spLocks noGrp="1"/>
          </p:cNvSpPr>
          <p:nvPr>
            <p:ph type="sldNum" sz="quarter" idx="11"/>
          </p:nvPr>
        </p:nvSpPr>
        <p:spPr>
          <a:xfrm>
            <a:off x="8267700" y="6477000"/>
            <a:ext cx="8763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57CEED-90C7-4FD0-AB8C-14085BB9151E}"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08688582"/>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Line 135"/>
          <p:cNvSpPr>
            <a:spLocks noChangeShapeType="1"/>
          </p:cNvSpPr>
          <p:nvPr/>
        </p:nvSpPr>
        <p:spPr bwMode="auto">
          <a:xfrm>
            <a:off x="4102100" y="3375025"/>
            <a:ext cx="0" cy="1263650"/>
          </a:xfrm>
          <a:prstGeom prst="line">
            <a:avLst/>
          </a:prstGeom>
          <a:noFill/>
          <a:ln w="25400">
            <a:solidFill>
              <a:srgbClr val="CC3300"/>
            </a:solidFill>
            <a:prstDash val="sysDot"/>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pic>
        <p:nvPicPr>
          <p:cNvPr id="123907" name="Picture 251" descr="magic"/>
          <p:cNvPicPr>
            <a:picLocks noChangeAspect="1" noChangeArrowheads="1"/>
          </p:cNvPicPr>
          <p:nvPr/>
        </p:nvPicPr>
        <p:blipFill>
          <a:blip r:embed="rId3" cstate="print"/>
          <a:srcRect/>
          <a:stretch>
            <a:fillRect/>
          </a:stretch>
        </p:blipFill>
        <p:spPr bwMode="auto">
          <a:xfrm>
            <a:off x="0" y="0"/>
            <a:ext cx="127000" cy="127000"/>
          </a:xfrm>
          <a:prstGeom prst="rect">
            <a:avLst/>
          </a:prstGeom>
          <a:noFill/>
          <a:ln w="9525">
            <a:noFill/>
            <a:miter lim="800000"/>
            <a:headEnd/>
            <a:tailEnd/>
          </a:ln>
        </p:spPr>
      </p:pic>
      <p:sp>
        <p:nvSpPr>
          <p:cNvPr id="123908" name="Rectangle 3"/>
          <p:cNvSpPr>
            <a:spLocks noChangeArrowheads="1"/>
          </p:cNvSpPr>
          <p:nvPr/>
        </p:nvSpPr>
        <p:spPr bwMode="auto">
          <a:xfrm>
            <a:off x="0" y="1371600"/>
            <a:ext cx="4552950" cy="573088"/>
          </a:xfrm>
          <a:prstGeom prst="rect">
            <a:avLst/>
          </a:prstGeom>
          <a:solidFill>
            <a:srgbClr val="000066"/>
          </a:solidFill>
          <a:ln w="9525" algn="ctr">
            <a:noFill/>
            <a:miter lim="800000"/>
            <a:headEnd/>
            <a:tailEnd/>
          </a:ln>
        </p:spPr>
        <p:txBody>
          <a:bodyPr lIns="54000" tIns="118800" rIns="54000" bIns="118800">
            <a:spAutoFit/>
          </a:bodyPr>
          <a:lstStyle/>
          <a:p>
            <a:pPr marL="0" marR="0" lvl="0" indent="4763" algn="ctr" defTabSz="914400" rtl="0" eaLnBrk="1" fontAlgn="base" latinLnBrk="0" hangingPunct="1">
              <a:lnSpc>
                <a:spcPct val="100000"/>
              </a:lnSpc>
              <a:spcBef>
                <a:spcPct val="0"/>
              </a:spcBef>
              <a:spcAft>
                <a:spcPct val="0"/>
              </a:spcAft>
              <a:buClrTx/>
              <a:buSzTx/>
              <a:buFontTx/>
              <a:buNone/>
              <a:tabLst/>
              <a:defRPr/>
            </a:pPr>
            <a:r>
              <a:rPr kumimoji="0" lang="tr-TR" sz="2200" b="1" i="0" u="none" strike="noStrike" kern="1200" cap="none" spc="0" normalizeH="0" baseline="0" noProof="0">
                <a:ln>
                  <a:noFill/>
                </a:ln>
                <a:solidFill>
                  <a:srgbClr val="FFFF00"/>
                </a:solidFill>
                <a:effectLst/>
                <a:uLnTx/>
                <a:uFillTx/>
                <a:latin typeface="Arial Black" pitchFamily="34" charset="0"/>
                <a:ea typeface="+mn-ea"/>
                <a:cs typeface="+mn-cs"/>
              </a:rPr>
              <a:t>Definition </a:t>
            </a:r>
            <a:endParaRPr kumimoji="0" lang="en-US" sz="2200" b="1" i="0" u="none" strike="noStrike" kern="1200" cap="none" spc="0" normalizeH="0" baseline="0" noProof="0">
              <a:ln>
                <a:noFill/>
              </a:ln>
              <a:solidFill>
                <a:srgbClr val="FFFF00"/>
              </a:solidFill>
              <a:effectLst/>
              <a:uLnTx/>
              <a:uFillTx/>
              <a:latin typeface="Arial Black" pitchFamily="34" charset="0"/>
              <a:ea typeface="+mn-ea"/>
              <a:cs typeface="+mn-cs"/>
            </a:endParaRPr>
          </a:p>
        </p:txBody>
      </p:sp>
      <p:sp>
        <p:nvSpPr>
          <p:cNvPr id="123909" name="Rectangle 4"/>
          <p:cNvSpPr>
            <a:spLocks noChangeArrowheads="1"/>
          </p:cNvSpPr>
          <p:nvPr/>
        </p:nvSpPr>
        <p:spPr bwMode="auto">
          <a:xfrm>
            <a:off x="0" y="1974850"/>
            <a:ext cx="4552950" cy="1213658"/>
          </a:xfrm>
          <a:prstGeom prst="rect">
            <a:avLst/>
          </a:prstGeom>
          <a:solidFill>
            <a:srgbClr val="000066"/>
          </a:solidFill>
          <a:ln w="9525">
            <a:noFill/>
            <a:miter lim="800000"/>
            <a:headEnd/>
            <a:tailEnd/>
          </a:ln>
        </p:spPr>
        <p:txBody>
          <a:bodyPr tIns="82800" bIns="82800">
            <a:spAutoFit/>
          </a:bodyPr>
          <a:lstStyle/>
          <a:p>
            <a:pPr marL="177800" marR="0" lvl="0" indent="0" algn="l" defTabSz="914400" rtl="0" eaLnBrk="1" fontAlgn="base" latinLnBrk="0" hangingPunct="1">
              <a:lnSpc>
                <a:spcPct val="85000"/>
              </a:lnSpc>
              <a:spcBef>
                <a:spcPct val="0"/>
              </a:spcBef>
              <a:spcAft>
                <a:spcPct val="0"/>
              </a:spcAft>
              <a:buClrTx/>
              <a:buSzTx/>
              <a:buFontTx/>
              <a:buNone/>
              <a:tabLst/>
              <a:defRPr/>
            </a:pPr>
            <a:r>
              <a:rPr kumimoji="0" lang="tr-TR" sz="2000" b="1" i="0" u="sng" strike="noStrike" kern="1200" cap="none" spc="0" normalizeH="0" baseline="0" noProof="0">
                <a:ln>
                  <a:noFill/>
                </a:ln>
                <a:solidFill>
                  <a:srgbClr val="FFFF00"/>
                </a:solidFill>
                <a:effectLst/>
                <a:uLnTx/>
                <a:uFillTx/>
                <a:latin typeface="Arial Narrow" pitchFamily="34" charset="0"/>
                <a:ea typeface="+mn-ea"/>
                <a:cs typeface="+mn-cs"/>
              </a:rPr>
              <a:t>RMS value of an AC current is the value  of DC current that would dissipate the same amount of power as AC current on  a resistance R</a:t>
            </a:r>
            <a:endParaRPr kumimoji="0" lang="tr-TR" sz="2000" b="1" i="0" u="sng" strike="noStrike" kern="1200" cap="none" spc="0" normalizeH="0" baseline="30000" noProof="0">
              <a:ln>
                <a:noFill/>
              </a:ln>
              <a:solidFill>
                <a:srgbClr val="FFFF00"/>
              </a:solidFill>
              <a:effectLst/>
              <a:uLnTx/>
              <a:uFillTx/>
              <a:latin typeface="Arial Narrow" pitchFamily="34" charset="0"/>
              <a:ea typeface="+mn-ea"/>
              <a:cs typeface="+mn-cs"/>
            </a:endParaRPr>
          </a:p>
        </p:txBody>
      </p:sp>
      <p:sp>
        <p:nvSpPr>
          <p:cNvPr id="123910" name="Line 70"/>
          <p:cNvSpPr>
            <a:spLocks noChangeShapeType="1"/>
          </p:cNvSpPr>
          <p:nvPr/>
        </p:nvSpPr>
        <p:spPr bwMode="auto">
          <a:xfrm flipV="1">
            <a:off x="674688" y="4135438"/>
            <a:ext cx="1508125" cy="735012"/>
          </a:xfrm>
          <a:prstGeom prst="line">
            <a:avLst/>
          </a:prstGeom>
          <a:noFill/>
          <a:ln w="25400">
            <a:noFill/>
            <a:round/>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11" name="Line 71"/>
          <p:cNvSpPr>
            <a:spLocks noChangeShapeType="1"/>
          </p:cNvSpPr>
          <p:nvPr/>
        </p:nvSpPr>
        <p:spPr bwMode="auto">
          <a:xfrm flipH="1">
            <a:off x="2012950" y="4221163"/>
            <a:ext cx="3175" cy="60325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12" name="Text Box 72"/>
          <p:cNvSpPr txBox="1">
            <a:spLocks noChangeArrowheads="1"/>
          </p:cNvSpPr>
          <p:nvPr/>
        </p:nvSpPr>
        <p:spPr bwMode="auto">
          <a:xfrm rot="10800000">
            <a:off x="1712913" y="5411788"/>
            <a:ext cx="250825" cy="439737"/>
          </a:xfrm>
          <a:prstGeom prst="rect">
            <a:avLst/>
          </a:prstGeom>
          <a:noFill/>
          <a:ln w="25400">
            <a:noFill/>
            <a:miter lim="800000"/>
            <a:headEnd/>
            <a:tailEnd/>
          </a:ln>
        </p:spPr>
        <p:txBody>
          <a:bodyPr bIns="1188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800" b="0" i="0" u="none" strike="noStrike" kern="1200" cap="none" spc="0" normalizeH="0" baseline="0" noProof="0">
                <a:ln>
                  <a:noFill/>
                </a:ln>
                <a:solidFill>
                  <a:prstClr val="black"/>
                </a:solidFill>
                <a:effectLst/>
                <a:uLnTx/>
                <a:uFillTx/>
                <a:latin typeface="Arial" charset="0"/>
                <a:ea typeface="+mn-ea"/>
                <a:cs typeface="+mn-cs"/>
              </a:rPr>
              <a:t>_</a:t>
            </a:r>
            <a:endParaRPr kumimoji="0" lang="en-US"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13" name="Line 73"/>
          <p:cNvSpPr>
            <a:spLocks noChangeShapeType="1"/>
          </p:cNvSpPr>
          <p:nvPr/>
        </p:nvSpPr>
        <p:spPr bwMode="auto">
          <a:xfrm>
            <a:off x="2016125" y="5451475"/>
            <a:ext cx="0" cy="73660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14" name="Line 74"/>
          <p:cNvSpPr>
            <a:spLocks noChangeShapeType="1"/>
          </p:cNvSpPr>
          <p:nvPr/>
        </p:nvSpPr>
        <p:spPr bwMode="auto">
          <a:xfrm rot="5400000" flipH="1">
            <a:off x="35719" y="4583907"/>
            <a:ext cx="744537"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15" name="Line 75"/>
          <p:cNvSpPr>
            <a:spLocks noChangeShapeType="1"/>
          </p:cNvSpPr>
          <p:nvPr/>
        </p:nvSpPr>
        <p:spPr bwMode="auto">
          <a:xfrm rot="5400000" flipH="1">
            <a:off x="25400" y="5800726"/>
            <a:ext cx="790575"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16" name="Text Box 77"/>
          <p:cNvSpPr txBox="1">
            <a:spLocks noChangeArrowheads="1"/>
          </p:cNvSpPr>
          <p:nvPr/>
        </p:nvSpPr>
        <p:spPr bwMode="auto">
          <a:xfrm>
            <a:off x="379413" y="4619625"/>
            <a:ext cx="331787" cy="396875"/>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prstClr val="black"/>
                </a:solidFill>
                <a:effectLst/>
                <a:uLnTx/>
                <a:uFillTx/>
                <a:latin typeface="Arial" charset="0"/>
                <a:ea typeface="+mn-ea"/>
                <a:cs typeface="+mn-cs"/>
              </a:rPr>
              <a:t>+</a:t>
            </a:r>
            <a:endParaRPr kumimoji="0" lang="en-US" sz="20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17" name="Line 78"/>
          <p:cNvSpPr>
            <a:spLocks noChangeShapeType="1"/>
          </p:cNvSpPr>
          <p:nvPr/>
        </p:nvSpPr>
        <p:spPr bwMode="auto">
          <a:xfrm rot="10800000" flipH="1" flipV="1">
            <a:off x="420688" y="6189663"/>
            <a:ext cx="1595437"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18" name="Text Box 79"/>
          <p:cNvSpPr txBox="1">
            <a:spLocks noChangeArrowheads="1"/>
          </p:cNvSpPr>
          <p:nvPr/>
        </p:nvSpPr>
        <p:spPr bwMode="auto">
          <a:xfrm>
            <a:off x="927100" y="4254500"/>
            <a:ext cx="395288" cy="334963"/>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srgbClr val="000066"/>
                </a:solidFill>
                <a:effectLst/>
                <a:uLnTx/>
                <a:uFillTx/>
                <a:latin typeface="Arial Narrow" pitchFamily="34" charset="0"/>
                <a:ea typeface="+mn-ea"/>
                <a:cs typeface="+mn-cs"/>
              </a:rPr>
              <a:t>I</a:t>
            </a:r>
            <a:r>
              <a:rPr kumimoji="0" lang="tr-TR" sz="1600" b="0" i="0" u="none" strike="noStrike" kern="1200" cap="none" spc="0" normalizeH="0" baseline="-25000" noProof="0">
                <a:ln>
                  <a:noFill/>
                </a:ln>
                <a:solidFill>
                  <a:srgbClr val="000066"/>
                </a:solidFill>
                <a:effectLst/>
                <a:uLnTx/>
                <a:uFillTx/>
                <a:latin typeface="Arial Narrow" pitchFamily="34" charset="0"/>
                <a:ea typeface="+mn-ea"/>
                <a:cs typeface="+mn-cs"/>
              </a:rPr>
              <a:t>DC</a:t>
            </a:r>
            <a:endParaRPr kumimoji="0" lang="en-US" sz="16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23919" name="Line 80"/>
          <p:cNvSpPr>
            <a:spLocks noChangeShapeType="1"/>
          </p:cNvSpPr>
          <p:nvPr/>
        </p:nvSpPr>
        <p:spPr bwMode="auto">
          <a:xfrm rot="-5400000">
            <a:off x="1374775" y="4298950"/>
            <a:ext cx="0" cy="273050"/>
          </a:xfrm>
          <a:prstGeom prst="line">
            <a:avLst/>
          </a:prstGeom>
          <a:noFill/>
          <a:ln w="25400">
            <a:solidFill>
              <a:schemeClr val="tx1"/>
            </a:solidFill>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0" name="Line 82"/>
          <p:cNvSpPr>
            <a:spLocks noChangeShapeType="1"/>
          </p:cNvSpPr>
          <p:nvPr/>
        </p:nvSpPr>
        <p:spPr bwMode="auto">
          <a:xfrm>
            <a:off x="2014538" y="4816475"/>
            <a:ext cx="117475" cy="58738"/>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1" name="Line 83"/>
          <p:cNvSpPr>
            <a:spLocks noChangeShapeType="1"/>
          </p:cNvSpPr>
          <p:nvPr/>
        </p:nvSpPr>
        <p:spPr bwMode="auto">
          <a:xfrm flipH="1">
            <a:off x="1955800" y="4870450"/>
            <a:ext cx="169863" cy="73025"/>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2" name="Line 84"/>
          <p:cNvSpPr>
            <a:spLocks noChangeShapeType="1"/>
          </p:cNvSpPr>
          <p:nvPr/>
        </p:nvSpPr>
        <p:spPr bwMode="auto">
          <a:xfrm>
            <a:off x="1971675" y="4940300"/>
            <a:ext cx="149225" cy="57150"/>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3" name="Line 85"/>
          <p:cNvSpPr>
            <a:spLocks noChangeShapeType="1"/>
          </p:cNvSpPr>
          <p:nvPr/>
        </p:nvSpPr>
        <p:spPr bwMode="auto">
          <a:xfrm flipH="1">
            <a:off x="1958975" y="4999038"/>
            <a:ext cx="173038" cy="71437"/>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4" name="Line 86"/>
          <p:cNvSpPr>
            <a:spLocks noChangeShapeType="1"/>
          </p:cNvSpPr>
          <p:nvPr/>
        </p:nvSpPr>
        <p:spPr bwMode="auto">
          <a:xfrm>
            <a:off x="1968500" y="5067300"/>
            <a:ext cx="157163" cy="60325"/>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5" name="Line 87"/>
          <p:cNvSpPr>
            <a:spLocks noChangeShapeType="1"/>
          </p:cNvSpPr>
          <p:nvPr/>
        </p:nvSpPr>
        <p:spPr bwMode="auto">
          <a:xfrm flipH="1">
            <a:off x="1966913" y="5121275"/>
            <a:ext cx="168275" cy="68263"/>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6" name="Line 88"/>
          <p:cNvSpPr>
            <a:spLocks noChangeShapeType="1"/>
          </p:cNvSpPr>
          <p:nvPr/>
        </p:nvSpPr>
        <p:spPr bwMode="auto">
          <a:xfrm>
            <a:off x="1960563" y="5191125"/>
            <a:ext cx="168275" cy="71438"/>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7" name="Line 89"/>
          <p:cNvSpPr>
            <a:spLocks noChangeShapeType="1"/>
          </p:cNvSpPr>
          <p:nvPr/>
        </p:nvSpPr>
        <p:spPr bwMode="auto">
          <a:xfrm flipH="1">
            <a:off x="2009775" y="5403850"/>
            <a:ext cx="127000" cy="52388"/>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8" name="Line 90"/>
          <p:cNvSpPr>
            <a:spLocks noChangeShapeType="1"/>
          </p:cNvSpPr>
          <p:nvPr/>
        </p:nvSpPr>
        <p:spPr bwMode="auto">
          <a:xfrm flipH="1">
            <a:off x="1965325" y="5260975"/>
            <a:ext cx="166688" cy="68263"/>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29" name="Line 91"/>
          <p:cNvSpPr>
            <a:spLocks noChangeShapeType="1"/>
          </p:cNvSpPr>
          <p:nvPr/>
        </p:nvSpPr>
        <p:spPr bwMode="auto">
          <a:xfrm>
            <a:off x="1960563" y="5330825"/>
            <a:ext cx="168275" cy="71438"/>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30" name="Line 92"/>
          <p:cNvSpPr>
            <a:spLocks noChangeShapeType="1"/>
          </p:cNvSpPr>
          <p:nvPr/>
        </p:nvSpPr>
        <p:spPr bwMode="auto">
          <a:xfrm rot="10800000" flipH="1" flipV="1">
            <a:off x="398463" y="4221163"/>
            <a:ext cx="1628775"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31" name="Text Box 93"/>
          <p:cNvSpPr txBox="1">
            <a:spLocks noChangeArrowheads="1"/>
          </p:cNvSpPr>
          <p:nvPr/>
        </p:nvSpPr>
        <p:spPr bwMode="auto">
          <a:xfrm>
            <a:off x="2079625" y="4964113"/>
            <a:ext cx="241300" cy="336550"/>
          </a:xfrm>
          <a:prstGeom prst="rect">
            <a:avLst/>
          </a:prstGeom>
          <a:noFill/>
          <a:ln w="25400">
            <a:noFill/>
            <a:miter lim="800000"/>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srgbClr val="000066"/>
                </a:solidFill>
                <a:effectLst/>
                <a:uLnTx/>
                <a:uFillTx/>
                <a:latin typeface="Arial Narrow" pitchFamily="34" charset="0"/>
                <a:ea typeface="+mn-ea"/>
                <a:cs typeface="+mn-cs"/>
              </a:rPr>
              <a:t>R</a:t>
            </a:r>
            <a:endParaRPr kumimoji="0" lang="en-US" sz="16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23932" name="Text Box 94"/>
          <p:cNvSpPr txBox="1">
            <a:spLocks noChangeArrowheads="1"/>
          </p:cNvSpPr>
          <p:nvPr/>
        </p:nvSpPr>
        <p:spPr bwMode="auto">
          <a:xfrm>
            <a:off x="1704975" y="4552950"/>
            <a:ext cx="331788" cy="396875"/>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prstClr val="black"/>
                </a:solidFill>
                <a:effectLst/>
                <a:uLnTx/>
                <a:uFillTx/>
                <a:latin typeface="Arial" charset="0"/>
                <a:ea typeface="+mn-ea"/>
                <a:cs typeface="+mn-cs"/>
              </a:rPr>
              <a:t>+</a:t>
            </a:r>
            <a:endParaRPr kumimoji="0" lang="en-US" sz="20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33" name="Line 96"/>
          <p:cNvSpPr>
            <a:spLocks noChangeShapeType="1"/>
          </p:cNvSpPr>
          <p:nvPr/>
        </p:nvSpPr>
        <p:spPr bwMode="auto">
          <a:xfrm flipV="1">
            <a:off x="1677988" y="4213225"/>
            <a:ext cx="0" cy="1974850"/>
          </a:xfrm>
          <a:prstGeom prst="line">
            <a:avLst/>
          </a:prstGeom>
          <a:noFill/>
          <a:ln w="25400">
            <a:solidFill>
              <a:srgbClr val="000066"/>
            </a:solidFill>
            <a:prstDash val="sysDot"/>
            <a:round/>
            <a:headEnd type="triangle" w="med" len="me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34" name="Text Box 97"/>
          <p:cNvSpPr txBox="1">
            <a:spLocks noChangeArrowheads="1"/>
          </p:cNvSpPr>
          <p:nvPr/>
        </p:nvSpPr>
        <p:spPr bwMode="auto">
          <a:xfrm>
            <a:off x="1490663" y="4954588"/>
            <a:ext cx="384175" cy="350837"/>
          </a:xfrm>
          <a:prstGeom prst="rect">
            <a:avLst/>
          </a:prstGeom>
          <a:solidFill>
            <a:srgbClr val="FFFFFF"/>
          </a:solid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700" b="0" i="0" u="none" strike="noStrike" kern="1200" cap="none" spc="0" normalizeH="0" baseline="0" noProof="0">
                <a:ln>
                  <a:noFill/>
                </a:ln>
                <a:solidFill>
                  <a:srgbClr val="000066"/>
                </a:solidFill>
                <a:effectLst/>
                <a:uLnTx/>
                <a:uFillTx/>
                <a:latin typeface="Arial Narrow" pitchFamily="34" charset="0"/>
                <a:ea typeface="+mn-ea"/>
                <a:cs typeface="+mn-cs"/>
              </a:rPr>
              <a:t>V</a:t>
            </a:r>
            <a:r>
              <a:rPr kumimoji="0" lang="tr-TR" sz="1700" b="0" i="0" u="none" strike="noStrike" kern="1200" cap="none" spc="0" normalizeH="0" baseline="-25000" noProof="0">
                <a:ln>
                  <a:noFill/>
                </a:ln>
                <a:solidFill>
                  <a:srgbClr val="000066"/>
                </a:solidFill>
                <a:effectLst/>
                <a:uLnTx/>
                <a:uFillTx/>
                <a:latin typeface="Arial Narrow" pitchFamily="34" charset="0"/>
                <a:ea typeface="+mn-ea"/>
                <a:cs typeface="+mn-cs"/>
              </a:rPr>
              <a:t>R</a:t>
            </a:r>
            <a:endParaRPr kumimoji="0" lang="en-US" sz="17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23935" name="Line 99"/>
          <p:cNvSpPr>
            <a:spLocks noChangeShapeType="1"/>
          </p:cNvSpPr>
          <p:nvPr/>
        </p:nvSpPr>
        <p:spPr bwMode="auto">
          <a:xfrm flipV="1">
            <a:off x="2897188" y="4110038"/>
            <a:ext cx="1516062" cy="744537"/>
          </a:xfrm>
          <a:prstGeom prst="line">
            <a:avLst/>
          </a:prstGeom>
          <a:noFill/>
          <a:ln w="25400">
            <a:noFill/>
            <a:round/>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36" name="Line 100"/>
          <p:cNvSpPr>
            <a:spLocks noChangeShapeType="1"/>
          </p:cNvSpPr>
          <p:nvPr/>
        </p:nvSpPr>
        <p:spPr bwMode="auto">
          <a:xfrm flipH="1">
            <a:off x="4243388" y="4195763"/>
            <a:ext cx="1587" cy="611187"/>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37" name="Text Box 101"/>
          <p:cNvSpPr txBox="1">
            <a:spLocks noChangeArrowheads="1"/>
          </p:cNvSpPr>
          <p:nvPr/>
        </p:nvSpPr>
        <p:spPr bwMode="auto">
          <a:xfrm rot="10800000">
            <a:off x="4229100" y="5422900"/>
            <a:ext cx="354013" cy="439738"/>
          </a:xfrm>
          <a:prstGeom prst="rect">
            <a:avLst/>
          </a:prstGeom>
          <a:noFill/>
          <a:ln w="25400">
            <a:noFill/>
            <a:miter lim="800000"/>
            <a:headEnd/>
            <a:tailEnd/>
          </a:ln>
        </p:spPr>
        <p:txBody>
          <a:bodyPr bIns="11880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800" b="0" i="0" u="none" strike="noStrike" kern="1200" cap="none" spc="0" normalizeH="0" baseline="0" noProof="0">
                <a:ln>
                  <a:noFill/>
                </a:ln>
                <a:solidFill>
                  <a:prstClr val="black"/>
                </a:solidFill>
                <a:effectLst/>
                <a:uLnTx/>
                <a:uFillTx/>
                <a:latin typeface="Arial" charset="0"/>
                <a:ea typeface="+mn-ea"/>
                <a:cs typeface="+mn-cs"/>
              </a:rPr>
              <a:t>_</a:t>
            </a:r>
            <a:endParaRPr kumimoji="0" lang="en-US"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38" name="Line 102"/>
          <p:cNvSpPr>
            <a:spLocks noChangeShapeType="1"/>
          </p:cNvSpPr>
          <p:nvPr/>
        </p:nvSpPr>
        <p:spPr bwMode="auto">
          <a:xfrm>
            <a:off x="4244975" y="5443538"/>
            <a:ext cx="0" cy="74295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39" name="Line 103"/>
          <p:cNvSpPr>
            <a:spLocks noChangeShapeType="1"/>
          </p:cNvSpPr>
          <p:nvPr/>
        </p:nvSpPr>
        <p:spPr bwMode="auto">
          <a:xfrm rot="5400000" flipH="1">
            <a:off x="2254250" y="4564063"/>
            <a:ext cx="752475"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40" name="Line 104"/>
          <p:cNvSpPr>
            <a:spLocks noChangeShapeType="1"/>
          </p:cNvSpPr>
          <p:nvPr/>
        </p:nvSpPr>
        <p:spPr bwMode="auto">
          <a:xfrm rot="5400000" flipH="1">
            <a:off x="2243138" y="5795963"/>
            <a:ext cx="800100"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41" name="Text Box 105"/>
          <p:cNvSpPr txBox="1">
            <a:spLocks noChangeArrowheads="1"/>
          </p:cNvSpPr>
          <p:nvPr/>
        </p:nvSpPr>
        <p:spPr bwMode="auto">
          <a:xfrm>
            <a:off x="2600325" y="4600575"/>
            <a:ext cx="331788" cy="396875"/>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prstClr val="black"/>
                </a:solidFill>
                <a:effectLst/>
                <a:uLnTx/>
                <a:uFillTx/>
                <a:latin typeface="Arial" charset="0"/>
                <a:ea typeface="+mn-ea"/>
                <a:cs typeface="+mn-cs"/>
              </a:rPr>
              <a:t>+</a:t>
            </a:r>
            <a:endParaRPr kumimoji="0" lang="en-US" sz="20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42" name="Line 106"/>
          <p:cNvSpPr>
            <a:spLocks noChangeShapeType="1"/>
          </p:cNvSpPr>
          <p:nvPr/>
        </p:nvSpPr>
        <p:spPr bwMode="auto">
          <a:xfrm rot="10800000" flipH="1" flipV="1">
            <a:off x="2643188" y="6189663"/>
            <a:ext cx="1601787"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43" name="Text Box 107"/>
          <p:cNvSpPr txBox="1">
            <a:spLocks noChangeArrowheads="1"/>
          </p:cNvSpPr>
          <p:nvPr/>
        </p:nvSpPr>
        <p:spPr bwMode="auto">
          <a:xfrm>
            <a:off x="2876550" y="4217988"/>
            <a:ext cx="396875" cy="336550"/>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srgbClr val="000066"/>
                </a:solidFill>
                <a:effectLst/>
                <a:uLnTx/>
                <a:uFillTx/>
                <a:latin typeface="Arial Narrow" pitchFamily="34" charset="0"/>
                <a:ea typeface="+mn-ea"/>
                <a:cs typeface="+mn-cs"/>
              </a:rPr>
              <a:t>I(t)</a:t>
            </a:r>
            <a:endParaRPr kumimoji="0" lang="en-US" sz="16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23944" name="Line 108"/>
          <p:cNvSpPr>
            <a:spLocks noChangeShapeType="1"/>
          </p:cNvSpPr>
          <p:nvPr/>
        </p:nvSpPr>
        <p:spPr bwMode="auto">
          <a:xfrm rot="-5400000">
            <a:off x="3479801" y="4254500"/>
            <a:ext cx="0" cy="276225"/>
          </a:xfrm>
          <a:prstGeom prst="line">
            <a:avLst/>
          </a:prstGeom>
          <a:noFill/>
          <a:ln w="25400">
            <a:solidFill>
              <a:schemeClr val="tx1"/>
            </a:solidFill>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45" name="Text Box 109"/>
          <p:cNvSpPr txBox="1">
            <a:spLocks noChangeArrowheads="1"/>
          </p:cNvSpPr>
          <p:nvPr/>
        </p:nvSpPr>
        <p:spPr bwMode="auto">
          <a:xfrm>
            <a:off x="2217738" y="4559300"/>
            <a:ext cx="527050" cy="350838"/>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700" b="0" i="0" u="none" strike="noStrike" kern="1200" cap="none" spc="0" normalizeH="0" baseline="0" noProof="0">
                <a:ln>
                  <a:noFill/>
                </a:ln>
                <a:solidFill>
                  <a:srgbClr val="000066"/>
                </a:solidFill>
                <a:effectLst/>
                <a:uLnTx/>
                <a:uFillTx/>
                <a:latin typeface="Arial Narrow" pitchFamily="34" charset="0"/>
                <a:ea typeface="+mn-ea"/>
                <a:cs typeface="+mn-cs"/>
              </a:rPr>
              <a:t>V(t) </a:t>
            </a:r>
            <a:endParaRPr kumimoji="0" lang="en-US" sz="17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23946" name="Line 111"/>
          <p:cNvSpPr>
            <a:spLocks noChangeShapeType="1"/>
          </p:cNvSpPr>
          <p:nvPr/>
        </p:nvSpPr>
        <p:spPr bwMode="auto">
          <a:xfrm>
            <a:off x="4243388" y="4799013"/>
            <a:ext cx="119062" cy="58737"/>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47" name="Line 112"/>
          <p:cNvSpPr>
            <a:spLocks noChangeShapeType="1"/>
          </p:cNvSpPr>
          <p:nvPr/>
        </p:nvSpPr>
        <p:spPr bwMode="auto">
          <a:xfrm flipH="1">
            <a:off x="4184650" y="4852988"/>
            <a:ext cx="173038" cy="74612"/>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48" name="Line 113"/>
          <p:cNvSpPr>
            <a:spLocks noChangeShapeType="1"/>
          </p:cNvSpPr>
          <p:nvPr/>
        </p:nvSpPr>
        <p:spPr bwMode="auto">
          <a:xfrm>
            <a:off x="4200525" y="4924425"/>
            <a:ext cx="152400" cy="58738"/>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49" name="Line 114"/>
          <p:cNvSpPr>
            <a:spLocks noChangeShapeType="1"/>
          </p:cNvSpPr>
          <p:nvPr/>
        </p:nvSpPr>
        <p:spPr bwMode="auto">
          <a:xfrm flipH="1">
            <a:off x="4187825" y="4984750"/>
            <a:ext cx="176213" cy="73025"/>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0" name="Line 115"/>
          <p:cNvSpPr>
            <a:spLocks noChangeShapeType="1"/>
          </p:cNvSpPr>
          <p:nvPr/>
        </p:nvSpPr>
        <p:spPr bwMode="auto">
          <a:xfrm>
            <a:off x="4197350" y="5053013"/>
            <a:ext cx="160338" cy="61912"/>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1" name="Line 116"/>
          <p:cNvSpPr>
            <a:spLocks noChangeShapeType="1"/>
          </p:cNvSpPr>
          <p:nvPr/>
        </p:nvSpPr>
        <p:spPr bwMode="auto">
          <a:xfrm flipH="1">
            <a:off x="4195763" y="5108575"/>
            <a:ext cx="171450" cy="69850"/>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2" name="Line 117"/>
          <p:cNvSpPr>
            <a:spLocks noChangeShapeType="1"/>
          </p:cNvSpPr>
          <p:nvPr/>
        </p:nvSpPr>
        <p:spPr bwMode="auto">
          <a:xfrm>
            <a:off x="4189413" y="5180013"/>
            <a:ext cx="171450" cy="71437"/>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3" name="Line 118"/>
          <p:cNvSpPr>
            <a:spLocks noChangeShapeType="1"/>
          </p:cNvSpPr>
          <p:nvPr/>
        </p:nvSpPr>
        <p:spPr bwMode="auto">
          <a:xfrm flipH="1">
            <a:off x="4238625" y="5395913"/>
            <a:ext cx="128588" cy="52387"/>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4" name="Line 119"/>
          <p:cNvSpPr>
            <a:spLocks noChangeShapeType="1"/>
          </p:cNvSpPr>
          <p:nvPr/>
        </p:nvSpPr>
        <p:spPr bwMode="auto">
          <a:xfrm flipH="1">
            <a:off x="4194175" y="5249863"/>
            <a:ext cx="169863" cy="69850"/>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5" name="Line 120"/>
          <p:cNvSpPr>
            <a:spLocks noChangeShapeType="1"/>
          </p:cNvSpPr>
          <p:nvPr/>
        </p:nvSpPr>
        <p:spPr bwMode="auto">
          <a:xfrm>
            <a:off x="4189413" y="5321300"/>
            <a:ext cx="171450" cy="73025"/>
          </a:xfrm>
          <a:prstGeom prst="line">
            <a:avLst/>
          </a:prstGeom>
          <a:noFill/>
          <a:ln w="2540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6" name="Line 121"/>
          <p:cNvSpPr>
            <a:spLocks noChangeShapeType="1"/>
          </p:cNvSpPr>
          <p:nvPr/>
        </p:nvSpPr>
        <p:spPr bwMode="auto">
          <a:xfrm rot="10800000" flipH="1" flipV="1">
            <a:off x="2630488" y="4195763"/>
            <a:ext cx="1614487" cy="0"/>
          </a:xfrm>
          <a:prstGeom prst="line">
            <a:avLst/>
          </a:prstGeom>
          <a:noFill/>
          <a:ln w="19050">
            <a:solidFill>
              <a:schemeClr val="tx1"/>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7" name="Text Box 122"/>
          <p:cNvSpPr txBox="1">
            <a:spLocks noChangeArrowheads="1"/>
          </p:cNvSpPr>
          <p:nvPr/>
        </p:nvSpPr>
        <p:spPr bwMode="auto">
          <a:xfrm>
            <a:off x="4224338" y="4513263"/>
            <a:ext cx="331787" cy="396875"/>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prstClr val="black"/>
                </a:solidFill>
                <a:effectLst/>
                <a:uLnTx/>
                <a:uFillTx/>
                <a:latin typeface="Arial" charset="0"/>
                <a:ea typeface="+mn-ea"/>
                <a:cs typeface="+mn-cs"/>
              </a:rPr>
              <a:t>+</a:t>
            </a:r>
            <a:endParaRPr kumimoji="0" lang="en-US" sz="20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8" name="Line 124"/>
          <p:cNvSpPr>
            <a:spLocks noChangeShapeType="1"/>
          </p:cNvSpPr>
          <p:nvPr/>
        </p:nvSpPr>
        <p:spPr bwMode="auto">
          <a:xfrm flipV="1">
            <a:off x="3763963" y="4187825"/>
            <a:ext cx="0" cy="1998663"/>
          </a:xfrm>
          <a:prstGeom prst="line">
            <a:avLst/>
          </a:prstGeom>
          <a:noFill/>
          <a:ln w="25400">
            <a:solidFill>
              <a:srgbClr val="000066"/>
            </a:solidFill>
            <a:prstDash val="sysDot"/>
            <a:round/>
            <a:headEnd type="triangle" w="med" len="me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59" name="Text Box 125"/>
          <p:cNvSpPr txBox="1">
            <a:spLocks noChangeArrowheads="1"/>
          </p:cNvSpPr>
          <p:nvPr/>
        </p:nvSpPr>
        <p:spPr bwMode="auto">
          <a:xfrm>
            <a:off x="3576638" y="4937125"/>
            <a:ext cx="560387" cy="350838"/>
          </a:xfrm>
          <a:prstGeom prst="rect">
            <a:avLst/>
          </a:prstGeom>
          <a:solidFill>
            <a:srgbClr val="FFFFFF"/>
          </a:solid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700" b="0" i="0" u="none" strike="noStrike" kern="1200" cap="none" spc="0" normalizeH="0" baseline="0" noProof="0">
                <a:ln>
                  <a:noFill/>
                </a:ln>
                <a:solidFill>
                  <a:srgbClr val="000066"/>
                </a:solidFill>
                <a:effectLst/>
                <a:uLnTx/>
                <a:uFillTx/>
                <a:latin typeface="Arial Narrow" pitchFamily="34" charset="0"/>
                <a:ea typeface="+mn-ea"/>
                <a:cs typeface="+mn-cs"/>
              </a:rPr>
              <a:t>V</a:t>
            </a:r>
            <a:r>
              <a:rPr kumimoji="0" lang="tr-TR" sz="1700" b="0" i="0" u="none" strike="noStrike" kern="1200" cap="none" spc="0" normalizeH="0" baseline="-25000" noProof="0">
                <a:ln>
                  <a:noFill/>
                </a:ln>
                <a:solidFill>
                  <a:srgbClr val="000066"/>
                </a:solidFill>
                <a:effectLst/>
                <a:uLnTx/>
                <a:uFillTx/>
                <a:latin typeface="Arial Narrow" pitchFamily="34" charset="0"/>
                <a:ea typeface="+mn-ea"/>
                <a:cs typeface="+mn-cs"/>
              </a:rPr>
              <a:t>R</a:t>
            </a:r>
            <a:r>
              <a:rPr kumimoji="0" lang="tr-TR" sz="1700" b="0" i="0" u="none" strike="noStrike" kern="1200" cap="none" spc="0" normalizeH="0" baseline="0" noProof="0">
                <a:ln>
                  <a:noFill/>
                </a:ln>
                <a:solidFill>
                  <a:srgbClr val="000066"/>
                </a:solidFill>
                <a:effectLst/>
                <a:uLnTx/>
                <a:uFillTx/>
                <a:latin typeface="Arial Narrow" pitchFamily="34" charset="0"/>
                <a:ea typeface="+mn-ea"/>
                <a:cs typeface="+mn-cs"/>
              </a:rPr>
              <a:t>(t)</a:t>
            </a:r>
            <a:endParaRPr kumimoji="0" lang="en-US" sz="17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23960" name="Oval 127"/>
          <p:cNvSpPr>
            <a:spLocks noChangeArrowheads="1"/>
          </p:cNvSpPr>
          <p:nvPr/>
        </p:nvSpPr>
        <p:spPr bwMode="auto">
          <a:xfrm>
            <a:off x="2408238" y="4940300"/>
            <a:ext cx="501650" cy="484188"/>
          </a:xfrm>
          <a:prstGeom prst="ellipse">
            <a:avLst/>
          </a:prstGeom>
          <a:solidFill>
            <a:srgbClr val="FFFFFF"/>
          </a:solidFill>
          <a:ln w="38100">
            <a:solidFill>
              <a:srgbClr val="CC33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61" name="Freeform 128"/>
          <p:cNvSpPr>
            <a:spLocks/>
          </p:cNvSpPr>
          <p:nvPr/>
        </p:nvSpPr>
        <p:spPr bwMode="auto">
          <a:xfrm rot="-180000">
            <a:off x="2530475" y="5070475"/>
            <a:ext cx="269875" cy="200025"/>
          </a:xfrm>
          <a:custGeom>
            <a:avLst/>
            <a:gdLst>
              <a:gd name="T0" fmla="*/ 0 w 499"/>
              <a:gd name="T1" fmla="*/ 2147483647 h 306"/>
              <a:gd name="T2" fmla="*/ 2147483647 w 499"/>
              <a:gd name="T3" fmla="*/ 2147483647 h 306"/>
              <a:gd name="T4" fmla="*/ 2147483647 w 499"/>
              <a:gd name="T5" fmla="*/ 0 h 306"/>
              <a:gd name="T6" fmla="*/ 2147483647 w 499"/>
              <a:gd name="T7" fmla="*/ 2147483647 h 306"/>
              <a:gd name="T8" fmla="*/ 2147483647 w 499"/>
              <a:gd name="T9" fmla="*/ 2147483647 h 306"/>
              <a:gd name="T10" fmla="*/ 2147483647 w 499"/>
              <a:gd name="T11" fmla="*/ 2147483647 h 306"/>
              <a:gd name="T12" fmla="*/ 2147483647 w 499"/>
              <a:gd name="T13" fmla="*/ 2147483647 h 306"/>
              <a:gd name="T14" fmla="*/ 2147483647 w 499"/>
              <a:gd name="T15" fmla="*/ 2147483647 h 306"/>
              <a:gd name="T16" fmla="*/ 2147483647 w 499"/>
              <a:gd name="T17" fmla="*/ 2147483647 h 306"/>
              <a:gd name="T18" fmla="*/ 2147483647 w 499"/>
              <a:gd name="T19" fmla="*/ 2147483647 h 3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9"/>
              <a:gd name="T31" fmla="*/ 0 h 306"/>
              <a:gd name="T32" fmla="*/ 499 w 499"/>
              <a:gd name="T33" fmla="*/ 306 h 3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9" h="306">
                <a:moveTo>
                  <a:pt x="0" y="126"/>
                </a:moveTo>
                <a:cubicBezTo>
                  <a:pt x="10" y="96"/>
                  <a:pt x="27" y="75"/>
                  <a:pt x="48" y="54"/>
                </a:cubicBezTo>
                <a:cubicBezTo>
                  <a:pt x="58" y="23"/>
                  <a:pt x="71" y="10"/>
                  <a:pt x="102" y="0"/>
                </a:cubicBezTo>
                <a:cubicBezTo>
                  <a:pt x="122" y="2"/>
                  <a:pt x="143" y="0"/>
                  <a:pt x="162" y="6"/>
                </a:cubicBezTo>
                <a:cubicBezTo>
                  <a:pt x="195" y="16"/>
                  <a:pt x="197" y="82"/>
                  <a:pt x="204" y="108"/>
                </a:cubicBezTo>
                <a:cubicBezTo>
                  <a:pt x="214" y="196"/>
                  <a:pt x="223" y="274"/>
                  <a:pt x="318" y="306"/>
                </a:cubicBezTo>
                <a:cubicBezTo>
                  <a:pt x="336" y="304"/>
                  <a:pt x="354" y="304"/>
                  <a:pt x="372" y="300"/>
                </a:cubicBezTo>
                <a:cubicBezTo>
                  <a:pt x="399" y="293"/>
                  <a:pt x="427" y="248"/>
                  <a:pt x="444" y="228"/>
                </a:cubicBezTo>
                <a:cubicBezTo>
                  <a:pt x="465" y="202"/>
                  <a:pt x="448" y="219"/>
                  <a:pt x="462" y="192"/>
                </a:cubicBezTo>
                <a:cubicBezTo>
                  <a:pt x="466" y="184"/>
                  <a:pt x="499" y="146"/>
                  <a:pt x="468" y="162"/>
                </a:cubicBezTo>
              </a:path>
            </a:pathLst>
          </a:custGeom>
          <a:noFill/>
          <a:ln w="38100">
            <a:solidFill>
              <a:srgbClr val="CC3300"/>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62" name="Rectangle 130"/>
          <p:cNvSpPr>
            <a:spLocks noChangeArrowheads="1"/>
          </p:cNvSpPr>
          <p:nvPr/>
        </p:nvSpPr>
        <p:spPr bwMode="auto">
          <a:xfrm>
            <a:off x="0" y="3206750"/>
            <a:ext cx="2187575" cy="573088"/>
          </a:xfrm>
          <a:prstGeom prst="rect">
            <a:avLst/>
          </a:prstGeom>
          <a:solidFill>
            <a:srgbClr val="CC3300"/>
          </a:solidFill>
          <a:ln w="9525">
            <a:noFill/>
            <a:miter lim="800000"/>
            <a:headEnd/>
            <a:tailEnd/>
          </a:ln>
        </p:spPr>
        <p:txBody>
          <a:bodyPr tIns="118800" bIns="118800">
            <a:spAutoFit/>
          </a:bodyPr>
          <a:lstStyle/>
          <a:p>
            <a:pPr marL="0" marR="0" lvl="0" indent="0" algn="ctr" defTabSz="914400" rtl="0" eaLnBrk="1" fontAlgn="base" latinLnBrk="0" hangingPunct="1">
              <a:lnSpc>
                <a:spcPct val="110000"/>
              </a:lnSpc>
              <a:spcBef>
                <a:spcPct val="0"/>
              </a:spcBef>
              <a:spcAft>
                <a:spcPct val="0"/>
              </a:spcAft>
              <a:buClrTx/>
              <a:buSzTx/>
              <a:buFontTx/>
              <a:buNone/>
              <a:tabLst/>
              <a:defRPr/>
            </a:pPr>
            <a:r>
              <a:rPr kumimoji="0" lang="tr-TR" sz="2000" b="0" i="0" u="none" strike="noStrike" kern="1200" cap="none" spc="0" normalizeH="0" baseline="0" noProof="0">
                <a:ln>
                  <a:noFill/>
                </a:ln>
                <a:solidFill>
                  <a:prstClr val="white"/>
                </a:solidFill>
                <a:effectLst/>
                <a:uLnTx/>
                <a:uFillTx/>
                <a:latin typeface="Arial Narrow" pitchFamily="34" charset="0"/>
                <a:ea typeface="+mn-ea"/>
                <a:cs typeface="+mn-cs"/>
              </a:rPr>
              <a:t>P</a:t>
            </a:r>
            <a:r>
              <a:rPr kumimoji="0" lang="tr-TR" sz="2000" b="0" i="0" u="none" strike="noStrike" kern="1200" cap="none" spc="0" normalizeH="0" baseline="-25000" noProof="0">
                <a:ln>
                  <a:noFill/>
                </a:ln>
                <a:solidFill>
                  <a:prstClr val="white"/>
                </a:solidFill>
                <a:effectLst/>
                <a:uLnTx/>
                <a:uFillTx/>
                <a:latin typeface="Arial Narrow" pitchFamily="34" charset="0"/>
                <a:ea typeface="+mn-ea"/>
                <a:cs typeface="+mn-cs"/>
              </a:rPr>
              <a:t>avg </a:t>
            </a:r>
            <a:r>
              <a:rPr kumimoji="0" lang="tr-TR" sz="2000" b="0" i="0" u="none" strike="noStrike" kern="1200" cap="none" spc="0" normalizeH="0" baseline="0" noProof="0">
                <a:ln>
                  <a:noFill/>
                </a:ln>
                <a:solidFill>
                  <a:prstClr val="white"/>
                </a:solidFill>
                <a:effectLst/>
                <a:uLnTx/>
                <a:uFillTx/>
                <a:latin typeface="Arial Narrow" pitchFamily="34" charset="0"/>
                <a:ea typeface="+mn-ea"/>
                <a:cs typeface="+mn-cs"/>
                <a:sym typeface="Symbol" pitchFamily="18" charset="2"/>
              </a:rPr>
              <a:t>= R  I</a:t>
            </a:r>
            <a:r>
              <a:rPr kumimoji="0" lang="tr-TR" sz="2000" b="0" i="0" u="none" strike="noStrike" kern="1200" cap="none" spc="0" normalizeH="0" baseline="-25000" noProof="0">
                <a:ln>
                  <a:noFill/>
                </a:ln>
                <a:solidFill>
                  <a:prstClr val="white"/>
                </a:solidFill>
                <a:effectLst/>
                <a:uLnTx/>
                <a:uFillTx/>
                <a:latin typeface="Arial Narrow" pitchFamily="34" charset="0"/>
                <a:ea typeface="+mn-ea"/>
                <a:cs typeface="+mn-cs"/>
                <a:sym typeface="Symbol" pitchFamily="18" charset="2"/>
              </a:rPr>
              <a:t>DC</a:t>
            </a:r>
            <a:r>
              <a:rPr kumimoji="0" lang="tr-TR" sz="2000" b="0" i="0" u="none" strike="noStrike" kern="1200" cap="none" spc="0" normalizeH="0" baseline="30000" noProof="0">
                <a:ln>
                  <a:noFill/>
                </a:ln>
                <a:solidFill>
                  <a:prstClr val="white"/>
                </a:solidFill>
                <a:effectLst/>
                <a:uLnTx/>
                <a:uFillTx/>
                <a:latin typeface="Arial Narrow" pitchFamily="34" charset="0"/>
                <a:ea typeface="+mn-ea"/>
                <a:cs typeface="+mn-cs"/>
                <a:sym typeface="Symbol" pitchFamily="18" charset="2"/>
              </a:rPr>
              <a:t>2</a:t>
            </a:r>
          </a:p>
        </p:txBody>
      </p:sp>
      <p:sp>
        <p:nvSpPr>
          <p:cNvPr id="123963" name="Rectangle 131"/>
          <p:cNvSpPr>
            <a:spLocks noChangeArrowheads="1"/>
          </p:cNvSpPr>
          <p:nvPr/>
        </p:nvSpPr>
        <p:spPr bwMode="auto">
          <a:xfrm>
            <a:off x="2495550" y="3213100"/>
            <a:ext cx="2057400" cy="573088"/>
          </a:xfrm>
          <a:prstGeom prst="rect">
            <a:avLst/>
          </a:prstGeom>
          <a:solidFill>
            <a:srgbClr val="CC3300"/>
          </a:solidFill>
          <a:ln w="9525">
            <a:noFill/>
            <a:miter lim="800000"/>
            <a:headEnd/>
            <a:tailEnd/>
          </a:ln>
        </p:spPr>
        <p:txBody>
          <a:bodyPr tIns="118800" bIns="118800">
            <a:spAutoFit/>
          </a:bodyPr>
          <a:lstStyle/>
          <a:p>
            <a:pPr marL="0" marR="0" lvl="0" indent="0" algn="ctr" defTabSz="914400" rtl="0" eaLnBrk="1" fontAlgn="base" latinLnBrk="0" hangingPunct="1">
              <a:lnSpc>
                <a:spcPct val="110000"/>
              </a:lnSpc>
              <a:spcBef>
                <a:spcPct val="0"/>
              </a:spcBef>
              <a:spcAft>
                <a:spcPct val="0"/>
              </a:spcAft>
              <a:buClrTx/>
              <a:buSzTx/>
              <a:buFontTx/>
              <a:buNone/>
              <a:tabLst/>
              <a:defRPr/>
            </a:pPr>
            <a:r>
              <a:rPr kumimoji="0" lang="tr-TR" sz="2000" b="0" i="0" u="none" strike="noStrike" kern="1200" cap="none" spc="0" normalizeH="0" baseline="0" noProof="0">
                <a:ln>
                  <a:noFill/>
                </a:ln>
                <a:solidFill>
                  <a:prstClr val="white"/>
                </a:solidFill>
                <a:effectLst/>
                <a:uLnTx/>
                <a:uFillTx/>
                <a:latin typeface="Arial Narrow" pitchFamily="34" charset="0"/>
                <a:ea typeface="+mn-ea"/>
                <a:cs typeface="+mn-cs"/>
              </a:rPr>
              <a:t>P</a:t>
            </a:r>
            <a:r>
              <a:rPr kumimoji="0" lang="tr-TR" sz="2000" b="0" i="0" u="none" strike="noStrike" kern="1200" cap="none" spc="0" normalizeH="0" baseline="-25000" noProof="0">
                <a:ln>
                  <a:noFill/>
                </a:ln>
                <a:solidFill>
                  <a:prstClr val="white"/>
                </a:solidFill>
                <a:effectLst/>
                <a:uLnTx/>
                <a:uFillTx/>
                <a:latin typeface="Arial Narrow" pitchFamily="34" charset="0"/>
                <a:ea typeface="+mn-ea"/>
                <a:cs typeface="+mn-cs"/>
              </a:rPr>
              <a:t>avg </a:t>
            </a:r>
            <a:r>
              <a:rPr kumimoji="0" lang="tr-TR" sz="2000" b="0" i="0" u="none" strike="noStrike" kern="1200" cap="none" spc="0" normalizeH="0" baseline="0" noProof="0">
                <a:ln>
                  <a:noFill/>
                </a:ln>
                <a:solidFill>
                  <a:prstClr val="white"/>
                </a:solidFill>
                <a:effectLst/>
                <a:uLnTx/>
                <a:uFillTx/>
                <a:latin typeface="Arial Narrow" pitchFamily="34" charset="0"/>
                <a:ea typeface="+mn-ea"/>
                <a:cs typeface="+mn-cs"/>
                <a:sym typeface="Symbol" pitchFamily="18" charset="2"/>
              </a:rPr>
              <a:t>= R  I</a:t>
            </a:r>
            <a:r>
              <a:rPr kumimoji="0" lang="tr-TR" sz="2000" b="0" i="0" u="none" strike="noStrike" kern="1200" cap="none" spc="0" normalizeH="0" baseline="-25000" noProof="0">
                <a:ln>
                  <a:noFill/>
                </a:ln>
                <a:solidFill>
                  <a:prstClr val="white"/>
                </a:solidFill>
                <a:effectLst/>
                <a:uLnTx/>
                <a:uFillTx/>
                <a:latin typeface="Arial Narrow" pitchFamily="34" charset="0"/>
                <a:ea typeface="+mn-ea"/>
                <a:cs typeface="+mn-cs"/>
                <a:sym typeface="Symbol" pitchFamily="18" charset="2"/>
              </a:rPr>
              <a:t>rms</a:t>
            </a:r>
            <a:r>
              <a:rPr kumimoji="0" lang="tr-TR" sz="2000" b="0" i="0" u="none" strike="noStrike" kern="1200" cap="none" spc="0" normalizeH="0" baseline="30000" noProof="0">
                <a:ln>
                  <a:noFill/>
                </a:ln>
                <a:solidFill>
                  <a:prstClr val="white"/>
                </a:solidFill>
                <a:effectLst/>
                <a:uLnTx/>
                <a:uFillTx/>
                <a:latin typeface="Arial Narrow" pitchFamily="34" charset="0"/>
                <a:ea typeface="+mn-ea"/>
                <a:cs typeface="+mn-cs"/>
                <a:sym typeface="Symbol" pitchFamily="18" charset="2"/>
              </a:rPr>
              <a:t>2</a:t>
            </a:r>
          </a:p>
        </p:txBody>
      </p:sp>
      <p:sp>
        <p:nvSpPr>
          <p:cNvPr id="123964" name="Line 134"/>
          <p:cNvSpPr>
            <a:spLocks noChangeShapeType="1"/>
          </p:cNvSpPr>
          <p:nvPr/>
        </p:nvSpPr>
        <p:spPr bwMode="auto">
          <a:xfrm>
            <a:off x="1773238" y="3314700"/>
            <a:ext cx="0" cy="1263650"/>
          </a:xfrm>
          <a:prstGeom prst="line">
            <a:avLst/>
          </a:prstGeom>
          <a:noFill/>
          <a:ln w="25400">
            <a:solidFill>
              <a:srgbClr val="CC3300"/>
            </a:solidFill>
            <a:prstDash val="sysDot"/>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65" name="Text Box 145"/>
          <p:cNvSpPr txBox="1">
            <a:spLocks noChangeArrowheads="1"/>
          </p:cNvSpPr>
          <p:nvPr/>
        </p:nvSpPr>
        <p:spPr bwMode="auto">
          <a:xfrm>
            <a:off x="2182813" y="3335338"/>
            <a:ext cx="331787" cy="396875"/>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000" b="0" i="0" u="none" strike="noStrike" kern="1200" cap="none" spc="0" normalizeH="0" baseline="0" noProof="0">
                <a:ln>
                  <a:noFill/>
                </a:ln>
                <a:solidFill>
                  <a:srgbClr val="CC3300"/>
                </a:solidFill>
                <a:effectLst/>
                <a:uLnTx/>
                <a:uFillTx/>
                <a:latin typeface="Arial" charset="0"/>
                <a:ea typeface="+mn-ea"/>
                <a:cs typeface="+mn-cs"/>
              </a:rPr>
              <a:t>=</a:t>
            </a:r>
            <a:endParaRPr kumimoji="0" lang="en-US" sz="2000" b="0" i="0" u="none" strike="noStrike" kern="1200" cap="none" spc="0" normalizeH="0" baseline="0" noProof="0">
              <a:ln>
                <a:noFill/>
              </a:ln>
              <a:solidFill>
                <a:srgbClr val="CC3300"/>
              </a:solidFill>
              <a:effectLst/>
              <a:uLnTx/>
              <a:uFillTx/>
              <a:latin typeface="Arial" charset="0"/>
              <a:ea typeface="+mn-ea"/>
              <a:cs typeface="+mn-cs"/>
            </a:endParaRPr>
          </a:p>
        </p:txBody>
      </p:sp>
      <p:sp>
        <p:nvSpPr>
          <p:cNvPr id="123966" name="Text Box 147"/>
          <p:cNvSpPr txBox="1">
            <a:spLocks noChangeArrowheads="1"/>
          </p:cNvSpPr>
          <p:nvPr/>
        </p:nvSpPr>
        <p:spPr bwMode="auto">
          <a:xfrm>
            <a:off x="-28575" y="4533900"/>
            <a:ext cx="515938" cy="350838"/>
          </a:xfrm>
          <a:prstGeom prst="rect">
            <a:avLst/>
          </a:prstGeom>
          <a:noFill/>
          <a:ln w="25400">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700" b="0" i="0" u="none" strike="noStrike" kern="1200" cap="none" spc="0" normalizeH="0" baseline="0" noProof="0">
                <a:ln>
                  <a:noFill/>
                </a:ln>
                <a:solidFill>
                  <a:srgbClr val="000066"/>
                </a:solidFill>
                <a:effectLst/>
                <a:uLnTx/>
                <a:uFillTx/>
                <a:latin typeface="Arial Narrow" pitchFamily="34" charset="0"/>
                <a:ea typeface="+mn-ea"/>
                <a:cs typeface="+mn-cs"/>
              </a:rPr>
              <a:t>V</a:t>
            </a:r>
            <a:r>
              <a:rPr kumimoji="0" lang="tr-TR" sz="1700" b="0" i="0" u="none" strike="noStrike" kern="1200" cap="none" spc="0" normalizeH="0" baseline="-25000" noProof="0">
                <a:ln>
                  <a:noFill/>
                </a:ln>
                <a:solidFill>
                  <a:srgbClr val="000066"/>
                </a:solidFill>
                <a:effectLst/>
                <a:uLnTx/>
                <a:uFillTx/>
                <a:latin typeface="Arial Narrow" pitchFamily="34" charset="0"/>
                <a:ea typeface="+mn-ea"/>
                <a:cs typeface="+mn-cs"/>
              </a:rPr>
              <a:t>DC</a:t>
            </a:r>
            <a:r>
              <a:rPr kumimoji="0" lang="tr-TR" sz="1700" b="0" i="0" u="none" strike="noStrike" kern="1200" cap="none" spc="0" normalizeH="0" baseline="0" noProof="0">
                <a:ln>
                  <a:noFill/>
                </a:ln>
                <a:solidFill>
                  <a:srgbClr val="000066"/>
                </a:solidFill>
                <a:effectLst/>
                <a:uLnTx/>
                <a:uFillTx/>
                <a:latin typeface="Arial Narrow" pitchFamily="34" charset="0"/>
                <a:ea typeface="+mn-ea"/>
                <a:cs typeface="+mn-cs"/>
              </a:rPr>
              <a:t> </a:t>
            </a:r>
            <a:endParaRPr kumimoji="0" lang="en-US" sz="17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23967" name="Text Box 146"/>
          <p:cNvSpPr txBox="1">
            <a:spLocks noChangeArrowheads="1"/>
          </p:cNvSpPr>
          <p:nvPr/>
        </p:nvSpPr>
        <p:spPr bwMode="auto">
          <a:xfrm>
            <a:off x="4397375" y="4938713"/>
            <a:ext cx="241300" cy="336550"/>
          </a:xfrm>
          <a:prstGeom prst="rect">
            <a:avLst/>
          </a:prstGeom>
          <a:noFill/>
          <a:ln w="25400">
            <a:noFill/>
            <a:miter lim="800000"/>
            <a:headEnd/>
            <a:tailEnd/>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srgbClr val="000066"/>
                </a:solidFill>
                <a:effectLst/>
                <a:uLnTx/>
                <a:uFillTx/>
                <a:latin typeface="Arial Narrow" pitchFamily="34" charset="0"/>
                <a:ea typeface="+mn-ea"/>
                <a:cs typeface="+mn-cs"/>
              </a:rPr>
              <a:t>R</a:t>
            </a:r>
            <a:endParaRPr kumimoji="0" lang="en-US" sz="1600" b="0" i="0" u="none" strike="noStrike" kern="1200" cap="none" spc="0" normalizeH="0" baseline="-25000" noProof="0">
              <a:ln>
                <a:noFill/>
              </a:ln>
              <a:solidFill>
                <a:srgbClr val="000066"/>
              </a:solidFill>
              <a:effectLst/>
              <a:uLnTx/>
              <a:uFillTx/>
              <a:latin typeface="Arial Narrow" pitchFamily="34" charset="0"/>
              <a:ea typeface="+mn-ea"/>
              <a:cs typeface="+mn-cs"/>
            </a:endParaRPr>
          </a:p>
        </p:txBody>
      </p:sp>
      <p:sp>
        <p:nvSpPr>
          <p:cNvPr id="123968" name="Rectangle 142"/>
          <p:cNvSpPr>
            <a:spLocks noChangeArrowheads="1"/>
          </p:cNvSpPr>
          <p:nvPr/>
        </p:nvSpPr>
        <p:spPr bwMode="auto">
          <a:xfrm>
            <a:off x="4595813" y="1365250"/>
            <a:ext cx="2124075" cy="603250"/>
          </a:xfrm>
          <a:prstGeom prst="rect">
            <a:avLst/>
          </a:prstGeom>
          <a:solidFill>
            <a:srgbClr val="000066"/>
          </a:solidFill>
          <a:ln w="9525" algn="ctr">
            <a:noFill/>
            <a:miter lim="800000"/>
            <a:headEnd/>
            <a:tailEnd/>
          </a:ln>
        </p:spPr>
        <p:txBody>
          <a:bodyPr lIns="54000" tIns="172800" rIns="54000" bIns="154800">
            <a:spAutoFit/>
          </a:bodyPr>
          <a:lstStyle/>
          <a:p>
            <a:pPr marL="447675" marR="0" lvl="0" indent="-447675" algn="ctr" defTabSz="914400" rtl="0" eaLnBrk="1" fontAlgn="base" latinLnBrk="0" hangingPunct="1">
              <a:lnSpc>
                <a:spcPct val="100000"/>
              </a:lnSpc>
              <a:spcBef>
                <a:spcPct val="0"/>
              </a:spcBef>
              <a:spcAft>
                <a:spcPct val="0"/>
              </a:spcAft>
              <a:buClrTx/>
              <a:buSzTx/>
              <a:buFontTx/>
              <a:buNone/>
              <a:tabLst/>
              <a:defRPr/>
            </a:pPr>
            <a:r>
              <a:rPr kumimoji="0" lang="tr-TR" sz="1800" b="1" i="0" u="none" strike="noStrike" kern="1200" cap="none" spc="0" normalizeH="0" baseline="0" noProof="0">
                <a:ln>
                  <a:noFill/>
                </a:ln>
                <a:solidFill>
                  <a:srgbClr val="FFFF00"/>
                </a:solidFill>
                <a:effectLst/>
                <a:uLnTx/>
                <a:uFillTx/>
                <a:latin typeface="Arial Narrow" pitchFamily="34" charset="0"/>
                <a:ea typeface="+mn-ea"/>
                <a:cs typeface="+mn-cs"/>
              </a:rPr>
              <a:t>I</a:t>
            </a:r>
            <a:r>
              <a:rPr kumimoji="0" lang="tr-TR" sz="1800" b="1" i="0" u="none" strike="noStrike" kern="1200" cap="none" spc="0" normalizeH="0" baseline="30000" noProof="0">
                <a:ln>
                  <a:noFill/>
                </a:ln>
                <a:solidFill>
                  <a:srgbClr val="FFFF00"/>
                </a:solidFill>
                <a:effectLst/>
                <a:uLnTx/>
                <a:uFillTx/>
                <a:latin typeface="Arial Narrow" pitchFamily="34" charset="0"/>
                <a:ea typeface="+mn-ea"/>
                <a:cs typeface="+mn-cs"/>
              </a:rPr>
              <a:t>2</a:t>
            </a:r>
            <a:r>
              <a:rPr kumimoji="0" lang="tr-TR" sz="1800" b="1" i="0" u="none" strike="noStrike" kern="1200" cap="none" spc="0" normalizeH="0" baseline="0" noProof="0">
                <a:ln>
                  <a:noFill/>
                </a:ln>
                <a:solidFill>
                  <a:srgbClr val="FFFF00"/>
                </a:solidFill>
                <a:effectLst/>
                <a:uLnTx/>
                <a:uFillTx/>
                <a:latin typeface="Arial Narrow" pitchFamily="34" charset="0"/>
                <a:ea typeface="+mn-ea"/>
                <a:cs typeface="+mn-cs"/>
              </a:rPr>
              <a:t>(t) = ( I</a:t>
            </a:r>
            <a:r>
              <a:rPr kumimoji="0" lang="tr-TR" sz="1800" b="1" i="0" u="none" strike="noStrike" kern="1200" cap="none" spc="0" normalizeH="0" baseline="-25000" noProof="0">
                <a:ln>
                  <a:noFill/>
                </a:ln>
                <a:solidFill>
                  <a:srgbClr val="FFFF00"/>
                </a:solidFill>
                <a:effectLst/>
                <a:uLnTx/>
                <a:uFillTx/>
                <a:latin typeface="Arial Narrow" pitchFamily="34" charset="0"/>
                <a:ea typeface="+mn-ea"/>
                <a:cs typeface="+mn-cs"/>
              </a:rPr>
              <a:t>max</a:t>
            </a:r>
            <a:r>
              <a:rPr kumimoji="0" lang="tr-TR" sz="1800" b="1" i="0" u="none" strike="noStrike" kern="1200" cap="none" spc="0" normalizeH="0" baseline="0" noProof="0">
                <a:ln>
                  <a:noFill/>
                </a:ln>
                <a:solidFill>
                  <a:srgbClr val="FFFF00"/>
                </a:solidFill>
                <a:effectLst/>
                <a:uLnTx/>
                <a:uFillTx/>
                <a:latin typeface="Arial Narrow" pitchFamily="34" charset="0"/>
                <a:ea typeface="+mn-ea"/>
                <a:cs typeface="+mn-cs"/>
              </a:rPr>
              <a:t> sin wt )</a:t>
            </a:r>
            <a:r>
              <a:rPr kumimoji="0" lang="tr-TR" sz="1800" b="1" i="0" u="none" strike="noStrike" kern="1200" cap="none" spc="0" normalizeH="0" baseline="30000" noProof="0">
                <a:ln>
                  <a:noFill/>
                </a:ln>
                <a:solidFill>
                  <a:srgbClr val="FFFF00"/>
                </a:solidFill>
                <a:effectLst/>
                <a:uLnTx/>
                <a:uFillTx/>
                <a:latin typeface="Arial Narrow" pitchFamily="34" charset="0"/>
                <a:ea typeface="+mn-ea"/>
                <a:cs typeface="+mn-cs"/>
              </a:rPr>
              <a:t>2</a:t>
            </a:r>
            <a:endParaRPr kumimoji="0" lang="en-US" sz="1800" b="1" i="0" u="none" strike="noStrike" kern="1200" cap="none" spc="0" normalizeH="0" baseline="30000" noProof="0">
              <a:ln>
                <a:noFill/>
              </a:ln>
              <a:solidFill>
                <a:srgbClr val="FFFF00"/>
              </a:solidFill>
              <a:effectLst/>
              <a:uLnTx/>
              <a:uFillTx/>
              <a:latin typeface="Arial Narrow" pitchFamily="34" charset="0"/>
              <a:ea typeface="+mn-ea"/>
              <a:cs typeface="+mn-cs"/>
            </a:endParaRPr>
          </a:p>
        </p:txBody>
      </p:sp>
      <p:sp>
        <p:nvSpPr>
          <p:cNvPr id="123969" name="Line 252"/>
          <p:cNvSpPr>
            <a:spLocks noChangeShapeType="1"/>
          </p:cNvSpPr>
          <p:nvPr/>
        </p:nvSpPr>
        <p:spPr bwMode="auto">
          <a:xfrm>
            <a:off x="0" y="0"/>
            <a:ext cx="914400" cy="0"/>
          </a:xfrm>
          <a:prstGeom prst="line">
            <a:avLst/>
          </a:prstGeom>
          <a:noFill/>
          <a:ln w="952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0" name="Rectangle 211"/>
          <p:cNvSpPr>
            <a:spLocks noChangeArrowheads="1"/>
          </p:cNvSpPr>
          <p:nvPr/>
        </p:nvSpPr>
        <p:spPr bwMode="auto">
          <a:xfrm>
            <a:off x="4940300" y="2298700"/>
            <a:ext cx="3895725" cy="3875088"/>
          </a:xfrm>
          <a:prstGeom prst="rect">
            <a:avLst/>
          </a:prstGeom>
          <a:solidFill>
            <a:srgbClr val="C0C0C0">
              <a:alpha val="72940"/>
            </a:srgbClr>
          </a:solidFill>
          <a:ln w="9525">
            <a:no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1" name="Line 253"/>
          <p:cNvSpPr>
            <a:spLocks noChangeShapeType="1"/>
          </p:cNvSpPr>
          <p:nvPr/>
        </p:nvSpPr>
        <p:spPr bwMode="auto">
          <a:xfrm>
            <a:off x="0" y="0"/>
            <a:ext cx="0" cy="914400"/>
          </a:xfrm>
          <a:prstGeom prst="line">
            <a:avLst/>
          </a:prstGeom>
          <a:noFill/>
          <a:ln w="9525">
            <a:solidFill>
              <a:srgbClr val="00FF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2" name="Line 212"/>
          <p:cNvSpPr>
            <a:spLocks noChangeShapeType="1"/>
          </p:cNvSpPr>
          <p:nvPr/>
        </p:nvSpPr>
        <p:spPr bwMode="auto">
          <a:xfrm>
            <a:off x="4870450" y="5386388"/>
            <a:ext cx="31750" cy="1587"/>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3" name="Line 213"/>
          <p:cNvSpPr>
            <a:spLocks noChangeShapeType="1"/>
          </p:cNvSpPr>
          <p:nvPr/>
        </p:nvSpPr>
        <p:spPr bwMode="auto">
          <a:xfrm>
            <a:off x="5424488" y="2295525"/>
            <a:ext cx="1587" cy="38766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4" name="Line 214"/>
          <p:cNvSpPr>
            <a:spLocks noChangeShapeType="1"/>
          </p:cNvSpPr>
          <p:nvPr/>
        </p:nvSpPr>
        <p:spPr bwMode="auto">
          <a:xfrm>
            <a:off x="5913438" y="2306638"/>
            <a:ext cx="1587" cy="38766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5" name="Line 215"/>
          <p:cNvSpPr>
            <a:spLocks noChangeShapeType="1"/>
          </p:cNvSpPr>
          <p:nvPr/>
        </p:nvSpPr>
        <p:spPr bwMode="auto">
          <a:xfrm>
            <a:off x="6916738" y="2308225"/>
            <a:ext cx="3175" cy="38766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6" name="Line 216"/>
          <p:cNvSpPr>
            <a:spLocks noChangeShapeType="1"/>
          </p:cNvSpPr>
          <p:nvPr/>
        </p:nvSpPr>
        <p:spPr bwMode="auto">
          <a:xfrm>
            <a:off x="7377113" y="2306638"/>
            <a:ext cx="1587" cy="38766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7" name="Line 217"/>
          <p:cNvSpPr>
            <a:spLocks noChangeShapeType="1"/>
          </p:cNvSpPr>
          <p:nvPr/>
        </p:nvSpPr>
        <p:spPr bwMode="auto">
          <a:xfrm>
            <a:off x="7864475" y="2306638"/>
            <a:ext cx="1588" cy="38766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8" name="Line 218"/>
          <p:cNvSpPr>
            <a:spLocks noChangeShapeType="1"/>
          </p:cNvSpPr>
          <p:nvPr/>
        </p:nvSpPr>
        <p:spPr bwMode="auto">
          <a:xfrm>
            <a:off x="8837613" y="2284413"/>
            <a:ext cx="1587" cy="38766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79" name="Line 219"/>
          <p:cNvSpPr>
            <a:spLocks noChangeShapeType="1"/>
          </p:cNvSpPr>
          <p:nvPr/>
        </p:nvSpPr>
        <p:spPr bwMode="auto">
          <a:xfrm>
            <a:off x="4864100" y="5976938"/>
            <a:ext cx="33338" cy="3175"/>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0" name="Line 220"/>
          <p:cNvSpPr>
            <a:spLocks noChangeShapeType="1"/>
          </p:cNvSpPr>
          <p:nvPr/>
        </p:nvSpPr>
        <p:spPr bwMode="auto">
          <a:xfrm>
            <a:off x="4870450" y="5451475"/>
            <a:ext cx="31750" cy="3175"/>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1" name="Line 221"/>
          <p:cNvSpPr>
            <a:spLocks noChangeShapeType="1"/>
          </p:cNvSpPr>
          <p:nvPr/>
        </p:nvSpPr>
        <p:spPr bwMode="auto">
          <a:xfrm>
            <a:off x="4870450" y="5815013"/>
            <a:ext cx="31750" cy="3175"/>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2" name="Line 222"/>
          <p:cNvSpPr>
            <a:spLocks noChangeShapeType="1"/>
          </p:cNvSpPr>
          <p:nvPr/>
        </p:nvSpPr>
        <p:spPr bwMode="auto">
          <a:xfrm>
            <a:off x="4870450" y="4195763"/>
            <a:ext cx="31750" cy="1587"/>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3" name="Line 223"/>
          <p:cNvSpPr>
            <a:spLocks noChangeShapeType="1"/>
          </p:cNvSpPr>
          <p:nvPr/>
        </p:nvSpPr>
        <p:spPr bwMode="auto">
          <a:xfrm>
            <a:off x="4870450" y="3549650"/>
            <a:ext cx="31750" cy="3175"/>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4" name="Line 224"/>
          <p:cNvSpPr>
            <a:spLocks noChangeShapeType="1"/>
          </p:cNvSpPr>
          <p:nvPr/>
        </p:nvSpPr>
        <p:spPr bwMode="auto">
          <a:xfrm>
            <a:off x="4870450" y="2921000"/>
            <a:ext cx="31750" cy="3175"/>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5" name="Line 225"/>
          <p:cNvSpPr>
            <a:spLocks noChangeShapeType="1"/>
          </p:cNvSpPr>
          <p:nvPr/>
        </p:nvSpPr>
        <p:spPr bwMode="auto">
          <a:xfrm>
            <a:off x="4870450" y="2295525"/>
            <a:ext cx="31750" cy="1588"/>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6" name="Line 226"/>
          <p:cNvSpPr>
            <a:spLocks noChangeShapeType="1"/>
          </p:cNvSpPr>
          <p:nvPr/>
        </p:nvSpPr>
        <p:spPr bwMode="auto">
          <a:xfrm>
            <a:off x="4951413" y="6170613"/>
            <a:ext cx="3875087" cy="1587"/>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7" name="Line 227"/>
          <p:cNvSpPr>
            <a:spLocks noChangeShapeType="1"/>
          </p:cNvSpPr>
          <p:nvPr/>
        </p:nvSpPr>
        <p:spPr bwMode="auto">
          <a:xfrm>
            <a:off x="4946650" y="4824413"/>
            <a:ext cx="3875088" cy="31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8" name="Line 228"/>
          <p:cNvSpPr>
            <a:spLocks noChangeShapeType="1"/>
          </p:cNvSpPr>
          <p:nvPr/>
        </p:nvSpPr>
        <p:spPr bwMode="auto">
          <a:xfrm>
            <a:off x="4946650" y="4195763"/>
            <a:ext cx="3875088" cy="1587"/>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89" name="Line 229"/>
          <p:cNvSpPr>
            <a:spLocks noChangeShapeType="1"/>
          </p:cNvSpPr>
          <p:nvPr/>
        </p:nvSpPr>
        <p:spPr bwMode="auto">
          <a:xfrm>
            <a:off x="4946650" y="3549650"/>
            <a:ext cx="3875088" cy="31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0" name="Line 230"/>
          <p:cNvSpPr>
            <a:spLocks noChangeShapeType="1"/>
          </p:cNvSpPr>
          <p:nvPr/>
        </p:nvSpPr>
        <p:spPr bwMode="auto">
          <a:xfrm>
            <a:off x="4946650" y="2921000"/>
            <a:ext cx="3875088" cy="31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1" name="Line 231"/>
          <p:cNvSpPr>
            <a:spLocks noChangeShapeType="1"/>
          </p:cNvSpPr>
          <p:nvPr/>
        </p:nvSpPr>
        <p:spPr bwMode="auto">
          <a:xfrm>
            <a:off x="4940300" y="2297113"/>
            <a:ext cx="3875088" cy="1587"/>
          </a:xfrm>
          <a:prstGeom prst="line">
            <a:avLst/>
          </a:prstGeom>
          <a:noFill/>
          <a:ln w="3175">
            <a:solidFill>
              <a:srgbClr val="969696"/>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2" name="Line 232"/>
          <p:cNvSpPr>
            <a:spLocks noChangeShapeType="1"/>
          </p:cNvSpPr>
          <p:nvPr/>
        </p:nvSpPr>
        <p:spPr bwMode="auto">
          <a:xfrm flipV="1">
            <a:off x="4951413" y="5481638"/>
            <a:ext cx="4133850" cy="0"/>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3" name="Line 233"/>
          <p:cNvSpPr>
            <a:spLocks noChangeShapeType="1"/>
          </p:cNvSpPr>
          <p:nvPr/>
        </p:nvSpPr>
        <p:spPr bwMode="auto">
          <a:xfrm flipV="1">
            <a:off x="4902200" y="5451475"/>
            <a:ext cx="1588" cy="63500"/>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4" name="Freeform 234"/>
          <p:cNvSpPr>
            <a:spLocks/>
          </p:cNvSpPr>
          <p:nvPr/>
        </p:nvSpPr>
        <p:spPr bwMode="auto">
          <a:xfrm>
            <a:off x="4946650" y="2609850"/>
            <a:ext cx="3905250" cy="2841625"/>
          </a:xfrm>
          <a:custGeom>
            <a:avLst/>
            <a:gdLst>
              <a:gd name="T0" fmla="*/ 2147483647 w 494"/>
              <a:gd name="T1" fmla="*/ 2147483647 h 181"/>
              <a:gd name="T2" fmla="*/ 2147483647 w 494"/>
              <a:gd name="T3" fmla="*/ 2147483647 h 181"/>
              <a:gd name="T4" fmla="*/ 2147483647 w 494"/>
              <a:gd name="T5" fmla="*/ 2147483647 h 181"/>
              <a:gd name="T6" fmla="*/ 2147483647 w 494"/>
              <a:gd name="T7" fmla="*/ 2147483647 h 181"/>
              <a:gd name="T8" fmla="*/ 2147483647 w 494"/>
              <a:gd name="T9" fmla="*/ 2147483647 h 181"/>
              <a:gd name="T10" fmla="*/ 2147483647 w 494"/>
              <a:gd name="T11" fmla="*/ 2147483647 h 181"/>
              <a:gd name="T12" fmla="*/ 2147483647 w 494"/>
              <a:gd name="T13" fmla="*/ 2147483647 h 181"/>
              <a:gd name="T14" fmla="*/ 2147483647 w 494"/>
              <a:gd name="T15" fmla="*/ 2147483647 h 181"/>
              <a:gd name="T16" fmla="*/ 2147483647 w 494"/>
              <a:gd name="T17" fmla="*/ 2147483647 h 181"/>
              <a:gd name="T18" fmla="*/ 2147483647 w 494"/>
              <a:gd name="T19" fmla="*/ 2147483647 h 181"/>
              <a:gd name="T20" fmla="*/ 2147483647 w 494"/>
              <a:gd name="T21" fmla="*/ 2147483647 h 181"/>
              <a:gd name="T22" fmla="*/ 2147483647 w 494"/>
              <a:gd name="T23" fmla="*/ 2147483647 h 181"/>
              <a:gd name="T24" fmla="*/ 2147483647 w 494"/>
              <a:gd name="T25" fmla="*/ 0 h 181"/>
              <a:gd name="T26" fmla="*/ 2147483647 w 494"/>
              <a:gd name="T27" fmla="*/ 2147483647 h 181"/>
              <a:gd name="T28" fmla="*/ 2147483647 w 494"/>
              <a:gd name="T29" fmla="*/ 2147483647 h 181"/>
              <a:gd name="T30" fmla="*/ 2147483647 w 494"/>
              <a:gd name="T31" fmla="*/ 2147483647 h 181"/>
              <a:gd name="T32" fmla="*/ 2147483647 w 494"/>
              <a:gd name="T33" fmla="*/ 2147483647 h 181"/>
              <a:gd name="T34" fmla="*/ 2147483647 w 494"/>
              <a:gd name="T35" fmla="*/ 2147483647 h 181"/>
              <a:gd name="T36" fmla="*/ 2147483647 w 494"/>
              <a:gd name="T37" fmla="*/ 2147483647 h 181"/>
              <a:gd name="T38" fmla="*/ 2147483647 w 494"/>
              <a:gd name="T39" fmla="*/ 2147483647 h 181"/>
              <a:gd name="T40" fmla="*/ 2147483647 w 494"/>
              <a:gd name="T41" fmla="*/ 2147483647 h 181"/>
              <a:gd name="T42" fmla="*/ 2147483647 w 494"/>
              <a:gd name="T43" fmla="*/ 2147483647 h 181"/>
              <a:gd name="T44" fmla="*/ 2147483647 w 494"/>
              <a:gd name="T45" fmla="*/ 2147483647 h 181"/>
              <a:gd name="T46" fmla="*/ 2147483647 w 494"/>
              <a:gd name="T47" fmla="*/ 2147483647 h 181"/>
              <a:gd name="T48" fmla="*/ 2147483647 w 494"/>
              <a:gd name="T49" fmla="*/ 2147483647 h 181"/>
              <a:gd name="T50" fmla="*/ 2147483647 w 494"/>
              <a:gd name="T51" fmla="*/ 2147483647 h 181"/>
              <a:gd name="T52" fmla="*/ 2147483647 w 494"/>
              <a:gd name="T53" fmla="*/ 2147483647 h 181"/>
              <a:gd name="T54" fmla="*/ 2147483647 w 494"/>
              <a:gd name="T55" fmla="*/ 2147483647 h 181"/>
              <a:gd name="T56" fmla="*/ 2147483647 w 494"/>
              <a:gd name="T57" fmla="*/ 2147483647 h 181"/>
              <a:gd name="T58" fmla="*/ 2147483647 w 494"/>
              <a:gd name="T59" fmla="*/ 2147483647 h 181"/>
              <a:gd name="T60" fmla="*/ 2147483647 w 494"/>
              <a:gd name="T61" fmla="*/ 2147483647 h 181"/>
              <a:gd name="T62" fmla="*/ 2147483647 w 494"/>
              <a:gd name="T63" fmla="*/ 2147483647 h 181"/>
              <a:gd name="T64" fmla="*/ 2147483647 w 494"/>
              <a:gd name="T65" fmla="*/ 2147483647 h 181"/>
              <a:gd name="T66" fmla="*/ 2147483647 w 494"/>
              <a:gd name="T67" fmla="*/ 2147483647 h 181"/>
              <a:gd name="T68" fmla="*/ 2147483647 w 494"/>
              <a:gd name="T69" fmla="*/ 2147483647 h 181"/>
              <a:gd name="T70" fmla="*/ 2147483647 w 494"/>
              <a:gd name="T71" fmla="*/ 2147483647 h 181"/>
              <a:gd name="T72" fmla="*/ 2147483647 w 494"/>
              <a:gd name="T73" fmla="*/ 2147483647 h 181"/>
              <a:gd name="T74" fmla="*/ 2147483647 w 494"/>
              <a:gd name="T75" fmla="*/ 0 h 181"/>
              <a:gd name="T76" fmla="*/ 2147483647 w 494"/>
              <a:gd name="T77" fmla="*/ 2147483647 h 181"/>
              <a:gd name="T78" fmla="*/ 2147483647 w 494"/>
              <a:gd name="T79" fmla="*/ 2147483647 h 181"/>
              <a:gd name="T80" fmla="*/ 2147483647 w 494"/>
              <a:gd name="T81" fmla="*/ 2147483647 h 181"/>
              <a:gd name="T82" fmla="*/ 2147483647 w 494"/>
              <a:gd name="T83" fmla="*/ 2147483647 h 181"/>
              <a:gd name="T84" fmla="*/ 2147483647 w 494"/>
              <a:gd name="T85" fmla="*/ 2147483647 h 181"/>
              <a:gd name="T86" fmla="*/ 2147483647 w 494"/>
              <a:gd name="T87" fmla="*/ 2147483647 h 181"/>
              <a:gd name="T88" fmla="*/ 2147483647 w 494"/>
              <a:gd name="T89" fmla="*/ 2147483647 h 181"/>
              <a:gd name="T90" fmla="*/ 2147483647 w 494"/>
              <a:gd name="T91" fmla="*/ 2147483647 h 181"/>
              <a:gd name="T92" fmla="*/ 2147483647 w 494"/>
              <a:gd name="T93" fmla="*/ 2147483647 h 181"/>
              <a:gd name="T94" fmla="*/ 2147483647 w 494"/>
              <a:gd name="T95" fmla="*/ 2147483647 h 181"/>
              <a:gd name="T96" fmla="*/ 2147483647 w 494"/>
              <a:gd name="T97" fmla="*/ 2147483647 h 181"/>
              <a:gd name="T98" fmla="*/ 2147483647 w 494"/>
              <a:gd name="T99" fmla="*/ 2147483647 h 1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94"/>
              <a:gd name="T151" fmla="*/ 0 h 181"/>
              <a:gd name="T152" fmla="*/ 494 w 494"/>
              <a:gd name="T153" fmla="*/ 181 h 1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94" h="181">
                <a:moveTo>
                  <a:pt x="0" y="181"/>
                </a:moveTo>
                <a:lnTo>
                  <a:pt x="5" y="180"/>
                </a:lnTo>
                <a:lnTo>
                  <a:pt x="10" y="178"/>
                </a:lnTo>
                <a:lnTo>
                  <a:pt x="15" y="175"/>
                </a:lnTo>
                <a:lnTo>
                  <a:pt x="20" y="170"/>
                </a:lnTo>
                <a:lnTo>
                  <a:pt x="25" y="164"/>
                </a:lnTo>
                <a:lnTo>
                  <a:pt x="30" y="157"/>
                </a:lnTo>
                <a:lnTo>
                  <a:pt x="35" y="148"/>
                </a:lnTo>
                <a:lnTo>
                  <a:pt x="39" y="139"/>
                </a:lnTo>
                <a:lnTo>
                  <a:pt x="44" y="129"/>
                </a:lnTo>
                <a:lnTo>
                  <a:pt x="49" y="119"/>
                </a:lnTo>
                <a:lnTo>
                  <a:pt x="54" y="108"/>
                </a:lnTo>
                <a:lnTo>
                  <a:pt x="59" y="96"/>
                </a:lnTo>
                <a:lnTo>
                  <a:pt x="64" y="85"/>
                </a:lnTo>
                <a:lnTo>
                  <a:pt x="69" y="74"/>
                </a:lnTo>
                <a:lnTo>
                  <a:pt x="74" y="63"/>
                </a:lnTo>
                <a:lnTo>
                  <a:pt x="79" y="52"/>
                </a:lnTo>
                <a:lnTo>
                  <a:pt x="84" y="42"/>
                </a:lnTo>
                <a:lnTo>
                  <a:pt x="89" y="33"/>
                </a:lnTo>
                <a:lnTo>
                  <a:pt x="94" y="25"/>
                </a:lnTo>
                <a:lnTo>
                  <a:pt x="99" y="17"/>
                </a:lnTo>
                <a:lnTo>
                  <a:pt x="104" y="11"/>
                </a:lnTo>
                <a:lnTo>
                  <a:pt x="109" y="6"/>
                </a:lnTo>
                <a:lnTo>
                  <a:pt x="114" y="3"/>
                </a:lnTo>
                <a:lnTo>
                  <a:pt x="118" y="1"/>
                </a:lnTo>
                <a:lnTo>
                  <a:pt x="123" y="0"/>
                </a:lnTo>
                <a:lnTo>
                  <a:pt x="128" y="1"/>
                </a:lnTo>
                <a:lnTo>
                  <a:pt x="133" y="3"/>
                </a:lnTo>
                <a:lnTo>
                  <a:pt x="138" y="6"/>
                </a:lnTo>
                <a:lnTo>
                  <a:pt x="143" y="11"/>
                </a:lnTo>
                <a:lnTo>
                  <a:pt x="148" y="17"/>
                </a:lnTo>
                <a:lnTo>
                  <a:pt x="153" y="25"/>
                </a:lnTo>
                <a:lnTo>
                  <a:pt x="158" y="33"/>
                </a:lnTo>
                <a:lnTo>
                  <a:pt x="163" y="42"/>
                </a:lnTo>
                <a:lnTo>
                  <a:pt x="168" y="52"/>
                </a:lnTo>
                <a:lnTo>
                  <a:pt x="173" y="63"/>
                </a:lnTo>
                <a:lnTo>
                  <a:pt x="178" y="74"/>
                </a:lnTo>
                <a:lnTo>
                  <a:pt x="183" y="85"/>
                </a:lnTo>
                <a:lnTo>
                  <a:pt x="188" y="96"/>
                </a:lnTo>
                <a:lnTo>
                  <a:pt x="193" y="108"/>
                </a:lnTo>
                <a:lnTo>
                  <a:pt x="197" y="119"/>
                </a:lnTo>
                <a:lnTo>
                  <a:pt x="202" y="129"/>
                </a:lnTo>
                <a:lnTo>
                  <a:pt x="207" y="139"/>
                </a:lnTo>
                <a:lnTo>
                  <a:pt x="212" y="148"/>
                </a:lnTo>
                <a:lnTo>
                  <a:pt x="217" y="157"/>
                </a:lnTo>
                <a:lnTo>
                  <a:pt x="222" y="164"/>
                </a:lnTo>
                <a:lnTo>
                  <a:pt x="227" y="170"/>
                </a:lnTo>
                <a:lnTo>
                  <a:pt x="232" y="175"/>
                </a:lnTo>
                <a:lnTo>
                  <a:pt x="237" y="178"/>
                </a:lnTo>
                <a:lnTo>
                  <a:pt x="242" y="180"/>
                </a:lnTo>
                <a:lnTo>
                  <a:pt x="247" y="181"/>
                </a:lnTo>
                <a:lnTo>
                  <a:pt x="252" y="180"/>
                </a:lnTo>
                <a:lnTo>
                  <a:pt x="257" y="178"/>
                </a:lnTo>
                <a:lnTo>
                  <a:pt x="262" y="175"/>
                </a:lnTo>
                <a:lnTo>
                  <a:pt x="267" y="170"/>
                </a:lnTo>
                <a:lnTo>
                  <a:pt x="272" y="164"/>
                </a:lnTo>
                <a:lnTo>
                  <a:pt x="276" y="157"/>
                </a:lnTo>
                <a:lnTo>
                  <a:pt x="281" y="148"/>
                </a:lnTo>
                <a:lnTo>
                  <a:pt x="286" y="139"/>
                </a:lnTo>
                <a:lnTo>
                  <a:pt x="291" y="129"/>
                </a:lnTo>
                <a:lnTo>
                  <a:pt x="296" y="119"/>
                </a:lnTo>
                <a:lnTo>
                  <a:pt x="301" y="108"/>
                </a:lnTo>
                <a:lnTo>
                  <a:pt x="306" y="96"/>
                </a:lnTo>
                <a:lnTo>
                  <a:pt x="311" y="85"/>
                </a:lnTo>
                <a:lnTo>
                  <a:pt x="316" y="74"/>
                </a:lnTo>
                <a:lnTo>
                  <a:pt x="321" y="63"/>
                </a:lnTo>
                <a:lnTo>
                  <a:pt x="326" y="52"/>
                </a:lnTo>
                <a:lnTo>
                  <a:pt x="331" y="42"/>
                </a:lnTo>
                <a:lnTo>
                  <a:pt x="336" y="33"/>
                </a:lnTo>
                <a:lnTo>
                  <a:pt x="341" y="25"/>
                </a:lnTo>
                <a:lnTo>
                  <a:pt x="346" y="17"/>
                </a:lnTo>
                <a:lnTo>
                  <a:pt x="351" y="11"/>
                </a:lnTo>
                <a:lnTo>
                  <a:pt x="355" y="6"/>
                </a:lnTo>
                <a:lnTo>
                  <a:pt x="360" y="3"/>
                </a:lnTo>
                <a:lnTo>
                  <a:pt x="365" y="1"/>
                </a:lnTo>
                <a:lnTo>
                  <a:pt x="370" y="0"/>
                </a:lnTo>
                <a:lnTo>
                  <a:pt x="375" y="1"/>
                </a:lnTo>
                <a:lnTo>
                  <a:pt x="380" y="3"/>
                </a:lnTo>
                <a:lnTo>
                  <a:pt x="385" y="6"/>
                </a:lnTo>
                <a:lnTo>
                  <a:pt x="390" y="11"/>
                </a:lnTo>
                <a:lnTo>
                  <a:pt x="395" y="17"/>
                </a:lnTo>
                <a:lnTo>
                  <a:pt x="400" y="25"/>
                </a:lnTo>
                <a:lnTo>
                  <a:pt x="405" y="33"/>
                </a:lnTo>
                <a:lnTo>
                  <a:pt x="410" y="42"/>
                </a:lnTo>
                <a:lnTo>
                  <a:pt x="415" y="52"/>
                </a:lnTo>
                <a:lnTo>
                  <a:pt x="420" y="63"/>
                </a:lnTo>
                <a:lnTo>
                  <a:pt x="425" y="74"/>
                </a:lnTo>
                <a:lnTo>
                  <a:pt x="430" y="85"/>
                </a:lnTo>
                <a:lnTo>
                  <a:pt x="434" y="96"/>
                </a:lnTo>
                <a:lnTo>
                  <a:pt x="439" y="108"/>
                </a:lnTo>
                <a:lnTo>
                  <a:pt x="444" y="119"/>
                </a:lnTo>
                <a:lnTo>
                  <a:pt x="449" y="129"/>
                </a:lnTo>
                <a:lnTo>
                  <a:pt x="454" y="139"/>
                </a:lnTo>
                <a:lnTo>
                  <a:pt x="459" y="148"/>
                </a:lnTo>
                <a:lnTo>
                  <a:pt x="464" y="157"/>
                </a:lnTo>
                <a:lnTo>
                  <a:pt x="469" y="164"/>
                </a:lnTo>
                <a:lnTo>
                  <a:pt x="474" y="170"/>
                </a:lnTo>
                <a:lnTo>
                  <a:pt x="479" y="175"/>
                </a:lnTo>
                <a:lnTo>
                  <a:pt x="484" y="178"/>
                </a:lnTo>
                <a:lnTo>
                  <a:pt x="489" y="180"/>
                </a:lnTo>
                <a:lnTo>
                  <a:pt x="494" y="181"/>
                </a:lnTo>
              </a:path>
            </a:pathLst>
          </a:custGeom>
          <a:noFill/>
          <a:ln w="25400">
            <a:solidFill>
              <a:srgbClr val="000066"/>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5" name="Rectangle 235"/>
          <p:cNvSpPr>
            <a:spLocks noChangeArrowheads="1"/>
          </p:cNvSpPr>
          <p:nvPr/>
        </p:nvSpPr>
        <p:spPr bwMode="auto">
          <a:xfrm>
            <a:off x="4789488" y="5326063"/>
            <a:ext cx="84137" cy="182562"/>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0</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6" name="Rectangle 236"/>
          <p:cNvSpPr>
            <a:spLocks noChangeArrowheads="1"/>
          </p:cNvSpPr>
          <p:nvPr/>
        </p:nvSpPr>
        <p:spPr bwMode="auto">
          <a:xfrm>
            <a:off x="4679950" y="4697413"/>
            <a:ext cx="212725" cy="18415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0.5</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7" name="Rectangle 237"/>
          <p:cNvSpPr>
            <a:spLocks noChangeArrowheads="1"/>
          </p:cNvSpPr>
          <p:nvPr/>
        </p:nvSpPr>
        <p:spPr bwMode="auto">
          <a:xfrm>
            <a:off x="4675188" y="4068763"/>
            <a:ext cx="212725" cy="18415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1</a:t>
            </a:r>
            <a:r>
              <a:rPr kumimoji="0" lang="tr-TR" sz="1200" b="0" i="0" u="none" strike="noStrike" kern="1200" cap="none" spc="0" normalizeH="0" baseline="0" noProof="0">
                <a:ln>
                  <a:noFill/>
                </a:ln>
                <a:solidFill>
                  <a:srgbClr val="000000"/>
                </a:solidFill>
                <a:effectLst/>
                <a:uLnTx/>
                <a:uFillTx/>
                <a:latin typeface="Arial" charset="0"/>
                <a:ea typeface="+mn-ea"/>
                <a:cs typeface="+mn-cs"/>
              </a:rPr>
              <a:t>.0</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8" name="Rectangle 238"/>
          <p:cNvSpPr>
            <a:spLocks noChangeArrowheads="1"/>
          </p:cNvSpPr>
          <p:nvPr/>
        </p:nvSpPr>
        <p:spPr bwMode="auto">
          <a:xfrm>
            <a:off x="4679950" y="3424238"/>
            <a:ext cx="212725" cy="18415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1.5</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3999" name="Rectangle 239"/>
          <p:cNvSpPr>
            <a:spLocks noChangeArrowheads="1"/>
          </p:cNvSpPr>
          <p:nvPr/>
        </p:nvSpPr>
        <p:spPr bwMode="auto">
          <a:xfrm>
            <a:off x="4675188" y="2797175"/>
            <a:ext cx="212725" cy="18415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2</a:t>
            </a:r>
            <a:r>
              <a:rPr kumimoji="0" lang="tr-TR" sz="1200" b="0" i="0" u="none" strike="noStrike" kern="1200" cap="none" spc="0" normalizeH="0" baseline="0" noProof="0">
                <a:ln>
                  <a:noFill/>
                </a:ln>
                <a:solidFill>
                  <a:srgbClr val="000000"/>
                </a:solidFill>
                <a:effectLst/>
                <a:uLnTx/>
                <a:uFillTx/>
                <a:latin typeface="Arial" charset="0"/>
                <a:ea typeface="+mn-ea"/>
                <a:cs typeface="+mn-cs"/>
              </a:rPr>
              <a:t>.0</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000" name="Rectangle 240"/>
          <p:cNvSpPr>
            <a:spLocks noChangeArrowheads="1"/>
          </p:cNvSpPr>
          <p:nvPr/>
        </p:nvSpPr>
        <p:spPr bwMode="auto">
          <a:xfrm>
            <a:off x="4679950" y="2166938"/>
            <a:ext cx="212725" cy="184150"/>
          </a:xfrm>
          <a:prstGeom prst="rect">
            <a:avLst/>
          </a:prstGeom>
          <a:noFill/>
          <a:ln w="9525">
            <a:noFill/>
            <a:miter lim="800000"/>
            <a:headEnd/>
            <a:tailEnd/>
          </a:ln>
        </p:spPr>
        <p:txBody>
          <a:bodyPr wrap="none"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charset="0"/>
                <a:ea typeface="+mn-ea"/>
                <a:cs typeface="+mn-cs"/>
              </a:rPr>
              <a:t>2.5</a:t>
            </a:r>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001" name="Line 241"/>
          <p:cNvSpPr>
            <a:spLocks noChangeShapeType="1"/>
          </p:cNvSpPr>
          <p:nvPr/>
        </p:nvSpPr>
        <p:spPr bwMode="auto">
          <a:xfrm flipV="1">
            <a:off x="4932363" y="3990975"/>
            <a:ext cx="3881437" cy="9525"/>
          </a:xfrm>
          <a:prstGeom prst="line">
            <a:avLst/>
          </a:prstGeom>
          <a:noFill/>
          <a:ln w="25400">
            <a:solidFill>
              <a:srgbClr val="000066"/>
            </a:solidFill>
            <a:prstDash val="sysDot"/>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002" name="Text Box 242"/>
          <p:cNvSpPr txBox="1">
            <a:spLocks noChangeArrowheads="1"/>
          </p:cNvSpPr>
          <p:nvPr/>
        </p:nvSpPr>
        <p:spPr bwMode="auto">
          <a:xfrm>
            <a:off x="7940675" y="5649913"/>
            <a:ext cx="1136650" cy="274637"/>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srgbClr val="000066"/>
                </a:solidFill>
                <a:effectLst/>
                <a:uLnTx/>
                <a:uFillTx/>
                <a:latin typeface="Arial Narrow" pitchFamily="34" charset="0"/>
                <a:ea typeface="+mn-ea"/>
                <a:cs typeface="+mn-cs"/>
              </a:rPr>
              <a:t>Angle (Radians)</a:t>
            </a:r>
            <a:endParaRPr kumimoji="0" lang="en-US" sz="1200" b="0" i="0" u="none" strike="noStrike" kern="1200" cap="none" spc="0" normalizeH="0" baseline="0" noProof="0">
              <a:ln>
                <a:noFill/>
              </a:ln>
              <a:solidFill>
                <a:srgbClr val="000066"/>
              </a:solidFill>
              <a:effectLst/>
              <a:uLnTx/>
              <a:uFillTx/>
              <a:latin typeface="Arial Narrow" pitchFamily="34" charset="0"/>
              <a:ea typeface="+mn-ea"/>
              <a:cs typeface="+mn-cs"/>
            </a:endParaRPr>
          </a:p>
        </p:txBody>
      </p:sp>
      <p:sp>
        <p:nvSpPr>
          <p:cNvPr id="124003" name="Line 243"/>
          <p:cNvSpPr>
            <a:spLocks noChangeShapeType="1"/>
          </p:cNvSpPr>
          <p:nvPr/>
        </p:nvSpPr>
        <p:spPr bwMode="auto">
          <a:xfrm>
            <a:off x="6434138" y="2306638"/>
            <a:ext cx="1587" cy="38766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004" name="Line 244"/>
          <p:cNvSpPr>
            <a:spLocks noChangeShapeType="1"/>
          </p:cNvSpPr>
          <p:nvPr/>
        </p:nvSpPr>
        <p:spPr bwMode="auto">
          <a:xfrm>
            <a:off x="8362950" y="2306638"/>
            <a:ext cx="1588" cy="38766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005" name="Line 245"/>
          <p:cNvSpPr>
            <a:spLocks noChangeShapeType="1"/>
          </p:cNvSpPr>
          <p:nvPr/>
        </p:nvSpPr>
        <p:spPr bwMode="auto">
          <a:xfrm>
            <a:off x="4945063" y="2295525"/>
            <a:ext cx="1587" cy="3876675"/>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006" name="Rectangle 246"/>
          <p:cNvSpPr>
            <a:spLocks noChangeArrowheads="1"/>
          </p:cNvSpPr>
          <p:nvPr/>
        </p:nvSpPr>
        <p:spPr bwMode="auto">
          <a:xfrm>
            <a:off x="6851650" y="5453063"/>
            <a:ext cx="188913" cy="212725"/>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rPr>
              <a:t></a:t>
            </a:r>
          </a:p>
        </p:txBody>
      </p:sp>
      <p:sp>
        <p:nvSpPr>
          <p:cNvPr id="124007" name="Rectangle 247"/>
          <p:cNvSpPr>
            <a:spLocks noChangeArrowheads="1"/>
          </p:cNvSpPr>
          <p:nvPr/>
        </p:nvSpPr>
        <p:spPr bwMode="auto">
          <a:xfrm>
            <a:off x="5786438" y="5480050"/>
            <a:ext cx="358775" cy="212725"/>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rPr>
              <a:t></a:t>
            </a:r>
            <a:r>
              <a:rPr kumimoji="0" lang="tr-TR" sz="12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rPr>
              <a:t>/2</a:t>
            </a:r>
            <a:endParaRPr kumimoji="0" lang="en-US" sz="12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endParaRPr>
          </a:p>
        </p:txBody>
      </p:sp>
      <p:sp>
        <p:nvSpPr>
          <p:cNvPr id="124008" name="Rectangle 248"/>
          <p:cNvSpPr>
            <a:spLocks noChangeArrowheads="1"/>
          </p:cNvSpPr>
          <p:nvPr/>
        </p:nvSpPr>
        <p:spPr bwMode="auto">
          <a:xfrm>
            <a:off x="7758113" y="5480050"/>
            <a:ext cx="419100" cy="212725"/>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srgbClr val="000066"/>
                </a:solidFill>
                <a:effectLst/>
                <a:uLnTx/>
                <a:uFillTx/>
                <a:latin typeface="Arial Narrow" pitchFamily="34" charset="0"/>
                <a:ea typeface="+mn-ea"/>
                <a:cs typeface="+mn-cs"/>
              </a:rPr>
              <a:t>3</a:t>
            </a:r>
            <a:r>
              <a:rPr kumimoji="0" lang="en-US" sz="14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rPr>
              <a:t></a:t>
            </a:r>
            <a:r>
              <a:rPr kumimoji="0" lang="tr-TR" sz="12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rPr>
              <a:t>/2</a:t>
            </a:r>
            <a:endParaRPr kumimoji="0" lang="en-US" sz="12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endParaRPr>
          </a:p>
        </p:txBody>
      </p:sp>
      <p:sp>
        <p:nvSpPr>
          <p:cNvPr id="124009" name="Rectangle 249"/>
          <p:cNvSpPr>
            <a:spLocks noChangeArrowheads="1"/>
          </p:cNvSpPr>
          <p:nvPr/>
        </p:nvSpPr>
        <p:spPr bwMode="auto">
          <a:xfrm>
            <a:off x="8636000" y="5472113"/>
            <a:ext cx="298450" cy="212725"/>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66"/>
                </a:solidFill>
                <a:effectLst/>
                <a:uLnTx/>
                <a:uFillTx/>
                <a:latin typeface="Arial Narrow" pitchFamily="34" charset="0"/>
                <a:ea typeface="+mn-ea"/>
                <a:cs typeface="+mn-cs"/>
              </a:rPr>
              <a:t>2</a:t>
            </a:r>
            <a:r>
              <a:rPr kumimoji="0" lang="en-US" sz="1400" b="0" i="0" u="none" strike="noStrike" kern="1200" cap="none" spc="0" normalizeH="0" baseline="0" noProof="0">
                <a:ln>
                  <a:noFill/>
                </a:ln>
                <a:solidFill>
                  <a:srgbClr val="000066"/>
                </a:solidFill>
                <a:effectLst/>
                <a:uLnTx/>
                <a:uFillTx/>
                <a:latin typeface="Arial Narrow" pitchFamily="34" charset="0"/>
                <a:ea typeface="+mn-ea"/>
                <a:cs typeface="+mn-cs"/>
                <a:sym typeface="Symbol" pitchFamily="18" charset="2"/>
              </a:rPr>
              <a:t></a:t>
            </a:r>
          </a:p>
        </p:txBody>
      </p:sp>
      <p:sp>
        <p:nvSpPr>
          <p:cNvPr id="124010" name="Rectangle 250"/>
          <p:cNvSpPr>
            <a:spLocks noChangeArrowheads="1"/>
          </p:cNvSpPr>
          <p:nvPr/>
        </p:nvSpPr>
        <p:spPr bwMode="auto">
          <a:xfrm>
            <a:off x="5011738" y="5513388"/>
            <a:ext cx="357187" cy="182562"/>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srgbClr val="000066"/>
                </a:solidFill>
                <a:effectLst/>
                <a:uLnTx/>
                <a:uFillTx/>
                <a:latin typeface="Arial" charset="0"/>
                <a:ea typeface="+mn-ea"/>
                <a:cs typeface="+mn-cs"/>
                <a:sym typeface="Symbol" pitchFamily="18" charset="2"/>
              </a:rPr>
              <a:t>0</a:t>
            </a:r>
            <a:endParaRPr kumimoji="0" lang="en-US" sz="1200" b="0" i="0" u="none" strike="noStrike" kern="1200" cap="none" spc="0" normalizeH="0" baseline="0" noProof="0">
              <a:ln>
                <a:noFill/>
              </a:ln>
              <a:solidFill>
                <a:srgbClr val="000066"/>
              </a:solidFill>
              <a:effectLst/>
              <a:uLnTx/>
              <a:uFillTx/>
              <a:latin typeface="Arial" charset="0"/>
              <a:ea typeface="+mn-ea"/>
              <a:cs typeface="+mn-cs"/>
              <a:sym typeface="Symbol" pitchFamily="18" charset="2"/>
            </a:endParaRPr>
          </a:p>
        </p:txBody>
      </p:sp>
      <p:sp>
        <p:nvSpPr>
          <p:cNvPr id="124011" name="Line 136"/>
          <p:cNvSpPr>
            <a:spLocks noChangeShapeType="1"/>
          </p:cNvSpPr>
          <p:nvPr/>
        </p:nvSpPr>
        <p:spPr bwMode="auto">
          <a:xfrm flipH="1">
            <a:off x="7488238" y="3979863"/>
            <a:ext cx="0" cy="1477962"/>
          </a:xfrm>
          <a:prstGeom prst="line">
            <a:avLst/>
          </a:prstGeom>
          <a:noFill/>
          <a:ln w="19050">
            <a:solidFill>
              <a:srgbClr val="000066"/>
            </a:solidFill>
            <a:prstDash val="sysDot"/>
            <a:round/>
            <a:headEnd type="triangle" w="med" len="me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grpSp>
        <p:nvGrpSpPr>
          <p:cNvPr id="2" name="Group 114"/>
          <p:cNvGrpSpPr>
            <a:grpSpLocks/>
          </p:cNvGrpSpPr>
          <p:nvPr/>
        </p:nvGrpSpPr>
        <p:grpSpPr bwMode="auto">
          <a:xfrm>
            <a:off x="7524750" y="1412875"/>
            <a:ext cx="269875" cy="3275013"/>
            <a:chOff x="7524750" y="1412875"/>
            <a:chExt cx="269875" cy="3611563"/>
          </a:xfrm>
        </p:grpSpPr>
        <p:sp>
          <p:nvSpPr>
            <p:cNvPr id="124018" name="Line 67"/>
            <p:cNvSpPr>
              <a:spLocks noChangeShapeType="1"/>
            </p:cNvSpPr>
            <p:nvPr/>
          </p:nvSpPr>
          <p:spPr bwMode="auto">
            <a:xfrm>
              <a:off x="7777163" y="1412875"/>
              <a:ext cx="17462" cy="3611563"/>
            </a:xfrm>
            <a:prstGeom prst="line">
              <a:avLst/>
            </a:prstGeom>
            <a:noFill/>
            <a:ln w="25400">
              <a:solidFill>
                <a:srgbClr val="CC3300"/>
              </a:solidFill>
              <a:prstDash val="sysDot"/>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019" name="Line 137"/>
            <p:cNvSpPr>
              <a:spLocks noChangeShapeType="1"/>
            </p:cNvSpPr>
            <p:nvPr/>
          </p:nvSpPr>
          <p:spPr bwMode="auto">
            <a:xfrm rot="5400000">
              <a:off x="7659688" y="4889500"/>
              <a:ext cx="0" cy="269875"/>
            </a:xfrm>
            <a:prstGeom prst="line">
              <a:avLst/>
            </a:prstGeom>
            <a:noFill/>
            <a:ln w="25400">
              <a:solidFill>
                <a:srgbClr val="CC3300"/>
              </a:solidFill>
              <a:prstDash val="sysDot"/>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grpSp>
      <p:sp>
        <p:nvSpPr>
          <p:cNvPr id="124013" name="Rectangle 143"/>
          <p:cNvSpPr>
            <a:spLocks noChangeArrowheads="1"/>
          </p:cNvSpPr>
          <p:nvPr/>
        </p:nvSpPr>
        <p:spPr bwMode="auto">
          <a:xfrm>
            <a:off x="6753225" y="1365250"/>
            <a:ext cx="2390775" cy="609252"/>
          </a:xfrm>
          <a:prstGeom prst="rect">
            <a:avLst/>
          </a:prstGeom>
          <a:solidFill>
            <a:srgbClr val="CC3300"/>
          </a:solidFill>
          <a:ln w="9525">
            <a:noFill/>
            <a:miter lim="800000"/>
            <a:headEnd/>
            <a:tailEnd/>
          </a:ln>
        </p:spPr>
        <p:txBody>
          <a:bodyPr tIns="118800" bIns="118800">
            <a:spAutoFit/>
          </a:bodyPr>
          <a:lstStyle/>
          <a:p>
            <a:pPr marL="447675" marR="0" lvl="0" indent="-447675" algn="ctr" defTabSz="914400" rtl="0" eaLnBrk="1" fontAlgn="base" latinLnBrk="0" hangingPunct="1">
              <a:lnSpc>
                <a:spcPct val="100000"/>
              </a:lnSpc>
              <a:spcBef>
                <a:spcPct val="0"/>
              </a:spcBef>
              <a:spcAft>
                <a:spcPct val="0"/>
              </a:spcAft>
              <a:buClrTx/>
              <a:buSzTx/>
              <a:buFontTx/>
              <a:buNone/>
              <a:tabLst/>
              <a:defRPr/>
            </a:pP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rPr>
              <a:t>I</a:t>
            </a:r>
            <a:r>
              <a:rPr kumimoji="0" lang="tr-TR" sz="1800" b="1" i="0" u="none" strike="noStrike" kern="1200" cap="none" spc="0" normalizeH="0" baseline="-25000" noProof="0">
                <a:ln>
                  <a:noFill/>
                </a:ln>
                <a:solidFill>
                  <a:prstClr val="white"/>
                </a:solidFill>
                <a:effectLst/>
                <a:uLnTx/>
                <a:uFillTx/>
                <a:latin typeface="Arial Narrow" pitchFamily="34" charset="0"/>
                <a:ea typeface="+mn-ea"/>
                <a:cs typeface="+mn-cs"/>
              </a:rPr>
              <a:t>rms</a:t>
            </a: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rPr>
              <a:t> = </a:t>
            </a:r>
            <a:r>
              <a:rPr kumimoji="0" lang="tr-TR" sz="2400" b="1" i="0" u="none" strike="noStrike" kern="1200" cap="none" spc="0" normalizeH="0" baseline="0" noProof="0">
                <a:ln>
                  <a:noFill/>
                </a:ln>
                <a:solidFill>
                  <a:prstClr val="white"/>
                </a:solidFill>
                <a:effectLst/>
                <a:uLnTx/>
                <a:uFillTx/>
                <a:latin typeface="Arial Narrow" pitchFamily="34" charset="0"/>
                <a:ea typeface="+mn-ea"/>
                <a:cs typeface="+mn-cs"/>
                <a:sym typeface="Symbol" pitchFamily="18" charset="2"/>
              </a:rPr>
              <a:t>√ </a:t>
            </a: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rPr>
              <a:t>( 1/T ) </a:t>
            </a: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sym typeface="Symbol" pitchFamily="18" charset="2"/>
              </a:rPr>
              <a:t>  </a:t>
            </a: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rPr>
              <a:t>I(t)</a:t>
            </a:r>
            <a:r>
              <a:rPr kumimoji="0" lang="tr-TR" sz="1800" b="1" i="0" u="none" strike="noStrike" kern="1200" cap="none" spc="0" normalizeH="0" baseline="30000" noProof="0">
                <a:ln>
                  <a:noFill/>
                </a:ln>
                <a:solidFill>
                  <a:prstClr val="white"/>
                </a:solidFill>
                <a:effectLst/>
                <a:uLnTx/>
                <a:uFillTx/>
                <a:latin typeface="Arial Narrow" pitchFamily="34" charset="0"/>
                <a:ea typeface="+mn-ea"/>
                <a:cs typeface="+mn-cs"/>
              </a:rPr>
              <a:t>2</a:t>
            </a: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rPr>
              <a:t> </a:t>
            </a: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sym typeface="Symbol" pitchFamily="18" charset="2"/>
              </a:rPr>
              <a:t>dt</a:t>
            </a:r>
            <a:endParaRPr kumimoji="0" lang="en-US" sz="1800" b="1" i="0" u="none" strike="noStrike" kern="1200" cap="none" spc="0" normalizeH="0" baseline="30000" noProof="0">
              <a:ln>
                <a:noFill/>
              </a:ln>
              <a:solidFill>
                <a:prstClr val="white"/>
              </a:solidFill>
              <a:effectLst/>
              <a:uLnTx/>
              <a:uFillTx/>
              <a:latin typeface="Arial Narrow" pitchFamily="34" charset="0"/>
              <a:ea typeface="+mn-ea"/>
              <a:cs typeface="+mn-cs"/>
              <a:sym typeface="Symbol" pitchFamily="18" charset="2"/>
            </a:endParaRPr>
          </a:p>
        </p:txBody>
      </p:sp>
      <p:sp>
        <p:nvSpPr>
          <p:cNvPr id="124014" name="Line 144"/>
          <p:cNvSpPr>
            <a:spLocks noChangeShapeType="1"/>
          </p:cNvSpPr>
          <p:nvPr/>
        </p:nvSpPr>
        <p:spPr bwMode="auto">
          <a:xfrm flipV="1">
            <a:off x="7608888" y="1501775"/>
            <a:ext cx="1363662" cy="0"/>
          </a:xfrm>
          <a:prstGeom prst="line">
            <a:avLst/>
          </a:prstGeom>
          <a:noFill/>
          <a:ln w="19050">
            <a:solidFill>
              <a:srgbClr val="FFFFFF"/>
            </a:solidFill>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015" name="Line 65"/>
          <p:cNvSpPr>
            <a:spLocks noChangeShapeType="1"/>
          </p:cNvSpPr>
          <p:nvPr/>
        </p:nvSpPr>
        <p:spPr bwMode="auto">
          <a:xfrm>
            <a:off x="5557838" y="1827213"/>
            <a:ext cx="0" cy="1263650"/>
          </a:xfrm>
          <a:prstGeom prst="line">
            <a:avLst/>
          </a:prstGeom>
          <a:noFill/>
          <a:ln w="25400">
            <a:solidFill>
              <a:srgbClr val="000066"/>
            </a:solidFill>
            <a:prstDash val="sysDot"/>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017" name="Oval 255"/>
          <p:cNvSpPr>
            <a:spLocks noChangeArrowheads="1"/>
          </p:cNvSpPr>
          <p:nvPr/>
        </p:nvSpPr>
        <p:spPr bwMode="auto">
          <a:xfrm>
            <a:off x="163513" y="4930775"/>
            <a:ext cx="501650" cy="484188"/>
          </a:xfrm>
          <a:prstGeom prst="ellipse">
            <a:avLst/>
          </a:prstGeom>
          <a:solidFill>
            <a:srgbClr val="FFFFFF"/>
          </a:solidFill>
          <a:ln w="38100">
            <a:solidFill>
              <a:srgbClr val="CC33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16" name="Rectangle 4"/>
          <p:cNvSpPr>
            <a:spLocks noChangeArrowheads="1"/>
          </p:cNvSpPr>
          <p:nvPr/>
        </p:nvSpPr>
        <p:spPr bwMode="auto">
          <a:xfrm>
            <a:off x="3124200" y="114300"/>
            <a:ext cx="1820563" cy="52322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800" b="0" i="0" u="none" strike="noStrike" kern="1200" cap="none" spc="0" normalizeH="0" baseline="0" noProof="0" dirty="0">
                <a:ln>
                  <a:noFill/>
                </a:ln>
                <a:solidFill>
                  <a:prstClr val="black"/>
                </a:solidFill>
                <a:effectLst/>
                <a:uLnTx/>
                <a:uFillTx/>
                <a:latin typeface="Calibri"/>
                <a:ea typeface="+mn-ea"/>
                <a:cs typeface="+mn-cs"/>
              </a:rPr>
              <a:t>RMS Value </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7" name="TextBox 116"/>
          <p:cNvSpPr txBox="1"/>
          <p:nvPr/>
        </p:nvSpPr>
        <p:spPr>
          <a:xfrm>
            <a:off x="723900" y="838200"/>
            <a:ext cx="7475380" cy="40011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charset="0"/>
                <a:ea typeface="+mn-ea"/>
                <a:cs typeface="+mn-cs"/>
              </a:rPr>
              <a:t>For a sinusoidal signal, RMS value simplifies to:    Amplitude/2</a:t>
            </a:r>
            <a:r>
              <a:rPr kumimoji="0" lang="en-US" sz="2000" b="0" i="0" u="none" strike="noStrike" kern="1200" cap="none" spc="0" normalizeH="0" baseline="30000" noProof="0" dirty="0">
                <a:ln>
                  <a:noFill/>
                </a:ln>
                <a:solidFill>
                  <a:prstClr val="black"/>
                </a:solidFill>
                <a:effectLst/>
                <a:uLnTx/>
                <a:uFillTx/>
                <a:latin typeface="Arial" charset="0"/>
                <a:ea typeface="+mn-ea"/>
                <a:cs typeface="+mn-cs"/>
              </a:rPr>
              <a:t>1/2</a:t>
            </a:r>
            <a:endParaRPr kumimoji="0" lang="tr-TR" sz="2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18"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Ali </a:t>
            </a:r>
            <a:r>
              <a:rPr kumimoji="0" lang="en-US" sz="1200" b="0" i="0" u="none" strike="noStrike" kern="1200" cap="none" spc="0" normalizeH="0" baseline="0" noProof="0" dirty="0" err="1">
                <a:ln>
                  <a:noFill/>
                </a:ln>
                <a:solidFill>
                  <a:prstClr val="black">
                    <a:tint val="75000"/>
                  </a:prstClr>
                </a:solidFill>
                <a:effectLst/>
                <a:uLnTx/>
                <a:uFillTx/>
                <a:latin typeface="Calibri"/>
                <a:ea typeface="+mn-ea"/>
                <a:cs typeface="+mn-cs"/>
              </a:rPr>
              <a:t>Muhtaroğlu</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19" name="Slide Number Placeholder 12"/>
          <p:cNvSpPr>
            <a:spLocks noGrp="1"/>
          </p:cNvSpPr>
          <p:nvPr>
            <p:ph type="sldNum" sz="quarter" idx="11"/>
          </p:nvPr>
        </p:nvSpPr>
        <p:spPr>
          <a:xfrm>
            <a:off x="8267700" y="6477000"/>
            <a:ext cx="8763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57CEED-90C7-4FD0-AB8C-14085BB9151E}"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73733077"/>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111" descr="magic"/>
          <p:cNvPicPr>
            <a:picLocks noChangeAspect="1" noChangeArrowheads="1"/>
          </p:cNvPicPr>
          <p:nvPr/>
        </p:nvPicPr>
        <p:blipFill>
          <a:blip r:embed="rId3" cstate="print"/>
          <a:srcRect/>
          <a:stretch>
            <a:fillRect/>
          </a:stretch>
        </p:blipFill>
        <p:spPr bwMode="auto">
          <a:xfrm>
            <a:off x="0" y="0"/>
            <a:ext cx="127000" cy="127000"/>
          </a:xfrm>
          <a:prstGeom prst="rect">
            <a:avLst/>
          </a:prstGeom>
          <a:noFill/>
          <a:ln w="9525">
            <a:noFill/>
            <a:miter lim="800000"/>
            <a:headEnd/>
            <a:tailEnd/>
          </a:ln>
        </p:spPr>
      </p:pic>
      <p:sp>
        <p:nvSpPr>
          <p:cNvPr id="124931" name="Rectangle 2"/>
          <p:cNvSpPr>
            <a:spLocks noChangeArrowheads="1"/>
          </p:cNvSpPr>
          <p:nvPr/>
        </p:nvSpPr>
        <p:spPr bwMode="auto">
          <a:xfrm>
            <a:off x="723900" y="190500"/>
            <a:ext cx="5522922" cy="52322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800" b="0" i="0" u="none" strike="noStrike" kern="1200" cap="none" spc="0" normalizeH="0" baseline="0" noProof="0" dirty="0">
                <a:ln>
                  <a:noFill/>
                </a:ln>
                <a:solidFill>
                  <a:prstClr val="black"/>
                </a:solidFill>
                <a:effectLst/>
                <a:uLnTx/>
                <a:uFillTx/>
                <a:latin typeface="Calibri"/>
                <a:ea typeface="+mn-ea"/>
                <a:cs typeface="+mn-cs"/>
              </a:rPr>
              <a:t>RMS Value of a Sinusoidal Waveform</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4932" name="Rectangle 3"/>
          <p:cNvSpPr>
            <a:spLocks noChangeArrowheads="1"/>
          </p:cNvSpPr>
          <p:nvPr/>
        </p:nvSpPr>
        <p:spPr bwMode="auto">
          <a:xfrm>
            <a:off x="0" y="2301875"/>
            <a:ext cx="4325938" cy="952500"/>
          </a:xfrm>
          <a:prstGeom prst="rect">
            <a:avLst/>
          </a:prstGeom>
          <a:solidFill>
            <a:srgbClr val="000066"/>
          </a:solidFill>
          <a:ln w="9525">
            <a:noFill/>
            <a:miter lim="800000"/>
            <a:headEnd/>
            <a:tailEnd/>
          </a:ln>
        </p:spPr>
        <p:txBody>
          <a:bodyPr tIns="82800" bIns="82800">
            <a:spAutoFit/>
          </a:bodyPr>
          <a:lstStyle/>
          <a:p>
            <a:pPr marL="177800" marR="0" lvl="0" indent="0" algn="l" defTabSz="914400" rtl="0" eaLnBrk="1" fontAlgn="base" latinLnBrk="0" hangingPunct="1">
              <a:lnSpc>
                <a:spcPct val="85000"/>
              </a:lnSpc>
              <a:spcBef>
                <a:spcPct val="0"/>
              </a:spcBef>
              <a:spcAft>
                <a:spcPct val="0"/>
              </a:spcAft>
              <a:buClrTx/>
              <a:buSzTx/>
              <a:buFontTx/>
              <a:buNone/>
              <a:tabLst/>
              <a:defRPr/>
            </a:pPr>
            <a:r>
              <a:rPr kumimoji="0" lang="tr-TR" sz="2000" b="1" i="0" u="none" strike="noStrike" kern="1200" cap="none" spc="0" normalizeH="0" baseline="0" noProof="0" dirty="0">
                <a:ln>
                  <a:noFill/>
                </a:ln>
                <a:solidFill>
                  <a:prstClr val="white"/>
                </a:solidFill>
                <a:effectLst/>
                <a:uLnTx/>
                <a:uFillTx/>
                <a:latin typeface="Arial Narrow" pitchFamily="34" charset="0"/>
                <a:ea typeface="+mn-ea"/>
                <a:cs typeface="+mn-cs"/>
              </a:rPr>
              <a:t>Calculate the RMS value of the sinusoidal voltage waveform with 312 Volts peak value as shown</a:t>
            </a:r>
            <a:endParaRPr kumimoji="0" lang="tr-TR" sz="2000" b="1" i="0" u="none" strike="noStrike" kern="1200" cap="none" spc="0" normalizeH="0" baseline="30000" noProof="0" dirty="0">
              <a:ln>
                <a:noFill/>
              </a:ln>
              <a:solidFill>
                <a:prstClr val="white"/>
              </a:solidFill>
              <a:effectLst/>
              <a:uLnTx/>
              <a:uFillTx/>
              <a:latin typeface="Arial Narrow" pitchFamily="34" charset="0"/>
              <a:ea typeface="+mn-ea"/>
              <a:cs typeface="+mn-cs"/>
            </a:endParaRPr>
          </a:p>
        </p:txBody>
      </p:sp>
      <p:sp>
        <p:nvSpPr>
          <p:cNvPr id="124933" name="Line 4"/>
          <p:cNvSpPr>
            <a:spLocks noChangeShapeType="1"/>
          </p:cNvSpPr>
          <p:nvPr/>
        </p:nvSpPr>
        <p:spPr bwMode="auto">
          <a:xfrm>
            <a:off x="4930775" y="2182813"/>
            <a:ext cx="1588" cy="3643312"/>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34" name="Line 5"/>
          <p:cNvSpPr>
            <a:spLocks noChangeShapeType="1"/>
          </p:cNvSpPr>
          <p:nvPr/>
        </p:nvSpPr>
        <p:spPr bwMode="auto">
          <a:xfrm>
            <a:off x="4902200" y="5826125"/>
            <a:ext cx="28575" cy="1588"/>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35" name="Line 6"/>
          <p:cNvSpPr>
            <a:spLocks noChangeShapeType="1"/>
          </p:cNvSpPr>
          <p:nvPr/>
        </p:nvSpPr>
        <p:spPr bwMode="auto">
          <a:xfrm>
            <a:off x="4902200" y="5422900"/>
            <a:ext cx="28575" cy="1588"/>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37" name="Rectangle 66"/>
          <p:cNvSpPr>
            <a:spLocks noChangeArrowheads="1"/>
          </p:cNvSpPr>
          <p:nvPr/>
        </p:nvSpPr>
        <p:spPr bwMode="auto">
          <a:xfrm>
            <a:off x="0" y="1704975"/>
            <a:ext cx="4325938" cy="573088"/>
          </a:xfrm>
          <a:prstGeom prst="rect">
            <a:avLst/>
          </a:prstGeom>
          <a:solidFill>
            <a:srgbClr val="000066"/>
          </a:solidFill>
          <a:ln w="9525" algn="ctr">
            <a:noFill/>
            <a:miter lim="800000"/>
            <a:headEnd/>
            <a:tailEnd/>
          </a:ln>
        </p:spPr>
        <p:txBody>
          <a:bodyPr lIns="54000" tIns="118800" rIns="54000" bIns="118800">
            <a:spAutoFit/>
          </a:bodyPr>
          <a:lstStyle/>
          <a:p>
            <a:pPr marL="0" marR="0" lvl="0" indent="4763" algn="ctr" defTabSz="914400" rtl="0" eaLnBrk="1" fontAlgn="base" latinLnBrk="0" hangingPunct="1">
              <a:lnSpc>
                <a:spcPct val="100000"/>
              </a:lnSpc>
              <a:spcBef>
                <a:spcPct val="0"/>
              </a:spcBef>
              <a:spcAft>
                <a:spcPct val="0"/>
              </a:spcAft>
              <a:buClrTx/>
              <a:buSzTx/>
              <a:buFontTx/>
              <a:buNone/>
              <a:tabLst/>
              <a:defRPr/>
            </a:pPr>
            <a:r>
              <a:rPr kumimoji="0" lang="tr-TR" sz="2200" b="0" i="0" u="none" strike="noStrike" kern="1200" cap="none" spc="0" normalizeH="0" baseline="0" noProof="0">
                <a:ln>
                  <a:noFill/>
                </a:ln>
                <a:solidFill>
                  <a:srgbClr val="FFFF00"/>
                </a:solidFill>
                <a:effectLst/>
                <a:uLnTx/>
                <a:uFillTx/>
                <a:latin typeface="Arial Black" pitchFamily="34" charset="0"/>
                <a:ea typeface="+mn-ea"/>
                <a:cs typeface="+mn-cs"/>
              </a:rPr>
              <a:t>Problem</a:t>
            </a:r>
            <a:endParaRPr kumimoji="0" lang="en-US" sz="2200" b="0" i="0" u="none" strike="noStrike" kern="1200" cap="none" spc="0" normalizeH="0" baseline="0" noProof="0">
              <a:ln>
                <a:noFill/>
              </a:ln>
              <a:solidFill>
                <a:srgbClr val="FFFF00"/>
              </a:solidFill>
              <a:effectLst/>
              <a:uLnTx/>
              <a:uFillTx/>
              <a:latin typeface="Arial Black" pitchFamily="34" charset="0"/>
              <a:ea typeface="+mn-ea"/>
              <a:cs typeface="+mn-cs"/>
            </a:endParaRPr>
          </a:p>
        </p:txBody>
      </p:sp>
      <p:sp>
        <p:nvSpPr>
          <p:cNvPr id="124940" name="Line 79"/>
          <p:cNvSpPr>
            <a:spLocks noChangeShapeType="1"/>
          </p:cNvSpPr>
          <p:nvPr/>
        </p:nvSpPr>
        <p:spPr bwMode="auto">
          <a:xfrm>
            <a:off x="4694238" y="1790700"/>
            <a:ext cx="31750" cy="3175"/>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41" name="Text Box 99"/>
          <p:cNvSpPr txBox="1">
            <a:spLocks noChangeArrowheads="1"/>
          </p:cNvSpPr>
          <p:nvPr/>
        </p:nvSpPr>
        <p:spPr bwMode="auto">
          <a:xfrm>
            <a:off x="4592638" y="2128838"/>
            <a:ext cx="393700" cy="276225"/>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prstClr val="black"/>
                </a:solidFill>
                <a:effectLst/>
                <a:uLnTx/>
                <a:uFillTx/>
                <a:latin typeface="Arial Narrow" pitchFamily="34" charset="0"/>
                <a:ea typeface="+mn-ea"/>
                <a:cs typeface="+mn-cs"/>
              </a:rPr>
              <a:t>312</a:t>
            </a:r>
            <a:endParaRPr kumimoji="0" lang="en-US" sz="1200" b="0" i="0" u="none" strike="noStrike" kern="1200" cap="none" spc="0" normalizeH="0" baseline="0" noProof="0">
              <a:ln>
                <a:noFill/>
              </a:ln>
              <a:solidFill>
                <a:prstClr val="black"/>
              </a:solidFill>
              <a:effectLst/>
              <a:uLnTx/>
              <a:uFillTx/>
              <a:latin typeface="Arial Narrow" pitchFamily="34" charset="0"/>
              <a:ea typeface="+mn-ea"/>
              <a:cs typeface="+mn-cs"/>
            </a:endParaRPr>
          </a:p>
        </p:txBody>
      </p:sp>
      <p:sp>
        <p:nvSpPr>
          <p:cNvPr id="124942" name="Text Box 100"/>
          <p:cNvSpPr txBox="1">
            <a:spLocks noChangeArrowheads="1"/>
          </p:cNvSpPr>
          <p:nvPr/>
        </p:nvSpPr>
        <p:spPr bwMode="auto">
          <a:xfrm>
            <a:off x="4521200" y="4552950"/>
            <a:ext cx="469900" cy="274638"/>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prstClr val="black"/>
                </a:solidFill>
                <a:effectLst/>
                <a:uLnTx/>
                <a:uFillTx/>
                <a:latin typeface="Arial Narrow" pitchFamily="34" charset="0"/>
                <a:ea typeface="+mn-ea"/>
                <a:cs typeface="+mn-cs"/>
              </a:rPr>
              <a:t>- 312</a:t>
            </a:r>
            <a:endParaRPr kumimoji="0" lang="en-US" sz="1200" b="0" i="0" u="none" strike="noStrike" kern="1200" cap="none" spc="0" normalizeH="0" baseline="0" noProof="0">
              <a:ln>
                <a:noFill/>
              </a:ln>
              <a:solidFill>
                <a:prstClr val="black"/>
              </a:solidFill>
              <a:effectLst/>
              <a:uLnTx/>
              <a:uFillTx/>
              <a:latin typeface="Arial Narrow" pitchFamily="34" charset="0"/>
              <a:ea typeface="+mn-ea"/>
              <a:cs typeface="+mn-cs"/>
            </a:endParaRPr>
          </a:p>
        </p:txBody>
      </p:sp>
      <p:sp>
        <p:nvSpPr>
          <p:cNvPr id="124943" name="Text Box 101"/>
          <p:cNvSpPr txBox="1">
            <a:spLocks noChangeArrowheads="1"/>
          </p:cNvSpPr>
          <p:nvPr/>
        </p:nvSpPr>
        <p:spPr bwMode="auto">
          <a:xfrm>
            <a:off x="4738688" y="3525838"/>
            <a:ext cx="254000" cy="276225"/>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prstClr val="black"/>
                </a:solidFill>
                <a:effectLst/>
                <a:uLnTx/>
                <a:uFillTx/>
                <a:latin typeface="Arial Narrow" pitchFamily="34" charset="0"/>
                <a:ea typeface="+mn-ea"/>
                <a:cs typeface="+mn-cs"/>
              </a:rPr>
              <a:t>0</a:t>
            </a:r>
            <a:endParaRPr kumimoji="0" lang="en-US" sz="1200" b="0" i="0" u="none" strike="noStrike" kern="1200" cap="none" spc="0" normalizeH="0" baseline="0" noProof="0">
              <a:ln>
                <a:noFill/>
              </a:ln>
              <a:solidFill>
                <a:prstClr val="black"/>
              </a:solidFill>
              <a:effectLst/>
              <a:uLnTx/>
              <a:uFillTx/>
              <a:latin typeface="Arial Narrow" pitchFamily="34" charset="0"/>
              <a:ea typeface="+mn-ea"/>
              <a:cs typeface="+mn-cs"/>
            </a:endParaRPr>
          </a:p>
        </p:txBody>
      </p:sp>
      <p:sp>
        <p:nvSpPr>
          <p:cNvPr id="124944" name="Text Box 103"/>
          <p:cNvSpPr txBox="1">
            <a:spLocks noChangeArrowheads="1"/>
          </p:cNvSpPr>
          <p:nvPr/>
        </p:nvSpPr>
        <p:spPr bwMode="auto">
          <a:xfrm>
            <a:off x="4848225" y="1654175"/>
            <a:ext cx="1208088" cy="30480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400" b="0" i="0" u="none" strike="noStrike" kern="1200" cap="none" spc="0" normalizeH="0" baseline="0" noProof="0">
                <a:ln>
                  <a:noFill/>
                </a:ln>
                <a:solidFill>
                  <a:prstClr val="black"/>
                </a:solidFill>
                <a:effectLst/>
                <a:uLnTx/>
                <a:uFillTx/>
                <a:latin typeface="Arial Narrow" pitchFamily="34" charset="0"/>
                <a:ea typeface="+mn-ea"/>
                <a:cs typeface="+mn-cs"/>
              </a:rPr>
              <a:t>Voltage (Volts)</a:t>
            </a:r>
            <a:endParaRPr kumimoji="0" lang="en-US" sz="1400" b="0" i="0" u="none" strike="noStrike" kern="1200" cap="none" spc="0" normalizeH="0" baseline="0" noProof="0">
              <a:ln>
                <a:noFill/>
              </a:ln>
              <a:solidFill>
                <a:prstClr val="black"/>
              </a:solidFill>
              <a:effectLst/>
              <a:uLnTx/>
              <a:uFillTx/>
              <a:latin typeface="Arial Narrow" pitchFamily="34" charset="0"/>
              <a:ea typeface="+mn-ea"/>
              <a:cs typeface="+mn-cs"/>
            </a:endParaRPr>
          </a:p>
        </p:txBody>
      </p:sp>
      <p:sp>
        <p:nvSpPr>
          <p:cNvPr id="124945" name="Line 112"/>
          <p:cNvSpPr>
            <a:spLocks noChangeShapeType="1"/>
          </p:cNvSpPr>
          <p:nvPr/>
        </p:nvSpPr>
        <p:spPr bwMode="auto">
          <a:xfrm>
            <a:off x="0" y="0"/>
            <a:ext cx="914400" cy="0"/>
          </a:xfrm>
          <a:prstGeom prst="line">
            <a:avLst/>
          </a:prstGeom>
          <a:noFill/>
          <a:ln w="952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46" name="Rectangle 80"/>
          <p:cNvSpPr>
            <a:spLocks noChangeArrowheads="1"/>
          </p:cNvSpPr>
          <p:nvPr/>
        </p:nvSpPr>
        <p:spPr bwMode="auto">
          <a:xfrm>
            <a:off x="4946650" y="1984375"/>
            <a:ext cx="4175125" cy="3125788"/>
          </a:xfrm>
          <a:prstGeom prst="rect">
            <a:avLst/>
          </a:prstGeom>
          <a:solidFill>
            <a:srgbClr val="C0C0C0">
              <a:alpha val="65881"/>
            </a:srgbClr>
          </a:solidFill>
          <a:ln w="9525">
            <a:solidFill>
              <a:srgbClr val="808080"/>
            </a:solid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47" name="Line 113"/>
          <p:cNvSpPr>
            <a:spLocks noChangeShapeType="1"/>
          </p:cNvSpPr>
          <p:nvPr/>
        </p:nvSpPr>
        <p:spPr bwMode="auto">
          <a:xfrm>
            <a:off x="0" y="0"/>
            <a:ext cx="0" cy="914400"/>
          </a:xfrm>
          <a:prstGeom prst="line">
            <a:avLst/>
          </a:prstGeom>
          <a:noFill/>
          <a:ln w="9525">
            <a:solidFill>
              <a:srgbClr val="00FF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48" name="Line 81"/>
          <p:cNvSpPr>
            <a:spLocks noChangeShapeType="1"/>
          </p:cNvSpPr>
          <p:nvPr/>
        </p:nvSpPr>
        <p:spPr bwMode="auto">
          <a:xfrm>
            <a:off x="5440363" y="1984375"/>
            <a:ext cx="1587" cy="3125788"/>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49" name="Line 82"/>
          <p:cNvSpPr>
            <a:spLocks noChangeShapeType="1"/>
          </p:cNvSpPr>
          <p:nvPr/>
        </p:nvSpPr>
        <p:spPr bwMode="auto">
          <a:xfrm>
            <a:off x="6007100" y="1984375"/>
            <a:ext cx="1588" cy="3125788"/>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0" name="Line 83"/>
          <p:cNvSpPr>
            <a:spLocks noChangeShapeType="1"/>
          </p:cNvSpPr>
          <p:nvPr/>
        </p:nvSpPr>
        <p:spPr bwMode="auto">
          <a:xfrm>
            <a:off x="7043738" y="1984375"/>
            <a:ext cx="1587" cy="3125788"/>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1" name="Line 84"/>
          <p:cNvSpPr>
            <a:spLocks noChangeShapeType="1"/>
          </p:cNvSpPr>
          <p:nvPr/>
        </p:nvSpPr>
        <p:spPr bwMode="auto">
          <a:xfrm>
            <a:off x="7510463" y="1984375"/>
            <a:ext cx="1587" cy="3125788"/>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2" name="Line 85"/>
          <p:cNvSpPr>
            <a:spLocks noChangeShapeType="1"/>
          </p:cNvSpPr>
          <p:nvPr/>
        </p:nvSpPr>
        <p:spPr bwMode="auto">
          <a:xfrm>
            <a:off x="8066088" y="1984375"/>
            <a:ext cx="3175" cy="3125788"/>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3" name="Line 86"/>
          <p:cNvSpPr>
            <a:spLocks noChangeShapeType="1"/>
          </p:cNvSpPr>
          <p:nvPr/>
        </p:nvSpPr>
        <p:spPr bwMode="auto">
          <a:xfrm>
            <a:off x="9124950" y="1984375"/>
            <a:ext cx="1588" cy="3125788"/>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4" name="Line 88"/>
          <p:cNvSpPr>
            <a:spLocks noChangeShapeType="1"/>
          </p:cNvSpPr>
          <p:nvPr/>
        </p:nvSpPr>
        <p:spPr bwMode="auto">
          <a:xfrm>
            <a:off x="4946650" y="5110163"/>
            <a:ext cx="4152900" cy="1587"/>
          </a:xfrm>
          <a:prstGeom prst="line">
            <a:avLst/>
          </a:prstGeom>
          <a:noFill/>
          <a:ln w="0">
            <a:solidFill>
              <a:srgbClr val="969696"/>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5" name="Line 89"/>
          <p:cNvSpPr>
            <a:spLocks noChangeShapeType="1"/>
          </p:cNvSpPr>
          <p:nvPr/>
        </p:nvSpPr>
        <p:spPr bwMode="auto">
          <a:xfrm>
            <a:off x="4946650" y="4722813"/>
            <a:ext cx="4152900" cy="1587"/>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6" name="Line 90"/>
          <p:cNvSpPr>
            <a:spLocks noChangeShapeType="1"/>
          </p:cNvSpPr>
          <p:nvPr/>
        </p:nvSpPr>
        <p:spPr bwMode="auto">
          <a:xfrm>
            <a:off x="4946650" y="4333875"/>
            <a:ext cx="4152900" cy="0"/>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7" name="Line 91"/>
          <p:cNvSpPr>
            <a:spLocks noChangeShapeType="1"/>
          </p:cNvSpPr>
          <p:nvPr/>
        </p:nvSpPr>
        <p:spPr bwMode="auto">
          <a:xfrm>
            <a:off x="4976813" y="3989388"/>
            <a:ext cx="4149725" cy="1587"/>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8" name="Line 92"/>
          <p:cNvSpPr>
            <a:spLocks noChangeShapeType="1"/>
          </p:cNvSpPr>
          <p:nvPr/>
        </p:nvSpPr>
        <p:spPr bwMode="auto">
          <a:xfrm>
            <a:off x="4946650" y="3159125"/>
            <a:ext cx="4152900" cy="1588"/>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9" name="Line 93"/>
          <p:cNvSpPr>
            <a:spLocks noChangeShapeType="1"/>
          </p:cNvSpPr>
          <p:nvPr/>
        </p:nvSpPr>
        <p:spPr bwMode="auto">
          <a:xfrm>
            <a:off x="4946650" y="2770188"/>
            <a:ext cx="4152900" cy="1587"/>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60" name="Line 94"/>
          <p:cNvSpPr>
            <a:spLocks noChangeShapeType="1"/>
          </p:cNvSpPr>
          <p:nvPr/>
        </p:nvSpPr>
        <p:spPr bwMode="auto">
          <a:xfrm>
            <a:off x="4946650" y="2371725"/>
            <a:ext cx="4152900" cy="1588"/>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61" name="Line 95"/>
          <p:cNvSpPr>
            <a:spLocks noChangeShapeType="1"/>
          </p:cNvSpPr>
          <p:nvPr/>
        </p:nvSpPr>
        <p:spPr bwMode="auto">
          <a:xfrm>
            <a:off x="4946650" y="1984375"/>
            <a:ext cx="4152900" cy="0"/>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62" name="Line 96"/>
          <p:cNvSpPr>
            <a:spLocks noChangeShapeType="1"/>
          </p:cNvSpPr>
          <p:nvPr/>
        </p:nvSpPr>
        <p:spPr bwMode="auto">
          <a:xfrm>
            <a:off x="4946650" y="3546475"/>
            <a:ext cx="4152900" cy="158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63" name="Freeform 97"/>
          <p:cNvSpPr>
            <a:spLocks/>
          </p:cNvSpPr>
          <p:nvPr/>
        </p:nvSpPr>
        <p:spPr bwMode="auto">
          <a:xfrm>
            <a:off x="4946650" y="2286000"/>
            <a:ext cx="4197350" cy="2436813"/>
          </a:xfrm>
          <a:custGeom>
            <a:avLst/>
            <a:gdLst>
              <a:gd name="T0" fmla="*/ 2147483647 w 494"/>
              <a:gd name="T1" fmla="*/ 2147483647 h 242"/>
              <a:gd name="T2" fmla="*/ 2147483647 w 494"/>
              <a:gd name="T3" fmla="*/ 2147483647 h 242"/>
              <a:gd name="T4" fmla="*/ 2147483647 w 494"/>
              <a:gd name="T5" fmla="*/ 2147483647 h 242"/>
              <a:gd name="T6" fmla="*/ 2147483647 w 494"/>
              <a:gd name="T7" fmla="*/ 2147483647 h 242"/>
              <a:gd name="T8" fmla="*/ 2147483647 w 494"/>
              <a:gd name="T9" fmla="*/ 2147483647 h 242"/>
              <a:gd name="T10" fmla="*/ 2147483647 w 494"/>
              <a:gd name="T11" fmla="*/ 2147483647 h 242"/>
              <a:gd name="T12" fmla="*/ 2147483647 w 494"/>
              <a:gd name="T13" fmla="*/ 2147483647 h 242"/>
              <a:gd name="T14" fmla="*/ 2147483647 w 494"/>
              <a:gd name="T15" fmla="*/ 2147483647 h 242"/>
              <a:gd name="T16" fmla="*/ 2147483647 w 494"/>
              <a:gd name="T17" fmla="*/ 2147483647 h 242"/>
              <a:gd name="T18" fmla="*/ 2147483647 w 494"/>
              <a:gd name="T19" fmla="*/ 2147483647 h 242"/>
              <a:gd name="T20" fmla="*/ 2147483647 w 494"/>
              <a:gd name="T21" fmla="*/ 2147483647 h 242"/>
              <a:gd name="T22" fmla="*/ 2147483647 w 494"/>
              <a:gd name="T23" fmla="*/ 2147483647 h 242"/>
              <a:gd name="T24" fmla="*/ 2147483647 w 494"/>
              <a:gd name="T25" fmla="*/ 0 h 242"/>
              <a:gd name="T26" fmla="*/ 2147483647 w 494"/>
              <a:gd name="T27" fmla="*/ 2147483647 h 242"/>
              <a:gd name="T28" fmla="*/ 2147483647 w 494"/>
              <a:gd name="T29" fmla="*/ 2147483647 h 242"/>
              <a:gd name="T30" fmla="*/ 2147483647 w 494"/>
              <a:gd name="T31" fmla="*/ 2147483647 h 242"/>
              <a:gd name="T32" fmla="*/ 2147483647 w 494"/>
              <a:gd name="T33" fmla="*/ 2147483647 h 242"/>
              <a:gd name="T34" fmla="*/ 2147483647 w 494"/>
              <a:gd name="T35" fmla="*/ 2147483647 h 242"/>
              <a:gd name="T36" fmla="*/ 2147483647 w 494"/>
              <a:gd name="T37" fmla="*/ 2147483647 h 242"/>
              <a:gd name="T38" fmla="*/ 2147483647 w 494"/>
              <a:gd name="T39" fmla="*/ 2147483647 h 242"/>
              <a:gd name="T40" fmla="*/ 2147483647 w 494"/>
              <a:gd name="T41" fmla="*/ 2147483647 h 242"/>
              <a:gd name="T42" fmla="*/ 2147483647 w 494"/>
              <a:gd name="T43" fmla="*/ 2147483647 h 242"/>
              <a:gd name="T44" fmla="*/ 2147483647 w 494"/>
              <a:gd name="T45" fmla="*/ 2147483647 h 242"/>
              <a:gd name="T46" fmla="*/ 2147483647 w 494"/>
              <a:gd name="T47" fmla="*/ 2147483647 h 242"/>
              <a:gd name="T48" fmla="*/ 2147483647 w 494"/>
              <a:gd name="T49" fmla="*/ 2147483647 h 242"/>
              <a:gd name="T50" fmla="*/ 2147483647 w 494"/>
              <a:gd name="T51" fmla="*/ 2147483647 h 242"/>
              <a:gd name="T52" fmla="*/ 2147483647 w 494"/>
              <a:gd name="T53" fmla="*/ 2147483647 h 242"/>
              <a:gd name="T54" fmla="*/ 2147483647 w 494"/>
              <a:gd name="T55" fmla="*/ 2147483647 h 242"/>
              <a:gd name="T56" fmla="*/ 2147483647 w 494"/>
              <a:gd name="T57" fmla="*/ 2147483647 h 242"/>
              <a:gd name="T58" fmla="*/ 2147483647 w 494"/>
              <a:gd name="T59" fmla="*/ 2147483647 h 242"/>
              <a:gd name="T60" fmla="*/ 2147483647 w 494"/>
              <a:gd name="T61" fmla="*/ 2147483647 h 242"/>
              <a:gd name="T62" fmla="*/ 2147483647 w 494"/>
              <a:gd name="T63" fmla="*/ 2147483647 h 242"/>
              <a:gd name="T64" fmla="*/ 2147483647 w 494"/>
              <a:gd name="T65" fmla="*/ 2147483647 h 242"/>
              <a:gd name="T66" fmla="*/ 2147483647 w 494"/>
              <a:gd name="T67" fmla="*/ 2147483647 h 242"/>
              <a:gd name="T68" fmla="*/ 2147483647 w 494"/>
              <a:gd name="T69" fmla="*/ 2147483647 h 242"/>
              <a:gd name="T70" fmla="*/ 2147483647 w 494"/>
              <a:gd name="T71" fmla="*/ 2147483647 h 242"/>
              <a:gd name="T72" fmla="*/ 2147483647 w 494"/>
              <a:gd name="T73" fmla="*/ 2147483647 h 242"/>
              <a:gd name="T74" fmla="*/ 2147483647 w 494"/>
              <a:gd name="T75" fmla="*/ 2147483647 h 242"/>
              <a:gd name="T76" fmla="*/ 2147483647 w 494"/>
              <a:gd name="T77" fmla="*/ 2147483647 h 242"/>
              <a:gd name="T78" fmla="*/ 2147483647 w 494"/>
              <a:gd name="T79" fmla="*/ 2147483647 h 242"/>
              <a:gd name="T80" fmla="*/ 2147483647 w 494"/>
              <a:gd name="T81" fmla="*/ 2147483647 h 242"/>
              <a:gd name="T82" fmla="*/ 2147483647 w 494"/>
              <a:gd name="T83" fmla="*/ 2147483647 h 242"/>
              <a:gd name="T84" fmla="*/ 2147483647 w 494"/>
              <a:gd name="T85" fmla="*/ 2147483647 h 242"/>
              <a:gd name="T86" fmla="*/ 2147483647 w 494"/>
              <a:gd name="T87" fmla="*/ 2147483647 h 242"/>
              <a:gd name="T88" fmla="*/ 2147483647 w 494"/>
              <a:gd name="T89" fmla="*/ 2147483647 h 242"/>
              <a:gd name="T90" fmla="*/ 2147483647 w 494"/>
              <a:gd name="T91" fmla="*/ 2147483647 h 242"/>
              <a:gd name="T92" fmla="*/ 2147483647 w 494"/>
              <a:gd name="T93" fmla="*/ 2147483647 h 242"/>
              <a:gd name="T94" fmla="*/ 2147483647 w 494"/>
              <a:gd name="T95" fmla="*/ 2147483647 h 242"/>
              <a:gd name="T96" fmla="*/ 2147483647 w 494"/>
              <a:gd name="T97" fmla="*/ 2147483647 h 242"/>
              <a:gd name="T98" fmla="*/ 2147483647 w 494"/>
              <a:gd name="T99" fmla="*/ 2147483647 h 24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94"/>
              <a:gd name="T151" fmla="*/ 0 h 242"/>
              <a:gd name="T152" fmla="*/ 494 w 494"/>
              <a:gd name="T153" fmla="*/ 242 h 24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94" h="242">
                <a:moveTo>
                  <a:pt x="0" y="121"/>
                </a:moveTo>
                <a:lnTo>
                  <a:pt x="5" y="114"/>
                </a:lnTo>
                <a:lnTo>
                  <a:pt x="10" y="106"/>
                </a:lnTo>
                <a:lnTo>
                  <a:pt x="15" y="99"/>
                </a:lnTo>
                <a:lnTo>
                  <a:pt x="20" y="91"/>
                </a:lnTo>
                <a:lnTo>
                  <a:pt x="25" y="84"/>
                </a:lnTo>
                <a:lnTo>
                  <a:pt x="30" y="77"/>
                </a:lnTo>
                <a:lnTo>
                  <a:pt x="35" y="70"/>
                </a:lnTo>
                <a:lnTo>
                  <a:pt x="39" y="63"/>
                </a:lnTo>
                <a:lnTo>
                  <a:pt x="44" y="56"/>
                </a:lnTo>
                <a:lnTo>
                  <a:pt x="49" y="50"/>
                </a:lnTo>
                <a:lnTo>
                  <a:pt x="54" y="44"/>
                </a:lnTo>
                <a:lnTo>
                  <a:pt x="59" y="39"/>
                </a:lnTo>
                <a:lnTo>
                  <a:pt x="64" y="33"/>
                </a:lnTo>
                <a:lnTo>
                  <a:pt x="69" y="28"/>
                </a:lnTo>
                <a:lnTo>
                  <a:pt x="74" y="23"/>
                </a:lnTo>
                <a:lnTo>
                  <a:pt x="79" y="19"/>
                </a:lnTo>
                <a:lnTo>
                  <a:pt x="84" y="15"/>
                </a:lnTo>
                <a:lnTo>
                  <a:pt x="89" y="12"/>
                </a:lnTo>
                <a:lnTo>
                  <a:pt x="94" y="9"/>
                </a:lnTo>
                <a:lnTo>
                  <a:pt x="99" y="6"/>
                </a:lnTo>
                <a:lnTo>
                  <a:pt x="104" y="4"/>
                </a:lnTo>
                <a:lnTo>
                  <a:pt x="109" y="3"/>
                </a:lnTo>
                <a:lnTo>
                  <a:pt x="114" y="1"/>
                </a:lnTo>
                <a:lnTo>
                  <a:pt x="118" y="1"/>
                </a:lnTo>
                <a:lnTo>
                  <a:pt x="123" y="0"/>
                </a:lnTo>
                <a:lnTo>
                  <a:pt x="128" y="1"/>
                </a:lnTo>
                <a:lnTo>
                  <a:pt x="133" y="1"/>
                </a:lnTo>
                <a:lnTo>
                  <a:pt x="138" y="3"/>
                </a:lnTo>
                <a:lnTo>
                  <a:pt x="143" y="4"/>
                </a:lnTo>
                <a:lnTo>
                  <a:pt x="148" y="6"/>
                </a:lnTo>
                <a:lnTo>
                  <a:pt x="153" y="9"/>
                </a:lnTo>
                <a:lnTo>
                  <a:pt x="158" y="12"/>
                </a:lnTo>
                <a:lnTo>
                  <a:pt x="163" y="15"/>
                </a:lnTo>
                <a:lnTo>
                  <a:pt x="168" y="19"/>
                </a:lnTo>
                <a:lnTo>
                  <a:pt x="173" y="23"/>
                </a:lnTo>
                <a:lnTo>
                  <a:pt x="178" y="28"/>
                </a:lnTo>
                <a:lnTo>
                  <a:pt x="183" y="33"/>
                </a:lnTo>
                <a:lnTo>
                  <a:pt x="188" y="39"/>
                </a:lnTo>
                <a:lnTo>
                  <a:pt x="193" y="44"/>
                </a:lnTo>
                <a:lnTo>
                  <a:pt x="197" y="50"/>
                </a:lnTo>
                <a:lnTo>
                  <a:pt x="202" y="56"/>
                </a:lnTo>
                <a:lnTo>
                  <a:pt x="207" y="63"/>
                </a:lnTo>
                <a:lnTo>
                  <a:pt x="212" y="70"/>
                </a:lnTo>
                <a:lnTo>
                  <a:pt x="217" y="77"/>
                </a:lnTo>
                <a:lnTo>
                  <a:pt x="222" y="84"/>
                </a:lnTo>
                <a:lnTo>
                  <a:pt x="227" y="91"/>
                </a:lnTo>
                <a:lnTo>
                  <a:pt x="232" y="99"/>
                </a:lnTo>
                <a:lnTo>
                  <a:pt x="237" y="106"/>
                </a:lnTo>
                <a:lnTo>
                  <a:pt x="242" y="114"/>
                </a:lnTo>
                <a:lnTo>
                  <a:pt x="247" y="121"/>
                </a:lnTo>
                <a:lnTo>
                  <a:pt x="252" y="129"/>
                </a:lnTo>
                <a:lnTo>
                  <a:pt x="257" y="136"/>
                </a:lnTo>
                <a:lnTo>
                  <a:pt x="262" y="144"/>
                </a:lnTo>
                <a:lnTo>
                  <a:pt x="267" y="151"/>
                </a:lnTo>
                <a:lnTo>
                  <a:pt x="272" y="158"/>
                </a:lnTo>
                <a:lnTo>
                  <a:pt x="276" y="166"/>
                </a:lnTo>
                <a:lnTo>
                  <a:pt x="281" y="172"/>
                </a:lnTo>
                <a:lnTo>
                  <a:pt x="286" y="179"/>
                </a:lnTo>
                <a:lnTo>
                  <a:pt x="291" y="186"/>
                </a:lnTo>
                <a:lnTo>
                  <a:pt x="296" y="192"/>
                </a:lnTo>
                <a:lnTo>
                  <a:pt x="301" y="198"/>
                </a:lnTo>
                <a:lnTo>
                  <a:pt x="306" y="204"/>
                </a:lnTo>
                <a:lnTo>
                  <a:pt x="311" y="209"/>
                </a:lnTo>
                <a:lnTo>
                  <a:pt x="316" y="214"/>
                </a:lnTo>
                <a:lnTo>
                  <a:pt x="321" y="219"/>
                </a:lnTo>
                <a:lnTo>
                  <a:pt x="326" y="223"/>
                </a:lnTo>
                <a:lnTo>
                  <a:pt x="331" y="227"/>
                </a:lnTo>
                <a:lnTo>
                  <a:pt x="336" y="230"/>
                </a:lnTo>
                <a:lnTo>
                  <a:pt x="341" y="233"/>
                </a:lnTo>
                <a:lnTo>
                  <a:pt x="346" y="236"/>
                </a:lnTo>
                <a:lnTo>
                  <a:pt x="351" y="238"/>
                </a:lnTo>
                <a:lnTo>
                  <a:pt x="355" y="240"/>
                </a:lnTo>
                <a:lnTo>
                  <a:pt x="360" y="241"/>
                </a:lnTo>
                <a:lnTo>
                  <a:pt x="365" y="242"/>
                </a:lnTo>
                <a:lnTo>
                  <a:pt x="370" y="242"/>
                </a:lnTo>
                <a:lnTo>
                  <a:pt x="375" y="242"/>
                </a:lnTo>
                <a:lnTo>
                  <a:pt x="380" y="241"/>
                </a:lnTo>
                <a:lnTo>
                  <a:pt x="385" y="240"/>
                </a:lnTo>
                <a:lnTo>
                  <a:pt x="390" y="238"/>
                </a:lnTo>
                <a:lnTo>
                  <a:pt x="395" y="236"/>
                </a:lnTo>
                <a:lnTo>
                  <a:pt x="400" y="233"/>
                </a:lnTo>
                <a:lnTo>
                  <a:pt x="405" y="230"/>
                </a:lnTo>
                <a:lnTo>
                  <a:pt x="410" y="227"/>
                </a:lnTo>
                <a:lnTo>
                  <a:pt x="415" y="223"/>
                </a:lnTo>
                <a:lnTo>
                  <a:pt x="420" y="219"/>
                </a:lnTo>
                <a:lnTo>
                  <a:pt x="425" y="214"/>
                </a:lnTo>
                <a:lnTo>
                  <a:pt x="430" y="209"/>
                </a:lnTo>
                <a:lnTo>
                  <a:pt x="434" y="204"/>
                </a:lnTo>
                <a:lnTo>
                  <a:pt x="439" y="198"/>
                </a:lnTo>
                <a:lnTo>
                  <a:pt x="444" y="192"/>
                </a:lnTo>
                <a:lnTo>
                  <a:pt x="449" y="186"/>
                </a:lnTo>
                <a:lnTo>
                  <a:pt x="454" y="179"/>
                </a:lnTo>
                <a:lnTo>
                  <a:pt x="459" y="172"/>
                </a:lnTo>
                <a:lnTo>
                  <a:pt x="464" y="166"/>
                </a:lnTo>
                <a:lnTo>
                  <a:pt x="469" y="158"/>
                </a:lnTo>
                <a:lnTo>
                  <a:pt x="474" y="151"/>
                </a:lnTo>
                <a:lnTo>
                  <a:pt x="479" y="144"/>
                </a:lnTo>
                <a:lnTo>
                  <a:pt x="484" y="136"/>
                </a:lnTo>
                <a:lnTo>
                  <a:pt x="489" y="129"/>
                </a:lnTo>
                <a:lnTo>
                  <a:pt x="494" y="121"/>
                </a:lnTo>
              </a:path>
            </a:pathLst>
          </a:custGeom>
          <a:noFill/>
          <a:ln w="25400">
            <a:solidFill>
              <a:srgbClr val="CC33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64" name="Rectangle 98"/>
          <p:cNvSpPr>
            <a:spLocks noChangeArrowheads="1"/>
          </p:cNvSpPr>
          <p:nvPr/>
        </p:nvSpPr>
        <p:spPr bwMode="auto">
          <a:xfrm>
            <a:off x="6878638" y="3533775"/>
            <a:ext cx="173037" cy="214313"/>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Narrow" pitchFamily="34" charset="0"/>
                <a:ea typeface="+mn-ea"/>
                <a:cs typeface="+mn-cs"/>
                <a:sym typeface="Symbol" pitchFamily="18" charset="2"/>
              </a:rPr>
              <a:t></a:t>
            </a:r>
            <a:endParaRPr kumimoji="0" lang="en-US" sz="1400" b="0" i="0" u="none" strike="noStrike" kern="1200" cap="none" spc="0" normalizeH="0" baseline="0" noProof="0">
              <a:ln>
                <a:noFill/>
              </a:ln>
              <a:solidFill>
                <a:prstClr val="black"/>
              </a:solidFill>
              <a:effectLst/>
              <a:uLnTx/>
              <a:uFillTx/>
              <a:latin typeface="Arial Narrow" pitchFamily="34" charset="0"/>
              <a:ea typeface="+mn-ea"/>
              <a:cs typeface="+mn-cs"/>
              <a:sym typeface="Symbol" pitchFamily="18" charset="2"/>
            </a:endParaRPr>
          </a:p>
        </p:txBody>
      </p:sp>
      <p:sp>
        <p:nvSpPr>
          <p:cNvPr id="124965" name="Text Box 102"/>
          <p:cNvSpPr txBox="1">
            <a:spLocks noChangeArrowheads="1"/>
          </p:cNvSpPr>
          <p:nvPr/>
        </p:nvSpPr>
        <p:spPr bwMode="auto">
          <a:xfrm>
            <a:off x="8027988" y="3240088"/>
            <a:ext cx="1136650" cy="274637"/>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prstClr val="black"/>
                </a:solidFill>
                <a:effectLst/>
                <a:uLnTx/>
                <a:uFillTx/>
                <a:latin typeface="Arial Narrow" pitchFamily="34" charset="0"/>
                <a:ea typeface="+mn-ea"/>
                <a:cs typeface="+mn-cs"/>
              </a:rPr>
              <a:t>Angle (Radians)</a:t>
            </a:r>
            <a:endParaRPr kumimoji="0" lang="en-US" sz="1200" b="0" i="0" u="none" strike="noStrike" kern="1200" cap="none" spc="0" normalizeH="0" baseline="0" noProof="0">
              <a:ln>
                <a:noFill/>
              </a:ln>
              <a:solidFill>
                <a:prstClr val="black"/>
              </a:solidFill>
              <a:effectLst/>
              <a:uLnTx/>
              <a:uFillTx/>
              <a:latin typeface="Arial Narrow" pitchFamily="34" charset="0"/>
              <a:ea typeface="+mn-ea"/>
              <a:cs typeface="+mn-cs"/>
            </a:endParaRPr>
          </a:p>
        </p:txBody>
      </p:sp>
      <p:sp>
        <p:nvSpPr>
          <p:cNvPr id="124966" name="Line 104"/>
          <p:cNvSpPr>
            <a:spLocks noChangeShapeType="1"/>
          </p:cNvSpPr>
          <p:nvPr/>
        </p:nvSpPr>
        <p:spPr bwMode="auto">
          <a:xfrm>
            <a:off x="6513513" y="1963738"/>
            <a:ext cx="1587" cy="3125787"/>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67" name="Line 105"/>
          <p:cNvSpPr>
            <a:spLocks noChangeShapeType="1"/>
          </p:cNvSpPr>
          <p:nvPr/>
        </p:nvSpPr>
        <p:spPr bwMode="auto">
          <a:xfrm>
            <a:off x="8594725" y="1995488"/>
            <a:ext cx="1588" cy="3125787"/>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68" name="Rectangle 106"/>
          <p:cNvSpPr>
            <a:spLocks noChangeArrowheads="1"/>
          </p:cNvSpPr>
          <p:nvPr/>
        </p:nvSpPr>
        <p:spPr bwMode="auto">
          <a:xfrm>
            <a:off x="5729288" y="3560763"/>
            <a:ext cx="328612" cy="211137"/>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Narrow" pitchFamily="34" charset="0"/>
                <a:ea typeface="+mn-ea"/>
                <a:cs typeface="+mn-cs"/>
                <a:sym typeface="Symbol" pitchFamily="18" charset="2"/>
              </a:rPr>
              <a:t></a:t>
            </a:r>
            <a:r>
              <a:rPr kumimoji="0" lang="tr-TR" sz="1200" b="0" i="0" u="none" strike="noStrike" kern="1200" cap="none" spc="0" normalizeH="0" baseline="0" noProof="0">
                <a:ln>
                  <a:noFill/>
                </a:ln>
                <a:solidFill>
                  <a:srgbClr val="000000"/>
                </a:solidFill>
                <a:effectLst/>
                <a:uLnTx/>
                <a:uFillTx/>
                <a:latin typeface="Arial Narrow" pitchFamily="34" charset="0"/>
                <a:ea typeface="+mn-ea"/>
                <a:cs typeface="+mn-cs"/>
                <a:sym typeface="Symbol" pitchFamily="18" charset="2"/>
              </a:rPr>
              <a:t>/2</a:t>
            </a:r>
            <a:endParaRPr kumimoji="0" lang="en-US" sz="1200" b="0" i="0" u="none" strike="noStrike" kern="1200" cap="none" spc="0" normalizeH="0" baseline="0" noProof="0">
              <a:ln>
                <a:noFill/>
              </a:ln>
              <a:solidFill>
                <a:prstClr val="black"/>
              </a:solidFill>
              <a:effectLst/>
              <a:uLnTx/>
              <a:uFillTx/>
              <a:latin typeface="Arial Narrow" pitchFamily="34" charset="0"/>
              <a:ea typeface="+mn-ea"/>
              <a:cs typeface="+mn-cs"/>
              <a:sym typeface="Symbol" pitchFamily="18" charset="2"/>
            </a:endParaRPr>
          </a:p>
        </p:txBody>
      </p:sp>
      <p:sp>
        <p:nvSpPr>
          <p:cNvPr id="124969" name="Rectangle 107"/>
          <p:cNvSpPr>
            <a:spLocks noChangeArrowheads="1"/>
          </p:cNvSpPr>
          <p:nvPr/>
        </p:nvSpPr>
        <p:spPr bwMode="auto">
          <a:xfrm>
            <a:off x="7758113" y="3560763"/>
            <a:ext cx="385762" cy="211137"/>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srgbClr val="000000"/>
                </a:solidFill>
                <a:effectLst/>
                <a:uLnTx/>
                <a:uFillTx/>
                <a:latin typeface="Arial Narrow" pitchFamily="34" charset="0"/>
                <a:ea typeface="+mn-ea"/>
                <a:cs typeface="+mn-cs"/>
              </a:rPr>
              <a:t>3</a:t>
            </a:r>
            <a:r>
              <a:rPr kumimoji="0" lang="en-US" sz="1400" b="0" i="0" u="none" strike="noStrike" kern="1200" cap="none" spc="0" normalizeH="0" baseline="0" noProof="0">
                <a:ln>
                  <a:noFill/>
                </a:ln>
                <a:solidFill>
                  <a:srgbClr val="000000"/>
                </a:solidFill>
                <a:effectLst/>
                <a:uLnTx/>
                <a:uFillTx/>
                <a:latin typeface="Arial Narrow" pitchFamily="34" charset="0"/>
                <a:ea typeface="+mn-ea"/>
                <a:cs typeface="+mn-cs"/>
                <a:sym typeface="Symbol" pitchFamily="18" charset="2"/>
              </a:rPr>
              <a:t></a:t>
            </a:r>
            <a:r>
              <a:rPr kumimoji="0" lang="tr-TR" sz="1200" b="0" i="0" u="none" strike="noStrike" kern="1200" cap="none" spc="0" normalizeH="0" baseline="0" noProof="0">
                <a:ln>
                  <a:noFill/>
                </a:ln>
                <a:solidFill>
                  <a:srgbClr val="000000"/>
                </a:solidFill>
                <a:effectLst/>
                <a:uLnTx/>
                <a:uFillTx/>
                <a:latin typeface="Arial Narrow" pitchFamily="34" charset="0"/>
                <a:ea typeface="+mn-ea"/>
                <a:cs typeface="+mn-cs"/>
                <a:sym typeface="Symbol" pitchFamily="18" charset="2"/>
              </a:rPr>
              <a:t>/2</a:t>
            </a:r>
            <a:endParaRPr kumimoji="0" lang="en-US" sz="1200" b="0" i="0" u="none" strike="noStrike" kern="1200" cap="none" spc="0" normalizeH="0" baseline="0" noProof="0">
              <a:ln>
                <a:noFill/>
              </a:ln>
              <a:solidFill>
                <a:prstClr val="black"/>
              </a:solidFill>
              <a:effectLst/>
              <a:uLnTx/>
              <a:uFillTx/>
              <a:latin typeface="Arial Narrow" pitchFamily="34" charset="0"/>
              <a:ea typeface="+mn-ea"/>
              <a:cs typeface="+mn-cs"/>
              <a:sym typeface="Symbol" pitchFamily="18" charset="2"/>
            </a:endParaRPr>
          </a:p>
        </p:txBody>
      </p:sp>
      <p:sp>
        <p:nvSpPr>
          <p:cNvPr id="124970" name="Rectangle 108"/>
          <p:cNvSpPr>
            <a:spLocks noChangeArrowheads="1"/>
          </p:cNvSpPr>
          <p:nvPr/>
        </p:nvSpPr>
        <p:spPr bwMode="auto">
          <a:xfrm>
            <a:off x="8801100" y="3551238"/>
            <a:ext cx="274638" cy="211137"/>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Narrow" pitchFamily="34" charset="0"/>
                <a:ea typeface="+mn-ea"/>
                <a:cs typeface="+mn-cs"/>
              </a:rPr>
              <a:t>2</a:t>
            </a:r>
            <a:r>
              <a:rPr kumimoji="0" lang="en-US" sz="1400" b="0" i="0" u="none" strike="noStrike" kern="1200" cap="none" spc="0" normalizeH="0" baseline="0" noProof="0">
                <a:ln>
                  <a:noFill/>
                </a:ln>
                <a:solidFill>
                  <a:srgbClr val="000000"/>
                </a:solidFill>
                <a:effectLst/>
                <a:uLnTx/>
                <a:uFillTx/>
                <a:latin typeface="Arial Narrow" pitchFamily="34" charset="0"/>
                <a:ea typeface="+mn-ea"/>
                <a:cs typeface="+mn-cs"/>
                <a:sym typeface="Symbol" pitchFamily="18" charset="2"/>
              </a:rPr>
              <a:t></a:t>
            </a:r>
            <a:endParaRPr kumimoji="0" lang="en-US" sz="1400" b="0" i="0" u="none" strike="noStrike" kern="1200" cap="none" spc="0" normalizeH="0" baseline="0" noProof="0">
              <a:ln>
                <a:noFill/>
              </a:ln>
              <a:solidFill>
                <a:prstClr val="black"/>
              </a:solidFill>
              <a:effectLst/>
              <a:uLnTx/>
              <a:uFillTx/>
              <a:latin typeface="Arial Narrow" pitchFamily="34" charset="0"/>
              <a:ea typeface="+mn-ea"/>
              <a:cs typeface="+mn-cs"/>
              <a:sym typeface="Symbol" pitchFamily="18" charset="2"/>
            </a:endParaRPr>
          </a:p>
        </p:txBody>
      </p:sp>
      <p:sp>
        <p:nvSpPr>
          <p:cNvPr id="124971" name="Line 114"/>
          <p:cNvSpPr>
            <a:spLocks noChangeShapeType="1"/>
          </p:cNvSpPr>
          <p:nvPr/>
        </p:nvSpPr>
        <p:spPr bwMode="auto">
          <a:xfrm flipV="1">
            <a:off x="4951413" y="2674938"/>
            <a:ext cx="4192587" cy="9525"/>
          </a:xfrm>
          <a:prstGeom prst="line">
            <a:avLst/>
          </a:prstGeom>
          <a:noFill/>
          <a:ln w="19050">
            <a:solidFill>
              <a:srgbClr val="000066"/>
            </a:solidFill>
            <a:prstDash val="sysDot"/>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72" name="Line 115"/>
          <p:cNvSpPr>
            <a:spLocks noChangeShapeType="1"/>
          </p:cNvSpPr>
          <p:nvPr/>
        </p:nvSpPr>
        <p:spPr bwMode="auto">
          <a:xfrm rot="10800000" flipH="1">
            <a:off x="6240463" y="2690813"/>
            <a:ext cx="9525" cy="862012"/>
          </a:xfrm>
          <a:prstGeom prst="line">
            <a:avLst/>
          </a:prstGeom>
          <a:noFill/>
          <a:ln w="19050">
            <a:solidFill>
              <a:srgbClr val="000066"/>
            </a:solidFill>
            <a:prstDash val="sysDot"/>
            <a:round/>
            <a:headEnd type="triangle" w="med" len="me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73" name="Line 117"/>
          <p:cNvSpPr>
            <a:spLocks noChangeShapeType="1"/>
          </p:cNvSpPr>
          <p:nvPr/>
        </p:nvSpPr>
        <p:spPr bwMode="auto">
          <a:xfrm rot="16200000" flipH="1">
            <a:off x="6831013" y="2482850"/>
            <a:ext cx="9525" cy="1069975"/>
          </a:xfrm>
          <a:prstGeom prst="line">
            <a:avLst/>
          </a:prstGeom>
          <a:noFill/>
          <a:ln w="19050">
            <a:solidFill>
              <a:srgbClr val="000066"/>
            </a:solidFill>
            <a:prstDash val="sysDot"/>
            <a:round/>
            <a:headEnd type="triangle" w="med" len="me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74" name="Text Box 118"/>
          <p:cNvSpPr txBox="1">
            <a:spLocks noChangeArrowheads="1"/>
          </p:cNvSpPr>
          <p:nvPr/>
        </p:nvSpPr>
        <p:spPr bwMode="auto">
          <a:xfrm>
            <a:off x="4603750" y="2487613"/>
            <a:ext cx="393700" cy="274637"/>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srgbClr val="000066"/>
                </a:solidFill>
                <a:effectLst/>
                <a:uLnTx/>
                <a:uFillTx/>
                <a:latin typeface="Arial Narrow" pitchFamily="34" charset="0"/>
                <a:ea typeface="+mn-ea"/>
                <a:cs typeface="+mn-cs"/>
              </a:rPr>
              <a:t>220</a:t>
            </a:r>
            <a:endParaRPr kumimoji="0" lang="en-US" sz="1200" b="0" i="0" u="none" strike="noStrike" kern="1200" cap="none" spc="0" normalizeH="0" baseline="0" noProof="0">
              <a:ln>
                <a:noFill/>
              </a:ln>
              <a:solidFill>
                <a:srgbClr val="000066"/>
              </a:solidFill>
              <a:effectLst/>
              <a:uLnTx/>
              <a:uFillTx/>
              <a:latin typeface="Arial Narrow" pitchFamily="34" charset="0"/>
              <a:ea typeface="+mn-ea"/>
              <a:cs typeface="+mn-cs"/>
            </a:endParaRPr>
          </a:p>
        </p:txBody>
      </p:sp>
      <p:sp>
        <p:nvSpPr>
          <p:cNvPr id="124975" name="Line 119"/>
          <p:cNvSpPr>
            <a:spLocks noChangeShapeType="1"/>
          </p:cNvSpPr>
          <p:nvPr/>
        </p:nvSpPr>
        <p:spPr bwMode="auto">
          <a:xfrm>
            <a:off x="4922838" y="2265363"/>
            <a:ext cx="1190625" cy="7937"/>
          </a:xfrm>
          <a:prstGeom prst="line">
            <a:avLst/>
          </a:prstGeom>
          <a:noFill/>
          <a:ln w="19050">
            <a:solidFill>
              <a:srgbClr val="CC3300"/>
            </a:solidFill>
            <a:prstDash val="sysDot"/>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76" name="Rectangle 116"/>
          <p:cNvSpPr>
            <a:spLocks noChangeArrowheads="1"/>
          </p:cNvSpPr>
          <p:nvPr/>
        </p:nvSpPr>
        <p:spPr bwMode="auto">
          <a:xfrm>
            <a:off x="7000875" y="2819400"/>
            <a:ext cx="1685925" cy="392113"/>
          </a:xfrm>
          <a:prstGeom prst="rect">
            <a:avLst/>
          </a:prstGeom>
          <a:solidFill>
            <a:srgbClr val="000066"/>
          </a:solidFill>
          <a:ln w="9525">
            <a:noFill/>
            <a:miter lim="800000"/>
            <a:headEnd/>
            <a:tailEnd/>
          </a:ln>
        </p:spPr>
        <p:txBody>
          <a:bodyPr tIns="72000" bIns="7200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prstClr val="white"/>
                </a:solidFill>
                <a:effectLst/>
                <a:uLnTx/>
                <a:uFillTx/>
                <a:latin typeface="Arial Narrow" pitchFamily="34" charset="0"/>
                <a:ea typeface="+mn-ea"/>
                <a:cs typeface="+mn-cs"/>
              </a:rPr>
              <a:t>V</a:t>
            </a:r>
            <a:r>
              <a:rPr kumimoji="0" lang="tr-TR" sz="1600" b="0" i="0" u="none" strike="noStrike" kern="1200" cap="none" spc="0" normalizeH="0" baseline="-25000" noProof="0">
                <a:ln>
                  <a:noFill/>
                </a:ln>
                <a:solidFill>
                  <a:prstClr val="white"/>
                </a:solidFill>
                <a:effectLst/>
                <a:uLnTx/>
                <a:uFillTx/>
                <a:latin typeface="Arial Narrow" pitchFamily="34" charset="0"/>
                <a:ea typeface="+mn-ea"/>
                <a:cs typeface="+mn-cs"/>
              </a:rPr>
              <a:t>rms</a:t>
            </a:r>
            <a:r>
              <a:rPr kumimoji="0" lang="tr-TR" sz="1600" b="0" i="0" u="none" strike="noStrike" kern="1200" cap="none" spc="0" normalizeH="0" baseline="0" noProof="0">
                <a:ln>
                  <a:noFill/>
                </a:ln>
                <a:solidFill>
                  <a:prstClr val="white"/>
                </a:solidFill>
                <a:effectLst/>
                <a:uLnTx/>
                <a:uFillTx/>
                <a:latin typeface="Arial Narrow" pitchFamily="34" charset="0"/>
                <a:ea typeface="+mn-ea"/>
                <a:cs typeface="+mn-cs"/>
              </a:rPr>
              <a:t>  = </a:t>
            </a:r>
            <a:r>
              <a:rPr kumimoji="0" lang="tr-TR" sz="1600" b="0" i="0" u="none" strike="noStrike" kern="1200" cap="none" spc="0" normalizeH="0" baseline="0" noProof="0">
                <a:ln>
                  <a:noFill/>
                </a:ln>
                <a:solidFill>
                  <a:prstClr val="white"/>
                </a:solidFill>
                <a:effectLst/>
                <a:uLnTx/>
                <a:uFillTx/>
                <a:latin typeface="Arial Narrow" pitchFamily="34" charset="0"/>
                <a:ea typeface="+mn-ea"/>
                <a:cs typeface="+mn-cs"/>
                <a:sym typeface="Symbol" pitchFamily="18" charset="2"/>
              </a:rPr>
              <a:t>220 Volts</a:t>
            </a:r>
            <a:endParaRPr kumimoji="0" lang="en-US" sz="1600" b="0" i="0" u="none" strike="noStrike" kern="1200" cap="none" spc="0" normalizeH="0" baseline="0" noProof="0">
              <a:ln>
                <a:noFill/>
              </a:ln>
              <a:solidFill>
                <a:prstClr val="white"/>
              </a:solidFill>
              <a:effectLst/>
              <a:uLnTx/>
              <a:uFillTx/>
              <a:latin typeface="Arial Narrow" pitchFamily="34" charset="0"/>
              <a:ea typeface="+mn-ea"/>
              <a:cs typeface="+mn-cs"/>
              <a:sym typeface="Symbol" pitchFamily="18" charset="2"/>
            </a:endParaRPr>
          </a:p>
        </p:txBody>
      </p:sp>
      <p:sp>
        <p:nvSpPr>
          <p:cNvPr id="4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Ali </a:t>
            </a:r>
            <a:r>
              <a:rPr kumimoji="0" lang="en-US" sz="1200" b="0" i="0" u="none" strike="noStrike" kern="1200" cap="none" spc="0" normalizeH="0" baseline="0" noProof="0" dirty="0" err="1">
                <a:ln>
                  <a:noFill/>
                </a:ln>
                <a:solidFill>
                  <a:prstClr val="black">
                    <a:tint val="75000"/>
                  </a:prstClr>
                </a:solidFill>
                <a:effectLst/>
                <a:uLnTx/>
                <a:uFillTx/>
                <a:latin typeface="Calibri"/>
                <a:ea typeface="+mn-ea"/>
                <a:cs typeface="+mn-cs"/>
              </a:rPr>
              <a:t>Muhtaroğlu</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0" name="Slide Number Placeholder 12"/>
          <p:cNvSpPr>
            <a:spLocks noGrp="1"/>
          </p:cNvSpPr>
          <p:nvPr>
            <p:ph type="sldNum" sz="quarter" idx="11"/>
          </p:nvPr>
        </p:nvSpPr>
        <p:spPr>
          <a:xfrm>
            <a:off x="8267700" y="6477000"/>
            <a:ext cx="8763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57CEED-90C7-4FD0-AB8C-14085BB9151E}"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30091013"/>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111" descr="magic"/>
          <p:cNvPicPr>
            <a:picLocks noChangeAspect="1" noChangeArrowheads="1"/>
          </p:cNvPicPr>
          <p:nvPr/>
        </p:nvPicPr>
        <p:blipFill>
          <a:blip r:embed="rId3" cstate="print"/>
          <a:srcRect/>
          <a:stretch>
            <a:fillRect/>
          </a:stretch>
        </p:blipFill>
        <p:spPr bwMode="auto">
          <a:xfrm>
            <a:off x="0" y="0"/>
            <a:ext cx="127000" cy="127000"/>
          </a:xfrm>
          <a:prstGeom prst="rect">
            <a:avLst/>
          </a:prstGeom>
          <a:noFill/>
          <a:ln w="9525">
            <a:noFill/>
            <a:miter lim="800000"/>
            <a:headEnd/>
            <a:tailEnd/>
          </a:ln>
        </p:spPr>
      </p:pic>
      <p:sp>
        <p:nvSpPr>
          <p:cNvPr id="124931" name="Rectangle 2"/>
          <p:cNvSpPr>
            <a:spLocks noChangeArrowheads="1"/>
          </p:cNvSpPr>
          <p:nvPr/>
        </p:nvSpPr>
        <p:spPr bwMode="auto">
          <a:xfrm>
            <a:off x="723900" y="190500"/>
            <a:ext cx="5522922" cy="52322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2800" b="0" i="0" u="none" strike="noStrike" kern="1200" cap="none" spc="0" normalizeH="0" baseline="0" noProof="0" dirty="0">
                <a:ln>
                  <a:noFill/>
                </a:ln>
                <a:solidFill>
                  <a:prstClr val="black"/>
                </a:solidFill>
                <a:effectLst/>
                <a:uLnTx/>
                <a:uFillTx/>
                <a:latin typeface="Calibri"/>
                <a:ea typeface="+mn-ea"/>
                <a:cs typeface="+mn-cs"/>
              </a:rPr>
              <a:t>RMS Value of a Sinusoidal Waveform</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4932" name="Rectangle 3"/>
          <p:cNvSpPr>
            <a:spLocks noChangeArrowheads="1"/>
          </p:cNvSpPr>
          <p:nvPr/>
        </p:nvSpPr>
        <p:spPr bwMode="auto">
          <a:xfrm>
            <a:off x="0" y="2301875"/>
            <a:ext cx="4325938" cy="952500"/>
          </a:xfrm>
          <a:prstGeom prst="rect">
            <a:avLst/>
          </a:prstGeom>
          <a:solidFill>
            <a:srgbClr val="000066"/>
          </a:solidFill>
          <a:ln w="9525">
            <a:noFill/>
            <a:miter lim="800000"/>
            <a:headEnd/>
            <a:tailEnd/>
          </a:ln>
        </p:spPr>
        <p:txBody>
          <a:bodyPr tIns="82800" bIns="82800">
            <a:spAutoFit/>
          </a:bodyPr>
          <a:lstStyle/>
          <a:p>
            <a:pPr marL="177800" marR="0" lvl="0" indent="0" algn="l" defTabSz="914400" rtl="0" eaLnBrk="1" fontAlgn="base" latinLnBrk="0" hangingPunct="1">
              <a:lnSpc>
                <a:spcPct val="85000"/>
              </a:lnSpc>
              <a:spcBef>
                <a:spcPct val="0"/>
              </a:spcBef>
              <a:spcAft>
                <a:spcPct val="0"/>
              </a:spcAft>
              <a:buClrTx/>
              <a:buSzTx/>
              <a:buFontTx/>
              <a:buNone/>
              <a:tabLst/>
              <a:defRPr/>
            </a:pPr>
            <a:r>
              <a:rPr kumimoji="0" lang="tr-TR" sz="2000" b="1" i="0" u="none" strike="noStrike" kern="1200" cap="none" spc="0" normalizeH="0" baseline="0" noProof="0" dirty="0">
                <a:ln>
                  <a:noFill/>
                </a:ln>
                <a:solidFill>
                  <a:prstClr val="white"/>
                </a:solidFill>
                <a:effectLst/>
                <a:uLnTx/>
                <a:uFillTx/>
                <a:latin typeface="Arial Narrow" pitchFamily="34" charset="0"/>
                <a:ea typeface="+mn-ea"/>
                <a:cs typeface="+mn-cs"/>
              </a:rPr>
              <a:t>Calculate the RMS value of the sinusoidal voltage waveform with 312 Volts peak value as shown</a:t>
            </a:r>
            <a:endParaRPr kumimoji="0" lang="tr-TR" sz="2000" b="1" i="0" u="none" strike="noStrike" kern="1200" cap="none" spc="0" normalizeH="0" baseline="30000" noProof="0" dirty="0">
              <a:ln>
                <a:noFill/>
              </a:ln>
              <a:solidFill>
                <a:prstClr val="white"/>
              </a:solidFill>
              <a:effectLst/>
              <a:uLnTx/>
              <a:uFillTx/>
              <a:latin typeface="Arial Narrow" pitchFamily="34" charset="0"/>
              <a:ea typeface="+mn-ea"/>
              <a:cs typeface="+mn-cs"/>
            </a:endParaRPr>
          </a:p>
        </p:txBody>
      </p:sp>
      <p:sp>
        <p:nvSpPr>
          <p:cNvPr id="124933" name="Line 4"/>
          <p:cNvSpPr>
            <a:spLocks noChangeShapeType="1"/>
          </p:cNvSpPr>
          <p:nvPr/>
        </p:nvSpPr>
        <p:spPr bwMode="auto">
          <a:xfrm>
            <a:off x="4930775" y="2182813"/>
            <a:ext cx="1588" cy="3643312"/>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34" name="Line 5"/>
          <p:cNvSpPr>
            <a:spLocks noChangeShapeType="1"/>
          </p:cNvSpPr>
          <p:nvPr/>
        </p:nvSpPr>
        <p:spPr bwMode="auto">
          <a:xfrm>
            <a:off x="4902200" y="5826125"/>
            <a:ext cx="28575" cy="1588"/>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35" name="Line 6"/>
          <p:cNvSpPr>
            <a:spLocks noChangeShapeType="1"/>
          </p:cNvSpPr>
          <p:nvPr/>
        </p:nvSpPr>
        <p:spPr bwMode="auto">
          <a:xfrm>
            <a:off x="4902200" y="5422900"/>
            <a:ext cx="28575" cy="1588"/>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36" name="Rectangle 63"/>
          <p:cNvSpPr>
            <a:spLocks noChangeArrowheads="1"/>
          </p:cNvSpPr>
          <p:nvPr/>
        </p:nvSpPr>
        <p:spPr bwMode="auto">
          <a:xfrm>
            <a:off x="0" y="3270250"/>
            <a:ext cx="4325938" cy="1163638"/>
          </a:xfrm>
          <a:prstGeom prst="rect">
            <a:avLst/>
          </a:prstGeom>
          <a:solidFill>
            <a:srgbClr val="000066"/>
          </a:solidFill>
          <a:ln w="9525">
            <a:noFill/>
            <a:miter lim="800000"/>
            <a:headEnd/>
            <a:tailEnd/>
          </a:ln>
        </p:spPr>
        <p:txBody>
          <a:bodyPr tIns="82800" bIns="82800">
            <a:spAutoFit/>
          </a:bodyPr>
          <a:lstStyle/>
          <a:p>
            <a:pPr marL="447675" marR="0" lvl="0" indent="-447675" algn="l" defTabSz="914400" rtl="0" eaLnBrk="1" fontAlgn="base" latinLnBrk="0" hangingPunct="1">
              <a:lnSpc>
                <a:spcPct val="120000"/>
              </a:lnSpc>
              <a:spcBef>
                <a:spcPct val="0"/>
              </a:spcBef>
              <a:spcAft>
                <a:spcPct val="0"/>
              </a:spcAft>
              <a:buClrTx/>
              <a:buSzTx/>
              <a:buFontTx/>
              <a:buNone/>
              <a:tabLst/>
              <a:defRPr/>
            </a:pPr>
            <a:r>
              <a:rPr kumimoji="0" lang="tr-TR" sz="1800" b="1" i="0" u="none" strike="noStrike" kern="1200" cap="none" spc="0" normalizeH="0" baseline="0" noProof="0">
                <a:ln>
                  <a:noFill/>
                </a:ln>
                <a:solidFill>
                  <a:srgbClr val="FFFF00"/>
                </a:solidFill>
                <a:effectLst/>
                <a:uLnTx/>
                <a:uFillTx/>
                <a:latin typeface="Arial Narrow" pitchFamily="34" charset="0"/>
                <a:ea typeface="+mn-ea"/>
                <a:cs typeface="+mn-cs"/>
              </a:rPr>
              <a:t>	V</a:t>
            </a:r>
            <a:r>
              <a:rPr kumimoji="0" lang="tr-TR" sz="1800" b="1" i="0" u="none" strike="noStrike" kern="1200" cap="none" spc="0" normalizeH="0" baseline="-25000" noProof="0">
                <a:ln>
                  <a:noFill/>
                </a:ln>
                <a:solidFill>
                  <a:srgbClr val="FFFF00"/>
                </a:solidFill>
                <a:effectLst/>
                <a:uLnTx/>
                <a:uFillTx/>
                <a:latin typeface="Arial Narrow" pitchFamily="34" charset="0"/>
                <a:ea typeface="+mn-ea"/>
                <a:cs typeface="+mn-cs"/>
              </a:rPr>
              <a:t>rms</a:t>
            </a:r>
            <a:r>
              <a:rPr kumimoji="0" lang="tr-TR" sz="1800" b="1" i="0" u="none" strike="noStrike" kern="1200" cap="none" spc="0" normalizeH="0" baseline="0" noProof="0">
                <a:ln>
                  <a:noFill/>
                </a:ln>
                <a:solidFill>
                  <a:srgbClr val="FFFF00"/>
                </a:solidFill>
                <a:effectLst/>
                <a:uLnTx/>
                <a:uFillTx/>
                <a:latin typeface="Arial Narrow" pitchFamily="34" charset="0"/>
                <a:ea typeface="+mn-ea"/>
                <a:cs typeface="+mn-cs"/>
              </a:rPr>
              <a:t>  = </a:t>
            </a:r>
            <a:r>
              <a:rPr kumimoji="0" lang="tr-TR" sz="1800" b="1" i="0" u="none" strike="noStrike" kern="1200" cap="none" spc="0" normalizeH="0" baseline="0" noProof="0">
                <a:ln>
                  <a:noFill/>
                </a:ln>
                <a:solidFill>
                  <a:srgbClr val="FFFF00"/>
                </a:solidFill>
                <a:effectLst/>
                <a:uLnTx/>
                <a:uFillTx/>
                <a:latin typeface="Arial Narrow" pitchFamily="34" charset="0"/>
                <a:ea typeface="+mn-ea"/>
                <a:cs typeface="+mn-cs"/>
                <a:sym typeface="Symbol" pitchFamily="18" charset="2"/>
              </a:rPr>
              <a:t>V</a:t>
            </a:r>
            <a:r>
              <a:rPr kumimoji="0" lang="tr-TR" sz="1800" b="1" i="0" u="none" strike="noStrike" kern="1200" cap="none" spc="0" normalizeH="0" baseline="-25000" noProof="0">
                <a:ln>
                  <a:noFill/>
                </a:ln>
                <a:solidFill>
                  <a:srgbClr val="FFFF00"/>
                </a:solidFill>
                <a:effectLst/>
                <a:uLnTx/>
                <a:uFillTx/>
                <a:latin typeface="Arial Narrow" pitchFamily="34" charset="0"/>
                <a:ea typeface="+mn-ea"/>
                <a:cs typeface="+mn-cs"/>
                <a:sym typeface="Symbol" pitchFamily="18" charset="2"/>
              </a:rPr>
              <a:t>max</a:t>
            </a:r>
            <a:r>
              <a:rPr kumimoji="0" lang="tr-TR" sz="1800" b="1" i="0" u="none" strike="noStrike" kern="1200" cap="none" spc="0" normalizeH="0" baseline="0" noProof="0">
                <a:ln>
                  <a:noFill/>
                </a:ln>
                <a:solidFill>
                  <a:srgbClr val="FFFF00"/>
                </a:solidFill>
                <a:effectLst/>
                <a:uLnTx/>
                <a:uFillTx/>
                <a:latin typeface="Arial Narrow" pitchFamily="34" charset="0"/>
                <a:ea typeface="+mn-ea"/>
                <a:cs typeface="+mn-cs"/>
                <a:sym typeface="Symbol" pitchFamily="18" charset="2"/>
              </a:rPr>
              <a:t> / 2</a:t>
            </a:r>
            <a:r>
              <a:rPr kumimoji="0" lang="tr-TR" sz="1800" b="1" i="0" u="none" strike="noStrike" kern="1200" cap="none" spc="0" normalizeH="0" baseline="30000" noProof="0">
                <a:ln>
                  <a:noFill/>
                </a:ln>
                <a:solidFill>
                  <a:srgbClr val="FFFF00"/>
                </a:solidFill>
                <a:effectLst/>
                <a:uLnTx/>
                <a:uFillTx/>
                <a:latin typeface="Arial Narrow" pitchFamily="34" charset="0"/>
                <a:ea typeface="+mn-ea"/>
                <a:cs typeface="+mn-cs"/>
                <a:sym typeface="Symbol" pitchFamily="18" charset="2"/>
              </a:rPr>
              <a:t>1/2 </a:t>
            </a:r>
            <a:r>
              <a:rPr kumimoji="0" lang="tr-TR" sz="1800" b="1" i="0" u="none" strike="noStrike" kern="1200" cap="none" spc="0" normalizeH="0" baseline="0" noProof="0">
                <a:ln>
                  <a:noFill/>
                </a:ln>
                <a:solidFill>
                  <a:srgbClr val="FFFF00"/>
                </a:solidFill>
                <a:effectLst/>
                <a:uLnTx/>
                <a:uFillTx/>
                <a:latin typeface="Arial Narrow" pitchFamily="34" charset="0"/>
                <a:ea typeface="+mn-ea"/>
                <a:cs typeface="+mn-cs"/>
                <a:sym typeface="Symbol" pitchFamily="18" charset="2"/>
              </a:rPr>
              <a:t> </a:t>
            </a:r>
          </a:p>
          <a:p>
            <a:pPr marL="447675" marR="0" lvl="0" indent="-447675" algn="l" defTabSz="914400" rtl="0" eaLnBrk="1" fontAlgn="base" latinLnBrk="0" hangingPunct="1">
              <a:lnSpc>
                <a:spcPct val="120000"/>
              </a:lnSpc>
              <a:spcBef>
                <a:spcPct val="0"/>
              </a:spcBef>
              <a:spcAft>
                <a:spcPct val="0"/>
              </a:spcAft>
              <a:buClrTx/>
              <a:buSzTx/>
              <a:buFontTx/>
              <a:buNone/>
              <a:tabLst/>
              <a:defRPr/>
            </a:pPr>
            <a:r>
              <a:rPr kumimoji="0" lang="tr-TR" sz="1800" b="1" i="0" u="none" strike="noStrike" kern="1200" cap="none" spc="0" normalizeH="0" baseline="0" noProof="0">
                <a:ln>
                  <a:noFill/>
                </a:ln>
                <a:solidFill>
                  <a:srgbClr val="FFFF00"/>
                </a:solidFill>
                <a:effectLst/>
                <a:uLnTx/>
                <a:uFillTx/>
                <a:latin typeface="Arial Narrow" pitchFamily="34" charset="0"/>
                <a:ea typeface="+mn-ea"/>
                <a:cs typeface="+mn-cs"/>
                <a:sym typeface="Symbol" pitchFamily="18" charset="2"/>
              </a:rPr>
              <a:t>                 = V </a:t>
            </a:r>
            <a:r>
              <a:rPr kumimoji="0" lang="tr-TR" sz="1800" b="1" i="0" u="none" strike="noStrike" kern="1200" cap="none" spc="0" normalizeH="0" baseline="-25000" noProof="0">
                <a:ln>
                  <a:noFill/>
                </a:ln>
                <a:solidFill>
                  <a:srgbClr val="FFFF00"/>
                </a:solidFill>
                <a:effectLst/>
                <a:uLnTx/>
                <a:uFillTx/>
                <a:latin typeface="Arial Narrow" pitchFamily="34" charset="0"/>
                <a:ea typeface="+mn-ea"/>
                <a:cs typeface="+mn-cs"/>
                <a:sym typeface="Symbol" pitchFamily="18" charset="2"/>
              </a:rPr>
              <a:t>max</a:t>
            </a:r>
            <a:r>
              <a:rPr kumimoji="0" lang="tr-TR" sz="1800" b="1" i="0" u="none" strike="noStrike" kern="1200" cap="none" spc="0" normalizeH="0" baseline="0" noProof="0">
                <a:ln>
                  <a:noFill/>
                </a:ln>
                <a:solidFill>
                  <a:srgbClr val="FFFF00"/>
                </a:solidFill>
                <a:effectLst/>
                <a:uLnTx/>
                <a:uFillTx/>
                <a:latin typeface="Arial Narrow" pitchFamily="34" charset="0"/>
                <a:ea typeface="+mn-ea"/>
                <a:cs typeface="+mn-cs"/>
                <a:sym typeface="Symbol" pitchFamily="18" charset="2"/>
              </a:rPr>
              <a:t> </a:t>
            </a:r>
            <a:r>
              <a:rPr kumimoji="0" lang="tr-TR" sz="1400" b="1" i="0" u="none" strike="noStrike" kern="1200" cap="none" spc="0" normalizeH="0" baseline="0" noProof="0">
                <a:ln>
                  <a:noFill/>
                </a:ln>
                <a:solidFill>
                  <a:srgbClr val="FFFF00"/>
                </a:solidFill>
                <a:effectLst/>
                <a:uLnTx/>
                <a:uFillTx/>
                <a:latin typeface="Arial Narrow" pitchFamily="34" charset="0"/>
                <a:ea typeface="+mn-ea"/>
                <a:cs typeface="+mn-cs"/>
                <a:sym typeface="Symbol" pitchFamily="18" charset="2"/>
              </a:rPr>
              <a:t>x</a:t>
            </a:r>
            <a:r>
              <a:rPr kumimoji="0" lang="tr-TR" sz="1800" b="1" i="0" u="none" strike="noStrike" kern="1200" cap="none" spc="0" normalizeH="0" baseline="0" noProof="0">
                <a:ln>
                  <a:noFill/>
                </a:ln>
                <a:solidFill>
                  <a:srgbClr val="FFFF00"/>
                </a:solidFill>
                <a:effectLst/>
                <a:uLnTx/>
                <a:uFillTx/>
                <a:latin typeface="Arial Narrow" pitchFamily="34" charset="0"/>
                <a:ea typeface="+mn-ea"/>
                <a:cs typeface="+mn-cs"/>
                <a:sym typeface="Symbol" pitchFamily="18" charset="2"/>
              </a:rPr>
              <a:t> 0.7071</a:t>
            </a:r>
          </a:p>
          <a:p>
            <a:pPr marL="447675" marR="0" lvl="0" indent="-447675" algn="l" defTabSz="914400" rtl="0" eaLnBrk="1" fontAlgn="base" latinLnBrk="0" hangingPunct="1">
              <a:lnSpc>
                <a:spcPct val="120000"/>
              </a:lnSpc>
              <a:spcBef>
                <a:spcPct val="0"/>
              </a:spcBef>
              <a:spcAft>
                <a:spcPct val="0"/>
              </a:spcAft>
              <a:buClrTx/>
              <a:buSzTx/>
              <a:buFontTx/>
              <a:buNone/>
              <a:tabLst/>
              <a:defRPr/>
            </a:pPr>
            <a:r>
              <a:rPr kumimoji="0" lang="tr-TR" sz="1800" b="1" i="0" u="none" strike="noStrike" kern="1200" cap="none" spc="0" normalizeH="0" baseline="0" noProof="0">
                <a:ln>
                  <a:noFill/>
                </a:ln>
                <a:solidFill>
                  <a:srgbClr val="FFFF00"/>
                </a:solidFill>
                <a:effectLst/>
                <a:uLnTx/>
                <a:uFillTx/>
                <a:latin typeface="Arial Narrow" pitchFamily="34" charset="0"/>
                <a:ea typeface="+mn-ea"/>
                <a:cs typeface="+mn-cs"/>
                <a:sym typeface="Symbol" pitchFamily="18" charset="2"/>
              </a:rPr>
              <a:t>	        = 312 x 0.7071 = 220 Volts</a:t>
            </a:r>
            <a:endParaRPr kumimoji="0" lang="en-US" sz="1800" b="1" i="0" u="none" strike="noStrike" kern="1200" cap="none" spc="0" normalizeH="0" baseline="0" noProof="0">
              <a:ln>
                <a:noFill/>
              </a:ln>
              <a:solidFill>
                <a:srgbClr val="FFFF00"/>
              </a:solidFill>
              <a:effectLst/>
              <a:uLnTx/>
              <a:uFillTx/>
              <a:latin typeface="Arial Narrow" pitchFamily="34" charset="0"/>
              <a:ea typeface="+mn-ea"/>
              <a:cs typeface="+mn-cs"/>
              <a:sym typeface="Symbol" pitchFamily="18" charset="2"/>
            </a:endParaRPr>
          </a:p>
        </p:txBody>
      </p:sp>
      <p:sp>
        <p:nvSpPr>
          <p:cNvPr id="124937" name="Rectangle 66"/>
          <p:cNvSpPr>
            <a:spLocks noChangeArrowheads="1"/>
          </p:cNvSpPr>
          <p:nvPr/>
        </p:nvSpPr>
        <p:spPr bwMode="auto">
          <a:xfrm>
            <a:off x="0" y="1704975"/>
            <a:ext cx="4325938" cy="573088"/>
          </a:xfrm>
          <a:prstGeom prst="rect">
            <a:avLst/>
          </a:prstGeom>
          <a:solidFill>
            <a:srgbClr val="000066"/>
          </a:solidFill>
          <a:ln w="9525" algn="ctr">
            <a:noFill/>
            <a:miter lim="800000"/>
            <a:headEnd/>
            <a:tailEnd/>
          </a:ln>
        </p:spPr>
        <p:txBody>
          <a:bodyPr lIns="54000" tIns="118800" rIns="54000" bIns="118800">
            <a:spAutoFit/>
          </a:bodyPr>
          <a:lstStyle/>
          <a:p>
            <a:pPr marL="0" marR="0" lvl="0" indent="4763" algn="ctr" defTabSz="914400" rtl="0" eaLnBrk="1" fontAlgn="base" latinLnBrk="0" hangingPunct="1">
              <a:lnSpc>
                <a:spcPct val="100000"/>
              </a:lnSpc>
              <a:spcBef>
                <a:spcPct val="0"/>
              </a:spcBef>
              <a:spcAft>
                <a:spcPct val="0"/>
              </a:spcAft>
              <a:buClrTx/>
              <a:buSzTx/>
              <a:buFontTx/>
              <a:buNone/>
              <a:tabLst/>
              <a:defRPr/>
            </a:pPr>
            <a:r>
              <a:rPr kumimoji="0" lang="tr-TR" sz="2200" b="0" i="0" u="none" strike="noStrike" kern="1200" cap="none" spc="0" normalizeH="0" baseline="0" noProof="0">
                <a:ln>
                  <a:noFill/>
                </a:ln>
                <a:solidFill>
                  <a:srgbClr val="FFFF00"/>
                </a:solidFill>
                <a:effectLst/>
                <a:uLnTx/>
                <a:uFillTx/>
                <a:latin typeface="Arial Black" pitchFamily="34" charset="0"/>
                <a:ea typeface="+mn-ea"/>
                <a:cs typeface="+mn-cs"/>
              </a:rPr>
              <a:t>Problem</a:t>
            </a:r>
            <a:endParaRPr kumimoji="0" lang="en-US" sz="2200" b="0" i="0" u="none" strike="noStrike" kern="1200" cap="none" spc="0" normalizeH="0" baseline="0" noProof="0">
              <a:ln>
                <a:noFill/>
              </a:ln>
              <a:solidFill>
                <a:srgbClr val="FFFF00"/>
              </a:solidFill>
              <a:effectLst/>
              <a:uLnTx/>
              <a:uFillTx/>
              <a:latin typeface="Arial Black" pitchFamily="34" charset="0"/>
              <a:ea typeface="+mn-ea"/>
              <a:cs typeface="+mn-cs"/>
            </a:endParaRPr>
          </a:p>
        </p:txBody>
      </p:sp>
      <p:sp>
        <p:nvSpPr>
          <p:cNvPr id="124938" name="Line 74"/>
          <p:cNvSpPr>
            <a:spLocks noChangeShapeType="1"/>
          </p:cNvSpPr>
          <p:nvPr/>
        </p:nvSpPr>
        <p:spPr bwMode="auto">
          <a:xfrm rot="10800000">
            <a:off x="2584450" y="4445000"/>
            <a:ext cx="0" cy="606425"/>
          </a:xfrm>
          <a:prstGeom prst="line">
            <a:avLst/>
          </a:prstGeom>
          <a:noFill/>
          <a:ln w="25400">
            <a:solidFill>
              <a:srgbClr val="CC3300"/>
            </a:solidFill>
            <a:prstDash val="sysDot"/>
            <a:round/>
            <a:headEn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39" name="Rectangle 73"/>
          <p:cNvSpPr>
            <a:spLocks noChangeArrowheads="1"/>
          </p:cNvSpPr>
          <p:nvPr/>
        </p:nvSpPr>
        <p:spPr bwMode="auto">
          <a:xfrm>
            <a:off x="0" y="4725988"/>
            <a:ext cx="4325938" cy="467556"/>
          </a:xfrm>
          <a:prstGeom prst="rect">
            <a:avLst/>
          </a:prstGeom>
          <a:solidFill>
            <a:srgbClr val="CC3300"/>
          </a:solidFill>
          <a:ln w="9525">
            <a:noFill/>
            <a:miter lim="800000"/>
            <a:headEnd/>
            <a:tailEnd/>
          </a:ln>
        </p:spPr>
        <p:txBody>
          <a:bodyPr tIns="82800" bIns="82800">
            <a:spAutoFit/>
          </a:bodyPr>
          <a:lstStyle/>
          <a:p>
            <a:pPr marL="0" marR="0" lvl="0" indent="1588" algn="ctr" defTabSz="914400" rtl="0" eaLnBrk="1" fontAlgn="base" latinLnBrk="0" hangingPunct="1">
              <a:lnSpc>
                <a:spcPct val="120000"/>
              </a:lnSpc>
              <a:spcBef>
                <a:spcPct val="0"/>
              </a:spcBef>
              <a:spcAft>
                <a:spcPct val="0"/>
              </a:spcAft>
              <a:buClrTx/>
              <a:buSzTx/>
              <a:buFontTx/>
              <a:buNone/>
              <a:tabLst/>
              <a:defRPr/>
            </a:pPr>
            <a:r>
              <a:rPr kumimoji="0" lang="tr-TR" sz="1800" b="1" i="0" u="none" strike="noStrike" kern="1200" cap="none" spc="0" normalizeH="0" baseline="0" noProof="0">
                <a:ln>
                  <a:noFill/>
                </a:ln>
                <a:solidFill>
                  <a:prstClr val="white"/>
                </a:solidFill>
                <a:effectLst/>
                <a:uLnTx/>
                <a:uFillTx/>
                <a:latin typeface="Arial Narrow" pitchFamily="34" charset="0"/>
                <a:ea typeface="+mn-ea"/>
                <a:cs typeface="+mn-cs"/>
              </a:rPr>
              <a:t>Domestic rms voltage level in Turkey</a:t>
            </a:r>
            <a:endParaRPr kumimoji="0" lang="en-US" sz="1800" b="1" i="0" u="none" strike="noStrike" kern="1200" cap="none" spc="0" normalizeH="0" baseline="0" noProof="0">
              <a:ln>
                <a:noFill/>
              </a:ln>
              <a:solidFill>
                <a:prstClr val="white"/>
              </a:solidFill>
              <a:effectLst/>
              <a:uLnTx/>
              <a:uFillTx/>
              <a:latin typeface="Arial Narrow" pitchFamily="34" charset="0"/>
              <a:ea typeface="+mn-ea"/>
              <a:cs typeface="+mn-cs"/>
              <a:sym typeface="Symbol" pitchFamily="18" charset="2"/>
            </a:endParaRPr>
          </a:p>
        </p:txBody>
      </p:sp>
      <p:sp>
        <p:nvSpPr>
          <p:cNvPr id="124940" name="Line 79"/>
          <p:cNvSpPr>
            <a:spLocks noChangeShapeType="1"/>
          </p:cNvSpPr>
          <p:nvPr/>
        </p:nvSpPr>
        <p:spPr bwMode="auto">
          <a:xfrm>
            <a:off x="4694238" y="1790700"/>
            <a:ext cx="31750" cy="3175"/>
          </a:xfrm>
          <a:prstGeom prst="line">
            <a:avLst/>
          </a:prstGeom>
          <a:noFill/>
          <a:ln w="0">
            <a:no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41" name="Text Box 99"/>
          <p:cNvSpPr txBox="1">
            <a:spLocks noChangeArrowheads="1"/>
          </p:cNvSpPr>
          <p:nvPr/>
        </p:nvSpPr>
        <p:spPr bwMode="auto">
          <a:xfrm>
            <a:off x="4592638" y="2128838"/>
            <a:ext cx="393700" cy="276225"/>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prstClr val="black"/>
                </a:solidFill>
                <a:effectLst/>
                <a:uLnTx/>
                <a:uFillTx/>
                <a:latin typeface="Arial Narrow" pitchFamily="34" charset="0"/>
                <a:ea typeface="+mn-ea"/>
                <a:cs typeface="+mn-cs"/>
              </a:rPr>
              <a:t>312</a:t>
            </a:r>
            <a:endParaRPr kumimoji="0" lang="en-US" sz="1200" b="0" i="0" u="none" strike="noStrike" kern="1200" cap="none" spc="0" normalizeH="0" baseline="0" noProof="0">
              <a:ln>
                <a:noFill/>
              </a:ln>
              <a:solidFill>
                <a:prstClr val="black"/>
              </a:solidFill>
              <a:effectLst/>
              <a:uLnTx/>
              <a:uFillTx/>
              <a:latin typeface="Arial Narrow" pitchFamily="34" charset="0"/>
              <a:ea typeface="+mn-ea"/>
              <a:cs typeface="+mn-cs"/>
            </a:endParaRPr>
          </a:p>
        </p:txBody>
      </p:sp>
      <p:sp>
        <p:nvSpPr>
          <p:cNvPr id="124942" name="Text Box 100"/>
          <p:cNvSpPr txBox="1">
            <a:spLocks noChangeArrowheads="1"/>
          </p:cNvSpPr>
          <p:nvPr/>
        </p:nvSpPr>
        <p:spPr bwMode="auto">
          <a:xfrm>
            <a:off x="4521200" y="4552950"/>
            <a:ext cx="469900" cy="274638"/>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prstClr val="black"/>
                </a:solidFill>
                <a:effectLst/>
                <a:uLnTx/>
                <a:uFillTx/>
                <a:latin typeface="Arial Narrow" pitchFamily="34" charset="0"/>
                <a:ea typeface="+mn-ea"/>
                <a:cs typeface="+mn-cs"/>
              </a:rPr>
              <a:t>- 312</a:t>
            </a:r>
            <a:endParaRPr kumimoji="0" lang="en-US" sz="1200" b="0" i="0" u="none" strike="noStrike" kern="1200" cap="none" spc="0" normalizeH="0" baseline="0" noProof="0">
              <a:ln>
                <a:noFill/>
              </a:ln>
              <a:solidFill>
                <a:prstClr val="black"/>
              </a:solidFill>
              <a:effectLst/>
              <a:uLnTx/>
              <a:uFillTx/>
              <a:latin typeface="Arial Narrow" pitchFamily="34" charset="0"/>
              <a:ea typeface="+mn-ea"/>
              <a:cs typeface="+mn-cs"/>
            </a:endParaRPr>
          </a:p>
        </p:txBody>
      </p:sp>
      <p:sp>
        <p:nvSpPr>
          <p:cNvPr id="124943" name="Text Box 101"/>
          <p:cNvSpPr txBox="1">
            <a:spLocks noChangeArrowheads="1"/>
          </p:cNvSpPr>
          <p:nvPr/>
        </p:nvSpPr>
        <p:spPr bwMode="auto">
          <a:xfrm>
            <a:off x="4738688" y="3525838"/>
            <a:ext cx="254000" cy="276225"/>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prstClr val="black"/>
                </a:solidFill>
                <a:effectLst/>
                <a:uLnTx/>
                <a:uFillTx/>
                <a:latin typeface="Arial Narrow" pitchFamily="34" charset="0"/>
                <a:ea typeface="+mn-ea"/>
                <a:cs typeface="+mn-cs"/>
              </a:rPr>
              <a:t>0</a:t>
            </a:r>
            <a:endParaRPr kumimoji="0" lang="en-US" sz="1200" b="0" i="0" u="none" strike="noStrike" kern="1200" cap="none" spc="0" normalizeH="0" baseline="0" noProof="0">
              <a:ln>
                <a:noFill/>
              </a:ln>
              <a:solidFill>
                <a:prstClr val="black"/>
              </a:solidFill>
              <a:effectLst/>
              <a:uLnTx/>
              <a:uFillTx/>
              <a:latin typeface="Arial Narrow" pitchFamily="34" charset="0"/>
              <a:ea typeface="+mn-ea"/>
              <a:cs typeface="+mn-cs"/>
            </a:endParaRPr>
          </a:p>
        </p:txBody>
      </p:sp>
      <p:sp>
        <p:nvSpPr>
          <p:cNvPr id="124944" name="Text Box 103"/>
          <p:cNvSpPr txBox="1">
            <a:spLocks noChangeArrowheads="1"/>
          </p:cNvSpPr>
          <p:nvPr/>
        </p:nvSpPr>
        <p:spPr bwMode="auto">
          <a:xfrm>
            <a:off x="4848225" y="1654175"/>
            <a:ext cx="1208088" cy="304800"/>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400" b="0" i="0" u="none" strike="noStrike" kern="1200" cap="none" spc="0" normalizeH="0" baseline="0" noProof="0">
                <a:ln>
                  <a:noFill/>
                </a:ln>
                <a:solidFill>
                  <a:prstClr val="black"/>
                </a:solidFill>
                <a:effectLst/>
                <a:uLnTx/>
                <a:uFillTx/>
                <a:latin typeface="Arial Narrow" pitchFamily="34" charset="0"/>
                <a:ea typeface="+mn-ea"/>
                <a:cs typeface="+mn-cs"/>
              </a:rPr>
              <a:t>Voltage (Volts)</a:t>
            </a:r>
            <a:endParaRPr kumimoji="0" lang="en-US" sz="1400" b="0" i="0" u="none" strike="noStrike" kern="1200" cap="none" spc="0" normalizeH="0" baseline="0" noProof="0">
              <a:ln>
                <a:noFill/>
              </a:ln>
              <a:solidFill>
                <a:prstClr val="black"/>
              </a:solidFill>
              <a:effectLst/>
              <a:uLnTx/>
              <a:uFillTx/>
              <a:latin typeface="Arial Narrow" pitchFamily="34" charset="0"/>
              <a:ea typeface="+mn-ea"/>
              <a:cs typeface="+mn-cs"/>
            </a:endParaRPr>
          </a:p>
        </p:txBody>
      </p:sp>
      <p:sp>
        <p:nvSpPr>
          <p:cNvPr id="124945" name="Line 112"/>
          <p:cNvSpPr>
            <a:spLocks noChangeShapeType="1"/>
          </p:cNvSpPr>
          <p:nvPr/>
        </p:nvSpPr>
        <p:spPr bwMode="auto">
          <a:xfrm>
            <a:off x="0" y="0"/>
            <a:ext cx="914400" cy="0"/>
          </a:xfrm>
          <a:prstGeom prst="line">
            <a:avLst/>
          </a:prstGeom>
          <a:noFill/>
          <a:ln w="9525">
            <a:solidFill>
              <a:srgbClr val="FF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46" name="Rectangle 80"/>
          <p:cNvSpPr>
            <a:spLocks noChangeArrowheads="1"/>
          </p:cNvSpPr>
          <p:nvPr/>
        </p:nvSpPr>
        <p:spPr bwMode="auto">
          <a:xfrm>
            <a:off x="4946650" y="1984375"/>
            <a:ext cx="4175125" cy="3125788"/>
          </a:xfrm>
          <a:prstGeom prst="rect">
            <a:avLst/>
          </a:prstGeom>
          <a:solidFill>
            <a:srgbClr val="C0C0C0">
              <a:alpha val="65881"/>
            </a:srgbClr>
          </a:solidFill>
          <a:ln w="9525">
            <a:solidFill>
              <a:srgbClr val="808080"/>
            </a:solidFill>
            <a:miter lim="800000"/>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47" name="Line 113"/>
          <p:cNvSpPr>
            <a:spLocks noChangeShapeType="1"/>
          </p:cNvSpPr>
          <p:nvPr/>
        </p:nvSpPr>
        <p:spPr bwMode="auto">
          <a:xfrm>
            <a:off x="0" y="0"/>
            <a:ext cx="0" cy="914400"/>
          </a:xfrm>
          <a:prstGeom prst="line">
            <a:avLst/>
          </a:prstGeom>
          <a:noFill/>
          <a:ln w="9525">
            <a:solidFill>
              <a:srgbClr val="00FF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48" name="Line 81"/>
          <p:cNvSpPr>
            <a:spLocks noChangeShapeType="1"/>
          </p:cNvSpPr>
          <p:nvPr/>
        </p:nvSpPr>
        <p:spPr bwMode="auto">
          <a:xfrm>
            <a:off x="5440363" y="1984375"/>
            <a:ext cx="1587" cy="3125788"/>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49" name="Line 82"/>
          <p:cNvSpPr>
            <a:spLocks noChangeShapeType="1"/>
          </p:cNvSpPr>
          <p:nvPr/>
        </p:nvSpPr>
        <p:spPr bwMode="auto">
          <a:xfrm>
            <a:off x="6007100" y="1984375"/>
            <a:ext cx="1588" cy="3125788"/>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0" name="Line 83"/>
          <p:cNvSpPr>
            <a:spLocks noChangeShapeType="1"/>
          </p:cNvSpPr>
          <p:nvPr/>
        </p:nvSpPr>
        <p:spPr bwMode="auto">
          <a:xfrm>
            <a:off x="7043738" y="1984375"/>
            <a:ext cx="1587" cy="3125788"/>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1" name="Line 84"/>
          <p:cNvSpPr>
            <a:spLocks noChangeShapeType="1"/>
          </p:cNvSpPr>
          <p:nvPr/>
        </p:nvSpPr>
        <p:spPr bwMode="auto">
          <a:xfrm>
            <a:off x="7510463" y="1984375"/>
            <a:ext cx="1587" cy="3125788"/>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2" name="Line 85"/>
          <p:cNvSpPr>
            <a:spLocks noChangeShapeType="1"/>
          </p:cNvSpPr>
          <p:nvPr/>
        </p:nvSpPr>
        <p:spPr bwMode="auto">
          <a:xfrm>
            <a:off x="8066088" y="1984375"/>
            <a:ext cx="3175" cy="3125788"/>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3" name="Line 86"/>
          <p:cNvSpPr>
            <a:spLocks noChangeShapeType="1"/>
          </p:cNvSpPr>
          <p:nvPr/>
        </p:nvSpPr>
        <p:spPr bwMode="auto">
          <a:xfrm>
            <a:off x="9124950" y="1984375"/>
            <a:ext cx="1588" cy="3125788"/>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4" name="Line 88"/>
          <p:cNvSpPr>
            <a:spLocks noChangeShapeType="1"/>
          </p:cNvSpPr>
          <p:nvPr/>
        </p:nvSpPr>
        <p:spPr bwMode="auto">
          <a:xfrm>
            <a:off x="4946650" y="5110163"/>
            <a:ext cx="4152900" cy="1587"/>
          </a:xfrm>
          <a:prstGeom prst="line">
            <a:avLst/>
          </a:prstGeom>
          <a:noFill/>
          <a:ln w="0">
            <a:solidFill>
              <a:srgbClr val="969696"/>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5" name="Line 89"/>
          <p:cNvSpPr>
            <a:spLocks noChangeShapeType="1"/>
          </p:cNvSpPr>
          <p:nvPr/>
        </p:nvSpPr>
        <p:spPr bwMode="auto">
          <a:xfrm>
            <a:off x="4946650" y="4722813"/>
            <a:ext cx="4152900" cy="1587"/>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6" name="Line 90"/>
          <p:cNvSpPr>
            <a:spLocks noChangeShapeType="1"/>
          </p:cNvSpPr>
          <p:nvPr/>
        </p:nvSpPr>
        <p:spPr bwMode="auto">
          <a:xfrm>
            <a:off x="4946650" y="4333875"/>
            <a:ext cx="4152900" cy="0"/>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7" name="Line 91"/>
          <p:cNvSpPr>
            <a:spLocks noChangeShapeType="1"/>
          </p:cNvSpPr>
          <p:nvPr/>
        </p:nvSpPr>
        <p:spPr bwMode="auto">
          <a:xfrm>
            <a:off x="4976813" y="3989388"/>
            <a:ext cx="4149725" cy="1587"/>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8" name="Line 92"/>
          <p:cNvSpPr>
            <a:spLocks noChangeShapeType="1"/>
          </p:cNvSpPr>
          <p:nvPr/>
        </p:nvSpPr>
        <p:spPr bwMode="auto">
          <a:xfrm>
            <a:off x="4946650" y="3159125"/>
            <a:ext cx="4152900" cy="1588"/>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59" name="Line 93"/>
          <p:cNvSpPr>
            <a:spLocks noChangeShapeType="1"/>
          </p:cNvSpPr>
          <p:nvPr/>
        </p:nvSpPr>
        <p:spPr bwMode="auto">
          <a:xfrm>
            <a:off x="4946650" y="2770188"/>
            <a:ext cx="4152900" cy="1587"/>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60" name="Line 94"/>
          <p:cNvSpPr>
            <a:spLocks noChangeShapeType="1"/>
          </p:cNvSpPr>
          <p:nvPr/>
        </p:nvSpPr>
        <p:spPr bwMode="auto">
          <a:xfrm>
            <a:off x="4946650" y="2371725"/>
            <a:ext cx="4152900" cy="1588"/>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61" name="Line 95"/>
          <p:cNvSpPr>
            <a:spLocks noChangeShapeType="1"/>
          </p:cNvSpPr>
          <p:nvPr/>
        </p:nvSpPr>
        <p:spPr bwMode="auto">
          <a:xfrm>
            <a:off x="4946650" y="1984375"/>
            <a:ext cx="4152900" cy="0"/>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62" name="Line 96"/>
          <p:cNvSpPr>
            <a:spLocks noChangeShapeType="1"/>
          </p:cNvSpPr>
          <p:nvPr/>
        </p:nvSpPr>
        <p:spPr bwMode="auto">
          <a:xfrm>
            <a:off x="4946650" y="3546475"/>
            <a:ext cx="4152900" cy="1588"/>
          </a:xfrm>
          <a:prstGeom prst="line">
            <a:avLst/>
          </a:prstGeom>
          <a:noFill/>
          <a:ln w="15875">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63" name="Freeform 97"/>
          <p:cNvSpPr>
            <a:spLocks/>
          </p:cNvSpPr>
          <p:nvPr/>
        </p:nvSpPr>
        <p:spPr bwMode="auto">
          <a:xfrm>
            <a:off x="4946650" y="2286000"/>
            <a:ext cx="4197350" cy="2436813"/>
          </a:xfrm>
          <a:custGeom>
            <a:avLst/>
            <a:gdLst>
              <a:gd name="T0" fmla="*/ 2147483647 w 494"/>
              <a:gd name="T1" fmla="*/ 2147483647 h 242"/>
              <a:gd name="T2" fmla="*/ 2147483647 w 494"/>
              <a:gd name="T3" fmla="*/ 2147483647 h 242"/>
              <a:gd name="T4" fmla="*/ 2147483647 w 494"/>
              <a:gd name="T5" fmla="*/ 2147483647 h 242"/>
              <a:gd name="T6" fmla="*/ 2147483647 w 494"/>
              <a:gd name="T7" fmla="*/ 2147483647 h 242"/>
              <a:gd name="T8" fmla="*/ 2147483647 w 494"/>
              <a:gd name="T9" fmla="*/ 2147483647 h 242"/>
              <a:gd name="T10" fmla="*/ 2147483647 w 494"/>
              <a:gd name="T11" fmla="*/ 2147483647 h 242"/>
              <a:gd name="T12" fmla="*/ 2147483647 w 494"/>
              <a:gd name="T13" fmla="*/ 2147483647 h 242"/>
              <a:gd name="T14" fmla="*/ 2147483647 w 494"/>
              <a:gd name="T15" fmla="*/ 2147483647 h 242"/>
              <a:gd name="T16" fmla="*/ 2147483647 w 494"/>
              <a:gd name="T17" fmla="*/ 2147483647 h 242"/>
              <a:gd name="T18" fmla="*/ 2147483647 w 494"/>
              <a:gd name="T19" fmla="*/ 2147483647 h 242"/>
              <a:gd name="T20" fmla="*/ 2147483647 w 494"/>
              <a:gd name="T21" fmla="*/ 2147483647 h 242"/>
              <a:gd name="T22" fmla="*/ 2147483647 w 494"/>
              <a:gd name="T23" fmla="*/ 2147483647 h 242"/>
              <a:gd name="T24" fmla="*/ 2147483647 w 494"/>
              <a:gd name="T25" fmla="*/ 0 h 242"/>
              <a:gd name="T26" fmla="*/ 2147483647 w 494"/>
              <a:gd name="T27" fmla="*/ 2147483647 h 242"/>
              <a:gd name="T28" fmla="*/ 2147483647 w 494"/>
              <a:gd name="T29" fmla="*/ 2147483647 h 242"/>
              <a:gd name="T30" fmla="*/ 2147483647 w 494"/>
              <a:gd name="T31" fmla="*/ 2147483647 h 242"/>
              <a:gd name="T32" fmla="*/ 2147483647 w 494"/>
              <a:gd name="T33" fmla="*/ 2147483647 h 242"/>
              <a:gd name="T34" fmla="*/ 2147483647 w 494"/>
              <a:gd name="T35" fmla="*/ 2147483647 h 242"/>
              <a:gd name="T36" fmla="*/ 2147483647 w 494"/>
              <a:gd name="T37" fmla="*/ 2147483647 h 242"/>
              <a:gd name="T38" fmla="*/ 2147483647 w 494"/>
              <a:gd name="T39" fmla="*/ 2147483647 h 242"/>
              <a:gd name="T40" fmla="*/ 2147483647 w 494"/>
              <a:gd name="T41" fmla="*/ 2147483647 h 242"/>
              <a:gd name="T42" fmla="*/ 2147483647 w 494"/>
              <a:gd name="T43" fmla="*/ 2147483647 h 242"/>
              <a:gd name="T44" fmla="*/ 2147483647 w 494"/>
              <a:gd name="T45" fmla="*/ 2147483647 h 242"/>
              <a:gd name="T46" fmla="*/ 2147483647 w 494"/>
              <a:gd name="T47" fmla="*/ 2147483647 h 242"/>
              <a:gd name="T48" fmla="*/ 2147483647 w 494"/>
              <a:gd name="T49" fmla="*/ 2147483647 h 242"/>
              <a:gd name="T50" fmla="*/ 2147483647 w 494"/>
              <a:gd name="T51" fmla="*/ 2147483647 h 242"/>
              <a:gd name="T52" fmla="*/ 2147483647 w 494"/>
              <a:gd name="T53" fmla="*/ 2147483647 h 242"/>
              <a:gd name="T54" fmla="*/ 2147483647 w 494"/>
              <a:gd name="T55" fmla="*/ 2147483647 h 242"/>
              <a:gd name="T56" fmla="*/ 2147483647 w 494"/>
              <a:gd name="T57" fmla="*/ 2147483647 h 242"/>
              <a:gd name="T58" fmla="*/ 2147483647 w 494"/>
              <a:gd name="T59" fmla="*/ 2147483647 h 242"/>
              <a:gd name="T60" fmla="*/ 2147483647 w 494"/>
              <a:gd name="T61" fmla="*/ 2147483647 h 242"/>
              <a:gd name="T62" fmla="*/ 2147483647 w 494"/>
              <a:gd name="T63" fmla="*/ 2147483647 h 242"/>
              <a:gd name="T64" fmla="*/ 2147483647 w 494"/>
              <a:gd name="T65" fmla="*/ 2147483647 h 242"/>
              <a:gd name="T66" fmla="*/ 2147483647 w 494"/>
              <a:gd name="T67" fmla="*/ 2147483647 h 242"/>
              <a:gd name="T68" fmla="*/ 2147483647 w 494"/>
              <a:gd name="T69" fmla="*/ 2147483647 h 242"/>
              <a:gd name="T70" fmla="*/ 2147483647 w 494"/>
              <a:gd name="T71" fmla="*/ 2147483647 h 242"/>
              <a:gd name="T72" fmla="*/ 2147483647 w 494"/>
              <a:gd name="T73" fmla="*/ 2147483647 h 242"/>
              <a:gd name="T74" fmla="*/ 2147483647 w 494"/>
              <a:gd name="T75" fmla="*/ 2147483647 h 242"/>
              <a:gd name="T76" fmla="*/ 2147483647 w 494"/>
              <a:gd name="T77" fmla="*/ 2147483647 h 242"/>
              <a:gd name="T78" fmla="*/ 2147483647 w 494"/>
              <a:gd name="T79" fmla="*/ 2147483647 h 242"/>
              <a:gd name="T80" fmla="*/ 2147483647 w 494"/>
              <a:gd name="T81" fmla="*/ 2147483647 h 242"/>
              <a:gd name="T82" fmla="*/ 2147483647 w 494"/>
              <a:gd name="T83" fmla="*/ 2147483647 h 242"/>
              <a:gd name="T84" fmla="*/ 2147483647 w 494"/>
              <a:gd name="T85" fmla="*/ 2147483647 h 242"/>
              <a:gd name="T86" fmla="*/ 2147483647 w 494"/>
              <a:gd name="T87" fmla="*/ 2147483647 h 242"/>
              <a:gd name="T88" fmla="*/ 2147483647 w 494"/>
              <a:gd name="T89" fmla="*/ 2147483647 h 242"/>
              <a:gd name="T90" fmla="*/ 2147483647 w 494"/>
              <a:gd name="T91" fmla="*/ 2147483647 h 242"/>
              <a:gd name="T92" fmla="*/ 2147483647 w 494"/>
              <a:gd name="T93" fmla="*/ 2147483647 h 242"/>
              <a:gd name="T94" fmla="*/ 2147483647 w 494"/>
              <a:gd name="T95" fmla="*/ 2147483647 h 242"/>
              <a:gd name="T96" fmla="*/ 2147483647 w 494"/>
              <a:gd name="T97" fmla="*/ 2147483647 h 242"/>
              <a:gd name="T98" fmla="*/ 2147483647 w 494"/>
              <a:gd name="T99" fmla="*/ 2147483647 h 24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94"/>
              <a:gd name="T151" fmla="*/ 0 h 242"/>
              <a:gd name="T152" fmla="*/ 494 w 494"/>
              <a:gd name="T153" fmla="*/ 242 h 24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94" h="242">
                <a:moveTo>
                  <a:pt x="0" y="121"/>
                </a:moveTo>
                <a:lnTo>
                  <a:pt x="5" y="114"/>
                </a:lnTo>
                <a:lnTo>
                  <a:pt x="10" y="106"/>
                </a:lnTo>
                <a:lnTo>
                  <a:pt x="15" y="99"/>
                </a:lnTo>
                <a:lnTo>
                  <a:pt x="20" y="91"/>
                </a:lnTo>
                <a:lnTo>
                  <a:pt x="25" y="84"/>
                </a:lnTo>
                <a:lnTo>
                  <a:pt x="30" y="77"/>
                </a:lnTo>
                <a:lnTo>
                  <a:pt x="35" y="70"/>
                </a:lnTo>
                <a:lnTo>
                  <a:pt x="39" y="63"/>
                </a:lnTo>
                <a:lnTo>
                  <a:pt x="44" y="56"/>
                </a:lnTo>
                <a:lnTo>
                  <a:pt x="49" y="50"/>
                </a:lnTo>
                <a:lnTo>
                  <a:pt x="54" y="44"/>
                </a:lnTo>
                <a:lnTo>
                  <a:pt x="59" y="39"/>
                </a:lnTo>
                <a:lnTo>
                  <a:pt x="64" y="33"/>
                </a:lnTo>
                <a:lnTo>
                  <a:pt x="69" y="28"/>
                </a:lnTo>
                <a:lnTo>
                  <a:pt x="74" y="23"/>
                </a:lnTo>
                <a:lnTo>
                  <a:pt x="79" y="19"/>
                </a:lnTo>
                <a:lnTo>
                  <a:pt x="84" y="15"/>
                </a:lnTo>
                <a:lnTo>
                  <a:pt x="89" y="12"/>
                </a:lnTo>
                <a:lnTo>
                  <a:pt x="94" y="9"/>
                </a:lnTo>
                <a:lnTo>
                  <a:pt x="99" y="6"/>
                </a:lnTo>
                <a:lnTo>
                  <a:pt x="104" y="4"/>
                </a:lnTo>
                <a:lnTo>
                  <a:pt x="109" y="3"/>
                </a:lnTo>
                <a:lnTo>
                  <a:pt x="114" y="1"/>
                </a:lnTo>
                <a:lnTo>
                  <a:pt x="118" y="1"/>
                </a:lnTo>
                <a:lnTo>
                  <a:pt x="123" y="0"/>
                </a:lnTo>
                <a:lnTo>
                  <a:pt x="128" y="1"/>
                </a:lnTo>
                <a:lnTo>
                  <a:pt x="133" y="1"/>
                </a:lnTo>
                <a:lnTo>
                  <a:pt x="138" y="3"/>
                </a:lnTo>
                <a:lnTo>
                  <a:pt x="143" y="4"/>
                </a:lnTo>
                <a:lnTo>
                  <a:pt x="148" y="6"/>
                </a:lnTo>
                <a:lnTo>
                  <a:pt x="153" y="9"/>
                </a:lnTo>
                <a:lnTo>
                  <a:pt x="158" y="12"/>
                </a:lnTo>
                <a:lnTo>
                  <a:pt x="163" y="15"/>
                </a:lnTo>
                <a:lnTo>
                  <a:pt x="168" y="19"/>
                </a:lnTo>
                <a:lnTo>
                  <a:pt x="173" y="23"/>
                </a:lnTo>
                <a:lnTo>
                  <a:pt x="178" y="28"/>
                </a:lnTo>
                <a:lnTo>
                  <a:pt x="183" y="33"/>
                </a:lnTo>
                <a:lnTo>
                  <a:pt x="188" y="39"/>
                </a:lnTo>
                <a:lnTo>
                  <a:pt x="193" y="44"/>
                </a:lnTo>
                <a:lnTo>
                  <a:pt x="197" y="50"/>
                </a:lnTo>
                <a:lnTo>
                  <a:pt x="202" y="56"/>
                </a:lnTo>
                <a:lnTo>
                  <a:pt x="207" y="63"/>
                </a:lnTo>
                <a:lnTo>
                  <a:pt x="212" y="70"/>
                </a:lnTo>
                <a:lnTo>
                  <a:pt x="217" y="77"/>
                </a:lnTo>
                <a:lnTo>
                  <a:pt x="222" y="84"/>
                </a:lnTo>
                <a:lnTo>
                  <a:pt x="227" y="91"/>
                </a:lnTo>
                <a:lnTo>
                  <a:pt x="232" y="99"/>
                </a:lnTo>
                <a:lnTo>
                  <a:pt x="237" y="106"/>
                </a:lnTo>
                <a:lnTo>
                  <a:pt x="242" y="114"/>
                </a:lnTo>
                <a:lnTo>
                  <a:pt x="247" y="121"/>
                </a:lnTo>
                <a:lnTo>
                  <a:pt x="252" y="129"/>
                </a:lnTo>
                <a:lnTo>
                  <a:pt x="257" y="136"/>
                </a:lnTo>
                <a:lnTo>
                  <a:pt x="262" y="144"/>
                </a:lnTo>
                <a:lnTo>
                  <a:pt x="267" y="151"/>
                </a:lnTo>
                <a:lnTo>
                  <a:pt x="272" y="158"/>
                </a:lnTo>
                <a:lnTo>
                  <a:pt x="276" y="166"/>
                </a:lnTo>
                <a:lnTo>
                  <a:pt x="281" y="172"/>
                </a:lnTo>
                <a:lnTo>
                  <a:pt x="286" y="179"/>
                </a:lnTo>
                <a:lnTo>
                  <a:pt x="291" y="186"/>
                </a:lnTo>
                <a:lnTo>
                  <a:pt x="296" y="192"/>
                </a:lnTo>
                <a:lnTo>
                  <a:pt x="301" y="198"/>
                </a:lnTo>
                <a:lnTo>
                  <a:pt x="306" y="204"/>
                </a:lnTo>
                <a:lnTo>
                  <a:pt x="311" y="209"/>
                </a:lnTo>
                <a:lnTo>
                  <a:pt x="316" y="214"/>
                </a:lnTo>
                <a:lnTo>
                  <a:pt x="321" y="219"/>
                </a:lnTo>
                <a:lnTo>
                  <a:pt x="326" y="223"/>
                </a:lnTo>
                <a:lnTo>
                  <a:pt x="331" y="227"/>
                </a:lnTo>
                <a:lnTo>
                  <a:pt x="336" y="230"/>
                </a:lnTo>
                <a:lnTo>
                  <a:pt x="341" y="233"/>
                </a:lnTo>
                <a:lnTo>
                  <a:pt x="346" y="236"/>
                </a:lnTo>
                <a:lnTo>
                  <a:pt x="351" y="238"/>
                </a:lnTo>
                <a:lnTo>
                  <a:pt x="355" y="240"/>
                </a:lnTo>
                <a:lnTo>
                  <a:pt x="360" y="241"/>
                </a:lnTo>
                <a:lnTo>
                  <a:pt x="365" y="242"/>
                </a:lnTo>
                <a:lnTo>
                  <a:pt x="370" y="242"/>
                </a:lnTo>
                <a:lnTo>
                  <a:pt x="375" y="242"/>
                </a:lnTo>
                <a:lnTo>
                  <a:pt x="380" y="241"/>
                </a:lnTo>
                <a:lnTo>
                  <a:pt x="385" y="240"/>
                </a:lnTo>
                <a:lnTo>
                  <a:pt x="390" y="238"/>
                </a:lnTo>
                <a:lnTo>
                  <a:pt x="395" y="236"/>
                </a:lnTo>
                <a:lnTo>
                  <a:pt x="400" y="233"/>
                </a:lnTo>
                <a:lnTo>
                  <a:pt x="405" y="230"/>
                </a:lnTo>
                <a:lnTo>
                  <a:pt x="410" y="227"/>
                </a:lnTo>
                <a:lnTo>
                  <a:pt x="415" y="223"/>
                </a:lnTo>
                <a:lnTo>
                  <a:pt x="420" y="219"/>
                </a:lnTo>
                <a:lnTo>
                  <a:pt x="425" y="214"/>
                </a:lnTo>
                <a:lnTo>
                  <a:pt x="430" y="209"/>
                </a:lnTo>
                <a:lnTo>
                  <a:pt x="434" y="204"/>
                </a:lnTo>
                <a:lnTo>
                  <a:pt x="439" y="198"/>
                </a:lnTo>
                <a:lnTo>
                  <a:pt x="444" y="192"/>
                </a:lnTo>
                <a:lnTo>
                  <a:pt x="449" y="186"/>
                </a:lnTo>
                <a:lnTo>
                  <a:pt x="454" y="179"/>
                </a:lnTo>
                <a:lnTo>
                  <a:pt x="459" y="172"/>
                </a:lnTo>
                <a:lnTo>
                  <a:pt x="464" y="166"/>
                </a:lnTo>
                <a:lnTo>
                  <a:pt x="469" y="158"/>
                </a:lnTo>
                <a:lnTo>
                  <a:pt x="474" y="151"/>
                </a:lnTo>
                <a:lnTo>
                  <a:pt x="479" y="144"/>
                </a:lnTo>
                <a:lnTo>
                  <a:pt x="484" y="136"/>
                </a:lnTo>
                <a:lnTo>
                  <a:pt x="489" y="129"/>
                </a:lnTo>
                <a:lnTo>
                  <a:pt x="494" y="121"/>
                </a:lnTo>
              </a:path>
            </a:pathLst>
          </a:custGeom>
          <a:noFill/>
          <a:ln w="25400">
            <a:solidFill>
              <a:srgbClr val="CC33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64" name="Rectangle 98"/>
          <p:cNvSpPr>
            <a:spLocks noChangeArrowheads="1"/>
          </p:cNvSpPr>
          <p:nvPr/>
        </p:nvSpPr>
        <p:spPr bwMode="auto">
          <a:xfrm>
            <a:off x="6878638" y="3533775"/>
            <a:ext cx="173037" cy="214313"/>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Narrow" pitchFamily="34" charset="0"/>
                <a:ea typeface="+mn-ea"/>
                <a:cs typeface="+mn-cs"/>
                <a:sym typeface="Symbol" pitchFamily="18" charset="2"/>
              </a:rPr>
              <a:t></a:t>
            </a:r>
            <a:endParaRPr kumimoji="0" lang="en-US" sz="1400" b="0" i="0" u="none" strike="noStrike" kern="1200" cap="none" spc="0" normalizeH="0" baseline="0" noProof="0">
              <a:ln>
                <a:noFill/>
              </a:ln>
              <a:solidFill>
                <a:prstClr val="black"/>
              </a:solidFill>
              <a:effectLst/>
              <a:uLnTx/>
              <a:uFillTx/>
              <a:latin typeface="Arial Narrow" pitchFamily="34" charset="0"/>
              <a:ea typeface="+mn-ea"/>
              <a:cs typeface="+mn-cs"/>
              <a:sym typeface="Symbol" pitchFamily="18" charset="2"/>
            </a:endParaRPr>
          </a:p>
        </p:txBody>
      </p:sp>
      <p:sp>
        <p:nvSpPr>
          <p:cNvPr id="124965" name="Text Box 102"/>
          <p:cNvSpPr txBox="1">
            <a:spLocks noChangeArrowheads="1"/>
          </p:cNvSpPr>
          <p:nvPr/>
        </p:nvSpPr>
        <p:spPr bwMode="auto">
          <a:xfrm>
            <a:off x="8027988" y="3240088"/>
            <a:ext cx="1136650" cy="274637"/>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prstClr val="black"/>
                </a:solidFill>
                <a:effectLst/>
                <a:uLnTx/>
                <a:uFillTx/>
                <a:latin typeface="Arial Narrow" pitchFamily="34" charset="0"/>
                <a:ea typeface="+mn-ea"/>
                <a:cs typeface="+mn-cs"/>
              </a:rPr>
              <a:t>Angle (Radians)</a:t>
            </a:r>
            <a:endParaRPr kumimoji="0" lang="en-US" sz="1200" b="0" i="0" u="none" strike="noStrike" kern="1200" cap="none" spc="0" normalizeH="0" baseline="0" noProof="0">
              <a:ln>
                <a:noFill/>
              </a:ln>
              <a:solidFill>
                <a:prstClr val="black"/>
              </a:solidFill>
              <a:effectLst/>
              <a:uLnTx/>
              <a:uFillTx/>
              <a:latin typeface="Arial Narrow" pitchFamily="34" charset="0"/>
              <a:ea typeface="+mn-ea"/>
              <a:cs typeface="+mn-cs"/>
            </a:endParaRPr>
          </a:p>
        </p:txBody>
      </p:sp>
      <p:sp>
        <p:nvSpPr>
          <p:cNvPr id="124966" name="Line 104"/>
          <p:cNvSpPr>
            <a:spLocks noChangeShapeType="1"/>
          </p:cNvSpPr>
          <p:nvPr/>
        </p:nvSpPr>
        <p:spPr bwMode="auto">
          <a:xfrm>
            <a:off x="6513513" y="1963738"/>
            <a:ext cx="1587" cy="3125787"/>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67" name="Line 105"/>
          <p:cNvSpPr>
            <a:spLocks noChangeShapeType="1"/>
          </p:cNvSpPr>
          <p:nvPr/>
        </p:nvSpPr>
        <p:spPr bwMode="auto">
          <a:xfrm>
            <a:off x="8594725" y="1995488"/>
            <a:ext cx="1588" cy="3125787"/>
          </a:xfrm>
          <a:prstGeom prst="line">
            <a:avLst/>
          </a:prstGeom>
          <a:noFill/>
          <a:ln w="0">
            <a:solidFill>
              <a:srgbClr val="80808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68" name="Rectangle 106"/>
          <p:cNvSpPr>
            <a:spLocks noChangeArrowheads="1"/>
          </p:cNvSpPr>
          <p:nvPr/>
        </p:nvSpPr>
        <p:spPr bwMode="auto">
          <a:xfrm>
            <a:off x="5729288" y="3560763"/>
            <a:ext cx="328612" cy="211137"/>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Narrow" pitchFamily="34" charset="0"/>
                <a:ea typeface="+mn-ea"/>
                <a:cs typeface="+mn-cs"/>
                <a:sym typeface="Symbol" pitchFamily="18" charset="2"/>
              </a:rPr>
              <a:t></a:t>
            </a:r>
            <a:r>
              <a:rPr kumimoji="0" lang="tr-TR" sz="1200" b="0" i="0" u="none" strike="noStrike" kern="1200" cap="none" spc="0" normalizeH="0" baseline="0" noProof="0">
                <a:ln>
                  <a:noFill/>
                </a:ln>
                <a:solidFill>
                  <a:srgbClr val="000000"/>
                </a:solidFill>
                <a:effectLst/>
                <a:uLnTx/>
                <a:uFillTx/>
                <a:latin typeface="Arial Narrow" pitchFamily="34" charset="0"/>
                <a:ea typeface="+mn-ea"/>
                <a:cs typeface="+mn-cs"/>
                <a:sym typeface="Symbol" pitchFamily="18" charset="2"/>
              </a:rPr>
              <a:t>/2</a:t>
            </a:r>
            <a:endParaRPr kumimoji="0" lang="en-US" sz="1200" b="0" i="0" u="none" strike="noStrike" kern="1200" cap="none" spc="0" normalizeH="0" baseline="0" noProof="0">
              <a:ln>
                <a:noFill/>
              </a:ln>
              <a:solidFill>
                <a:prstClr val="black"/>
              </a:solidFill>
              <a:effectLst/>
              <a:uLnTx/>
              <a:uFillTx/>
              <a:latin typeface="Arial Narrow" pitchFamily="34" charset="0"/>
              <a:ea typeface="+mn-ea"/>
              <a:cs typeface="+mn-cs"/>
              <a:sym typeface="Symbol" pitchFamily="18" charset="2"/>
            </a:endParaRPr>
          </a:p>
        </p:txBody>
      </p:sp>
      <p:sp>
        <p:nvSpPr>
          <p:cNvPr id="124969" name="Rectangle 107"/>
          <p:cNvSpPr>
            <a:spLocks noChangeArrowheads="1"/>
          </p:cNvSpPr>
          <p:nvPr/>
        </p:nvSpPr>
        <p:spPr bwMode="auto">
          <a:xfrm>
            <a:off x="7758113" y="3560763"/>
            <a:ext cx="385762" cy="211137"/>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srgbClr val="000000"/>
                </a:solidFill>
                <a:effectLst/>
                <a:uLnTx/>
                <a:uFillTx/>
                <a:latin typeface="Arial Narrow" pitchFamily="34" charset="0"/>
                <a:ea typeface="+mn-ea"/>
                <a:cs typeface="+mn-cs"/>
              </a:rPr>
              <a:t>3</a:t>
            </a:r>
            <a:r>
              <a:rPr kumimoji="0" lang="en-US" sz="1400" b="0" i="0" u="none" strike="noStrike" kern="1200" cap="none" spc="0" normalizeH="0" baseline="0" noProof="0">
                <a:ln>
                  <a:noFill/>
                </a:ln>
                <a:solidFill>
                  <a:srgbClr val="000000"/>
                </a:solidFill>
                <a:effectLst/>
                <a:uLnTx/>
                <a:uFillTx/>
                <a:latin typeface="Arial Narrow" pitchFamily="34" charset="0"/>
                <a:ea typeface="+mn-ea"/>
                <a:cs typeface="+mn-cs"/>
                <a:sym typeface="Symbol" pitchFamily="18" charset="2"/>
              </a:rPr>
              <a:t></a:t>
            </a:r>
            <a:r>
              <a:rPr kumimoji="0" lang="tr-TR" sz="1200" b="0" i="0" u="none" strike="noStrike" kern="1200" cap="none" spc="0" normalizeH="0" baseline="0" noProof="0">
                <a:ln>
                  <a:noFill/>
                </a:ln>
                <a:solidFill>
                  <a:srgbClr val="000000"/>
                </a:solidFill>
                <a:effectLst/>
                <a:uLnTx/>
                <a:uFillTx/>
                <a:latin typeface="Arial Narrow" pitchFamily="34" charset="0"/>
                <a:ea typeface="+mn-ea"/>
                <a:cs typeface="+mn-cs"/>
                <a:sym typeface="Symbol" pitchFamily="18" charset="2"/>
              </a:rPr>
              <a:t>/2</a:t>
            </a:r>
            <a:endParaRPr kumimoji="0" lang="en-US" sz="1200" b="0" i="0" u="none" strike="noStrike" kern="1200" cap="none" spc="0" normalizeH="0" baseline="0" noProof="0">
              <a:ln>
                <a:noFill/>
              </a:ln>
              <a:solidFill>
                <a:prstClr val="black"/>
              </a:solidFill>
              <a:effectLst/>
              <a:uLnTx/>
              <a:uFillTx/>
              <a:latin typeface="Arial Narrow" pitchFamily="34" charset="0"/>
              <a:ea typeface="+mn-ea"/>
              <a:cs typeface="+mn-cs"/>
              <a:sym typeface="Symbol" pitchFamily="18" charset="2"/>
            </a:endParaRPr>
          </a:p>
        </p:txBody>
      </p:sp>
      <p:sp>
        <p:nvSpPr>
          <p:cNvPr id="124970" name="Rectangle 108"/>
          <p:cNvSpPr>
            <a:spLocks noChangeArrowheads="1"/>
          </p:cNvSpPr>
          <p:nvPr/>
        </p:nvSpPr>
        <p:spPr bwMode="auto">
          <a:xfrm>
            <a:off x="8801100" y="3551238"/>
            <a:ext cx="274638" cy="211137"/>
          </a:xfrm>
          <a:prstGeom prst="rect">
            <a:avLst/>
          </a:prstGeom>
          <a:noFill/>
          <a:ln w="9525">
            <a:noFill/>
            <a:miter lim="800000"/>
            <a:headEnd/>
            <a:tailEnd/>
          </a:ln>
        </p:spPr>
        <p:txBody>
          <a:bodyPr lIns="0" tIns="0" rIns="0" bIns="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Narrow" pitchFamily="34" charset="0"/>
                <a:ea typeface="+mn-ea"/>
                <a:cs typeface="+mn-cs"/>
              </a:rPr>
              <a:t>2</a:t>
            </a:r>
            <a:r>
              <a:rPr kumimoji="0" lang="en-US" sz="1400" b="0" i="0" u="none" strike="noStrike" kern="1200" cap="none" spc="0" normalizeH="0" baseline="0" noProof="0">
                <a:ln>
                  <a:noFill/>
                </a:ln>
                <a:solidFill>
                  <a:srgbClr val="000000"/>
                </a:solidFill>
                <a:effectLst/>
                <a:uLnTx/>
                <a:uFillTx/>
                <a:latin typeface="Arial Narrow" pitchFamily="34" charset="0"/>
                <a:ea typeface="+mn-ea"/>
                <a:cs typeface="+mn-cs"/>
                <a:sym typeface="Symbol" pitchFamily="18" charset="2"/>
              </a:rPr>
              <a:t></a:t>
            </a:r>
            <a:endParaRPr kumimoji="0" lang="en-US" sz="1400" b="0" i="0" u="none" strike="noStrike" kern="1200" cap="none" spc="0" normalizeH="0" baseline="0" noProof="0">
              <a:ln>
                <a:noFill/>
              </a:ln>
              <a:solidFill>
                <a:prstClr val="black"/>
              </a:solidFill>
              <a:effectLst/>
              <a:uLnTx/>
              <a:uFillTx/>
              <a:latin typeface="Arial Narrow" pitchFamily="34" charset="0"/>
              <a:ea typeface="+mn-ea"/>
              <a:cs typeface="+mn-cs"/>
              <a:sym typeface="Symbol" pitchFamily="18" charset="2"/>
            </a:endParaRPr>
          </a:p>
        </p:txBody>
      </p:sp>
      <p:sp>
        <p:nvSpPr>
          <p:cNvPr id="124971" name="Line 114"/>
          <p:cNvSpPr>
            <a:spLocks noChangeShapeType="1"/>
          </p:cNvSpPr>
          <p:nvPr/>
        </p:nvSpPr>
        <p:spPr bwMode="auto">
          <a:xfrm flipV="1">
            <a:off x="4951413" y="2674938"/>
            <a:ext cx="4192587" cy="9525"/>
          </a:xfrm>
          <a:prstGeom prst="line">
            <a:avLst/>
          </a:prstGeom>
          <a:noFill/>
          <a:ln w="19050">
            <a:solidFill>
              <a:srgbClr val="000066"/>
            </a:solidFill>
            <a:prstDash val="sysDot"/>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72" name="Line 115"/>
          <p:cNvSpPr>
            <a:spLocks noChangeShapeType="1"/>
          </p:cNvSpPr>
          <p:nvPr/>
        </p:nvSpPr>
        <p:spPr bwMode="auto">
          <a:xfrm rot="10800000" flipH="1">
            <a:off x="6240463" y="2690813"/>
            <a:ext cx="9525" cy="862012"/>
          </a:xfrm>
          <a:prstGeom prst="line">
            <a:avLst/>
          </a:prstGeom>
          <a:noFill/>
          <a:ln w="19050">
            <a:solidFill>
              <a:srgbClr val="000066"/>
            </a:solidFill>
            <a:prstDash val="sysDot"/>
            <a:round/>
            <a:headEnd type="triangle" w="med" len="me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73" name="Line 117"/>
          <p:cNvSpPr>
            <a:spLocks noChangeShapeType="1"/>
          </p:cNvSpPr>
          <p:nvPr/>
        </p:nvSpPr>
        <p:spPr bwMode="auto">
          <a:xfrm rot="16200000" flipH="1">
            <a:off x="6831013" y="2482850"/>
            <a:ext cx="9525" cy="1069975"/>
          </a:xfrm>
          <a:prstGeom prst="line">
            <a:avLst/>
          </a:prstGeom>
          <a:noFill/>
          <a:ln w="19050">
            <a:solidFill>
              <a:srgbClr val="000066"/>
            </a:solidFill>
            <a:prstDash val="sysDot"/>
            <a:round/>
            <a:headEnd type="triangle" w="med" len="med"/>
            <a:tailEnd type="triangle" w="med" len="me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74" name="Text Box 118"/>
          <p:cNvSpPr txBox="1">
            <a:spLocks noChangeArrowheads="1"/>
          </p:cNvSpPr>
          <p:nvPr/>
        </p:nvSpPr>
        <p:spPr bwMode="auto">
          <a:xfrm>
            <a:off x="4603750" y="2487613"/>
            <a:ext cx="393700" cy="274637"/>
          </a:xfrm>
          <a:prstGeom prst="rect">
            <a:avLst/>
          </a:prstGeom>
          <a:noFill/>
          <a:ln w="9525">
            <a:noFill/>
            <a:miter lim="800000"/>
            <a:headEnd/>
            <a:tailEnd/>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tr-TR" sz="1200" b="0" i="0" u="none" strike="noStrike" kern="1200" cap="none" spc="0" normalizeH="0" baseline="0" noProof="0">
                <a:ln>
                  <a:noFill/>
                </a:ln>
                <a:solidFill>
                  <a:srgbClr val="000066"/>
                </a:solidFill>
                <a:effectLst/>
                <a:uLnTx/>
                <a:uFillTx/>
                <a:latin typeface="Arial Narrow" pitchFamily="34" charset="0"/>
                <a:ea typeface="+mn-ea"/>
                <a:cs typeface="+mn-cs"/>
              </a:rPr>
              <a:t>220</a:t>
            </a:r>
            <a:endParaRPr kumimoji="0" lang="en-US" sz="1200" b="0" i="0" u="none" strike="noStrike" kern="1200" cap="none" spc="0" normalizeH="0" baseline="0" noProof="0">
              <a:ln>
                <a:noFill/>
              </a:ln>
              <a:solidFill>
                <a:srgbClr val="000066"/>
              </a:solidFill>
              <a:effectLst/>
              <a:uLnTx/>
              <a:uFillTx/>
              <a:latin typeface="Arial Narrow" pitchFamily="34" charset="0"/>
              <a:ea typeface="+mn-ea"/>
              <a:cs typeface="+mn-cs"/>
            </a:endParaRPr>
          </a:p>
        </p:txBody>
      </p:sp>
      <p:sp>
        <p:nvSpPr>
          <p:cNvPr id="124975" name="Line 119"/>
          <p:cNvSpPr>
            <a:spLocks noChangeShapeType="1"/>
          </p:cNvSpPr>
          <p:nvPr/>
        </p:nvSpPr>
        <p:spPr bwMode="auto">
          <a:xfrm>
            <a:off x="4922838" y="2265363"/>
            <a:ext cx="1190625" cy="7937"/>
          </a:xfrm>
          <a:prstGeom prst="line">
            <a:avLst/>
          </a:prstGeom>
          <a:noFill/>
          <a:ln w="19050">
            <a:solidFill>
              <a:srgbClr val="CC3300"/>
            </a:solidFill>
            <a:prstDash val="sysDot"/>
            <a:round/>
            <a:headEnd/>
            <a:tailEnd/>
          </a:ln>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tr-TR" sz="18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4976" name="Rectangle 116"/>
          <p:cNvSpPr>
            <a:spLocks noChangeArrowheads="1"/>
          </p:cNvSpPr>
          <p:nvPr/>
        </p:nvSpPr>
        <p:spPr bwMode="auto">
          <a:xfrm>
            <a:off x="7000875" y="2819400"/>
            <a:ext cx="1685925" cy="392113"/>
          </a:xfrm>
          <a:prstGeom prst="rect">
            <a:avLst/>
          </a:prstGeom>
          <a:solidFill>
            <a:srgbClr val="000066"/>
          </a:solidFill>
          <a:ln w="9525">
            <a:noFill/>
            <a:miter lim="800000"/>
            <a:headEnd/>
            <a:tailEnd/>
          </a:ln>
        </p:spPr>
        <p:txBody>
          <a:bodyPr tIns="72000" bIns="7200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tr-TR" sz="1600" b="0" i="0" u="none" strike="noStrike" kern="1200" cap="none" spc="0" normalizeH="0" baseline="0" noProof="0">
                <a:ln>
                  <a:noFill/>
                </a:ln>
                <a:solidFill>
                  <a:prstClr val="white"/>
                </a:solidFill>
                <a:effectLst/>
                <a:uLnTx/>
                <a:uFillTx/>
                <a:latin typeface="Arial Narrow" pitchFamily="34" charset="0"/>
                <a:ea typeface="+mn-ea"/>
                <a:cs typeface="+mn-cs"/>
              </a:rPr>
              <a:t>V</a:t>
            </a:r>
            <a:r>
              <a:rPr kumimoji="0" lang="tr-TR" sz="1600" b="0" i="0" u="none" strike="noStrike" kern="1200" cap="none" spc="0" normalizeH="0" baseline="-25000" noProof="0">
                <a:ln>
                  <a:noFill/>
                </a:ln>
                <a:solidFill>
                  <a:prstClr val="white"/>
                </a:solidFill>
                <a:effectLst/>
                <a:uLnTx/>
                <a:uFillTx/>
                <a:latin typeface="Arial Narrow" pitchFamily="34" charset="0"/>
                <a:ea typeface="+mn-ea"/>
                <a:cs typeface="+mn-cs"/>
              </a:rPr>
              <a:t>rms</a:t>
            </a:r>
            <a:r>
              <a:rPr kumimoji="0" lang="tr-TR" sz="1600" b="0" i="0" u="none" strike="noStrike" kern="1200" cap="none" spc="0" normalizeH="0" baseline="0" noProof="0">
                <a:ln>
                  <a:noFill/>
                </a:ln>
                <a:solidFill>
                  <a:prstClr val="white"/>
                </a:solidFill>
                <a:effectLst/>
                <a:uLnTx/>
                <a:uFillTx/>
                <a:latin typeface="Arial Narrow" pitchFamily="34" charset="0"/>
                <a:ea typeface="+mn-ea"/>
                <a:cs typeface="+mn-cs"/>
              </a:rPr>
              <a:t>  = </a:t>
            </a:r>
            <a:r>
              <a:rPr kumimoji="0" lang="tr-TR" sz="1600" b="0" i="0" u="none" strike="noStrike" kern="1200" cap="none" spc="0" normalizeH="0" baseline="0" noProof="0">
                <a:ln>
                  <a:noFill/>
                </a:ln>
                <a:solidFill>
                  <a:prstClr val="white"/>
                </a:solidFill>
                <a:effectLst/>
                <a:uLnTx/>
                <a:uFillTx/>
                <a:latin typeface="Arial Narrow" pitchFamily="34" charset="0"/>
                <a:ea typeface="+mn-ea"/>
                <a:cs typeface="+mn-cs"/>
                <a:sym typeface="Symbol" pitchFamily="18" charset="2"/>
              </a:rPr>
              <a:t>220 Volts</a:t>
            </a:r>
            <a:endParaRPr kumimoji="0" lang="en-US" sz="1600" b="0" i="0" u="none" strike="noStrike" kern="1200" cap="none" spc="0" normalizeH="0" baseline="0" noProof="0">
              <a:ln>
                <a:noFill/>
              </a:ln>
              <a:solidFill>
                <a:prstClr val="white"/>
              </a:solidFill>
              <a:effectLst/>
              <a:uLnTx/>
              <a:uFillTx/>
              <a:latin typeface="Arial Narrow" pitchFamily="34" charset="0"/>
              <a:ea typeface="+mn-ea"/>
              <a:cs typeface="+mn-cs"/>
              <a:sym typeface="Symbol" pitchFamily="18" charset="2"/>
            </a:endParaRPr>
          </a:p>
        </p:txBody>
      </p:sp>
      <p:sp>
        <p:nvSpPr>
          <p:cNvPr id="49" name="Slide Number Placeholder 3"/>
          <p:cNvSpPr txBox="1">
            <a:spLocks/>
          </p:cNvSpPr>
          <p:nvPr/>
        </p:nvSpPr>
        <p:spPr>
          <a:xfrm>
            <a:off x="0" y="6492875"/>
            <a:ext cx="1257300" cy="365125"/>
          </a:xfrm>
          <a:prstGeom prst="rect">
            <a:avLst/>
          </a:prstGeom>
        </p:spPr>
        <p:txBody>
          <a:bodyPr vert="horz" lIns="91440" tIns="45720" rIns="91440" bIns="45720" rtlCol="0"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Ali </a:t>
            </a:r>
            <a:r>
              <a:rPr kumimoji="0" lang="en-US" sz="1200" b="0" i="0" u="none" strike="noStrike" kern="1200" cap="none" spc="0" normalizeH="0" baseline="0" noProof="0" dirty="0" err="1">
                <a:ln>
                  <a:noFill/>
                </a:ln>
                <a:solidFill>
                  <a:prstClr val="black">
                    <a:tint val="75000"/>
                  </a:prstClr>
                </a:solidFill>
                <a:effectLst/>
                <a:uLnTx/>
                <a:uFillTx/>
                <a:latin typeface="Calibri"/>
                <a:ea typeface="+mn-ea"/>
                <a:cs typeface="+mn-cs"/>
              </a:rPr>
              <a:t>Muhtaroğlu</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0" name="Slide Number Placeholder 12"/>
          <p:cNvSpPr>
            <a:spLocks noGrp="1"/>
          </p:cNvSpPr>
          <p:nvPr>
            <p:ph type="sldNum" sz="quarter" idx="11"/>
          </p:nvPr>
        </p:nvSpPr>
        <p:spPr>
          <a:xfrm>
            <a:off x="8267700" y="6477000"/>
            <a:ext cx="8763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57CEED-90C7-4FD0-AB8C-14085BB9151E}"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20575030"/>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26452</TotalTime>
  <Words>3019</Words>
  <Application>Microsoft Office PowerPoint</Application>
  <PresentationFormat>On-screen Show (4:3)</PresentationFormat>
  <Paragraphs>623</Paragraphs>
  <Slides>49</Slides>
  <Notes>20</Notes>
  <HiddenSlides>0</HiddenSlides>
  <MMClips>0</MMClips>
  <ScaleCrop>false</ScaleCrop>
  <HeadingPairs>
    <vt:vector size="8" baseType="variant">
      <vt:variant>
        <vt:lpstr>Fonts Used</vt:lpstr>
      </vt:variant>
      <vt:variant>
        <vt:i4>5</vt:i4>
      </vt:variant>
      <vt:variant>
        <vt:lpstr>Theme</vt:lpstr>
      </vt:variant>
      <vt:variant>
        <vt:i4>3</vt:i4>
      </vt:variant>
      <vt:variant>
        <vt:lpstr>Embedded OLE Servers</vt:lpstr>
      </vt:variant>
      <vt:variant>
        <vt:i4>1</vt:i4>
      </vt:variant>
      <vt:variant>
        <vt:lpstr>Slide Titles</vt:lpstr>
      </vt:variant>
      <vt:variant>
        <vt:i4>49</vt:i4>
      </vt:variant>
    </vt:vector>
  </HeadingPairs>
  <TitlesOfParts>
    <vt:vector size="58" baseType="lpstr">
      <vt:lpstr>Arial</vt:lpstr>
      <vt:lpstr>Arial Black</vt:lpstr>
      <vt:lpstr>Arial Narrow</vt:lpstr>
      <vt:lpstr>Calibri</vt:lpstr>
      <vt:lpstr>Cambria Math</vt:lpstr>
      <vt:lpstr>Office Theme</vt:lpstr>
      <vt:lpstr>1_Office Theme</vt:lpstr>
      <vt:lpstr>3_Office Theme</vt:lpstr>
      <vt:lpstr>Equation</vt:lpstr>
      <vt:lpstr>PowerPoint Presentation</vt:lpstr>
      <vt:lpstr>Simple Resistive Circuits  Weeks 4-5  Reading: Nilsson &amp; Riedel Chapter 3</vt:lpstr>
      <vt:lpstr>Subcircuit Equivalence</vt:lpstr>
      <vt:lpstr>Subcircuit Equivalence</vt:lpstr>
      <vt:lpstr>Subcircuit Equivalence</vt:lpstr>
      <vt:lpstr>Series Equivalents</vt:lpstr>
      <vt:lpstr>Series Equivalents</vt:lpstr>
      <vt:lpstr>Series Equivalents</vt:lpstr>
      <vt:lpstr>Voltage Division</vt:lpstr>
      <vt:lpstr>Example 2</vt:lpstr>
      <vt:lpstr>Example 2</vt:lpstr>
      <vt:lpstr>Parallel Equivalents</vt:lpstr>
      <vt:lpstr>Parallel Equivalents</vt:lpstr>
      <vt:lpstr>Equivalent Resistance of 2 Parallel Resistors</vt:lpstr>
      <vt:lpstr>Principle of Current Division</vt:lpstr>
      <vt:lpstr>Example</vt:lpstr>
      <vt:lpstr>Example</vt:lpstr>
      <vt:lpstr>Example based on N &amp; R Problem 3.5</vt:lpstr>
      <vt:lpstr>PowerPoint Presentation</vt:lpstr>
      <vt:lpstr>Example based on N &amp; R Problem 3.5</vt:lpstr>
      <vt:lpstr>Example based on N &amp; R Problem 3.5</vt:lpstr>
      <vt:lpstr>Example based on N &amp; R Problem 3.5</vt:lpstr>
      <vt:lpstr>Example based on N &amp; R Problem 3.5</vt:lpstr>
      <vt:lpstr>Example based on N &amp; R Problem 3.5</vt:lpstr>
      <vt:lpstr>Example based on N &amp; R Problem 3.5</vt:lpstr>
      <vt:lpstr>Example based on N &amp; R Problem 3.5</vt:lpstr>
      <vt:lpstr>PowerPoint Presentation</vt:lpstr>
      <vt:lpstr>PowerPoint Presentation</vt:lpstr>
      <vt:lpstr>PowerPoint Presentation</vt:lpstr>
      <vt:lpstr>Color Code For Carbon Resistors</vt:lpstr>
      <vt:lpstr>Color Code For Carbon Resistors</vt:lpstr>
      <vt:lpstr>More on Measurement Devices</vt:lpstr>
      <vt:lpstr>More on Measurement Devices</vt:lpstr>
      <vt:lpstr>Resistance Measurement  through Wheatstone Bridge</vt:lpstr>
      <vt:lpstr>Resistance Measurement  through Wheatstone Bridge</vt:lpstr>
      <vt:lpstr>Delta-to-Wye (Pi-to-Tee) Equivalent Circuits</vt:lpstr>
      <vt:lpstr>Delta-to-Whye (Pi-to-Tee) Equivalent Circuits</vt:lpstr>
      <vt:lpstr>Δ-to-Y Transformation</vt:lpstr>
      <vt:lpstr>Δ-to-Y Transformation</vt:lpstr>
      <vt:lpstr>Example (N &amp; R AP 3.8)</vt:lpstr>
      <vt:lpstr>Example (N &amp; R AP 3.8)</vt:lpstr>
      <vt:lpstr>Example (N &amp; R AP 3.8)</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Muhtaroglu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Signals and Systems I EEE-301 Lecture Notes</dc:title>
  <dc:creator>Ali</dc:creator>
  <cp:lastModifiedBy>Yağmur CAN</cp:lastModifiedBy>
  <cp:revision>566</cp:revision>
  <dcterms:created xsi:type="dcterms:W3CDTF">2007-08-31T13:08:21Z</dcterms:created>
  <dcterms:modified xsi:type="dcterms:W3CDTF">2023-12-01T16:22:08Z</dcterms:modified>
</cp:coreProperties>
</file>