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omments/modernComment_223_1CB97DA2.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E5_D922CDA.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4" r:id="rId2"/>
  </p:sldMasterIdLst>
  <p:notesMasterIdLst>
    <p:notesMasterId r:id="rId131"/>
  </p:notesMasterIdLst>
  <p:handoutMasterIdLst>
    <p:handoutMasterId r:id="rId132"/>
  </p:handoutMasterIdLst>
  <p:sldIdLst>
    <p:sldId id="464" r:id="rId3"/>
    <p:sldId id="291" r:id="rId4"/>
    <p:sldId id="465" r:id="rId5"/>
    <p:sldId id="558" r:id="rId6"/>
    <p:sldId id="351" r:id="rId7"/>
    <p:sldId id="423" r:id="rId8"/>
    <p:sldId id="424" r:id="rId9"/>
    <p:sldId id="425" r:id="rId10"/>
    <p:sldId id="426" r:id="rId11"/>
    <p:sldId id="352" r:id="rId12"/>
    <p:sldId id="353" r:id="rId13"/>
    <p:sldId id="354" r:id="rId14"/>
    <p:sldId id="357" r:id="rId15"/>
    <p:sldId id="358" r:id="rId16"/>
    <p:sldId id="360" r:id="rId17"/>
    <p:sldId id="361" r:id="rId18"/>
    <p:sldId id="359" r:id="rId19"/>
    <p:sldId id="431" r:id="rId20"/>
    <p:sldId id="362" r:id="rId21"/>
    <p:sldId id="363" r:id="rId22"/>
    <p:sldId id="364" r:id="rId23"/>
    <p:sldId id="365" r:id="rId24"/>
    <p:sldId id="366" r:id="rId25"/>
    <p:sldId id="369" r:id="rId26"/>
    <p:sldId id="367" r:id="rId27"/>
    <p:sldId id="368" r:id="rId28"/>
    <p:sldId id="370" r:id="rId29"/>
    <p:sldId id="371" r:id="rId30"/>
    <p:sldId id="372" r:id="rId31"/>
    <p:sldId id="373" r:id="rId32"/>
    <p:sldId id="547" r:id="rId33"/>
    <p:sldId id="548" r:id="rId34"/>
    <p:sldId id="549" r:id="rId35"/>
    <p:sldId id="550" r:id="rId36"/>
    <p:sldId id="551" r:id="rId37"/>
    <p:sldId id="552" r:id="rId38"/>
    <p:sldId id="553" r:id="rId39"/>
    <p:sldId id="554" r:id="rId40"/>
    <p:sldId id="555" r:id="rId41"/>
    <p:sldId id="556" r:id="rId42"/>
    <p:sldId id="557" r:id="rId43"/>
    <p:sldId id="374" r:id="rId44"/>
    <p:sldId id="375" r:id="rId45"/>
    <p:sldId id="427" r:id="rId46"/>
    <p:sldId id="428" r:id="rId47"/>
    <p:sldId id="429" r:id="rId48"/>
    <p:sldId id="430" r:id="rId49"/>
    <p:sldId id="466" r:id="rId50"/>
    <p:sldId id="467" r:id="rId51"/>
    <p:sldId id="468" r:id="rId52"/>
    <p:sldId id="469" r:id="rId53"/>
    <p:sldId id="470" r:id="rId54"/>
    <p:sldId id="471" r:id="rId55"/>
    <p:sldId id="472" r:id="rId56"/>
    <p:sldId id="473" r:id="rId57"/>
    <p:sldId id="474" r:id="rId58"/>
    <p:sldId id="475" r:id="rId59"/>
    <p:sldId id="476" r:id="rId60"/>
    <p:sldId id="477" r:id="rId61"/>
    <p:sldId id="478" r:id="rId62"/>
    <p:sldId id="479" r:id="rId63"/>
    <p:sldId id="480" r:id="rId64"/>
    <p:sldId id="481" r:id="rId65"/>
    <p:sldId id="482" r:id="rId66"/>
    <p:sldId id="483" r:id="rId67"/>
    <p:sldId id="484" r:id="rId68"/>
    <p:sldId id="485" r:id="rId69"/>
    <p:sldId id="486" r:id="rId70"/>
    <p:sldId id="487" r:id="rId71"/>
    <p:sldId id="488" r:id="rId72"/>
    <p:sldId id="489" r:id="rId73"/>
    <p:sldId id="490" r:id="rId74"/>
    <p:sldId id="491" r:id="rId75"/>
    <p:sldId id="492" r:id="rId76"/>
    <p:sldId id="493" r:id="rId77"/>
    <p:sldId id="494" r:id="rId78"/>
    <p:sldId id="495" r:id="rId79"/>
    <p:sldId id="496" r:id="rId80"/>
    <p:sldId id="497" r:id="rId81"/>
    <p:sldId id="498" r:id="rId82"/>
    <p:sldId id="499" r:id="rId83"/>
    <p:sldId id="500" r:id="rId84"/>
    <p:sldId id="501" r:id="rId85"/>
    <p:sldId id="502" r:id="rId86"/>
    <p:sldId id="503" r:id="rId87"/>
    <p:sldId id="504" r:id="rId88"/>
    <p:sldId id="505" r:id="rId89"/>
    <p:sldId id="506" r:id="rId90"/>
    <p:sldId id="507" r:id="rId91"/>
    <p:sldId id="508" r:id="rId92"/>
    <p:sldId id="509" r:id="rId93"/>
    <p:sldId id="510" r:id="rId94"/>
    <p:sldId id="511" r:id="rId95"/>
    <p:sldId id="512" r:id="rId96"/>
    <p:sldId id="513" r:id="rId97"/>
    <p:sldId id="514" r:id="rId98"/>
    <p:sldId id="515" r:id="rId99"/>
    <p:sldId id="516" r:id="rId100"/>
    <p:sldId id="517" r:id="rId101"/>
    <p:sldId id="518" r:id="rId102"/>
    <p:sldId id="519" r:id="rId103"/>
    <p:sldId id="520" r:id="rId104"/>
    <p:sldId id="521" r:id="rId105"/>
    <p:sldId id="522" r:id="rId106"/>
    <p:sldId id="523" r:id="rId107"/>
    <p:sldId id="524" r:id="rId108"/>
    <p:sldId id="525" r:id="rId109"/>
    <p:sldId id="526" r:id="rId110"/>
    <p:sldId id="527" r:id="rId111"/>
    <p:sldId id="528" r:id="rId112"/>
    <p:sldId id="529" r:id="rId113"/>
    <p:sldId id="530" r:id="rId114"/>
    <p:sldId id="531" r:id="rId115"/>
    <p:sldId id="532" r:id="rId116"/>
    <p:sldId id="533" r:id="rId117"/>
    <p:sldId id="534" r:id="rId118"/>
    <p:sldId id="535" r:id="rId119"/>
    <p:sldId id="536" r:id="rId120"/>
    <p:sldId id="537" r:id="rId121"/>
    <p:sldId id="538" r:id="rId122"/>
    <p:sldId id="539" r:id="rId123"/>
    <p:sldId id="540" r:id="rId124"/>
    <p:sldId id="541" r:id="rId125"/>
    <p:sldId id="542" r:id="rId126"/>
    <p:sldId id="543" r:id="rId127"/>
    <p:sldId id="544" r:id="rId128"/>
    <p:sldId id="545" r:id="rId129"/>
    <p:sldId id="546" r:id="rId130"/>
  </p:sldIdLst>
  <p:sldSz cx="9144000" cy="6858000" type="screen4x3"/>
  <p:notesSz cx="6791325" cy="9923463"/>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6">
          <p15:clr>
            <a:srgbClr val="A4A3A4"/>
          </p15:clr>
        </p15:guide>
        <p15:guide id="2" pos="214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179FC9B-D91B-7163-829F-830A43F7DB53}" name="Yağmur CAN" initials="YC" userId="S::yagmur.can@metu.edu.tr::a72a0d38-c58c-469d-bbc7-21a460a3a21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82" autoAdjust="0"/>
    <p:restoredTop sz="95297" autoAdjust="0"/>
  </p:normalViewPr>
  <p:slideViewPr>
    <p:cSldViewPr>
      <p:cViewPr varScale="1">
        <p:scale>
          <a:sx n="87" d="100"/>
          <a:sy n="87" d="100"/>
        </p:scale>
        <p:origin x="1334" y="67"/>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6488"/>
    </p:cViewPr>
  </p:sorterViewPr>
  <p:notesViewPr>
    <p:cSldViewPr>
      <p:cViewPr varScale="1">
        <p:scale>
          <a:sx n="58" d="100"/>
          <a:sy n="58" d="100"/>
        </p:scale>
        <p:origin x="-1968" y="-86"/>
      </p:cViewPr>
      <p:guideLst>
        <p:guide orient="horz" pos="3126"/>
        <p:guide pos="2140"/>
      </p:guideLst>
    </p:cSldViewPr>
  </p:notesViewPr>
  <p:gridSpacing cx="38405" cy="38405"/>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viewProps" Target="viewProps.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theme" Target="theme/theme1.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notesMaster" Target="notesMasters/notesMaster1.xml"/><Relationship Id="rId136" Type="http://schemas.openxmlformats.org/officeDocument/2006/relationships/tableStyles" Target="tableStyle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microsoft.com/office/2018/10/relationships/authors" Target="authors.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handoutMaster" Target="handoutMasters/handoutMaster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presProps" Target="presProps.xml"/></Relationships>
</file>

<file path=ppt/comments/modernComment_1E5_D922CDA.xml><?xml version="1.0" encoding="utf-8"?>
<p188:cmLst xmlns:a="http://schemas.openxmlformats.org/drawingml/2006/main" xmlns:r="http://schemas.openxmlformats.org/officeDocument/2006/relationships" xmlns:p188="http://schemas.microsoft.com/office/powerpoint/2018/8/main">
  <p188:cm id="{94BB9A7F-C0F7-48CA-963C-FD93EA756D4F}" authorId="{7179FC9B-D91B-7163-829F-830A43F7DB53}" created="2023-12-01T20:16:34.859">
    <pc:sldMkLst xmlns:pc="http://schemas.microsoft.com/office/powerpoint/2013/main/command">
      <pc:docMk/>
      <pc:sldMk cId="227683546" sldId="485"/>
    </pc:sldMkLst>
    <p188:txBody>
      <a:bodyPr/>
      <a:lstStyle/>
      <a:p>
        <a:r>
          <a:rPr lang="en-US"/>
          <a:t>Anlamadım
</a:t>
        </a:r>
      </a:p>
    </p188:txBody>
  </p188:cm>
</p188:cmLst>
</file>

<file path=ppt/comments/modernComment_223_1CB97DA2.xml><?xml version="1.0" encoding="utf-8"?>
<p188:cmLst xmlns:a="http://schemas.openxmlformats.org/drawingml/2006/main" xmlns:r="http://schemas.openxmlformats.org/officeDocument/2006/relationships" xmlns:p188="http://schemas.microsoft.com/office/powerpoint/2018/8/main">
  <p188:cm id="{2379A638-19EB-4985-AE3C-FC7E3063493A}" authorId="{7179FC9B-D91B-7163-829F-830A43F7DB53}" created="2023-12-01T17:42:17.696">
    <pc:sldMkLst xmlns:pc="http://schemas.microsoft.com/office/powerpoint/2013/main/command">
      <pc:docMk/>
      <pc:sldMk cId="481918370" sldId="547"/>
    </pc:sldMkLst>
    <p188:txBody>
      <a:bodyPr/>
      <a:lstStyle/>
      <a:p>
        <a:r>
          <a:rPr lang="en-US"/>
          <a:t>Vaktin olursa bu soruyu tekrar çözümüne bakmadan çöz
</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42907" cy="496173"/>
          </a:xfrm>
          <a:prstGeom prst="rect">
            <a:avLst/>
          </a:prstGeom>
        </p:spPr>
        <p:txBody>
          <a:bodyPr vert="horz" lIns="88720" tIns="44360" rIns="88720" bIns="44360" rtlCol="0"/>
          <a:lstStyle>
            <a:lvl1pPr algn="l">
              <a:defRPr sz="1100"/>
            </a:lvl1pPr>
          </a:lstStyle>
          <a:p>
            <a:endParaRPr lang="en-US"/>
          </a:p>
        </p:txBody>
      </p:sp>
      <p:sp>
        <p:nvSpPr>
          <p:cNvPr id="3" name="Date Placeholder 2"/>
          <p:cNvSpPr>
            <a:spLocks noGrp="1"/>
          </p:cNvSpPr>
          <p:nvPr>
            <p:ph type="dt" sz="quarter" idx="1"/>
          </p:nvPr>
        </p:nvSpPr>
        <p:spPr>
          <a:xfrm>
            <a:off x="3846846" y="1"/>
            <a:ext cx="2942907" cy="496173"/>
          </a:xfrm>
          <a:prstGeom prst="rect">
            <a:avLst/>
          </a:prstGeom>
        </p:spPr>
        <p:txBody>
          <a:bodyPr vert="horz" lIns="88720" tIns="44360" rIns="88720" bIns="44360" rtlCol="0"/>
          <a:lstStyle>
            <a:lvl1pPr algn="r">
              <a:defRPr sz="1100"/>
            </a:lvl1pPr>
          </a:lstStyle>
          <a:p>
            <a:fld id="{88317F73-780A-44BC-8CEB-6A904FAD50C3}" type="datetimeFigureOut">
              <a:rPr lang="en-US" smtClean="0"/>
              <a:pPr/>
              <a:t>12/1/2023</a:t>
            </a:fld>
            <a:endParaRPr lang="en-US"/>
          </a:p>
        </p:txBody>
      </p:sp>
      <p:sp>
        <p:nvSpPr>
          <p:cNvPr id="4" name="Footer Placeholder 3"/>
          <p:cNvSpPr>
            <a:spLocks noGrp="1"/>
          </p:cNvSpPr>
          <p:nvPr>
            <p:ph type="ftr" sz="quarter" idx="2"/>
          </p:nvPr>
        </p:nvSpPr>
        <p:spPr>
          <a:xfrm>
            <a:off x="1" y="9425567"/>
            <a:ext cx="2942907" cy="496173"/>
          </a:xfrm>
          <a:prstGeom prst="rect">
            <a:avLst/>
          </a:prstGeom>
        </p:spPr>
        <p:txBody>
          <a:bodyPr vert="horz" lIns="88720" tIns="44360" rIns="88720" bIns="44360" rtlCol="0" anchor="b"/>
          <a:lstStyle>
            <a:lvl1pPr algn="l">
              <a:defRPr sz="1100"/>
            </a:lvl1pPr>
          </a:lstStyle>
          <a:p>
            <a:r>
              <a:rPr lang="en-US" dirty="0"/>
              <a:t>Ali Muhtaroglu EEE-201 Fall 2008</a:t>
            </a:r>
          </a:p>
        </p:txBody>
      </p:sp>
      <p:sp>
        <p:nvSpPr>
          <p:cNvPr id="5" name="Slide Number Placeholder 4"/>
          <p:cNvSpPr>
            <a:spLocks noGrp="1"/>
          </p:cNvSpPr>
          <p:nvPr>
            <p:ph type="sldNum" sz="quarter" idx="3"/>
          </p:nvPr>
        </p:nvSpPr>
        <p:spPr>
          <a:xfrm>
            <a:off x="3846846" y="9425567"/>
            <a:ext cx="2942907" cy="496173"/>
          </a:xfrm>
          <a:prstGeom prst="rect">
            <a:avLst/>
          </a:prstGeom>
        </p:spPr>
        <p:txBody>
          <a:bodyPr vert="horz" lIns="88720" tIns="44360" rIns="88720" bIns="44360" rtlCol="0" anchor="b"/>
          <a:lstStyle>
            <a:lvl1pPr algn="r">
              <a:defRPr sz="1100"/>
            </a:lvl1pPr>
          </a:lstStyle>
          <a:p>
            <a:fld id="{14CCCDEF-E892-426B-951E-3DF22639A05B}" type="slidenum">
              <a:rPr lang="en-US" smtClean="0"/>
              <a:pPr/>
              <a:t>‹#›</a:t>
            </a:fld>
            <a:endParaRPr lang="en-US"/>
          </a:p>
        </p:txBody>
      </p:sp>
    </p:spTree>
    <p:extLst>
      <p:ext uri="{BB962C8B-B14F-4D97-AF65-F5344CB8AC3E}">
        <p14:creationId xmlns:p14="http://schemas.microsoft.com/office/powerpoint/2010/main" val="18626248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42907" cy="496173"/>
          </a:xfrm>
          <a:prstGeom prst="rect">
            <a:avLst/>
          </a:prstGeom>
        </p:spPr>
        <p:txBody>
          <a:bodyPr vert="horz" lIns="88720" tIns="44360" rIns="88720" bIns="44360" rtlCol="0"/>
          <a:lstStyle>
            <a:lvl1pPr algn="l">
              <a:defRPr sz="1100"/>
            </a:lvl1pPr>
          </a:lstStyle>
          <a:p>
            <a:endParaRPr lang="en-US"/>
          </a:p>
        </p:txBody>
      </p:sp>
      <p:sp>
        <p:nvSpPr>
          <p:cNvPr id="3" name="Date Placeholder 2"/>
          <p:cNvSpPr>
            <a:spLocks noGrp="1"/>
          </p:cNvSpPr>
          <p:nvPr>
            <p:ph type="dt" idx="1"/>
          </p:nvPr>
        </p:nvSpPr>
        <p:spPr>
          <a:xfrm>
            <a:off x="3846846" y="1"/>
            <a:ext cx="2942907" cy="496173"/>
          </a:xfrm>
          <a:prstGeom prst="rect">
            <a:avLst/>
          </a:prstGeom>
        </p:spPr>
        <p:txBody>
          <a:bodyPr vert="horz" lIns="88720" tIns="44360" rIns="88720" bIns="44360" rtlCol="0"/>
          <a:lstStyle>
            <a:lvl1pPr algn="r">
              <a:defRPr sz="1100"/>
            </a:lvl1pPr>
          </a:lstStyle>
          <a:p>
            <a:fld id="{FEE8148B-16E5-4DB6-B21A-06F7282DA7B2}" type="datetimeFigureOut">
              <a:rPr lang="en-US" smtClean="0"/>
              <a:pPr/>
              <a:t>12/1/2023</a:t>
            </a:fld>
            <a:endParaRPr lang="en-US"/>
          </a:p>
        </p:txBody>
      </p:sp>
      <p:sp>
        <p:nvSpPr>
          <p:cNvPr id="4" name="Slide Image Placeholder 3"/>
          <p:cNvSpPr>
            <a:spLocks noGrp="1" noRot="1" noChangeAspect="1"/>
          </p:cNvSpPr>
          <p:nvPr>
            <p:ph type="sldImg" idx="2"/>
          </p:nvPr>
        </p:nvSpPr>
        <p:spPr>
          <a:xfrm>
            <a:off x="915988" y="746125"/>
            <a:ext cx="4959350" cy="3719513"/>
          </a:xfrm>
          <a:prstGeom prst="rect">
            <a:avLst/>
          </a:prstGeom>
          <a:noFill/>
          <a:ln w="12700">
            <a:solidFill>
              <a:prstClr val="black"/>
            </a:solidFill>
          </a:ln>
        </p:spPr>
        <p:txBody>
          <a:bodyPr vert="horz" lIns="88720" tIns="44360" rIns="88720" bIns="44360" rtlCol="0" anchor="ctr"/>
          <a:lstStyle/>
          <a:p>
            <a:endParaRPr lang="en-US"/>
          </a:p>
        </p:txBody>
      </p:sp>
      <p:sp>
        <p:nvSpPr>
          <p:cNvPr id="5" name="Notes Placeholder 4"/>
          <p:cNvSpPr>
            <a:spLocks noGrp="1"/>
          </p:cNvSpPr>
          <p:nvPr>
            <p:ph type="body" sz="quarter" idx="3"/>
          </p:nvPr>
        </p:nvSpPr>
        <p:spPr>
          <a:xfrm>
            <a:off x="679133" y="4713647"/>
            <a:ext cx="5433060" cy="4465558"/>
          </a:xfrm>
          <a:prstGeom prst="rect">
            <a:avLst/>
          </a:prstGeom>
        </p:spPr>
        <p:txBody>
          <a:bodyPr vert="horz" lIns="88720" tIns="44360" rIns="88720" bIns="4436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9425567"/>
            <a:ext cx="2942907" cy="496173"/>
          </a:xfrm>
          <a:prstGeom prst="rect">
            <a:avLst/>
          </a:prstGeom>
        </p:spPr>
        <p:txBody>
          <a:bodyPr vert="horz" lIns="88720" tIns="44360" rIns="88720" bIns="44360" rtlCol="0" anchor="b"/>
          <a:lstStyle>
            <a:lvl1pPr algn="l">
              <a:defRPr sz="1100"/>
            </a:lvl1pPr>
          </a:lstStyle>
          <a:p>
            <a:endParaRPr lang="en-US"/>
          </a:p>
        </p:txBody>
      </p:sp>
      <p:sp>
        <p:nvSpPr>
          <p:cNvPr id="7" name="Slide Number Placeholder 6"/>
          <p:cNvSpPr>
            <a:spLocks noGrp="1"/>
          </p:cNvSpPr>
          <p:nvPr>
            <p:ph type="sldNum" sz="quarter" idx="5"/>
          </p:nvPr>
        </p:nvSpPr>
        <p:spPr>
          <a:xfrm>
            <a:off x="3846846" y="9425567"/>
            <a:ext cx="2942907" cy="496173"/>
          </a:xfrm>
          <a:prstGeom prst="rect">
            <a:avLst/>
          </a:prstGeom>
        </p:spPr>
        <p:txBody>
          <a:bodyPr vert="horz" lIns="88720" tIns="44360" rIns="88720" bIns="44360" rtlCol="0" anchor="b"/>
          <a:lstStyle>
            <a:lvl1pPr algn="r">
              <a:defRPr sz="1100"/>
            </a:lvl1pPr>
          </a:lstStyle>
          <a:p>
            <a:fld id="{E15A28F2-8CAD-4F56-A39E-6A4BC478584B}" type="slidenum">
              <a:rPr lang="en-US" smtClean="0"/>
              <a:pPr/>
              <a:t>‹#›</a:t>
            </a:fld>
            <a:endParaRPr lang="en-US"/>
          </a:p>
        </p:txBody>
      </p:sp>
    </p:spTree>
    <p:extLst>
      <p:ext uri="{BB962C8B-B14F-4D97-AF65-F5344CB8AC3E}">
        <p14:creationId xmlns:p14="http://schemas.microsoft.com/office/powerpoint/2010/main" val="12469639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15A28F2-8CAD-4F56-A39E-6A4BC478584B}" type="slidenum">
              <a:rPr lang="en-US" smtClean="0">
                <a:solidFill>
                  <a:prstClr val="black"/>
                </a:solidFill>
              </a:rPr>
              <a:pPr/>
              <a:t>1</a:t>
            </a:fld>
            <a:endParaRPr lang="en-US">
              <a:solidFill>
                <a:prstClr val="black"/>
              </a:solidFill>
            </a:endParaRPr>
          </a:p>
        </p:txBody>
      </p:sp>
    </p:spTree>
    <p:extLst>
      <p:ext uri="{BB962C8B-B14F-4D97-AF65-F5344CB8AC3E}">
        <p14:creationId xmlns:p14="http://schemas.microsoft.com/office/powerpoint/2010/main" val="34190488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15A28F2-8CAD-4F56-A39E-6A4BC478584B}" type="slidenum">
              <a:rPr lang="en-US" smtClean="0"/>
              <a:pPr/>
              <a:t>44</a:t>
            </a:fld>
            <a:endParaRPr lang="en-US"/>
          </a:p>
        </p:txBody>
      </p:sp>
    </p:spTree>
    <p:extLst>
      <p:ext uri="{BB962C8B-B14F-4D97-AF65-F5344CB8AC3E}">
        <p14:creationId xmlns:p14="http://schemas.microsoft.com/office/powerpoint/2010/main" val="23629143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15A28F2-8CAD-4F56-A39E-6A4BC478584B}" type="slidenum">
              <a:rPr lang="en-US" smtClean="0"/>
              <a:pPr/>
              <a:t>45</a:t>
            </a:fld>
            <a:endParaRPr lang="en-US"/>
          </a:p>
        </p:txBody>
      </p:sp>
    </p:spTree>
    <p:extLst>
      <p:ext uri="{BB962C8B-B14F-4D97-AF65-F5344CB8AC3E}">
        <p14:creationId xmlns:p14="http://schemas.microsoft.com/office/powerpoint/2010/main" val="19992612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15A28F2-8CAD-4F56-A39E-6A4BC478584B}" type="slidenum">
              <a:rPr lang="en-US" smtClean="0"/>
              <a:pPr/>
              <a:t>46</a:t>
            </a:fld>
            <a:endParaRPr lang="en-US"/>
          </a:p>
        </p:txBody>
      </p:sp>
    </p:spTree>
    <p:extLst>
      <p:ext uri="{BB962C8B-B14F-4D97-AF65-F5344CB8AC3E}">
        <p14:creationId xmlns:p14="http://schemas.microsoft.com/office/powerpoint/2010/main" val="28274683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15A28F2-8CAD-4F56-A39E-6A4BC478584B}" type="slidenum">
              <a:rPr lang="en-US" smtClean="0"/>
              <a:pPr/>
              <a:t>47</a:t>
            </a:fld>
            <a:endParaRPr lang="en-US"/>
          </a:p>
        </p:txBody>
      </p:sp>
    </p:spTree>
    <p:extLst>
      <p:ext uri="{BB962C8B-B14F-4D97-AF65-F5344CB8AC3E}">
        <p14:creationId xmlns:p14="http://schemas.microsoft.com/office/powerpoint/2010/main" val="35821109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133" y="4713648"/>
            <a:ext cx="5433060" cy="4465558"/>
          </a:xfrm>
          <a:prstGeom prst="rect">
            <a:avLst/>
          </a:prstGeom>
        </p:spPr>
        <p:txBody>
          <a:bodyPr lIns="88166" tIns="44083" rIns="88166" bIns="44083">
            <a:normAutofit/>
          </a:bodyPr>
          <a:lstStyle/>
          <a:p>
            <a:endParaRPr lang="en-US"/>
          </a:p>
        </p:txBody>
      </p:sp>
      <p:sp>
        <p:nvSpPr>
          <p:cNvPr id="4" name="Slide Number Placeholder 3"/>
          <p:cNvSpPr>
            <a:spLocks noGrp="1"/>
          </p:cNvSpPr>
          <p:nvPr>
            <p:ph type="sldNum" sz="quarter" idx="10"/>
          </p:nvPr>
        </p:nvSpPr>
        <p:spPr/>
        <p:txBody>
          <a:bodyPr/>
          <a:lstStyle/>
          <a:p>
            <a:fld id="{E15A28F2-8CAD-4F56-A39E-6A4BC478584B}" type="slidenum">
              <a:rPr lang="en-US" smtClean="0"/>
              <a:pPr/>
              <a:t>86</a:t>
            </a:fld>
            <a:endParaRPr lang="en-US"/>
          </a:p>
        </p:txBody>
      </p:sp>
    </p:spTree>
    <p:extLst>
      <p:ext uri="{BB962C8B-B14F-4D97-AF65-F5344CB8AC3E}">
        <p14:creationId xmlns:p14="http://schemas.microsoft.com/office/powerpoint/2010/main" val="34558659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133" y="4713648"/>
            <a:ext cx="5433060" cy="4465558"/>
          </a:xfrm>
          <a:prstGeom prst="rect">
            <a:avLst/>
          </a:prstGeom>
        </p:spPr>
        <p:txBody>
          <a:bodyPr lIns="88166" tIns="44083" rIns="88166" bIns="44083">
            <a:normAutofit/>
          </a:bodyPr>
          <a:lstStyle/>
          <a:p>
            <a:endParaRPr lang="en-US"/>
          </a:p>
        </p:txBody>
      </p:sp>
      <p:sp>
        <p:nvSpPr>
          <p:cNvPr id="4" name="Slide Number Placeholder 3"/>
          <p:cNvSpPr>
            <a:spLocks noGrp="1"/>
          </p:cNvSpPr>
          <p:nvPr>
            <p:ph type="sldNum" sz="quarter" idx="10"/>
          </p:nvPr>
        </p:nvSpPr>
        <p:spPr/>
        <p:txBody>
          <a:bodyPr/>
          <a:lstStyle/>
          <a:p>
            <a:fld id="{E15A28F2-8CAD-4F56-A39E-6A4BC478584B}" type="slidenum">
              <a:rPr lang="en-US" smtClean="0"/>
              <a:pPr/>
              <a:t>87</a:t>
            </a:fld>
            <a:endParaRPr lang="en-US"/>
          </a:p>
        </p:txBody>
      </p:sp>
    </p:spTree>
    <p:extLst>
      <p:ext uri="{BB962C8B-B14F-4D97-AF65-F5344CB8AC3E}">
        <p14:creationId xmlns:p14="http://schemas.microsoft.com/office/powerpoint/2010/main" val="18270618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133" y="4713648"/>
            <a:ext cx="5433060" cy="4465558"/>
          </a:xfrm>
          <a:prstGeom prst="rect">
            <a:avLst/>
          </a:prstGeom>
        </p:spPr>
        <p:txBody>
          <a:bodyPr lIns="88166" tIns="44083" rIns="88166" bIns="44083">
            <a:normAutofit/>
          </a:bodyPr>
          <a:lstStyle/>
          <a:p>
            <a:endParaRPr lang="en-US"/>
          </a:p>
        </p:txBody>
      </p:sp>
      <p:sp>
        <p:nvSpPr>
          <p:cNvPr id="4" name="Slide Number Placeholder 3"/>
          <p:cNvSpPr>
            <a:spLocks noGrp="1"/>
          </p:cNvSpPr>
          <p:nvPr>
            <p:ph type="sldNum" sz="quarter" idx="10"/>
          </p:nvPr>
        </p:nvSpPr>
        <p:spPr/>
        <p:txBody>
          <a:bodyPr/>
          <a:lstStyle/>
          <a:p>
            <a:fld id="{E15A28F2-8CAD-4F56-A39E-6A4BC478584B}" type="slidenum">
              <a:rPr lang="en-US" smtClean="0"/>
              <a:pPr/>
              <a:t>88</a:t>
            </a:fld>
            <a:endParaRPr lang="en-US"/>
          </a:p>
        </p:txBody>
      </p:sp>
    </p:spTree>
    <p:extLst>
      <p:ext uri="{BB962C8B-B14F-4D97-AF65-F5344CB8AC3E}">
        <p14:creationId xmlns:p14="http://schemas.microsoft.com/office/powerpoint/2010/main" val="19376715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133" y="4713648"/>
            <a:ext cx="5433060" cy="4465558"/>
          </a:xfrm>
          <a:prstGeom prst="rect">
            <a:avLst/>
          </a:prstGeom>
        </p:spPr>
        <p:txBody>
          <a:bodyPr lIns="88166" tIns="44083" rIns="88166" bIns="44083">
            <a:normAutofit/>
          </a:bodyPr>
          <a:lstStyle/>
          <a:p>
            <a:endParaRPr lang="en-US"/>
          </a:p>
        </p:txBody>
      </p:sp>
      <p:sp>
        <p:nvSpPr>
          <p:cNvPr id="4" name="Slide Number Placeholder 3"/>
          <p:cNvSpPr>
            <a:spLocks noGrp="1"/>
          </p:cNvSpPr>
          <p:nvPr>
            <p:ph type="sldNum" sz="quarter" idx="10"/>
          </p:nvPr>
        </p:nvSpPr>
        <p:spPr/>
        <p:txBody>
          <a:bodyPr/>
          <a:lstStyle/>
          <a:p>
            <a:fld id="{E15A28F2-8CAD-4F56-A39E-6A4BC478584B}" type="slidenum">
              <a:rPr lang="en-US" smtClean="0"/>
              <a:pPr/>
              <a:t>89</a:t>
            </a:fld>
            <a:endParaRPr lang="en-US"/>
          </a:p>
        </p:txBody>
      </p:sp>
    </p:spTree>
    <p:extLst>
      <p:ext uri="{BB962C8B-B14F-4D97-AF65-F5344CB8AC3E}">
        <p14:creationId xmlns:p14="http://schemas.microsoft.com/office/powerpoint/2010/main" val="28201530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133" y="4713648"/>
            <a:ext cx="5433060" cy="4465558"/>
          </a:xfrm>
          <a:prstGeom prst="rect">
            <a:avLst/>
          </a:prstGeom>
        </p:spPr>
        <p:txBody>
          <a:bodyPr lIns="88166" tIns="44083" rIns="88166" bIns="44083">
            <a:normAutofit/>
          </a:bodyPr>
          <a:lstStyle/>
          <a:p>
            <a:endParaRPr lang="en-US"/>
          </a:p>
        </p:txBody>
      </p:sp>
      <p:sp>
        <p:nvSpPr>
          <p:cNvPr id="4" name="Slide Number Placeholder 3"/>
          <p:cNvSpPr>
            <a:spLocks noGrp="1"/>
          </p:cNvSpPr>
          <p:nvPr>
            <p:ph type="sldNum" sz="quarter" idx="10"/>
          </p:nvPr>
        </p:nvSpPr>
        <p:spPr/>
        <p:txBody>
          <a:bodyPr/>
          <a:lstStyle/>
          <a:p>
            <a:fld id="{E15A28F2-8CAD-4F56-A39E-6A4BC478584B}" type="slidenum">
              <a:rPr lang="en-US" smtClean="0"/>
              <a:pPr/>
              <a:t>106</a:t>
            </a:fld>
            <a:endParaRPr lang="en-US"/>
          </a:p>
        </p:txBody>
      </p:sp>
    </p:spTree>
    <p:extLst>
      <p:ext uri="{BB962C8B-B14F-4D97-AF65-F5344CB8AC3E}">
        <p14:creationId xmlns:p14="http://schemas.microsoft.com/office/powerpoint/2010/main" val="34211121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133" y="4713648"/>
            <a:ext cx="5433060" cy="4465558"/>
          </a:xfrm>
          <a:prstGeom prst="rect">
            <a:avLst/>
          </a:prstGeom>
        </p:spPr>
        <p:txBody>
          <a:bodyPr lIns="88166" tIns="44083" rIns="88166" bIns="44083">
            <a:normAutofit/>
          </a:bodyPr>
          <a:lstStyle/>
          <a:p>
            <a:endParaRPr lang="en-US"/>
          </a:p>
        </p:txBody>
      </p:sp>
      <p:sp>
        <p:nvSpPr>
          <p:cNvPr id="4" name="Slide Number Placeholder 3"/>
          <p:cNvSpPr>
            <a:spLocks noGrp="1"/>
          </p:cNvSpPr>
          <p:nvPr>
            <p:ph type="sldNum" sz="quarter" idx="10"/>
          </p:nvPr>
        </p:nvSpPr>
        <p:spPr/>
        <p:txBody>
          <a:bodyPr/>
          <a:lstStyle/>
          <a:p>
            <a:fld id="{E15A28F2-8CAD-4F56-A39E-6A4BC478584B}" type="slidenum">
              <a:rPr lang="en-US" smtClean="0"/>
              <a:pPr/>
              <a:t>108</a:t>
            </a:fld>
            <a:endParaRPr lang="en-US"/>
          </a:p>
        </p:txBody>
      </p:sp>
    </p:spTree>
    <p:extLst>
      <p:ext uri="{BB962C8B-B14F-4D97-AF65-F5344CB8AC3E}">
        <p14:creationId xmlns:p14="http://schemas.microsoft.com/office/powerpoint/2010/main" val="41037210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133" y="4713648"/>
            <a:ext cx="5433060" cy="4465558"/>
          </a:xfrm>
          <a:prstGeom prst="rect">
            <a:avLst/>
          </a:prstGeom>
        </p:spPr>
        <p:txBody>
          <a:bodyPr lIns="88166" tIns="44083" rIns="88166" bIns="44083">
            <a:normAutofit/>
          </a:bodyPr>
          <a:lstStyle/>
          <a:p>
            <a:endParaRPr lang="en-US"/>
          </a:p>
        </p:txBody>
      </p:sp>
      <p:sp>
        <p:nvSpPr>
          <p:cNvPr id="4" name="Slide Number Placeholder 3"/>
          <p:cNvSpPr>
            <a:spLocks noGrp="1"/>
          </p:cNvSpPr>
          <p:nvPr>
            <p:ph type="sldNum" sz="quarter" idx="10"/>
          </p:nvPr>
        </p:nvSpPr>
        <p:spPr/>
        <p:txBody>
          <a:bodyPr/>
          <a:lstStyle/>
          <a:p>
            <a:fld id="{E15A28F2-8CAD-4F56-A39E-6A4BC478584B}" type="slidenum">
              <a:rPr lang="en-US" smtClean="0"/>
              <a:pPr/>
              <a:t>109</a:t>
            </a:fld>
            <a:endParaRPr lang="en-US"/>
          </a:p>
        </p:txBody>
      </p:sp>
    </p:spTree>
    <p:extLst>
      <p:ext uri="{BB962C8B-B14F-4D97-AF65-F5344CB8AC3E}">
        <p14:creationId xmlns:p14="http://schemas.microsoft.com/office/powerpoint/2010/main" val="2156265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133" y="4713648"/>
            <a:ext cx="5433060" cy="4465558"/>
          </a:xfrm>
          <a:prstGeom prst="rect">
            <a:avLst/>
          </a:prstGeom>
        </p:spPr>
        <p:txBody>
          <a:bodyPr lIns="88166" tIns="44083" rIns="88166" bIns="44083">
            <a:normAutofit/>
          </a:bodyPr>
          <a:lstStyle/>
          <a:p>
            <a:endParaRPr lang="en-US"/>
          </a:p>
        </p:txBody>
      </p:sp>
      <p:sp>
        <p:nvSpPr>
          <p:cNvPr id="4" name="Slide Number Placeholder 3"/>
          <p:cNvSpPr>
            <a:spLocks noGrp="1"/>
          </p:cNvSpPr>
          <p:nvPr>
            <p:ph type="sldNum" sz="quarter" idx="10"/>
          </p:nvPr>
        </p:nvSpPr>
        <p:spPr/>
        <p:txBody>
          <a:bodyPr/>
          <a:lstStyle/>
          <a:p>
            <a:fld id="{E15A28F2-8CAD-4F56-A39E-6A4BC478584B}" type="slidenum">
              <a:rPr lang="en-US" smtClean="0"/>
              <a:pPr/>
              <a:t>110</a:t>
            </a:fld>
            <a:endParaRPr lang="en-US"/>
          </a:p>
        </p:txBody>
      </p:sp>
    </p:spTree>
    <p:extLst>
      <p:ext uri="{BB962C8B-B14F-4D97-AF65-F5344CB8AC3E}">
        <p14:creationId xmlns:p14="http://schemas.microsoft.com/office/powerpoint/2010/main" val="12093224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133" y="4713648"/>
            <a:ext cx="5433060" cy="4465558"/>
          </a:xfrm>
          <a:prstGeom prst="rect">
            <a:avLst/>
          </a:prstGeom>
        </p:spPr>
        <p:txBody>
          <a:bodyPr lIns="88166" tIns="44083" rIns="88166" bIns="44083">
            <a:normAutofit/>
          </a:bodyPr>
          <a:lstStyle/>
          <a:p>
            <a:endParaRPr lang="en-US"/>
          </a:p>
        </p:txBody>
      </p:sp>
      <p:sp>
        <p:nvSpPr>
          <p:cNvPr id="4" name="Slide Number Placeholder 3"/>
          <p:cNvSpPr>
            <a:spLocks noGrp="1"/>
          </p:cNvSpPr>
          <p:nvPr>
            <p:ph type="sldNum" sz="quarter" idx="10"/>
          </p:nvPr>
        </p:nvSpPr>
        <p:spPr/>
        <p:txBody>
          <a:bodyPr/>
          <a:lstStyle/>
          <a:p>
            <a:fld id="{E15A28F2-8CAD-4F56-A39E-6A4BC478584B}" type="slidenum">
              <a:rPr lang="en-US" smtClean="0"/>
              <a:pPr/>
              <a:t>111</a:t>
            </a:fld>
            <a:endParaRPr lang="en-US"/>
          </a:p>
        </p:txBody>
      </p:sp>
    </p:spTree>
    <p:extLst>
      <p:ext uri="{BB962C8B-B14F-4D97-AF65-F5344CB8AC3E}">
        <p14:creationId xmlns:p14="http://schemas.microsoft.com/office/powerpoint/2010/main" val="18819766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133" y="4713648"/>
            <a:ext cx="5433060" cy="4465558"/>
          </a:xfrm>
          <a:prstGeom prst="rect">
            <a:avLst/>
          </a:prstGeom>
        </p:spPr>
        <p:txBody>
          <a:bodyPr lIns="88166" tIns="44083" rIns="88166" bIns="44083">
            <a:normAutofit/>
          </a:bodyPr>
          <a:lstStyle/>
          <a:p>
            <a:endParaRPr lang="en-US"/>
          </a:p>
        </p:txBody>
      </p:sp>
      <p:sp>
        <p:nvSpPr>
          <p:cNvPr id="4" name="Slide Number Placeholder 3"/>
          <p:cNvSpPr>
            <a:spLocks noGrp="1"/>
          </p:cNvSpPr>
          <p:nvPr>
            <p:ph type="sldNum" sz="quarter" idx="10"/>
          </p:nvPr>
        </p:nvSpPr>
        <p:spPr/>
        <p:txBody>
          <a:bodyPr/>
          <a:lstStyle/>
          <a:p>
            <a:fld id="{E15A28F2-8CAD-4F56-A39E-6A4BC478584B}" type="slidenum">
              <a:rPr lang="en-US" smtClean="0"/>
              <a:pPr/>
              <a:t>112</a:t>
            </a:fld>
            <a:endParaRPr lang="en-US"/>
          </a:p>
        </p:txBody>
      </p:sp>
    </p:spTree>
    <p:extLst>
      <p:ext uri="{BB962C8B-B14F-4D97-AF65-F5344CB8AC3E}">
        <p14:creationId xmlns:p14="http://schemas.microsoft.com/office/powerpoint/2010/main" val="7808375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133" y="4713648"/>
            <a:ext cx="5433060" cy="4465558"/>
          </a:xfrm>
          <a:prstGeom prst="rect">
            <a:avLst/>
          </a:prstGeom>
        </p:spPr>
        <p:txBody>
          <a:bodyPr lIns="88166" tIns="44083" rIns="88166" bIns="44083">
            <a:normAutofit/>
          </a:bodyPr>
          <a:lstStyle/>
          <a:p>
            <a:endParaRPr lang="en-US"/>
          </a:p>
        </p:txBody>
      </p:sp>
      <p:sp>
        <p:nvSpPr>
          <p:cNvPr id="4" name="Slide Number Placeholder 3"/>
          <p:cNvSpPr>
            <a:spLocks noGrp="1"/>
          </p:cNvSpPr>
          <p:nvPr>
            <p:ph type="sldNum" sz="quarter" idx="10"/>
          </p:nvPr>
        </p:nvSpPr>
        <p:spPr/>
        <p:txBody>
          <a:bodyPr/>
          <a:lstStyle/>
          <a:p>
            <a:fld id="{E15A28F2-8CAD-4F56-A39E-6A4BC478584B}" type="slidenum">
              <a:rPr lang="en-US" smtClean="0"/>
              <a:pPr/>
              <a:t>113</a:t>
            </a:fld>
            <a:endParaRPr lang="en-US"/>
          </a:p>
        </p:txBody>
      </p:sp>
    </p:spTree>
    <p:extLst>
      <p:ext uri="{BB962C8B-B14F-4D97-AF65-F5344CB8AC3E}">
        <p14:creationId xmlns:p14="http://schemas.microsoft.com/office/powerpoint/2010/main" val="35588503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133" y="4713648"/>
            <a:ext cx="5433060" cy="4465558"/>
          </a:xfrm>
          <a:prstGeom prst="rect">
            <a:avLst/>
          </a:prstGeom>
        </p:spPr>
        <p:txBody>
          <a:bodyPr lIns="88166" tIns="44083" rIns="88166" bIns="44083">
            <a:normAutofit/>
          </a:bodyPr>
          <a:lstStyle/>
          <a:p>
            <a:endParaRPr lang="en-US"/>
          </a:p>
        </p:txBody>
      </p:sp>
      <p:sp>
        <p:nvSpPr>
          <p:cNvPr id="4" name="Slide Number Placeholder 3"/>
          <p:cNvSpPr>
            <a:spLocks noGrp="1"/>
          </p:cNvSpPr>
          <p:nvPr>
            <p:ph type="sldNum" sz="quarter" idx="10"/>
          </p:nvPr>
        </p:nvSpPr>
        <p:spPr/>
        <p:txBody>
          <a:bodyPr/>
          <a:lstStyle/>
          <a:p>
            <a:fld id="{E15A28F2-8CAD-4F56-A39E-6A4BC478584B}" type="slidenum">
              <a:rPr lang="en-US" smtClean="0"/>
              <a:pPr/>
              <a:t>114</a:t>
            </a:fld>
            <a:endParaRPr lang="en-US"/>
          </a:p>
        </p:txBody>
      </p:sp>
    </p:spTree>
    <p:extLst>
      <p:ext uri="{BB962C8B-B14F-4D97-AF65-F5344CB8AC3E}">
        <p14:creationId xmlns:p14="http://schemas.microsoft.com/office/powerpoint/2010/main" val="32386703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133" y="4713648"/>
            <a:ext cx="5433060" cy="4465558"/>
          </a:xfrm>
          <a:prstGeom prst="rect">
            <a:avLst/>
          </a:prstGeom>
        </p:spPr>
        <p:txBody>
          <a:bodyPr lIns="88166" tIns="44083" rIns="88166" bIns="44083">
            <a:normAutofit/>
          </a:bodyPr>
          <a:lstStyle/>
          <a:p>
            <a:endParaRPr lang="en-US"/>
          </a:p>
        </p:txBody>
      </p:sp>
      <p:sp>
        <p:nvSpPr>
          <p:cNvPr id="4" name="Slide Number Placeholder 3"/>
          <p:cNvSpPr>
            <a:spLocks noGrp="1"/>
          </p:cNvSpPr>
          <p:nvPr>
            <p:ph type="sldNum" sz="quarter" idx="10"/>
          </p:nvPr>
        </p:nvSpPr>
        <p:spPr/>
        <p:txBody>
          <a:bodyPr/>
          <a:lstStyle/>
          <a:p>
            <a:fld id="{E15A28F2-8CAD-4F56-A39E-6A4BC478584B}" type="slidenum">
              <a:rPr lang="en-US" smtClean="0"/>
              <a:pPr/>
              <a:t>115</a:t>
            </a:fld>
            <a:endParaRPr lang="en-US"/>
          </a:p>
        </p:txBody>
      </p:sp>
    </p:spTree>
    <p:extLst>
      <p:ext uri="{BB962C8B-B14F-4D97-AF65-F5344CB8AC3E}">
        <p14:creationId xmlns:p14="http://schemas.microsoft.com/office/powerpoint/2010/main" val="19957785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133" y="4713648"/>
            <a:ext cx="5433060" cy="4465558"/>
          </a:xfrm>
          <a:prstGeom prst="rect">
            <a:avLst/>
          </a:prstGeom>
        </p:spPr>
        <p:txBody>
          <a:bodyPr lIns="88166" tIns="44083" rIns="88166" bIns="44083">
            <a:normAutofit/>
          </a:bodyPr>
          <a:lstStyle/>
          <a:p>
            <a:endParaRPr lang="en-US"/>
          </a:p>
        </p:txBody>
      </p:sp>
      <p:sp>
        <p:nvSpPr>
          <p:cNvPr id="4" name="Slide Number Placeholder 3"/>
          <p:cNvSpPr>
            <a:spLocks noGrp="1"/>
          </p:cNvSpPr>
          <p:nvPr>
            <p:ph type="sldNum" sz="quarter" idx="10"/>
          </p:nvPr>
        </p:nvSpPr>
        <p:spPr/>
        <p:txBody>
          <a:bodyPr/>
          <a:lstStyle/>
          <a:p>
            <a:fld id="{E15A28F2-8CAD-4F56-A39E-6A4BC478584B}" type="slidenum">
              <a:rPr lang="en-US" smtClean="0"/>
              <a:pPr/>
              <a:t>116</a:t>
            </a:fld>
            <a:endParaRPr lang="en-US"/>
          </a:p>
        </p:txBody>
      </p:sp>
    </p:spTree>
    <p:extLst>
      <p:ext uri="{BB962C8B-B14F-4D97-AF65-F5344CB8AC3E}">
        <p14:creationId xmlns:p14="http://schemas.microsoft.com/office/powerpoint/2010/main" val="25241568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133" y="4713648"/>
            <a:ext cx="5433060" cy="4465558"/>
          </a:xfrm>
          <a:prstGeom prst="rect">
            <a:avLst/>
          </a:prstGeom>
        </p:spPr>
        <p:txBody>
          <a:bodyPr lIns="88166" tIns="44083" rIns="88166" bIns="44083">
            <a:normAutofit/>
          </a:bodyPr>
          <a:lstStyle/>
          <a:p>
            <a:endParaRPr lang="en-US"/>
          </a:p>
        </p:txBody>
      </p:sp>
      <p:sp>
        <p:nvSpPr>
          <p:cNvPr id="4" name="Slide Number Placeholder 3"/>
          <p:cNvSpPr>
            <a:spLocks noGrp="1"/>
          </p:cNvSpPr>
          <p:nvPr>
            <p:ph type="sldNum" sz="quarter" idx="10"/>
          </p:nvPr>
        </p:nvSpPr>
        <p:spPr/>
        <p:txBody>
          <a:bodyPr/>
          <a:lstStyle/>
          <a:p>
            <a:fld id="{E15A28F2-8CAD-4F56-A39E-6A4BC478584B}" type="slidenum">
              <a:rPr lang="en-US" smtClean="0"/>
              <a:pPr/>
              <a:t>117</a:t>
            </a:fld>
            <a:endParaRPr lang="en-US"/>
          </a:p>
        </p:txBody>
      </p:sp>
    </p:spTree>
    <p:extLst>
      <p:ext uri="{BB962C8B-B14F-4D97-AF65-F5344CB8AC3E}">
        <p14:creationId xmlns:p14="http://schemas.microsoft.com/office/powerpoint/2010/main" val="40499406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133" y="4713648"/>
            <a:ext cx="5433060" cy="4465558"/>
          </a:xfrm>
          <a:prstGeom prst="rect">
            <a:avLst/>
          </a:prstGeom>
        </p:spPr>
        <p:txBody>
          <a:bodyPr lIns="88166" tIns="44083" rIns="88166" bIns="44083">
            <a:normAutofit/>
          </a:bodyPr>
          <a:lstStyle/>
          <a:p>
            <a:endParaRPr lang="en-US"/>
          </a:p>
        </p:txBody>
      </p:sp>
      <p:sp>
        <p:nvSpPr>
          <p:cNvPr id="4" name="Slide Number Placeholder 3"/>
          <p:cNvSpPr>
            <a:spLocks noGrp="1"/>
          </p:cNvSpPr>
          <p:nvPr>
            <p:ph type="sldNum" sz="quarter" idx="10"/>
          </p:nvPr>
        </p:nvSpPr>
        <p:spPr/>
        <p:txBody>
          <a:bodyPr/>
          <a:lstStyle/>
          <a:p>
            <a:fld id="{E15A28F2-8CAD-4F56-A39E-6A4BC478584B}" type="slidenum">
              <a:rPr lang="en-US" smtClean="0"/>
              <a:pPr/>
              <a:t>118</a:t>
            </a:fld>
            <a:endParaRPr lang="en-US"/>
          </a:p>
        </p:txBody>
      </p:sp>
    </p:spTree>
    <p:extLst>
      <p:ext uri="{BB962C8B-B14F-4D97-AF65-F5344CB8AC3E}">
        <p14:creationId xmlns:p14="http://schemas.microsoft.com/office/powerpoint/2010/main" val="15802066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133" y="4713648"/>
            <a:ext cx="5433060" cy="4465558"/>
          </a:xfrm>
          <a:prstGeom prst="rect">
            <a:avLst/>
          </a:prstGeom>
        </p:spPr>
        <p:txBody>
          <a:bodyPr lIns="88166" tIns="44083" rIns="88166" bIns="44083">
            <a:normAutofit/>
          </a:bodyPr>
          <a:lstStyle/>
          <a:p>
            <a:endParaRPr lang="en-US"/>
          </a:p>
        </p:txBody>
      </p:sp>
      <p:sp>
        <p:nvSpPr>
          <p:cNvPr id="4" name="Slide Number Placeholder 3"/>
          <p:cNvSpPr>
            <a:spLocks noGrp="1"/>
          </p:cNvSpPr>
          <p:nvPr>
            <p:ph type="sldNum" sz="quarter" idx="10"/>
          </p:nvPr>
        </p:nvSpPr>
        <p:spPr/>
        <p:txBody>
          <a:bodyPr/>
          <a:lstStyle/>
          <a:p>
            <a:fld id="{E15A28F2-8CAD-4F56-A39E-6A4BC478584B}" type="slidenum">
              <a:rPr lang="en-US" smtClean="0"/>
              <a:pPr/>
              <a:t>122</a:t>
            </a:fld>
            <a:endParaRPr lang="en-US"/>
          </a:p>
        </p:txBody>
      </p:sp>
    </p:spTree>
    <p:extLst>
      <p:ext uri="{BB962C8B-B14F-4D97-AF65-F5344CB8AC3E}">
        <p14:creationId xmlns:p14="http://schemas.microsoft.com/office/powerpoint/2010/main" val="6654711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133" y="4713648"/>
            <a:ext cx="5433060" cy="4465558"/>
          </a:xfrm>
          <a:prstGeom prst="rect">
            <a:avLst/>
          </a:prstGeom>
        </p:spPr>
        <p:txBody>
          <a:bodyPr lIns="88166" tIns="44083" rIns="88166" bIns="44083">
            <a:normAutofit/>
          </a:bodyPr>
          <a:lstStyle/>
          <a:p>
            <a:endParaRPr lang="en-US"/>
          </a:p>
        </p:txBody>
      </p:sp>
      <p:sp>
        <p:nvSpPr>
          <p:cNvPr id="4" name="Slide Number Placeholder 3"/>
          <p:cNvSpPr>
            <a:spLocks noGrp="1"/>
          </p:cNvSpPr>
          <p:nvPr>
            <p:ph type="sldNum" sz="quarter" idx="10"/>
          </p:nvPr>
        </p:nvSpPr>
        <p:spPr/>
        <p:txBody>
          <a:bodyPr/>
          <a:lstStyle/>
          <a:p>
            <a:fld id="{E15A28F2-8CAD-4F56-A39E-6A4BC478584B}" type="slidenum">
              <a:rPr lang="en-US" smtClean="0"/>
              <a:pPr/>
              <a:t>123</a:t>
            </a:fld>
            <a:endParaRPr lang="en-US"/>
          </a:p>
        </p:txBody>
      </p:sp>
    </p:spTree>
    <p:extLst>
      <p:ext uri="{BB962C8B-B14F-4D97-AF65-F5344CB8AC3E}">
        <p14:creationId xmlns:p14="http://schemas.microsoft.com/office/powerpoint/2010/main" val="30099059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133" y="4713648"/>
            <a:ext cx="5433060" cy="4465558"/>
          </a:xfrm>
          <a:prstGeom prst="rect">
            <a:avLst/>
          </a:prstGeom>
        </p:spPr>
        <p:txBody>
          <a:bodyPr lIns="88166" tIns="44083" rIns="88166" bIns="44083">
            <a:normAutofit/>
          </a:bodyPr>
          <a:lstStyle/>
          <a:p>
            <a:endParaRPr lang="en-US"/>
          </a:p>
        </p:txBody>
      </p:sp>
      <p:sp>
        <p:nvSpPr>
          <p:cNvPr id="4" name="Slide Number Placeholder 3"/>
          <p:cNvSpPr>
            <a:spLocks noGrp="1"/>
          </p:cNvSpPr>
          <p:nvPr>
            <p:ph type="sldNum" sz="quarter" idx="10"/>
          </p:nvPr>
        </p:nvSpPr>
        <p:spPr/>
        <p:txBody>
          <a:bodyPr/>
          <a:lstStyle/>
          <a:p>
            <a:fld id="{E15A28F2-8CAD-4F56-A39E-6A4BC478584B}" type="slidenum">
              <a:rPr lang="en-US" smtClean="0"/>
              <a:pPr/>
              <a:t>124</a:t>
            </a:fld>
            <a:endParaRPr lang="en-US"/>
          </a:p>
        </p:txBody>
      </p:sp>
    </p:spTree>
    <p:extLst>
      <p:ext uri="{BB962C8B-B14F-4D97-AF65-F5344CB8AC3E}">
        <p14:creationId xmlns:p14="http://schemas.microsoft.com/office/powerpoint/2010/main" val="28391572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133" y="4713648"/>
            <a:ext cx="5433060" cy="4465558"/>
          </a:xfrm>
          <a:prstGeom prst="rect">
            <a:avLst/>
          </a:prstGeom>
        </p:spPr>
        <p:txBody>
          <a:bodyPr lIns="88166" tIns="44083" rIns="88166" bIns="44083">
            <a:normAutofit/>
          </a:bodyPr>
          <a:lstStyle/>
          <a:p>
            <a:endParaRPr lang="en-US"/>
          </a:p>
        </p:txBody>
      </p:sp>
      <p:sp>
        <p:nvSpPr>
          <p:cNvPr id="4" name="Slide Number Placeholder 3"/>
          <p:cNvSpPr>
            <a:spLocks noGrp="1"/>
          </p:cNvSpPr>
          <p:nvPr>
            <p:ph type="sldNum" sz="quarter" idx="10"/>
          </p:nvPr>
        </p:nvSpPr>
        <p:spPr/>
        <p:txBody>
          <a:bodyPr/>
          <a:lstStyle/>
          <a:p>
            <a:fld id="{E15A28F2-8CAD-4F56-A39E-6A4BC478584B}" type="slidenum">
              <a:rPr lang="en-US" smtClean="0"/>
              <a:pPr/>
              <a:t>125</a:t>
            </a:fld>
            <a:endParaRPr lang="en-US"/>
          </a:p>
        </p:txBody>
      </p:sp>
    </p:spTree>
    <p:extLst>
      <p:ext uri="{BB962C8B-B14F-4D97-AF65-F5344CB8AC3E}">
        <p14:creationId xmlns:p14="http://schemas.microsoft.com/office/powerpoint/2010/main" val="32947476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133" y="4713648"/>
            <a:ext cx="5433060" cy="4465558"/>
          </a:xfrm>
          <a:prstGeom prst="rect">
            <a:avLst/>
          </a:prstGeom>
        </p:spPr>
        <p:txBody>
          <a:bodyPr lIns="88166" tIns="44083" rIns="88166" bIns="44083">
            <a:normAutofit/>
          </a:bodyPr>
          <a:lstStyle/>
          <a:p>
            <a:endParaRPr lang="en-US"/>
          </a:p>
        </p:txBody>
      </p:sp>
      <p:sp>
        <p:nvSpPr>
          <p:cNvPr id="4" name="Slide Number Placeholder 3"/>
          <p:cNvSpPr>
            <a:spLocks noGrp="1"/>
          </p:cNvSpPr>
          <p:nvPr>
            <p:ph type="sldNum" sz="quarter" idx="10"/>
          </p:nvPr>
        </p:nvSpPr>
        <p:spPr/>
        <p:txBody>
          <a:bodyPr/>
          <a:lstStyle/>
          <a:p>
            <a:fld id="{E15A28F2-8CAD-4F56-A39E-6A4BC478584B}" type="slidenum">
              <a:rPr lang="en-US" smtClean="0"/>
              <a:pPr/>
              <a:t>126</a:t>
            </a:fld>
            <a:endParaRPr lang="en-US"/>
          </a:p>
        </p:txBody>
      </p:sp>
    </p:spTree>
    <p:extLst>
      <p:ext uri="{BB962C8B-B14F-4D97-AF65-F5344CB8AC3E}">
        <p14:creationId xmlns:p14="http://schemas.microsoft.com/office/powerpoint/2010/main" val="25816531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133" y="4713648"/>
            <a:ext cx="5433060" cy="4465558"/>
          </a:xfrm>
          <a:prstGeom prst="rect">
            <a:avLst/>
          </a:prstGeom>
        </p:spPr>
        <p:txBody>
          <a:bodyPr lIns="88166" tIns="44083" rIns="88166" bIns="44083">
            <a:normAutofit/>
          </a:bodyPr>
          <a:lstStyle/>
          <a:p>
            <a:endParaRPr lang="en-US"/>
          </a:p>
        </p:txBody>
      </p:sp>
      <p:sp>
        <p:nvSpPr>
          <p:cNvPr id="4" name="Slide Number Placeholder 3"/>
          <p:cNvSpPr>
            <a:spLocks noGrp="1"/>
          </p:cNvSpPr>
          <p:nvPr>
            <p:ph type="sldNum" sz="quarter" idx="10"/>
          </p:nvPr>
        </p:nvSpPr>
        <p:spPr/>
        <p:txBody>
          <a:bodyPr/>
          <a:lstStyle/>
          <a:p>
            <a:fld id="{E15A28F2-8CAD-4F56-A39E-6A4BC478584B}" type="slidenum">
              <a:rPr lang="en-US" smtClean="0"/>
              <a:pPr/>
              <a:t>127</a:t>
            </a:fld>
            <a:endParaRPr lang="en-US"/>
          </a:p>
        </p:txBody>
      </p:sp>
    </p:spTree>
    <p:extLst>
      <p:ext uri="{BB962C8B-B14F-4D97-AF65-F5344CB8AC3E}">
        <p14:creationId xmlns:p14="http://schemas.microsoft.com/office/powerpoint/2010/main" val="5553240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133" y="4713648"/>
            <a:ext cx="5433060" cy="4465558"/>
          </a:xfrm>
          <a:prstGeom prst="rect">
            <a:avLst/>
          </a:prstGeom>
        </p:spPr>
        <p:txBody>
          <a:bodyPr lIns="88166" tIns="44083" rIns="88166" bIns="44083">
            <a:normAutofit/>
          </a:bodyPr>
          <a:lstStyle/>
          <a:p>
            <a:endParaRPr lang="en-US"/>
          </a:p>
        </p:txBody>
      </p:sp>
      <p:sp>
        <p:nvSpPr>
          <p:cNvPr id="4" name="Slide Number Placeholder 3"/>
          <p:cNvSpPr>
            <a:spLocks noGrp="1"/>
          </p:cNvSpPr>
          <p:nvPr>
            <p:ph type="sldNum" sz="quarter" idx="10"/>
          </p:nvPr>
        </p:nvSpPr>
        <p:spPr/>
        <p:txBody>
          <a:bodyPr/>
          <a:lstStyle/>
          <a:p>
            <a:fld id="{E15A28F2-8CAD-4F56-A39E-6A4BC478584B}" type="slidenum">
              <a:rPr lang="en-US" smtClean="0"/>
              <a:pPr/>
              <a:t>128</a:t>
            </a:fld>
            <a:endParaRPr lang="en-US"/>
          </a:p>
        </p:txBody>
      </p:sp>
    </p:spTree>
    <p:extLst>
      <p:ext uri="{BB962C8B-B14F-4D97-AF65-F5344CB8AC3E}">
        <p14:creationId xmlns:p14="http://schemas.microsoft.com/office/powerpoint/2010/main" val="14414624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Date Placeholder 3"/>
          <p:cNvSpPr>
            <a:spLocks noGrp="1"/>
          </p:cNvSpPr>
          <p:nvPr>
            <p:ph type="dt" sz="half" idx="10"/>
          </p:nvPr>
        </p:nvSpPr>
        <p:spPr/>
        <p:txBody>
          <a:bodyPr/>
          <a:lstStyle>
            <a:lvl1pPr>
              <a:defRPr/>
            </a:lvl1pPr>
          </a:lstStyle>
          <a:p>
            <a:pPr>
              <a:defRPr/>
            </a:pPr>
            <a:fld id="{DF085AD2-EAF9-44D4-9DC0-A904DACFF846}" type="datetimeFigureOut">
              <a:rPr lang="en-US"/>
              <a:pPr>
                <a:defRPr/>
              </a:pPr>
              <a:t>12/1/2023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6303159B-6DED-40ED-899A-53891BB365C7}" type="slidenum">
              <a:rPr lang="en-US"/>
              <a:pPr>
                <a:defRPr/>
              </a:pPr>
              <a:t>‹#›</a:t>
            </a:fld>
            <a:endParaRPr lang="en-US"/>
          </a:p>
        </p:txBody>
      </p:sp>
      <p:pic>
        <p:nvPicPr>
          <p:cNvPr id="8" name="Picture 2" descr="C:\Users\ali\Documents\prj\metu\webpage\redar\metuncc_emblem_h500.jpg"/>
          <p:cNvPicPr>
            <a:picLocks noChangeAspect="1" noChangeArrowheads="1"/>
          </p:cNvPicPr>
          <p:nvPr userDrawn="1"/>
        </p:nvPicPr>
        <p:blipFill>
          <a:blip r:embed="rId2" cstate="print"/>
          <a:srcRect/>
          <a:stretch>
            <a:fillRect/>
          </a:stretch>
        </p:blipFill>
        <p:spPr bwMode="auto">
          <a:xfrm>
            <a:off x="7124700" y="0"/>
            <a:ext cx="2019300" cy="782638"/>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28082" y="0"/>
            <a:ext cx="1615918" cy="702245"/>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p:txBody>
          <a:bodyPr/>
          <a:lstStyle/>
          <a:p>
            <a:pPr>
              <a:defRPr/>
            </a:pPr>
            <a:fld id="{571111D4-87A2-4FF9-BF16-4D005677BA2C}" type="datetimeFigureOut">
              <a:rPr lang="en-US" smtClean="0"/>
              <a:pPr>
                <a:defRPr/>
              </a:pPr>
              <a:t>12/1/2023</a:t>
            </a:fld>
            <a:endParaRPr lang="en-US"/>
          </a:p>
        </p:txBody>
      </p:sp>
      <p:sp>
        <p:nvSpPr>
          <p:cNvPr id="9" name="Slide Number Placeholder 8"/>
          <p:cNvSpPr>
            <a:spLocks noGrp="1"/>
          </p:cNvSpPr>
          <p:nvPr>
            <p:ph type="sldNum" sz="quarter" idx="11"/>
          </p:nvPr>
        </p:nvSpPr>
        <p:spPr>
          <a:xfrm>
            <a:off x="6667500" y="6454776"/>
            <a:ext cx="2438400" cy="365125"/>
          </a:xfrm>
        </p:spPr>
        <p:txBody>
          <a:bodyPr/>
          <a:lstStyle/>
          <a:p>
            <a:pPr>
              <a:defRPr/>
            </a:pPr>
            <a:fld id="{A957CEED-90C7-4FD0-AB8C-14085BB9151E}" type="slidenum">
              <a:rPr lang="en-US" smtClean="0"/>
              <a:pPr>
                <a:defRPr/>
              </a:pPr>
              <a:t>‹#›</a:t>
            </a:fld>
            <a:endParaRPr lang="en-US" dirty="0"/>
          </a:p>
        </p:txBody>
      </p:sp>
      <p:sp>
        <p:nvSpPr>
          <p:cNvPr id="10" name="Footer Placeholder 9"/>
          <p:cNvSpPr>
            <a:spLocks noGrp="1"/>
          </p:cNvSpPr>
          <p:nvPr>
            <p:ph type="ftr" sz="quarter" idx="12"/>
          </p:nvPr>
        </p:nvSpPr>
        <p:spPr/>
        <p:txBody>
          <a:bodyPr/>
          <a:lstStyle/>
          <a:p>
            <a:pPr>
              <a:defRPr/>
            </a:pPr>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DA220A69-C4DD-4109-A3ED-37F087A1F132}" type="datetimeFigureOut">
              <a:rPr lang="en-US"/>
              <a:pPr>
                <a:defRPr/>
              </a:pPr>
              <a:t>12/1/2023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434C74F-BF3E-4F24-8B3C-16FB0EDD9D87}"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B42164C4-958C-45BC-BD54-965BB7070DEB}" type="datetimeFigureOut">
              <a:rPr lang="en-US"/>
              <a:pPr>
                <a:defRPr/>
              </a:pPr>
              <a:t>12/1/2023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479941DC-0B2E-48E2-A6F0-9636F82086E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78B2E9F9-703D-4B2D-9EFE-5A284F223768}" type="datetimeFigureOut">
              <a:rPr lang="en-US"/>
              <a:pPr>
                <a:defRPr/>
              </a:pPr>
              <a:t>12/1/2023</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C3915964-DF3F-4834-BE59-592FCDF52C0B}"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2" descr="C:\Users\ali\Documents\prj\metu\webpage\redar\metuncc_emblem_h500.jpg"/>
          <p:cNvPicPr>
            <a:picLocks noChangeAspect="1" noChangeArrowheads="1"/>
          </p:cNvPicPr>
          <p:nvPr userDrawn="1"/>
        </p:nvPicPr>
        <p:blipFill>
          <a:blip r:embed="rId2" cstate="print"/>
          <a:srcRect/>
          <a:stretch>
            <a:fillRect/>
          </a:stretch>
        </p:blipFill>
        <p:spPr bwMode="auto">
          <a:xfrm>
            <a:off x="7124700" y="0"/>
            <a:ext cx="2019300" cy="782638"/>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AA66C235-395A-448E-84C7-3296EFFFA653}" type="datetimeFigureOut">
              <a:rPr lang="en-US"/>
              <a:pPr>
                <a:defRPr/>
              </a:pPr>
              <a:t>12/1/2023</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5AA6C548-C3D6-438F-AF28-F918C44420D6}"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82A89FF-37F9-41AE-A1AE-9FE9D4F65210}" type="datetimeFigureOut">
              <a:rPr lang="en-US"/>
              <a:pPr>
                <a:defRPr/>
              </a:pPr>
              <a:t>12/1/2023</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2D3E618-5168-46D8-9093-4FFD328E4CA3}"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98C32A4D-DBA8-4AC9-A112-BADF4813838F}" type="datetimeFigureOut">
              <a:rPr lang="en-US"/>
              <a:pPr>
                <a:defRPr/>
              </a:pPr>
              <a:t>12/1/2023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E5CE29A-235E-4102-A7BB-AC1422769E12}"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608830A5-9CDD-4A01-AE6C-B7F774C547D9}" type="datetimeFigureOut">
              <a:rPr lang="en-US"/>
              <a:pPr>
                <a:defRPr/>
              </a:pPr>
              <a:t>12/1/2023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55B51D7-DCE0-49C4-9B0B-0EC664849A65}"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5D180D80-6114-402D-A1C1-7E7B8DEED232}" type="datetimeFigureOut">
              <a:rPr lang="en-US"/>
              <a:pPr>
                <a:defRPr/>
              </a:pPr>
              <a:t>12/1/2023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16750E7-EF53-4816-BA7D-520B91DC7E0B}"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13AFF668-FF27-4A48-BBBC-72969536306B}" type="datetimeFigureOut">
              <a:rPr lang="en-US"/>
              <a:pPr>
                <a:defRPr/>
              </a:pPr>
              <a:t>12/1/2023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BE57CBA-45D2-49F3-AE4F-4082575BC865}"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Date Placeholder 3"/>
          <p:cNvSpPr>
            <a:spLocks noGrp="1"/>
          </p:cNvSpPr>
          <p:nvPr>
            <p:ph type="dt" sz="half" idx="10"/>
          </p:nvPr>
        </p:nvSpPr>
        <p:spPr/>
        <p:txBody>
          <a:bodyPr/>
          <a:lstStyle>
            <a:lvl1pPr>
              <a:defRPr/>
            </a:lvl1pPr>
          </a:lstStyle>
          <a:p>
            <a:pPr>
              <a:defRPr/>
            </a:pPr>
            <a:fld id="{DF085AD2-EAF9-44D4-9DC0-A904DACFF846}" type="datetimeFigureOut">
              <a:rPr lang="en-US">
                <a:solidFill>
                  <a:prstClr val="black">
                    <a:tint val="75000"/>
                  </a:prstClr>
                </a:solidFill>
              </a:rPr>
              <a:pPr>
                <a:defRPr/>
              </a:pPr>
              <a:t>12/1/2023</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6303159B-6DED-40ED-899A-53891BB365C7}" type="slidenum">
              <a:rPr lang="en-US">
                <a:solidFill>
                  <a:prstClr val="black">
                    <a:tint val="75000"/>
                  </a:prstClr>
                </a:solidFill>
              </a:rPr>
              <a:pPr>
                <a:defRPr/>
              </a:pPr>
              <a:t>‹#›</a:t>
            </a:fld>
            <a:endParaRPr lang="en-US">
              <a:solidFill>
                <a:prstClr val="black">
                  <a:tint val="75000"/>
                </a:prstClr>
              </a:solidFill>
            </a:endParaRPr>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28082" y="0"/>
            <a:ext cx="1615918" cy="702245"/>
          </a:xfrm>
          <a:prstGeom prst="rect">
            <a:avLst/>
          </a:prstGeom>
        </p:spPr>
      </p:pic>
    </p:spTree>
    <p:extLst>
      <p:ext uri="{BB962C8B-B14F-4D97-AF65-F5344CB8AC3E}">
        <p14:creationId xmlns:p14="http://schemas.microsoft.com/office/powerpoint/2010/main" val="23510885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28082" y="0"/>
            <a:ext cx="1615918" cy="702245"/>
          </a:xfrm>
          <a:prstGeom prst="rect">
            <a:avLst/>
          </a:prstGeom>
        </p:spPr>
      </p:pic>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p:txBody>
          <a:bodyPr/>
          <a:lstStyle/>
          <a:p>
            <a:pPr>
              <a:defRPr/>
            </a:pPr>
            <a:fld id="{571111D4-87A2-4FF9-BF16-4D005677BA2C}" type="datetimeFigureOut">
              <a:rPr lang="en-US">
                <a:solidFill>
                  <a:prstClr val="black">
                    <a:tint val="75000"/>
                  </a:prstClr>
                </a:solidFill>
              </a:rPr>
              <a:pPr>
                <a:defRPr/>
              </a:pPr>
              <a:t>12/1/2023</a:t>
            </a:fld>
            <a:endParaRPr lang="en-US" dirty="0">
              <a:solidFill>
                <a:prstClr val="black">
                  <a:tint val="75000"/>
                </a:prstClr>
              </a:solidFill>
            </a:endParaRPr>
          </a:p>
        </p:txBody>
      </p:sp>
      <p:sp>
        <p:nvSpPr>
          <p:cNvPr id="9" name="Slide Number Placeholder 8"/>
          <p:cNvSpPr>
            <a:spLocks noGrp="1"/>
          </p:cNvSpPr>
          <p:nvPr>
            <p:ph type="sldNum" sz="quarter" idx="11"/>
          </p:nvPr>
        </p:nvSpPr>
        <p:spPr>
          <a:xfrm>
            <a:off x="6667500" y="6454776"/>
            <a:ext cx="2438400" cy="365125"/>
          </a:xfrm>
        </p:spPr>
        <p:txBody>
          <a:bodyPr/>
          <a:lstStyle/>
          <a:p>
            <a:pPr>
              <a:defRPr/>
            </a:pPr>
            <a:fld id="{A957CEED-90C7-4FD0-AB8C-14085BB9151E}" type="slidenum">
              <a:rPr lang="en-US">
                <a:solidFill>
                  <a:prstClr val="black">
                    <a:tint val="75000"/>
                  </a:prstClr>
                </a:solidFill>
              </a:rPr>
              <a:pPr>
                <a:defRPr/>
              </a:pPr>
              <a:t>‹#›</a:t>
            </a:fld>
            <a:endParaRPr lang="en-US" dirty="0">
              <a:solidFill>
                <a:prstClr val="black">
                  <a:tint val="75000"/>
                </a:prstClr>
              </a:solidFill>
            </a:endParaRPr>
          </a:p>
        </p:txBody>
      </p:sp>
      <p:sp>
        <p:nvSpPr>
          <p:cNvPr id="10" name="Footer Placeholder 9"/>
          <p:cNvSpPr>
            <a:spLocks noGrp="1"/>
          </p:cNvSpPr>
          <p:nvPr>
            <p:ph type="ftr" sz="quarter" idx="12"/>
          </p:nvPr>
        </p:nvSpPr>
        <p:spPr/>
        <p:txBody>
          <a:bodyPr/>
          <a:lstStyle/>
          <a:p>
            <a:pPr>
              <a:defRPr/>
            </a:pPr>
            <a:endParaRPr lang="en-US">
              <a:solidFill>
                <a:prstClr val="black">
                  <a:tint val="75000"/>
                </a:prstClr>
              </a:solidFill>
            </a:endParaRPr>
          </a:p>
        </p:txBody>
      </p:sp>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69754078"/>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DA220A69-C4DD-4109-A3ED-37F087A1F132}" type="datetimeFigureOut">
              <a:rPr lang="en-US">
                <a:solidFill>
                  <a:prstClr val="black">
                    <a:tint val="75000"/>
                  </a:prstClr>
                </a:solidFill>
              </a:rPr>
              <a:pPr>
                <a:defRPr/>
              </a:pPr>
              <a:t>12/1/2023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7434C74F-BF3E-4F24-8B3C-16FB0EDD9D87}"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4200163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B42164C4-958C-45BC-BD54-965BB7070DEB}" type="datetimeFigureOut">
              <a:rPr lang="en-US">
                <a:solidFill>
                  <a:prstClr val="black">
                    <a:tint val="75000"/>
                  </a:prstClr>
                </a:solidFill>
              </a:rPr>
              <a:pPr>
                <a:defRPr/>
              </a:pPr>
              <a:t>12/1/2023</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79941DC-0B2E-48E2-A6F0-9636F82086E6}"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4486224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78B2E9F9-703D-4B2D-9EFE-5A284F223768}" type="datetimeFigureOut">
              <a:rPr lang="en-US">
                <a:solidFill>
                  <a:prstClr val="black">
                    <a:tint val="75000"/>
                  </a:prstClr>
                </a:solidFill>
              </a:rPr>
              <a:pPr>
                <a:defRPr/>
              </a:pPr>
              <a:t>12/1/2023</a:t>
            </a:fld>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C3915964-DF3F-4834-BE59-592FCDF52C0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8028427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AA66C235-395A-448E-84C7-3296EFFFA653}" type="datetimeFigureOut">
              <a:rPr lang="en-US">
                <a:solidFill>
                  <a:prstClr val="black">
                    <a:tint val="75000"/>
                  </a:prstClr>
                </a:solidFill>
              </a:rPr>
              <a:pPr>
                <a:defRPr/>
              </a:pPr>
              <a:t>12/1/2023</a:t>
            </a:fld>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5AA6C548-C3D6-438F-AF28-F918C44420D6}"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2149446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82A89FF-37F9-41AE-A1AE-9FE9D4F65210}" type="datetimeFigureOut">
              <a:rPr lang="en-US">
                <a:solidFill>
                  <a:prstClr val="black">
                    <a:tint val="75000"/>
                  </a:prstClr>
                </a:solidFill>
              </a:rPr>
              <a:pPr>
                <a:defRPr/>
              </a:pPr>
              <a:t>12/1/2023</a:t>
            </a:fld>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B2D3E618-5168-46D8-9093-4FFD328E4CA3}"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1970412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98C32A4D-DBA8-4AC9-A112-BADF4813838F}" type="datetimeFigureOut">
              <a:rPr lang="en-US">
                <a:solidFill>
                  <a:prstClr val="black">
                    <a:tint val="75000"/>
                  </a:prstClr>
                </a:solidFill>
              </a:rPr>
              <a:pPr>
                <a:defRPr/>
              </a:pPr>
              <a:t>12/1/2023</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9E5CE29A-235E-4102-A7BB-AC1422769E12}"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7988896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608830A5-9CDD-4A01-AE6C-B7F774C547D9}" type="datetimeFigureOut">
              <a:rPr lang="en-US">
                <a:solidFill>
                  <a:prstClr val="black">
                    <a:tint val="75000"/>
                  </a:prstClr>
                </a:solidFill>
              </a:rPr>
              <a:pPr>
                <a:defRPr/>
              </a:pPr>
              <a:t>12/1/2023</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955B51D7-DCE0-49C4-9B0B-0EC664849A65}"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83448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5D180D80-6114-402D-A1C1-7E7B8DEED232}" type="datetimeFigureOut">
              <a:rPr lang="en-US">
                <a:solidFill>
                  <a:prstClr val="black">
                    <a:tint val="75000"/>
                  </a:prstClr>
                </a:solidFill>
              </a:rPr>
              <a:pPr>
                <a:defRPr/>
              </a:pPr>
              <a:t>12/1/2023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116750E7-EF53-4816-BA7D-520B91DC7E0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2628226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13AFF668-FF27-4A48-BBBC-72969536306B}" type="datetimeFigureOut">
              <a:rPr lang="en-US">
                <a:solidFill>
                  <a:prstClr val="black">
                    <a:tint val="75000"/>
                  </a:prstClr>
                </a:solidFill>
              </a:rPr>
              <a:pPr>
                <a:defRPr/>
              </a:pPr>
              <a:t>12/1/2023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4BE57CBA-45D2-49F3-AE4F-4082575BC865}"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7148264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1"/>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defRPr>
            </a:lvl1pPr>
          </a:lstStyle>
          <a:p>
            <a:pPr>
              <a:defRPr/>
            </a:pPr>
            <a:fld id="{571111D4-87A2-4FF9-BF16-4D005677BA2C}" type="datetimeFigureOut">
              <a:rPr lang="en-US"/>
              <a:pPr>
                <a:defRPr/>
              </a:pPr>
              <a:t>12/1/2023</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defRPr>
            </a:lvl1pPr>
          </a:lstStyle>
          <a:p>
            <a:pPr>
              <a:defRPr/>
            </a:pPr>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defRPr>
            </a:lvl1pPr>
          </a:lstStyle>
          <a:p>
            <a:pPr>
              <a:defRPr/>
            </a:pPr>
            <a:fld id="{A957CEED-90C7-4FD0-AB8C-14085BB9151E}"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71" r:id="rId1"/>
    <p:sldLayoutId id="2147483672"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1"/>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defRPr>
            </a:lvl1pPr>
          </a:lstStyle>
          <a:p>
            <a:pPr>
              <a:defRPr/>
            </a:pPr>
            <a:fld id="{571111D4-87A2-4FF9-BF16-4D005677BA2C}" type="datetimeFigureOut">
              <a:rPr lang="en-US">
                <a:solidFill>
                  <a:prstClr val="black">
                    <a:tint val="75000"/>
                  </a:prstClr>
                </a:solidFill>
              </a:rPr>
              <a:pPr>
                <a:defRPr/>
              </a:pPr>
              <a:t>12/1/2023</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defRPr>
            </a:lvl1pPr>
          </a:lstStyle>
          <a:p>
            <a:pPr>
              <a:defRPr/>
            </a:pPr>
            <a:fld id="{A957CEED-90C7-4FD0-AB8C-14085BB9151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086350764"/>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8.wmf"/><Relationship Id="rId3" Type="http://schemas.openxmlformats.org/officeDocument/2006/relationships/image" Target="../media/image3.wmf"/><Relationship Id="rId7" Type="http://schemas.openxmlformats.org/officeDocument/2006/relationships/image" Target="../media/image5.wmf"/><Relationship Id="rId12" Type="http://schemas.openxmlformats.org/officeDocument/2006/relationships/oleObject" Target="../embeddings/oleObject6.bin"/><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11" Type="http://schemas.openxmlformats.org/officeDocument/2006/relationships/image" Target="../media/image7.wmf"/><Relationship Id="rId5" Type="http://schemas.openxmlformats.org/officeDocument/2006/relationships/image" Target="../media/image4.w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6.wmf"/></Relationships>
</file>

<file path=ppt/slides/_rels/slide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emf"/><Relationship Id="rId7" Type="http://schemas.openxmlformats.org/officeDocument/2006/relationships/image" Target="../media/image12.wmf"/><Relationship Id="rId2" Type="http://schemas.openxmlformats.org/officeDocument/2006/relationships/image" Target="../media/image9.emf"/><Relationship Id="rId1" Type="http://schemas.openxmlformats.org/officeDocument/2006/relationships/slideLayout" Target="../slideLayouts/slideLayout2.xml"/><Relationship Id="rId6" Type="http://schemas.openxmlformats.org/officeDocument/2006/relationships/oleObject" Target="../embeddings/oleObject8.bin"/><Relationship Id="rId5" Type="http://schemas.openxmlformats.org/officeDocument/2006/relationships/image" Target="../media/image11.wmf"/><Relationship Id="rId4" Type="http://schemas.openxmlformats.org/officeDocument/2006/relationships/oleObject" Target="../embeddings/oleObject7.bin"/></Relationships>
</file>

<file path=ppt/slides/_rels/slide6.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5.emf"/><Relationship Id="rId1" Type="http://schemas.openxmlformats.org/officeDocument/2006/relationships/slideLayout" Target="../slideLayouts/slideLayout2.xml"/><Relationship Id="rId4" Type="http://schemas.openxmlformats.org/officeDocument/2006/relationships/image" Target="../media/image13.emf"/></Relationships>
</file>

<file path=ppt/slides/_rels/slide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6.emf"/><Relationship Id="rId1" Type="http://schemas.openxmlformats.org/officeDocument/2006/relationships/slideLayout" Target="../slideLayouts/slideLayout2.xml"/><Relationship Id="rId5" Type="http://schemas.openxmlformats.org/officeDocument/2006/relationships/image" Target="../media/image13.emf"/><Relationship Id="rId4" Type="http://schemas.openxmlformats.org/officeDocument/2006/relationships/image" Target="../media/image14.emf"/></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12.bin"/><Relationship Id="rId3" Type="http://schemas.openxmlformats.org/officeDocument/2006/relationships/image" Target="../media/image17.wmf"/><Relationship Id="rId7" Type="http://schemas.openxmlformats.org/officeDocument/2006/relationships/image" Target="../media/image19.wmf"/><Relationship Id="rId2" Type="http://schemas.openxmlformats.org/officeDocument/2006/relationships/oleObject" Target="../embeddings/oleObject9.bin"/><Relationship Id="rId1" Type="http://schemas.openxmlformats.org/officeDocument/2006/relationships/slideLayout" Target="../slideLayouts/slideLayout2.xml"/><Relationship Id="rId6" Type="http://schemas.openxmlformats.org/officeDocument/2006/relationships/oleObject" Target="../embeddings/oleObject11.bin"/><Relationship Id="rId5" Type="http://schemas.openxmlformats.org/officeDocument/2006/relationships/image" Target="../media/image18.wmf"/><Relationship Id="rId4" Type="http://schemas.openxmlformats.org/officeDocument/2006/relationships/oleObject" Target="../embeddings/oleObject10.bin"/><Relationship Id="rId9" Type="http://schemas.openxmlformats.org/officeDocument/2006/relationships/image" Target="../media/image20.w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16.bin"/><Relationship Id="rId3" Type="http://schemas.openxmlformats.org/officeDocument/2006/relationships/image" Target="../media/image17.wmf"/><Relationship Id="rId7" Type="http://schemas.openxmlformats.org/officeDocument/2006/relationships/image" Target="../media/image19.wmf"/><Relationship Id="rId2" Type="http://schemas.openxmlformats.org/officeDocument/2006/relationships/oleObject" Target="../embeddings/oleObject13.bin"/><Relationship Id="rId1" Type="http://schemas.openxmlformats.org/officeDocument/2006/relationships/slideLayout" Target="../slideLayouts/slideLayout2.xml"/><Relationship Id="rId6" Type="http://schemas.openxmlformats.org/officeDocument/2006/relationships/oleObject" Target="../embeddings/oleObject15.bin"/><Relationship Id="rId11" Type="http://schemas.openxmlformats.org/officeDocument/2006/relationships/image" Target="../media/image21.wmf"/><Relationship Id="rId5" Type="http://schemas.openxmlformats.org/officeDocument/2006/relationships/image" Target="../media/image18.wmf"/><Relationship Id="rId10" Type="http://schemas.openxmlformats.org/officeDocument/2006/relationships/oleObject" Target="../embeddings/oleObject17.bin"/><Relationship Id="rId4" Type="http://schemas.openxmlformats.org/officeDocument/2006/relationships/oleObject" Target="../embeddings/oleObject14.bin"/><Relationship Id="rId9" Type="http://schemas.openxmlformats.org/officeDocument/2006/relationships/image" Target="../media/image20.wmf"/></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21.bin"/><Relationship Id="rId13" Type="http://schemas.openxmlformats.org/officeDocument/2006/relationships/image" Target="../media/image21.wmf"/><Relationship Id="rId3" Type="http://schemas.openxmlformats.org/officeDocument/2006/relationships/image" Target="../media/image17.wmf"/><Relationship Id="rId7" Type="http://schemas.openxmlformats.org/officeDocument/2006/relationships/image" Target="../media/image19.wmf"/><Relationship Id="rId12" Type="http://schemas.openxmlformats.org/officeDocument/2006/relationships/oleObject" Target="../embeddings/oleObject23.bin"/><Relationship Id="rId2" Type="http://schemas.openxmlformats.org/officeDocument/2006/relationships/oleObject" Target="../embeddings/oleObject18.bin"/><Relationship Id="rId1" Type="http://schemas.openxmlformats.org/officeDocument/2006/relationships/slideLayout" Target="../slideLayouts/slideLayout2.xml"/><Relationship Id="rId6" Type="http://schemas.openxmlformats.org/officeDocument/2006/relationships/oleObject" Target="../embeddings/oleObject20.bin"/><Relationship Id="rId11" Type="http://schemas.openxmlformats.org/officeDocument/2006/relationships/image" Target="../media/image22.wmf"/><Relationship Id="rId5" Type="http://schemas.openxmlformats.org/officeDocument/2006/relationships/image" Target="../media/image18.wmf"/><Relationship Id="rId10" Type="http://schemas.openxmlformats.org/officeDocument/2006/relationships/oleObject" Target="../embeddings/oleObject22.bin"/><Relationship Id="rId4" Type="http://schemas.openxmlformats.org/officeDocument/2006/relationships/oleObject" Target="../embeddings/oleObject19.bin"/><Relationship Id="rId9" Type="http://schemas.openxmlformats.org/officeDocument/2006/relationships/image" Target="../media/image20.w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27.bin"/><Relationship Id="rId3" Type="http://schemas.openxmlformats.org/officeDocument/2006/relationships/image" Target="../media/image23.wmf"/><Relationship Id="rId7" Type="http://schemas.openxmlformats.org/officeDocument/2006/relationships/image" Target="../media/image25.wmf"/><Relationship Id="rId2" Type="http://schemas.openxmlformats.org/officeDocument/2006/relationships/oleObject" Target="../embeddings/oleObject24.bin"/><Relationship Id="rId1" Type="http://schemas.openxmlformats.org/officeDocument/2006/relationships/slideLayout" Target="../slideLayouts/slideLayout2.xml"/><Relationship Id="rId6" Type="http://schemas.openxmlformats.org/officeDocument/2006/relationships/oleObject" Target="../embeddings/oleObject26.bin"/><Relationship Id="rId5" Type="http://schemas.openxmlformats.org/officeDocument/2006/relationships/image" Target="../media/image24.wmf"/><Relationship Id="rId4" Type="http://schemas.openxmlformats.org/officeDocument/2006/relationships/oleObject" Target="../embeddings/oleObject25.bin"/><Relationship Id="rId9" Type="http://schemas.openxmlformats.org/officeDocument/2006/relationships/image" Target="../media/image26.wmf"/></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31.bin"/><Relationship Id="rId3" Type="http://schemas.openxmlformats.org/officeDocument/2006/relationships/image" Target="../media/image23.wmf"/><Relationship Id="rId7" Type="http://schemas.openxmlformats.org/officeDocument/2006/relationships/image" Target="../media/image25.wmf"/><Relationship Id="rId2" Type="http://schemas.openxmlformats.org/officeDocument/2006/relationships/oleObject" Target="../embeddings/oleObject28.bin"/><Relationship Id="rId1" Type="http://schemas.openxmlformats.org/officeDocument/2006/relationships/slideLayout" Target="../slideLayouts/slideLayout2.xml"/><Relationship Id="rId6" Type="http://schemas.openxmlformats.org/officeDocument/2006/relationships/oleObject" Target="../embeddings/oleObject30.bin"/><Relationship Id="rId11" Type="http://schemas.openxmlformats.org/officeDocument/2006/relationships/image" Target="../media/image26.wmf"/><Relationship Id="rId5" Type="http://schemas.openxmlformats.org/officeDocument/2006/relationships/image" Target="../media/image24.wmf"/><Relationship Id="rId10" Type="http://schemas.openxmlformats.org/officeDocument/2006/relationships/oleObject" Target="../embeddings/oleObject32.bin"/><Relationship Id="rId4" Type="http://schemas.openxmlformats.org/officeDocument/2006/relationships/oleObject" Target="../embeddings/oleObject29.bin"/><Relationship Id="rId9" Type="http://schemas.openxmlformats.org/officeDocument/2006/relationships/image" Target="../media/image27.wmf"/></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36.bin"/><Relationship Id="rId3" Type="http://schemas.openxmlformats.org/officeDocument/2006/relationships/image" Target="../media/image23.wmf"/><Relationship Id="rId7" Type="http://schemas.openxmlformats.org/officeDocument/2006/relationships/image" Target="../media/image25.wmf"/><Relationship Id="rId2" Type="http://schemas.openxmlformats.org/officeDocument/2006/relationships/oleObject" Target="../embeddings/oleObject33.bin"/><Relationship Id="rId1" Type="http://schemas.openxmlformats.org/officeDocument/2006/relationships/slideLayout" Target="../slideLayouts/slideLayout2.xml"/><Relationship Id="rId6" Type="http://schemas.openxmlformats.org/officeDocument/2006/relationships/oleObject" Target="../embeddings/oleObject35.bin"/><Relationship Id="rId11" Type="http://schemas.openxmlformats.org/officeDocument/2006/relationships/image" Target="../media/image26.wmf"/><Relationship Id="rId5" Type="http://schemas.openxmlformats.org/officeDocument/2006/relationships/image" Target="../media/image24.wmf"/><Relationship Id="rId10" Type="http://schemas.openxmlformats.org/officeDocument/2006/relationships/oleObject" Target="../embeddings/oleObject37.bin"/><Relationship Id="rId4" Type="http://schemas.openxmlformats.org/officeDocument/2006/relationships/oleObject" Target="../embeddings/oleObject34.bin"/><Relationship Id="rId9" Type="http://schemas.openxmlformats.org/officeDocument/2006/relationships/image" Target="../media/image28.wmf"/></Relationships>
</file>

<file path=ppt/slides/_rels/slide19.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slideLayout" Target="../slideLayouts/slideLayout2.xml"/><Relationship Id="rId5" Type="http://schemas.openxmlformats.org/officeDocument/2006/relationships/image" Target="../media/image31.wmf"/><Relationship Id="rId4" Type="http://schemas.openxmlformats.org/officeDocument/2006/relationships/oleObject" Target="../embeddings/oleObject38.bin"/></Relationships>
</file>

<file path=ppt/slides/_rels/slide21.x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image" Target="../media/image29.emf"/><Relationship Id="rId7" Type="http://schemas.openxmlformats.org/officeDocument/2006/relationships/oleObject" Target="../embeddings/oleObject40.bin"/><Relationship Id="rId12" Type="http://schemas.openxmlformats.org/officeDocument/2006/relationships/image" Target="../media/image35.wmf"/><Relationship Id="rId2" Type="http://schemas.openxmlformats.org/officeDocument/2006/relationships/image" Target="../media/image32.emf"/><Relationship Id="rId1" Type="http://schemas.openxmlformats.org/officeDocument/2006/relationships/slideLayout" Target="../slideLayouts/slideLayout2.xml"/><Relationship Id="rId6" Type="http://schemas.openxmlformats.org/officeDocument/2006/relationships/image" Target="../media/image31.wmf"/><Relationship Id="rId11" Type="http://schemas.openxmlformats.org/officeDocument/2006/relationships/oleObject" Target="../embeddings/oleObject42.bin"/><Relationship Id="rId5" Type="http://schemas.openxmlformats.org/officeDocument/2006/relationships/oleObject" Target="../embeddings/oleObject39.bin"/><Relationship Id="rId10" Type="http://schemas.openxmlformats.org/officeDocument/2006/relationships/image" Target="../media/image34.wmf"/><Relationship Id="rId4" Type="http://schemas.openxmlformats.org/officeDocument/2006/relationships/image" Target="../media/image30.emf"/><Relationship Id="rId9" Type="http://schemas.openxmlformats.org/officeDocument/2006/relationships/oleObject" Target="../embeddings/oleObject41.bin"/></Relationships>
</file>

<file path=ppt/slides/_rels/slide22.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29.emf"/><Relationship Id="rId1" Type="http://schemas.openxmlformats.org/officeDocument/2006/relationships/slideLayout" Target="../slideLayouts/slideLayout2.xml"/><Relationship Id="rId4" Type="http://schemas.openxmlformats.org/officeDocument/2006/relationships/image" Target="../media/image37.emf"/></Relationships>
</file>

<file path=ppt/slides/_rels/slide23.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8.emf"/><Relationship Id="rId1" Type="http://schemas.openxmlformats.org/officeDocument/2006/relationships/slideLayout" Target="../slideLayouts/slideLayout2.xml"/><Relationship Id="rId5" Type="http://schemas.openxmlformats.org/officeDocument/2006/relationships/image" Target="../media/image40.wmf"/><Relationship Id="rId4" Type="http://schemas.openxmlformats.org/officeDocument/2006/relationships/oleObject" Target="../embeddings/oleObject43.bin"/></Relationships>
</file>

<file path=ppt/slides/_rels/slide26.xml.rels><?xml version="1.0" encoding="UTF-8" standalone="yes"?>
<Relationships xmlns="http://schemas.openxmlformats.org/package/2006/relationships"><Relationship Id="rId3" Type="http://schemas.openxmlformats.org/officeDocument/2006/relationships/image" Target="../media/image39.emf"/><Relationship Id="rId7" Type="http://schemas.openxmlformats.org/officeDocument/2006/relationships/image" Target="../media/image40.wmf"/><Relationship Id="rId2" Type="http://schemas.openxmlformats.org/officeDocument/2006/relationships/image" Target="../media/image38.emf"/><Relationship Id="rId1" Type="http://schemas.openxmlformats.org/officeDocument/2006/relationships/slideLayout" Target="../slideLayouts/slideLayout2.xml"/><Relationship Id="rId6" Type="http://schemas.openxmlformats.org/officeDocument/2006/relationships/oleObject" Target="../embeddings/oleObject45.bin"/><Relationship Id="rId5" Type="http://schemas.openxmlformats.org/officeDocument/2006/relationships/image" Target="../media/image41.wmf"/><Relationship Id="rId4" Type="http://schemas.openxmlformats.org/officeDocument/2006/relationships/oleObject" Target="../embeddings/oleObject44.bin"/></Relationships>
</file>

<file path=ppt/slides/_rels/slide27.xml.rels><?xml version="1.0" encoding="UTF-8" standalone="yes"?>
<Relationships xmlns="http://schemas.openxmlformats.org/package/2006/relationships"><Relationship Id="rId8" Type="http://schemas.openxmlformats.org/officeDocument/2006/relationships/image" Target="../media/image41.wmf"/><Relationship Id="rId3" Type="http://schemas.openxmlformats.org/officeDocument/2006/relationships/image" Target="../media/image39.emf"/><Relationship Id="rId7" Type="http://schemas.openxmlformats.org/officeDocument/2006/relationships/oleObject" Target="../embeddings/oleObject47.bin"/><Relationship Id="rId2" Type="http://schemas.openxmlformats.org/officeDocument/2006/relationships/image" Target="../media/image38.emf"/><Relationship Id="rId1" Type="http://schemas.openxmlformats.org/officeDocument/2006/relationships/slideLayout" Target="../slideLayouts/slideLayout2.xml"/><Relationship Id="rId6" Type="http://schemas.openxmlformats.org/officeDocument/2006/relationships/image" Target="../media/image43.wmf"/><Relationship Id="rId5" Type="http://schemas.openxmlformats.org/officeDocument/2006/relationships/oleObject" Target="../embeddings/oleObject46.bin"/><Relationship Id="rId10" Type="http://schemas.openxmlformats.org/officeDocument/2006/relationships/image" Target="../media/image40.wmf"/><Relationship Id="rId4" Type="http://schemas.openxmlformats.org/officeDocument/2006/relationships/image" Target="../media/image42.emf"/><Relationship Id="rId9" Type="http://schemas.openxmlformats.org/officeDocument/2006/relationships/oleObject" Target="../embeddings/oleObject48.bin"/></Relationships>
</file>

<file path=ppt/slides/_rels/slide28.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image" Target="../media/image38.emf"/><Relationship Id="rId1" Type="http://schemas.openxmlformats.org/officeDocument/2006/relationships/slideLayout" Target="../slideLayouts/slideLayout2.xml"/><Relationship Id="rId5" Type="http://schemas.openxmlformats.org/officeDocument/2006/relationships/image" Target="../media/image45.wmf"/><Relationship Id="rId4" Type="http://schemas.openxmlformats.org/officeDocument/2006/relationships/oleObject" Target="../embeddings/oleObject49.bin"/></Relationships>
</file>

<file path=ppt/slides/_rels/slide29.xml.rels><?xml version="1.0" encoding="UTF-8" standalone="yes"?>
<Relationships xmlns="http://schemas.openxmlformats.org/package/2006/relationships"><Relationship Id="rId8" Type="http://schemas.openxmlformats.org/officeDocument/2006/relationships/image" Target="../media/image47.wmf"/><Relationship Id="rId3" Type="http://schemas.openxmlformats.org/officeDocument/2006/relationships/image" Target="../media/image44.emf"/><Relationship Id="rId7" Type="http://schemas.openxmlformats.org/officeDocument/2006/relationships/oleObject" Target="../embeddings/oleObject51.bin"/><Relationship Id="rId2" Type="http://schemas.openxmlformats.org/officeDocument/2006/relationships/image" Target="../media/image38.emf"/><Relationship Id="rId1" Type="http://schemas.openxmlformats.org/officeDocument/2006/relationships/slideLayout" Target="../slideLayouts/slideLayout2.xml"/><Relationship Id="rId6" Type="http://schemas.openxmlformats.org/officeDocument/2006/relationships/image" Target="../media/image46.emf"/><Relationship Id="rId5" Type="http://schemas.openxmlformats.org/officeDocument/2006/relationships/image" Target="../media/image45.wmf"/><Relationship Id="rId4" Type="http://schemas.openxmlformats.org/officeDocument/2006/relationships/oleObject" Target="../embeddings/oleObject50.bin"/></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image" Target="../media/image38.emf"/><Relationship Id="rId1" Type="http://schemas.openxmlformats.org/officeDocument/2006/relationships/slideLayout" Target="../slideLayouts/slideLayout2.xml"/><Relationship Id="rId5" Type="http://schemas.openxmlformats.org/officeDocument/2006/relationships/image" Target="../media/image49.emf"/><Relationship Id="rId4" Type="http://schemas.openxmlformats.org/officeDocument/2006/relationships/image" Target="../media/image48.wmf"/></Relationships>
</file>

<file path=ppt/slides/_rels/slide31.xml.rels><?xml version="1.0" encoding="UTF-8" standalone="yes"?>
<Relationships xmlns="http://schemas.openxmlformats.org/package/2006/relationships"><Relationship Id="rId3" Type="http://schemas.openxmlformats.org/officeDocument/2006/relationships/image" Target="../media/image50.jpeg"/><Relationship Id="rId2" Type="http://schemas.microsoft.com/office/2018/10/relationships/comments" Target="../comments/modernComment_223_1CB97DA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jpe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35.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0.jpeg"/><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3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0.jpeg"/><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png"/></Relationships>
</file>

<file path=ppt/slides/_rels/slide38.xml.rels><?xml version="1.0" encoding="UTF-8" standalone="yes"?>
<Relationships xmlns="http://schemas.openxmlformats.org/package/2006/relationships"><Relationship Id="rId3" Type="http://schemas.openxmlformats.org/officeDocument/2006/relationships/image" Target="../media/image50.jpeg"/><Relationship Id="rId7" Type="http://schemas.openxmlformats.org/officeDocument/2006/relationships/image" Target="../media/image60.png"/><Relationship Id="rId2"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39.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image" Target="../media/image50.jpeg"/><Relationship Id="rId1" Type="http://schemas.openxmlformats.org/officeDocument/2006/relationships/slideLayout" Target="../slideLayouts/slideLayout2.xml"/><Relationship Id="rId4" Type="http://schemas.openxmlformats.org/officeDocument/2006/relationships/image" Target="../media/image62.emf"/></Relationships>
</file>

<file path=ppt/slides/_rels/slide41.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image" Target="../media/image50.jpeg"/><Relationship Id="rId1" Type="http://schemas.openxmlformats.org/officeDocument/2006/relationships/slideLayout" Target="../slideLayouts/slideLayout2.xml"/><Relationship Id="rId5" Type="http://schemas.openxmlformats.org/officeDocument/2006/relationships/image" Target="../media/image63.wmf"/><Relationship Id="rId4" Type="http://schemas.openxmlformats.org/officeDocument/2006/relationships/oleObject" Target="../embeddings/oleObject53.bin"/></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56.bin"/><Relationship Id="rId3" Type="http://schemas.openxmlformats.org/officeDocument/2006/relationships/image" Target="../media/image65.emf"/><Relationship Id="rId7" Type="http://schemas.openxmlformats.org/officeDocument/2006/relationships/image" Target="../media/image67.wmf"/><Relationship Id="rId2" Type="http://schemas.openxmlformats.org/officeDocument/2006/relationships/image" Target="../media/image64.emf"/><Relationship Id="rId1" Type="http://schemas.openxmlformats.org/officeDocument/2006/relationships/slideLayout" Target="../slideLayouts/slideLayout2.xml"/><Relationship Id="rId6" Type="http://schemas.openxmlformats.org/officeDocument/2006/relationships/oleObject" Target="../embeddings/oleObject55.bin"/><Relationship Id="rId11" Type="http://schemas.openxmlformats.org/officeDocument/2006/relationships/image" Target="../media/image69.wmf"/><Relationship Id="rId5" Type="http://schemas.openxmlformats.org/officeDocument/2006/relationships/image" Target="../media/image66.wmf"/><Relationship Id="rId10" Type="http://schemas.openxmlformats.org/officeDocument/2006/relationships/oleObject" Target="../embeddings/oleObject57.bin"/><Relationship Id="rId4" Type="http://schemas.openxmlformats.org/officeDocument/2006/relationships/oleObject" Target="../embeddings/oleObject54.bin"/><Relationship Id="rId9" Type="http://schemas.openxmlformats.org/officeDocument/2006/relationships/image" Target="../media/image68.wmf"/></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60.bin"/><Relationship Id="rId3" Type="http://schemas.openxmlformats.org/officeDocument/2006/relationships/oleObject" Target="../embeddings/oleObject58.bin"/><Relationship Id="rId7" Type="http://schemas.openxmlformats.org/officeDocument/2006/relationships/image" Target="../media/image73.emf"/><Relationship Id="rId2" Type="http://schemas.openxmlformats.org/officeDocument/2006/relationships/image" Target="../media/image70.emf"/><Relationship Id="rId1" Type="http://schemas.openxmlformats.org/officeDocument/2006/relationships/slideLayout" Target="../slideLayouts/slideLayout2.xml"/><Relationship Id="rId6" Type="http://schemas.openxmlformats.org/officeDocument/2006/relationships/image" Target="../media/image72.wmf"/><Relationship Id="rId11" Type="http://schemas.openxmlformats.org/officeDocument/2006/relationships/image" Target="../media/image75.wmf"/><Relationship Id="rId5" Type="http://schemas.openxmlformats.org/officeDocument/2006/relationships/oleObject" Target="../embeddings/oleObject59.bin"/><Relationship Id="rId10" Type="http://schemas.openxmlformats.org/officeDocument/2006/relationships/oleObject" Target="../embeddings/oleObject61.bin"/><Relationship Id="rId4" Type="http://schemas.openxmlformats.org/officeDocument/2006/relationships/image" Target="../media/image71.wmf"/><Relationship Id="rId9" Type="http://schemas.openxmlformats.org/officeDocument/2006/relationships/image" Target="../media/image74.wmf"/></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64.bin"/><Relationship Id="rId3" Type="http://schemas.openxmlformats.org/officeDocument/2006/relationships/image" Target="../media/image76.emf"/><Relationship Id="rId7" Type="http://schemas.openxmlformats.org/officeDocument/2006/relationships/image" Target="../media/image78.wmf"/><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oleObject" Target="../embeddings/oleObject63.bin"/><Relationship Id="rId5" Type="http://schemas.openxmlformats.org/officeDocument/2006/relationships/image" Target="../media/image77.wmf"/><Relationship Id="rId4" Type="http://schemas.openxmlformats.org/officeDocument/2006/relationships/oleObject" Target="../embeddings/oleObject62.bin"/><Relationship Id="rId9" Type="http://schemas.openxmlformats.org/officeDocument/2006/relationships/image" Target="../media/image79.wmf"/></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80.emf"/><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1.wmf"/><Relationship Id="rId4" Type="http://schemas.openxmlformats.org/officeDocument/2006/relationships/oleObject" Target="../embeddings/oleObject65.bin"/></Relationships>
</file>

<file path=ppt/slides/_rels/slide48.xml.rels><?xml version="1.0" encoding="UTF-8" standalone="yes"?>
<Relationships xmlns="http://schemas.openxmlformats.org/package/2006/relationships"><Relationship Id="rId3" Type="http://schemas.openxmlformats.org/officeDocument/2006/relationships/image" Target="../media/image82.wmf"/><Relationship Id="rId7" Type="http://schemas.openxmlformats.org/officeDocument/2006/relationships/image" Target="../media/image84.wmf"/><Relationship Id="rId2" Type="http://schemas.openxmlformats.org/officeDocument/2006/relationships/oleObject" Target="../embeddings/oleObject66.bin"/><Relationship Id="rId1" Type="http://schemas.openxmlformats.org/officeDocument/2006/relationships/slideLayout" Target="../slideLayouts/slideLayout2.xml"/><Relationship Id="rId6" Type="http://schemas.openxmlformats.org/officeDocument/2006/relationships/oleObject" Target="../embeddings/oleObject68.bin"/><Relationship Id="rId5" Type="http://schemas.openxmlformats.org/officeDocument/2006/relationships/image" Target="../media/image83.wmf"/><Relationship Id="rId4" Type="http://schemas.openxmlformats.org/officeDocument/2006/relationships/oleObject" Target="../embeddings/oleObject67.bin"/></Relationships>
</file>

<file path=ppt/slides/_rels/slide49.xml.rels><?xml version="1.0" encoding="UTF-8" standalone="yes"?>
<Relationships xmlns="http://schemas.openxmlformats.org/package/2006/relationships"><Relationship Id="rId2" Type="http://schemas.openxmlformats.org/officeDocument/2006/relationships/image" Target="../media/image85.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69.bin"/><Relationship Id="rId7" Type="http://schemas.openxmlformats.org/officeDocument/2006/relationships/image" Target="../media/image88.emf"/><Relationship Id="rId2" Type="http://schemas.openxmlformats.org/officeDocument/2006/relationships/image" Target="../media/image85.emf"/><Relationship Id="rId1" Type="http://schemas.openxmlformats.org/officeDocument/2006/relationships/slideLayout" Target="../slideLayouts/slideLayout2.xml"/><Relationship Id="rId6" Type="http://schemas.openxmlformats.org/officeDocument/2006/relationships/image" Target="../media/image87.wmf"/><Relationship Id="rId5" Type="http://schemas.openxmlformats.org/officeDocument/2006/relationships/oleObject" Target="../embeddings/oleObject70.bin"/><Relationship Id="rId4" Type="http://schemas.openxmlformats.org/officeDocument/2006/relationships/image" Target="../media/image86.wmf"/></Relationships>
</file>

<file path=ppt/slides/_rels/slide51.xml.rels><?xml version="1.0" encoding="UTF-8" standalone="yes"?>
<Relationships xmlns="http://schemas.openxmlformats.org/package/2006/relationships"><Relationship Id="rId8" Type="http://schemas.openxmlformats.org/officeDocument/2006/relationships/image" Target="../media/image89.wmf"/><Relationship Id="rId3" Type="http://schemas.openxmlformats.org/officeDocument/2006/relationships/oleObject" Target="../embeddings/oleObject71.bin"/><Relationship Id="rId7" Type="http://schemas.openxmlformats.org/officeDocument/2006/relationships/oleObject" Target="../embeddings/oleObject73.bin"/><Relationship Id="rId2" Type="http://schemas.openxmlformats.org/officeDocument/2006/relationships/image" Target="../media/image85.emf"/><Relationship Id="rId1" Type="http://schemas.openxmlformats.org/officeDocument/2006/relationships/slideLayout" Target="../slideLayouts/slideLayout2.xml"/><Relationship Id="rId6" Type="http://schemas.openxmlformats.org/officeDocument/2006/relationships/image" Target="../media/image87.wmf"/><Relationship Id="rId5" Type="http://schemas.openxmlformats.org/officeDocument/2006/relationships/oleObject" Target="../embeddings/oleObject72.bin"/><Relationship Id="rId10" Type="http://schemas.openxmlformats.org/officeDocument/2006/relationships/image" Target="../media/image90.emf"/><Relationship Id="rId4" Type="http://schemas.openxmlformats.org/officeDocument/2006/relationships/image" Target="../media/image86.wmf"/><Relationship Id="rId9" Type="http://schemas.openxmlformats.org/officeDocument/2006/relationships/image" Target="../media/image88.emf"/></Relationships>
</file>

<file path=ppt/slides/_rels/slide52.xml.rels><?xml version="1.0" encoding="UTF-8" standalone="yes"?>
<Relationships xmlns="http://schemas.openxmlformats.org/package/2006/relationships"><Relationship Id="rId8" Type="http://schemas.openxmlformats.org/officeDocument/2006/relationships/image" Target="../media/image89.wmf"/><Relationship Id="rId3" Type="http://schemas.openxmlformats.org/officeDocument/2006/relationships/oleObject" Target="../embeddings/oleObject74.bin"/><Relationship Id="rId7" Type="http://schemas.openxmlformats.org/officeDocument/2006/relationships/oleObject" Target="../embeddings/oleObject76.bin"/><Relationship Id="rId12" Type="http://schemas.openxmlformats.org/officeDocument/2006/relationships/image" Target="../media/image90.emf"/><Relationship Id="rId2" Type="http://schemas.openxmlformats.org/officeDocument/2006/relationships/image" Target="../media/image85.emf"/><Relationship Id="rId1" Type="http://schemas.openxmlformats.org/officeDocument/2006/relationships/slideLayout" Target="../slideLayouts/slideLayout2.xml"/><Relationship Id="rId6" Type="http://schemas.openxmlformats.org/officeDocument/2006/relationships/image" Target="../media/image87.wmf"/><Relationship Id="rId11" Type="http://schemas.openxmlformats.org/officeDocument/2006/relationships/image" Target="../media/image88.emf"/><Relationship Id="rId5" Type="http://schemas.openxmlformats.org/officeDocument/2006/relationships/oleObject" Target="../embeddings/oleObject75.bin"/><Relationship Id="rId10" Type="http://schemas.openxmlformats.org/officeDocument/2006/relationships/image" Target="../media/image91.wmf"/><Relationship Id="rId4" Type="http://schemas.openxmlformats.org/officeDocument/2006/relationships/image" Target="../media/image86.wmf"/><Relationship Id="rId9" Type="http://schemas.openxmlformats.org/officeDocument/2006/relationships/oleObject" Target="../embeddings/oleObject77.bin"/></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92.e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93.wmf"/><Relationship Id="rId7" Type="http://schemas.openxmlformats.org/officeDocument/2006/relationships/image" Target="../media/image95.emf"/><Relationship Id="rId2" Type="http://schemas.openxmlformats.org/officeDocument/2006/relationships/oleObject" Target="../embeddings/oleObject78.bin"/><Relationship Id="rId1" Type="http://schemas.openxmlformats.org/officeDocument/2006/relationships/slideLayout" Target="../slideLayouts/slideLayout2.xml"/><Relationship Id="rId6" Type="http://schemas.openxmlformats.org/officeDocument/2006/relationships/image" Target="../media/image94.wmf"/><Relationship Id="rId5" Type="http://schemas.openxmlformats.org/officeDocument/2006/relationships/oleObject" Target="../embeddings/oleObject79.bin"/><Relationship Id="rId4" Type="http://schemas.openxmlformats.org/officeDocument/2006/relationships/image" Target="../media/image92.emf"/></Relationships>
</file>

<file path=ppt/slides/_rels/slide56.xml.rels><?xml version="1.0" encoding="UTF-8" standalone="yes"?>
<Relationships xmlns="http://schemas.openxmlformats.org/package/2006/relationships"><Relationship Id="rId8" Type="http://schemas.openxmlformats.org/officeDocument/2006/relationships/image" Target="../media/image96.wmf"/><Relationship Id="rId13" Type="http://schemas.openxmlformats.org/officeDocument/2006/relationships/image" Target="../media/image95.emf"/><Relationship Id="rId3" Type="http://schemas.openxmlformats.org/officeDocument/2006/relationships/image" Target="../media/image93.wmf"/><Relationship Id="rId7" Type="http://schemas.openxmlformats.org/officeDocument/2006/relationships/oleObject" Target="../embeddings/oleObject82.bin"/><Relationship Id="rId12" Type="http://schemas.openxmlformats.org/officeDocument/2006/relationships/image" Target="../media/image98.wmf"/><Relationship Id="rId2" Type="http://schemas.openxmlformats.org/officeDocument/2006/relationships/oleObject" Target="../embeddings/oleObject80.bin"/><Relationship Id="rId1" Type="http://schemas.openxmlformats.org/officeDocument/2006/relationships/slideLayout" Target="../slideLayouts/slideLayout2.xml"/><Relationship Id="rId6" Type="http://schemas.openxmlformats.org/officeDocument/2006/relationships/image" Target="../media/image94.wmf"/><Relationship Id="rId11" Type="http://schemas.openxmlformats.org/officeDocument/2006/relationships/oleObject" Target="../embeddings/oleObject84.bin"/><Relationship Id="rId5" Type="http://schemas.openxmlformats.org/officeDocument/2006/relationships/oleObject" Target="../embeddings/oleObject81.bin"/><Relationship Id="rId10" Type="http://schemas.openxmlformats.org/officeDocument/2006/relationships/image" Target="../media/image97.wmf"/><Relationship Id="rId4" Type="http://schemas.openxmlformats.org/officeDocument/2006/relationships/image" Target="../media/image92.emf"/><Relationship Id="rId9" Type="http://schemas.openxmlformats.org/officeDocument/2006/relationships/oleObject" Target="../embeddings/oleObject83.bin"/><Relationship Id="rId14" Type="http://schemas.openxmlformats.org/officeDocument/2006/relationships/image" Target="../media/image99.emf"/></Relationships>
</file>

<file path=ppt/slides/_rels/slide57.xml.rels><?xml version="1.0" encoding="UTF-8" standalone="yes"?>
<Relationships xmlns="http://schemas.openxmlformats.org/package/2006/relationships"><Relationship Id="rId8" Type="http://schemas.openxmlformats.org/officeDocument/2006/relationships/image" Target="../media/image94.wmf"/><Relationship Id="rId13" Type="http://schemas.openxmlformats.org/officeDocument/2006/relationships/oleObject" Target="../embeddings/oleObject90.bin"/><Relationship Id="rId3" Type="http://schemas.openxmlformats.org/officeDocument/2006/relationships/image" Target="../media/image93.wmf"/><Relationship Id="rId7" Type="http://schemas.openxmlformats.org/officeDocument/2006/relationships/oleObject" Target="../embeddings/oleObject87.bin"/><Relationship Id="rId12" Type="http://schemas.openxmlformats.org/officeDocument/2006/relationships/image" Target="../media/image97.wmf"/><Relationship Id="rId2" Type="http://schemas.openxmlformats.org/officeDocument/2006/relationships/oleObject" Target="../embeddings/oleObject85.bin"/><Relationship Id="rId16" Type="http://schemas.openxmlformats.org/officeDocument/2006/relationships/image" Target="../media/image99.emf"/><Relationship Id="rId1" Type="http://schemas.openxmlformats.org/officeDocument/2006/relationships/slideLayout" Target="../slideLayouts/slideLayout2.xml"/><Relationship Id="rId6" Type="http://schemas.openxmlformats.org/officeDocument/2006/relationships/image" Target="../media/image92.emf"/><Relationship Id="rId11" Type="http://schemas.openxmlformats.org/officeDocument/2006/relationships/oleObject" Target="../embeddings/oleObject89.bin"/><Relationship Id="rId5" Type="http://schemas.openxmlformats.org/officeDocument/2006/relationships/image" Target="../media/image100.wmf"/><Relationship Id="rId15" Type="http://schemas.openxmlformats.org/officeDocument/2006/relationships/image" Target="../media/image95.emf"/><Relationship Id="rId10" Type="http://schemas.openxmlformats.org/officeDocument/2006/relationships/image" Target="../media/image96.wmf"/><Relationship Id="rId4" Type="http://schemas.openxmlformats.org/officeDocument/2006/relationships/oleObject" Target="../embeddings/oleObject86.bin"/><Relationship Id="rId9" Type="http://schemas.openxmlformats.org/officeDocument/2006/relationships/oleObject" Target="../embeddings/oleObject88.bin"/><Relationship Id="rId14" Type="http://schemas.openxmlformats.org/officeDocument/2006/relationships/image" Target="../media/image98.wmf"/></Relationships>
</file>

<file path=ppt/slides/_rels/slide58.xml.rels><?xml version="1.0" encoding="UTF-8" standalone="yes"?>
<Relationships xmlns="http://schemas.openxmlformats.org/package/2006/relationships"><Relationship Id="rId8" Type="http://schemas.openxmlformats.org/officeDocument/2006/relationships/image" Target="../media/image94.wmf"/><Relationship Id="rId13" Type="http://schemas.openxmlformats.org/officeDocument/2006/relationships/oleObject" Target="../embeddings/oleObject96.bin"/><Relationship Id="rId18" Type="http://schemas.openxmlformats.org/officeDocument/2006/relationships/image" Target="../media/image101.wmf"/><Relationship Id="rId3" Type="http://schemas.openxmlformats.org/officeDocument/2006/relationships/image" Target="../media/image93.wmf"/><Relationship Id="rId7" Type="http://schemas.openxmlformats.org/officeDocument/2006/relationships/oleObject" Target="../embeddings/oleObject93.bin"/><Relationship Id="rId12" Type="http://schemas.openxmlformats.org/officeDocument/2006/relationships/image" Target="../media/image97.wmf"/><Relationship Id="rId17" Type="http://schemas.openxmlformats.org/officeDocument/2006/relationships/oleObject" Target="../embeddings/oleObject97.bin"/><Relationship Id="rId2" Type="http://schemas.openxmlformats.org/officeDocument/2006/relationships/oleObject" Target="../embeddings/oleObject91.bin"/><Relationship Id="rId16" Type="http://schemas.openxmlformats.org/officeDocument/2006/relationships/image" Target="../media/image99.emf"/><Relationship Id="rId1" Type="http://schemas.openxmlformats.org/officeDocument/2006/relationships/slideLayout" Target="../slideLayouts/slideLayout2.xml"/><Relationship Id="rId6" Type="http://schemas.openxmlformats.org/officeDocument/2006/relationships/image" Target="../media/image92.emf"/><Relationship Id="rId11" Type="http://schemas.openxmlformats.org/officeDocument/2006/relationships/oleObject" Target="../embeddings/oleObject95.bin"/><Relationship Id="rId5" Type="http://schemas.openxmlformats.org/officeDocument/2006/relationships/image" Target="../media/image100.wmf"/><Relationship Id="rId15" Type="http://schemas.openxmlformats.org/officeDocument/2006/relationships/image" Target="../media/image95.emf"/><Relationship Id="rId10" Type="http://schemas.openxmlformats.org/officeDocument/2006/relationships/image" Target="../media/image96.wmf"/><Relationship Id="rId4" Type="http://schemas.openxmlformats.org/officeDocument/2006/relationships/oleObject" Target="../embeddings/oleObject92.bin"/><Relationship Id="rId9" Type="http://schemas.openxmlformats.org/officeDocument/2006/relationships/oleObject" Target="../embeddings/oleObject94.bin"/><Relationship Id="rId14" Type="http://schemas.openxmlformats.org/officeDocument/2006/relationships/image" Target="../media/image98.wmf"/></Relationships>
</file>

<file path=ppt/slides/_rels/slide59.xml.rels><?xml version="1.0" encoding="UTF-8" standalone="yes"?>
<Relationships xmlns="http://schemas.openxmlformats.org/package/2006/relationships"><Relationship Id="rId8" Type="http://schemas.openxmlformats.org/officeDocument/2006/relationships/image" Target="../media/image94.wmf"/><Relationship Id="rId13" Type="http://schemas.openxmlformats.org/officeDocument/2006/relationships/oleObject" Target="../embeddings/oleObject103.bin"/><Relationship Id="rId3" Type="http://schemas.openxmlformats.org/officeDocument/2006/relationships/image" Target="../media/image93.wmf"/><Relationship Id="rId7" Type="http://schemas.openxmlformats.org/officeDocument/2006/relationships/oleObject" Target="../embeddings/oleObject100.bin"/><Relationship Id="rId12" Type="http://schemas.openxmlformats.org/officeDocument/2006/relationships/image" Target="../media/image97.wmf"/><Relationship Id="rId2" Type="http://schemas.openxmlformats.org/officeDocument/2006/relationships/oleObject" Target="../embeddings/oleObject98.bin"/><Relationship Id="rId16" Type="http://schemas.openxmlformats.org/officeDocument/2006/relationships/image" Target="../media/image99.emf"/><Relationship Id="rId1" Type="http://schemas.openxmlformats.org/officeDocument/2006/relationships/slideLayout" Target="../slideLayouts/slideLayout2.xml"/><Relationship Id="rId6" Type="http://schemas.openxmlformats.org/officeDocument/2006/relationships/image" Target="../media/image92.emf"/><Relationship Id="rId11" Type="http://schemas.openxmlformats.org/officeDocument/2006/relationships/oleObject" Target="../embeddings/oleObject102.bin"/><Relationship Id="rId5" Type="http://schemas.openxmlformats.org/officeDocument/2006/relationships/image" Target="../media/image100.wmf"/><Relationship Id="rId15" Type="http://schemas.openxmlformats.org/officeDocument/2006/relationships/image" Target="../media/image95.emf"/><Relationship Id="rId10" Type="http://schemas.openxmlformats.org/officeDocument/2006/relationships/image" Target="../media/image96.wmf"/><Relationship Id="rId4" Type="http://schemas.openxmlformats.org/officeDocument/2006/relationships/oleObject" Target="../embeddings/oleObject99.bin"/><Relationship Id="rId9" Type="http://schemas.openxmlformats.org/officeDocument/2006/relationships/oleObject" Target="../embeddings/oleObject101.bin"/><Relationship Id="rId14" Type="http://schemas.openxmlformats.org/officeDocument/2006/relationships/image" Target="../media/image98.wmf"/></Relationships>
</file>

<file path=ppt/slides/_rels/slide60.xml.rels><?xml version="1.0" encoding="UTF-8" standalone="yes"?>
<Relationships xmlns="http://schemas.openxmlformats.org/package/2006/relationships"><Relationship Id="rId2" Type="http://schemas.openxmlformats.org/officeDocument/2006/relationships/image" Target="../media/image102.emf"/><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8" Type="http://schemas.openxmlformats.org/officeDocument/2006/relationships/oleObject" Target="../embeddings/oleObject106.bin"/><Relationship Id="rId13" Type="http://schemas.openxmlformats.org/officeDocument/2006/relationships/image" Target="../media/image108.wmf"/><Relationship Id="rId3" Type="http://schemas.openxmlformats.org/officeDocument/2006/relationships/image" Target="../media/image103.wmf"/><Relationship Id="rId7" Type="http://schemas.openxmlformats.org/officeDocument/2006/relationships/image" Target="../media/image105.emf"/><Relationship Id="rId12" Type="http://schemas.openxmlformats.org/officeDocument/2006/relationships/oleObject" Target="../embeddings/oleObject108.bin"/><Relationship Id="rId2" Type="http://schemas.openxmlformats.org/officeDocument/2006/relationships/oleObject" Target="../embeddings/oleObject104.bin"/><Relationship Id="rId1" Type="http://schemas.openxmlformats.org/officeDocument/2006/relationships/slideLayout" Target="../slideLayouts/slideLayout2.xml"/><Relationship Id="rId6" Type="http://schemas.openxmlformats.org/officeDocument/2006/relationships/image" Target="../media/image102.emf"/><Relationship Id="rId11" Type="http://schemas.openxmlformats.org/officeDocument/2006/relationships/image" Target="../media/image107.wmf"/><Relationship Id="rId5" Type="http://schemas.openxmlformats.org/officeDocument/2006/relationships/image" Target="../media/image104.wmf"/><Relationship Id="rId15" Type="http://schemas.openxmlformats.org/officeDocument/2006/relationships/image" Target="../media/image109.wmf"/><Relationship Id="rId10" Type="http://schemas.openxmlformats.org/officeDocument/2006/relationships/oleObject" Target="../embeddings/oleObject107.bin"/><Relationship Id="rId4" Type="http://schemas.openxmlformats.org/officeDocument/2006/relationships/oleObject" Target="../embeddings/oleObject105.bin"/><Relationship Id="rId9" Type="http://schemas.openxmlformats.org/officeDocument/2006/relationships/image" Target="../media/image106.wmf"/><Relationship Id="rId14" Type="http://schemas.openxmlformats.org/officeDocument/2006/relationships/oleObject" Target="../embeddings/oleObject109.bin"/></Relationships>
</file>

<file path=ppt/slides/_rels/slide62.xml.rels><?xml version="1.0" encoding="UTF-8" standalone="yes"?>
<Relationships xmlns="http://schemas.openxmlformats.org/package/2006/relationships"><Relationship Id="rId8" Type="http://schemas.openxmlformats.org/officeDocument/2006/relationships/oleObject" Target="../embeddings/oleObject112.bin"/><Relationship Id="rId13" Type="http://schemas.openxmlformats.org/officeDocument/2006/relationships/image" Target="../media/image108.wmf"/><Relationship Id="rId18" Type="http://schemas.openxmlformats.org/officeDocument/2006/relationships/image" Target="../media/image111.wmf"/><Relationship Id="rId3" Type="http://schemas.openxmlformats.org/officeDocument/2006/relationships/image" Target="../media/image103.wmf"/><Relationship Id="rId21" Type="http://schemas.openxmlformats.org/officeDocument/2006/relationships/oleObject" Target="../embeddings/oleObject118.bin"/><Relationship Id="rId7" Type="http://schemas.openxmlformats.org/officeDocument/2006/relationships/image" Target="../media/image105.emf"/><Relationship Id="rId12" Type="http://schemas.openxmlformats.org/officeDocument/2006/relationships/oleObject" Target="../embeddings/oleObject114.bin"/><Relationship Id="rId17" Type="http://schemas.openxmlformats.org/officeDocument/2006/relationships/oleObject" Target="../embeddings/oleObject116.bin"/><Relationship Id="rId2" Type="http://schemas.openxmlformats.org/officeDocument/2006/relationships/oleObject" Target="../embeddings/oleObject110.bin"/><Relationship Id="rId16" Type="http://schemas.openxmlformats.org/officeDocument/2006/relationships/image" Target="../media/image110.emf"/><Relationship Id="rId20" Type="http://schemas.openxmlformats.org/officeDocument/2006/relationships/image" Target="../media/image112.wmf"/><Relationship Id="rId1" Type="http://schemas.openxmlformats.org/officeDocument/2006/relationships/slideLayout" Target="../slideLayouts/slideLayout2.xml"/><Relationship Id="rId6" Type="http://schemas.openxmlformats.org/officeDocument/2006/relationships/image" Target="../media/image102.emf"/><Relationship Id="rId11" Type="http://schemas.openxmlformats.org/officeDocument/2006/relationships/image" Target="../media/image107.wmf"/><Relationship Id="rId24" Type="http://schemas.openxmlformats.org/officeDocument/2006/relationships/image" Target="../media/image114.wmf"/><Relationship Id="rId5" Type="http://schemas.openxmlformats.org/officeDocument/2006/relationships/image" Target="../media/image104.wmf"/><Relationship Id="rId15" Type="http://schemas.openxmlformats.org/officeDocument/2006/relationships/image" Target="../media/image109.wmf"/><Relationship Id="rId23" Type="http://schemas.openxmlformats.org/officeDocument/2006/relationships/oleObject" Target="../embeddings/oleObject119.bin"/><Relationship Id="rId10" Type="http://schemas.openxmlformats.org/officeDocument/2006/relationships/oleObject" Target="../embeddings/oleObject113.bin"/><Relationship Id="rId19" Type="http://schemas.openxmlformats.org/officeDocument/2006/relationships/oleObject" Target="../embeddings/oleObject117.bin"/><Relationship Id="rId4" Type="http://schemas.openxmlformats.org/officeDocument/2006/relationships/oleObject" Target="../embeddings/oleObject111.bin"/><Relationship Id="rId9" Type="http://schemas.openxmlformats.org/officeDocument/2006/relationships/image" Target="../media/image106.wmf"/><Relationship Id="rId14" Type="http://schemas.openxmlformats.org/officeDocument/2006/relationships/oleObject" Target="../embeddings/oleObject115.bin"/><Relationship Id="rId22" Type="http://schemas.openxmlformats.org/officeDocument/2006/relationships/image" Target="../media/image113.wmf"/></Relationships>
</file>

<file path=ppt/slides/_rels/slide63.xml.rels><?xml version="1.0" encoding="UTF-8" standalone="yes"?>
<Relationships xmlns="http://schemas.openxmlformats.org/package/2006/relationships"><Relationship Id="rId8" Type="http://schemas.openxmlformats.org/officeDocument/2006/relationships/image" Target="../media/image102.emf"/><Relationship Id="rId13" Type="http://schemas.openxmlformats.org/officeDocument/2006/relationships/image" Target="../media/image107.wmf"/><Relationship Id="rId18" Type="http://schemas.openxmlformats.org/officeDocument/2006/relationships/image" Target="../media/image110.emf"/><Relationship Id="rId26" Type="http://schemas.openxmlformats.org/officeDocument/2006/relationships/image" Target="../media/image114.wmf"/><Relationship Id="rId3" Type="http://schemas.openxmlformats.org/officeDocument/2006/relationships/image" Target="../media/image103.wmf"/><Relationship Id="rId21" Type="http://schemas.openxmlformats.org/officeDocument/2006/relationships/oleObject" Target="../embeddings/oleObject128.bin"/><Relationship Id="rId7" Type="http://schemas.openxmlformats.org/officeDocument/2006/relationships/image" Target="../media/image104.wmf"/><Relationship Id="rId12" Type="http://schemas.openxmlformats.org/officeDocument/2006/relationships/oleObject" Target="../embeddings/oleObject124.bin"/><Relationship Id="rId17" Type="http://schemas.openxmlformats.org/officeDocument/2006/relationships/image" Target="../media/image109.wmf"/><Relationship Id="rId25" Type="http://schemas.openxmlformats.org/officeDocument/2006/relationships/oleObject" Target="../embeddings/oleObject130.bin"/><Relationship Id="rId2" Type="http://schemas.openxmlformats.org/officeDocument/2006/relationships/oleObject" Target="../embeddings/oleObject120.bin"/><Relationship Id="rId16" Type="http://schemas.openxmlformats.org/officeDocument/2006/relationships/oleObject" Target="../embeddings/oleObject126.bin"/><Relationship Id="rId20" Type="http://schemas.openxmlformats.org/officeDocument/2006/relationships/image" Target="../media/image111.wmf"/><Relationship Id="rId1" Type="http://schemas.openxmlformats.org/officeDocument/2006/relationships/slideLayout" Target="../slideLayouts/slideLayout2.xml"/><Relationship Id="rId6" Type="http://schemas.openxmlformats.org/officeDocument/2006/relationships/oleObject" Target="../embeddings/oleObject122.bin"/><Relationship Id="rId11" Type="http://schemas.openxmlformats.org/officeDocument/2006/relationships/image" Target="../media/image106.wmf"/><Relationship Id="rId24" Type="http://schemas.openxmlformats.org/officeDocument/2006/relationships/image" Target="../media/image113.wmf"/><Relationship Id="rId5" Type="http://schemas.openxmlformats.org/officeDocument/2006/relationships/image" Target="../media/image115.wmf"/><Relationship Id="rId15" Type="http://schemas.openxmlformats.org/officeDocument/2006/relationships/image" Target="../media/image108.wmf"/><Relationship Id="rId23" Type="http://schemas.openxmlformats.org/officeDocument/2006/relationships/oleObject" Target="../embeddings/oleObject129.bin"/><Relationship Id="rId10" Type="http://schemas.openxmlformats.org/officeDocument/2006/relationships/oleObject" Target="../embeddings/oleObject123.bin"/><Relationship Id="rId19" Type="http://schemas.openxmlformats.org/officeDocument/2006/relationships/oleObject" Target="../embeddings/oleObject127.bin"/><Relationship Id="rId4" Type="http://schemas.openxmlformats.org/officeDocument/2006/relationships/oleObject" Target="../embeddings/oleObject121.bin"/><Relationship Id="rId9" Type="http://schemas.openxmlformats.org/officeDocument/2006/relationships/image" Target="../media/image105.emf"/><Relationship Id="rId14" Type="http://schemas.openxmlformats.org/officeDocument/2006/relationships/oleObject" Target="../embeddings/oleObject125.bin"/><Relationship Id="rId22" Type="http://schemas.openxmlformats.org/officeDocument/2006/relationships/image" Target="../media/image112.wmf"/></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131.bin"/><Relationship Id="rId2" Type="http://schemas.openxmlformats.org/officeDocument/2006/relationships/image" Target="../media/image116.emf"/><Relationship Id="rId1" Type="http://schemas.openxmlformats.org/officeDocument/2006/relationships/slideLayout" Target="../slideLayouts/slideLayout2.xml"/><Relationship Id="rId6" Type="http://schemas.openxmlformats.org/officeDocument/2006/relationships/image" Target="../media/image118.wmf"/><Relationship Id="rId5" Type="http://schemas.openxmlformats.org/officeDocument/2006/relationships/oleObject" Target="../embeddings/oleObject132.bin"/><Relationship Id="rId4" Type="http://schemas.openxmlformats.org/officeDocument/2006/relationships/image" Target="../media/image117.wmf"/></Relationships>
</file>

<file path=ppt/slides/_rels/slide65.xml.rels><?xml version="1.0" encoding="UTF-8" standalone="yes"?>
<Relationships xmlns="http://schemas.openxmlformats.org/package/2006/relationships"><Relationship Id="rId8" Type="http://schemas.openxmlformats.org/officeDocument/2006/relationships/oleObject" Target="../embeddings/oleObject135.bin"/><Relationship Id="rId13" Type="http://schemas.openxmlformats.org/officeDocument/2006/relationships/image" Target="../media/image125.wmf"/><Relationship Id="rId3" Type="http://schemas.openxmlformats.org/officeDocument/2006/relationships/image" Target="../media/image120.emf"/><Relationship Id="rId7" Type="http://schemas.openxmlformats.org/officeDocument/2006/relationships/image" Target="../media/image122.wmf"/><Relationship Id="rId12" Type="http://schemas.openxmlformats.org/officeDocument/2006/relationships/oleObject" Target="../embeddings/oleObject137.bin"/><Relationship Id="rId17" Type="http://schemas.openxmlformats.org/officeDocument/2006/relationships/image" Target="../media/image127.wmf"/><Relationship Id="rId2" Type="http://schemas.openxmlformats.org/officeDocument/2006/relationships/image" Target="../media/image119.emf"/><Relationship Id="rId16" Type="http://schemas.openxmlformats.org/officeDocument/2006/relationships/oleObject" Target="../embeddings/oleObject139.bin"/><Relationship Id="rId1" Type="http://schemas.openxmlformats.org/officeDocument/2006/relationships/slideLayout" Target="../slideLayouts/slideLayout2.xml"/><Relationship Id="rId6" Type="http://schemas.openxmlformats.org/officeDocument/2006/relationships/oleObject" Target="../embeddings/oleObject134.bin"/><Relationship Id="rId11" Type="http://schemas.openxmlformats.org/officeDocument/2006/relationships/image" Target="../media/image124.wmf"/><Relationship Id="rId5" Type="http://schemas.openxmlformats.org/officeDocument/2006/relationships/image" Target="../media/image121.wmf"/><Relationship Id="rId15" Type="http://schemas.openxmlformats.org/officeDocument/2006/relationships/image" Target="../media/image126.wmf"/><Relationship Id="rId10" Type="http://schemas.openxmlformats.org/officeDocument/2006/relationships/oleObject" Target="../embeddings/oleObject136.bin"/><Relationship Id="rId4" Type="http://schemas.openxmlformats.org/officeDocument/2006/relationships/oleObject" Target="../embeddings/oleObject133.bin"/><Relationship Id="rId9" Type="http://schemas.openxmlformats.org/officeDocument/2006/relationships/image" Target="../media/image123.wmf"/><Relationship Id="rId14" Type="http://schemas.openxmlformats.org/officeDocument/2006/relationships/oleObject" Target="../embeddings/oleObject138.bin"/></Relationships>
</file>

<file path=ppt/slides/_rels/slide66.xml.rels><?xml version="1.0" encoding="UTF-8" standalone="yes"?>
<Relationships xmlns="http://schemas.openxmlformats.org/package/2006/relationships"><Relationship Id="rId2" Type="http://schemas.openxmlformats.org/officeDocument/2006/relationships/image" Target="../media/image128.em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29.emf"/><Relationship Id="rId2" Type="http://schemas.microsoft.com/office/2018/10/relationships/comments" Target="../comments/modernComment_1E5_D922CDA.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140.bin"/><Relationship Id="rId2" Type="http://schemas.openxmlformats.org/officeDocument/2006/relationships/image" Target="../media/image129.emf"/><Relationship Id="rId1" Type="http://schemas.openxmlformats.org/officeDocument/2006/relationships/slideLayout" Target="../slideLayouts/slideLayout2.xml"/><Relationship Id="rId4" Type="http://schemas.openxmlformats.org/officeDocument/2006/relationships/image" Target="../media/image130.wmf"/></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141.bin"/><Relationship Id="rId2" Type="http://schemas.openxmlformats.org/officeDocument/2006/relationships/image" Target="../media/image129.emf"/><Relationship Id="rId1" Type="http://schemas.openxmlformats.org/officeDocument/2006/relationships/slideLayout" Target="../slideLayouts/slideLayout2.xml"/><Relationship Id="rId6" Type="http://schemas.openxmlformats.org/officeDocument/2006/relationships/image" Target="../media/image131.wmf"/><Relationship Id="rId5" Type="http://schemas.openxmlformats.org/officeDocument/2006/relationships/oleObject" Target="../embeddings/oleObject142.bin"/><Relationship Id="rId4" Type="http://schemas.openxmlformats.org/officeDocument/2006/relationships/image" Target="../media/image130.wmf"/></Relationships>
</file>

<file path=ppt/slides/_rels/slide70.xml.rels><?xml version="1.0" encoding="UTF-8" standalone="yes"?>
<Relationships xmlns="http://schemas.openxmlformats.org/package/2006/relationships"><Relationship Id="rId8" Type="http://schemas.openxmlformats.org/officeDocument/2006/relationships/image" Target="../media/image132.wmf"/><Relationship Id="rId3" Type="http://schemas.openxmlformats.org/officeDocument/2006/relationships/oleObject" Target="../embeddings/oleObject143.bin"/><Relationship Id="rId7" Type="http://schemas.openxmlformats.org/officeDocument/2006/relationships/oleObject" Target="../embeddings/oleObject145.bin"/><Relationship Id="rId2" Type="http://schemas.openxmlformats.org/officeDocument/2006/relationships/image" Target="../media/image129.emf"/><Relationship Id="rId1" Type="http://schemas.openxmlformats.org/officeDocument/2006/relationships/slideLayout" Target="../slideLayouts/slideLayout2.xml"/><Relationship Id="rId6" Type="http://schemas.openxmlformats.org/officeDocument/2006/relationships/image" Target="../media/image131.wmf"/><Relationship Id="rId5" Type="http://schemas.openxmlformats.org/officeDocument/2006/relationships/oleObject" Target="../embeddings/oleObject144.bin"/><Relationship Id="rId4" Type="http://schemas.openxmlformats.org/officeDocument/2006/relationships/image" Target="../media/image130.wmf"/></Relationships>
</file>

<file path=ppt/slides/_rels/slide71.xml.rels><?xml version="1.0" encoding="UTF-8" standalone="yes"?>
<Relationships xmlns="http://schemas.openxmlformats.org/package/2006/relationships"><Relationship Id="rId8" Type="http://schemas.openxmlformats.org/officeDocument/2006/relationships/image" Target="../media/image132.wmf"/><Relationship Id="rId3" Type="http://schemas.openxmlformats.org/officeDocument/2006/relationships/oleObject" Target="../embeddings/oleObject146.bin"/><Relationship Id="rId7" Type="http://schemas.openxmlformats.org/officeDocument/2006/relationships/oleObject" Target="../embeddings/oleObject148.bin"/><Relationship Id="rId2" Type="http://schemas.openxmlformats.org/officeDocument/2006/relationships/image" Target="../media/image129.emf"/><Relationship Id="rId1" Type="http://schemas.openxmlformats.org/officeDocument/2006/relationships/slideLayout" Target="../slideLayouts/slideLayout2.xml"/><Relationship Id="rId6" Type="http://schemas.openxmlformats.org/officeDocument/2006/relationships/image" Target="../media/image131.wmf"/><Relationship Id="rId5" Type="http://schemas.openxmlformats.org/officeDocument/2006/relationships/oleObject" Target="../embeddings/oleObject147.bin"/><Relationship Id="rId4" Type="http://schemas.openxmlformats.org/officeDocument/2006/relationships/image" Target="../media/image130.wmf"/></Relationships>
</file>

<file path=ppt/slides/_rels/slide72.xml.rels><?xml version="1.0" encoding="UTF-8" standalone="yes"?>
<Relationships xmlns="http://schemas.openxmlformats.org/package/2006/relationships"><Relationship Id="rId8" Type="http://schemas.openxmlformats.org/officeDocument/2006/relationships/image" Target="../media/image132.wmf"/><Relationship Id="rId3" Type="http://schemas.openxmlformats.org/officeDocument/2006/relationships/oleObject" Target="../embeddings/oleObject149.bin"/><Relationship Id="rId7" Type="http://schemas.openxmlformats.org/officeDocument/2006/relationships/oleObject" Target="../embeddings/oleObject151.bin"/><Relationship Id="rId2" Type="http://schemas.openxmlformats.org/officeDocument/2006/relationships/image" Target="../media/image129.emf"/><Relationship Id="rId1" Type="http://schemas.openxmlformats.org/officeDocument/2006/relationships/slideLayout" Target="../slideLayouts/slideLayout2.xml"/><Relationship Id="rId6" Type="http://schemas.openxmlformats.org/officeDocument/2006/relationships/image" Target="../media/image131.wmf"/><Relationship Id="rId5" Type="http://schemas.openxmlformats.org/officeDocument/2006/relationships/oleObject" Target="../embeddings/oleObject150.bin"/><Relationship Id="rId10" Type="http://schemas.openxmlformats.org/officeDocument/2006/relationships/image" Target="../media/image133.wmf"/><Relationship Id="rId4" Type="http://schemas.openxmlformats.org/officeDocument/2006/relationships/image" Target="../media/image130.wmf"/><Relationship Id="rId9" Type="http://schemas.openxmlformats.org/officeDocument/2006/relationships/oleObject" Target="../embeddings/oleObject152.bin"/></Relationships>
</file>

<file path=ppt/slides/_rels/slide73.xml.rels><?xml version="1.0" encoding="UTF-8" standalone="yes"?>
<Relationships xmlns="http://schemas.openxmlformats.org/package/2006/relationships"><Relationship Id="rId8" Type="http://schemas.openxmlformats.org/officeDocument/2006/relationships/image" Target="../media/image132.wmf"/><Relationship Id="rId13" Type="http://schemas.openxmlformats.org/officeDocument/2006/relationships/oleObject" Target="../embeddings/oleObject158.bin"/><Relationship Id="rId3" Type="http://schemas.openxmlformats.org/officeDocument/2006/relationships/oleObject" Target="../embeddings/oleObject153.bin"/><Relationship Id="rId7" Type="http://schemas.openxmlformats.org/officeDocument/2006/relationships/oleObject" Target="../embeddings/oleObject155.bin"/><Relationship Id="rId12" Type="http://schemas.openxmlformats.org/officeDocument/2006/relationships/image" Target="../media/image134.wmf"/><Relationship Id="rId2" Type="http://schemas.openxmlformats.org/officeDocument/2006/relationships/image" Target="../media/image129.emf"/><Relationship Id="rId16" Type="http://schemas.openxmlformats.org/officeDocument/2006/relationships/image" Target="../media/image136.wmf"/><Relationship Id="rId1" Type="http://schemas.openxmlformats.org/officeDocument/2006/relationships/slideLayout" Target="../slideLayouts/slideLayout2.xml"/><Relationship Id="rId6" Type="http://schemas.openxmlformats.org/officeDocument/2006/relationships/image" Target="../media/image131.wmf"/><Relationship Id="rId11" Type="http://schemas.openxmlformats.org/officeDocument/2006/relationships/oleObject" Target="../embeddings/oleObject157.bin"/><Relationship Id="rId5" Type="http://schemas.openxmlformats.org/officeDocument/2006/relationships/oleObject" Target="../embeddings/oleObject154.bin"/><Relationship Id="rId15" Type="http://schemas.openxmlformats.org/officeDocument/2006/relationships/oleObject" Target="../embeddings/oleObject159.bin"/><Relationship Id="rId10" Type="http://schemas.openxmlformats.org/officeDocument/2006/relationships/image" Target="../media/image133.wmf"/><Relationship Id="rId4" Type="http://schemas.openxmlformats.org/officeDocument/2006/relationships/image" Target="../media/image130.wmf"/><Relationship Id="rId9" Type="http://schemas.openxmlformats.org/officeDocument/2006/relationships/oleObject" Target="../embeddings/oleObject156.bin"/><Relationship Id="rId14" Type="http://schemas.openxmlformats.org/officeDocument/2006/relationships/image" Target="../media/image135.wmf"/></Relationships>
</file>

<file path=ppt/slides/_rels/slide74.xml.rels><?xml version="1.0" encoding="UTF-8" standalone="yes"?>
<Relationships xmlns="http://schemas.openxmlformats.org/package/2006/relationships"><Relationship Id="rId8" Type="http://schemas.openxmlformats.org/officeDocument/2006/relationships/image" Target="../media/image132.wmf"/><Relationship Id="rId13" Type="http://schemas.openxmlformats.org/officeDocument/2006/relationships/oleObject" Target="../embeddings/oleObject165.bin"/><Relationship Id="rId18" Type="http://schemas.openxmlformats.org/officeDocument/2006/relationships/image" Target="../media/image137.wmf"/><Relationship Id="rId3" Type="http://schemas.openxmlformats.org/officeDocument/2006/relationships/oleObject" Target="../embeddings/oleObject160.bin"/><Relationship Id="rId7" Type="http://schemas.openxmlformats.org/officeDocument/2006/relationships/oleObject" Target="../embeddings/oleObject162.bin"/><Relationship Id="rId12" Type="http://schemas.openxmlformats.org/officeDocument/2006/relationships/image" Target="../media/image134.wmf"/><Relationship Id="rId17" Type="http://schemas.openxmlformats.org/officeDocument/2006/relationships/oleObject" Target="../embeddings/oleObject167.bin"/><Relationship Id="rId2" Type="http://schemas.openxmlformats.org/officeDocument/2006/relationships/image" Target="../media/image129.emf"/><Relationship Id="rId16" Type="http://schemas.openxmlformats.org/officeDocument/2006/relationships/image" Target="../media/image136.wmf"/><Relationship Id="rId1" Type="http://schemas.openxmlformats.org/officeDocument/2006/relationships/slideLayout" Target="../slideLayouts/slideLayout2.xml"/><Relationship Id="rId6" Type="http://schemas.openxmlformats.org/officeDocument/2006/relationships/image" Target="../media/image131.wmf"/><Relationship Id="rId11" Type="http://schemas.openxmlformats.org/officeDocument/2006/relationships/oleObject" Target="../embeddings/oleObject164.bin"/><Relationship Id="rId5" Type="http://schemas.openxmlformats.org/officeDocument/2006/relationships/oleObject" Target="../embeddings/oleObject161.bin"/><Relationship Id="rId15" Type="http://schemas.openxmlformats.org/officeDocument/2006/relationships/oleObject" Target="../embeddings/oleObject166.bin"/><Relationship Id="rId10" Type="http://schemas.openxmlformats.org/officeDocument/2006/relationships/image" Target="../media/image133.wmf"/><Relationship Id="rId4" Type="http://schemas.openxmlformats.org/officeDocument/2006/relationships/image" Target="../media/image130.wmf"/><Relationship Id="rId9" Type="http://schemas.openxmlformats.org/officeDocument/2006/relationships/oleObject" Target="../embeddings/oleObject163.bin"/><Relationship Id="rId14" Type="http://schemas.openxmlformats.org/officeDocument/2006/relationships/image" Target="../media/image135.wmf"/></Relationships>
</file>

<file path=ppt/slides/_rels/slide75.xml.rels><?xml version="1.0" encoding="UTF-8" standalone="yes"?>
<Relationships xmlns="http://schemas.openxmlformats.org/package/2006/relationships"><Relationship Id="rId2" Type="http://schemas.openxmlformats.org/officeDocument/2006/relationships/image" Target="../media/image138.emf"/><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39.emf"/><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8" Type="http://schemas.openxmlformats.org/officeDocument/2006/relationships/image" Target="../media/image142.wmf"/><Relationship Id="rId3" Type="http://schemas.openxmlformats.org/officeDocument/2006/relationships/oleObject" Target="../embeddings/oleObject168.bin"/><Relationship Id="rId7" Type="http://schemas.openxmlformats.org/officeDocument/2006/relationships/oleObject" Target="../embeddings/oleObject170.bin"/><Relationship Id="rId12" Type="http://schemas.openxmlformats.org/officeDocument/2006/relationships/image" Target="../media/image144.wmf"/><Relationship Id="rId2" Type="http://schemas.openxmlformats.org/officeDocument/2006/relationships/image" Target="../media/image139.emf"/><Relationship Id="rId1" Type="http://schemas.openxmlformats.org/officeDocument/2006/relationships/slideLayout" Target="../slideLayouts/slideLayout2.xml"/><Relationship Id="rId6" Type="http://schemas.openxmlformats.org/officeDocument/2006/relationships/image" Target="../media/image141.wmf"/><Relationship Id="rId11" Type="http://schemas.openxmlformats.org/officeDocument/2006/relationships/oleObject" Target="../embeddings/oleObject172.bin"/><Relationship Id="rId5" Type="http://schemas.openxmlformats.org/officeDocument/2006/relationships/oleObject" Target="../embeddings/oleObject169.bin"/><Relationship Id="rId10" Type="http://schemas.openxmlformats.org/officeDocument/2006/relationships/image" Target="../media/image143.wmf"/><Relationship Id="rId4" Type="http://schemas.openxmlformats.org/officeDocument/2006/relationships/image" Target="../media/image140.wmf"/><Relationship Id="rId9" Type="http://schemas.openxmlformats.org/officeDocument/2006/relationships/oleObject" Target="../embeddings/oleObject171.bin"/></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45.emf"/><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46.emf"/><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46.emf"/><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8" Type="http://schemas.openxmlformats.org/officeDocument/2006/relationships/image" Target="../media/image149.wmf"/><Relationship Id="rId3" Type="http://schemas.openxmlformats.org/officeDocument/2006/relationships/oleObject" Target="../embeddings/oleObject173.bin"/><Relationship Id="rId7" Type="http://schemas.openxmlformats.org/officeDocument/2006/relationships/oleObject" Target="../embeddings/oleObject175.bin"/><Relationship Id="rId2" Type="http://schemas.openxmlformats.org/officeDocument/2006/relationships/image" Target="../media/image146.emf"/><Relationship Id="rId1" Type="http://schemas.openxmlformats.org/officeDocument/2006/relationships/slideLayout" Target="../slideLayouts/slideLayout2.xml"/><Relationship Id="rId6" Type="http://schemas.openxmlformats.org/officeDocument/2006/relationships/image" Target="../media/image148.wmf"/><Relationship Id="rId5" Type="http://schemas.openxmlformats.org/officeDocument/2006/relationships/oleObject" Target="../embeddings/oleObject174.bin"/><Relationship Id="rId4" Type="http://schemas.openxmlformats.org/officeDocument/2006/relationships/image" Target="../media/image147.wmf"/></Relationships>
</file>

<file path=ppt/slides/_rels/slide83.xml.rels><?xml version="1.0" encoding="UTF-8" standalone="yes"?>
<Relationships xmlns="http://schemas.openxmlformats.org/package/2006/relationships"><Relationship Id="rId3" Type="http://schemas.openxmlformats.org/officeDocument/2006/relationships/image" Target="../media/image150.wmf"/><Relationship Id="rId2" Type="http://schemas.openxmlformats.org/officeDocument/2006/relationships/oleObject" Target="../embeddings/oleObject176.bin"/><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51.emf"/><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52.emf"/><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53.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53.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53.emf"/><Relationship Id="rId7" Type="http://schemas.openxmlformats.org/officeDocument/2006/relationships/image" Target="../media/image155.wmf"/><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oleObject" Target="../embeddings/oleObject178.bin"/><Relationship Id="rId5" Type="http://schemas.openxmlformats.org/officeDocument/2006/relationships/image" Target="../media/image154.wmf"/><Relationship Id="rId4" Type="http://schemas.openxmlformats.org/officeDocument/2006/relationships/oleObject" Target="../embeddings/oleObject177.bin"/></Relationships>
</file>

<file path=ppt/slides/_rels/slide89.xml.rels><?xml version="1.0" encoding="UTF-8" standalone="yes"?>
<Relationships xmlns="http://schemas.openxmlformats.org/package/2006/relationships"><Relationship Id="rId8" Type="http://schemas.openxmlformats.org/officeDocument/2006/relationships/oleObject" Target="../embeddings/oleObject181.bin"/><Relationship Id="rId3" Type="http://schemas.openxmlformats.org/officeDocument/2006/relationships/image" Target="../media/image153.emf"/><Relationship Id="rId7" Type="http://schemas.openxmlformats.org/officeDocument/2006/relationships/image" Target="../media/image155.wmf"/><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oleObject" Target="../embeddings/oleObject180.bin"/><Relationship Id="rId11" Type="http://schemas.openxmlformats.org/officeDocument/2006/relationships/image" Target="../media/image157.wmf"/><Relationship Id="rId5" Type="http://schemas.openxmlformats.org/officeDocument/2006/relationships/image" Target="../media/image154.wmf"/><Relationship Id="rId10" Type="http://schemas.openxmlformats.org/officeDocument/2006/relationships/oleObject" Target="../embeddings/oleObject182.bin"/><Relationship Id="rId4" Type="http://schemas.openxmlformats.org/officeDocument/2006/relationships/oleObject" Target="../embeddings/oleObject179.bin"/><Relationship Id="rId9" Type="http://schemas.openxmlformats.org/officeDocument/2006/relationships/image" Target="../media/image156.wmf"/></Relationships>
</file>

<file path=ppt/slides/_rels/slide90.xml.rels><?xml version="1.0" encoding="UTF-8" standalone="yes"?>
<Relationships xmlns="http://schemas.openxmlformats.org/package/2006/relationships"><Relationship Id="rId2" Type="http://schemas.openxmlformats.org/officeDocument/2006/relationships/image" Target="../media/image158.emf"/><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8" Type="http://schemas.openxmlformats.org/officeDocument/2006/relationships/image" Target="../media/image162.wmf"/><Relationship Id="rId3" Type="http://schemas.openxmlformats.org/officeDocument/2006/relationships/oleObject" Target="../embeddings/oleObject183.bin"/><Relationship Id="rId7" Type="http://schemas.openxmlformats.org/officeDocument/2006/relationships/oleObject" Target="../embeddings/oleObject185.bin"/><Relationship Id="rId2" Type="http://schemas.openxmlformats.org/officeDocument/2006/relationships/image" Target="../media/image159.emf"/><Relationship Id="rId1" Type="http://schemas.openxmlformats.org/officeDocument/2006/relationships/slideLayout" Target="../slideLayouts/slideLayout2.xml"/><Relationship Id="rId6" Type="http://schemas.openxmlformats.org/officeDocument/2006/relationships/image" Target="../media/image161.wmf"/><Relationship Id="rId5" Type="http://schemas.openxmlformats.org/officeDocument/2006/relationships/oleObject" Target="../embeddings/oleObject184.bin"/><Relationship Id="rId4" Type="http://schemas.openxmlformats.org/officeDocument/2006/relationships/image" Target="../media/image160.wmf"/></Relationships>
</file>

<file path=ppt/slides/_rels/slide92.xml.rels><?xml version="1.0" encoding="UTF-8" standalone="yes"?>
<Relationships xmlns="http://schemas.openxmlformats.org/package/2006/relationships"><Relationship Id="rId2" Type="http://schemas.openxmlformats.org/officeDocument/2006/relationships/image" Target="../media/image163.emf"/><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oleObject" Target="../embeddings/oleObject186.bin"/><Relationship Id="rId2" Type="http://schemas.openxmlformats.org/officeDocument/2006/relationships/image" Target="../media/image163.emf"/><Relationship Id="rId1" Type="http://schemas.openxmlformats.org/officeDocument/2006/relationships/slideLayout" Target="../slideLayouts/slideLayout2.xml"/><Relationship Id="rId4" Type="http://schemas.openxmlformats.org/officeDocument/2006/relationships/image" Target="../media/image164.wmf"/></Relationships>
</file>

<file path=ppt/slides/_rels/slide94.xml.rels><?xml version="1.0" encoding="UTF-8" standalone="yes"?>
<Relationships xmlns="http://schemas.openxmlformats.org/package/2006/relationships"><Relationship Id="rId3" Type="http://schemas.openxmlformats.org/officeDocument/2006/relationships/oleObject" Target="../embeddings/oleObject187.bin"/><Relationship Id="rId2" Type="http://schemas.openxmlformats.org/officeDocument/2006/relationships/image" Target="../media/image163.emf"/><Relationship Id="rId1" Type="http://schemas.openxmlformats.org/officeDocument/2006/relationships/slideLayout" Target="../slideLayouts/slideLayout2.xml"/><Relationship Id="rId6" Type="http://schemas.openxmlformats.org/officeDocument/2006/relationships/image" Target="../media/image165.wmf"/><Relationship Id="rId5" Type="http://schemas.openxmlformats.org/officeDocument/2006/relationships/oleObject" Target="../embeddings/oleObject188.bin"/><Relationship Id="rId4" Type="http://schemas.openxmlformats.org/officeDocument/2006/relationships/image" Target="../media/image164.wmf"/></Relationships>
</file>

<file path=ppt/slides/_rels/slide95.xml.rels><?xml version="1.0" encoding="UTF-8" standalone="yes"?>
<Relationships xmlns="http://schemas.openxmlformats.org/package/2006/relationships"><Relationship Id="rId8" Type="http://schemas.openxmlformats.org/officeDocument/2006/relationships/image" Target="../media/image166.wmf"/><Relationship Id="rId3" Type="http://schemas.openxmlformats.org/officeDocument/2006/relationships/oleObject" Target="../embeddings/oleObject189.bin"/><Relationship Id="rId7" Type="http://schemas.openxmlformats.org/officeDocument/2006/relationships/oleObject" Target="../embeddings/oleObject191.bin"/><Relationship Id="rId2" Type="http://schemas.openxmlformats.org/officeDocument/2006/relationships/image" Target="../media/image163.emf"/><Relationship Id="rId1" Type="http://schemas.openxmlformats.org/officeDocument/2006/relationships/slideLayout" Target="../slideLayouts/slideLayout2.xml"/><Relationship Id="rId6" Type="http://schemas.openxmlformats.org/officeDocument/2006/relationships/image" Target="../media/image165.wmf"/><Relationship Id="rId5" Type="http://schemas.openxmlformats.org/officeDocument/2006/relationships/oleObject" Target="../embeddings/oleObject190.bin"/><Relationship Id="rId10" Type="http://schemas.openxmlformats.org/officeDocument/2006/relationships/image" Target="../media/image167.wmf"/><Relationship Id="rId4" Type="http://schemas.openxmlformats.org/officeDocument/2006/relationships/image" Target="../media/image164.wmf"/><Relationship Id="rId9" Type="http://schemas.openxmlformats.org/officeDocument/2006/relationships/oleObject" Target="../embeddings/oleObject192.bin"/></Relationships>
</file>

<file path=ppt/slides/_rels/slide96.xml.rels><?xml version="1.0" encoding="UTF-8" standalone="yes"?>
<Relationships xmlns="http://schemas.openxmlformats.org/package/2006/relationships"><Relationship Id="rId3" Type="http://schemas.openxmlformats.org/officeDocument/2006/relationships/image" Target="../media/image168.wmf"/><Relationship Id="rId2" Type="http://schemas.openxmlformats.org/officeDocument/2006/relationships/oleObject" Target="../embeddings/oleObject193.bin"/><Relationship Id="rId1" Type="http://schemas.openxmlformats.org/officeDocument/2006/relationships/slideLayout" Target="../slideLayouts/slideLayout2.xml"/><Relationship Id="rId6" Type="http://schemas.openxmlformats.org/officeDocument/2006/relationships/image" Target="../media/image170.wmf"/><Relationship Id="rId5" Type="http://schemas.openxmlformats.org/officeDocument/2006/relationships/oleObject" Target="../embeddings/oleObject194.bin"/><Relationship Id="rId4" Type="http://schemas.openxmlformats.org/officeDocument/2006/relationships/image" Target="../media/image169.emf"/></Relationships>
</file>

<file path=ppt/slides/_rels/slide97.xml.rels><?xml version="1.0" encoding="UTF-8" standalone="yes"?>
<Relationships xmlns="http://schemas.openxmlformats.org/package/2006/relationships"><Relationship Id="rId8" Type="http://schemas.openxmlformats.org/officeDocument/2006/relationships/image" Target="../media/image171.wmf"/><Relationship Id="rId3" Type="http://schemas.openxmlformats.org/officeDocument/2006/relationships/image" Target="../media/image168.wmf"/><Relationship Id="rId7" Type="http://schemas.openxmlformats.org/officeDocument/2006/relationships/oleObject" Target="../embeddings/oleObject197.bin"/><Relationship Id="rId2" Type="http://schemas.openxmlformats.org/officeDocument/2006/relationships/oleObject" Target="../embeddings/oleObject195.bin"/><Relationship Id="rId1" Type="http://schemas.openxmlformats.org/officeDocument/2006/relationships/slideLayout" Target="../slideLayouts/slideLayout2.xml"/><Relationship Id="rId6" Type="http://schemas.openxmlformats.org/officeDocument/2006/relationships/image" Target="../media/image170.wmf"/><Relationship Id="rId5" Type="http://schemas.openxmlformats.org/officeDocument/2006/relationships/oleObject" Target="../embeddings/oleObject196.bin"/><Relationship Id="rId4" Type="http://schemas.openxmlformats.org/officeDocument/2006/relationships/image" Target="../media/image169.emf"/></Relationships>
</file>

<file path=ppt/slides/_rels/slide98.xml.rels><?xml version="1.0" encoding="UTF-8" standalone="yes"?>
<Relationships xmlns="http://schemas.openxmlformats.org/package/2006/relationships"><Relationship Id="rId8" Type="http://schemas.openxmlformats.org/officeDocument/2006/relationships/image" Target="../media/image171.wmf"/><Relationship Id="rId13" Type="http://schemas.openxmlformats.org/officeDocument/2006/relationships/oleObject" Target="../embeddings/oleObject203.bin"/><Relationship Id="rId3" Type="http://schemas.openxmlformats.org/officeDocument/2006/relationships/image" Target="../media/image168.wmf"/><Relationship Id="rId7" Type="http://schemas.openxmlformats.org/officeDocument/2006/relationships/oleObject" Target="../embeddings/oleObject200.bin"/><Relationship Id="rId12" Type="http://schemas.openxmlformats.org/officeDocument/2006/relationships/image" Target="../media/image173.wmf"/><Relationship Id="rId2" Type="http://schemas.openxmlformats.org/officeDocument/2006/relationships/oleObject" Target="../embeddings/oleObject198.bin"/><Relationship Id="rId1" Type="http://schemas.openxmlformats.org/officeDocument/2006/relationships/slideLayout" Target="../slideLayouts/slideLayout2.xml"/><Relationship Id="rId6" Type="http://schemas.openxmlformats.org/officeDocument/2006/relationships/image" Target="../media/image170.wmf"/><Relationship Id="rId11" Type="http://schemas.openxmlformats.org/officeDocument/2006/relationships/oleObject" Target="../embeddings/oleObject202.bin"/><Relationship Id="rId5" Type="http://schemas.openxmlformats.org/officeDocument/2006/relationships/oleObject" Target="../embeddings/oleObject199.bin"/><Relationship Id="rId10" Type="http://schemas.openxmlformats.org/officeDocument/2006/relationships/image" Target="../media/image172.wmf"/><Relationship Id="rId4" Type="http://schemas.openxmlformats.org/officeDocument/2006/relationships/image" Target="../media/image169.emf"/><Relationship Id="rId9" Type="http://schemas.openxmlformats.org/officeDocument/2006/relationships/oleObject" Target="../embeddings/oleObject201.bin"/><Relationship Id="rId14" Type="http://schemas.openxmlformats.org/officeDocument/2006/relationships/image" Target="../media/image174.wmf"/></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75.emf"/><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oleObject" Target="../embeddings/oleObject204.bin"/><Relationship Id="rId2" Type="http://schemas.openxmlformats.org/officeDocument/2006/relationships/image" Target="../media/image175.emf"/><Relationship Id="rId1" Type="http://schemas.openxmlformats.org/officeDocument/2006/relationships/slideLayout" Target="../slideLayouts/slideLayout2.xml"/><Relationship Id="rId4" Type="http://schemas.openxmlformats.org/officeDocument/2006/relationships/image" Target="../media/image176.wmf"/></Relationships>
</file>

<file path=ppt/slides/_rels/slide102.xml.rels><?xml version="1.0" encoding="UTF-8" standalone="yes"?>
<Relationships xmlns="http://schemas.openxmlformats.org/package/2006/relationships"><Relationship Id="rId3" Type="http://schemas.openxmlformats.org/officeDocument/2006/relationships/oleObject" Target="../embeddings/oleObject205.bin"/><Relationship Id="rId2" Type="http://schemas.openxmlformats.org/officeDocument/2006/relationships/image" Target="../media/image175.emf"/><Relationship Id="rId1" Type="http://schemas.openxmlformats.org/officeDocument/2006/relationships/slideLayout" Target="../slideLayouts/slideLayout2.xml"/><Relationship Id="rId6" Type="http://schemas.openxmlformats.org/officeDocument/2006/relationships/image" Target="../media/image177.wmf"/><Relationship Id="rId5" Type="http://schemas.openxmlformats.org/officeDocument/2006/relationships/oleObject" Target="../embeddings/oleObject206.bin"/><Relationship Id="rId4" Type="http://schemas.openxmlformats.org/officeDocument/2006/relationships/image" Target="../media/image176.wmf"/></Relationships>
</file>

<file path=ppt/slides/_rels/slide103.xml.rels><?xml version="1.0" encoding="UTF-8" standalone="yes"?>
<Relationships xmlns="http://schemas.openxmlformats.org/package/2006/relationships"><Relationship Id="rId8" Type="http://schemas.openxmlformats.org/officeDocument/2006/relationships/image" Target="../media/image178.wmf"/><Relationship Id="rId3" Type="http://schemas.openxmlformats.org/officeDocument/2006/relationships/oleObject" Target="../embeddings/oleObject207.bin"/><Relationship Id="rId7" Type="http://schemas.openxmlformats.org/officeDocument/2006/relationships/oleObject" Target="../embeddings/oleObject209.bin"/><Relationship Id="rId2" Type="http://schemas.openxmlformats.org/officeDocument/2006/relationships/image" Target="../media/image175.emf"/><Relationship Id="rId1" Type="http://schemas.openxmlformats.org/officeDocument/2006/relationships/slideLayout" Target="../slideLayouts/slideLayout2.xml"/><Relationship Id="rId6" Type="http://schemas.openxmlformats.org/officeDocument/2006/relationships/image" Target="../media/image177.wmf"/><Relationship Id="rId5" Type="http://schemas.openxmlformats.org/officeDocument/2006/relationships/oleObject" Target="../embeddings/oleObject208.bin"/><Relationship Id="rId4" Type="http://schemas.openxmlformats.org/officeDocument/2006/relationships/image" Target="../media/image176.wmf"/></Relationships>
</file>

<file path=ppt/slides/_rels/slide104.xml.rels><?xml version="1.0" encoding="UTF-8" standalone="yes"?>
<Relationships xmlns="http://schemas.openxmlformats.org/package/2006/relationships"><Relationship Id="rId8" Type="http://schemas.openxmlformats.org/officeDocument/2006/relationships/image" Target="../media/image178.wmf"/><Relationship Id="rId3" Type="http://schemas.openxmlformats.org/officeDocument/2006/relationships/oleObject" Target="../embeddings/oleObject210.bin"/><Relationship Id="rId7" Type="http://schemas.openxmlformats.org/officeDocument/2006/relationships/oleObject" Target="../embeddings/oleObject212.bin"/><Relationship Id="rId2" Type="http://schemas.openxmlformats.org/officeDocument/2006/relationships/image" Target="../media/image175.emf"/><Relationship Id="rId1" Type="http://schemas.openxmlformats.org/officeDocument/2006/relationships/slideLayout" Target="../slideLayouts/slideLayout2.xml"/><Relationship Id="rId6" Type="http://schemas.openxmlformats.org/officeDocument/2006/relationships/image" Target="../media/image177.wmf"/><Relationship Id="rId5" Type="http://schemas.openxmlformats.org/officeDocument/2006/relationships/oleObject" Target="../embeddings/oleObject211.bin"/><Relationship Id="rId10" Type="http://schemas.openxmlformats.org/officeDocument/2006/relationships/image" Target="../media/image179.wmf"/><Relationship Id="rId4" Type="http://schemas.openxmlformats.org/officeDocument/2006/relationships/image" Target="../media/image176.wmf"/><Relationship Id="rId9" Type="http://schemas.openxmlformats.org/officeDocument/2006/relationships/oleObject" Target="../embeddings/oleObject213.bin"/></Relationships>
</file>

<file path=ppt/slides/_rels/slide105.xml.rels><?xml version="1.0" encoding="UTF-8" standalone="yes"?>
<Relationships xmlns="http://schemas.openxmlformats.org/package/2006/relationships"><Relationship Id="rId2" Type="http://schemas.openxmlformats.org/officeDocument/2006/relationships/image" Target="../media/image180.emf"/><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8" Type="http://schemas.openxmlformats.org/officeDocument/2006/relationships/image" Target="../media/image183.wmf"/><Relationship Id="rId13" Type="http://schemas.openxmlformats.org/officeDocument/2006/relationships/image" Target="../media/image185.wmf"/><Relationship Id="rId3" Type="http://schemas.openxmlformats.org/officeDocument/2006/relationships/oleObject" Target="../embeddings/oleObject214.bin"/><Relationship Id="rId7" Type="http://schemas.openxmlformats.org/officeDocument/2006/relationships/oleObject" Target="../embeddings/oleObject216.bin"/><Relationship Id="rId12" Type="http://schemas.openxmlformats.org/officeDocument/2006/relationships/oleObject" Target="../embeddings/oleObject218.bin"/><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82.wmf"/><Relationship Id="rId11" Type="http://schemas.openxmlformats.org/officeDocument/2006/relationships/image" Target="../media/image184.wmf"/><Relationship Id="rId5" Type="http://schemas.openxmlformats.org/officeDocument/2006/relationships/oleObject" Target="../embeddings/oleObject215.bin"/><Relationship Id="rId10" Type="http://schemas.openxmlformats.org/officeDocument/2006/relationships/oleObject" Target="../embeddings/oleObject217.bin"/><Relationship Id="rId4" Type="http://schemas.openxmlformats.org/officeDocument/2006/relationships/image" Target="../media/image181.wmf"/><Relationship Id="rId9" Type="http://schemas.openxmlformats.org/officeDocument/2006/relationships/image" Target="../media/image180.emf"/></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86.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87.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87.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87.emf"/><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88.wmf"/><Relationship Id="rId4" Type="http://schemas.openxmlformats.org/officeDocument/2006/relationships/oleObject" Target="../embeddings/oleObject219.bin"/></Relationships>
</file>

<file path=ppt/slides/_rels/slide112.xml.rels><?xml version="1.0" encoding="UTF-8" standalone="yes"?>
<Relationships xmlns="http://schemas.openxmlformats.org/package/2006/relationships"><Relationship Id="rId3" Type="http://schemas.openxmlformats.org/officeDocument/2006/relationships/image" Target="../media/image187.emf"/><Relationship Id="rId7" Type="http://schemas.openxmlformats.org/officeDocument/2006/relationships/image" Target="../media/image188.wmf"/><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oleObject" Target="../embeddings/oleObject221.bin"/><Relationship Id="rId5" Type="http://schemas.openxmlformats.org/officeDocument/2006/relationships/image" Target="../media/image189.wmf"/><Relationship Id="rId4" Type="http://schemas.openxmlformats.org/officeDocument/2006/relationships/oleObject" Target="../embeddings/oleObject220.bin"/></Relationships>
</file>

<file path=ppt/slides/_rels/slide113.xml.rels><?xml version="1.0" encoding="UTF-8" standalone="yes"?>
<Relationships xmlns="http://schemas.openxmlformats.org/package/2006/relationships"><Relationship Id="rId3" Type="http://schemas.openxmlformats.org/officeDocument/2006/relationships/image" Target="../media/image187.emf"/><Relationship Id="rId7" Type="http://schemas.openxmlformats.org/officeDocument/2006/relationships/image" Target="../media/image188.wmf"/><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oleObject" Target="../embeddings/oleObject223.bin"/><Relationship Id="rId5" Type="http://schemas.openxmlformats.org/officeDocument/2006/relationships/image" Target="../media/image189.wmf"/><Relationship Id="rId4" Type="http://schemas.openxmlformats.org/officeDocument/2006/relationships/oleObject" Target="../embeddings/oleObject222.bin"/></Relationships>
</file>

<file path=ppt/slides/_rels/slide114.xml.rels><?xml version="1.0" encoding="UTF-8" standalone="yes"?>
<Relationships xmlns="http://schemas.openxmlformats.org/package/2006/relationships"><Relationship Id="rId3" Type="http://schemas.openxmlformats.org/officeDocument/2006/relationships/image" Target="../media/image190.e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91.emf"/><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92.wmf"/><Relationship Id="rId4" Type="http://schemas.openxmlformats.org/officeDocument/2006/relationships/oleObject" Target="../embeddings/oleObject224.bin"/></Relationships>
</file>

<file path=ppt/slides/_rels/slide116.xml.rels><?xml version="1.0" encoding="UTF-8" standalone="yes"?>
<Relationships xmlns="http://schemas.openxmlformats.org/package/2006/relationships"><Relationship Id="rId3" Type="http://schemas.openxmlformats.org/officeDocument/2006/relationships/image" Target="../media/image191.emf"/><Relationship Id="rId7" Type="http://schemas.openxmlformats.org/officeDocument/2006/relationships/image" Target="../media/image193.wmf"/><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oleObject" Target="../embeddings/oleObject226.bin"/><Relationship Id="rId5" Type="http://schemas.openxmlformats.org/officeDocument/2006/relationships/image" Target="../media/image192.wmf"/><Relationship Id="rId4" Type="http://schemas.openxmlformats.org/officeDocument/2006/relationships/oleObject" Target="../embeddings/oleObject225.bin"/></Relationships>
</file>

<file path=ppt/slides/_rels/slide117.xml.rels><?xml version="1.0" encoding="UTF-8" standalone="yes"?>
<Relationships xmlns="http://schemas.openxmlformats.org/package/2006/relationships"><Relationship Id="rId8" Type="http://schemas.openxmlformats.org/officeDocument/2006/relationships/oleObject" Target="../embeddings/oleObject229.bin"/><Relationship Id="rId13" Type="http://schemas.openxmlformats.org/officeDocument/2006/relationships/image" Target="../media/image196.wmf"/><Relationship Id="rId3" Type="http://schemas.openxmlformats.org/officeDocument/2006/relationships/image" Target="../media/image191.emf"/><Relationship Id="rId7" Type="http://schemas.openxmlformats.org/officeDocument/2006/relationships/image" Target="../media/image193.wmf"/><Relationship Id="rId12" Type="http://schemas.openxmlformats.org/officeDocument/2006/relationships/oleObject" Target="../embeddings/oleObject231.bin"/><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oleObject" Target="../embeddings/oleObject228.bin"/><Relationship Id="rId11" Type="http://schemas.openxmlformats.org/officeDocument/2006/relationships/image" Target="../media/image195.wmf"/><Relationship Id="rId5" Type="http://schemas.openxmlformats.org/officeDocument/2006/relationships/image" Target="../media/image192.wmf"/><Relationship Id="rId10" Type="http://schemas.openxmlformats.org/officeDocument/2006/relationships/oleObject" Target="../embeddings/oleObject230.bin"/><Relationship Id="rId4" Type="http://schemas.openxmlformats.org/officeDocument/2006/relationships/oleObject" Target="../embeddings/oleObject227.bin"/><Relationship Id="rId9" Type="http://schemas.openxmlformats.org/officeDocument/2006/relationships/image" Target="../media/image194.wmf"/></Relationships>
</file>

<file path=ppt/slides/_rels/slide118.xml.rels><?xml version="1.0" encoding="UTF-8" standalone="yes"?>
<Relationships xmlns="http://schemas.openxmlformats.org/package/2006/relationships"><Relationship Id="rId8" Type="http://schemas.openxmlformats.org/officeDocument/2006/relationships/oleObject" Target="../embeddings/oleObject234.bin"/><Relationship Id="rId13" Type="http://schemas.openxmlformats.org/officeDocument/2006/relationships/image" Target="../media/image196.wmf"/><Relationship Id="rId3" Type="http://schemas.openxmlformats.org/officeDocument/2006/relationships/image" Target="../media/image191.emf"/><Relationship Id="rId7" Type="http://schemas.openxmlformats.org/officeDocument/2006/relationships/image" Target="../media/image193.wmf"/><Relationship Id="rId12" Type="http://schemas.openxmlformats.org/officeDocument/2006/relationships/oleObject" Target="../embeddings/oleObject236.bin"/><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oleObject" Target="../embeddings/oleObject233.bin"/><Relationship Id="rId11" Type="http://schemas.openxmlformats.org/officeDocument/2006/relationships/image" Target="../media/image195.wmf"/><Relationship Id="rId5" Type="http://schemas.openxmlformats.org/officeDocument/2006/relationships/image" Target="../media/image192.wmf"/><Relationship Id="rId15" Type="http://schemas.openxmlformats.org/officeDocument/2006/relationships/image" Target="../media/image197.wmf"/><Relationship Id="rId10" Type="http://schemas.openxmlformats.org/officeDocument/2006/relationships/oleObject" Target="../embeddings/oleObject235.bin"/><Relationship Id="rId4" Type="http://schemas.openxmlformats.org/officeDocument/2006/relationships/oleObject" Target="../embeddings/oleObject232.bin"/><Relationship Id="rId9" Type="http://schemas.openxmlformats.org/officeDocument/2006/relationships/image" Target="../media/image194.wmf"/><Relationship Id="rId14" Type="http://schemas.openxmlformats.org/officeDocument/2006/relationships/oleObject" Target="../embeddings/oleObject237.bin"/></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8" Type="http://schemas.openxmlformats.org/officeDocument/2006/relationships/image" Target="../media/image201.wmf"/><Relationship Id="rId3" Type="http://schemas.openxmlformats.org/officeDocument/2006/relationships/oleObject" Target="../embeddings/oleObject238.bin"/><Relationship Id="rId7" Type="http://schemas.openxmlformats.org/officeDocument/2006/relationships/oleObject" Target="../embeddings/oleObject240.bin"/><Relationship Id="rId2" Type="http://schemas.openxmlformats.org/officeDocument/2006/relationships/image" Target="../media/image198.emf"/><Relationship Id="rId1" Type="http://schemas.openxmlformats.org/officeDocument/2006/relationships/slideLayout" Target="../slideLayouts/slideLayout2.xml"/><Relationship Id="rId6" Type="http://schemas.openxmlformats.org/officeDocument/2006/relationships/image" Target="../media/image200.wmf"/><Relationship Id="rId5" Type="http://schemas.openxmlformats.org/officeDocument/2006/relationships/oleObject" Target="../embeddings/oleObject239.bin"/><Relationship Id="rId4" Type="http://schemas.openxmlformats.org/officeDocument/2006/relationships/image" Target="../media/image199.wmf"/></Relationships>
</file>

<file path=ppt/slides/_rels/slide121.xml.rels><?xml version="1.0" encoding="UTF-8" standalone="yes"?>
<Relationships xmlns="http://schemas.openxmlformats.org/package/2006/relationships"><Relationship Id="rId3" Type="http://schemas.openxmlformats.org/officeDocument/2006/relationships/oleObject" Target="../embeddings/oleObject241.bin"/><Relationship Id="rId2" Type="http://schemas.openxmlformats.org/officeDocument/2006/relationships/image" Target="../media/image198.emf"/><Relationship Id="rId1" Type="http://schemas.openxmlformats.org/officeDocument/2006/relationships/slideLayout" Target="../slideLayouts/slideLayout2.xml"/><Relationship Id="rId4" Type="http://schemas.openxmlformats.org/officeDocument/2006/relationships/image" Target="../media/image202.wmf"/></Relationships>
</file>

<file path=ppt/slides/_rels/slide122.xml.rels><?xml version="1.0" encoding="UTF-8" standalone="yes"?>
<Relationships xmlns="http://schemas.openxmlformats.org/package/2006/relationships"><Relationship Id="rId3" Type="http://schemas.openxmlformats.org/officeDocument/2006/relationships/image" Target="../media/image203.gi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8" Type="http://schemas.openxmlformats.org/officeDocument/2006/relationships/oleObject" Target="../embeddings/oleObject244.bin"/><Relationship Id="rId3" Type="http://schemas.openxmlformats.org/officeDocument/2006/relationships/image" Target="../media/image203.gif"/><Relationship Id="rId7" Type="http://schemas.openxmlformats.org/officeDocument/2006/relationships/image" Target="../media/image205.wmf"/><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oleObject" Target="../embeddings/oleObject243.bin"/><Relationship Id="rId5" Type="http://schemas.openxmlformats.org/officeDocument/2006/relationships/image" Target="../media/image204.wmf"/><Relationship Id="rId4" Type="http://schemas.openxmlformats.org/officeDocument/2006/relationships/oleObject" Target="../embeddings/oleObject242.bin"/><Relationship Id="rId9" Type="http://schemas.openxmlformats.org/officeDocument/2006/relationships/image" Target="../media/image206.wmf"/></Relationships>
</file>

<file path=ppt/slides/_rels/slide124.xml.rels><?xml version="1.0" encoding="UTF-8" standalone="yes"?>
<Relationships xmlns="http://schemas.openxmlformats.org/package/2006/relationships"><Relationship Id="rId3" Type="http://schemas.openxmlformats.org/officeDocument/2006/relationships/image" Target="../media/image203.gif"/><Relationship Id="rId7" Type="http://schemas.openxmlformats.org/officeDocument/2006/relationships/image" Target="../media/image208.wmf"/><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oleObject" Target="../embeddings/oleObject246.bin"/><Relationship Id="rId5" Type="http://schemas.openxmlformats.org/officeDocument/2006/relationships/image" Target="../media/image207.wmf"/><Relationship Id="rId4" Type="http://schemas.openxmlformats.org/officeDocument/2006/relationships/oleObject" Target="../embeddings/oleObject245.bin"/></Relationships>
</file>

<file path=ppt/slides/_rels/slide125.xml.rels><?xml version="1.0" encoding="UTF-8" standalone="yes"?>
<Relationships xmlns="http://schemas.openxmlformats.org/package/2006/relationships"><Relationship Id="rId8" Type="http://schemas.openxmlformats.org/officeDocument/2006/relationships/oleObject" Target="../embeddings/oleObject249.bin"/><Relationship Id="rId3" Type="http://schemas.openxmlformats.org/officeDocument/2006/relationships/oleObject" Target="../embeddings/oleObject247.bin"/><Relationship Id="rId7" Type="http://schemas.openxmlformats.org/officeDocument/2006/relationships/image" Target="../media/image211.emf"/><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210.wmf"/><Relationship Id="rId5" Type="http://schemas.openxmlformats.org/officeDocument/2006/relationships/oleObject" Target="../embeddings/oleObject248.bin"/><Relationship Id="rId4" Type="http://schemas.openxmlformats.org/officeDocument/2006/relationships/image" Target="../media/image209.wmf"/><Relationship Id="rId9" Type="http://schemas.openxmlformats.org/officeDocument/2006/relationships/image" Target="../media/image212.wmf"/></Relationships>
</file>

<file path=ppt/slides/_rels/slide126.xml.rels><?xml version="1.0" encoding="UTF-8" standalone="yes"?>
<Relationships xmlns="http://schemas.openxmlformats.org/package/2006/relationships"><Relationship Id="rId8" Type="http://schemas.openxmlformats.org/officeDocument/2006/relationships/oleObject" Target="../embeddings/oleObject252.bin"/><Relationship Id="rId3" Type="http://schemas.openxmlformats.org/officeDocument/2006/relationships/oleObject" Target="../embeddings/oleObject250.bin"/><Relationship Id="rId7" Type="http://schemas.openxmlformats.org/officeDocument/2006/relationships/image" Target="../media/image211.emf"/><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210.wmf"/><Relationship Id="rId11" Type="http://schemas.openxmlformats.org/officeDocument/2006/relationships/image" Target="../media/image213.wmf"/><Relationship Id="rId5" Type="http://schemas.openxmlformats.org/officeDocument/2006/relationships/oleObject" Target="../embeddings/oleObject251.bin"/><Relationship Id="rId10" Type="http://schemas.openxmlformats.org/officeDocument/2006/relationships/oleObject" Target="../embeddings/oleObject253.bin"/><Relationship Id="rId4" Type="http://schemas.openxmlformats.org/officeDocument/2006/relationships/image" Target="../media/image209.wmf"/><Relationship Id="rId9" Type="http://schemas.openxmlformats.org/officeDocument/2006/relationships/image" Target="../media/image212.wmf"/></Relationships>
</file>

<file path=ppt/slides/_rels/slide127.xml.rels><?xml version="1.0" encoding="UTF-8" standalone="yes"?>
<Relationships xmlns="http://schemas.openxmlformats.org/package/2006/relationships"><Relationship Id="rId8" Type="http://schemas.openxmlformats.org/officeDocument/2006/relationships/oleObject" Target="../embeddings/oleObject256.bin"/><Relationship Id="rId3" Type="http://schemas.openxmlformats.org/officeDocument/2006/relationships/image" Target="../media/image203.gif"/><Relationship Id="rId7" Type="http://schemas.openxmlformats.org/officeDocument/2006/relationships/image" Target="../media/image215.wmf"/><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oleObject" Target="../embeddings/oleObject255.bin"/><Relationship Id="rId11" Type="http://schemas.openxmlformats.org/officeDocument/2006/relationships/image" Target="../media/image217.wmf"/><Relationship Id="rId5" Type="http://schemas.openxmlformats.org/officeDocument/2006/relationships/image" Target="../media/image214.wmf"/><Relationship Id="rId10" Type="http://schemas.openxmlformats.org/officeDocument/2006/relationships/oleObject" Target="../embeddings/oleObject257.bin"/><Relationship Id="rId4" Type="http://schemas.openxmlformats.org/officeDocument/2006/relationships/oleObject" Target="../embeddings/oleObject254.bin"/><Relationship Id="rId9" Type="http://schemas.openxmlformats.org/officeDocument/2006/relationships/image" Target="../media/image216.wmf"/></Relationships>
</file>

<file path=ppt/slides/_rels/slide128.xml.rels><?xml version="1.0" encoding="UTF-8" standalone="yes"?>
<Relationships xmlns="http://schemas.openxmlformats.org/package/2006/relationships"><Relationship Id="rId8" Type="http://schemas.openxmlformats.org/officeDocument/2006/relationships/oleObject" Target="../embeddings/oleObject260.bin"/><Relationship Id="rId3" Type="http://schemas.openxmlformats.org/officeDocument/2006/relationships/image" Target="../media/image203.gif"/><Relationship Id="rId7" Type="http://schemas.openxmlformats.org/officeDocument/2006/relationships/image" Target="../media/image219.wmf"/><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oleObject" Target="../embeddings/oleObject259.bin"/><Relationship Id="rId5" Type="http://schemas.openxmlformats.org/officeDocument/2006/relationships/image" Target="../media/image218.wmf"/><Relationship Id="rId4" Type="http://schemas.openxmlformats.org/officeDocument/2006/relationships/oleObject" Target="../embeddings/oleObject258.bin"/><Relationship Id="rId9" Type="http://schemas.openxmlformats.org/officeDocument/2006/relationships/image" Target="../media/image220.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Subtitle 2"/>
          <p:cNvSpPr>
            <a:spLocks noGrp="1"/>
          </p:cNvSpPr>
          <p:nvPr>
            <p:ph type="subTitle" idx="1"/>
          </p:nvPr>
        </p:nvSpPr>
        <p:spPr>
          <a:xfrm>
            <a:off x="1371600" y="2590800"/>
            <a:ext cx="6400800" cy="2209800"/>
          </a:xfrm>
        </p:spPr>
        <p:txBody>
          <a:bodyPr/>
          <a:lstStyle/>
          <a:p>
            <a:r>
              <a:rPr lang="tr-TR" sz="2000" dirty="0">
                <a:solidFill>
                  <a:schemeClr val="tx1"/>
                </a:solidFill>
              </a:rPr>
              <a:t>Dr. </a:t>
            </a:r>
            <a:r>
              <a:rPr lang="en-US" sz="2000" dirty="0">
                <a:solidFill>
                  <a:schemeClr val="tx1"/>
                </a:solidFill>
              </a:rPr>
              <a:t>Özçel </a:t>
            </a:r>
            <a:r>
              <a:rPr lang="en-US" sz="2000" dirty="0" err="1">
                <a:solidFill>
                  <a:schemeClr val="tx1"/>
                </a:solidFill>
              </a:rPr>
              <a:t>Cangül</a:t>
            </a:r>
            <a:endParaRPr lang="tr-TR" sz="2000" dirty="0">
              <a:solidFill>
                <a:schemeClr val="tx1"/>
              </a:solidFill>
            </a:endParaRPr>
          </a:p>
          <a:p>
            <a:r>
              <a:rPr lang="tr-TR" sz="2000" dirty="0">
                <a:solidFill>
                  <a:schemeClr val="tx1"/>
                </a:solidFill>
              </a:rPr>
              <a:t>Lecture Notes by </a:t>
            </a:r>
            <a:r>
              <a:rPr lang="en-US" sz="2000" dirty="0">
                <a:solidFill>
                  <a:schemeClr val="tx1"/>
                </a:solidFill>
              </a:rPr>
              <a:t>Dr. Ali </a:t>
            </a:r>
            <a:r>
              <a:rPr lang="en-US" sz="2000" dirty="0" err="1">
                <a:solidFill>
                  <a:schemeClr val="tx1"/>
                </a:solidFill>
              </a:rPr>
              <a:t>Muhtaroğlu</a:t>
            </a:r>
            <a:endParaRPr lang="en-US" sz="2000" dirty="0">
              <a:solidFill>
                <a:schemeClr val="tx1"/>
              </a:solidFill>
            </a:endParaRPr>
          </a:p>
          <a:p>
            <a:r>
              <a:rPr lang="en-US" sz="2000" dirty="0">
                <a:solidFill>
                  <a:schemeClr val="tx1"/>
                </a:solidFill>
              </a:rPr>
              <a:t>Fall 2023</a:t>
            </a:r>
          </a:p>
          <a:p>
            <a:r>
              <a:rPr lang="en-US" sz="2000" dirty="0">
                <a:solidFill>
                  <a:schemeClr val="tx1"/>
                </a:solidFill>
              </a:rPr>
              <a:t>METU Northern Cyprus Campus</a:t>
            </a:r>
          </a:p>
        </p:txBody>
      </p:sp>
      <p:sp>
        <p:nvSpPr>
          <p:cNvPr id="4100" name="TextBox 3"/>
          <p:cNvSpPr txBox="1">
            <a:spLocks noChangeArrowheads="1"/>
          </p:cNvSpPr>
          <p:nvPr/>
        </p:nvSpPr>
        <p:spPr bwMode="auto">
          <a:xfrm>
            <a:off x="1691625" y="4734461"/>
            <a:ext cx="6183206" cy="1354217"/>
          </a:xfrm>
          <a:prstGeom prst="rect">
            <a:avLst/>
          </a:prstGeom>
          <a:noFill/>
          <a:ln w="9525">
            <a:noFill/>
            <a:miter lim="800000"/>
            <a:headEnd/>
            <a:tailEnd/>
          </a:ln>
        </p:spPr>
        <p:txBody>
          <a:bodyPr wrap="square">
            <a:spAutoFit/>
          </a:bodyPr>
          <a:lstStyle/>
          <a:p>
            <a:r>
              <a:rPr lang="en-US" sz="1600" u="sng" dirty="0">
                <a:solidFill>
                  <a:prstClr val="black"/>
                </a:solidFill>
                <a:latin typeface="Calibri" pitchFamily="34" charset="0"/>
              </a:rPr>
              <a:t>References:</a:t>
            </a:r>
          </a:p>
          <a:p>
            <a:r>
              <a:rPr lang="en-US" sz="1600" dirty="0">
                <a:solidFill>
                  <a:prstClr val="black"/>
                </a:solidFill>
                <a:latin typeface="Calibri"/>
              </a:rPr>
              <a:t>Electric Circuits 10</a:t>
            </a:r>
            <a:r>
              <a:rPr lang="en-US" sz="1600" baseline="30000" dirty="0">
                <a:solidFill>
                  <a:prstClr val="black"/>
                </a:solidFill>
                <a:latin typeface="Calibri"/>
              </a:rPr>
              <a:t>th</a:t>
            </a:r>
            <a:r>
              <a:rPr lang="en-US" sz="1600" dirty="0">
                <a:solidFill>
                  <a:prstClr val="black"/>
                </a:solidFill>
                <a:latin typeface="Calibri"/>
              </a:rPr>
              <a:t> Ed. by </a:t>
            </a:r>
            <a:r>
              <a:rPr lang="tr-TR" sz="1600" dirty="0">
                <a:solidFill>
                  <a:prstClr val="black"/>
                </a:solidFill>
                <a:latin typeface="Calibri"/>
              </a:rPr>
              <a:t>Nilsson &amp; Riedel</a:t>
            </a:r>
            <a:endParaRPr lang="en-US" sz="1600" dirty="0">
              <a:solidFill>
                <a:prstClr val="black"/>
              </a:solidFill>
              <a:latin typeface="Calibri"/>
            </a:endParaRPr>
          </a:p>
          <a:p>
            <a:r>
              <a:rPr lang="en-US" sz="1600" dirty="0">
                <a:solidFill>
                  <a:prstClr val="black"/>
                </a:solidFill>
                <a:latin typeface="Calibri"/>
              </a:rPr>
              <a:t>Electrical Circuit Analysis 3</a:t>
            </a:r>
            <a:r>
              <a:rPr lang="en-US" sz="1600" baseline="30000" dirty="0">
                <a:solidFill>
                  <a:prstClr val="black"/>
                </a:solidFill>
                <a:latin typeface="Calibri"/>
              </a:rPr>
              <a:t>rd</a:t>
            </a:r>
            <a:r>
              <a:rPr lang="en-US" sz="1600" dirty="0">
                <a:solidFill>
                  <a:prstClr val="black"/>
                </a:solidFill>
                <a:latin typeface="Calibri"/>
              </a:rPr>
              <a:t> Ed. </a:t>
            </a:r>
            <a:r>
              <a:rPr lang="en-US" sz="1600" i="1" dirty="0">
                <a:solidFill>
                  <a:prstClr val="black"/>
                </a:solidFill>
                <a:latin typeface="Calibri"/>
              </a:rPr>
              <a:t>by Johnson, Johnson, </a:t>
            </a:r>
            <a:r>
              <a:rPr lang="en-US" sz="1600" i="1" dirty="0" err="1">
                <a:solidFill>
                  <a:prstClr val="black"/>
                </a:solidFill>
                <a:latin typeface="Calibri"/>
              </a:rPr>
              <a:t>Hilburn</a:t>
            </a:r>
            <a:r>
              <a:rPr lang="en-US" sz="1600" i="1" dirty="0">
                <a:solidFill>
                  <a:prstClr val="black"/>
                </a:solidFill>
                <a:latin typeface="Calibri"/>
              </a:rPr>
              <a:t>, and Scott</a:t>
            </a:r>
          </a:p>
          <a:p>
            <a:r>
              <a:rPr lang="en-US" sz="1600" dirty="0">
                <a:solidFill>
                  <a:prstClr val="black"/>
                </a:solidFill>
                <a:latin typeface="Calibri"/>
              </a:rPr>
              <a:t>Engineering Circuit Analysis 7</a:t>
            </a:r>
            <a:r>
              <a:rPr lang="en-US" sz="1600" baseline="30000" dirty="0">
                <a:solidFill>
                  <a:prstClr val="black"/>
                </a:solidFill>
                <a:latin typeface="Calibri"/>
              </a:rPr>
              <a:t>th</a:t>
            </a:r>
            <a:r>
              <a:rPr lang="en-US" sz="1600" dirty="0">
                <a:solidFill>
                  <a:prstClr val="black"/>
                </a:solidFill>
                <a:latin typeface="Calibri"/>
              </a:rPr>
              <a:t> Ed. </a:t>
            </a:r>
            <a:r>
              <a:rPr lang="en-US" sz="1600" i="1" dirty="0">
                <a:solidFill>
                  <a:prstClr val="black"/>
                </a:solidFill>
                <a:latin typeface="Calibri"/>
              </a:rPr>
              <a:t>by </a:t>
            </a:r>
            <a:r>
              <a:rPr lang="en-US" sz="1600" i="1" dirty="0" err="1">
                <a:solidFill>
                  <a:prstClr val="black"/>
                </a:solidFill>
                <a:latin typeface="Calibri"/>
              </a:rPr>
              <a:t>Hayt</a:t>
            </a:r>
            <a:r>
              <a:rPr lang="en-US" sz="1600" i="1" dirty="0">
                <a:solidFill>
                  <a:prstClr val="black"/>
                </a:solidFill>
                <a:latin typeface="Calibri"/>
              </a:rPr>
              <a:t>, </a:t>
            </a:r>
            <a:r>
              <a:rPr lang="en-US" sz="1600" i="1" dirty="0" err="1">
                <a:solidFill>
                  <a:prstClr val="black"/>
                </a:solidFill>
                <a:latin typeface="Calibri"/>
              </a:rPr>
              <a:t>Kemmerly</a:t>
            </a:r>
            <a:r>
              <a:rPr lang="en-US" sz="1600" i="1" dirty="0">
                <a:solidFill>
                  <a:prstClr val="black"/>
                </a:solidFill>
                <a:latin typeface="Calibri"/>
              </a:rPr>
              <a:t>, and Durbin</a:t>
            </a:r>
          </a:p>
          <a:p>
            <a:r>
              <a:rPr lang="en-US" sz="1600" dirty="0">
                <a:solidFill>
                  <a:prstClr val="black"/>
                </a:solidFill>
                <a:latin typeface="Calibri"/>
              </a:rPr>
              <a:t>Fundamentals of Electric Circuits </a:t>
            </a:r>
            <a:r>
              <a:rPr lang="en-US" sz="1600" i="1" dirty="0">
                <a:solidFill>
                  <a:prstClr val="black"/>
                </a:solidFill>
                <a:latin typeface="Calibri"/>
              </a:rPr>
              <a:t>3</a:t>
            </a:r>
            <a:r>
              <a:rPr lang="en-US" sz="1600" baseline="30000" dirty="0">
                <a:solidFill>
                  <a:prstClr val="black"/>
                </a:solidFill>
                <a:latin typeface="Calibri"/>
              </a:rPr>
              <a:t>rd</a:t>
            </a:r>
            <a:r>
              <a:rPr lang="en-US" sz="1600" dirty="0">
                <a:solidFill>
                  <a:prstClr val="black"/>
                </a:solidFill>
                <a:latin typeface="Calibri"/>
              </a:rPr>
              <a:t> Ed. </a:t>
            </a:r>
            <a:r>
              <a:rPr lang="en-US" sz="1600" i="1" dirty="0">
                <a:solidFill>
                  <a:prstClr val="black"/>
                </a:solidFill>
                <a:latin typeface="Calibri"/>
              </a:rPr>
              <a:t>by Alexander, and </a:t>
            </a:r>
            <a:r>
              <a:rPr lang="en-US" sz="1600" i="1" dirty="0" err="1">
                <a:solidFill>
                  <a:prstClr val="black"/>
                </a:solidFill>
                <a:latin typeface="Calibri"/>
              </a:rPr>
              <a:t>Sadiku</a:t>
            </a:r>
            <a:endParaRPr lang="en-US" sz="1600" i="1" dirty="0">
              <a:solidFill>
                <a:prstClr val="black"/>
              </a:solidFill>
              <a:latin typeface="Calibri"/>
            </a:endParaRPr>
          </a:p>
        </p:txBody>
      </p:sp>
      <p:sp>
        <p:nvSpPr>
          <p:cNvPr id="6" name="Title 1"/>
          <p:cNvSpPr txBox="1">
            <a:spLocks/>
          </p:cNvSpPr>
          <p:nvPr/>
        </p:nvSpPr>
        <p:spPr bwMode="auto">
          <a:xfrm>
            <a:off x="685800" y="381000"/>
            <a:ext cx="7772400" cy="1752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tr-TR" sz="3200"/>
              <a:t>Electrical Circuits</a:t>
            </a:r>
            <a:br>
              <a:rPr lang="en-US" sz="3200"/>
            </a:br>
            <a:r>
              <a:rPr lang="en-US" sz="3200"/>
              <a:t>EEE-2</a:t>
            </a:r>
            <a:r>
              <a:rPr lang="tr-TR" sz="3200"/>
              <a:t>8</a:t>
            </a:r>
            <a:r>
              <a:rPr lang="en-US" sz="3200"/>
              <a:t>1 Lecture Notes</a:t>
            </a:r>
            <a:endParaRPr lang="en-US" sz="3200" dirty="0"/>
          </a:p>
        </p:txBody>
      </p:sp>
    </p:spTree>
    <p:extLst>
      <p:ext uri="{BB962C8B-B14F-4D97-AF65-F5344CB8AC3E}">
        <p14:creationId xmlns:p14="http://schemas.microsoft.com/office/powerpoint/2010/main" val="34164530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419100" y="1790700"/>
            <a:ext cx="8229600" cy="2819400"/>
          </a:xfrm>
        </p:spPr>
        <p:txBody>
          <a:bodyPr/>
          <a:lstStyle/>
          <a:p>
            <a:r>
              <a:rPr lang="tr-TR" sz="3600" dirty="0" err="1"/>
              <a:t>Circuit</a:t>
            </a:r>
            <a:r>
              <a:rPr lang="tr-TR" sz="3600" dirty="0"/>
              <a:t> Analysis </a:t>
            </a:r>
            <a:r>
              <a:rPr lang="tr-TR" sz="3600" dirty="0" err="1"/>
              <a:t>Techniques</a:t>
            </a:r>
            <a:br>
              <a:rPr lang="en-US" sz="3600" dirty="0"/>
            </a:br>
            <a:br>
              <a:rPr lang="en-US" sz="3600"/>
            </a:br>
            <a:r>
              <a:rPr lang="en-US" sz="3600" i="1"/>
              <a:t>Weeks 6-9</a:t>
            </a:r>
            <a:br>
              <a:rPr lang="tr-TR" sz="3600" i="1" dirty="0"/>
            </a:br>
            <a:br>
              <a:rPr lang="tr-TR" sz="3600" i="1" dirty="0"/>
            </a:br>
            <a:r>
              <a:rPr lang="tr-TR" sz="3600" i="1" dirty="0">
                <a:solidFill>
                  <a:srgbClr val="0000FF"/>
                </a:solidFill>
              </a:rPr>
              <a:t>Reading: Nilsson &amp; Riedel Chapter 4</a:t>
            </a:r>
            <a:endParaRPr lang="en-US" sz="3600" i="1" dirty="0"/>
          </a:p>
        </p:txBody>
      </p:sp>
      <p:sp>
        <p:nvSpPr>
          <p:cNvPr id="4" name="Slide Number Placeholder 3"/>
          <p:cNvSpPr>
            <a:spLocks noGrp="1"/>
          </p:cNvSpPr>
          <p:nvPr>
            <p:ph type="sldNum" sz="quarter" idx="11"/>
          </p:nvPr>
        </p:nvSpPr>
        <p:spPr/>
        <p:txBody>
          <a:bodyPr/>
          <a:lstStyle/>
          <a:p>
            <a:pPr>
              <a:defRPr/>
            </a:pPr>
            <a:fld id="{A957CEED-90C7-4FD0-AB8C-14085BB9151E}" type="slidenum">
              <a:rPr lang="en-US" smtClean="0"/>
              <a:pPr>
                <a:defRPr/>
              </a:pPr>
              <a:t>2</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Analysis Methods</a:t>
            </a:r>
          </a:p>
        </p:txBody>
      </p:sp>
      <p:sp>
        <p:nvSpPr>
          <p:cNvPr id="6147" name="Content Placeholder 2"/>
          <p:cNvSpPr>
            <a:spLocks noGrp="1"/>
          </p:cNvSpPr>
          <p:nvPr>
            <p:ph idx="1"/>
          </p:nvPr>
        </p:nvSpPr>
        <p:spPr>
          <a:xfrm>
            <a:off x="533400" y="838201"/>
            <a:ext cx="8229600" cy="5753099"/>
          </a:xfrm>
        </p:spPr>
        <p:txBody>
          <a:bodyPr/>
          <a:lstStyle/>
          <a:p>
            <a:r>
              <a:rPr lang="en-US" sz="2400" dirty="0"/>
              <a:t>Will develop systematic ways of solving any linear circuit completely.</a:t>
            </a:r>
          </a:p>
          <a:p>
            <a:r>
              <a:rPr lang="en-US" sz="2400" b="1" i="1" dirty="0"/>
              <a:t>Linearity</a:t>
            </a:r>
            <a:r>
              <a:rPr lang="en-US" sz="2400" dirty="0"/>
              <a:t> is assumed to reduce complexity of the methods </a:t>
            </a:r>
          </a:p>
          <a:p>
            <a:r>
              <a:rPr lang="en-US" sz="2400" dirty="0"/>
              <a:t>Source function of linear elements:</a:t>
            </a:r>
          </a:p>
          <a:p>
            <a:pPr lvl="1"/>
            <a:r>
              <a:rPr lang="en-US" sz="2000" dirty="0"/>
              <a:t>When discussing dependent sources, we will assume sources of this nature as well</a:t>
            </a:r>
          </a:p>
          <a:p>
            <a:r>
              <a:rPr lang="en-US" sz="2400" dirty="0"/>
              <a:t>Also assume </a:t>
            </a:r>
            <a:r>
              <a:rPr lang="en-US" sz="2400" b="1" i="1" dirty="0"/>
              <a:t>proportionality</a:t>
            </a:r>
            <a:r>
              <a:rPr lang="en-US" sz="2400" dirty="0"/>
              <a:t> property:</a:t>
            </a:r>
          </a:p>
          <a:p>
            <a:r>
              <a:rPr lang="en-US" sz="2400" dirty="0"/>
              <a:t>Op-Amps in feedback mode will be linear.</a:t>
            </a:r>
          </a:p>
          <a:p>
            <a:r>
              <a:rPr lang="en-US" sz="2400" dirty="0"/>
              <a:t>The following type of terminal laws also obey linearity and proportionality:</a:t>
            </a:r>
          </a:p>
          <a:p>
            <a:pPr lvl="1"/>
            <a:endParaRPr lang="en-US" sz="2000" dirty="0"/>
          </a:p>
          <a:p>
            <a:pPr>
              <a:buNone/>
            </a:pPr>
            <a:endParaRPr lang="en-US" sz="36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3</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graphicFrame>
        <p:nvGraphicFramePr>
          <p:cNvPr id="6" name="Object 5"/>
          <p:cNvGraphicFramePr>
            <a:graphicFrameLocks noChangeAspect="1"/>
          </p:cNvGraphicFramePr>
          <p:nvPr/>
        </p:nvGraphicFramePr>
        <p:xfrm>
          <a:off x="1562100" y="4821237"/>
          <a:ext cx="1225062" cy="838200"/>
        </p:xfrm>
        <a:graphic>
          <a:graphicData uri="http://schemas.openxmlformats.org/presentationml/2006/ole">
            <mc:AlternateContent xmlns:mc="http://schemas.openxmlformats.org/markup-compatibility/2006">
              <mc:Choice xmlns:v="urn:schemas-microsoft-com:vml" Requires="v">
                <p:oleObj name="Equation" r:id="rId2" imgW="482400" imgH="330120" progId="Equation.3">
                  <p:embed/>
                </p:oleObj>
              </mc:Choice>
              <mc:Fallback>
                <p:oleObj name="Equation" r:id="rId2" imgW="482400" imgH="33012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2100" y="4821237"/>
                        <a:ext cx="1225062"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9090" name="Object 2"/>
          <p:cNvGraphicFramePr>
            <a:graphicFrameLocks noChangeAspect="1"/>
          </p:cNvGraphicFramePr>
          <p:nvPr/>
        </p:nvGraphicFramePr>
        <p:xfrm>
          <a:off x="5410200" y="2095500"/>
          <a:ext cx="1155054" cy="495300"/>
        </p:xfrm>
        <a:graphic>
          <a:graphicData uri="http://schemas.openxmlformats.org/presentationml/2006/ole">
            <mc:AlternateContent xmlns:mc="http://schemas.openxmlformats.org/markup-compatibility/2006">
              <mc:Choice xmlns:v="urn:schemas-microsoft-com:vml" Requires="v">
                <p:oleObj name="Equation" r:id="rId4" imgW="444240" imgH="190440" progId="Equation.3">
                  <p:embed/>
                </p:oleObj>
              </mc:Choice>
              <mc:Fallback>
                <p:oleObj name="Equation" r:id="rId4" imgW="444240" imgH="1904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10200" y="2095500"/>
                        <a:ext cx="1155054"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9091" name="Object 3"/>
          <p:cNvGraphicFramePr>
            <a:graphicFrameLocks noChangeAspect="1"/>
          </p:cNvGraphicFramePr>
          <p:nvPr/>
        </p:nvGraphicFramePr>
        <p:xfrm>
          <a:off x="5829300" y="3200400"/>
          <a:ext cx="2079625" cy="495300"/>
        </p:xfrm>
        <a:graphic>
          <a:graphicData uri="http://schemas.openxmlformats.org/presentationml/2006/ole">
            <mc:AlternateContent xmlns:mc="http://schemas.openxmlformats.org/markup-compatibility/2006">
              <mc:Choice xmlns:v="urn:schemas-microsoft-com:vml" Requires="v">
                <p:oleObj name="Equation" r:id="rId6" imgW="799920" imgH="190440" progId="Equation.3">
                  <p:embed/>
                </p:oleObj>
              </mc:Choice>
              <mc:Fallback>
                <p:oleObj name="Equation" r:id="rId6" imgW="799920" imgH="1904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29300" y="3200400"/>
                        <a:ext cx="2079625"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9093" name="Object 5"/>
          <p:cNvGraphicFramePr>
            <a:graphicFrameLocks noChangeAspect="1"/>
          </p:cNvGraphicFramePr>
          <p:nvPr/>
        </p:nvGraphicFramePr>
        <p:xfrm>
          <a:off x="4289425" y="4783137"/>
          <a:ext cx="2644775" cy="933450"/>
        </p:xfrm>
        <a:graphic>
          <a:graphicData uri="http://schemas.openxmlformats.org/presentationml/2006/ole">
            <mc:AlternateContent xmlns:mc="http://schemas.openxmlformats.org/markup-compatibility/2006">
              <mc:Choice xmlns:v="urn:schemas-microsoft-com:vml" Requires="v">
                <p:oleObj name="Equation" r:id="rId8" imgW="1041120" imgH="368280" progId="Equation.3">
                  <p:embed/>
                </p:oleObj>
              </mc:Choice>
              <mc:Fallback>
                <p:oleObj name="Equation" r:id="rId8" imgW="1041120" imgH="36828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89425" y="4783137"/>
                        <a:ext cx="2644775" cy="933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9094" name="Object 6"/>
          <p:cNvGraphicFramePr>
            <a:graphicFrameLocks noChangeAspect="1"/>
          </p:cNvGraphicFramePr>
          <p:nvPr/>
        </p:nvGraphicFramePr>
        <p:xfrm>
          <a:off x="1579562" y="5802312"/>
          <a:ext cx="1773238" cy="741363"/>
        </p:xfrm>
        <a:graphic>
          <a:graphicData uri="http://schemas.openxmlformats.org/presentationml/2006/ole">
            <mc:AlternateContent xmlns:mc="http://schemas.openxmlformats.org/markup-compatibility/2006">
              <mc:Choice xmlns:v="urn:schemas-microsoft-com:vml" Requires="v">
                <p:oleObj name="Equation" r:id="rId10" imgW="698400" imgH="291960" progId="Equation.3">
                  <p:embed/>
                </p:oleObj>
              </mc:Choice>
              <mc:Fallback>
                <p:oleObj name="Equation" r:id="rId10" imgW="698400" imgH="29196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79562" y="5802312"/>
                        <a:ext cx="1773238" cy="741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9095" name="Object 7"/>
          <p:cNvGraphicFramePr>
            <a:graphicFrameLocks noChangeAspect="1"/>
          </p:cNvGraphicFramePr>
          <p:nvPr/>
        </p:nvGraphicFramePr>
        <p:xfrm>
          <a:off x="4289425" y="5811837"/>
          <a:ext cx="2644775" cy="741363"/>
        </p:xfrm>
        <a:graphic>
          <a:graphicData uri="http://schemas.openxmlformats.org/presentationml/2006/ole">
            <mc:AlternateContent xmlns:mc="http://schemas.openxmlformats.org/markup-compatibility/2006">
              <mc:Choice xmlns:v="urn:schemas-microsoft-com:vml" Requires="v">
                <p:oleObj name="Equation" r:id="rId12" imgW="1041120" imgH="291960" progId="Equation.3">
                  <p:embed/>
                </p:oleObj>
              </mc:Choice>
              <mc:Fallback>
                <p:oleObj name="Equation" r:id="rId12" imgW="1041120" imgH="29196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89425" y="5811837"/>
                        <a:ext cx="2644775" cy="741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712805255"/>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7277100" cy="563563"/>
          </a:xfrm>
        </p:spPr>
        <p:txBody>
          <a:bodyPr/>
          <a:lstStyle/>
          <a:p>
            <a:r>
              <a:rPr lang="en-US" sz="3200" dirty="0" err="1"/>
              <a:t>Thevenin</a:t>
            </a:r>
            <a:r>
              <a:rPr lang="en-US" sz="3200" dirty="0"/>
              <a:t> and Norton Equivalents</a:t>
            </a:r>
          </a:p>
        </p:txBody>
      </p:sp>
      <p:sp>
        <p:nvSpPr>
          <p:cNvPr id="9"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1" name="Slide Number Placeholder 12"/>
          <p:cNvSpPr>
            <a:spLocks noGrp="1"/>
          </p:cNvSpPr>
          <p:nvPr>
            <p:ph type="sldNum" sz="quarter" idx="11"/>
          </p:nvPr>
        </p:nvSpPr>
        <p:spPr>
          <a:xfrm>
            <a:off x="6667500" y="6454776"/>
            <a:ext cx="2438400" cy="365125"/>
          </a:xfrm>
        </p:spPr>
        <p:txBody>
          <a:bodyPr/>
          <a:lstStyle/>
          <a:p>
            <a:pPr>
              <a:defRPr/>
            </a:pPr>
            <a:fld id="{A957CEED-90C7-4FD0-AB8C-14085BB9151E}" type="slidenum">
              <a:rPr lang="en-US" smtClean="0"/>
              <a:pPr>
                <a:defRPr/>
              </a:pPr>
              <a:t>4</a:t>
            </a:fld>
            <a:endParaRPr lang="en-US" dirty="0"/>
          </a:p>
        </p:txBody>
      </p:sp>
      <p:sp>
        <p:nvSpPr>
          <p:cNvPr id="5" name="Content Placeholder 13"/>
          <p:cNvSpPr>
            <a:spLocks noGrp="1"/>
          </p:cNvSpPr>
          <p:nvPr>
            <p:ph idx="1"/>
          </p:nvPr>
        </p:nvSpPr>
        <p:spPr>
          <a:xfrm>
            <a:off x="457200" y="647700"/>
            <a:ext cx="8229600" cy="5440364"/>
          </a:xfrm>
        </p:spPr>
        <p:txBody>
          <a:bodyPr/>
          <a:lstStyle/>
          <a:p>
            <a:r>
              <a:rPr lang="en-US" sz="2400" dirty="0"/>
              <a:t>Equivalent circuits with both resistors and sources</a:t>
            </a:r>
          </a:p>
        </p:txBody>
      </p:sp>
      <p:pic>
        <p:nvPicPr>
          <p:cNvPr id="176130" name="Picture 2"/>
          <p:cNvPicPr>
            <a:picLocks noChangeAspect="1" noChangeArrowheads="1"/>
          </p:cNvPicPr>
          <p:nvPr/>
        </p:nvPicPr>
        <p:blipFill>
          <a:blip r:embed="rId2" cstate="print"/>
          <a:srcRect/>
          <a:stretch>
            <a:fillRect/>
          </a:stretch>
        </p:blipFill>
        <p:spPr bwMode="auto">
          <a:xfrm>
            <a:off x="1104900" y="1492505"/>
            <a:ext cx="2057400" cy="2126995"/>
          </a:xfrm>
          <a:prstGeom prst="rect">
            <a:avLst/>
          </a:prstGeom>
          <a:noFill/>
          <a:ln w="9525">
            <a:noFill/>
            <a:miter lim="800000"/>
            <a:headEnd/>
            <a:tailEnd/>
          </a:ln>
          <a:effectLst/>
        </p:spPr>
      </p:pic>
      <p:pic>
        <p:nvPicPr>
          <p:cNvPr id="176131" name="Picture 3"/>
          <p:cNvPicPr>
            <a:picLocks noChangeAspect="1" noChangeArrowheads="1"/>
          </p:cNvPicPr>
          <p:nvPr/>
        </p:nvPicPr>
        <p:blipFill>
          <a:blip r:embed="rId3" cstate="print"/>
          <a:srcRect/>
          <a:stretch>
            <a:fillRect/>
          </a:stretch>
        </p:blipFill>
        <p:spPr bwMode="auto">
          <a:xfrm>
            <a:off x="4991100" y="1504644"/>
            <a:ext cx="2400300" cy="2114856"/>
          </a:xfrm>
          <a:prstGeom prst="rect">
            <a:avLst/>
          </a:prstGeom>
          <a:noFill/>
          <a:ln w="9525">
            <a:noFill/>
            <a:miter lim="800000"/>
            <a:headEnd/>
            <a:tailEnd/>
          </a:ln>
          <a:effectLst/>
        </p:spPr>
      </p:pic>
      <p:sp>
        <p:nvSpPr>
          <p:cNvPr id="8" name="TextBox 7"/>
          <p:cNvSpPr txBox="1"/>
          <p:nvPr/>
        </p:nvSpPr>
        <p:spPr>
          <a:xfrm>
            <a:off x="956814" y="1108640"/>
            <a:ext cx="2438488" cy="400110"/>
          </a:xfrm>
          <a:prstGeom prst="rect">
            <a:avLst/>
          </a:prstGeom>
          <a:noFill/>
        </p:spPr>
        <p:txBody>
          <a:bodyPr wrap="none" rtlCol="0">
            <a:spAutoFit/>
          </a:bodyPr>
          <a:lstStyle/>
          <a:p>
            <a:r>
              <a:rPr lang="en-US" sz="2000" u="sng" dirty="0" err="1"/>
              <a:t>Thevenin</a:t>
            </a:r>
            <a:r>
              <a:rPr lang="en-US" sz="2000" u="sng" dirty="0"/>
              <a:t> </a:t>
            </a:r>
            <a:r>
              <a:rPr lang="en-US" sz="2000" u="sng" dirty="0" err="1"/>
              <a:t>Subcircuit</a:t>
            </a:r>
            <a:endParaRPr lang="en-US" sz="2000" u="sng" dirty="0"/>
          </a:p>
        </p:txBody>
      </p:sp>
      <p:sp>
        <p:nvSpPr>
          <p:cNvPr id="10" name="TextBox 9"/>
          <p:cNvSpPr txBox="1"/>
          <p:nvPr/>
        </p:nvSpPr>
        <p:spPr>
          <a:xfrm>
            <a:off x="5224014" y="1108640"/>
            <a:ext cx="2151551" cy="400110"/>
          </a:xfrm>
          <a:prstGeom prst="rect">
            <a:avLst/>
          </a:prstGeom>
          <a:noFill/>
        </p:spPr>
        <p:txBody>
          <a:bodyPr wrap="none" rtlCol="0">
            <a:spAutoFit/>
          </a:bodyPr>
          <a:lstStyle/>
          <a:p>
            <a:r>
              <a:rPr lang="en-US" sz="2000" u="sng" dirty="0"/>
              <a:t>Norton </a:t>
            </a:r>
            <a:r>
              <a:rPr lang="en-US" sz="2000" u="sng" dirty="0" err="1"/>
              <a:t>Subcircuit</a:t>
            </a:r>
            <a:endParaRPr lang="en-US" sz="2000" u="sng" dirty="0"/>
          </a:p>
        </p:txBody>
      </p:sp>
    </p:spTree>
    <p:extLst>
      <p:ext uri="{BB962C8B-B14F-4D97-AF65-F5344CB8AC3E}">
        <p14:creationId xmlns:p14="http://schemas.microsoft.com/office/powerpoint/2010/main" val="289489398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7277100" cy="563563"/>
          </a:xfrm>
        </p:spPr>
        <p:txBody>
          <a:bodyPr/>
          <a:lstStyle/>
          <a:p>
            <a:r>
              <a:rPr lang="en-US" sz="3200" dirty="0" err="1"/>
              <a:t>Thevenin</a:t>
            </a:r>
            <a:r>
              <a:rPr lang="en-US" sz="3200" dirty="0"/>
              <a:t> and Norton Equivalents</a:t>
            </a:r>
          </a:p>
        </p:txBody>
      </p:sp>
      <p:sp>
        <p:nvSpPr>
          <p:cNvPr id="9"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1" name="Slide Number Placeholder 12"/>
          <p:cNvSpPr>
            <a:spLocks noGrp="1"/>
          </p:cNvSpPr>
          <p:nvPr>
            <p:ph type="sldNum" sz="quarter" idx="11"/>
          </p:nvPr>
        </p:nvSpPr>
        <p:spPr>
          <a:xfrm>
            <a:off x="6667500" y="6454776"/>
            <a:ext cx="2438400" cy="365125"/>
          </a:xfrm>
        </p:spPr>
        <p:txBody>
          <a:bodyPr/>
          <a:lstStyle/>
          <a:p>
            <a:pPr>
              <a:defRPr/>
            </a:pPr>
            <a:fld id="{A957CEED-90C7-4FD0-AB8C-14085BB9151E}" type="slidenum">
              <a:rPr lang="en-US" smtClean="0"/>
              <a:pPr>
                <a:defRPr/>
              </a:pPr>
              <a:t>5</a:t>
            </a:fld>
            <a:endParaRPr lang="en-US" dirty="0"/>
          </a:p>
        </p:txBody>
      </p:sp>
      <p:sp>
        <p:nvSpPr>
          <p:cNvPr id="5" name="Content Placeholder 13"/>
          <p:cNvSpPr>
            <a:spLocks noGrp="1"/>
          </p:cNvSpPr>
          <p:nvPr>
            <p:ph idx="1"/>
          </p:nvPr>
        </p:nvSpPr>
        <p:spPr>
          <a:xfrm>
            <a:off x="457200" y="647700"/>
            <a:ext cx="8229600" cy="5440364"/>
          </a:xfrm>
        </p:spPr>
        <p:txBody>
          <a:bodyPr/>
          <a:lstStyle/>
          <a:p>
            <a:r>
              <a:rPr lang="en-US" sz="2400" dirty="0"/>
              <a:t>Equivalent circuits with both resistors and sources</a:t>
            </a:r>
          </a:p>
        </p:txBody>
      </p:sp>
      <p:pic>
        <p:nvPicPr>
          <p:cNvPr id="176130" name="Picture 2"/>
          <p:cNvPicPr>
            <a:picLocks noChangeAspect="1" noChangeArrowheads="1"/>
          </p:cNvPicPr>
          <p:nvPr/>
        </p:nvPicPr>
        <p:blipFill>
          <a:blip r:embed="rId2" cstate="print"/>
          <a:srcRect/>
          <a:stretch>
            <a:fillRect/>
          </a:stretch>
        </p:blipFill>
        <p:spPr bwMode="auto">
          <a:xfrm>
            <a:off x="1104900" y="1492505"/>
            <a:ext cx="2057400" cy="2126995"/>
          </a:xfrm>
          <a:prstGeom prst="rect">
            <a:avLst/>
          </a:prstGeom>
          <a:noFill/>
          <a:ln w="9525">
            <a:noFill/>
            <a:miter lim="800000"/>
            <a:headEnd/>
            <a:tailEnd/>
          </a:ln>
          <a:effectLst/>
        </p:spPr>
      </p:pic>
      <p:pic>
        <p:nvPicPr>
          <p:cNvPr id="176131" name="Picture 3"/>
          <p:cNvPicPr>
            <a:picLocks noChangeAspect="1" noChangeArrowheads="1"/>
          </p:cNvPicPr>
          <p:nvPr/>
        </p:nvPicPr>
        <p:blipFill>
          <a:blip r:embed="rId3" cstate="print"/>
          <a:srcRect/>
          <a:stretch>
            <a:fillRect/>
          </a:stretch>
        </p:blipFill>
        <p:spPr bwMode="auto">
          <a:xfrm>
            <a:off x="4991100" y="1504644"/>
            <a:ext cx="2400300" cy="2114856"/>
          </a:xfrm>
          <a:prstGeom prst="rect">
            <a:avLst/>
          </a:prstGeom>
          <a:noFill/>
          <a:ln w="9525">
            <a:noFill/>
            <a:miter lim="800000"/>
            <a:headEnd/>
            <a:tailEnd/>
          </a:ln>
          <a:effectLst/>
        </p:spPr>
      </p:pic>
      <p:graphicFrame>
        <p:nvGraphicFramePr>
          <p:cNvPr id="176132" name="Object 4"/>
          <p:cNvGraphicFramePr>
            <a:graphicFrameLocks noChangeAspect="1"/>
          </p:cNvGraphicFramePr>
          <p:nvPr/>
        </p:nvGraphicFramePr>
        <p:xfrm>
          <a:off x="990600" y="3695700"/>
          <a:ext cx="2236787" cy="495300"/>
        </p:xfrm>
        <a:graphic>
          <a:graphicData uri="http://schemas.openxmlformats.org/presentationml/2006/ole">
            <mc:AlternateContent xmlns:mc="http://schemas.openxmlformats.org/markup-compatibility/2006">
              <mc:Choice xmlns:v="urn:schemas-microsoft-com:vml" Requires="v">
                <p:oleObj name="Equation" r:id="rId4" imgW="698400" imgH="190440" progId="Equation.3">
                  <p:embed/>
                </p:oleObj>
              </mc:Choice>
              <mc:Fallback>
                <p:oleObj name="Equation" r:id="rId4" imgW="698400" imgH="190440" progId="Equation.3">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3695700"/>
                        <a:ext cx="2236787"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6133" name="Object 5"/>
          <p:cNvGraphicFramePr>
            <a:graphicFrameLocks noChangeAspect="1"/>
          </p:cNvGraphicFramePr>
          <p:nvPr/>
        </p:nvGraphicFramePr>
        <p:xfrm>
          <a:off x="4169688" y="3505200"/>
          <a:ext cx="4898112" cy="901344"/>
        </p:xfrm>
        <a:graphic>
          <a:graphicData uri="http://schemas.openxmlformats.org/presentationml/2006/ole">
            <mc:AlternateContent xmlns:mc="http://schemas.openxmlformats.org/markup-compatibility/2006">
              <mc:Choice xmlns:v="urn:schemas-microsoft-com:vml" Requires="v">
                <p:oleObj name="Equation" r:id="rId6" imgW="1904760" imgH="431640" progId="Equation.3">
                  <p:embed/>
                </p:oleObj>
              </mc:Choice>
              <mc:Fallback>
                <p:oleObj name="Equation" r:id="rId6" imgW="1904760" imgH="431640" progId="Equation.3">
                  <p:embed/>
                  <p:pic>
                    <p:nvPicPr>
                      <p:cNvPr id="0"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69688" y="3505200"/>
                        <a:ext cx="4898112" cy="9013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extBox 11"/>
          <p:cNvSpPr txBox="1"/>
          <p:nvPr/>
        </p:nvSpPr>
        <p:spPr>
          <a:xfrm>
            <a:off x="762000" y="4419600"/>
            <a:ext cx="7914026" cy="646331"/>
          </a:xfrm>
          <a:prstGeom prst="rect">
            <a:avLst/>
          </a:prstGeom>
          <a:noFill/>
        </p:spPr>
        <p:txBody>
          <a:bodyPr wrap="square" rtlCol="0">
            <a:spAutoFit/>
          </a:bodyPr>
          <a:lstStyle/>
          <a:p>
            <a:r>
              <a:rPr lang="en-US" dirty="0"/>
              <a:t>Therefore </a:t>
            </a:r>
            <a:r>
              <a:rPr lang="en-US" dirty="0" err="1"/>
              <a:t>Thevenin</a:t>
            </a:r>
            <a:r>
              <a:rPr lang="en-US" dirty="0"/>
              <a:t> &amp; Norton circuits are equivalent if   </a:t>
            </a:r>
            <a:r>
              <a:rPr lang="en-US" b="1" i="1" dirty="0"/>
              <a:t>R</a:t>
            </a:r>
            <a:r>
              <a:rPr lang="en-US" b="1" i="1" baseline="-25000" dirty="0"/>
              <a:t>T</a:t>
            </a:r>
            <a:r>
              <a:rPr lang="en-US" b="1" baseline="-25000" dirty="0"/>
              <a:t> </a:t>
            </a:r>
            <a:r>
              <a:rPr lang="en-US" b="1" dirty="0"/>
              <a:t>= </a:t>
            </a:r>
            <a:r>
              <a:rPr lang="en-US" b="1" i="1" dirty="0"/>
              <a:t>R</a:t>
            </a:r>
            <a:r>
              <a:rPr lang="en-US" b="1" i="1" baseline="-25000" dirty="0"/>
              <a:t>N</a:t>
            </a:r>
            <a:r>
              <a:rPr lang="en-US" b="1" dirty="0"/>
              <a:t>  &amp;  </a:t>
            </a:r>
            <a:r>
              <a:rPr lang="en-US" b="1" i="1" dirty="0" err="1"/>
              <a:t>v</a:t>
            </a:r>
            <a:r>
              <a:rPr lang="en-US" b="1" i="1" baseline="-25000" dirty="0" err="1"/>
              <a:t>T</a:t>
            </a:r>
            <a:r>
              <a:rPr lang="en-US" b="1" baseline="-25000" dirty="0"/>
              <a:t> </a:t>
            </a:r>
            <a:r>
              <a:rPr lang="en-US" b="1" dirty="0"/>
              <a:t>= </a:t>
            </a:r>
            <a:r>
              <a:rPr lang="en-US" b="1" i="1" dirty="0" err="1"/>
              <a:t>R</a:t>
            </a:r>
            <a:r>
              <a:rPr lang="en-US" b="1" i="1" baseline="-25000" dirty="0" err="1"/>
              <a:t>N</a:t>
            </a:r>
            <a:r>
              <a:rPr lang="en-US" b="1" i="1" dirty="0" err="1"/>
              <a:t>i</a:t>
            </a:r>
            <a:r>
              <a:rPr lang="en-US" b="1" i="1" baseline="-25000" dirty="0" err="1"/>
              <a:t>N</a:t>
            </a:r>
            <a:endParaRPr lang="en-US" b="1" i="1" baseline="-25000" dirty="0"/>
          </a:p>
          <a:p>
            <a:r>
              <a:rPr lang="en-US" dirty="0"/>
              <a:t>These are also referred to as </a:t>
            </a:r>
            <a:r>
              <a:rPr lang="en-US" b="1" i="1" dirty="0"/>
              <a:t>source transformation </a:t>
            </a:r>
            <a:r>
              <a:rPr lang="en-US" dirty="0"/>
              <a:t>equations.</a:t>
            </a:r>
          </a:p>
        </p:txBody>
      </p:sp>
      <p:sp>
        <p:nvSpPr>
          <p:cNvPr id="13" name="TextBox 12"/>
          <p:cNvSpPr txBox="1"/>
          <p:nvPr/>
        </p:nvSpPr>
        <p:spPr>
          <a:xfrm>
            <a:off x="2832230" y="5078770"/>
            <a:ext cx="4254370" cy="1754326"/>
          </a:xfrm>
          <a:prstGeom prst="rect">
            <a:avLst/>
          </a:prstGeom>
          <a:noFill/>
        </p:spPr>
        <p:txBody>
          <a:bodyPr wrap="square" rtlCol="0">
            <a:spAutoFit/>
          </a:bodyPr>
          <a:lstStyle/>
          <a:p>
            <a:pPr>
              <a:lnSpc>
                <a:spcPct val="150000"/>
              </a:lnSpc>
            </a:pPr>
            <a:r>
              <a:rPr lang="en-US" i="1" dirty="0" err="1"/>
              <a:t>v</a:t>
            </a:r>
            <a:r>
              <a:rPr lang="en-US" i="1" baseline="-25000" dirty="0" err="1"/>
              <a:t>T</a:t>
            </a:r>
            <a:r>
              <a:rPr lang="en-US" dirty="0"/>
              <a:t> : </a:t>
            </a:r>
            <a:r>
              <a:rPr lang="en-US" dirty="0" err="1"/>
              <a:t>Thevenin</a:t>
            </a:r>
            <a:r>
              <a:rPr lang="en-US" dirty="0"/>
              <a:t> equivalent voltage source</a:t>
            </a:r>
          </a:p>
          <a:p>
            <a:pPr>
              <a:lnSpc>
                <a:spcPct val="150000"/>
              </a:lnSpc>
            </a:pPr>
            <a:r>
              <a:rPr lang="en-US" i="1" dirty="0"/>
              <a:t>R</a:t>
            </a:r>
            <a:r>
              <a:rPr lang="en-US" i="1" baseline="-25000" dirty="0"/>
              <a:t>T</a:t>
            </a:r>
            <a:r>
              <a:rPr lang="en-US" dirty="0"/>
              <a:t> : </a:t>
            </a:r>
            <a:r>
              <a:rPr lang="en-US" dirty="0" err="1"/>
              <a:t>Thevenin</a:t>
            </a:r>
            <a:r>
              <a:rPr lang="en-US" dirty="0"/>
              <a:t> equivalent resistance</a:t>
            </a:r>
          </a:p>
          <a:p>
            <a:pPr>
              <a:lnSpc>
                <a:spcPct val="150000"/>
              </a:lnSpc>
            </a:pPr>
            <a:r>
              <a:rPr lang="en-US" i="1" dirty="0" err="1"/>
              <a:t>i</a:t>
            </a:r>
            <a:r>
              <a:rPr lang="en-US" i="1" baseline="-25000" dirty="0" err="1"/>
              <a:t>N</a:t>
            </a:r>
            <a:r>
              <a:rPr lang="en-US" dirty="0"/>
              <a:t> </a:t>
            </a:r>
            <a:r>
              <a:rPr lang="tr-TR" dirty="0"/>
              <a:t>  </a:t>
            </a:r>
            <a:r>
              <a:rPr lang="en-US" dirty="0"/>
              <a:t>: Norton equivalent current source</a:t>
            </a:r>
          </a:p>
          <a:p>
            <a:pPr>
              <a:lnSpc>
                <a:spcPct val="150000"/>
              </a:lnSpc>
            </a:pPr>
            <a:r>
              <a:rPr lang="en-US" i="1" dirty="0"/>
              <a:t>R</a:t>
            </a:r>
            <a:r>
              <a:rPr lang="en-US" i="1" baseline="-25000" dirty="0"/>
              <a:t>N</a:t>
            </a:r>
            <a:r>
              <a:rPr lang="en-US" dirty="0"/>
              <a:t> : Norton equivalent resistance</a:t>
            </a:r>
          </a:p>
        </p:txBody>
      </p:sp>
      <p:sp>
        <p:nvSpPr>
          <p:cNvPr id="14" name="TextBox 13"/>
          <p:cNvSpPr txBox="1"/>
          <p:nvPr/>
        </p:nvSpPr>
        <p:spPr>
          <a:xfrm>
            <a:off x="876300" y="5143500"/>
            <a:ext cx="1685077" cy="369332"/>
          </a:xfrm>
          <a:prstGeom prst="rect">
            <a:avLst/>
          </a:prstGeom>
          <a:noFill/>
        </p:spPr>
        <p:txBody>
          <a:bodyPr wrap="none" rtlCol="0">
            <a:spAutoFit/>
          </a:bodyPr>
          <a:lstStyle/>
          <a:p>
            <a:r>
              <a:rPr lang="en-US" dirty="0"/>
              <a:t>Nomenclature:</a:t>
            </a:r>
          </a:p>
        </p:txBody>
      </p:sp>
      <p:sp>
        <p:nvSpPr>
          <p:cNvPr id="15" name="TextBox 14"/>
          <p:cNvSpPr txBox="1"/>
          <p:nvPr/>
        </p:nvSpPr>
        <p:spPr>
          <a:xfrm>
            <a:off x="495300" y="3505200"/>
            <a:ext cx="684803" cy="369332"/>
          </a:xfrm>
          <a:prstGeom prst="rect">
            <a:avLst/>
          </a:prstGeom>
          <a:noFill/>
        </p:spPr>
        <p:txBody>
          <a:bodyPr wrap="none" rtlCol="0">
            <a:spAutoFit/>
          </a:bodyPr>
          <a:lstStyle/>
          <a:p>
            <a:r>
              <a:rPr lang="en-US" u="sng" dirty="0"/>
              <a:t>KVL</a:t>
            </a:r>
            <a:r>
              <a:rPr lang="en-US" dirty="0"/>
              <a:t>:</a:t>
            </a:r>
            <a:endParaRPr lang="tr-TR" dirty="0"/>
          </a:p>
        </p:txBody>
      </p:sp>
      <p:sp>
        <p:nvSpPr>
          <p:cNvPr id="16" name="TextBox 15"/>
          <p:cNvSpPr txBox="1"/>
          <p:nvPr/>
        </p:nvSpPr>
        <p:spPr>
          <a:xfrm>
            <a:off x="3620497" y="3505200"/>
            <a:ext cx="697627" cy="369332"/>
          </a:xfrm>
          <a:prstGeom prst="rect">
            <a:avLst/>
          </a:prstGeom>
          <a:noFill/>
        </p:spPr>
        <p:txBody>
          <a:bodyPr wrap="none" rtlCol="0">
            <a:spAutoFit/>
          </a:bodyPr>
          <a:lstStyle/>
          <a:p>
            <a:r>
              <a:rPr lang="en-US" u="sng" dirty="0"/>
              <a:t>KCL</a:t>
            </a:r>
            <a:r>
              <a:rPr lang="en-US" dirty="0"/>
              <a:t>:</a:t>
            </a:r>
            <a:endParaRPr lang="tr-TR" dirty="0"/>
          </a:p>
        </p:txBody>
      </p:sp>
      <p:sp>
        <p:nvSpPr>
          <p:cNvPr id="17" name="TextBox 16"/>
          <p:cNvSpPr txBox="1"/>
          <p:nvPr/>
        </p:nvSpPr>
        <p:spPr>
          <a:xfrm>
            <a:off x="956814" y="1108640"/>
            <a:ext cx="2438488" cy="400110"/>
          </a:xfrm>
          <a:prstGeom prst="rect">
            <a:avLst/>
          </a:prstGeom>
          <a:noFill/>
        </p:spPr>
        <p:txBody>
          <a:bodyPr wrap="none" rtlCol="0">
            <a:spAutoFit/>
          </a:bodyPr>
          <a:lstStyle/>
          <a:p>
            <a:r>
              <a:rPr lang="en-US" sz="2000" u="sng" dirty="0" err="1"/>
              <a:t>Thevenin</a:t>
            </a:r>
            <a:r>
              <a:rPr lang="en-US" sz="2000" u="sng" dirty="0"/>
              <a:t> </a:t>
            </a:r>
            <a:r>
              <a:rPr lang="en-US" sz="2000" u="sng" dirty="0" err="1"/>
              <a:t>Subcircuit</a:t>
            </a:r>
            <a:endParaRPr lang="en-US" sz="2000" u="sng" dirty="0"/>
          </a:p>
        </p:txBody>
      </p:sp>
      <p:sp>
        <p:nvSpPr>
          <p:cNvPr id="18" name="TextBox 17"/>
          <p:cNvSpPr txBox="1"/>
          <p:nvPr/>
        </p:nvSpPr>
        <p:spPr>
          <a:xfrm>
            <a:off x="5224014" y="1108640"/>
            <a:ext cx="2151551" cy="400110"/>
          </a:xfrm>
          <a:prstGeom prst="rect">
            <a:avLst/>
          </a:prstGeom>
          <a:noFill/>
        </p:spPr>
        <p:txBody>
          <a:bodyPr wrap="none" rtlCol="0">
            <a:spAutoFit/>
          </a:bodyPr>
          <a:lstStyle/>
          <a:p>
            <a:r>
              <a:rPr lang="en-US" sz="2000" u="sng" dirty="0"/>
              <a:t>Norton </a:t>
            </a:r>
            <a:r>
              <a:rPr lang="en-US" sz="2000" u="sng" dirty="0" err="1"/>
              <a:t>Subcircuit</a:t>
            </a:r>
            <a:endParaRPr lang="en-US" sz="2000" u="sng" dirty="0"/>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 (N &amp; R Problem 4.59a)</a:t>
            </a:r>
          </a:p>
        </p:txBody>
      </p:sp>
      <p:sp>
        <p:nvSpPr>
          <p:cNvPr id="14" name="Content Placeholder 13"/>
          <p:cNvSpPr>
            <a:spLocks noGrp="1"/>
          </p:cNvSpPr>
          <p:nvPr>
            <p:ph idx="1"/>
          </p:nvPr>
        </p:nvSpPr>
        <p:spPr>
          <a:xfrm>
            <a:off x="457200" y="685801"/>
            <a:ext cx="8229600" cy="5440364"/>
          </a:xfrm>
        </p:spPr>
        <p:txBody>
          <a:bodyPr/>
          <a:lstStyle/>
          <a:p>
            <a:pPr>
              <a:buNone/>
            </a:pPr>
            <a:r>
              <a:rPr lang="en-US" sz="2400" dirty="0"/>
              <a:t>Use a series of source transformations to find the current </a:t>
            </a:r>
            <a:r>
              <a:rPr lang="en-US" sz="2400" b="1" i="1" dirty="0"/>
              <a:t>i</a:t>
            </a:r>
            <a:r>
              <a:rPr lang="en-US" sz="2400" b="1" i="1" baseline="-25000" dirty="0"/>
              <a:t>0</a:t>
            </a:r>
            <a:r>
              <a:rPr lang="en-US" sz="2400" dirty="0"/>
              <a:t> in the circuit:</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7"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6</a:t>
            </a:fld>
            <a:endParaRPr lang="en-US" dirty="0"/>
          </a:p>
        </p:txBody>
      </p:sp>
      <p:grpSp>
        <p:nvGrpSpPr>
          <p:cNvPr id="26" name="Group 25"/>
          <p:cNvGrpSpPr/>
          <p:nvPr/>
        </p:nvGrpSpPr>
        <p:grpSpPr>
          <a:xfrm>
            <a:off x="952500" y="1104900"/>
            <a:ext cx="4038600" cy="1562100"/>
            <a:chOff x="952500" y="1104900"/>
            <a:chExt cx="4038600" cy="1562100"/>
          </a:xfrm>
        </p:grpSpPr>
        <p:pic>
          <p:nvPicPr>
            <p:cNvPr id="322562" name="Picture 2"/>
            <p:cNvPicPr>
              <a:picLocks noChangeAspect="1" noChangeArrowheads="1"/>
            </p:cNvPicPr>
            <p:nvPr/>
          </p:nvPicPr>
          <p:blipFill>
            <a:blip r:embed="rId2" cstate="print"/>
            <a:srcRect/>
            <a:stretch>
              <a:fillRect/>
            </a:stretch>
          </p:blipFill>
          <p:spPr bwMode="auto">
            <a:xfrm>
              <a:off x="1101343" y="1181100"/>
              <a:ext cx="3737357" cy="1485900"/>
            </a:xfrm>
            <a:prstGeom prst="rect">
              <a:avLst/>
            </a:prstGeom>
            <a:noFill/>
            <a:ln w="9525">
              <a:noFill/>
              <a:miter lim="800000"/>
              <a:headEnd/>
              <a:tailEnd/>
            </a:ln>
            <a:effectLst/>
          </p:spPr>
        </p:pic>
        <p:sp>
          <p:nvSpPr>
            <p:cNvPr id="8" name="TextBox 7"/>
            <p:cNvSpPr txBox="1"/>
            <p:nvPr/>
          </p:nvSpPr>
          <p:spPr>
            <a:xfrm>
              <a:off x="2705100" y="1104900"/>
              <a:ext cx="685800" cy="307777"/>
            </a:xfrm>
            <a:prstGeom prst="rect">
              <a:avLst/>
            </a:prstGeom>
            <a:solidFill>
              <a:schemeClr val="bg1"/>
            </a:solidFill>
          </p:spPr>
          <p:txBody>
            <a:bodyPr wrap="square" rtlCol="0">
              <a:spAutoFit/>
            </a:bodyPr>
            <a:lstStyle/>
            <a:p>
              <a:r>
                <a:rPr lang="en-US" sz="1400" dirty="0"/>
                <a:t>1 k</a:t>
              </a:r>
              <a:r>
                <a:rPr lang="el-GR" sz="1400" dirty="0"/>
                <a:t>Ω</a:t>
              </a:r>
              <a:endParaRPr lang="tr-TR" sz="1400" dirty="0"/>
            </a:p>
          </p:txBody>
        </p:sp>
        <p:sp>
          <p:nvSpPr>
            <p:cNvPr id="9" name="TextBox 8"/>
            <p:cNvSpPr txBox="1"/>
            <p:nvPr/>
          </p:nvSpPr>
          <p:spPr>
            <a:xfrm>
              <a:off x="3086100" y="1866900"/>
              <a:ext cx="457200" cy="523220"/>
            </a:xfrm>
            <a:prstGeom prst="rect">
              <a:avLst/>
            </a:prstGeom>
            <a:solidFill>
              <a:schemeClr val="bg1"/>
            </a:solidFill>
          </p:spPr>
          <p:txBody>
            <a:bodyPr wrap="square" rtlCol="0">
              <a:spAutoFit/>
            </a:bodyPr>
            <a:lstStyle/>
            <a:p>
              <a:pPr algn="r"/>
              <a:r>
                <a:rPr lang="en-US" sz="1400" dirty="0"/>
                <a:t>2 k</a:t>
              </a:r>
              <a:r>
                <a:rPr lang="el-GR" sz="1400" dirty="0"/>
                <a:t>Ω</a:t>
              </a:r>
              <a:endParaRPr lang="tr-TR" sz="1400" dirty="0"/>
            </a:p>
          </p:txBody>
        </p:sp>
        <p:sp>
          <p:nvSpPr>
            <p:cNvPr id="10" name="TextBox 9"/>
            <p:cNvSpPr txBox="1"/>
            <p:nvPr/>
          </p:nvSpPr>
          <p:spPr>
            <a:xfrm>
              <a:off x="2552700" y="1866900"/>
              <a:ext cx="457200" cy="523220"/>
            </a:xfrm>
            <a:prstGeom prst="rect">
              <a:avLst/>
            </a:prstGeom>
            <a:solidFill>
              <a:schemeClr val="bg1"/>
            </a:solidFill>
          </p:spPr>
          <p:txBody>
            <a:bodyPr wrap="square" rtlCol="0">
              <a:spAutoFit/>
            </a:bodyPr>
            <a:lstStyle/>
            <a:p>
              <a:r>
                <a:rPr lang="en-US" sz="1400" dirty="0"/>
                <a:t>3 k</a:t>
              </a:r>
              <a:r>
                <a:rPr lang="el-GR" sz="1400" dirty="0"/>
                <a:t>Ω</a:t>
              </a:r>
              <a:endParaRPr lang="tr-TR" sz="1400" dirty="0"/>
            </a:p>
          </p:txBody>
        </p:sp>
        <p:sp>
          <p:nvSpPr>
            <p:cNvPr id="11" name="TextBox 10"/>
            <p:cNvSpPr txBox="1"/>
            <p:nvPr/>
          </p:nvSpPr>
          <p:spPr>
            <a:xfrm>
              <a:off x="952500" y="1828800"/>
              <a:ext cx="457200" cy="523220"/>
            </a:xfrm>
            <a:prstGeom prst="rect">
              <a:avLst/>
            </a:prstGeom>
            <a:solidFill>
              <a:schemeClr val="bg1"/>
            </a:solidFill>
          </p:spPr>
          <p:txBody>
            <a:bodyPr wrap="square" rtlCol="0">
              <a:spAutoFit/>
            </a:bodyPr>
            <a:lstStyle/>
            <a:p>
              <a:pPr algn="r"/>
              <a:r>
                <a:rPr lang="en-US" sz="1400" dirty="0"/>
                <a:t>4 </a:t>
              </a:r>
              <a:r>
                <a:rPr lang="en-US" sz="1400" dirty="0" err="1"/>
                <a:t>mA</a:t>
              </a:r>
              <a:endParaRPr lang="tr-TR" sz="1400" dirty="0"/>
            </a:p>
          </p:txBody>
        </p:sp>
        <p:grpSp>
          <p:nvGrpSpPr>
            <p:cNvPr id="21" name="Group 20"/>
            <p:cNvGrpSpPr/>
            <p:nvPr/>
          </p:nvGrpSpPr>
          <p:grpSpPr>
            <a:xfrm>
              <a:off x="1409700" y="1943100"/>
              <a:ext cx="342900" cy="342900"/>
              <a:chOff x="2247900" y="3124200"/>
              <a:chExt cx="342900" cy="342900"/>
            </a:xfrm>
          </p:grpSpPr>
          <p:sp>
            <p:nvSpPr>
              <p:cNvPr id="12" name="Oval 11"/>
              <p:cNvSpPr/>
              <p:nvPr/>
            </p:nvSpPr>
            <p:spPr>
              <a:xfrm>
                <a:off x="2247900" y="3124200"/>
                <a:ext cx="342900" cy="3429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cxnSp>
            <p:nvCxnSpPr>
              <p:cNvPr id="19" name="Straight Arrow Connector 18"/>
              <p:cNvCxnSpPr/>
              <p:nvPr/>
            </p:nvCxnSpPr>
            <p:spPr>
              <a:xfrm rot="16200000" flipV="1">
                <a:off x="2323306" y="3275806"/>
                <a:ext cx="2286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flipV="1">
              <a:off x="4114800" y="1828800"/>
              <a:ext cx="381000" cy="342900"/>
              <a:chOff x="2247900" y="3124200"/>
              <a:chExt cx="342900" cy="342900"/>
            </a:xfrm>
          </p:grpSpPr>
          <p:sp>
            <p:nvSpPr>
              <p:cNvPr id="23" name="Oval 22"/>
              <p:cNvSpPr/>
              <p:nvPr/>
            </p:nvSpPr>
            <p:spPr>
              <a:xfrm>
                <a:off x="2247900" y="3124200"/>
                <a:ext cx="342900" cy="3429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cxnSp>
            <p:nvCxnSpPr>
              <p:cNvPr id="24" name="Straight Arrow Connector 23"/>
              <p:cNvCxnSpPr/>
              <p:nvPr/>
            </p:nvCxnSpPr>
            <p:spPr>
              <a:xfrm rot="16200000" flipV="1">
                <a:off x="2323306" y="3275806"/>
                <a:ext cx="2286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25" name="TextBox 24"/>
            <p:cNvSpPr txBox="1"/>
            <p:nvPr/>
          </p:nvSpPr>
          <p:spPr>
            <a:xfrm>
              <a:off x="4533900" y="1724680"/>
              <a:ext cx="457200" cy="523220"/>
            </a:xfrm>
            <a:prstGeom prst="rect">
              <a:avLst/>
            </a:prstGeom>
            <a:solidFill>
              <a:schemeClr val="bg1"/>
            </a:solidFill>
          </p:spPr>
          <p:txBody>
            <a:bodyPr wrap="square" rtlCol="0">
              <a:spAutoFit/>
            </a:bodyPr>
            <a:lstStyle/>
            <a:p>
              <a:r>
                <a:rPr lang="en-US" sz="1400" dirty="0"/>
                <a:t>2 </a:t>
              </a:r>
              <a:r>
                <a:rPr lang="en-US" sz="1400" dirty="0" err="1"/>
                <a:t>mA</a:t>
              </a:r>
              <a:endParaRPr lang="tr-TR" sz="1400" dirty="0"/>
            </a:p>
          </p:txBody>
        </p:sp>
      </p:gr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 (N &amp; R Problem 4.59a)</a:t>
            </a:r>
          </a:p>
        </p:txBody>
      </p:sp>
      <p:sp>
        <p:nvSpPr>
          <p:cNvPr id="14" name="Content Placeholder 13"/>
          <p:cNvSpPr>
            <a:spLocks noGrp="1"/>
          </p:cNvSpPr>
          <p:nvPr>
            <p:ph idx="1"/>
          </p:nvPr>
        </p:nvSpPr>
        <p:spPr>
          <a:xfrm>
            <a:off x="457200" y="685801"/>
            <a:ext cx="8229600" cy="5440364"/>
          </a:xfrm>
        </p:spPr>
        <p:txBody>
          <a:bodyPr/>
          <a:lstStyle/>
          <a:p>
            <a:pPr>
              <a:buNone/>
            </a:pPr>
            <a:r>
              <a:rPr lang="en-US" sz="2400" dirty="0"/>
              <a:t>Use a series of source transformations to find the current </a:t>
            </a:r>
            <a:r>
              <a:rPr lang="en-US" sz="2400" b="1" i="1" dirty="0"/>
              <a:t>i</a:t>
            </a:r>
            <a:r>
              <a:rPr lang="en-US" sz="2400" b="1" i="1" baseline="-25000" dirty="0"/>
              <a:t>0</a:t>
            </a:r>
            <a:r>
              <a:rPr lang="en-US" sz="2400" dirty="0"/>
              <a:t> in the circuit:</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7" name="Title 1"/>
          <p:cNvSpPr txBox="1">
            <a:spLocks/>
          </p:cNvSpPr>
          <p:nvPr/>
        </p:nvSpPr>
        <p:spPr bwMode="auto">
          <a:xfrm>
            <a:off x="190500" y="2552700"/>
            <a:ext cx="46482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n-US" sz="2400" b="0" i="0" u="sng" strike="noStrike" kern="1200" cap="none" spc="0" normalizeH="0" baseline="0" noProof="0" dirty="0">
                <a:ln>
                  <a:noFill/>
                </a:ln>
                <a:solidFill>
                  <a:schemeClr val="tx1"/>
                </a:solidFill>
                <a:effectLst/>
                <a:uLnTx/>
                <a:uFillTx/>
                <a:latin typeface="+mj-lt"/>
                <a:ea typeface="+mj-ea"/>
                <a:cs typeface="+mj-cs"/>
              </a:rPr>
              <a:t>Solution:</a:t>
            </a:r>
          </a:p>
        </p:txBody>
      </p:sp>
      <p:pic>
        <p:nvPicPr>
          <p:cNvPr id="323587" name="Picture 3"/>
          <p:cNvPicPr>
            <a:picLocks noChangeAspect="1" noChangeArrowheads="1"/>
          </p:cNvPicPr>
          <p:nvPr/>
        </p:nvPicPr>
        <p:blipFill>
          <a:blip r:embed="rId2" cstate="print"/>
          <a:srcRect/>
          <a:stretch>
            <a:fillRect/>
          </a:stretch>
        </p:blipFill>
        <p:spPr bwMode="auto">
          <a:xfrm>
            <a:off x="1409700" y="3390900"/>
            <a:ext cx="3302479" cy="1524000"/>
          </a:xfrm>
          <a:prstGeom prst="rect">
            <a:avLst/>
          </a:prstGeom>
          <a:noFill/>
          <a:ln w="9525">
            <a:noFill/>
            <a:miter lim="800000"/>
            <a:headEnd/>
            <a:tailEnd/>
          </a:ln>
          <a:effectLst/>
        </p:spPr>
      </p:pic>
      <p:sp>
        <p:nvSpPr>
          <p:cNvPr id="10" name="Right Arrow 9"/>
          <p:cNvSpPr/>
          <p:nvPr/>
        </p:nvSpPr>
        <p:spPr>
          <a:xfrm rot="5400000">
            <a:off x="2819400" y="2971800"/>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Rectangle 10"/>
          <p:cNvSpPr/>
          <p:nvPr/>
        </p:nvSpPr>
        <p:spPr>
          <a:xfrm>
            <a:off x="3276600" y="1409700"/>
            <a:ext cx="1638300" cy="1295400"/>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Rectangle 11"/>
          <p:cNvSpPr/>
          <p:nvPr/>
        </p:nvSpPr>
        <p:spPr>
          <a:xfrm>
            <a:off x="990600" y="1409700"/>
            <a:ext cx="1828800" cy="1295400"/>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5" name="Rectangle 14"/>
          <p:cNvSpPr/>
          <p:nvPr/>
        </p:nvSpPr>
        <p:spPr>
          <a:xfrm>
            <a:off x="3390900" y="3352800"/>
            <a:ext cx="1638300" cy="1562100"/>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6" name="Rectangle 15"/>
          <p:cNvSpPr/>
          <p:nvPr/>
        </p:nvSpPr>
        <p:spPr>
          <a:xfrm>
            <a:off x="1333500" y="3314700"/>
            <a:ext cx="1257300" cy="1600200"/>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7" name="Rectangle 16"/>
          <p:cNvSpPr/>
          <p:nvPr/>
        </p:nvSpPr>
        <p:spPr>
          <a:xfrm>
            <a:off x="3238500" y="2705100"/>
            <a:ext cx="5829481" cy="646331"/>
          </a:xfrm>
          <a:prstGeom prst="rect">
            <a:avLst/>
          </a:prstGeom>
        </p:spPr>
        <p:txBody>
          <a:bodyPr wrap="none">
            <a:spAutoFit/>
          </a:bodyPr>
          <a:lstStyle/>
          <a:p>
            <a:r>
              <a:rPr lang="en-US" dirty="0"/>
              <a:t>Source transformation:</a:t>
            </a:r>
          </a:p>
          <a:p>
            <a:r>
              <a:rPr lang="en-US" b="1" i="1" dirty="0"/>
              <a:t>R</a:t>
            </a:r>
            <a:r>
              <a:rPr lang="en-US" b="1" i="1" baseline="-25000" dirty="0"/>
              <a:t>T</a:t>
            </a:r>
            <a:r>
              <a:rPr lang="en-US" b="1" baseline="-25000" dirty="0"/>
              <a:t> </a:t>
            </a:r>
            <a:r>
              <a:rPr lang="en-US" b="1" dirty="0"/>
              <a:t>= </a:t>
            </a:r>
            <a:r>
              <a:rPr lang="en-US" b="1" i="1" dirty="0"/>
              <a:t>R</a:t>
            </a:r>
            <a:r>
              <a:rPr lang="en-US" b="1" i="1" baseline="-25000" dirty="0"/>
              <a:t>N</a:t>
            </a:r>
            <a:r>
              <a:rPr lang="en-US" b="1" dirty="0"/>
              <a:t>  &amp;  </a:t>
            </a:r>
            <a:r>
              <a:rPr lang="en-US" b="1" i="1" dirty="0" err="1"/>
              <a:t>v</a:t>
            </a:r>
            <a:r>
              <a:rPr lang="en-US" b="1" i="1" baseline="-25000" dirty="0" err="1"/>
              <a:t>T</a:t>
            </a:r>
            <a:r>
              <a:rPr lang="en-US" b="1" baseline="-25000" dirty="0"/>
              <a:t> </a:t>
            </a:r>
            <a:r>
              <a:rPr lang="en-US" b="1" dirty="0"/>
              <a:t>= </a:t>
            </a:r>
            <a:r>
              <a:rPr lang="en-US" b="1" i="1" dirty="0" err="1"/>
              <a:t>R</a:t>
            </a:r>
            <a:r>
              <a:rPr lang="en-US" b="1" i="1" baseline="-25000" dirty="0" err="1"/>
              <a:t>N</a:t>
            </a:r>
            <a:r>
              <a:rPr lang="en-US" b="1" i="1" dirty="0" err="1"/>
              <a:t>i</a:t>
            </a:r>
            <a:r>
              <a:rPr lang="en-US" b="1" i="1" baseline="-25000" dirty="0" err="1"/>
              <a:t>N</a:t>
            </a:r>
            <a:r>
              <a:rPr lang="en-US" b="1" i="1" baseline="-25000" dirty="0"/>
              <a:t>   </a:t>
            </a:r>
            <a:r>
              <a:rPr lang="en-US" dirty="0"/>
              <a:t>(watch the assumed signs here !)</a:t>
            </a:r>
            <a:endParaRPr lang="tr-TR" dirty="0"/>
          </a:p>
        </p:txBody>
      </p:sp>
      <p:sp>
        <p:nvSpPr>
          <p:cNvPr id="18"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7</a:t>
            </a:fld>
            <a:endParaRPr lang="en-US" dirty="0"/>
          </a:p>
        </p:txBody>
      </p:sp>
      <p:grpSp>
        <p:nvGrpSpPr>
          <p:cNvPr id="19" name="Group 18"/>
          <p:cNvGrpSpPr/>
          <p:nvPr/>
        </p:nvGrpSpPr>
        <p:grpSpPr>
          <a:xfrm>
            <a:off x="952500" y="1104900"/>
            <a:ext cx="4038600" cy="1562100"/>
            <a:chOff x="952500" y="1104900"/>
            <a:chExt cx="4038600" cy="1562100"/>
          </a:xfrm>
        </p:grpSpPr>
        <p:pic>
          <p:nvPicPr>
            <p:cNvPr id="21" name="Picture 2"/>
            <p:cNvPicPr>
              <a:picLocks noChangeAspect="1" noChangeArrowheads="1"/>
            </p:cNvPicPr>
            <p:nvPr/>
          </p:nvPicPr>
          <p:blipFill>
            <a:blip r:embed="rId3" cstate="print"/>
            <a:srcRect/>
            <a:stretch>
              <a:fillRect/>
            </a:stretch>
          </p:blipFill>
          <p:spPr bwMode="auto">
            <a:xfrm>
              <a:off x="1101343" y="1181100"/>
              <a:ext cx="3737357" cy="1485900"/>
            </a:xfrm>
            <a:prstGeom prst="rect">
              <a:avLst/>
            </a:prstGeom>
            <a:noFill/>
            <a:ln w="9525">
              <a:noFill/>
              <a:miter lim="800000"/>
              <a:headEnd/>
              <a:tailEnd/>
            </a:ln>
            <a:effectLst/>
          </p:spPr>
        </p:pic>
        <p:sp>
          <p:nvSpPr>
            <p:cNvPr id="22" name="TextBox 21"/>
            <p:cNvSpPr txBox="1"/>
            <p:nvPr/>
          </p:nvSpPr>
          <p:spPr>
            <a:xfrm>
              <a:off x="2705100" y="1104900"/>
              <a:ext cx="685800" cy="307777"/>
            </a:xfrm>
            <a:prstGeom prst="rect">
              <a:avLst/>
            </a:prstGeom>
            <a:solidFill>
              <a:schemeClr val="bg1"/>
            </a:solidFill>
          </p:spPr>
          <p:txBody>
            <a:bodyPr wrap="square" rtlCol="0">
              <a:spAutoFit/>
            </a:bodyPr>
            <a:lstStyle/>
            <a:p>
              <a:r>
                <a:rPr lang="en-US" sz="1400" dirty="0"/>
                <a:t>1 k</a:t>
              </a:r>
              <a:r>
                <a:rPr lang="el-GR" sz="1400" dirty="0"/>
                <a:t>Ω</a:t>
              </a:r>
              <a:endParaRPr lang="tr-TR" sz="1400" dirty="0"/>
            </a:p>
          </p:txBody>
        </p:sp>
        <p:sp>
          <p:nvSpPr>
            <p:cNvPr id="23" name="TextBox 22"/>
            <p:cNvSpPr txBox="1"/>
            <p:nvPr/>
          </p:nvSpPr>
          <p:spPr>
            <a:xfrm>
              <a:off x="3086100" y="1866900"/>
              <a:ext cx="457200" cy="523220"/>
            </a:xfrm>
            <a:prstGeom prst="rect">
              <a:avLst/>
            </a:prstGeom>
            <a:solidFill>
              <a:schemeClr val="bg1"/>
            </a:solidFill>
          </p:spPr>
          <p:txBody>
            <a:bodyPr wrap="square" rtlCol="0">
              <a:spAutoFit/>
            </a:bodyPr>
            <a:lstStyle/>
            <a:p>
              <a:pPr algn="r"/>
              <a:r>
                <a:rPr lang="en-US" sz="1400" dirty="0"/>
                <a:t>2 k</a:t>
              </a:r>
              <a:r>
                <a:rPr lang="el-GR" sz="1400" dirty="0"/>
                <a:t>Ω</a:t>
              </a:r>
              <a:endParaRPr lang="tr-TR" sz="1400" dirty="0"/>
            </a:p>
          </p:txBody>
        </p:sp>
        <p:sp>
          <p:nvSpPr>
            <p:cNvPr id="24" name="TextBox 23"/>
            <p:cNvSpPr txBox="1"/>
            <p:nvPr/>
          </p:nvSpPr>
          <p:spPr>
            <a:xfrm>
              <a:off x="2552700" y="1866900"/>
              <a:ext cx="457200" cy="523220"/>
            </a:xfrm>
            <a:prstGeom prst="rect">
              <a:avLst/>
            </a:prstGeom>
            <a:solidFill>
              <a:schemeClr val="bg1"/>
            </a:solidFill>
          </p:spPr>
          <p:txBody>
            <a:bodyPr wrap="square" rtlCol="0">
              <a:spAutoFit/>
            </a:bodyPr>
            <a:lstStyle/>
            <a:p>
              <a:r>
                <a:rPr lang="en-US" sz="1400" dirty="0"/>
                <a:t>3 k</a:t>
              </a:r>
              <a:r>
                <a:rPr lang="el-GR" sz="1400" dirty="0"/>
                <a:t>Ω</a:t>
              </a:r>
              <a:endParaRPr lang="tr-TR" sz="1400" dirty="0"/>
            </a:p>
          </p:txBody>
        </p:sp>
        <p:sp>
          <p:nvSpPr>
            <p:cNvPr id="25" name="TextBox 24"/>
            <p:cNvSpPr txBox="1"/>
            <p:nvPr/>
          </p:nvSpPr>
          <p:spPr>
            <a:xfrm>
              <a:off x="952500" y="1828800"/>
              <a:ext cx="457200" cy="523220"/>
            </a:xfrm>
            <a:prstGeom prst="rect">
              <a:avLst/>
            </a:prstGeom>
            <a:solidFill>
              <a:schemeClr val="bg1"/>
            </a:solidFill>
          </p:spPr>
          <p:txBody>
            <a:bodyPr wrap="square" rtlCol="0">
              <a:spAutoFit/>
            </a:bodyPr>
            <a:lstStyle/>
            <a:p>
              <a:pPr algn="r"/>
              <a:r>
                <a:rPr lang="en-US" sz="1400" dirty="0"/>
                <a:t>4 </a:t>
              </a:r>
              <a:r>
                <a:rPr lang="en-US" sz="1400" dirty="0" err="1"/>
                <a:t>mA</a:t>
              </a:r>
              <a:endParaRPr lang="tr-TR" sz="1400" dirty="0"/>
            </a:p>
          </p:txBody>
        </p:sp>
        <p:grpSp>
          <p:nvGrpSpPr>
            <p:cNvPr id="26" name="Group 20"/>
            <p:cNvGrpSpPr/>
            <p:nvPr/>
          </p:nvGrpSpPr>
          <p:grpSpPr>
            <a:xfrm>
              <a:off x="1409700" y="1943100"/>
              <a:ext cx="342900" cy="342900"/>
              <a:chOff x="2247900" y="3124200"/>
              <a:chExt cx="342900" cy="342900"/>
            </a:xfrm>
          </p:grpSpPr>
          <p:sp>
            <p:nvSpPr>
              <p:cNvPr id="31" name="Oval 11"/>
              <p:cNvSpPr/>
              <p:nvPr/>
            </p:nvSpPr>
            <p:spPr>
              <a:xfrm>
                <a:off x="2247900" y="3124200"/>
                <a:ext cx="342900" cy="3429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cxnSp>
            <p:nvCxnSpPr>
              <p:cNvPr id="32" name="Straight Arrow Connector 31"/>
              <p:cNvCxnSpPr/>
              <p:nvPr/>
            </p:nvCxnSpPr>
            <p:spPr>
              <a:xfrm rot="16200000" flipV="1">
                <a:off x="2323306" y="3275806"/>
                <a:ext cx="2286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27" name="Group 21"/>
            <p:cNvGrpSpPr/>
            <p:nvPr/>
          </p:nvGrpSpPr>
          <p:grpSpPr>
            <a:xfrm flipV="1">
              <a:off x="4114800" y="1828800"/>
              <a:ext cx="381000" cy="342900"/>
              <a:chOff x="2247900" y="3124200"/>
              <a:chExt cx="342900" cy="342900"/>
            </a:xfrm>
          </p:grpSpPr>
          <p:sp>
            <p:nvSpPr>
              <p:cNvPr id="29" name="Oval 28"/>
              <p:cNvSpPr/>
              <p:nvPr/>
            </p:nvSpPr>
            <p:spPr>
              <a:xfrm>
                <a:off x="2247900" y="3124200"/>
                <a:ext cx="342900" cy="3429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cxnSp>
            <p:nvCxnSpPr>
              <p:cNvPr id="30" name="Straight Arrow Connector 29"/>
              <p:cNvCxnSpPr/>
              <p:nvPr/>
            </p:nvCxnSpPr>
            <p:spPr>
              <a:xfrm rot="16200000" flipV="1">
                <a:off x="2323306" y="3275806"/>
                <a:ext cx="2286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28" name="TextBox 27"/>
            <p:cNvSpPr txBox="1"/>
            <p:nvPr/>
          </p:nvSpPr>
          <p:spPr>
            <a:xfrm>
              <a:off x="4533900" y="1724680"/>
              <a:ext cx="457200" cy="523220"/>
            </a:xfrm>
            <a:prstGeom prst="rect">
              <a:avLst/>
            </a:prstGeom>
            <a:solidFill>
              <a:schemeClr val="bg1"/>
            </a:solidFill>
          </p:spPr>
          <p:txBody>
            <a:bodyPr wrap="square" rtlCol="0">
              <a:spAutoFit/>
            </a:bodyPr>
            <a:lstStyle/>
            <a:p>
              <a:r>
                <a:rPr lang="en-US" sz="1400" dirty="0"/>
                <a:t>2 </a:t>
              </a:r>
              <a:r>
                <a:rPr lang="en-US" sz="1400" dirty="0" err="1"/>
                <a:t>mA</a:t>
              </a:r>
              <a:endParaRPr lang="tr-TR" sz="1400" dirty="0"/>
            </a:p>
          </p:txBody>
        </p:sp>
      </p:grpSp>
      <p:sp>
        <p:nvSpPr>
          <p:cNvPr id="33" name="TextBox 32"/>
          <p:cNvSpPr txBox="1"/>
          <p:nvPr/>
        </p:nvSpPr>
        <p:spPr>
          <a:xfrm>
            <a:off x="2667000" y="3314700"/>
            <a:ext cx="685800" cy="307777"/>
          </a:xfrm>
          <a:prstGeom prst="rect">
            <a:avLst/>
          </a:prstGeom>
          <a:solidFill>
            <a:schemeClr val="bg1"/>
          </a:solidFill>
        </p:spPr>
        <p:txBody>
          <a:bodyPr wrap="square" rtlCol="0">
            <a:spAutoFit/>
          </a:bodyPr>
          <a:lstStyle/>
          <a:p>
            <a:r>
              <a:rPr lang="en-US" sz="1400" dirty="0"/>
              <a:t>1 k</a:t>
            </a:r>
            <a:r>
              <a:rPr lang="el-GR" sz="1400" dirty="0"/>
              <a:t>Ω</a:t>
            </a:r>
            <a:endParaRPr lang="tr-TR" sz="1400" dirty="0"/>
          </a:p>
        </p:txBody>
      </p:sp>
      <p:sp>
        <p:nvSpPr>
          <p:cNvPr id="34" name="TextBox 33"/>
          <p:cNvSpPr txBox="1"/>
          <p:nvPr/>
        </p:nvSpPr>
        <p:spPr>
          <a:xfrm>
            <a:off x="1981200" y="3314700"/>
            <a:ext cx="571500" cy="307777"/>
          </a:xfrm>
          <a:prstGeom prst="rect">
            <a:avLst/>
          </a:prstGeom>
          <a:solidFill>
            <a:schemeClr val="bg1"/>
          </a:solidFill>
        </p:spPr>
        <p:txBody>
          <a:bodyPr wrap="square" rtlCol="0">
            <a:spAutoFit/>
          </a:bodyPr>
          <a:lstStyle/>
          <a:p>
            <a:r>
              <a:rPr lang="en-US" sz="1400" dirty="0"/>
              <a:t>3 k</a:t>
            </a:r>
            <a:r>
              <a:rPr lang="el-GR" sz="1400" dirty="0"/>
              <a:t>Ω</a:t>
            </a:r>
            <a:endParaRPr lang="tr-TR" sz="1400" dirty="0"/>
          </a:p>
        </p:txBody>
      </p:sp>
      <p:sp>
        <p:nvSpPr>
          <p:cNvPr id="36" name="TextBox 35"/>
          <p:cNvSpPr txBox="1"/>
          <p:nvPr/>
        </p:nvSpPr>
        <p:spPr>
          <a:xfrm>
            <a:off x="3505200" y="3314700"/>
            <a:ext cx="685800" cy="307777"/>
          </a:xfrm>
          <a:prstGeom prst="rect">
            <a:avLst/>
          </a:prstGeom>
          <a:solidFill>
            <a:schemeClr val="bg1"/>
          </a:solidFill>
        </p:spPr>
        <p:txBody>
          <a:bodyPr wrap="square" rtlCol="0">
            <a:spAutoFit/>
          </a:bodyPr>
          <a:lstStyle/>
          <a:p>
            <a:r>
              <a:rPr lang="en-US" sz="1400" dirty="0"/>
              <a:t>2 k</a:t>
            </a:r>
            <a:r>
              <a:rPr lang="el-GR" sz="1400" dirty="0"/>
              <a:t>Ω</a:t>
            </a:r>
            <a:endParaRPr lang="tr-TR" sz="1400" dirty="0"/>
          </a:p>
        </p:txBody>
      </p:sp>
      <p:sp>
        <p:nvSpPr>
          <p:cNvPr id="37" name="TextBox 36"/>
          <p:cNvSpPr txBox="1"/>
          <p:nvPr/>
        </p:nvSpPr>
        <p:spPr>
          <a:xfrm>
            <a:off x="1790700" y="4073723"/>
            <a:ext cx="571500" cy="307777"/>
          </a:xfrm>
          <a:prstGeom prst="rect">
            <a:avLst/>
          </a:prstGeom>
          <a:solidFill>
            <a:schemeClr val="bg1"/>
          </a:solidFill>
        </p:spPr>
        <p:txBody>
          <a:bodyPr wrap="square" rtlCol="0">
            <a:spAutoFit/>
          </a:bodyPr>
          <a:lstStyle/>
          <a:p>
            <a:r>
              <a:rPr lang="en-US" sz="1400" dirty="0"/>
              <a:t>12 V</a:t>
            </a:r>
            <a:endParaRPr lang="tr-TR" sz="1400" dirty="0"/>
          </a:p>
        </p:txBody>
      </p:sp>
      <p:sp>
        <p:nvSpPr>
          <p:cNvPr id="38" name="TextBox 37"/>
          <p:cNvSpPr txBox="1"/>
          <p:nvPr/>
        </p:nvSpPr>
        <p:spPr>
          <a:xfrm>
            <a:off x="4343400" y="4038600"/>
            <a:ext cx="571500" cy="307777"/>
          </a:xfrm>
          <a:prstGeom prst="rect">
            <a:avLst/>
          </a:prstGeom>
          <a:solidFill>
            <a:schemeClr val="bg1"/>
          </a:solidFill>
        </p:spPr>
        <p:txBody>
          <a:bodyPr wrap="square" rtlCol="0">
            <a:spAutoFit/>
          </a:bodyPr>
          <a:lstStyle/>
          <a:p>
            <a:r>
              <a:rPr lang="en-US" sz="1400" dirty="0"/>
              <a:t>-4 V</a:t>
            </a:r>
            <a:endParaRPr lang="tr-TR" sz="1400" dirty="0"/>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 (N &amp; R Problem 4.59a)</a:t>
            </a:r>
          </a:p>
        </p:txBody>
      </p:sp>
      <p:sp>
        <p:nvSpPr>
          <p:cNvPr id="14" name="Content Placeholder 13"/>
          <p:cNvSpPr>
            <a:spLocks noGrp="1"/>
          </p:cNvSpPr>
          <p:nvPr>
            <p:ph idx="1"/>
          </p:nvPr>
        </p:nvSpPr>
        <p:spPr>
          <a:xfrm>
            <a:off x="457200" y="685801"/>
            <a:ext cx="8229600" cy="5440364"/>
          </a:xfrm>
        </p:spPr>
        <p:txBody>
          <a:bodyPr/>
          <a:lstStyle/>
          <a:p>
            <a:pPr>
              <a:buNone/>
            </a:pPr>
            <a:r>
              <a:rPr lang="en-US" sz="2400" dirty="0"/>
              <a:t>Use a series of source transformations to find the current </a:t>
            </a:r>
            <a:r>
              <a:rPr lang="en-US" sz="2400" b="1" i="1" dirty="0"/>
              <a:t>i</a:t>
            </a:r>
            <a:r>
              <a:rPr lang="en-US" sz="2400" b="1" i="1" baseline="-25000" dirty="0"/>
              <a:t>0</a:t>
            </a:r>
            <a:r>
              <a:rPr lang="en-US" sz="2400" dirty="0"/>
              <a:t> in the circuit:</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7" name="Title 1"/>
          <p:cNvSpPr txBox="1">
            <a:spLocks/>
          </p:cNvSpPr>
          <p:nvPr/>
        </p:nvSpPr>
        <p:spPr bwMode="auto">
          <a:xfrm>
            <a:off x="190500" y="2552700"/>
            <a:ext cx="46482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n-US" sz="2400" b="0" i="0" u="sng" strike="noStrike" kern="1200" cap="none" spc="0" normalizeH="0" baseline="0" noProof="0" dirty="0">
                <a:ln>
                  <a:noFill/>
                </a:ln>
                <a:solidFill>
                  <a:schemeClr val="tx1"/>
                </a:solidFill>
                <a:effectLst/>
                <a:uLnTx/>
                <a:uFillTx/>
                <a:latin typeface="+mj-lt"/>
                <a:ea typeface="+mj-ea"/>
                <a:cs typeface="+mj-cs"/>
              </a:rPr>
              <a:t>Solution:</a:t>
            </a:r>
          </a:p>
        </p:txBody>
      </p:sp>
      <p:pic>
        <p:nvPicPr>
          <p:cNvPr id="324611" name="Picture 3"/>
          <p:cNvPicPr>
            <a:picLocks noChangeAspect="1" noChangeArrowheads="1"/>
          </p:cNvPicPr>
          <p:nvPr/>
        </p:nvPicPr>
        <p:blipFill>
          <a:blip r:embed="rId2" cstate="print"/>
          <a:srcRect/>
          <a:stretch>
            <a:fillRect/>
          </a:stretch>
        </p:blipFill>
        <p:spPr bwMode="auto">
          <a:xfrm>
            <a:off x="2514600" y="5143500"/>
            <a:ext cx="2362200" cy="1643712"/>
          </a:xfrm>
          <a:prstGeom prst="rect">
            <a:avLst/>
          </a:prstGeom>
          <a:noFill/>
          <a:ln w="9525">
            <a:noFill/>
            <a:miter lim="800000"/>
            <a:headEnd/>
            <a:tailEnd/>
          </a:ln>
          <a:effectLst/>
        </p:spPr>
      </p:pic>
      <p:sp>
        <p:nvSpPr>
          <p:cNvPr id="17" name="Right Arrow 16"/>
          <p:cNvSpPr/>
          <p:nvPr/>
        </p:nvSpPr>
        <p:spPr>
          <a:xfrm rot="5400000">
            <a:off x="2857500" y="5067300"/>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8"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8</a:t>
            </a:fld>
            <a:endParaRPr lang="en-US" dirty="0"/>
          </a:p>
        </p:txBody>
      </p:sp>
      <p:pic>
        <p:nvPicPr>
          <p:cNvPr id="19" name="Picture 3"/>
          <p:cNvPicPr>
            <a:picLocks noChangeAspect="1" noChangeArrowheads="1"/>
          </p:cNvPicPr>
          <p:nvPr/>
        </p:nvPicPr>
        <p:blipFill>
          <a:blip r:embed="rId3" cstate="print"/>
          <a:srcRect/>
          <a:stretch>
            <a:fillRect/>
          </a:stretch>
        </p:blipFill>
        <p:spPr bwMode="auto">
          <a:xfrm>
            <a:off x="1409700" y="3390900"/>
            <a:ext cx="3302479" cy="1524000"/>
          </a:xfrm>
          <a:prstGeom prst="rect">
            <a:avLst/>
          </a:prstGeom>
          <a:noFill/>
          <a:ln w="9525">
            <a:noFill/>
            <a:miter lim="800000"/>
            <a:headEnd/>
            <a:tailEnd/>
          </a:ln>
          <a:effectLst/>
        </p:spPr>
      </p:pic>
      <p:sp>
        <p:nvSpPr>
          <p:cNvPr id="21" name="Right Arrow 20"/>
          <p:cNvSpPr/>
          <p:nvPr/>
        </p:nvSpPr>
        <p:spPr>
          <a:xfrm rot="5400000">
            <a:off x="2819400" y="2971800"/>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Rectangle 21"/>
          <p:cNvSpPr/>
          <p:nvPr/>
        </p:nvSpPr>
        <p:spPr>
          <a:xfrm>
            <a:off x="3276600" y="1409700"/>
            <a:ext cx="1638300" cy="1295400"/>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4" name="Rectangle 23"/>
          <p:cNvSpPr/>
          <p:nvPr/>
        </p:nvSpPr>
        <p:spPr>
          <a:xfrm>
            <a:off x="990600" y="1409700"/>
            <a:ext cx="1828800" cy="1295400"/>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5" name="Rectangle 24"/>
          <p:cNvSpPr/>
          <p:nvPr/>
        </p:nvSpPr>
        <p:spPr>
          <a:xfrm>
            <a:off x="3390900" y="3352800"/>
            <a:ext cx="1638300" cy="1562100"/>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6" name="Rectangle 25"/>
          <p:cNvSpPr/>
          <p:nvPr/>
        </p:nvSpPr>
        <p:spPr>
          <a:xfrm>
            <a:off x="1333500" y="3314700"/>
            <a:ext cx="1257300" cy="1600200"/>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7" name="Rectangle 26"/>
          <p:cNvSpPr/>
          <p:nvPr/>
        </p:nvSpPr>
        <p:spPr>
          <a:xfrm>
            <a:off x="3238500" y="2705100"/>
            <a:ext cx="5829481" cy="646331"/>
          </a:xfrm>
          <a:prstGeom prst="rect">
            <a:avLst/>
          </a:prstGeom>
        </p:spPr>
        <p:txBody>
          <a:bodyPr wrap="none">
            <a:spAutoFit/>
          </a:bodyPr>
          <a:lstStyle/>
          <a:p>
            <a:r>
              <a:rPr lang="en-US" dirty="0"/>
              <a:t>Source transformation:</a:t>
            </a:r>
          </a:p>
          <a:p>
            <a:r>
              <a:rPr lang="en-US" b="1" i="1" dirty="0"/>
              <a:t>R</a:t>
            </a:r>
            <a:r>
              <a:rPr lang="en-US" b="1" i="1" baseline="-25000" dirty="0"/>
              <a:t>T</a:t>
            </a:r>
            <a:r>
              <a:rPr lang="en-US" b="1" baseline="-25000" dirty="0"/>
              <a:t> </a:t>
            </a:r>
            <a:r>
              <a:rPr lang="en-US" b="1" dirty="0"/>
              <a:t>= </a:t>
            </a:r>
            <a:r>
              <a:rPr lang="en-US" b="1" i="1" dirty="0"/>
              <a:t>R</a:t>
            </a:r>
            <a:r>
              <a:rPr lang="en-US" b="1" i="1" baseline="-25000" dirty="0"/>
              <a:t>N</a:t>
            </a:r>
            <a:r>
              <a:rPr lang="en-US" b="1" dirty="0"/>
              <a:t>  &amp;  </a:t>
            </a:r>
            <a:r>
              <a:rPr lang="en-US" b="1" i="1" dirty="0" err="1"/>
              <a:t>v</a:t>
            </a:r>
            <a:r>
              <a:rPr lang="en-US" b="1" i="1" baseline="-25000" dirty="0" err="1"/>
              <a:t>T</a:t>
            </a:r>
            <a:r>
              <a:rPr lang="en-US" b="1" baseline="-25000" dirty="0"/>
              <a:t> </a:t>
            </a:r>
            <a:r>
              <a:rPr lang="en-US" b="1" dirty="0"/>
              <a:t>= </a:t>
            </a:r>
            <a:r>
              <a:rPr lang="en-US" b="1" i="1" dirty="0" err="1"/>
              <a:t>R</a:t>
            </a:r>
            <a:r>
              <a:rPr lang="en-US" b="1" i="1" baseline="-25000" dirty="0" err="1"/>
              <a:t>N</a:t>
            </a:r>
            <a:r>
              <a:rPr lang="en-US" b="1" i="1" dirty="0" err="1"/>
              <a:t>i</a:t>
            </a:r>
            <a:r>
              <a:rPr lang="en-US" b="1" i="1" baseline="-25000" dirty="0" err="1"/>
              <a:t>N</a:t>
            </a:r>
            <a:r>
              <a:rPr lang="en-US" b="1" i="1" baseline="-25000" dirty="0"/>
              <a:t>   </a:t>
            </a:r>
            <a:r>
              <a:rPr lang="en-US" dirty="0"/>
              <a:t>(watch the assumed signs here !)</a:t>
            </a:r>
            <a:endParaRPr lang="tr-TR" dirty="0"/>
          </a:p>
        </p:txBody>
      </p:sp>
      <p:grpSp>
        <p:nvGrpSpPr>
          <p:cNvPr id="28" name="Group 27"/>
          <p:cNvGrpSpPr/>
          <p:nvPr/>
        </p:nvGrpSpPr>
        <p:grpSpPr>
          <a:xfrm>
            <a:off x="952500" y="1104900"/>
            <a:ext cx="4038600" cy="1562100"/>
            <a:chOff x="952500" y="1104900"/>
            <a:chExt cx="4038600" cy="1562100"/>
          </a:xfrm>
        </p:grpSpPr>
        <p:pic>
          <p:nvPicPr>
            <p:cNvPr id="29" name="Picture 2"/>
            <p:cNvPicPr>
              <a:picLocks noChangeAspect="1" noChangeArrowheads="1"/>
            </p:cNvPicPr>
            <p:nvPr/>
          </p:nvPicPr>
          <p:blipFill>
            <a:blip r:embed="rId4" cstate="print"/>
            <a:srcRect/>
            <a:stretch>
              <a:fillRect/>
            </a:stretch>
          </p:blipFill>
          <p:spPr bwMode="auto">
            <a:xfrm>
              <a:off x="1101343" y="1181100"/>
              <a:ext cx="3737357" cy="1485900"/>
            </a:xfrm>
            <a:prstGeom prst="rect">
              <a:avLst/>
            </a:prstGeom>
            <a:noFill/>
            <a:ln w="9525">
              <a:noFill/>
              <a:miter lim="800000"/>
              <a:headEnd/>
              <a:tailEnd/>
            </a:ln>
            <a:effectLst/>
          </p:spPr>
        </p:pic>
        <p:sp>
          <p:nvSpPr>
            <p:cNvPr id="30" name="TextBox 29"/>
            <p:cNvSpPr txBox="1"/>
            <p:nvPr/>
          </p:nvSpPr>
          <p:spPr>
            <a:xfrm>
              <a:off x="2705100" y="1104900"/>
              <a:ext cx="685800" cy="307777"/>
            </a:xfrm>
            <a:prstGeom prst="rect">
              <a:avLst/>
            </a:prstGeom>
            <a:solidFill>
              <a:schemeClr val="bg1"/>
            </a:solidFill>
          </p:spPr>
          <p:txBody>
            <a:bodyPr wrap="square" rtlCol="0">
              <a:spAutoFit/>
            </a:bodyPr>
            <a:lstStyle/>
            <a:p>
              <a:r>
                <a:rPr lang="en-US" sz="1400" dirty="0"/>
                <a:t>1 k</a:t>
              </a:r>
              <a:r>
                <a:rPr lang="el-GR" sz="1400" dirty="0"/>
                <a:t>Ω</a:t>
              </a:r>
              <a:endParaRPr lang="tr-TR" sz="1400" dirty="0"/>
            </a:p>
          </p:txBody>
        </p:sp>
        <p:sp>
          <p:nvSpPr>
            <p:cNvPr id="31" name="TextBox 30"/>
            <p:cNvSpPr txBox="1"/>
            <p:nvPr/>
          </p:nvSpPr>
          <p:spPr>
            <a:xfrm>
              <a:off x="3086100" y="1866900"/>
              <a:ext cx="457200" cy="523220"/>
            </a:xfrm>
            <a:prstGeom prst="rect">
              <a:avLst/>
            </a:prstGeom>
            <a:solidFill>
              <a:schemeClr val="bg1"/>
            </a:solidFill>
          </p:spPr>
          <p:txBody>
            <a:bodyPr wrap="square" rtlCol="0">
              <a:spAutoFit/>
            </a:bodyPr>
            <a:lstStyle/>
            <a:p>
              <a:pPr algn="r"/>
              <a:r>
                <a:rPr lang="en-US" sz="1400" dirty="0"/>
                <a:t>2 k</a:t>
              </a:r>
              <a:r>
                <a:rPr lang="el-GR" sz="1400" dirty="0"/>
                <a:t>Ω</a:t>
              </a:r>
              <a:endParaRPr lang="tr-TR" sz="1400" dirty="0"/>
            </a:p>
          </p:txBody>
        </p:sp>
        <p:sp>
          <p:nvSpPr>
            <p:cNvPr id="32" name="TextBox 31"/>
            <p:cNvSpPr txBox="1"/>
            <p:nvPr/>
          </p:nvSpPr>
          <p:spPr>
            <a:xfrm>
              <a:off x="2552700" y="1866900"/>
              <a:ext cx="457200" cy="523220"/>
            </a:xfrm>
            <a:prstGeom prst="rect">
              <a:avLst/>
            </a:prstGeom>
            <a:solidFill>
              <a:schemeClr val="bg1"/>
            </a:solidFill>
          </p:spPr>
          <p:txBody>
            <a:bodyPr wrap="square" rtlCol="0">
              <a:spAutoFit/>
            </a:bodyPr>
            <a:lstStyle/>
            <a:p>
              <a:r>
                <a:rPr lang="en-US" sz="1400" dirty="0"/>
                <a:t>3 k</a:t>
              </a:r>
              <a:r>
                <a:rPr lang="el-GR" sz="1400" dirty="0"/>
                <a:t>Ω</a:t>
              </a:r>
              <a:endParaRPr lang="tr-TR" sz="1400" dirty="0"/>
            </a:p>
          </p:txBody>
        </p:sp>
        <p:sp>
          <p:nvSpPr>
            <p:cNvPr id="33" name="TextBox 32"/>
            <p:cNvSpPr txBox="1"/>
            <p:nvPr/>
          </p:nvSpPr>
          <p:spPr>
            <a:xfrm>
              <a:off x="952500" y="1828800"/>
              <a:ext cx="457200" cy="523220"/>
            </a:xfrm>
            <a:prstGeom prst="rect">
              <a:avLst/>
            </a:prstGeom>
            <a:solidFill>
              <a:schemeClr val="bg1"/>
            </a:solidFill>
          </p:spPr>
          <p:txBody>
            <a:bodyPr wrap="square" rtlCol="0">
              <a:spAutoFit/>
            </a:bodyPr>
            <a:lstStyle/>
            <a:p>
              <a:pPr algn="r"/>
              <a:r>
                <a:rPr lang="en-US" sz="1400" dirty="0"/>
                <a:t>4 </a:t>
              </a:r>
              <a:r>
                <a:rPr lang="en-US" sz="1400" dirty="0" err="1"/>
                <a:t>mA</a:t>
              </a:r>
              <a:endParaRPr lang="tr-TR" sz="1400" dirty="0"/>
            </a:p>
          </p:txBody>
        </p:sp>
        <p:grpSp>
          <p:nvGrpSpPr>
            <p:cNvPr id="34" name="Group 20"/>
            <p:cNvGrpSpPr/>
            <p:nvPr/>
          </p:nvGrpSpPr>
          <p:grpSpPr>
            <a:xfrm>
              <a:off x="1409700" y="1943100"/>
              <a:ext cx="342900" cy="342900"/>
              <a:chOff x="2247900" y="3124200"/>
              <a:chExt cx="342900" cy="342900"/>
            </a:xfrm>
          </p:grpSpPr>
          <p:sp>
            <p:nvSpPr>
              <p:cNvPr id="39" name="Oval 11"/>
              <p:cNvSpPr/>
              <p:nvPr/>
            </p:nvSpPr>
            <p:spPr>
              <a:xfrm>
                <a:off x="2247900" y="3124200"/>
                <a:ext cx="342900" cy="3429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cxnSp>
            <p:nvCxnSpPr>
              <p:cNvPr id="40" name="Straight Arrow Connector 39"/>
              <p:cNvCxnSpPr/>
              <p:nvPr/>
            </p:nvCxnSpPr>
            <p:spPr>
              <a:xfrm rot="16200000" flipV="1">
                <a:off x="2323306" y="3275806"/>
                <a:ext cx="2286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35" name="Group 21"/>
            <p:cNvGrpSpPr/>
            <p:nvPr/>
          </p:nvGrpSpPr>
          <p:grpSpPr>
            <a:xfrm flipV="1">
              <a:off x="4114800" y="1828800"/>
              <a:ext cx="381000" cy="342900"/>
              <a:chOff x="2247900" y="3124200"/>
              <a:chExt cx="342900" cy="342900"/>
            </a:xfrm>
          </p:grpSpPr>
          <p:sp>
            <p:nvSpPr>
              <p:cNvPr id="37" name="Oval 36"/>
              <p:cNvSpPr/>
              <p:nvPr/>
            </p:nvSpPr>
            <p:spPr>
              <a:xfrm>
                <a:off x="2247900" y="3124200"/>
                <a:ext cx="342900" cy="3429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cxnSp>
            <p:nvCxnSpPr>
              <p:cNvPr id="38" name="Straight Arrow Connector 37"/>
              <p:cNvCxnSpPr/>
              <p:nvPr/>
            </p:nvCxnSpPr>
            <p:spPr>
              <a:xfrm rot="16200000" flipV="1">
                <a:off x="2323306" y="3275806"/>
                <a:ext cx="2286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36" name="TextBox 35"/>
            <p:cNvSpPr txBox="1"/>
            <p:nvPr/>
          </p:nvSpPr>
          <p:spPr>
            <a:xfrm>
              <a:off x="4533900" y="1724680"/>
              <a:ext cx="457200" cy="523220"/>
            </a:xfrm>
            <a:prstGeom prst="rect">
              <a:avLst/>
            </a:prstGeom>
            <a:solidFill>
              <a:schemeClr val="bg1"/>
            </a:solidFill>
          </p:spPr>
          <p:txBody>
            <a:bodyPr wrap="square" rtlCol="0">
              <a:spAutoFit/>
            </a:bodyPr>
            <a:lstStyle/>
            <a:p>
              <a:r>
                <a:rPr lang="en-US" sz="1400" dirty="0"/>
                <a:t>2 </a:t>
              </a:r>
              <a:r>
                <a:rPr lang="en-US" sz="1400" dirty="0" err="1"/>
                <a:t>mA</a:t>
              </a:r>
              <a:endParaRPr lang="tr-TR" sz="1400" dirty="0"/>
            </a:p>
          </p:txBody>
        </p:sp>
      </p:grpSp>
      <p:sp>
        <p:nvSpPr>
          <p:cNvPr id="41" name="TextBox 40"/>
          <p:cNvSpPr txBox="1"/>
          <p:nvPr/>
        </p:nvSpPr>
        <p:spPr>
          <a:xfrm>
            <a:off x="2667000" y="3314700"/>
            <a:ext cx="685800" cy="307777"/>
          </a:xfrm>
          <a:prstGeom prst="rect">
            <a:avLst/>
          </a:prstGeom>
          <a:solidFill>
            <a:schemeClr val="bg1"/>
          </a:solidFill>
        </p:spPr>
        <p:txBody>
          <a:bodyPr wrap="square" rtlCol="0">
            <a:spAutoFit/>
          </a:bodyPr>
          <a:lstStyle/>
          <a:p>
            <a:r>
              <a:rPr lang="en-US" sz="1400" dirty="0"/>
              <a:t>1 k</a:t>
            </a:r>
            <a:r>
              <a:rPr lang="el-GR" sz="1400" dirty="0"/>
              <a:t>Ω</a:t>
            </a:r>
            <a:endParaRPr lang="tr-TR" sz="1400" dirty="0"/>
          </a:p>
        </p:txBody>
      </p:sp>
      <p:sp>
        <p:nvSpPr>
          <p:cNvPr id="42" name="TextBox 41"/>
          <p:cNvSpPr txBox="1"/>
          <p:nvPr/>
        </p:nvSpPr>
        <p:spPr>
          <a:xfrm>
            <a:off x="1981200" y="3314700"/>
            <a:ext cx="571500" cy="307777"/>
          </a:xfrm>
          <a:prstGeom prst="rect">
            <a:avLst/>
          </a:prstGeom>
          <a:solidFill>
            <a:schemeClr val="bg1"/>
          </a:solidFill>
        </p:spPr>
        <p:txBody>
          <a:bodyPr wrap="square" rtlCol="0">
            <a:spAutoFit/>
          </a:bodyPr>
          <a:lstStyle/>
          <a:p>
            <a:r>
              <a:rPr lang="en-US" sz="1400" dirty="0"/>
              <a:t>3 k</a:t>
            </a:r>
            <a:r>
              <a:rPr lang="el-GR" sz="1400" dirty="0"/>
              <a:t>Ω</a:t>
            </a:r>
            <a:endParaRPr lang="tr-TR" sz="1400" dirty="0"/>
          </a:p>
        </p:txBody>
      </p:sp>
      <p:sp>
        <p:nvSpPr>
          <p:cNvPr id="43" name="TextBox 42"/>
          <p:cNvSpPr txBox="1"/>
          <p:nvPr/>
        </p:nvSpPr>
        <p:spPr>
          <a:xfrm>
            <a:off x="3505200" y="3314700"/>
            <a:ext cx="685800" cy="307777"/>
          </a:xfrm>
          <a:prstGeom prst="rect">
            <a:avLst/>
          </a:prstGeom>
          <a:solidFill>
            <a:schemeClr val="bg1"/>
          </a:solidFill>
        </p:spPr>
        <p:txBody>
          <a:bodyPr wrap="square" rtlCol="0">
            <a:spAutoFit/>
          </a:bodyPr>
          <a:lstStyle/>
          <a:p>
            <a:r>
              <a:rPr lang="en-US" sz="1400" dirty="0"/>
              <a:t>2 k</a:t>
            </a:r>
            <a:r>
              <a:rPr lang="el-GR" sz="1400" dirty="0"/>
              <a:t>Ω</a:t>
            </a:r>
            <a:endParaRPr lang="tr-TR" sz="1400" dirty="0"/>
          </a:p>
        </p:txBody>
      </p:sp>
      <p:sp>
        <p:nvSpPr>
          <p:cNvPr id="44" name="TextBox 43"/>
          <p:cNvSpPr txBox="1"/>
          <p:nvPr/>
        </p:nvSpPr>
        <p:spPr>
          <a:xfrm>
            <a:off x="1790700" y="4073723"/>
            <a:ext cx="571500" cy="307777"/>
          </a:xfrm>
          <a:prstGeom prst="rect">
            <a:avLst/>
          </a:prstGeom>
          <a:solidFill>
            <a:schemeClr val="bg1"/>
          </a:solidFill>
        </p:spPr>
        <p:txBody>
          <a:bodyPr wrap="square" rtlCol="0">
            <a:spAutoFit/>
          </a:bodyPr>
          <a:lstStyle/>
          <a:p>
            <a:r>
              <a:rPr lang="en-US" sz="1400" dirty="0"/>
              <a:t>12 V</a:t>
            </a:r>
            <a:endParaRPr lang="tr-TR" sz="1400" dirty="0"/>
          </a:p>
        </p:txBody>
      </p:sp>
      <p:sp>
        <p:nvSpPr>
          <p:cNvPr id="45" name="TextBox 44"/>
          <p:cNvSpPr txBox="1"/>
          <p:nvPr/>
        </p:nvSpPr>
        <p:spPr>
          <a:xfrm>
            <a:off x="4343400" y="4038600"/>
            <a:ext cx="571500" cy="307777"/>
          </a:xfrm>
          <a:prstGeom prst="rect">
            <a:avLst/>
          </a:prstGeom>
          <a:solidFill>
            <a:schemeClr val="bg1"/>
          </a:solidFill>
        </p:spPr>
        <p:txBody>
          <a:bodyPr wrap="square" rtlCol="0">
            <a:spAutoFit/>
          </a:bodyPr>
          <a:lstStyle/>
          <a:p>
            <a:r>
              <a:rPr lang="en-US" sz="1400" dirty="0"/>
              <a:t>-4 V</a:t>
            </a:r>
            <a:endParaRPr lang="tr-TR" sz="1400" dirty="0"/>
          </a:p>
        </p:txBody>
      </p:sp>
      <p:sp>
        <p:nvSpPr>
          <p:cNvPr id="46" name="TextBox 45"/>
          <p:cNvSpPr txBox="1"/>
          <p:nvPr/>
        </p:nvSpPr>
        <p:spPr>
          <a:xfrm>
            <a:off x="2933700" y="6057900"/>
            <a:ext cx="571500" cy="307777"/>
          </a:xfrm>
          <a:prstGeom prst="rect">
            <a:avLst/>
          </a:prstGeom>
          <a:solidFill>
            <a:schemeClr val="bg1"/>
          </a:solidFill>
        </p:spPr>
        <p:txBody>
          <a:bodyPr wrap="square" rtlCol="0">
            <a:spAutoFit/>
          </a:bodyPr>
          <a:lstStyle/>
          <a:p>
            <a:r>
              <a:rPr lang="en-US" sz="1400" dirty="0"/>
              <a:t>12 V</a:t>
            </a:r>
            <a:endParaRPr lang="tr-TR" sz="1400" dirty="0"/>
          </a:p>
        </p:txBody>
      </p:sp>
      <p:sp>
        <p:nvSpPr>
          <p:cNvPr id="47" name="TextBox 46"/>
          <p:cNvSpPr txBox="1"/>
          <p:nvPr/>
        </p:nvSpPr>
        <p:spPr>
          <a:xfrm>
            <a:off x="4419600" y="6019800"/>
            <a:ext cx="571500" cy="307777"/>
          </a:xfrm>
          <a:prstGeom prst="rect">
            <a:avLst/>
          </a:prstGeom>
          <a:solidFill>
            <a:schemeClr val="bg1"/>
          </a:solidFill>
        </p:spPr>
        <p:txBody>
          <a:bodyPr wrap="square" rtlCol="0">
            <a:spAutoFit/>
          </a:bodyPr>
          <a:lstStyle/>
          <a:p>
            <a:r>
              <a:rPr lang="en-US" sz="1400" dirty="0"/>
              <a:t>-4 V</a:t>
            </a:r>
            <a:endParaRPr lang="tr-TR" sz="1400" dirty="0"/>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 (N &amp; R Problem 4.59a)</a:t>
            </a:r>
          </a:p>
        </p:txBody>
      </p:sp>
      <p:sp>
        <p:nvSpPr>
          <p:cNvPr id="14" name="Content Placeholder 13"/>
          <p:cNvSpPr>
            <a:spLocks noGrp="1"/>
          </p:cNvSpPr>
          <p:nvPr>
            <p:ph idx="1"/>
          </p:nvPr>
        </p:nvSpPr>
        <p:spPr>
          <a:xfrm>
            <a:off x="457200" y="685801"/>
            <a:ext cx="8229600" cy="5440364"/>
          </a:xfrm>
        </p:spPr>
        <p:txBody>
          <a:bodyPr/>
          <a:lstStyle/>
          <a:p>
            <a:pPr>
              <a:buNone/>
            </a:pPr>
            <a:r>
              <a:rPr lang="en-US" sz="2400" dirty="0"/>
              <a:t>Use a series of source transformations to find the current </a:t>
            </a:r>
            <a:r>
              <a:rPr lang="en-US" sz="2400" b="1" i="1" dirty="0"/>
              <a:t>i</a:t>
            </a:r>
            <a:r>
              <a:rPr lang="en-US" sz="2400" b="1" i="1" baseline="-25000" dirty="0"/>
              <a:t>0</a:t>
            </a:r>
            <a:r>
              <a:rPr lang="en-US" sz="2400" dirty="0"/>
              <a:t> in the circuit:</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7" name="Title 1"/>
          <p:cNvSpPr txBox="1">
            <a:spLocks/>
          </p:cNvSpPr>
          <p:nvPr/>
        </p:nvSpPr>
        <p:spPr bwMode="auto">
          <a:xfrm>
            <a:off x="190500" y="2552700"/>
            <a:ext cx="46482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n-US" sz="2400" b="0" i="0" u="sng" strike="noStrike" kern="1200" cap="none" spc="0" normalizeH="0" baseline="0" noProof="0" dirty="0">
                <a:ln>
                  <a:noFill/>
                </a:ln>
                <a:solidFill>
                  <a:schemeClr val="tx1"/>
                </a:solidFill>
                <a:effectLst/>
                <a:uLnTx/>
                <a:uFillTx/>
                <a:latin typeface="+mj-lt"/>
                <a:ea typeface="+mj-ea"/>
                <a:cs typeface="+mj-cs"/>
              </a:rPr>
              <a:t>Solution:</a:t>
            </a:r>
          </a:p>
        </p:txBody>
      </p:sp>
      <p:pic>
        <p:nvPicPr>
          <p:cNvPr id="324613" name="Picture 5"/>
          <p:cNvPicPr>
            <a:picLocks noChangeAspect="1" noChangeArrowheads="1"/>
          </p:cNvPicPr>
          <p:nvPr/>
        </p:nvPicPr>
        <p:blipFill>
          <a:blip r:embed="rId2" cstate="print"/>
          <a:srcRect/>
          <a:stretch>
            <a:fillRect/>
          </a:stretch>
        </p:blipFill>
        <p:spPr bwMode="auto">
          <a:xfrm>
            <a:off x="5867400" y="5151194"/>
            <a:ext cx="1752600" cy="1634636"/>
          </a:xfrm>
          <a:prstGeom prst="rect">
            <a:avLst/>
          </a:prstGeom>
          <a:noFill/>
          <a:ln w="9525">
            <a:noFill/>
            <a:miter lim="800000"/>
            <a:headEnd/>
            <a:tailEnd/>
          </a:ln>
          <a:effectLst/>
        </p:spPr>
      </p:pic>
      <p:sp>
        <p:nvSpPr>
          <p:cNvPr id="22" name="Right Arrow 21"/>
          <p:cNvSpPr/>
          <p:nvPr/>
        </p:nvSpPr>
        <p:spPr>
          <a:xfrm>
            <a:off x="5219700" y="5905500"/>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9" name="TextBox 18"/>
          <p:cNvSpPr txBox="1"/>
          <p:nvPr/>
        </p:nvSpPr>
        <p:spPr>
          <a:xfrm>
            <a:off x="6019800" y="4419600"/>
            <a:ext cx="3038011" cy="646331"/>
          </a:xfrm>
          <a:prstGeom prst="rect">
            <a:avLst/>
          </a:prstGeom>
          <a:noFill/>
        </p:spPr>
        <p:txBody>
          <a:bodyPr wrap="none" rtlCol="0">
            <a:spAutoFit/>
          </a:bodyPr>
          <a:lstStyle/>
          <a:p>
            <a:r>
              <a:rPr lang="en-US" dirty="0"/>
              <a:t>Using Ohm’s Law:</a:t>
            </a:r>
          </a:p>
          <a:p>
            <a:r>
              <a:rPr lang="en-US" i="1" dirty="0"/>
              <a:t>i</a:t>
            </a:r>
            <a:r>
              <a:rPr lang="en-US" i="1" baseline="-25000" dirty="0"/>
              <a:t>0</a:t>
            </a:r>
            <a:r>
              <a:rPr lang="en-US" i="1" dirty="0"/>
              <a:t> </a:t>
            </a:r>
            <a:r>
              <a:rPr lang="en-US" dirty="0"/>
              <a:t>= -16 V / 6</a:t>
            </a:r>
            <a:r>
              <a:rPr lang="el-GR" dirty="0"/>
              <a:t> </a:t>
            </a:r>
            <a:r>
              <a:rPr lang="en-US" dirty="0"/>
              <a:t>k</a:t>
            </a:r>
            <a:r>
              <a:rPr lang="el-GR" dirty="0"/>
              <a:t>Ω</a:t>
            </a:r>
            <a:r>
              <a:rPr lang="en-US" dirty="0"/>
              <a:t> = -</a:t>
            </a:r>
            <a:r>
              <a:rPr lang="en-US" b="1" dirty="0"/>
              <a:t>2.67 </a:t>
            </a:r>
            <a:r>
              <a:rPr lang="en-US" b="1" dirty="0" err="1"/>
              <a:t>mA</a:t>
            </a:r>
            <a:endParaRPr lang="tr-TR" b="1" dirty="0"/>
          </a:p>
        </p:txBody>
      </p:sp>
      <p:sp>
        <p:nvSpPr>
          <p:cNvPr id="24"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9</a:t>
            </a:fld>
            <a:endParaRPr lang="en-US" dirty="0"/>
          </a:p>
        </p:txBody>
      </p:sp>
      <p:pic>
        <p:nvPicPr>
          <p:cNvPr id="21" name="Picture 3"/>
          <p:cNvPicPr>
            <a:picLocks noChangeAspect="1" noChangeArrowheads="1"/>
          </p:cNvPicPr>
          <p:nvPr/>
        </p:nvPicPr>
        <p:blipFill>
          <a:blip r:embed="rId3" cstate="print"/>
          <a:srcRect/>
          <a:stretch>
            <a:fillRect/>
          </a:stretch>
        </p:blipFill>
        <p:spPr bwMode="auto">
          <a:xfrm>
            <a:off x="2514600" y="5143500"/>
            <a:ext cx="2362200" cy="1643712"/>
          </a:xfrm>
          <a:prstGeom prst="rect">
            <a:avLst/>
          </a:prstGeom>
          <a:noFill/>
          <a:ln w="9525">
            <a:noFill/>
            <a:miter lim="800000"/>
            <a:headEnd/>
            <a:tailEnd/>
          </a:ln>
          <a:effectLst/>
        </p:spPr>
      </p:pic>
      <p:sp>
        <p:nvSpPr>
          <p:cNvPr id="25" name="Right Arrow 24"/>
          <p:cNvSpPr/>
          <p:nvPr/>
        </p:nvSpPr>
        <p:spPr>
          <a:xfrm rot="5400000">
            <a:off x="2857500" y="5067300"/>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6" name="Picture 3"/>
          <p:cNvPicPr>
            <a:picLocks noChangeAspect="1" noChangeArrowheads="1"/>
          </p:cNvPicPr>
          <p:nvPr/>
        </p:nvPicPr>
        <p:blipFill>
          <a:blip r:embed="rId4" cstate="print"/>
          <a:srcRect/>
          <a:stretch>
            <a:fillRect/>
          </a:stretch>
        </p:blipFill>
        <p:spPr bwMode="auto">
          <a:xfrm>
            <a:off x="1409700" y="3390900"/>
            <a:ext cx="3302479" cy="1524000"/>
          </a:xfrm>
          <a:prstGeom prst="rect">
            <a:avLst/>
          </a:prstGeom>
          <a:noFill/>
          <a:ln w="9525">
            <a:noFill/>
            <a:miter lim="800000"/>
            <a:headEnd/>
            <a:tailEnd/>
          </a:ln>
          <a:effectLst/>
        </p:spPr>
      </p:pic>
      <p:sp>
        <p:nvSpPr>
          <p:cNvPr id="27" name="Right Arrow 26"/>
          <p:cNvSpPr/>
          <p:nvPr/>
        </p:nvSpPr>
        <p:spPr>
          <a:xfrm rot="5400000">
            <a:off x="2819400" y="2971800"/>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8" name="Rectangle 27"/>
          <p:cNvSpPr/>
          <p:nvPr/>
        </p:nvSpPr>
        <p:spPr>
          <a:xfrm>
            <a:off x="3276600" y="1409700"/>
            <a:ext cx="1638300" cy="1295400"/>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9" name="Rectangle 28"/>
          <p:cNvSpPr/>
          <p:nvPr/>
        </p:nvSpPr>
        <p:spPr>
          <a:xfrm>
            <a:off x="990600" y="1409700"/>
            <a:ext cx="1828800" cy="1295400"/>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0" name="Rectangle 29"/>
          <p:cNvSpPr/>
          <p:nvPr/>
        </p:nvSpPr>
        <p:spPr>
          <a:xfrm>
            <a:off x="3390900" y="3352800"/>
            <a:ext cx="1638300" cy="1562100"/>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1" name="Rectangle 30"/>
          <p:cNvSpPr/>
          <p:nvPr/>
        </p:nvSpPr>
        <p:spPr>
          <a:xfrm>
            <a:off x="1333500" y="3314700"/>
            <a:ext cx="1257300" cy="1600200"/>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2" name="Rectangle 31"/>
          <p:cNvSpPr/>
          <p:nvPr/>
        </p:nvSpPr>
        <p:spPr>
          <a:xfrm>
            <a:off x="3238500" y="2705100"/>
            <a:ext cx="5829481" cy="646331"/>
          </a:xfrm>
          <a:prstGeom prst="rect">
            <a:avLst/>
          </a:prstGeom>
        </p:spPr>
        <p:txBody>
          <a:bodyPr wrap="none">
            <a:spAutoFit/>
          </a:bodyPr>
          <a:lstStyle/>
          <a:p>
            <a:r>
              <a:rPr lang="en-US" dirty="0"/>
              <a:t>Source transformation:</a:t>
            </a:r>
          </a:p>
          <a:p>
            <a:r>
              <a:rPr lang="en-US" b="1" i="1" dirty="0"/>
              <a:t>R</a:t>
            </a:r>
            <a:r>
              <a:rPr lang="en-US" b="1" i="1" baseline="-25000" dirty="0"/>
              <a:t>T</a:t>
            </a:r>
            <a:r>
              <a:rPr lang="en-US" b="1" baseline="-25000" dirty="0"/>
              <a:t> </a:t>
            </a:r>
            <a:r>
              <a:rPr lang="en-US" b="1" dirty="0"/>
              <a:t>= </a:t>
            </a:r>
            <a:r>
              <a:rPr lang="en-US" b="1" i="1" dirty="0"/>
              <a:t>R</a:t>
            </a:r>
            <a:r>
              <a:rPr lang="en-US" b="1" i="1" baseline="-25000" dirty="0"/>
              <a:t>N</a:t>
            </a:r>
            <a:r>
              <a:rPr lang="en-US" b="1" dirty="0"/>
              <a:t>  &amp;  </a:t>
            </a:r>
            <a:r>
              <a:rPr lang="en-US" b="1" i="1" dirty="0" err="1"/>
              <a:t>v</a:t>
            </a:r>
            <a:r>
              <a:rPr lang="en-US" b="1" i="1" baseline="-25000" dirty="0" err="1"/>
              <a:t>T</a:t>
            </a:r>
            <a:r>
              <a:rPr lang="en-US" b="1" baseline="-25000" dirty="0"/>
              <a:t> </a:t>
            </a:r>
            <a:r>
              <a:rPr lang="en-US" b="1" dirty="0"/>
              <a:t>= </a:t>
            </a:r>
            <a:r>
              <a:rPr lang="en-US" b="1" i="1" dirty="0" err="1"/>
              <a:t>R</a:t>
            </a:r>
            <a:r>
              <a:rPr lang="en-US" b="1" i="1" baseline="-25000" dirty="0" err="1"/>
              <a:t>N</a:t>
            </a:r>
            <a:r>
              <a:rPr lang="en-US" b="1" i="1" dirty="0" err="1"/>
              <a:t>i</a:t>
            </a:r>
            <a:r>
              <a:rPr lang="en-US" b="1" i="1" baseline="-25000" dirty="0" err="1"/>
              <a:t>N</a:t>
            </a:r>
            <a:r>
              <a:rPr lang="en-US" b="1" i="1" baseline="-25000" dirty="0"/>
              <a:t>   </a:t>
            </a:r>
            <a:r>
              <a:rPr lang="en-US" dirty="0"/>
              <a:t>(watch the assumed signs here !)</a:t>
            </a:r>
            <a:endParaRPr lang="tr-TR" dirty="0"/>
          </a:p>
        </p:txBody>
      </p:sp>
      <p:grpSp>
        <p:nvGrpSpPr>
          <p:cNvPr id="33" name="Group 32"/>
          <p:cNvGrpSpPr/>
          <p:nvPr/>
        </p:nvGrpSpPr>
        <p:grpSpPr>
          <a:xfrm>
            <a:off x="952500" y="1104900"/>
            <a:ext cx="4038600" cy="1562100"/>
            <a:chOff x="952500" y="1104900"/>
            <a:chExt cx="4038600" cy="1562100"/>
          </a:xfrm>
        </p:grpSpPr>
        <p:pic>
          <p:nvPicPr>
            <p:cNvPr id="34" name="Picture 2"/>
            <p:cNvPicPr>
              <a:picLocks noChangeAspect="1" noChangeArrowheads="1"/>
            </p:cNvPicPr>
            <p:nvPr/>
          </p:nvPicPr>
          <p:blipFill>
            <a:blip r:embed="rId5" cstate="print"/>
            <a:srcRect/>
            <a:stretch>
              <a:fillRect/>
            </a:stretch>
          </p:blipFill>
          <p:spPr bwMode="auto">
            <a:xfrm>
              <a:off x="1101343" y="1181100"/>
              <a:ext cx="3737357" cy="1485900"/>
            </a:xfrm>
            <a:prstGeom prst="rect">
              <a:avLst/>
            </a:prstGeom>
            <a:noFill/>
            <a:ln w="9525">
              <a:noFill/>
              <a:miter lim="800000"/>
              <a:headEnd/>
              <a:tailEnd/>
            </a:ln>
            <a:effectLst/>
          </p:spPr>
        </p:pic>
        <p:sp>
          <p:nvSpPr>
            <p:cNvPr id="35" name="TextBox 34"/>
            <p:cNvSpPr txBox="1"/>
            <p:nvPr/>
          </p:nvSpPr>
          <p:spPr>
            <a:xfrm>
              <a:off x="2705100" y="1104900"/>
              <a:ext cx="685800" cy="307777"/>
            </a:xfrm>
            <a:prstGeom prst="rect">
              <a:avLst/>
            </a:prstGeom>
            <a:solidFill>
              <a:schemeClr val="bg1"/>
            </a:solidFill>
          </p:spPr>
          <p:txBody>
            <a:bodyPr wrap="square" rtlCol="0">
              <a:spAutoFit/>
            </a:bodyPr>
            <a:lstStyle/>
            <a:p>
              <a:r>
                <a:rPr lang="en-US" sz="1400" dirty="0"/>
                <a:t>1 k</a:t>
              </a:r>
              <a:r>
                <a:rPr lang="el-GR" sz="1400" dirty="0"/>
                <a:t>Ω</a:t>
              </a:r>
              <a:endParaRPr lang="tr-TR" sz="1400" dirty="0"/>
            </a:p>
          </p:txBody>
        </p:sp>
        <p:sp>
          <p:nvSpPr>
            <p:cNvPr id="36" name="TextBox 35"/>
            <p:cNvSpPr txBox="1"/>
            <p:nvPr/>
          </p:nvSpPr>
          <p:spPr>
            <a:xfrm>
              <a:off x="3086100" y="1866900"/>
              <a:ext cx="457200" cy="523220"/>
            </a:xfrm>
            <a:prstGeom prst="rect">
              <a:avLst/>
            </a:prstGeom>
            <a:solidFill>
              <a:schemeClr val="bg1"/>
            </a:solidFill>
          </p:spPr>
          <p:txBody>
            <a:bodyPr wrap="square" rtlCol="0">
              <a:spAutoFit/>
            </a:bodyPr>
            <a:lstStyle/>
            <a:p>
              <a:pPr algn="r"/>
              <a:r>
                <a:rPr lang="en-US" sz="1400" dirty="0"/>
                <a:t>2 k</a:t>
              </a:r>
              <a:r>
                <a:rPr lang="el-GR" sz="1400" dirty="0"/>
                <a:t>Ω</a:t>
              </a:r>
              <a:endParaRPr lang="tr-TR" sz="1400" dirty="0"/>
            </a:p>
          </p:txBody>
        </p:sp>
        <p:sp>
          <p:nvSpPr>
            <p:cNvPr id="37" name="TextBox 36"/>
            <p:cNvSpPr txBox="1"/>
            <p:nvPr/>
          </p:nvSpPr>
          <p:spPr>
            <a:xfrm>
              <a:off x="2552700" y="1866900"/>
              <a:ext cx="457200" cy="523220"/>
            </a:xfrm>
            <a:prstGeom prst="rect">
              <a:avLst/>
            </a:prstGeom>
            <a:solidFill>
              <a:schemeClr val="bg1"/>
            </a:solidFill>
          </p:spPr>
          <p:txBody>
            <a:bodyPr wrap="square" rtlCol="0">
              <a:spAutoFit/>
            </a:bodyPr>
            <a:lstStyle/>
            <a:p>
              <a:r>
                <a:rPr lang="en-US" sz="1400" dirty="0"/>
                <a:t>3 k</a:t>
              </a:r>
              <a:r>
                <a:rPr lang="el-GR" sz="1400" dirty="0"/>
                <a:t>Ω</a:t>
              </a:r>
              <a:endParaRPr lang="tr-TR" sz="1400" dirty="0"/>
            </a:p>
          </p:txBody>
        </p:sp>
        <p:sp>
          <p:nvSpPr>
            <p:cNvPr id="38" name="TextBox 37"/>
            <p:cNvSpPr txBox="1"/>
            <p:nvPr/>
          </p:nvSpPr>
          <p:spPr>
            <a:xfrm>
              <a:off x="952500" y="1828800"/>
              <a:ext cx="457200" cy="523220"/>
            </a:xfrm>
            <a:prstGeom prst="rect">
              <a:avLst/>
            </a:prstGeom>
            <a:solidFill>
              <a:schemeClr val="bg1"/>
            </a:solidFill>
          </p:spPr>
          <p:txBody>
            <a:bodyPr wrap="square" rtlCol="0">
              <a:spAutoFit/>
            </a:bodyPr>
            <a:lstStyle/>
            <a:p>
              <a:pPr algn="r"/>
              <a:r>
                <a:rPr lang="en-US" sz="1400" dirty="0"/>
                <a:t>4 </a:t>
              </a:r>
              <a:r>
                <a:rPr lang="en-US" sz="1400" dirty="0" err="1"/>
                <a:t>mA</a:t>
              </a:r>
              <a:endParaRPr lang="tr-TR" sz="1400" dirty="0"/>
            </a:p>
          </p:txBody>
        </p:sp>
        <p:grpSp>
          <p:nvGrpSpPr>
            <p:cNvPr id="39" name="Group 20"/>
            <p:cNvGrpSpPr/>
            <p:nvPr/>
          </p:nvGrpSpPr>
          <p:grpSpPr>
            <a:xfrm>
              <a:off x="1409700" y="1943100"/>
              <a:ext cx="342900" cy="342900"/>
              <a:chOff x="2247900" y="3124200"/>
              <a:chExt cx="342900" cy="342900"/>
            </a:xfrm>
          </p:grpSpPr>
          <p:sp>
            <p:nvSpPr>
              <p:cNvPr id="44" name="Oval 11"/>
              <p:cNvSpPr/>
              <p:nvPr/>
            </p:nvSpPr>
            <p:spPr>
              <a:xfrm>
                <a:off x="2247900" y="3124200"/>
                <a:ext cx="342900" cy="3429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cxnSp>
            <p:nvCxnSpPr>
              <p:cNvPr id="45" name="Straight Arrow Connector 44"/>
              <p:cNvCxnSpPr/>
              <p:nvPr/>
            </p:nvCxnSpPr>
            <p:spPr>
              <a:xfrm rot="16200000" flipV="1">
                <a:off x="2323306" y="3275806"/>
                <a:ext cx="2286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40" name="Group 21"/>
            <p:cNvGrpSpPr/>
            <p:nvPr/>
          </p:nvGrpSpPr>
          <p:grpSpPr>
            <a:xfrm flipV="1">
              <a:off x="4114800" y="1828800"/>
              <a:ext cx="381000" cy="342900"/>
              <a:chOff x="2247900" y="3124200"/>
              <a:chExt cx="342900" cy="342900"/>
            </a:xfrm>
          </p:grpSpPr>
          <p:sp>
            <p:nvSpPr>
              <p:cNvPr id="42" name="Oval 41"/>
              <p:cNvSpPr/>
              <p:nvPr/>
            </p:nvSpPr>
            <p:spPr>
              <a:xfrm>
                <a:off x="2247900" y="3124200"/>
                <a:ext cx="342900" cy="3429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cxnSp>
            <p:nvCxnSpPr>
              <p:cNvPr id="43" name="Straight Arrow Connector 42"/>
              <p:cNvCxnSpPr/>
              <p:nvPr/>
            </p:nvCxnSpPr>
            <p:spPr>
              <a:xfrm rot="16200000" flipV="1">
                <a:off x="2323306" y="3275806"/>
                <a:ext cx="2286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41" name="TextBox 40"/>
            <p:cNvSpPr txBox="1"/>
            <p:nvPr/>
          </p:nvSpPr>
          <p:spPr>
            <a:xfrm>
              <a:off x="4533900" y="1724680"/>
              <a:ext cx="457200" cy="523220"/>
            </a:xfrm>
            <a:prstGeom prst="rect">
              <a:avLst/>
            </a:prstGeom>
            <a:solidFill>
              <a:schemeClr val="bg1"/>
            </a:solidFill>
          </p:spPr>
          <p:txBody>
            <a:bodyPr wrap="square" rtlCol="0">
              <a:spAutoFit/>
            </a:bodyPr>
            <a:lstStyle/>
            <a:p>
              <a:r>
                <a:rPr lang="en-US" sz="1400" dirty="0"/>
                <a:t>2 </a:t>
              </a:r>
              <a:r>
                <a:rPr lang="en-US" sz="1400" dirty="0" err="1"/>
                <a:t>mA</a:t>
              </a:r>
              <a:endParaRPr lang="tr-TR" sz="1400" dirty="0"/>
            </a:p>
          </p:txBody>
        </p:sp>
      </p:grpSp>
      <p:sp>
        <p:nvSpPr>
          <p:cNvPr id="46" name="TextBox 45"/>
          <p:cNvSpPr txBox="1"/>
          <p:nvPr/>
        </p:nvSpPr>
        <p:spPr>
          <a:xfrm>
            <a:off x="2667000" y="3314700"/>
            <a:ext cx="685800" cy="307777"/>
          </a:xfrm>
          <a:prstGeom prst="rect">
            <a:avLst/>
          </a:prstGeom>
          <a:solidFill>
            <a:schemeClr val="bg1"/>
          </a:solidFill>
        </p:spPr>
        <p:txBody>
          <a:bodyPr wrap="square" rtlCol="0">
            <a:spAutoFit/>
          </a:bodyPr>
          <a:lstStyle/>
          <a:p>
            <a:r>
              <a:rPr lang="en-US" sz="1400" dirty="0"/>
              <a:t>1 k</a:t>
            </a:r>
            <a:r>
              <a:rPr lang="el-GR" sz="1400" dirty="0"/>
              <a:t>Ω</a:t>
            </a:r>
            <a:endParaRPr lang="tr-TR" sz="1400" dirty="0"/>
          </a:p>
        </p:txBody>
      </p:sp>
      <p:sp>
        <p:nvSpPr>
          <p:cNvPr id="47" name="TextBox 46"/>
          <p:cNvSpPr txBox="1"/>
          <p:nvPr/>
        </p:nvSpPr>
        <p:spPr>
          <a:xfrm>
            <a:off x="1981200" y="3314700"/>
            <a:ext cx="571500" cy="307777"/>
          </a:xfrm>
          <a:prstGeom prst="rect">
            <a:avLst/>
          </a:prstGeom>
          <a:solidFill>
            <a:schemeClr val="bg1"/>
          </a:solidFill>
        </p:spPr>
        <p:txBody>
          <a:bodyPr wrap="square" rtlCol="0">
            <a:spAutoFit/>
          </a:bodyPr>
          <a:lstStyle/>
          <a:p>
            <a:r>
              <a:rPr lang="en-US" sz="1400" dirty="0"/>
              <a:t>3 k</a:t>
            </a:r>
            <a:r>
              <a:rPr lang="el-GR" sz="1400" dirty="0"/>
              <a:t>Ω</a:t>
            </a:r>
            <a:endParaRPr lang="tr-TR" sz="1400" dirty="0"/>
          </a:p>
        </p:txBody>
      </p:sp>
      <p:sp>
        <p:nvSpPr>
          <p:cNvPr id="48" name="TextBox 47"/>
          <p:cNvSpPr txBox="1"/>
          <p:nvPr/>
        </p:nvSpPr>
        <p:spPr>
          <a:xfrm>
            <a:off x="3505200" y="3314700"/>
            <a:ext cx="685800" cy="307777"/>
          </a:xfrm>
          <a:prstGeom prst="rect">
            <a:avLst/>
          </a:prstGeom>
          <a:solidFill>
            <a:schemeClr val="bg1"/>
          </a:solidFill>
        </p:spPr>
        <p:txBody>
          <a:bodyPr wrap="square" rtlCol="0">
            <a:spAutoFit/>
          </a:bodyPr>
          <a:lstStyle/>
          <a:p>
            <a:r>
              <a:rPr lang="en-US" sz="1400" dirty="0"/>
              <a:t>2 k</a:t>
            </a:r>
            <a:r>
              <a:rPr lang="el-GR" sz="1400" dirty="0"/>
              <a:t>Ω</a:t>
            </a:r>
            <a:endParaRPr lang="tr-TR" sz="1400" dirty="0"/>
          </a:p>
        </p:txBody>
      </p:sp>
      <p:sp>
        <p:nvSpPr>
          <p:cNvPr id="49" name="TextBox 48"/>
          <p:cNvSpPr txBox="1"/>
          <p:nvPr/>
        </p:nvSpPr>
        <p:spPr>
          <a:xfrm>
            <a:off x="1790700" y="4073723"/>
            <a:ext cx="571500" cy="307777"/>
          </a:xfrm>
          <a:prstGeom prst="rect">
            <a:avLst/>
          </a:prstGeom>
          <a:solidFill>
            <a:schemeClr val="bg1"/>
          </a:solidFill>
        </p:spPr>
        <p:txBody>
          <a:bodyPr wrap="square" rtlCol="0">
            <a:spAutoFit/>
          </a:bodyPr>
          <a:lstStyle/>
          <a:p>
            <a:r>
              <a:rPr lang="en-US" sz="1400" dirty="0"/>
              <a:t>12 V</a:t>
            </a:r>
            <a:endParaRPr lang="tr-TR" sz="1400" dirty="0"/>
          </a:p>
        </p:txBody>
      </p:sp>
      <p:sp>
        <p:nvSpPr>
          <p:cNvPr id="50" name="TextBox 49"/>
          <p:cNvSpPr txBox="1"/>
          <p:nvPr/>
        </p:nvSpPr>
        <p:spPr>
          <a:xfrm>
            <a:off x="4343400" y="4038600"/>
            <a:ext cx="571500" cy="307777"/>
          </a:xfrm>
          <a:prstGeom prst="rect">
            <a:avLst/>
          </a:prstGeom>
          <a:solidFill>
            <a:schemeClr val="bg1"/>
          </a:solidFill>
        </p:spPr>
        <p:txBody>
          <a:bodyPr wrap="square" rtlCol="0">
            <a:spAutoFit/>
          </a:bodyPr>
          <a:lstStyle/>
          <a:p>
            <a:r>
              <a:rPr lang="en-US" sz="1400" dirty="0"/>
              <a:t>-4 V</a:t>
            </a:r>
            <a:endParaRPr lang="tr-TR" sz="1400" dirty="0"/>
          </a:p>
        </p:txBody>
      </p:sp>
      <p:sp>
        <p:nvSpPr>
          <p:cNvPr id="51" name="TextBox 50"/>
          <p:cNvSpPr txBox="1"/>
          <p:nvPr/>
        </p:nvSpPr>
        <p:spPr>
          <a:xfrm>
            <a:off x="2933700" y="6057900"/>
            <a:ext cx="571500" cy="307777"/>
          </a:xfrm>
          <a:prstGeom prst="rect">
            <a:avLst/>
          </a:prstGeom>
          <a:solidFill>
            <a:schemeClr val="bg1"/>
          </a:solidFill>
        </p:spPr>
        <p:txBody>
          <a:bodyPr wrap="square" rtlCol="0">
            <a:spAutoFit/>
          </a:bodyPr>
          <a:lstStyle/>
          <a:p>
            <a:r>
              <a:rPr lang="en-US" sz="1400" dirty="0"/>
              <a:t>12 V</a:t>
            </a:r>
            <a:endParaRPr lang="tr-TR" sz="1400" dirty="0"/>
          </a:p>
        </p:txBody>
      </p:sp>
      <p:sp>
        <p:nvSpPr>
          <p:cNvPr id="52" name="TextBox 51"/>
          <p:cNvSpPr txBox="1"/>
          <p:nvPr/>
        </p:nvSpPr>
        <p:spPr>
          <a:xfrm>
            <a:off x="4419600" y="6019800"/>
            <a:ext cx="571500" cy="307777"/>
          </a:xfrm>
          <a:prstGeom prst="rect">
            <a:avLst/>
          </a:prstGeom>
          <a:solidFill>
            <a:schemeClr val="bg1"/>
          </a:solidFill>
        </p:spPr>
        <p:txBody>
          <a:bodyPr wrap="square" rtlCol="0">
            <a:spAutoFit/>
          </a:bodyPr>
          <a:lstStyle/>
          <a:p>
            <a:r>
              <a:rPr lang="en-US" sz="1400" dirty="0"/>
              <a:t>-4 V</a:t>
            </a:r>
            <a:endParaRPr lang="tr-TR" sz="1400" dirty="0"/>
          </a:p>
        </p:txBody>
      </p:sp>
      <p:sp>
        <p:nvSpPr>
          <p:cNvPr id="53" name="TextBox 52"/>
          <p:cNvSpPr txBox="1"/>
          <p:nvPr/>
        </p:nvSpPr>
        <p:spPr>
          <a:xfrm>
            <a:off x="6286500" y="5981700"/>
            <a:ext cx="571500" cy="307777"/>
          </a:xfrm>
          <a:prstGeom prst="rect">
            <a:avLst/>
          </a:prstGeom>
          <a:solidFill>
            <a:schemeClr val="bg1"/>
          </a:solidFill>
        </p:spPr>
        <p:txBody>
          <a:bodyPr wrap="square" rtlCol="0">
            <a:spAutoFit/>
          </a:bodyPr>
          <a:lstStyle/>
          <a:p>
            <a:r>
              <a:rPr lang="en-US" sz="1400" dirty="0"/>
              <a:t>16 V</a:t>
            </a:r>
            <a:endParaRPr lang="tr-TR" sz="1400" dirty="0"/>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228600" y="236537"/>
            <a:ext cx="7277100" cy="563563"/>
          </a:xfrm>
        </p:spPr>
        <p:txBody>
          <a:bodyPr/>
          <a:lstStyle/>
          <a:p>
            <a:r>
              <a:rPr lang="en-US" sz="3200" dirty="0"/>
              <a:t>Deriving </a:t>
            </a:r>
            <a:r>
              <a:rPr lang="en-US" sz="3200" dirty="0" err="1"/>
              <a:t>Thevenin</a:t>
            </a:r>
            <a:r>
              <a:rPr lang="en-US" sz="3200" dirty="0"/>
              <a:t> &amp; Norton Equivalent Circuits:</a:t>
            </a:r>
          </a:p>
        </p:txBody>
      </p:sp>
      <p:sp>
        <p:nvSpPr>
          <p:cNvPr id="9"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1" name="Slide Number Placeholder 12"/>
          <p:cNvSpPr>
            <a:spLocks noGrp="1"/>
          </p:cNvSpPr>
          <p:nvPr>
            <p:ph type="sldNum" sz="quarter" idx="11"/>
          </p:nvPr>
        </p:nvSpPr>
        <p:spPr>
          <a:xfrm>
            <a:off x="6667500" y="6454776"/>
            <a:ext cx="2438400" cy="365125"/>
          </a:xfrm>
        </p:spPr>
        <p:txBody>
          <a:bodyPr/>
          <a:lstStyle/>
          <a:p>
            <a:pPr>
              <a:defRPr/>
            </a:pPr>
            <a:fld id="{A957CEED-90C7-4FD0-AB8C-14085BB9151E}" type="slidenum">
              <a:rPr lang="en-US" smtClean="0"/>
              <a:pPr>
                <a:defRPr/>
              </a:pPr>
              <a:t>10</a:t>
            </a:fld>
            <a:endParaRPr lang="en-US" dirty="0"/>
          </a:p>
        </p:txBody>
      </p:sp>
      <p:sp>
        <p:nvSpPr>
          <p:cNvPr id="5" name="Content Placeholder 13"/>
          <p:cNvSpPr>
            <a:spLocks noGrp="1"/>
          </p:cNvSpPr>
          <p:nvPr>
            <p:ph idx="1"/>
          </p:nvPr>
        </p:nvSpPr>
        <p:spPr>
          <a:xfrm>
            <a:off x="457200" y="1028700"/>
            <a:ext cx="8229600" cy="4906964"/>
          </a:xfrm>
        </p:spPr>
        <p:txBody>
          <a:bodyPr/>
          <a:lstStyle/>
          <a:p>
            <a:r>
              <a:rPr lang="en-US" sz="2400" dirty="0"/>
              <a:t>If the circuit terminal law is extracted as a linear equation, then </a:t>
            </a:r>
            <a:r>
              <a:rPr lang="en-US" sz="2400" i="1" dirty="0"/>
              <a:t>R</a:t>
            </a:r>
            <a:r>
              <a:rPr lang="en-US" sz="2400" i="1" baseline="-25000" dirty="0"/>
              <a:t>T</a:t>
            </a:r>
            <a:r>
              <a:rPr lang="en-US" sz="2400" dirty="0"/>
              <a:t> &amp; </a:t>
            </a:r>
            <a:r>
              <a:rPr lang="en-US" sz="2400" i="1" dirty="0" err="1"/>
              <a:t>v</a:t>
            </a:r>
            <a:r>
              <a:rPr lang="en-US" sz="2400" i="1" baseline="-25000" dirty="0" err="1"/>
              <a:t>T</a:t>
            </a:r>
            <a:r>
              <a:rPr lang="en-US" sz="2400" dirty="0"/>
              <a:t> are slope and intercept respectively.</a:t>
            </a:r>
          </a:p>
        </p:txBody>
      </p:sp>
      <p:graphicFrame>
        <p:nvGraphicFramePr>
          <p:cNvPr id="176132" name="Object 4"/>
          <p:cNvGraphicFramePr>
            <a:graphicFrameLocks noChangeAspect="1"/>
          </p:cNvGraphicFramePr>
          <p:nvPr/>
        </p:nvGraphicFramePr>
        <p:xfrm>
          <a:off x="3009900" y="2057400"/>
          <a:ext cx="2725738" cy="495300"/>
        </p:xfrm>
        <a:graphic>
          <a:graphicData uri="http://schemas.openxmlformats.org/presentationml/2006/ole">
            <mc:AlternateContent xmlns:mc="http://schemas.openxmlformats.org/markup-compatibility/2006">
              <mc:Choice xmlns:v="urn:schemas-microsoft-com:vml" Requires="v">
                <p:oleObj name="Equation" r:id="rId2" imgW="850680" imgH="190440" progId="Equation.3">
                  <p:embed/>
                </p:oleObj>
              </mc:Choice>
              <mc:Fallback>
                <p:oleObj name="Equation" r:id="rId2" imgW="850680" imgH="190440" progId="Equation.3">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9900" y="2057400"/>
                        <a:ext cx="2725738"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5" name="Group 14"/>
          <p:cNvGrpSpPr/>
          <p:nvPr/>
        </p:nvGrpSpPr>
        <p:grpSpPr>
          <a:xfrm flipH="1">
            <a:off x="800100" y="1828800"/>
            <a:ext cx="1714500" cy="2247900"/>
            <a:chOff x="990600" y="1752600"/>
            <a:chExt cx="1714500" cy="2705100"/>
          </a:xfrm>
        </p:grpSpPr>
        <p:cxnSp>
          <p:nvCxnSpPr>
            <p:cNvPr id="16" name="Straight Connector 15"/>
            <p:cNvCxnSpPr/>
            <p:nvPr/>
          </p:nvCxnSpPr>
          <p:spPr>
            <a:xfrm>
              <a:off x="1447800" y="2324100"/>
              <a:ext cx="1104900"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0800000">
              <a:off x="1447800" y="4419600"/>
              <a:ext cx="1104900" cy="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 name="Group 12"/>
            <p:cNvGrpSpPr/>
            <p:nvPr/>
          </p:nvGrpSpPr>
          <p:grpSpPr>
            <a:xfrm rot="10800000">
              <a:off x="2400300" y="2667000"/>
              <a:ext cx="304800" cy="1561306"/>
              <a:chOff x="1485900" y="4687094"/>
              <a:chExt cx="304800" cy="1561306"/>
            </a:xfrm>
          </p:grpSpPr>
          <p:sp>
            <p:nvSpPr>
              <p:cNvPr id="29" name="Rectangle 28"/>
              <p:cNvSpPr/>
              <p:nvPr/>
            </p:nvSpPr>
            <p:spPr>
              <a:xfrm>
                <a:off x="1485900" y="5067300"/>
                <a:ext cx="304800" cy="800100"/>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p:cNvCxnSpPr>
                <a:stCxn id="29" idx="0"/>
              </p:cNvCxnSpPr>
              <p:nvPr/>
            </p:nvCxnSpPr>
            <p:spPr>
              <a:xfrm rot="5400000" flipH="1" flipV="1">
                <a:off x="1448594" y="4876800"/>
                <a:ext cx="380206" cy="79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5400000" flipH="1" flipV="1">
                <a:off x="1448594" y="6057106"/>
                <a:ext cx="38100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 name="Straight Connector 18"/>
            <p:cNvCxnSpPr/>
            <p:nvPr/>
          </p:nvCxnSpPr>
          <p:spPr>
            <a:xfrm rot="5400000" flipH="1" flipV="1">
              <a:off x="2305049" y="2570956"/>
              <a:ext cx="495300"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5400000">
              <a:off x="2457449" y="4323556"/>
              <a:ext cx="190500"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1181100" y="2324100"/>
              <a:ext cx="319318" cy="369332"/>
            </a:xfrm>
            <a:prstGeom prst="rect">
              <a:avLst/>
            </a:prstGeom>
            <a:noFill/>
          </p:spPr>
          <p:txBody>
            <a:bodyPr wrap="none" rtlCol="0">
              <a:spAutoFit/>
            </a:bodyPr>
            <a:lstStyle/>
            <a:p>
              <a:r>
                <a:rPr lang="en-US" dirty="0"/>
                <a:t>+</a:t>
              </a:r>
            </a:p>
          </p:txBody>
        </p:sp>
        <p:sp>
          <p:nvSpPr>
            <p:cNvPr id="23" name="TextBox 22"/>
            <p:cNvSpPr txBox="1"/>
            <p:nvPr/>
          </p:nvSpPr>
          <p:spPr>
            <a:xfrm>
              <a:off x="1219200" y="4012168"/>
              <a:ext cx="261610" cy="369332"/>
            </a:xfrm>
            <a:prstGeom prst="rect">
              <a:avLst/>
            </a:prstGeom>
            <a:noFill/>
          </p:spPr>
          <p:txBody>
            <a:bodyPr wrap="none" rtlCol="0">
              <a:spAutoFit/>
            </a:bodyPr>
            <a:lstStyle/>
            <a:p>
              <a:r>
                <a:rPr lang="en-US" dirty="0"/>
                <a:t>-</a:t>
              </a:r>
            </a:p>
          </p:txBody>
        </p:sp>
        <p:sp>
          <p:nvSpPr>
            <p:cNvPr id="24" name="Oval 23"/>
            <p:cNvSpPr/>
            <p:nvPr/>
          </p:nvSpPr>
          <p:spPr>
            <a:xfrm>
              <a:off x="1371600" y="2286000"/>
              <a:ext cx="76200" cy="762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1371600" y="4381500"/>
              <a:ext cx="76200" cy="762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p:nvPr/>
          </p:nvSpPr>
          <p:spPr>
            <a:xfrm>
              <a:off x="990600" y="3009900"/>
              <a:ext cx="1047082" cy="555563"/>
            </a:xfrm>
            <a:prstGeom prst="rect">
              <a:avLst/>
            </a:prstGeom>
            <a:noFill/>
          </p:spPr>
          <p:txBody>
            <a:bodyPr wrap="none" rtlCol="0">
              <a:spAutoFit/>
            </a:bodyPr>
            <a:lstStyle/>
            <a:p>
              <a:r>
                <a:rPr lang="en-US" sz="2400" i="1" dirty="0"/>
                <a:t>v = f(</a:t>
              </a:r>
              <a:r>
                <a:rPr lang="en-US" sz="2400" i="1" dirty="0" err="1"/>
                <a:t>i</a:t>
              </a:r>
              <a:r>
                <a:rPr lang="en-US" sz="2400" i="1" dirty="0"/>
                <a:t>)</a:t>
              </a:r>
            </a:p>
          </p:txBody>
        </p:sp>
        <p:sp>
          <p:nvSpPr>
            <p:cNvPr id="27" name="TextBox 26"/>
            <p:cNvSpPr txBox="1"/>
            <p:nvPr/>
          </p:nvSpPr>
          <p:spPr>
            <a:xfrm>
              <a:off x="1326138" y="1752600"/>
              <a:ext cx="235962" cy="444450"/>
            </a:xfrm>
            <a:prstGeom prst="rect">
              <a:avLst/>
            </a:prstGeom>
            <a:noFill/>
          </p:spPr>
          <p:txBody>
            <a:bodyPr wrap="none" rtlCol="0">
              <a:spAutoFit/>
            </a:bodyPr>
            <a:lstStyle/>
            <a:p>
              <a:r>
                <a:rPr lang="en-US" i="1" dirty="0" err="1"/>
                <a:t>i</a:t>
              </a:r>
              <a:endParaRPr lang="en-US" i="1" dirty="0"/>
            </a:p>
          </p:txBody>
        </p:sp>
        <p:cxnSp>
          <p:nvCxnSpPr>
            <p:cNvPr id="28" name="Straight Arrow Connector 27"/>
            <p:cNvCxnSpPr/>
            <p:nvPr/>
          </p:nvCxnSpPr>
          <p:spPr>
            <a:xfrm flipH="1">
              <a:off x="1562100" y="2170112"/>
              <a:ext cx="522310"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aphicFrame>
        <p:nvGraphicFramePr>
          <p:cNvPr id="177156" name="Object 4"/>
          <p:cNvGraphicFramePr>
            <a:graphicFrameLocks noChangeAspect="1"/>
          </p:cNvGraphicFramePr>
          <p:nvPr/>
        </p:nvGraphicFramePr>
        <p:xfrm>
          <a:off x="2971800" y="3159125"/>
          <a:ext cx="1463675" cy="495300"/>
        </p:xfrm>
        <a:graphic>
          <a:graphicData uri="http://schemas.openxmlformats.org/presentationml/2006/ole">
            <mc:AlternateContent xmlns:mc="http://schemas.openxmlformats.org/markup-compatibility/2006">
              <mc:Choice xmlns:v="urn:schemas-microsoft-com:vml" Requires="v">
                <p:oleObj name="Equation" r:id="rId4" imgW="457200" imgH="190440" progId="Equation.3">
                  <p:embed/>
                </p:oleObj>
              </mc:Choice>
              <mc:Fallback>
                <p:oleObj name="Equation" r:id="rId4" imgW="457200" imgH="190440" progId="Equation.3">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1800" y="3159125"/>
                        <a:ext cx="1463675"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7157" name="Object 5"/>
          <p:cNvGraphicFramePr>
            <a:graphicFrameLocks noChangeAspect="1"/>
          </p:cNvGraphicFramePr>
          <p:nvPr/>
        </p:nvGraphicFramePr>
        <p:xfrm>
          <a:off x="4443413" y="3182938"/>
          <a:ext cx="487362" cy="395287"/>
        </p:xfrm>
        <a:graphic>
          <a:graphicData uri="http://schemas.openxmlformats.org/presentationml/2006/ole">
            <mc:AlternateContent xmlns:mc="http://schemas.openxmlformats.org/markup-compatibility/2006">
              <mc:Choice xmlns:v="urn:schemas-microsoft-com:vml" Requires="v">
                <p:oleObj name="Equation" r:id="rId6" imgW="152280" imgH="152280" progId="Equation.3">
                  <p:embed/>
                </p:oleObj>
              </mc:Choice>
              <mc:Fallback>
                <p:oleObj name="Equation" r:id="rId6" imgW="152280" imgH="152280" progId="Equation.3">
                  <p:embed/>
                  <p:pic>
                    <p:nvPicPr>
                      <p:cNvPr id="0"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43413" y="3182938"/>
                        <a:ext cx="487362" cy="395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7158" name="Object 6"/>
          <p:cNvGraphicFramePr>
            <a:graphicFrameLocks noChangeAspect="1"/>
          </p:cNvGraphicFramePr>
          <p:nvPr/>
        </p:nvGraphicFramePr>
        <p:xfrm>
          <a:off x="4932363" y="2928938"/>
          <a:ext cx="1504950" cy="957262"/>
        </p:xfrm>
        <a:graphic>
          <a:graphicData uri="http://schemas.openxmlformats.org/presentationml/2006/ole">
            <mc:AlternateContent xmlns:mc="http://schemas.openxmlformats.org/markup-compatibility/2006">
              <mc:Choice xmlns:v="urn:schemas-microsoft-com:vml" Requires="v">
                <p:oleObj name="Equation" r:id="rId8" imgW="469800" imgH="368280" progId="Equation.3">
                  <p:embed/>
                </p:oleObj>
              </mc:Choice>
              <mc:Fallback>
                <p:oleObj name="Equation" r:id="rId8" imgW="469800" imgH="368280" progId="Equation.3">
                  <p:embed/>
                  <p:pic>
                    <p:nvPicPr>
                      <p:cNvPr id="0" name="Picture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32363" y="2928938"/>
                        <a:ext cx="1504950" cy="957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 name="Line Callout 2 (Accent Bar) 33"/>
          <p:cNvSpPr/>
          <p:nvPr/>
        </p:nvSpPr>
        <p:spPr>
          <a:xfrm rot="16200000">
            <a:off x="4324350" y="2076450"/>
            <a:ext cx="419100" cy="457200"/>
          </a:xfrm>
          <a:prstGeom prst="accentCallout2">
            <a:avLst>
              <a:gd name="adj1" fmla="val 18750"/>
              <a:gd name="adj2" fmla="val -8333"/>
              <a:gd name="adj3" fmla="val 18750"/>
              <a:gd name="adj4" fmla="val -16667"/>
              <a:gd name="adj5" fmla="val 411202"/>
              <a:gd name="adj6" fmla="val -410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Line Callout 2 (Accent Bar) 34"/>
          <p:cNvSpPr/>
          <p:nvPr/>
        </p:nvSpPr>
        <p:spPr>
          <a:xfrm rot="16200000">
            <a:off x="5276850" y="2076450"/>
            <a:ext cx="419100" cy="457200"/>
          </a:xfrm>
          <a:prstGeom prst="accentCallout2">
            <a:avLst>
              <a:gd name="adj1" fmla="val 18750"/>
              <a:gd name="adj2" fmla="val -8333"/>
              <a:gd name="adj3" fmla="val 18750"/>
              <a:gd name="adj4" fmla="val -16667"/>
              <a:gd name="adj5" fmla="val 226786"/>
              <a:gd name="adj6" fmla="val -43833"/>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p:nvPr/>
        </p:nvSpPr>
        <p:spPr>
          <a:xfrm flipH="1">
            <a:off x="6286500" y="2514600"/>
            <a:ext cx="2468882" cy="369332"/>
          </a:xfrm>
          <a:prstGeom prst="rect">
            <a:avLst/>
          </a:prstGeom>
          <a:noFill/>
        </p:spPr>
        <p:txBody>
          <a:bodyPr wrap="square" rtlCol="0">
            <a:spAutoFit/>
          </a:bodyPr>
          <a:lstStyle/>
          <a:p>
            <a:r>
              <a:rPr lang="en-US" dirty="0" err="1"/>
              <a:t>Thevenin</a:t>
            </a:r>
            <a:r>
              <a:rPr lang="en-US" dirty="0"/>
              <a:t> parameters</a:t>
            </a:r>
          </a:p>
        </p:txBody>
      </p:sp>
      <p:sp>
        <p:nvSpPr>
          <p:cNvPr id="37" name="Line Callout 2 (Accent Bar) 36"/>
          <p:cNvSpPr/>
          <p:nvPr/>
        </p:nvSpPr>
        <p:spPr>
          <a:xfrm rot="16200000">
            <a:off x="2990850" y="3231118"/>
            <a:ext cx="419100" cy="457200"/>
          </a:xfrm>
          <a:prstGeom prst="accentCallout2">
            <a:avLst>
              <a:gd name="adj1" fmla="val 18750"/>
              <a:gd name="adj2" fmla="val -8333"/>
              <a:gd name="adj3" fmla="val 18750"/>
              <a:gd name="adj4" fmla="val -16667"/>
              <a:gd name="adj5" fmla="val 746267"/>
              <a:gd name="adj6" fmla="val -83503"/>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Line Callout 2 (Accent Bar) 37"/>
          <p:cNvSpPr/>
          <p:nvPr/>
        </p:nvSpPr>
        <p:spPr>
          <a:xfrm rot="16200000">
            <a:off x="4914900" y="3288268"/>
            <a:ext cx="419100" cy="342900"/>
          </a:xfrm>
          <a:prstGeom prst="accentCallout2">
            <a:avLst>
              <a:gd name="adj1" fmla="val 18750"/>
              <a:gd name="adj2" fmla="val -8333"/>
              <a:gd name="adj3" fmla="val 18750"/>
              <a:gd name="adj4" fmla="val -16667"/>
              <a:gd name="adj5" fmla="val 436310"/>
              <a:gd name="adj6" fmla="val -83503"/>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p:cNvSpPr txBox="1"/>
          <p:nvPr/>
        </p:nvSpPr>
        <p:spPr>
          <a:xfrm flipH="1">
            <a:off x="6438900" y="3859768"/>
            <a:ext cx="2468882" cy="369332"/>
          </a:xfrm>
          <a:prstGeom prst="rect">
            <a:avLst/>
          </a:prstGeom>
          <a:noFill/>
        </p:spPr>
        <p:txBody>
          <a:bodyPr wrap="square" rtlCol="0">
            <a:spAutoFit/>
          </a:bodyPr>
          <a:lstStyle/>
          <a:p>
            <a:r>
              <a:rPr lang="en-US" dirty="0"/>
              <a:t>Norton parameters</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1" name="Slide Number Placeholder 12"/>
          <p:cNvSpPr>
            <a:spLocks noGrp="1"/>
          </p:cNvSpPr>
          <p:nvPr>
            <p:ph type="sldNum" sz="quarter" idx="11"/>
          </p:nvPr>
        </p:nvSpPr>
        <p:spPr>
          <a:xfrm>
            <a:off x="6667500" y="6454776"/>
            <a:ext cx="2438400" cy="365125"/>
          </a:xfrm>
        </p:spPr>
        <p:txBody>
          <a:bodyPr/>
          <a:lstStyle/>
          <a:p>
            <a:pPr>
              <a:defRPr/>
            </a:pPr>
            <a:fld id="{A957CEED-90C7-4FD0-AB8C-14085BB9151E}" type="slidenum">
              <a:rPr lang="en-US" smtClean="0"/>
              <a:pPr>
                <a:defRPr/>
              </a:pPr>
              <a:t>11</a:t>
            </a:fld>
            <a:endParaRPr lang="en-US" dirty="0"/>
          </a:p>
        </p:txBody>
      </p:sp>
      <p:sp>
        <p:nvSpPr>
          <p:cNvPr id="5" name="Content Placeholder 13"/>
          <p:cNvSpPr>
            <a:spLocks noGrp="1"/>
          </p:cNvSpPr>
          <p:nvPr>
            <p:ph idx="1"/>
          </p:nvPr>
        </p:nvSpPr>
        <p:spPr>
          <a:xfrm>
            <a:off x="457200" y="1028700"/>
            <a:ext cx="8229600" cy="4906964"/>
          </a:xfrm>
        </p:spPr>
        <p:txBody>
          <a:bodyPr/>
          <a:lstStyle/>
          <a:p>
            <a:r>
              <a:rPr lang="en-US" sz="2400" dirty="0"/>
              <a:t>If the circuit terminal law is extracted as a linear equation, then </a:t>
            </a:r>
            <a:r>
              <a:rPr lang="en-US" sz="2400" i="1" dirty="0"/>
              <a:t>R</a:t>
            </a:r>
            <a:r>
              <a:rPr lang="en-US" sz="2400" i="1" baseline="-25000" dirty="0"/>
              <a:t>T</a:t>
            </a:r>
            <a:r>
              <a:rPr lang="en-US" sz="2400" dirty="0"/>
              <a:t> &amp; </a:t>
            </a:r>
            <a:r>
              <a:rPr lang="en-US" sz="2400" i="1" dirty="0" err="1"/>
              <a:t>v</a:t>
            </a:r>
            <a:r>
              <a:rPr lang="en-US" sz="2400" i="1" baseline="-25000" dirty="0" err="1"/>
              <a:t>T</a:t>
            </a:r>
            <a:r>
              <a:rPr lang="en-US" sz="2400" dirty="0"/>
              <a:t> are slope and intercept respectively.</a:t>
            </a:r>
          </a:p>
        </p:txBody>
      </p:sp>
      <p:graphicFrame>
        <p:nvGraphicFramePr>
          <p:cNvPr id="176132" name="Object 4"/>
          <p:cNvGraphicFramePr>
            <a:graphicFrameLocks noChangeAspect="1"/>
          </p:cNvGraphicFramePr>
          <p:nvPr/>
        </p:nvGraphicFramePr>
        <p:xfrm>
          <a:off x="3009900" y="2057400"/>
          <a:ext cx="2725738" cy="495300"/>
        </p:xfrm>
        <a:graphic>
          <a:graphicData uri="http://schemas.openxmlformats.org/presentationml/2006/ole">
            <mc:AlternateContent xmlns:mc="http://schemas.openxmlformats.org/markup-compatibility/2006">
              <mc:Choice xmlns:v="urn:schemas-microsoft-com:vml" Requires="v">
                <p:oleObj name="Equation" r:id="rId2" imgW="850680" imgH="190440" progId="Equation.3">
                  <p:embed/>
                </p:oleObj>
              </mc:Choice>
              <mc:Fallback>
                <p:oleObj name="Equation" r:id="rId2" imgW="850680" imgH="190440" progId="Equation.3">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9900" y="2057400"/>
                        <a:ext cx="2725738"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14"/>
          <p:cNvGrpSpPr/>
          <p:nvPr/>
        </p:nvGrpSpPr>
        <p:grpSpPr>
          <a:xfrm flipH="1">
            <a:off x="800100" y="1828800"/>
            <a:ext cx="1714500" cy="2247900"/>
            <a:chOff x="990600" y="1752600"/>
            <a:chExt cx="1714500" cy="2705100"/>
          </a:xfrm>
        </p:grpSpPr>
        <p:cxnSp>
          <p:nvCxnSpPr>
            <p:cNvPr id="16" name="Straight Connector 15"/>
            <p:cNvCxnSpPr/>
            <p:nvPr/>
          </p:nvCxnSpPr>
          <p:spPr>
            <a:xfrm>
              <a:off x="1447800" y="2324100"/>
              <a:ext cx="1104900"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0800000">
              <a:off x="1447800" y="4419600"/>
              <a:ext cx="1104900" cy="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12"/>
            <p:cNvGrpSpPr/>
            <p:nvPr/>
          </p:nvGrpSpPr>
          <p:grpSpPr>
            <a:xfrm rot="10800000">
              <a:off x="2400300" y="2667000"/>
              <a:ext cx="304800" cy="1561306"/>
              <a:chOff x="1485900" y="4687094"/>
              <a:chExt cx="304800" cy="1561306"/>
            </a:xfrm>
          </p:grpSpPr>
          <p:sp>
            <p:nvSpPr>
              <p:cNvPr id="29" name="Rectangle 28"/>
              <p:cNvSpPr/>
              <p:nvPr/>
            </p:nvSpPr>
            <p:spPr>
              <a:xfrm>
                <a:off x="1485900" y="5067300"/>
                <a:ext cx="304800" cy="800100"/>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p:cNvCxnSpPr>
                <a:stCxn id="29" idx="0"/>
              </p:cNvCxnSpPr>
              <p:nvPr/>
            </p:nvCxnSpPr>
            <p:spPr>
              <a:xfrm rot="5400000" flipH="1" flipV="1">
                <a:off x="1448594" y="4876800"/>
                <a:ext cx="380206" cy="79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5400000" flipH="1" flipV="1">
                <a:off x="1448594" y="6057106"/>
                <a:ext cx="38100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 name="Straight Connector 18"/>
            <p:cNvCxnSpPr/>
            <p:nvPr/>
          </p:nvCxnSpPr>
          <p:spPr>
            <a:xfrm rot="5400000" flipH="1" flipV="1">
              <a:off x="2305049" y="2570956"/>
              <a:ext cx="495300"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5400000">
              <a:off x="2457449" y="4323556"/>
              <a:ext cx="190500"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1181100" y="2324100"/>
              <a:ext cx="319318" cy="369332"/>
            </a:xfrm>
            <a:prstGeom prst="rect">
              <a:avLst/>
            </a:prstGeom>
            <a:noFill/>
          </p:spPr>
          <p:txBody>
            <a:bodyPr wrap="none" rtlCol="0">
              <a:spAutoFit/>
            </a:bodyPr>
            <a:lstStyle/>
            <a:p>
              <a:r>
                <a:rPr lang="en-US" dirty="0"/>
                <a:t>+</a:t>
              </a:r>
            </a:p>
          </p:txBody>
        </p:sp>
        <p:sp>
          <p:nvSpPr>
            <p:cNvPr id="23" name="TextBox 22"/>
            <p:cNvSpPr txBox="1"/>
            <p:nvPr/>
          </p:nvSpPr>
          <p:spPr>
            <a:xfrm>
              <a:off x="1219200" y="4012168"/>
              <a:ext cx="261610" cy="369332"/>
            </a:xfrm>
            <a:prstGeom prst="rect">
              <a:avLst/>
            </a:prstGeom>
            <a:noFill/>
          </p:spPr>
          <p:txBody>
            <a:bodyPr wrap="none" rtlCol="0">
              <a:spAutoFit/>
            </a:bodyPr>
            <a:lstStyle/>
            <a:p>
              <a:r>
                <a:rPr lang="en-US" dirty="0"/>
                <a:t>-</a:t>
              </a:r>
            </a:p>
          </p:txBody>
        </p:sp>
        <p:sp>
          <p:nvSpPr>
            <p:cNvPr id="24" name="Oval 23"/>
            <p:cNvSpPr/>
            <p:nvPr/>
          </p:nvSpPr>
          <p:spPr>
            <a:xfrm>
              <a:off x="1371600" y="2286000"/>
              <a:ext cx="76200" cy="762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1371600" y="4381500"/>
              <a:ext cx="76200" cy="762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p:nvPr/>
          </p:nvSpPr>
          <p:spPr>
            <a:xfrm>
              <a:off x="990600" y="3009900"/>
              <a:ext cx="1047082" cy="555563"/>
            </a:xfrm>
            <a:prstGeom prst="rect">
              <a:avLst/>
            </a:prstGeom>
            <a:noFill/>
          </p:spPr>
          <p:txBody>
            <a:bodyPr wrap="none" rtlCol="0">
              <a:spAutoFit/>
            </a:bodyPr>
            <a:lstStyle/>
            <a:p>
              <a:r>
                <a:rPr lang="en-US" sz="2400" i="1" dirty="0"/>
                <a:t>v = f(</a:t>
              </a:r>
              <a:r>
                <a:rPr lang="en-US" sz="2400" i="1" dirty="0" err="1"/>
                <a:t>i</a:t>
              </a:r>
              <a:r>
                <a:rPr lang="en-US" sz="2400" i="1" dirty="0"/>
                <a:t>)</a:t>
              </a:r>
            </a:p>
          </p:txBody>
        </p:sp>
        <p:sp>
          <p:nvSpPr>
            <p:cNvPr id="27" name="TextBox 26"/>
            <p:cNvSpPr txBox="1"/>
            <p:nvPr/>
          </p:nvSpPr>
          <p:spPr>
            <a:xfrm>
              <a:off x="1326138" y="1752600"/>
              <a:ext cx="235962" cy="444450"/>
            </a:xfrm>
            <a:prstGeom prst="rect">
              <a:avLst/>
            </a:prstGeom>
            <a:noFill/>
          </p:spPr>
          <p:txBody>
            <a:bodyPr wrap="none" rtlCol="0">
              <a:spAutoFit/>
            </a:bodyPr>
            <a:lstStyle/>
            <a:p>
              <a:r>
                <a:rPr lang="en-US" i="1" dirty="0" err="1"/>
                <a:t>i</a:t>
              </a:r>
              <a:endParaRPr lang="en-US" i="1" dirty="0"/>
            </a:p>
          </p:txBody>
        </p:sp>
        <p:cxnSp>
          <p:nvCxnSpPr>
            <p:cNvPr id="28" name="Straight Arrow Connector 27"/>
            <p:cNvCxnSpPr/>
            <p:nvPr/>
          </p:nvCxnSpPr>
          <p:spPr>
            <a:xfrm flipH="1">
              <a:off x="1562100" y="2170112"/>
              <a:ext cx="522310"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aphicFrame>
        <p:nvGraphicFramePr>
          <p:cNvPr id="177156" name="Object 4"/>
          <p:cNvGraphicFramePr>
            <a:graphicFrameLocks noChangeAspect="1"/>
          </p:cNvGraphicFramePr>
          <p:nvPr/>
        </p:nvGraphicFramePr>
        <p:xfrm>
          <a:off x="2971800" y="3159125"/>
          <a:ext cx="1463675" cy="495300"/>
        </p:xfrm>
        <a:graphic>
          <a:graphicData uri="http://schemas.openxmlformats.org/presentationml/2006/ole">
            <mc:AlternateContent xmlns:mc="http://schemas.openxmlformats.org/markup-compatibility/2006">
              <mc:Choice xmlns:v="urn:schemas-microsoft-com:vml" Requires="v">
                <p:oleObj name="Equation" r:id="rId4" imgW="457200" imgH="190440" progId="Equation.3">
                  <p:embed/>
                </p:oleObj>
              </mc:Choice>
              <mc:Fallback>
                <p:oleObj name="Equation" r:id="rId4" imgW="457200" imgH="190440" progId="Equation.3">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1800" y="3159125"/>
                        <a:ext cx="1463675"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7157" name="Object 5"/>
          <p:cNvGraphicFramePr>
            <a:graphicFrameLocks noChangeAspect="1"/>
          </p:cNvGraphicFramePr>
          <p:nvPr/>
        </p:nvGraphicFramePr>
        <p:xfrm>
          <a:off x="4443413" y="3182938"/>
          <a:ext cx="487362" cy="395287"/>
        </p:xfrm>
        <a:graphic>
          <a:graphicData uri="http://schemas.openxmlformats.org/presentationml/2006/ole">
            <mc:AlternateContent xmlns:mc="http://schemas.openxmlformats.org/markup-compatibility/2006">
              <mc:Choice xmlns:v="urn:schemas-microsoft-com:vml" Requires="v">
                <p:oleObj name="Equation" r:id="rId6" imgW="152280" imgH="152280" progId="Equation.3">
                  <p:embed/>
                </p:oleObj>
              </mc:Choice>
              <mc:Fallback>
                <p:oleObj name="Equation" r:id="rId6" imgW="152280" imgH="152280" progId="Equation.3">
                  <p:embed/>
                  <p:pic>
                    <p:nvPicPr>
                      <p:cNvPr id="0"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43413" y="3182938"/>
                        <a:ext cx="487362" cy="395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7158" name="Object 6"/>
          <p:cNvGraphicFramePr>
            <a:graphicFrameLocks noChangeAspect="1"/>
          </p:cNvGraphicFramePr>
          <p:nvPr/>
        </p:nvGraphicFramePr>
        <p:xfrm>
          <a:off x="4932363" y="2928938"/>
          <a:ext cx="1504950" cy="957262"/>
        </p:xfrm>
        <a:graphic>
          <a:graphicData uri="http://schemas.openxmlformats.org/presentationml/2006/ole">
            <mc:AlternateContent xmlns:mc="http://schemas.openxmlformats.org/markup-compatibility/2006">
              <mc:Choice xmlns:v="urn:schemas-microsoft-com:vml" Requires="v">
                <p:oleObj name="Equation" r:id="rId8" imgW="469800" imgH="368280" progId="Equation.3">
                  <p:embed/>
                </p:oleObj>
              </mc:Choice>
              <mc:Fallback>
                <p:oleObj name="Equation" r:id="rId8" imgW="469800" imgH="368280" progId="Equation.3">
                  <p:embed/>
                  <p:pic>
                    <p:nvPicPr>
                      <p:cNvPr id="0"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32363" y="2928938"/>
                        <a:ext cx="1504950" cy="957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 name="Line Callout 2 (Accent Bar) 33"/>
          <p:cNvSpPr/>
          <p:nvPr/>
        </p:nvSpPr>
        <p:spPr>
          <a:xfrm rot="16200000">
            <a:off x="4324350" y="2076450"/>
            <a:ext cx="419100" cy="457200"/>
          </a:xfrm>
          <a:prstGeom prst="accentCallout2">
            <a:avLst>
              <a:gd name="adj1" fmla="val 18750"/>
              <a:gd name="adj2" fmla="val -8333"/>
              <a:gd name="adj3" fmla="val 18750"/>
              <a:gd name="adj4" fmla="val -16667"/>
              <a:gd name="adj5" fmla="val 411202"/>
              <a:gd name="adj6" fmla="val -410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Line Callout 2 (Accent Bar) 34"/>
          <p:cNvSpPr/>
          <p:nvPr/>
        </p:nvSpPr>
        <p:spPr>
          <a:xfrm rot="16200000">
            <a:off x="5276850" y="2076450"/>
            <a:ext cx="419100" cy="457200"/>
          </a:xfrm>
          <a:prstGeom prst="accentCallout2">
            <a:avLst>
              <a:gd name="adj1" fmla="val 18750"/>
              <a:gd name="adj2" fmla="val -8333"/>
              <a:gd name="adj3" fmla="val 18750"/>
              <a:gd name="adj4" fmla="val -16667"/>
              <a:gd name="adj5" fmla="val 226786"/>
              <a:gd name="adj6" fmla="val -43833"/>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p:nvPr/>
        </p:nvSpPr>
        <p:spPr>
          <a:xfrm flipH="1">
            <a:off x="6286500" y="2514600"/>
            <a:ext cx="2468882" cy="369332"/>
          </a:xfrm>
          <a:prstGeom prst="rect">
            <a:avLst/>
          </a:prstGeom>
          <a:noFill/>
        </p:spPr>
        <p:txBody>
          <a:bodyPr wrap="square" rtlCol="0">
            <a:spAutoFit/>
          </a:bodyPr>
          <a:lstStyle/>
          <a:p>
            <a:r>
              <a:rPr lang="en-US" dirty="0" err="1"/>
              <a:t>Thevenin</a:t>
            </a:r>
            <a:r>
              <a:rPr lang="en-US" dirty="0"/>
              <a:t> parameters</a:t>
            </a:r>
          </a:p>
        </p:txBody>
      </p:sp>
      <p:sp>
        <p:nvSpPr>
          <p:cNvPr id="37" name="Line Callout 2 (Accent Bar) 36"/>
          <p:cNvSpPr/>
          <p:nvPr/>
        </p:nvSpPr>
        <p:spPr>
          <a:xfrm rot="16200000">
            <a:off x="2990850" y="3231118"/>
            <a:ext cx="419100" cy="457200"/>
          </a:xfrm>
          <a:prstGeom prst="accentCallout2">
            <a:avLst>
              <a:gd name="adj1" fmla="val 18750"/>
              <a:gd name="adj2" fmla="val -8333"/>
              <a:gd name="adj3" fmla="val 18750"/>
              <a:gd name="adj4" fmla="val -16667"/>
              <a:gd name="adj5" fmla="val 746267"/>
              <a:gd name="adj6" fmla="val -83503"/>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Line Callout 2 (Accent Bar) 37"/>
          <p:cNvSpPr/>
          <p:nvPr/>
        </p:nvSpPr>
        <p:spPr>
          <a:xfrm rot="16200000">
            <a:off x="4914900" y="3288268"/>
            <a:ext cx="419100" cy="342900"/>
          </a:xfrm>
          <a:prstGeom prst="accentCallout2">
            <a:avLst>
              <a:gd name="adj1" fmla="val 18750"/>
              <a:gd name="adj2" fmla="val -8333"/>
              <a:gd name="adj3" fmla="val 18750"/>
              <a:gd name="adj4" fmla="val -16667"/>
              <a:gd name="adj5" fmla="val 436310"/>
              <a:gd name="adj6" fmla="val -83503"/>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p:cNvSpPr txBox="1"/>
          <p:nvPr/>
        </p:nvSpPr>
        <p:spPr>
          <a:xfrm flipH="1">
            <a:off x="6438900" y="3859768"/>
            <a:ext cx="2468882" cy="369332"/>
          </a:xfrm>
          <a:prstGeom prst="rect">
            <a:avLst/>
          </a:prstGeom>
          <a:noFill/>
        </p:spPr>
        <p:txBody>
          <a:bodyPr wrap="square" rtlCol="0">
            <a:spAutoFit/>
          </a:bodyPr>
          <a:lstStyle/>
          <a:p>
            <a:r>
              <a:rPr lang="en-US" dirty="0"/>
              <a:t>Norton parameters</a:t>
            </a:r>
          </a:p>
        </p:txBody>
      </p:sp>
      <p:sp>
        <p:nvSpPr>
          <p:cNvPr id="44" name="TextBox 43"/>
          <p:cNvSpPr txBox="1"/>
          <p:nvPr/>
        </p:nvSpPr>
        <p:spPr>
          <a:xfrm>
            <a:off x="3009900" y="4914900"/>
            <a:ext cx="5905500" cy="507831"/>
          </a:xfrm>
          <a:prstGeom prst="rect">
            <a:avLst/>
          </a:prstGeom>
          <a:noFill/>
        </p:spPr>
        <p:txBody>
          <a:bodyPr wrap="square" rtlCol="0">
            <a:spAutoFit/>
          </a:bodyPr>
          <a:lstStyle/>
          <a:p>
            <a:pPr>
              <a:lnSpc>
                <a:spcPct val="150000"/>
              </a:lnSpc>
            </a:pPr>
            <a:r>
              <a:rPr lang="en-US" dirty="0"/>
              <a:t>i.e. one could open-circuit the terminals to find </a:t>
            </a:r>
            <a:r>
              <a:rPr lang="en-US" i="1" dirty="0" err="1"/>
              <a:t>v</a:t>
            </a:r>
            <a:r>
              <a:rPr lang="en-US" i="1" baseline="-25000" dirty="0" err="1"/>
              <a:t>T</a:t>
            </a:r>
            <a:endParaRPr lang="en-US" dirty="0"/>
          </a:p>
        </p:txBody>
      </p:sp>
      <p:graphicFrame>
        <p:nvGraphicFramePr>
          <p:cNvPr id="45" name="Object 8"/>
          <p:cNvGraphicFramePr>
            <a:graphicFrameLocks noChangeAspect="1"/>
          </p:cNvGraphicFramePr>
          <p:nvPr/>
        </p:nvGraphicFramePr>
        <p:xfrm>
          <a:off x="2301875" y="4457700"/>
          <a:ext cx="5470525" cy="500063"/>
        </p:xfrm>
        <a:graphic>
          <a:graphicData uri="http://schemas.openxmlformats.org/presentationml/2006/ole">
            <mc:AlternateContent xmlns:mc="http://schemas.openxmlformats.org/markup-compatibility/2006">
              <mc:Choice xmlns:v="urn:schemas-microsoft-com:vml" Requires="v">
                <p:oleObj name="Equation" r:id="rId10" imgW="2361960" imgH="241200" progId="Equation.3">
                  <p:embed/>
                </p:oleObj>
              </mc:Choice>
              <mc:Fallback>
                <p:oleObj name="Equation" r:id="rId10" imgW="2361960" imgH="241200" progId="Equation.3">
                  <p:embed/>
                  <p:pic>
                    <p:nvPicPr>
                      <p:cNvPr id="0" name="Picture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01875" y="4457700"/>
                        <a:ext cx="5470525" cy="500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 name="TextBox 45"/>
          <p:cNvSpPr txBox="1"/>
          <p:nvPr/>
        </p:nvSpPr>
        <p:spPr>
          <a:xfrm>
            <a:off x="538291" y="4495800"/>
            <a:ext cx="1595309" cy="369332"/>
          </a:xfrm>
          <a:prstGeom prst="rect">
            <a:avLst/>
          </a:prstGeom>
          <a:noFill/>
        </p:spPr>
        <p:txBody>
          <a:bodyPr wrap="none" rtlCol="0">
            <a:spAutoFit/>
          </a:bodyPr>
          <a:lstStyle/>
          <a:p>
            <a:r>
              <a:rPr lang="en-US" dirty="0"/>
              <a:t>It follows that:</a:t>
            </a:r>
            <a:endParaRPr lang="tr-TR" dirty="0"/>
          </a:p>
        </p:txBody>
      </p:sp>
      <p:sp>
        <p:nvSpPr>
          <p:cNvPr id="40" name="Title 1"/>
          <p:cNvSpPr>
            <a:spLocks noGrp="1"/>
          </p:cNvSpPr>
          <p:nvPr>
            <p:ph type="title"/>
          </p:nvPr>
        </p:nvSpPr>
        <p:spPr>
          <a:xfrm>
            <a:off x="228600" y="236537"/>
            <a:ext cx="7277100" cy="563563"/>
          </a:xfrm>
        </p:spPr>
        <p:txBody>
          <a:bodyPr/>
          <a:lstStyle/>
          <a:p>
            <a:r>
              <a:rPr lang="en-US" sz="3200" dirty="0"/>
              <a:t>Deriving </a:t>
            </a:r>
            <a:r>
              <a:rPr lang="en-US" sz="3200" dirty="0" err="1"/>
              <a:t>Thevenin</a:t>
            </a:r>
            <a:r>
              <a:rPr lang="en-US" sz="3200" dirty="0"/>
              <a:t> &amp; Norton Equivalent Circuits:</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1" name="Slide Number Placeholder 12"/>
          <p:cNvSpPr>
            <a:spLocks noGrp="1"/>
          </p:cNvSpPr>
          <p:nvPr>
            <p:ph type="sldNum" sz="quarter" idx="11"/>
          </p:nvPr>
        </p:nvSpPr>
        <p:spPr>
          <a:xfrm>
            <a:off x="6667500" y="6454776"/>
            <a:ext cx="2438400" cy="365125"/>
          </a:xfrm>
        </p:spPr>
        <p:txBody>
          <a:bodyPr/>
          <a:lstStyle/>
          <a:p>
            <a:pPr>
              <a:defRPr/>
            </a:pPr>
            <a:fld id="{A957CEED-90C7-4FD0-AB8C-14085BB9151E}" type="slidenum">
              <a:rPr lang="en-US" smtClean="0"/>
              <a:pPr>
                <a:defRPr/>
              </a:pPr>
              <a:t>12</a:t>
            </a:fld>
            <a:endParaRPr lang="en-US" dirty="0"/>
          </a:p>
        </p:txBody>
      </p:sp>
      <p:sp>
        <p:nvSpPr>
          <p:cNvPr id="5" name="Content Placeholder 13"/>
          <p:cNvSpPr>
            <a:spLocks noGrp="1"/>
          </p:cNvSpPr>
          <p:nvPr>
            <p:ph idx="1"/>
          </p:nvPr>
        </p:nvSpPr>
        <p:spPr>
          <a:xfrm>
            <a:off x="457200" y="1028700"/>
            <a:ext cx="8229600" cy="4906964"/>
          </a:xfrm>
        </p:spPr>
        <p:txBody>
          <a:bodyPr/>
          <a:lstStyle/>
          <a:p>
            <a:r>
              <a:rPr lang="en-US" sz="2400" dirty="0"/>
              <a:t>If the circuit terminal law is extracted as a linear equation, then </a:t>
            </a:r>
            <a:r>
              <a:rPr lang="en-US" sz="2400" i="1" dirty="0"/>
              <a:t>R</a:t>
            </a:r>
            <a:r>
              <a:rPr lang="en-US" sz="2400" i="1" baseline="-25000" dirty="0"/>
              <a:t>T</a:t>
            </a:r>
            <a:r>
              <a:rPr lang="en-US" sz="2400" dirty="0"/>
              <a:t> &amp; </a:t>
            </a:r>
            <a:r>
              <a:rPr lang="en-US" sz="2400" i="1" dirty="0" err="1"/>
              <a:t>v</a:t>
            </a:r>
            <a:r>
              <a:rPr lang="en-US" sz="2400" i="1" baseline="-25000" dirty="0" err="1"/>
              <a:t>T</a:t>
            </a:r>
            <a:r>
              <a:rPr lang="en-US" sz="2400" dirty="0"/>
              <a:t> are slope and intercept respectively.</a:t>
            </a:r>
          </a:p>
        </p:txBody>
      </p:sp>
      <p:graphicFrame>
        <p:nvGraphicFramePr>
          <p:cNvPr id="176132" name="Object 4"/>
          <p:cNvGraphicFramePr>
            <a:graphicFrameLocks noChangeAspect="1"/>
          </p:cNvGraphicFramePr>
          <p:nvPr/>
        </p:nvGraphicFramePr>
        <p:xfrm>
          <a:off x="3009900" y="2057400"/>
          <a:ext cx="2725738" cy="495300"/>
        </p:xfrm>
        <a:graphic>
          <a:graphicData uri="http://schemas.openxmlformats.org/presentationml/2006/ole">
            <mc:AlternateContent xmlns:mc="http://schemas.openxmlformats.org/markup-compatibility/2006">
              <mc:Choice xmlns:v="urn:schemas-microsoft-com:vml" Requires="v">
                <p:oleObj name="Equation" r:id="rId2" imgW="850680" imgH="190440" progId="Equation.3">
                  <p:embed/>
                </p:oleObj>
              </mc:Choice>
              <mc:Fallback>
                <p:oleObj name="Equation" r:id="rId2" imgW="850680" imgH="190440" progId="Equation.3">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9900" y="2057400"/>
                        <a:ext cx="2725738"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14"/>
          <p:cNvGrpSpPr/>
          <p:nvPr/>
        </p:nvGrpSpPr>
        <p:grpSpPr>
          <a:xfrm flipH="1">
            <a:off x="800100" y="1828800"/>
            <a:ext cx="1714500" cy="2247900"/>
            <a:chOff x="990600" y="1752600"/>
            <a:chExt cx="1714500" cy="2705100"/>
          </a:xfrm>
        </p:grpSpPr>
        <p:cxnSp>
          <p:nvCxnSpPr>
            <p:cNvPr id="16" name="Straight Connector 15"/>
            <p:cNvCxnSpPr/>
            <p:nvPr/>
          </p:nvCxnSpPr>
          <p:spPr>
            <a:xfrm>
              <a:off x="1447800" y="2324100"/>
              <a:ext cx="1104900"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0800000">
              <a:off x="1447800" y="4419600"/>
              <a:ext cx="1104900" cy="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12"/>
            <p:cNvGrpSpPr/>
            <p:nvPr/>
          </p:nvGrpSpPr>
          <p:grpSpPr>
            <a:xfrm rot="10800000">
              <a:off x="2400300" y="2667000"/>
              <a:ext cx="304800" cy="1561306"/>
              <a:chOff x="1485900" y="4687094"/>
              <a:chExt cx="304800" cy="1561306"/>
            </a:xfrm>
          </p:grpSpPr>
          <p:sp>
            <p:nvSpPr>
              <p:cNvPr id="29" name="Rectangle 28"/>
              <p:cNvSpPr/>
              <p:nvPr/>
            </p:nvSpPr>
            <p:spPr>
              <a:xfrm>
                <a:off x="1485900" y="5067300"/>
                <a:ext cx="304800" cy="800100"/>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p:cNvCxnSpPr>
                <a:stCxn id="29" idx="0"/>
              </p:cNvCxnSpPr>
              <p:nvPr/>
            </p:nvCxnSpPr>
            <p:spPr>
              <a:xfrm rot="5400000" flipH="1" flipV="1">
                <a:off x="1448594" y="4876800"/>
                <a:ext cx="380206" cy="79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5400000" flipH="1" flipV="1">
                <a:off x="1448594" y="6057106"/>
                <a:ext cx="38100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 name="Straight Connector 18"/>
            <p:cNvCxnSpPr/>
            <p:nvPr/>
          </p:nvCxnSpPr>
          <p:spPr>
            <a:xfrm rot="5400000" flipH="1" flipV="1">
              <a:off x="2305049" y="2570956"/>
              <a:ext cx="495300"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5400000">
              <a:off x="2457449" y="4323556"/>
              <a:ext cx="190500"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1181100" y="2324100"/>
              <a:ext cx="319318" cy="369332"/>
            </a:xfrm>
            <a:prstGeom prst="rect">
              <a:avLst/>
            </a:prstGeom>
            <a:noFill/>
          </p:spPr>
          <p:txBody>
            <a:bodyPr wrap="none" rtlCol="0">
              <a:spAutoFit/>
            </a:bodyPr>
            <a:lstStyle/>
            <a:p>
              <a:r>
                <a:rPr lang="en-US" dirty="0"/>
                <a:t>+</a:t>
              </a:r>
            </a:p>
          </p:txBody>
        </p:sp>
        <p:sp>
          <p:nvSpPr>
            <p:cNvPr id="23" name="TextBox 22"/>
            <p:cNvSpPr txBox="1"/>
            <p:nvPr/>
          </p:nvSpPr>
          <p:spPr>
            <a:xfrm>
              <a:off x="1219200" y="4012168"/>
              <a:ext cx="261610" cy="369332"/>
            </a:xfrm>
            <a:prstGeom prst="rect">
              <a:avLst/>
            </a:prstGeom>
            <a:noFill/>
          </p:spPr>
          <p:txBody>
            <a:bodyPr wrap="none" rtlCol="0">
              <a:spAutoFit/>
            </a:bodyPr>
            <a:lstStyle/>
            <a:p>
              <a:r>
                <a:rPr lang="en-US" dirty="0"/>
                <a:t>-</a:t>
              </a:r>
            </a:p>
          </p:txBody>
        </p:sp>
        <p:sp>
          <p:nvSpPr>
            <p:cNvPr id="24" name="Oval 23"/>
            <p:cNvSpPr/>
            <p:nvPr/>
          </p:nvSpPr>
          <p:spPr>
            <a:xfrm>
              <a:off x="1371600" y="2286000"/>
              <a:ext cx="76200" cy="762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1371600" y="4381500"/>
              <a:ext cx="76200" cy="762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p:nvPr/>
          </p:nvSpPr>
          <p:spPr>
            <a:xfrm>
              <a:off x="990600" y="3009900"/>
              <a:ext cx="1047082" cy="555563"/>
            </a:xfrm>
            <a:prstGeom prst="rect">
              <a:avLst/>
            </a:prstGeom>
            <a:noFill/>
          </p:spPr>
          <p:txBody>
            <a:bodyPr wrap="none" rtlCol="0">
              <a:spAutoFit/>
            </a:bodyPr>
            <a:lstStyle/>
            <a:p>
              <a:r>
                <a:rPr lang="en-US" sz="2400" i="1" dirty="0"/>
                <a:t>v = f(</a:t>
              </a:r>
              <a:r>
                <a:rPr lang="en-US" sz="2400" i="1" dirty="0" err="1"/>
                <a:t>i</a:t>
              </a:r>
              <a:r>
                <a:rPr lang="en-US" sz="2400" i="1" dirty="0"/>
                <a:t>)</a:t>
              </a:r>
            </a:p>
          </p:txBody>
        </p:sp>
        <p:sp>
          <p:nvSpPr>
            <p:cNvPr id="27" name="TextBox 26"/>
            <p:cNvSpPr txBox="1"/>
            <p:nvPr/>
          </p:nvSpPr>
          <p:spPr>
            <a:xfrm>
              <a:off x="1326138" y="1752600"/>
              <a:ext cx="235962" cy="444450"/>
            </a:xfrm>
            <a:prstGeom prst="rect">
              <a:avLst/>
            </a:prstGeom>
            <a:noFill/>
          </p:spPr>
          <p:txBody>
            <a:bodyPr wrap="none" rtlCol="0">
              <a:spAutoFit/>
            </a:bodyPr>
            <a:lstStyle/>
            <a:p>
              <a:r>
                <a:rPr lang="en-US" i="1" dirty="0" err="1"/>
                <a:t>i</a:t>
              </a:r>
              <a:endParaRPr lang="en-US" i="1" dirty="0"/>
            </a:p>
          </p:txBody>
        </p:sp>
        <p:cxnSp>
          <p:nvCxnSpPr>
            <p:cNvPr id="28" name="Straight Arrow Connector 27"/>
            <p:cNvCxnSpPr/>
            <p:nvPr/>
          </p:nvCxnSpPr>
          <p:spPr>
            <a:xfrm flipH="1">
              <a:off x="1562100" y="2170112"/>
              <a:ext cx="522310"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aphicFrame>
        <p:nvGraphicFramePr>
          <p:cNvPr id="177156" name="Object 4"/>
          <p:cNvGraphicFramePr>
            <a:graphicFrameLocks noChangeAspect="1"/>
          </p:cNvGraphicFramePr>
          <p:nvPr/>
        </p:nvGraphicFramePr>
        <p:xfrm>
          <a:off x="2971800" y="3159125"/>
          <a:ext cx="1463675" cy="495300"/>
        </p:xfrm>
        <a:graphic>
          <a:graphicData uri="http://schemas.openxmlformats.org/presentationml/2006/ole">
            <mc:AlternateContent xmlns:mc="http://schemas.openxmlformats.org/markup-compatibility/2006">
              <mc:Choice xmlns:v="urn:schemas-microsoft-com:vml" Requires="v">
                <p:oleObj name="Equation" r:id="rId4" imgW="457200" imgH="190440" progId="Equation.3">
                  <p:embed/>
                </p:oleObj>
              </mc:Choice>
              <mc:Fallback>
                <p:oleObj name="Equation" r:id="rId4" imgW="457200" imgH="190440" progId="Equation.3">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1800" y="3159125"/>
                        <a:ext cx="1463675"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7157" name="Object 5"/>
          <p:cNvGraphicFramePr>
            <a:graphicFrameLocks noChangeAspect="1"/>
          </p:cNvGraphicFramePr>
          <p:nvPr/>
        </p:nvGraphicFramePr>
        <p:xfrm>
          <a:off x="4443413" y="3182938"/>
          <a:ext cx="487362" cy="395287"/>
        </p:xfrm>
        <a:graphic>
          <a:graphicData uri="http://schemas.openxmlformats.org/presentationml/2006/ole">
            <mc:AlternateContent xmlns:mc="http://schemas.openxmlformats.org/markup-compatibility/2006">
              <mc:Choice xmlns:v="urn:schemas-microsoft-com:vml" Requires="v">
                <p:oleObj name="Equation" r:id="rId6" imgW="152280" imgH="152280" progId="Equation.3">
                  <p:embed/>
                </p:oleObj>
              </mc:Choice>
              <mc:Fallback>
                <p:oleObj name="Equation" r:id="rId6" imgW="152280" imgH="152280" progId="Equation.3">
                  <p:embed/>
                  <p:pic>
                    <p:nvPicPr>
                      <p:cNvPr id="0"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43413" y="3182938"/>
                        <a:ext cx="487362" cy="395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7158" name="Object 6"/>
          <p:cNvGraphicFramePr>
            <a:graphicFrameLocks noChangeAspect="1"/>
          </p:cNvGraphicFramePr>
          <p:nvPr/>
        </p:nvGraphicFramePr>
        <p:xfrm>
          <a:off x="4932363" y="2928938"/>
          <a:ext cx="1504950" cy="957262"/>
        </p:xfrm>
        <a:graphic>
          <a:graphicData uri="http://schemas.openxmlformats.org/presentationml/2006/ole">
            <mc:AlternateContent xmlns:mc="http://schemas.openxmlformats.org/markup-compatibility/2006">
              <mc:Choice xmlns:v="urn:schemas-microsoft-com:vml" Requires="v">
                <p:oleObj name="Equation" r:id="rId8" imgW="469800" imgH="368280" progId="Equation.3">
                  <p:embed/>
                </p:oleObj>
              </mc:Choice>
              <mc:Fallback>
                <p:oleObj name="Equation" r:id="rId8" imgW="469800" imgH="368280" progId="Equation.3">
                  <p:embed/>
                  <p:pic>
                    <p:nvPicPr>
                      <p:cNvPr id="0"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32363" y="2928938"/>
                        <a:ext cx="1504950" cy="957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 name="Line Callout 2 (Accent Bar) 33"/>
          <p:cNvSpPr/>
          <p:nvPr/>
        </p:nvSpPr>
        <p:spPr>
          <a:xfrm rot="16200000">
            <a:off x="4324350" y="2076450"/>
            <a:ext cx="419100" cy="457200"/>
          </a:xfrm>
          <a:prstGeom prst="accentCallout2">
            <a:avLst>
              <a:gd name="adj1" fmla="val 18750"/>
              <a:gd name="adj2" fmla="val -8333"/>
              <a:gd name="adj3" fmla="val 18750"/>
              <a:gd name="adj4" fmla="val -16667"/>
              <a:gd name="adj5" fmla="val 411202"/>
              <a:gd name="adj6" fmla="val -410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Line Callout 2 (Accent Bar) 34"/>
          <p:cNvSpPr/>
          <p:nvPr/>
        </p:nvSpPr>
        <p:spPr>
          <a:xfrm rot="16200000">
            <a:off x="5276850" y="2076450"/>
            <a:ext cx="419100" cy="457200"/>
          </a:xfrm>
          <a:prstGeom prst="accentCallout2">
            <a:avLst>
              <a:gd name="adj1" fmla="val 18750"/>
              <a:gd name="adj2" fmla="val -8333"/>
              <a:gd name="adj3" fmla="val 18750"/>
              <a:gd name="adj4" fmla="val -16667"/>
              <a:gd name="adj5" fmla="val 226786"/>
              <a:gd name="adj6" fmla="val -43833"/>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p:nvPr/>
        </p:nvSpPr>
        <p:spPr>
          <a:xfrm flipH="1">
            <a:off x="6286500" y="2514600"/>
            <a:ext cx="2468882" cy="369332"/>
          </a:xfrm>
          <a:prstGeom prst="rect">
            <a:avLst/>
          </a:prstGeom>
          <a:noFill/>
        </p:spPr>
        <p:txBody>
          <a:bodyPr wrap="square" rtlCol="0">
            <a:spAutoFit/>
          </a:bodyPr>
          <a:lstStyle/>
          <a:p>
            <a:r>
              <a:rPr lang="en-US" dirty="0" err="1"/>
              <a:t>Thevenin</a:t>
            </a:r>
            <a:r>
              <a:rPr lang="en-US" dirty="0"/>
              <a:t> parameters</a:t>
            </a:r>
          </a:p>
        </p:txBody>
      </p:sp>
      <p:sp>
        <p:nvSpPr>
          <p:cNvPr id="37" name="Line Callout 2 (Accent Bar) 36"/>
          <p:cNvSpPr/>
          <p:nvPr/>
        </p:nvSpPr>
        <p:spPr>
          <a:xfrm rot="16200000">
            <a:off x="2990850" y="3231118"/>
            <a:ext cx="419100" cy="457200"/>
          </a:xfrm>
          <a:prstGeom prst="accentCallout2">
            <a:avLst>
              <a:gd name="adj1" fmla="val 18750"/>
              <a:gd name="adj2" fmla="val -8333"/>
              <a:gd name="adj3" fmla="val 18750"/>
              <a:gd name="adj4" fmla="val -16667"/>
              <a:gd name="adj5" fmla="val 746267"/>
              <a:gd name="adj6" fmla="val -83503"/>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Line Callout 2 (Accent Bar) 37"/>
          <p:cNvSpPr/>
          <p:nvPr/>
        </p:nvSpPr>
        <p:spPr>
          <a:xfrm rot="16200000">
            <a:off x="4914900" y="3288268"/>
            <a:ext cx="419100" cy="342900"/>
          </a:xfrm>
          <a:prstGeom prst="accentCallout2">
            <a:avLst>
              <a:gd name="adj1" fmla="val 18750"/>
              <a:gd name="adj2" fmla="val -8333"/>
              <a:gd name="adj3" fmla="val 18750"/>
              <a:gd name="adj4" fmla="val -16667"/>
              <a:gd name="adj5" fmla="val 436310"/>
              <a:gd name="adj6" fmla="val -83503"/>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p:cNvSpPr txBox="1"/>
          <p:nvPr/>
        </p:nvSpPr>
        <p:spPr>
          <a:xfrm flipH="1">
            <a:off x="6438900" y="3859768"/>
            <a:ext cx="2468882" cy="369332"/>
          </a:xfrm>
          <a:prstGeom prst="rect">
            <a:avLst/>
          </a:prstGeom>
          <a:noFill/>
        </p:spPr>
        <p:txBody>
          <a:bodyPr wrap="square" rtlCol="0">
            <a:spAutoFit/>
          </a:bodyPr>
          <a:lstStyle/>
          <a:p>
            <a:r>
              <a:rPr lang="en-US" dirty="0"/>
              <a:t>Norton parameters</a:t>
            </a:r>
          </a:p>
        </p:txBody>
      </p:sp>
      <p:sp>
        <p:nvSpPr>
          <p:cNvPr id="40" name="TextBox 39"/>
          <p:cNvSpPr txBox="1"/>
          <p:nvPr/>
        </p:nvSpPr>
        <p:spPr>
          <a:xfrm>
            <a:off x="3009900" y="4914900"/>
            <a:ext cx="5905500" cy="507831"/>
          </a:xfrm>
          <a:prstGeom prst="rect">
            <a:avLst/>
          </a:prstGeom>
          <a:noFill/>
        </p:spPr>
        <p:txBody>
          <a:bodyPr wrap="square" rtlCol="0">
            <a:spAutoFit/>
          </a:bodyPr>
          <a:lstStyle/>
          <a:p>
            <a:pPr>
              <a:lnSpc>
                <a:spcPct val="150000"/>
              </a:lnSpc>
            </a:pPr>
            <a:r>
              <a:rPr lang="en-US" dirty="0"/>
              <a:t>i.e. one could open-circuit the terminals to find </a:t>
            </a:r>
            <a:r>
              <a:rPr lang="en-US" i="1" dirty="0" err="1"/>
              <a:t>v</a:t>
            </a:r>
            <a:r>
              <a:rPr lang="en-US" i="1" baseline="-25000" dirty="0" err="1"/>
              <a:t>T</a:t>
            </a:r>
            <a:endParaRPr lang="en-US" dirty="0"/>
          </a:p>
        </p:txBody>
      </p:sp>
      <p:graphicFrame>
        <p:nvGraphicFramePr>
          <p:cNvPr id="177159" name="Object 7"/>
          <p:cNvGraphicFramePr>
            <a:graphicFrameLocks noChangeAspect="1"/>
          </p:cNvGraphicFramePr>
          <p:nvPr/>
        </p:nvGraphicFramePr>
        <p:xfrm>
          <a:off x="2247900" y="5441950"/>
          <a:ext cx="6667500" cy="920750"/>
        </p:xfrm>
        <a:graphic>
          <a:graphicData uri="http://schemas.openxmlformats.org/presentationml/2006/ole">
            <mc:AlternateContent xmlns:mc="http://schemas.openxmlformats.org/markup-compatibility/2006">
              <mc:Choice xmlns:v="urn:schemas-microsoft-com:vml" Requires="v">
                <p:oleObj name="Equation" r:id="rId10" imgW="2806560" imgH="431640" progId="Equation.3">
                  <p:embed/>
                </p:oleObj>
              </mc:Choice>
              <mc:Fallback>
                <p:oleObj name="Equation" r:id="rId10" imgW="2806560" imgH="431640" progId="Equation.3">
                  <p:embed/>
                  <p:pic>
                    <p:nvPicPr>
                      <p:cNvPr id="0" name="Picture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47900" y="5441950"/>
                        <a:ext cx="6667500" cy="920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 name="TextBox 42"/>
          <p:cNvSpPr txBox="1"/>
          <p:nvPr/>
        </p:nvSpPr>
        <p:spPr>
          <a:xfrm>
            <a:off x="1181100" y="6159669"/>
            <a:ext cx="7886700" cy="507831"/>
          </a:xfrm>
          <a:prstGeom prst="rect">
            <a:avLst/>
          </a:prstGeom>
          <a:noFill/>
        </p:spPr>
        <p:txBody>
          <a:bodyPr wrap="square" rtlCol="0">
            <a:spAutoFit/>
          </a:bodyPr>
          <a:lstStyle/>
          <a:p>
            <a:pPr>
              <a:lnSpc>
                <a:spcPct val="150000"/>
              </a:lnSpc>
            </a:pPr>
            <a:r>
              <a:rPr lang="en-US" dirty="0"/>
              <a:t>i.e. one could short-circuit the terminals to find </a:t>
            </a:r>
            <a:r>
              <a:rPr lang="en-US" i="1" dirty="0" err="1"/>
              <a:t>i</a:t>
            </a:r>
            <a:r>
              <a:rPr lang="en-US" i="1" baseline="-25000" dirty="0" err="1"/>
              <a:t>N</a:t>
            </a:r>
            <a:r>
              <a:rPr lang="tr-TR" i="1" dirty="0"/>
              <a:t> , </a:t>
            </a:r>
            <a:r>
              <a:rPr lang="en-US" i="1" dirty="0"/>
              <a:t>and R</a:t>
            </a:r>
            <a:r>
              <a:rPr lang="en-US" i="1" baseline="-25000" dirty="0"/>
              <a:t>T</a:t>
            </a:r>
            <a:r>
              <a:rPr lang="en-US" i="1" dirty="0"/>
              <a:t> once v</a:t>
            </a:r>
            <a:r>
              <a:rPr lang="en-US" i="1" baseline="-25000" dirty="0"/>
              <a:t>oc</a:t>
            </a:r>
            <a:r>
              <a:rPr lang="en-US" i="1" dirty="0"/>
              <a:t> is known</a:t>
            </a:r>
            <a:endParaRPr lang="en-US" dirty="0"/>
          </a:p>
        </p:txBody>
      </p:sp>
      <p:graphicFrame>
        <p:nvGraphicFramePr>
          <p:cNvPr id="44" name="Object 8"/>
          <p:cNvGraphicFramePr>
            <a:graphicFrameLocks noChangeAspect="1"/>
          </p:cNvGraphicFramePr>
          <p:nvPr/>
        </p:nvGraphicFramePr>
        <p:xfrm>
          <a:off x="2301875" y="4457700"/>
          <a:ext cx="5470525" cy="500063"/>
        </p:xfrm>
        <a:graphic>
          <a:graphicData uri="http://schemas.openxmlformats.org/presentationml/2006/ole">
            <mc:AlternateContent xmlns:mc="http://schemas.openxmlformats.org/markup-compatibility/2006">
              <mc:Choice xmlns:v="urn:schemas-microsoft-com:vml" Requires="v">
                <p:oleObj name="Equation" r:id="rId12" imgW="2361960" imgH="241200" progId="Equation.3">
                  <p:embed/>
                </p:oleObj>
              </mc:Choice>
              <mc:Fallback>
                <p:oleObj name="Equation" r:id="rId12" imgW="2361960" imgH="241200" progId="Equation.3">
                  <p:embed/>
                  <p:pic>
                    <p:nvPicPr>
                      <p:cNvPr id="0" name="Picture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301875" y="4457700"/>
                        <a:ext cx="5470525" cy="500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 name="TextBox 44"/>
          <p:cNvSpPr txBox="1"/>
          <p:nvPr/>
        </p:nvSpPr>
        <p:spPr>
          <a:xfrm>
            <a:off x="538291" y="4495800"/>
            <a:ext cx="1595309" cy="369332"/>
          </a:xfrm>
          <a:prstGeom prst="rect">
            <a:avLst/>
          </a:prstGeom>
          <a:noFill/>
        </p:spPr>
        <p:txBody>
          <a:bodyPr wrap="none" rtlCol="0">
            <a:spAutoFit/>
          </a:bodyPr>
          <a:lstStyle/>
          <a:p>
            <a:r>
              <a:rPr lang="en-US" dirty="0"/>
              <a:t>It follows that:</a:t>
            </a:r>
            <a:endParaRPr lang="tr-TR" dirty="0"/>
          </a:p>
        </p:txBody>
      </p:sp>
      <p:sp>
        <p:nvSpPr>
          <p:cNvPr id="46" name="TextBox 45"/>
          <p:cNvSpPr txBox="1"/>
          <p:nvPr/>
        </p:nvSpPr>
        <p:spPr>
          <a:xfrm>
            <a:off x="114300" y="5574268"/>
            <a:ext cx="2082621" cy="369332"/>
          </a:xfrm>
          <a:prstGeom prst="rect">
            <a:avLst/>
          </a:prstGeom>
          <a:noFill/>
        </p:spPr>
        <p:txBody>
          <a:bodyPr wrap="none" rtlCol="0">
            <a:spAutoFit/>
          </a:bodyPr>
          <a:lstStyle/>
          <a:p>
            <a:r>
              <a:rPr lang="en-US" dirty="0"/>
              <a:t>It also follows that:</a:t>
            </a:r>
            <a:endParaRPr lang="tr-TR" dirty="0"/>
          </a:p>
        </p:txBody>
      </p:sp>
      <p:sp>
        <p:nvSpPr>
          <p:cNvPr id="47" name="Title 1"/>
          <p:cNvSpPr txBox="1">
            <a:spLocks/>
          </p:cNvSpPr>
          <p:nvPr/>
        </p:nvSpPr>
        <p:spPr bwMode="auto">
          <a:xfrm>
            <a:off x="228600" y="236537"/>
            <a:ext cx="72771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3200" b="0" i="0" u="none" strike="noStrike" kern="1200" cap="none" spc="0" normalizeH="0" baseline="0" noProof="0">
                <a:ln>
                  <a:noFill/>
                </a:ln>
                <a:solidFill>
                  <a:schemeClr val="tx1"/>
                </a:solidFill>
                <a:effectLst/>
                <a:uLnTx/>
                <a:uFillTx/>
                <a:latin typeface="+mj-lt"/>
                <a:ea typeface="+mj-ea"/>
                <a:cs typeface="+mj-cs"/>
              </a:rPr>
              <a:t>Deriving Thevenin &amp; Norton Equivalent Circuits:</a:t>
            </a:r>
            <a:endParaRPr kumimoji="0" lang="en-US" sz="32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52400" y="76200"/>
            <a:ext cx="7543800" cy="563563"/>
          </a:xfrm>
        </p:spPr>
        <p:txBody>
          <a:bodyPr/>
          <a:lstStyle/>
          <a:p>
            <a:r>
              <a:rPr lang="en-US" sz="3200" dirty="0" err="1"/>
              <a:t>Thevenin</a:t>
            </a:r>
            <a:r>
              <a:rPr lang="en-US" sz="3200" dirty="0"/>
              <a:t> and Norton Equivalent Derivation:</a:t>
            </a:r>
          </a:p>
        </p:txBody>
      </p:sp>
      <p:sp>
        <p:nvSpPr>
          <p:cNvPr id="9"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1" name="Slide Number Placeholder 12"/>
          <p:cNvSpPr>
            <a:spLocks noGrp="1"/>
          </p:cNvSpPr>
          <p:nvPr>
            <p:ph type="sldNum" sz="quarter" idx="11"/>
          </p:nvPr>
        </p:nvSpPr>
        <p:spPr>
          <a:xfrm>
            <a:off x="6667500" y="6454776"/>
            <a:ext cx="2438400" cy="365125"/>
          </a:xfrm>
        </p:spPr>
        <p:txBody>
          <a:bodyPr/>
          <a:lstStyle/>
          <a:p>
            <a:pPr>
              <a:defRPr/>
            </a:pPr>
            <a:fld id="{A957CEED-90C7-4FD0-AB8C-14085BB9151E}" type="slidenum">
              <a:rPr lang="en-US" smtClean="0"/>
              <a:pPr>
                <a:defRPr/>
              </a:pPr>
              <a:t>13</a:t>
            </a:fld>
            <a:endParaRPr lang="en-US" dirty="0"/>
          </a:p>
        </p:txBody>
      </p:sp>
      <p:sp>
        <p:nvSpPr>
          <p:cNvPr id="5" name="Content Placeholder 13"/>
          <p:cNvSpPr>
            <a:spLocks noGrp="1"/>
          </p:cNvSpPr>
          <p:nvPr>
            <p:ph idx="1"/>
          </p:nvPr>
        </p:nvSpPr>
        <p:spPr>
          <a:xfrm>
            <a:off x="152400" y="685800"/>
            <a:ext cx="8801100" cy="5981699"/>
          </a:xfrm>
        </p:spPr>
        <p:txBody>
          <a:bodyPr/>
          <a:lstStyle/>
          <a:p>
            <a:pPr>
              <a:buNone/>
            </a:pPr>
            <a:r>
              <a:rPr lang="en-US" sz="2200" dirty="0" err="1"/>
              <a:t>Thevenin</a:t>
            </a:r>
            <a:r>
              <a:rPr lang="en-US" sz="2200" dirty="0"/>
              <a:t> and Norton equivalent circuits can be obtained by applying </a:t>
            </a:r>
            <a:r>
              <a:rPr lang="en-US" sz="2200" b="1" i="1" dirty="0"/>
              <a:t>any 2</a:t>
            </a:r>
            <a:r>
              <a:rPr lang="en-US" sz="2200" dirty="0"/>
              <a:t> of the following 3 steps (1-3). [Applying all 3 is </a:t>
            </a:r>
            <a:r>
              <a:rPr lang="en-US" sz="2200" i="1" dirty="0"/>
              <a:t>not</a:t>
            </a:r>
            <a:r>
              <a:rPr lang="en-US" sz="2200" dirty="0"/>
              <a:t> necessary.]</a:t>
            </a:r>
          </a:p>
          <a:p>
            <a:pPr marL="457200" indent="-457200">
              <a:buAutoNum type="arabicPeriod"/>
            </a:pPr>
            <a:r>
              <a:rPr lang="en-US" sz="2200" dirty="0"/>
              <a:t> </a:t>
            </a:r>
            <a:endParaRPr lang="en-US" sz="2200" baseline="-25000" dirty="0"/>
          </a:p>
          <a:p>
            <a:pPr marL="457200" indent="-457200">
              <a:buAutoNum type="arabicPeriod"/>
            </a:pPr>
            <a:r>
              <a:rPr lang="en-US" sz="2200" dirty="0"/>
              <a:t> </a:t>
            </a:r>
            <a:endParaRPr lang="en-US" sz="2200" baseline="-25000" dirty="0"/>
          </a:p>
          <a:p>
            <a:pPr marL="457200" indent="-457200">
              <a:buNone/>
            </a:pPr>
            <a:endParaRPr lang="en-US" sz="900" dirty="0"/>
          </a:p>
          <a:p>
            <a:pPr marL="457200" indent="-457200">
              <a:buNone/>
            </a:pPr>
            <a:endParaRPr lang="en-US" sz="2200" dirty="0"/>
          </a:p>
          <a:p>
            <a:pPr marL="457200" indent="-457200">
              <a:buNone/>
            </a:pPr>
            <a:endParaRPr lang="en-US" sz="2200" dirty="0"/>
          </a:p>
          <a:p>
            <a:pPr marL="457200" indent="-457200">
              <a:buNone/>
            </a:pPr>
            <a:endParaRPr lang="en-US" sz="2200" dirty="0"/>
          </a:p>
          <a:p>
            <a:pPr marL="457200" indent="-457200">
              <a:buNone/>
            </a:pPr>
            <a:endParaRPr lang="en-US" sz="2200" dirty="0"/>
          </a:p>
          <a:p>
            <a:pPr marL="457200" indent="-457200">
              <a:buFont typeface="+mj-lt"/>
              <a:buAutoNum type="arabicPeriod" startAt="3"/>
            </a:pPr>
            <a:r>
              <a:rPr lang="en-US" sz="2200" dirty="0"/>
              <a:t> </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1" name="Slide Number Placeholder 12"/>
          <p:cNvSpPr>
            <a:spLocks noGrp="1"/>
          </p:cNvSpPr>
          <p:nvPr>
            <p:ph type="sldNum" sz="quarter" idx="11"/>
          </p:nvPr>
        </p:nvSpPr>
        <p:spPr>
          <a:xfrm>
            <a:off x="6667500" y="6454776"/>
            <a:ext cx="2438400" cy="365125"/>
          </a:xfrm>
        </p:spPr>
        <p:txBody>
          <a:bodyPr/>
          <a:lstStyle/>
          <a:p>
            <a:pPr>
              <a:defRPr/>
            </a:pPr>
            <a:fld id="{A957CEED-90C7-4FD0-AB8C-14085BB9151E}" type="slidenum">
              <a:rPr lang="en-US" smtClean="0"/>
              <a:pPr>
                <a:defRPr/>
              </a:pPr>
              <a:t>14</a:t>
            </a:fld>
            <a:endParaRPr lang="en-US" dirty="0"/>
          </a:p>
        </p:txBody>
      </p:sp>
      <p:sp>
        <p:nvSpPr>
          <p:cNvPr id="5" name="Content Placeholder 13"/>
          <p:cNvSpPr>
            <a:spLocks noGrp="1"/>
          </p:cNvSpPr>
          <p:nvPr>
            <p:ph idx="1"/>
          </p:nvPr>
        </p:nvSpPr>
        <p:spPr>
          <a:xfrm>
            <a:off x="152400" y="685800"/>
            <a:ext cx="8801100" cy="5981699"/>
          </a:xfrm>
        </p:spPr>
        <p:txBody>
          <a:bodyPr/>
          <a:lstStyle/>
          <a:p>
            <a:pPr>
              <a:buNone/>
            </a:pPr>
            <a:r>
              <a:rPr lang="en-US" sz="2200" dirty="0" err="1"/>
              <a:t>Thevenin</a:t>
            </a:r>
            <a:r>
              <a:rPr lang="en-US" sz="2200" dirty="0"/>
              <a:t> and Norton equivalent circuits can be obtained by applying </a:t>
            </a:r>
            <a:r>
              <a:rPr lang="en-US" sz="2200" b="1" i="1" dirty="0"/>
              <a:t>any 2</a:t>
            </a:r>
            <a:r>
              <a:rPr lang="en-US" sz="2200" dirty="0"/>
              <a:t> of the following 3 steps (1-3). [Applying all 3 is </a:t>
            </a:r>
            <a:r>
              <a:rPr lang="en-US" sz="2200" i="1" dirty="0"/>
              <a:t>not</a:t>
            </a:r>
            <a:r>
              <a:rPr lang="en-US" sz="2200" dirty="0"/>
              <a:t> necessary.]</a:t>
            </a:r>
          </a:p>
          <a:p>
            <a:pPr marL="457200" indent="-457200">
              <a:buAutoNum type="arabicPeriod"/>
            </a:pPr>
            <a:r>
              <a:rPr lang="en-US" sz="2200" dirty="0"/>
              <a:t>Open-circuit the terminals and calculate the open circuit voltage v</a:t>
            </a:r>
            <a:r>
              <a:rPr lang="en-US" sz="2200" baseline="-25000" dirty="0"/>
              <a:t>oc</a:t>
            </a:r>
          </a:p>
          <a:p>
            <a:pPr marL="457200" indent="-457200">
              <a:buAutoNum type="arabicPeriod"/>
            </a:pPr>
            <a:r>
              <a:rPr lang="en-US" sz="2200" dirty="0"/>
              <a:t> </a:t>
            </a:r>
            <a:endParaRPr lang="en-US" sz="2200" baseline="-25000" dirty="0"/>
          </a:p>
          <a:p>
            <a:pPr marL="457200" indent="-457200">
              <a:buNone/>
            </a:pPr>
            <a:endParaRPr lang="en-US" sz="900" dirty="0"/>
          </a:p>
          <a:p>
            <a:pPr marL="457200" indent="-457200">
              <a:buNone/>
            </a:pPr>
            <a:endParaRPr lang="en-US" sz="2200" dirty="0"/>
          </a:p>
          <a:p>
            <a:pPr marL="457200" indent="-457200">
              <a:buNone/>
            </a:pPr>
            <a:endParaRPr lang="en-US" sz="2200" dirty="0"/>
          </a:p>
          <a:p>
            <a:pPr marL="457200" indent="-457200">
              <a:buNone/>
            </a:pPr>
            <a:endParaRPr lang="en-US" sz="2200" dirty="0"/>
          </a:p>
          <a:p>
            <a:pPr marL="457200" indent="-457200">
              <a:buNone/>
            </a:pPr>
            <a:endParaRPr lang="en-US" sz="2200" dirty="0"/>
          </a:p>
          <a:p>
            <a:pPr marL="457200" indent="-457200">
              <a:buFont typeface="+mj-lt"/>
              <a:buAutoNum type="arabicPeriod" startAt="3"/>
            </a:pPr>
            <a:r>
              <a:rPr lang="en-US" sz="2200" dirty="0"/>
              <a:t> </a:t>
            </a:r>
          </a:p>
        </p:txBody>
      </p:sp>
      <p:sp>
        <p:nvSpPr>
          <p:cNvPr id="7" name="Title 1"/>
          <p:cNvSpPr>
            <a:spLocks noGrp="1"/>
          </p:cNvSpPr>
          <p:nvPr>
            <p:ph type="title"/>
          </p:nvPr>
        </p:nvSpPr>
        <p:spPr>
          <a:xfrm>
            <a:off x="152400" y="76200"/>
            <a:ext cx="7543800" cy="563563"/>
          </a:xfrm>
        </p:spPr>
        <p:txBody>
          <a:bodyPr/>
          <a:lstStyle/>
          <a:p>
            <a:r>
              <a:rPr lang="en-US" sz="3200" dirty="0" err="1"/>
              <a:t>Thevenin</a:t>
            </a:r>
            <a:r>
              <a:rPr lang="en-US" sz="3200" dirty="0"/>
              <a:t> and Norton Equivalent Derivation:</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1" name="Slide Number Placeholder 12"/>
          <p:cNvSpPr>
            <a:spLocks noGrp="1"/>
          </p:cNvSpPr>
          <p:nvPr>
            <p:ph type="sldNum" sz="quarter" idx="11"/>
          </p:nvPr>
        </p:nvSpPr>
        <p:spPr>
          <a:xfrm>
            <a:off x="6667500" y="6454776"/>
            <a:ext cx="2438400" cy="365125"/>
          </a:xfrm>
        </p:spPr>
        <p:txBody>
          <a:bodyPr/>
          <a:lstStyle/>
          <a:p>
            <a:pPr>
              <a:defRPr/>
            </a:pPr>
            <a:fld id="{A957CEED-90C7-4FD0-AB8C-14085BB9151E}" type="slidenum">
              <a:rPr lang="en-US" smtClean="0"/>
              <a:pPr>
                <a:defRPr/>
              </a:pPr>
              <a:t>15</a:t>
            </a:fld>
            <a:endParaRPr lang="en-US" dirty="0"/>
          </a:p>
        </p:txBody>
      </p:sp>
      <p:sp>
        <p:nvSpPr>
          <p:cNvPr id="5" name="Content Placeholder 13"/>
          <p:cNvSpPr>
            <a:spLocks noGrp="1"/>
          </p:cNvSpPr>
          <p:nvPr>
            <p:ph idx="1"/>
          </p:nvPr>
        </p:nvSpPr>
        <p:spPr>
          <a:xfrm>
            <a:off x="152400" y="685800"/>
            <a:ext cx="8801100" cy="5981699"/>
          </a:xfrm>
        </p:spPr>
        <p:txBody>
          <a:bodyPr/>
          <a:lstStyle/>
          <a:p>
            <a:pPr>
              <a:buNone/>
            </a:pPr>
            <a:r>
              <a:rPr lang="en-US" sz="2200" dirty="0" err="1"/>
              <a:t>Thevenin</a:t>
            </a:r>
            <a:r>
              <a:rPr lang="en-US" sz="2200" dirty="0"/>
              <a:t> and Norton equivalent circuits can be obtained by applying </a:t>
            </a:r>
            <a:r>
              <a:rPr lang="en-US" sz="2200" b="1" i="1" dirty="0"/>
              <a:t>any 2</a:t>
            </a:r>
            <a:r>
              <a:rPr lang="en-US" sz="2200" dirty="0"/>
              <a:t> of the following 3 steps (1-3). [Applying all 3 is </a:t>
            </a:r>
            <a:r>
              <a:rPr lang="en-US" sz="2200" i="1" dirty="0"/>
              <a:t>not</a:t>
            </a:r>
            <a:r>
              <a:rPr lang="en-US" sz="2200" dirty="0"/>
              <a:t> necessary.]</a:t>
            </a:r>
          </a:p>
          <a:p>
            <a:pPr marL="457200" indent="-457200">
              <a:buAutoNum type="arabicPeriod"/>
            </a:pPr>
            <a:r>
              <a:rPr lang="en-US" sz="2200" dirty="0"/>
              <a:t>Open-circuit the terminals and calculate the open circuit voltage v</a:t>
            </a:r>
            <a:r>
              <a:rPr lang="en-US" sz="2200" baseline="-25000" dirty="0"/>
              <a:t>oc</a:t>
            </a:r>
          </a:p>
          <a:p>
            <a:pPr marL="457200" indent="-457200">
              <a:buAutoNum type="arabicPeriod"/>
            </a:pPr>
            <a:r>
              <a:rPr lang="en-US" sz="2200" dirty="0"/>
              <a:t>Short-circuit the terminals and calculate the short circuit current </a:t>
            </a:r>
            <a:r>
              <a:rPr lang="en-US" sz="2200" dirty="0" err="1"/>
              <a:t>i</a:t>
            </a:r>
            <a:r>
              <a:rPr lang="en-US" sz="2200" baseline="-25000" dirty="0" err="1"/>
              <a:t>sc</a:t>
            </a:r>
            <a:endParaRPr lang="en-US" sz="2200" baseline="-25000" dirty="0"/>
          </a:p>
          <a:p>
            <a:pPr marL="457200" indent="-457200">
              <a:buNone/>
            </a:pPr>
            <a:endParaRPr lang="en-US" sz="900" dirty="0"/>
          </a:p>
          <a:p>
            <a:pPr marL="457200" indent="-457200">
              <a:buNone/>
            </a:pPr>
            <a:endParaRPr lang="en-US" sz="2200" dirty="0"/>
          </a:p>
          <a:p>
            <a:pPr marL="457200" indent="-457200">
              <a:buNone/>
            </a:pPr>
            <a:endParaRPr lang="en-US" sz="2200" dirty="0"/>
          </a:p>
          <a:p>
            <a:pPr marL="457200" indent="-457200">
              <a:buNone/>
            </a:pPr>
            <a:endParaRPr lang="en-US" sz="2200" dirty="0"/>
          </a:p>
          <a:p>
            <a:pPr marL="457200" indent="-457200">
              <a:buNone/>
            </a:pPr>
            <a:endParaRPr lang="en-US" sz="2200" dirty="0"/>
          </a:p>
          <a:p>
            <a:pPr marL="457200" indent="-457200">
              <a:buFont typeface="+mj-lt"/>
              <a:buAutoNum type="arabicPeriod" startAt="3"/>
            </a:pPr>
            <a:r>
              <a:rPr lang="en-US" sz="2200" dirty="0"/>
              <a:t> </a:t>
            </a:r>
          </a:p>
        </p:txBody>
      </p:sp>
      <p:sp>
        <p:nvSpPr>
          <p:cNvPr id="7" name="Title 1"/>
          <p:cNvSpPr>
            <a:spLocks noGrp="1"/>
          </p:cNvSpPr>
          <p:nvPr>
            <p:ph type="title"/>
          </p:nvPr>
        </p:nvSpPr>
        <p:spPr>
          <a:xfrm>
            <a:off x="152400" y="76200"/>
            <a:ext cx="7543800" cy="563563"/>
          </a:xfrm>
        </p:spPr>
        <p:txBody>
          <a:bodyPr/>
          <a:lstStyle/>
          <a:p>
            <a:r>
              <a:rPr lang="en-US" sz="3200" dirty="0" err="1"/>
              <a:t>Thevenin</a:t>
            </a:r>
            <a:r>
              <a:rPr lang="en-US" sz="3200" dirty="0"/>
              <a:t> and Norton Equivalent Derivation:</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1" name="Slide Number Placeholder 12"/>
          <p:cNvSpPr>
            <a:spLocks noGrp="1"/>
          </p:cNvSpPr>
          <p:nvPr>
            <p:ph type="sldNum" sz="quarter" idx="11"/>
          </p:nvPr>
        </p:nvSpPr>
        <p:spPr>
          <a:xfrm>
            <a:off x="6667500" y="6454776"/>
            <a:ext cx="2438400" cy="365125"/>
          </a:xfrm>
        </p:spPr>
        <p:txBody>
          <a:bodyPr/>
          <a:lstStyle/>
          <a:p>
            <a:pPr>
              <a:defRPr/>
            </a:pPr>
            <a:fld id="{A957CEED-90C7-4FD0-AB8C-14085BB9151E}" type="slidenum">
              <a:rPr lang="en-US" smtClean="0"/>
              <a:pPr>
                <a:defRPr/>
              </a:pPr>
              <a:t>16</a:t>
            </a:fld>
            <a:endParaRPr lang="en-US" dirty="0"/>
          </a:p>
        </p:txBody>
      </p:sp>
      <p:sp>
        <p:nvSpPr>
          <p:cNvPr id="5" name="Content Placeholder 13"/>
          <p:cNvSpPr>
            <a:spLocks noGrp="1"/>
          </p:cNvSpPr>
          <p:nvPr>
            <p:ph idx="1"/>
          </p:nvPr>
        </p:nvSpPr>
        <p:spPr>
          <a:xfrm>
            <a:off x="152400" y="685800"/>
            <a:ext cx="8801100" cy="5981699"/>
          </a:xfrm>
        </p:spPr>
        <p:txBody>
          <a:bodyPr/>
          <a:lstStyle/>
          <a:p>
            <a:pPr>
              <a:buNone/>
            </a:pPr>
            <a:r>
              <a:rPr lang="en-US" sz="2200" dirty="0" err="1"/>
              <a:t>Thevenin</a:t>
            </a:r>
            <a:r>
              <a:rPr lang="en-US" sz="2200" dirty="0"/>
              <a:t> and Norton equivalent circuits can be obtained by applying </a:t>
            </a:r>
            <a:r>
              <a:rPr lang="en-US" sz="2200" b="1" i="1" dirty="0"/>
              <a:t>any 2</a:t>
            </a:r>
            <a:r>
              <a:rPr lang="en-US" sz="2200" dirty="0"/>
              <a:t> of the following 3 steps (1-3). [Applying all 3 is </a:t>
            </a:r>
            <a:r>
              <a:rPr lang="en-US" sz="2200" i="1" dirty="0"/>
              <a:t>not</a:t>
            </a:r>
            <a:r>
              <a:rPr lang="en-US" sz="2200" dirty="0"/>
              <a:t> necessary.]</a:t>
            </a:r>
          </a:p>
          <a:p>
            <a:pPr marL="457200" indent="-457200">
              <a:buAutoNum type="arabicPeriod"/>
            </a:pPr>
            <a:r>
              <a:rPr lang="en-US" sz="2200" dirty="0"/>
              <a:t>Open-circuit the terminals and calculate the open circuit voltage v</a:t>
            </a:r>
            <a:r>
              <a:rPr lang="en-US" sz="2200" baseline="-25000" dirty="0"/>
              <a:t>oc</a:t>
            </a:r>
          </a:p>
          <a:p>
            <a:pPr marL="457200" indent="-457200">
              <a:buAutoNum type="arabicPeriod"/>
            </a:pPr>
            <a:r>
              <a:rPr lang="en-US" sz="2200" dirty="0"/>
              <a:t>Short-circuit the terminals and calculate the short circuit current </a:t>
            </a:r>
            <a:r>
              <a:rPr lang="en-US" sz="2200" dirty="0" err="1"/>
              <a:t>i</a:t>
            </a:r>
            <a:r>
              <a:rPr lang="en-US" sz="2200" baseline="-25000" dirty="0" err="1"/>
              <a:t>sc</a:t>
            </a:r>
            <a:endParaRPr lang="en-US" sz="2200" baseline="-25000" dirty="0"/>
          </a:p>
          <a:p>
            <a:pPr marL="457200" indent="-457200">
              <a:buNone/>
            </a:pPr>
            <a:endParaRPr lang="en-US" sz="900" dirty="0"/>
          </a:p>
          <a:p>
            <a:pPr marL="457200" indent="-457200">
              <a:buNone/>
            </a:pPr>
            <a:r>
              <a:rPr lang="en-US" sz="2200" dirty="0" err="1"/>
              <a:t>Thevenin</a:t>
            </a:r>
            <a:r>
              <a:rPr lang="en-US" sz="2200" dirty="0"/>
              <a:t> equivalent may then be found from:</a:t>
            </a:r>
          </a:p>
          <a:p>
            <a:pPr marL="457200" indent="-457200">
              <a:buNone/>
            </a:pPr>
            <a:endParaRPr lang="en-US" sz="2200" dirty="0"/>
          </a:p>
          <a:p>
            <a:pPr marL="457200" indent="-457200">
              <a:buNone/>
            </a:pPr>
            <a:r>
              <a:rPr lang="en-US" sz="2200" dirty="0"/>
              <a:t>and Norton equivalent may be found from:</a:t>
            </a:r>
          </a:p>
          <a:p>
            <a:pPr marL="457200" indent="-457200">
              <a:buNone/>
            </a:pPr>
            <a:endParaRPr lang="en-US" sz="2200" dirty="0"/>
          </a:p>
          <a:p>
            <a:pPr marL="457200" indent="-457200">
              <a:buFont typeface="+mj-lt"/>
              <a:buAutoNum type="arabicPeriod" startAt="3"/>
            </a:pPr>
            <a:r>
              <a:rPr lang="en-US" sz="2200" dirty="0"/>
              <a:t> </a:t>
            </a:r>
          </a:p>
        </p:txBody>
      </p:sp>
      <p:graphicFrame>
        <p:nvGraphicFramePr>
          <p:cNvPr id="180228" name="Object 4"/>
          <p:cNvGraphicFramePr>
            <a:graphicFrameLocks noChangeAspect="1"/>
          </p:cNvGraphicFramePr>
          <p:nvPr/>
        </p:nvGraphicFramePr>
        <p:xfrm>
          <a:off x="5572125" y="2362200"/>
          <a:ext cx="1628775" cy="561975"/>
        </p:xfrm>
        <a:graphic>
          <a:graphicData uri="http://schemas.openxmlformats.org/presentationml/2006/ole">
            <mc:AlternateContent xmlns:mc="http://schemas.openxmlformats.org/markup-compatibility/2006">
              <mc:Choice xmlns:v="urn:schemas-microsoft-com:vml" Requires="v">
                <p:oleObj name="Equation" r:id="rId2" imgW="507960" imgH="215640" progId="Equation.3">
                  <p:embed/>
                </p:oleObj>
              </mc:Choice>
              <mc:Fallback>
                <p:oleObj name="Equation" r:id="rId2" imgW="507960" imgH="215640" progId="Equation.3">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2125" y="2362200"/>
                        <a:ext cx="1628775" cy="561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0229" name="Object 5"/>
          <p:cNvGraphicFramePr>
            <a:graphicFrameLocks noChangeAspect="1"/>
          </p:cNvGraphicFramePr>
          <p:nvPr/>
        </p:nvGraphicFramePr>
        <p:xfrm>
          <a:off x="7200900" y="2205038"/>
          <a:ext cx="1546225" cy="957262"/>
        </p:xfrm>
        <a:graphic>
          <a:graphicData uri="http://schemas.openxmlformats.org/presentationml/2006/ole">
            <mc:AlternateContent xmlns:mc="http://schemas.openxmlformats.org/markup-compatibility/2006">
              <mc:Choice xmlns:v="urn:schemas-microsoft-com:vml" Requires="v">
                <p:oleObj name="Equation" r:id="rId4" imgW="482400" imgH="368280" progId="Equation.3">
                  <p:embed/>
                </p:oleObj>
              </mc:Choice>
              <mc:Fallback>
                <p:oleObj name="Equation" r:id="rId4" imgW="482400" imgH="368280" progId="Equation.3">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00900" y="2205038"/>
                        <a:ext cx="1546225" cy="957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Object 4"/>
          <p:cNvGraphicFramePr>
            <a:graphicFrameLocks noChangeAspect="1"/>
          </p:cNvGraphicFramePr>
          <p:nvPr/>
        </p:nvGraphicFramePr>
        <p:xfrm>
          <a:off x="5257800" y="3195637"/>
          <a:ext cx="1504950" cy="561975"/>
        </p:xfrm>
        <a:graphic>
          <a:graphicData uri="http://schemas.openxmlformats.org/presentationml/2006/ole">
            <mc:AlternateContent xmlns:mc="http://schemas.openxmlformats.org/markup-compatibility/2006">
              <mc:Choice xmlns:v="urn:schemas-microsoft-com:vml" Requires="v">
                <p:oleObj name="Equation" r:id="rId6" imgW="469800" imgH="215640" progId="Equation.3">
                  <p:embed/>
                </p:oleObj>
              </mc:Choice>
              <mc:Fallback>
                <p:oleObj name="Equation" r:id="rId6" imgW="469800" imgH="215640" progId="Equation.3">
                  <p:embed/>
                  <p:pic>
                    <p:nvPicPr>
                      <p:cNvPr id="0"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57800" y="3195637"/>
                        <a:ext cx="1504950" cy="561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Object 5"/>
          <p:cNvGraphicFramePr>
            <a:graphicFrameLocks noChangeAspect="1"/>
          </p:cNvGraphicFramePr>
          <p:nvPr/>
        </p:nvGraphicFramePr>
        <p:xfrm>
          <a:off x="6846883" y="3009900"/>
          <a:ext cx="2144717" cy="905859"/>
        </p:xfrm>
        <a:graphic>
          <a:graphicData uri="http://schemas.openxmlformats.org/presentationml/2006/ole">
            <mc:AlternateContent xmlns:mc="http://schemas.openxmlformats.org/markup-compatibility/2006">
              <mc:Choice xmlns:v="urn:schemas-microsoft-com:vml" Requires="v">
                <p:oleObj name="Equation" r:id="rId8" imgW="901440" imgH="431640" progId="Equation.3">
                  <p:embed/>
                </p:oleObj>
              </mc:Choice>
              <mc:Fallback>
                <p:oleObj name="Equation" r:id="rId8" imgW="901440" imgH="431640" progId="Equation.3">
                  <p:embed/>
                  <p:pic>
                    <p:nvPicPr>
                      <p:cNvPr id="0"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846883" y="3009900"/>
                        <a:ext cx="2144717" cy="9058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itle 1"/>
          <p:cNvSpPr>
            <a:spLocks noGrp="1"/>
          </p:cNvSpPr>
          <p:nvPr>
            <p:ph type="title"/>
          </p:nvPr>
        </p:nvSpPr>
        <p:spPr>
          <a:xfrm>
            <a:off x="152400" y="76200"/>
            <a:ext cx="7543800" cy="563563"/>
          </a:xfrm>
        </p:spPr>
        <p:txBody>
          <a:bodyPr/>
          <a:lstStyle/>
          <a:p>
            <a:r>
              <a:rPr lang="en-US" sz="3200" dirty="0" err="1"/>
              <a:t>Thevenin</a:t>
            </a:r>
            <a:r>
              <a:rPr lang="en-US" sz="3200" dirty="0"/>
              <a:t> and Norton Equivalent Derivation:</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1" name="Slide Number Placeholder 12"/>
          <p:cNvSpPr>
            <a:spLocks noGrp="1"/>
          </p:cNvSpPr>
          <p:nvPr>
            <p:ph type="sldNum" sz="quarter" idx="11"/>
          </p:nvPr>
        </p:nvSpPr>
        <p:spPr>
          <a:xfrm>
            <a:off x="6667500" y="6454776"/>
            <a:ext cx="2438400" cy="365125"/>
          </a:xfrm>
        </p:spPr>
        <p:txBody>
          <a:bodyPr/>
          <a:lstStyle/>
          <a:p>
            <a:pPr>
              <a:defRPr/>
            </a:pPr>
            <a:fld id="{A957CEED-90C7-4FD0-AB8C-14085BB9151E}" type="slidenum">
              <a:rPr lang="en-US" smtClean="0"/>
              <a:pPr>
                <a:defRPr/>
              </a:pPr>
              <a:t>17</a:t>
            </a:fld>
            <a:endParaRPr lang="en-US" dirty="0"/>
          </a:p>
        </p:txBody>
      </p:sp>
      <p:sp>
        <p:nvSpPr>
          <p:cNvPr id="5" name="Content Placeholder 13"/>
          <p:cNvSpPr>
            <a:spLocks noGrp="1"/>
          </p:cNvSpPr>
          <p:nvPr>
            <p:ph idx="1"/>
          </p:nvPr>
        </p:nvSpPr>
        <p:spPr>
          <a:xfrm>
            <a:off x="152400" y="685800"/>
            <a:ext cx="8801100" cy="5981699"/>
          </a:xfrm>
        </p:spPr>
        <p:txBody>
          <a:bodyPr/>
          <a:lstStyle/>
          <a:p>
            <a:pPr>
              <a:buNone/>
            </a:pPr>
            <a:r>
              <a:rPr lang="en-US" sz="2200" dirty="0" err="1"/>
              <a:t>Thevenin</a:t>
            </a:r>
            <a:r>
              <a:rPr lang="en-US" sz="2200" dirty="0"/>
              <a:t> and Norton equivalent circuits can be obtained by applying </a:t>
            </a:r>
            <a:r>
              <a:rPr lang="en-US" sz="2200" b="1" i="1" dirty="0"/>
              <a:t>any 2</a:t>
            </a:r>
            <a:r>
              <a:rPr lang="en-US" sz="2200" dirty="0"/>
              <a:t> of the following 3 steps (1-3). [Applying all 3 is </a:t>
            </a:r>
            <a:r>
              <a:rPr lang="en-US" sz="2200" i="1" dirty="0"/>
              <a:t>not</a:t>
            </a:r>
            <a:r>
              <a:rPr lang="en-US" sz="2200" dirty="0"/>
              <a:t> necessary.]</a:t>
            </a:r>
          </a:p>
          <a:p>
            <a:pPr marL="457200" indent="-457200">
              <a:buAutoNum type="arabicPeriod"/>
            </a:pPr>
            <a:r>
              <a:rPr lang="en-US" sz="2200" dirty="0"/>
              <a:t>Open-circuit the terminals and calculate the open circuit voltage v</a:t>
            </a:r>
            <a:r>
              <a:rPr lang="en-US" sz="2200" baseline="-25000" dirty="0"/>
              <a:t>oc</a:t>
            </a:r>
          </a:p>
          <a:p>
            <a:pPr marL="457200" indent="-457200">
              <a:buAutoNum type="arabicPeriod"/>
            </a:pPr>
            <a:r>
              <a:rPr lang="en-US" sz="2200" dirty="0"/>
              <a:t>Short-circuit the terminals and calculate the short circuit current </a:t>
            </a:r>
            <a:r>
              <a:rPr lang="en-US" sz="2200" dirty="0" err="1"/>
              <a:t>i</a:t>
            </a:r>
            <a:r>
              <a:rPr lang="en-US" sz="2200" baseline="-25000" dirty="0" err="1"/>
              <a:t>sc</a:t>
            </a:r>
            <a:endParaRPr lang="en-US" sz="2200" baseline="-25000" dirty="0"/>
          </a:p>
          <a:p>
            <a:pPr marL="457200" indent="-457200">
              <a:buNone/>
            </a:pPr>
            <a:endParaRPr lang="en-US" sz="900" dirty="0"/>
          </a:p>
          <a:p>
            <a:pPr marL="457200" indent="-457200">
              <a:buNone/>
            </a:pPr>
            <a:r>
              <a:rPr lang="en-US" sz="2200" dirty="0" err="1"/>
              <a:t>Thevenin</a:t>
            </a:r>
            <a:r>
              <a:rPr lang="en-US" sz="2200" dirty="0"/>
              <a:t> equivalent may then be found from:</a:t>
            </a:r>
          </a:p>
          <a:p>
            <a:pPr marL="457200" indent="-457200">
              <a:buNone/>
            </a:pPr>
            <a:endParaRPr lang="en-US" sz="2200" dirty="0"/>
          </a:p>
          <a:p>
            <a:pPr marL="457200" indent="-457200">
              <a:buNone/>
            </a:pPr>
            <a:r>
              <a:rPr lang="en-US" sz="2200" dirty="0"/>
              <a:t>and Norton equivalent may be found from:</a:t>
            </a:r>
          </a:p>
          <a:p>
            <a:pPr marL="457200" indent="-457200">
              <a:buNone/>
            </a:pPr>
            <a:endParaRPr lang="en-US" sz="2200" dirty="0"/>
          </a:p>
          <a:p>
            <a:pPr marL="457200" indent="-457200">
              <a:buFont typeface="+mj-lt"/>
              <a:buAutoNum type="arabicPeriod" startAt="3"/>
            </a:pPr>
            <a:r>
              <a:rPr lang="en-US" sz="2200" dirty="0"/>
              <a:t>A) Alternatively, equivalent </a:t>
            </a:r>
            <a:r>
              <a:rPr lang="en-US" sz="2200" dirty="0" err="1"/>
              <a:t>Thevenin</a:t>
            </a:r>
            <a:r>
              <a:rPr lang="en-US" sz="2200" dirty="0"/>
              <a:t> resistance, </a:t>
            </a:r>
            <a:r>
              <a:rPr lang="en-US" sz="2200" i="1" dirty="0"/>
              <a:t>R</a:t>
            </a:r>
            <a:r>
              <a:rPr lang="en-US" sz="2200" i="1" baseline="-25000" dirty="0"/>
              <a:t>T</a:t>
            </a:r>
            <a:r>
              <a:rPr lang="en-US" sz="2200" dirty="0"/>
              <a:t>, and Norton resistance, </a:t>
            </a:r>
            <a:r>
              <a:rPr lang="en-US" sz="2200" i="1" dirty="0"/>
              <a:t>R</a:t>
            </a:r>
            <a:r>
              <a:rPr lang="en-US" sz="2200" i="1" baseline="-25000" dirty="0"/>
              <a:t>N</a:t>
            </a:r>
            <a:r>
              <a:rPr lang="en-US" sz="2200" dirty="0"/>
              <a:t>, can be computed as the resistance looking into the terminals of the circuit when all internal sources have been </a:t>
            </a:r>
            <a:r>
              <a:rPr lang="en-US" sz="2200" i="1" u="sng" dirty="0"/>
              <a:t>killed</a:t>
            </a:r>
            <a:r>
              <a:rPr lang="en-US" sz="2200" dirty="0"/>
              <a:t> (shut-down). In this state, </a:t>
            </a:r>
            <a:r>
              <a:rPr lang="en-US" sz="2200" b="1" dirty="0"/>
              <a:t>independent voltage sources </a:t>
            </a:r>
            <a:r>
              <a:rPr lang="en-US" sz="2200" dirty="0"/>
              <a:t>are </a:t>
            </a:r>
            <a:r>
              <a:rPr lang="en-US" sz="2200" b="1" dirty="0"/>
              <a:t>replaced by short circuits</a:t>
            </a:r>
            <a:r>
              <a:rPr lang="en-US" sz="2200" dirty="0"/>
              <a:t>, and</a:t>
            </a:r>
            <a:r>
              <a:rPr lang="en-US" sz="2200" b="1" dirty="0"/>
              <a:t> independent current sources </a:t>
            </a:r>
            <a:r>
              <a:rPr lang="en-US" sz="2200" dirty="0"/>
              <a:t>with </a:t>
            </a:r>
            <a:r>
              <a:rPr lang="en-US" sz="2200" b="1" dirty="0"/>
              <a:t>open circuits</a:t>
            </a:r>
            <a:r>
              <a:rPr lang="en-US" sz="2200" dirty="0"/>
              <a:t>. This method can only be used </a:t>
            </a:r>
            <a:r>
              <a:rPr lang="en-US" sz="2200" b="1" i="1" dirty="0"/>
              <a:t>when there are no dependent sources </a:t>
            </a:r>
            <a:r>
              <a:rPr lang="en-US" sz="2200" dirty="0"/>
              <a:t>in the circuit.</a:t>
            </a:r>
          </a:p>
        </p:txBody>
      </p:sp>
      <p:graphicFrame>
        <p:nvGraphicFramePr>
          <p:cNvPr id="180228" name="Object 4"/>
          <p:cNvGraphicFramePr>
            <a:graphicFrameLocks noChangeAspect="1"/>
          </p:cNvGraphicFramePr>
          <p:nvPr/>
        </p:nvGraphicFramePr>
        <p:xfrm>
          <a:off x="5572125" y="2362200"/>
          <a:ext cx="1628775" cy="561975"/>
        </p:xfrm>
        <a:graphic>
          <a:graphicData uri="http://schemas.openxmlformats.org/presentationml/2006/ole">
            <mc:AlternateContent xmlns:mc="http://schemas.openxmlformats.org/markup-compatibility/2006">
              <mc:Choice xmlns:v="urn:schemas-microsoft-com:vml" Requires="v">
                <p:oleObj name="Equation" r:id="rId2" imgW="507960" imgH="215640" progId="Equation.3">
                  <p:embed/>
                </p:oleObj>
              </mc:Choice>
              <mc:Fallback>
                <p:oleObj name="Equation" r:id="rId2" imgW="507960" imgH="215640" progId="Equation.3">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2125" y="2362200"/>
                        <a:ext cx="1628775" cy="561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0229" name="Object 5"/>
          <p:cNvGraphicFramePr>
            <a:graphicFrameLocks noChangeAspect="1"/>
          </p:cNvGraphicFramePr>
          <p:nvPr/>
        </p:nvGraphicFramePr>
        <p:xfrm>
          <a:off x="7200900" y="2205038"/>
          <a:ext cx="1546225" cy="957262"/>
        </p:xfrm>
        <a:graphic>
          <a:graphicData uri="http://schemas.openxmlformats.org/presentationml/2006/ole">
            <mc:AlternateContent xmlns:mc="http://schemas.openxmlformats.org/markup-compatibility/2006">
              <mc:Choice xmlns:v="urn:schemas-microsoft-com:vml" Requires="v">
                <p:oleObj name="Equation" r:id="rId4" imgW="482400" imgH="368280" progId="Equation.3">
                  <p:embed/>
                </p:oleObj>
              </mc:Choice>
              <mc:Fallback>
                <p:oleObj name="Equation" r:id="rId4" imgW="482400" imgH="368280" progId="Equation.3">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00900" y="2205038"/>
                        <a:ext cx="1546225" cy="957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Object 4"/>
          <p:cNvGraphicFramePr>
            <a:graphicFrameLocks noChangeAspect="1"/>
          </p:cNvGraphicFramePr>
          <p:nvPr/>
        </p:nvGraphicFramePr>
        <p:xfrm>
          <a:off x="5257800" y="3195637"/>
          <a:ext cx="1504950" cy="561975"/>
        </p:xfrm>
        <a:graphic>
          <a:graphicData uri="http://schemas.openxmlformats.org/presentationml/2006/ole">
            <mc:AlternateContent xmlns:mc="http://schemas.openxmlformats.org/markup-compatibility/2006">
              <mc:Choice xmlns:v="urn:schemas-microsoft-com:vml" Requires="v">
                <p:oleObj name="Equation" r:id="rId6" imgW="469800" imgH="215640" progId="Equation.3">
                  <p:embed/>
                </p:oleObj>
              </mc:Choice>
              <mc:Fallback>
                <p:oleObj name="Equation" r:id="rId6" imgW="469800" imgH="215640" progId="Equation.3">
                  <p:embed/>
                  <p:pic>
                    <p:nvPicPr>
                      <p:cNvPr id="0"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57800" y="3195637"/>
                        <a:ext cx="1504950" cy="561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2278" name="Object 6"/>
          <p:cNvGraphicFramePr>
            <a:graphicFrameLocks noChangeAspect="1"/>
          </p:cNvGraphicFramePr>
          <p:nvPr/>
        </p:nvGraphicFramePr>
        <p:xfrm>
          <a:off x="2095500" y="6057900"/>
          <a:ext cx="5105400" cy="513011"/>
        </p:xfrm>
        <a:graphic>
          <a:graphicData uri="http://schemas.openxmlformats.org/presentationml/2006/ole">
            <mc:AlternateContent xmlns:mc="http://schemas.openxmlformats.org/markup-compatibility/2006">
              <mc:Choice xmlns:v="urn:schemas-microsoft-com:vml" Requires="v">
                <p:oleObj name="Equation" r:id="rId8" imgW="2400120" imgH="266400" progId="Equation.3">
                  <p:embed/>
                </p:oleObj>
              </mc:Choice>
              <mc:Fallback>
                <p:oleObj name="Equation" r:id="rId8" imgW="2400120" imgH="266400" progId="Equation.3">
                  <p:embed/>
                  <p:pic>
                    <p:nvPicPr>
                      <p:cNvPr id="0" name="Picture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95500" y="6057900"/>
                        <a:ext cx="5105400" cy="51301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327" name="Object 7"/>
          <p:cNvGraphicFramePr>
            <a:graphicFrameLocks noChangeAspect="1"/>
          </p:cNvGraphicFramePr>
          <p:nvPr/>
        </p:nvGraphicFramePr>
        <p:xfrm>
          <a:off x="6846888" y="3009900"/>
          <a:ext cx="2144712" cy="906463"/>
        </p:xfrm>
        <a:graphic>
          <a:graphicData uri="http://schemas.openxmlformats.org/presentationml/2006/ole">
            <mc:AlternateContent xmlns:mc="http://schemas.openxmlformats.org/markup-compatibility/2006">
              <mc:Choice xmlns:v="urn:schemas-microsoft-com:vml" Requires="v">
                <p:oleObj name="Equation" r:id="rId10" imgW="901440" imgH="431640" progId="Equation.3">
                  <p:embed/>
                </p:oleObj>
              </mc:Choice>
              <mc:Fallback>
                <p:oleObj name="Equation" r:id="rId10" imgW="901440" imgH="431640" progId="Equation.3">
                  <p:embed/>
                  <p:pic>
                    <p:nvPicPr>
                      <p:cNvPr id="0" name="Picture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846888" y="3009900"/>
                        <a:ext cx="2144712" cy="906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itle 1"/>
          <p:cNvSpPr>
            <a:spLocks noGrp="1"/>
          </p:cNvSpPr>
          <p:nvPr>
            <p:ph type="title"/>
          </p:nvPr>
        </p:nvSpPr>
        <p:spPr>
          <a:xfrm>
            <a:off x="152400" y="76200"/>
            <a:ext cx="7543800" cy="563563"/>
          </a:xfrm>
        </p:spPr>
        <p:txBody>
          <a:bodyPr/>
          <a:lstStyle/>
          <a:p>
            <a:r>
              <a:rPr lang="en-US" sz="3200" dirty="0" err="1"/>
              <a:t>Thevenin</a:t>
            </a:r>
            <a:r>
              <a:rPr lang="en-US" sz="3200" dirty="0"/>
              <a:t> and Norton Equivalent Derivation:</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1" name="Slide Number Placeholder 12"/>
          <p:cNvSpPr>
            <a:spLocks noGrp="1"/>
          </p:cNvSpPr>
          <p:nvPr>
            <p:ph type="sldNum" sz="quarter" idx="11"/>
          </p:nvPr>
        </p:nvSpPr>
        <p:spPr>
          <a:xfrm>
            <a:off x="6667500" y="6454776"/>
            <a:ext cx="2438400" cy="365125"/>
          </a:xfrm>
        </p:spPr>
        <p:txBody>
          <a:bodyPr/>
          <a:lstStyle/>
          <a:p>
            <a:pPr>
              <a:defRPr/>
            </a:pPr>
            <a:fld id="{A957CEED-90C7-4FD0-AB8C-14085BB9151E}" type="slidenum">
              <a:rPr lang="en-US" smtClean="0"/>
              <a:pPr>
                <a:defRPr/>
              </a:pPr>
              <a:t>18</a:t>
            </a:fld>
            <a:endParaRPr lang="en-US" dirty="0"/>
          </a:p>
        </p:txBody>
      </p:sp>
      <p:sp>
        <p:nvSpPr>
          <p:cNvPr id="5" name="Content Placeholder 13"/>
          <p:cNvSpPr>
            <a:spLocks noGrp="1"/>
          </p:cNvSpPr>
          <p:nvPr>
            <p:ph idx="1"/>
          </p:nvPr>
        </p:nvSpPr>
        <p:spPr>
          <a:xfrm>
            <a:off x="152400" y="685800"/>
            <a:ext cx="8801100" cy="5981699"/>
          </a:xfrm>
        </p:spPr>
        <p:txBody>
          <a:bodyPr/>
          <a:lstStyle/>
          <a:p>
            <a:pPr>
              <a:buNone/>
            </a:pPr>
            <a:r>
              <a:rPr lang="en-US" sz="2200" dirty="0" err="1"/>
              <a:t>Thevenin</a:t>
            </a:r>
            <a:r>
              <a:rPr lang="en-US" sz="2200" dirty="0"/>
              <a:t> and Norton equivalent circuits can be obtained by applying </a:t>
            </a:r>
            <a:r>
              <a:rPr lang="en-US" sz="2200" b="1" i="1" dirty="0"/>
              <a:t>any 2</a:t>
            </a:r>
            <a:r>
              <a:rPr lang="en-US" sz="2200" dirty="0"/>
              <a:t> of the following 3 steps (1-3). [Applying all 3 is </a:t>
            </a:r>
            <a:r>
              <a:rPr lang="en-US" sz="2200" i="1" dirty="0"/>
              <a:t>not</a:t>
            </a:r>
            <a:r>
              <a:rPr lang="en-US" sz="2200" dirty="0"/>
              <a:t> necessary.]</a:t>
            </a:r>
          </a:p>
          <a:p>
            <a:pPr marL="457200" indent="-457200">
              <a:buAutoNum type="arabicPeriod"/>
            </a:pPr>
            <a:r>
              <a:rPr lang="en-US" sz="2200" dirty="0"/>
              <a:t>Open-circuit the terminals and calculate the open circuit voltage v</a:t>
            </a:r>
            <a:r>
              <a:rPr lang="en-US" sz="2200" baseline="-25000" dirty="0"/>
              <a:t>oc</a:t>
            </a:r>
          </a:p>
          <a:p>
            <a:pPr marL="457200" indent="-457200">
              <a:buAutoNum type="arabicPeriod"/>
            </a:pPr>
            <a:r>
              <a:rPr lang="en-US" sz="2200" dirty="0"/>
              <a:t>Short-circuit the terminals and calculate the short circuit current </a:t>
            </a:r>
            <a:r>
              <a:rPr lang="en-US" sz="2200" dirty="0" err="1"/>
              <a:t>i</a:t>
            </a:r>
            <a:r>
              <a:rPr lang="en-US" sz="2200" baseline="-25000" dirty="0" err="1"/>
              <a:t>sc</a:t>
            </a:r>
            <a:endParaRPr lang="en-US" sz="2200" baseline="-25000" dirty="0"/>
          </a:p>
          <a:p>
            <a:pPr marL="457200" indent="-457200">
              <a:buNone/>
            </a:pPr>
            <a:endParaRPr lang="en-US" sz="900" dirty="0"/>
          </a:p>
          <a:p>
            <a:pPr marL="457200" indent="-457200">
              <a:buNone/>
            </a:pPr>
            <a:r>
              <a:rPr lang="en-US" sz="2200" dirty="0" err="1"/>
              <a:t>Thevenin</a:t>
            </a:r>
            <a:r>
              <a:rPr lang="en-US" sz="2200" dirty="0"/>
              <a:t> equivalent may then be found from:</a:t>
            </a:r>
          </a:p>
          <a:p>
            <a:pPr marL="457200" indent="-457200">
              <a:buNone/>
            </a:pPr>
            <a:endParaRPr lang="en-US" sz="2200" dirty="0"/>
          </a:p>
          <a:p>
            <a:pPr marL="457200" indent="-457200">
              <a:buNone/>
            </a:pPr>
            <a:r>
              <a:rPr lang="en-US" sz="2200" dirty="0"/>
              <a:t>and Norton equivalent may be found from:</a:t>
            </a:r>
          </a:p>
          <a:p>
            <a:pPr marL="457200" indent="-457200">
              <a:buNone/>
            </a:pPr>
            <a:endParaRPr lang="en-US" sz="2200" dirty="0"/>
          </a:p>
          <a:p>
            <a:pPr marL="457200" indent="-457200">
              <a:buFont typeface="+mj-lt"/>
              <a:buAutoNum type="arabicPeriod" startAt="3"/>
            </a:pPr>
            <a:r>
              <a:rPr lang="en-US" sz="2200" dirty="0"/>
              <a:t>B) </a:t>
            </a:r>
            <a:r>
              <a:rPr lang="en-US" sz="2200" b="1" i="1" dirty="0"/>
              <a:t>When there are dependent sources </a:t>
            </a:r>
            <a:r>
              <a:rPr lang="en-US" sz="2200" dirty="0"/>
              <a:t>in the circuit, enhance the previous method (3A) by a test-like procedure. First deactivate all </a:t>
            </a:r>
            <a:r>
              <a:rPr lang="en-US" sz="2200" i="1" dirty="0"/>
              <a:t>independent</a:t>
            </a:r>
            <a:r>
              <a:rPr lang="en-US" sz="2200" dirty="0"/>
              <a:t> sources (do not deactivate dependent sources). Then apply a test voltage </a:t>
            </a:r>
            <a:r>
              <a:rPr lang="en-US" sz="2200" i="1" dirty="0" err="1"/>
              <a:t>v</a:t>
            </a:r>
            <a:r>
              <a:rPr lang="en-US" sz="2200" i="1" baseline="-25000" dirty="0" err="1"/>
              <a:t>T</a:t>
            </a:r>
            <a:r>
              <a:rPr lang="en-US" sz="2200" dirty="0"/>
              <a:t> and a test current </a:t>
            </a:r>
            <a:r>
              <a:rPr lang="en-US" sz="2200" i="1" dirty="0" err="1"/>
              <a:t>i</a:t>
            </a:r>
            <a:r>
              <a:rPr lang="en-US" sz="2200" i="1" baseline="-25000" dirty="0" err="1"/>
              <a:t>T</a:t>
            </a:r>
            <a:r>
              <a:rPr lang="en-US" sz="2200" dirty="0"/>
              <a:t> to the terminals of interest. Solve the circuit find the ratio between the two test parameters to get the effective resistance.</a:t>
            </a:r>
          </a:p>
        </p:txBody>
      </p:sp>
      <p:graphicFrame>
        <p:nvGraphicFramePr>
          <p:cNvPr id="180228" name="Object 4"/>
          <p:cNvGraphicFramePr>
            <a:graphicFrameLocks noChangeAspect="1"/>
          </p:cNvGraphicFramePr>
          <p:nvPr/>
        </p:nvGraphicFramePr>
        <p:xfrm>
          <a:off x="5572125" y="2362200"/>
          <a:ext cx="1628775" cy="561975"/>
        </p:xfrm>
        <a:graphic>
          <a:graphicData uri="http://schemas.openxmlformats.org/presentationml/2006/ole">
            <mc:AlternateContent xmlns:mc="http://schemas.openxmlformats.org/markup-compatibility/2006">
              <mc:Choice xmlns:v="urn:schemas-microsoft-com:vml" Requires="v">
                <p:oleObj name="Equation" r:id="rId2" imgW="507960" imgH="215640" progId="Equation.3">
                  <p:embed/>
                </p:oleObj>
              </mc:Choice>
              <mc:Fallback>
                <p:oleObj name="Equation" r:id="rId2" imgW="507960" imgH="215640" progId="Equation.3">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2125" y="2362200"/>
                        <a:ext cx="1628775" cy="561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0229" name="Object 5"/>
          <p:cNvGraphicFramePr>
            <a:graphicFrameLocks noChangeAspect="1"/>
          </p:cNvGraphicFramePr>
          <p:nvPr/>
        </p:nvGraphicFramePr>
        <p:xfrm>
          <a:off x="7200900" y="2205038"/>
          <a:ext cx="1546225" cy="957262"/>
        </p:xfrm>
        <a:graphic>
          <a:graphicData uri="http://schemas.openxmlformats.org/presentationml/2006/ole">
            <mc:AlternateContent xmlns:mc="http://schemas.openxmlformats.org/markup-compatibility/2006">
              <mc:Choice xmlns:v="urn:schemas-microsoft-com:vml" Requires="v">
                <p:oleObj name="Equation" r:id="rId4" imgW="482400" imgH="368280" progId="Equation.3">
                  <p:embed/>
                </p:oleObj>
              </mc:Choice>
              <mc:Fallback>
                <p:oleObj name="Equation" r:id="rId4" imgW="482400" imgH="368280" progId="Equation.3">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00900" y="2205038"/>
                        <a:ext cx="1546225" cy="957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Object 4"/>
          <p:cNvGraphicFramePr>
            <a:graphicFrameLocks noChangeAspect="1"/>
          </p:cNvGraphicFramePr>
          <p:nvPr/>
        </p:nvGraphicFramePr>
        <p:xfrm>
          <a:off x="5257800" y="3195637"/>
          <a:ext cx="1504950" cy="561975"/>
        </p:xfrm>
        <a:graphic>
          <a:graphicData uri="http://schemas.openxmlformats.org/presentationml/2006/ole">
            <mc:AlternateContent xmlns:mc="http://schemas.openxmlformats.org/markup-compatibility/2006">
              <mc:Choice xmlns:v="urn:schemas-microsoft-com:vml" Requires="v">
                <p:oleObj name="Equation" r:id="rId6" imgW="469800" imgH="215640" progId="Equation.3">
                  <p:embed/>
                </p:oleObj>
              </mc:Choice>
              <mc:Fallback>
                <p:oleObj name="Equation" r:id="rId6" imgW="469800" imgH="215640" progId="Equation.3">
                  <p:embed/>
                  <p:pic>
                    <p:nvPicPr>
                      <p:cNvPr id="0"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57800" y="3195637"/>
                        <a:ext cx="1504950" cy="561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2278" name="Object 6"/>
          <p:cNvGraphicFramePr>
            <a:graphicFrameLocks noChangeAspect="1"/>
          </p:cNvGraphicFramePr>
          <p:nvPr/>
        </p:nvGraphicFramePr>
        <p:xfrm>
          <a:off x="4076700" y="5829300"/>
          <a:ext cx="1135063" cy="830263"/>
        </p:xfrm>
        <a:graphic>
          <a:graphicData uri="http://schemas.openxmlformats.org/presentationml/2006/ole">
            <mc:AlternateContent xmlns:mc="http://schemas.openxmlformats.org/markup-compatibility/2006">
              <mc:Choice xmlns:v="urn:schemas-microsoft-com:vml" Requires="v">
                <p:oleObj name="Equation" r:id="rId8" imgW="533160" imgH="431640" progId="Equation.3">
                  <p:embed/>
                </p:oleObj>
              </mc:Choice>
              <mc:Fallback>
                <p:oleObj name="Equation" r:id="rId8" imgW="533160" imgH="431640" progId="Equation.3">
                  <p:embed/>
                  <p:pic>
                    <p:nvPicPr>
                      <p:cNvPr id="0"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76700" y="5829300"/>
                        <a:ext cx="1135063" cy="830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327" name="Object 7"/>
          <p:cNvGraphicFramePr>
            <a:graphicFrameLocks noChangeAspect="1"/>
          </p:cNvGraphicFramePr>
          <p:nvPr/>
        </p:nvGraphicFramePr>
        <p:xfrm>
          <a:off x="6846888" y="3009900"/>
          <a:ext cx="2144712" cy="906463"/>
        </p:xfrm>
        <a:graphic>
          <a:graphicData uri="http://schemas.openxmlformats.org/presentationml/2006/ole">
            <mc:AlternateContent xmlns:mc="http://schemas.openxmlformats.org/markup-compatibility/2006">
              <mc:Choice xmlns:v="urn:schemas-microsoft-com:vml" Requires="v">
                <p:oleObj name="Equation" r:id="rId10" imgW="901440" imgH="431640" progId="Equation.3">
                  <p:embed/>
                </p:oleObj>
              </mc:Choice>
              <mc:Fallback>
                <p:oleObj name="Equation" r:id="rId10" imgW="901440" imgH="431640" progId="Equation.3">
                  <p:embed/>
                  <p:pic>
                    <p:nvPicPr>
                      <p:cNvPr id="0" name="Picture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846888" y="3009900"/>
                        <a:ext cx="2144712" cy="906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itle 1"/>
          <p:cNvSpPr>
            <a:spLocks noGrp="1"/>
          </p:cNvSpPr>
          <p:nvPr>
            <p:ph type="title"/>
          </p:nvPr>
        </p:nvSpPr>
        <p:spPr>
          <a:xfrm>
            <a:off x="152400" y="76200"/>
            <a:ext cx="7543800" cy="563563"/>
          </a:xfrm>
        </p:spPr>
        <p:txBody>
          <a:bodyPr/>
          <a:lstStyle/>
          <a:p>
            <a:r>
              <a:rPr lang="en-US" sz="3200" dirty="0" err="1"/>
              <a:t>Thevenin</a:t>
            </a:r>
            <a:r>
              <a:rPr lang="en-US" sz="3200" dirty="0"/>
              <a:t> and Norton Equivalent Derivation:</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 1</a:t>
            </a:r>
          </a:p>
        </p:txBody>
      </p:sp>
      <p:sp>
        <p:nvSpPr>
          <p:cNvPr id="14" name="Content Placeholder 13"/>
          <p:cNvSpPr>
            <a:spLocks noGrp="1"/>
          </p:cNvSpPr>
          <p:nvPr>
            <p:ph idx="1"/>
          </p:nvPr>
        </p:nvSpPr>
        <p:spPr>
          <a:xfrm>
            <a:off x="457200" y="685801"/>
            <a:ext cx="8229600" cy="5440364"/>
          </a:xfrm>
        </p:spPr>
        <p:txBody>
          <a:bodyPr/>
          <a:lstStyle/>
          <a:p>
            <a:r>
              <a:rPr lang="en-US" sz="2400" dirty="0"/>
              <a:t>Find </a:t>
            </a:r>
            <a:r>
              <a:rPr lang="en-US" sz="2400" dirty="0" err="1"/>
              <a:t>Thevenin</a:t>
            </a:r>
            <a:r>
              <a:rPr lang="en-US" sz="2400" dirty="0"/>
              <a:t> and Norton equivalents:</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187396" name="Picture 4"/>
          <p:cNvPicPr>
            <a:picLocks noChangeAspect="1" noChangeArrowheads="1"/>
          </p:cNvPicPr>
          <p:nvPr/>
        </p:nvPicPr>
        <p:blipFill>
          <a:blip r:embed="rId2" cstate="print"/>
          <a:srcRect/>
          <a:stretch>
            <a:fillRect/>
          </a:stretch>
        </p:blipFill>
        <p:spPr bwMode="auto">
          <a:xfrm>
            <a:off x="5901666" y="685800"/>
            <a:ext cx="2823234" cy="1676400"/>
          </a:xfrm>
          <a:prstGeom prst="rect">
            <a:avLst/>
          </a:prstGeom>
          <a:noFill/>
          <a:ln w="9525">
            <a:noFill/>
            <a:miter lim="800000"/>
            <a:headEnd/>
            <a:tailEnd/>
          </a:ln>
          <a:effectLst/>
        </p:spPr>
      </p:pic>
      <p:sp>
        <p:nvSpPr>
          <p:cNvPr id="7"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19</a:t>
            </a:fld>
            <a:endParaRPr lang="en-US" dirty="0"/>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 1</a:t>
            </a:r>
          </a:p>
        </p:txBody>
      </p:sp>
      <p:sp>
        <p:nvSpPr>
          <p:cNvPr id="14" name="Content Placeholder 13"/>
          <p:cNvSpPr>
            <a:spLocks noGrp="1"/>
          </p:cNvSpPr>
          <p:nvPr>
            <p:ph idx="1"/>
          </p:nvPr>
        </p:nvSpPr>
        <p:spPr>
          <a:xfrm>
            <a:off x="457200" y="685801"/>
            <a:ext cx="8229600" cy="5440364"/>
          </a:xfrm>
        </p:spPr>
        <p:txBody>
          <a:bodyPr/>
          <a:lstStyle/>
          <a:p>
            <a:r>
              <a:rPr lang="en-US" sz="2400" dirty="0"/>
              <a:t>Find </a:t>
            </a:r>
            <a:r>
              <a:rPr lang="en-US" sz="2400" dirty="0" err="1"/>
              <a:t>Thevenin</a:t>
            </a:r>
            <a:r>
              <a:rPr lang="en-US" sz="2400" dirty="0"/>
              <a:t> and Norton equivalents:</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187396" name="Picture 4"/>
          <p:cNvPicPr>
            <a:picLocks noChangeAspect="1" noChangeArrowheads="1"/>
          </p:cNvPicPr>
          <p:nvPr/>
        </p:nvPicPr>
        <p:blipFill>
          <a:blip r:embed="rId2" cstate="print"/>
          <a:srcRect/>
          <a:stretch>
            <a:fillRect/>
          </a:stretch>
        </p:blipFill>
        <p:spPr bwMode="auto">
          <a:xfrm>
            <a:off x="5901666" y="685800"/>
            <a:ext cx="2823234" cy="1676400"/>
          </a:xfrm>
          <a:prstGeom prst="rect">
            <a:avLst/>
          </a:prstGeom>
          <a:noFill/>
          <a:ln w="9525">
            <a:noFill/>
            <a:miter lim="800000"/>
            <a:headEnd/>
            <a:tailEnd/>
          </a:ln>
          <a:effectLst/>
        </p:spPr>
      </p:pic>
      <p:sp>
        <p:nvSpPr>
          <p:cNvPr id="7" name="TextBox 6"/>
          <p:cNvSpPr txBox="1"/>
          <p:nvPr/>
        </p:nvSpPr>
        <p:spPr>
          <a:xfrm>
            <a:off x="647700" y="2324100"/>
            <a:ext cx="3666388" cy="369332"/>
          </a:xfrm>
          <a:prstGeom prst="rect">
            <a:avLst/>
          </a:prstGeom>
          <a:noFill/>
        </p:spPr>
        <p:txBody>
          <a:bodyPr wrap="none" rtlCol="0">
            <a:spAutoFit/>
          </a:bodyPr>
          <a:lstStyle/>
          <a:p>
            <a:r>
              <a:rPr lang="en-US" dirty="0"/>
              <a:t>1. </a:t>
            </a:r>
            <a:r>
              <a:rPr lang="en-US" u="sng" dirty="0"/>
              <a:t>Open-circuit the terminals (</a:t>
            </a:r>
            <a:r>
              <a:rPr lang="en-US" u="sng" dirty="0" err="1"/>
              <a:t>i</a:t>
            </a:r>
            <a:r>
              <a:rPr lang="en-US" u="sng" dirty="0"/>
              <a:t>=0):</a:t>
            </a:r>
          </a:p>
        </p:txBody>
      </p:sp>
      <p:pic>
        <p:nvPicPr>
          <p:cNvPr id="188418" name="Picture 2"/>
          <p:cNvPicPr>
            <a:picLocks noChangeAspect="1" noChangeArrowheads="1"/>
          </p:cNvPicPr>
          <p:nvPr/>
        </p:nvPicPr>
        <p:blipFill>
          <a:blip r:embed="rId3" cstate="print"/>
          <a:srcRect/>
          <a:stretch>
            <a:fillRect/>
          </a:stretch>
        </p:blipFill>
        <p:spPr bwMode="auto">
          <a:xfrm>
            <a:off x="685800" y="2731532"/>
            <a:ext cx="2396774" cy="1409700"/>
          </a:xfrm>
          <a:prstGeom prst="rect">
            <a:avLst/>
          </a:prstGeom>
          <a:noFill/>
          <a:ln w="9525">
            <a:noFill/>
            <a:miter lim="800000"/>
            <a:headEnd/>
            <a:tailEnd/>
          </a:ln>
          <a:effectLst/>
        </p:spPr>
      </p:pic>
      <p:sp>
        <p:nvSpPr>
          <p:cNvPr id="12" name="TextBox 11"/>
          <p:cNvSpPr txBox="1"/>
          <p:nvPr/>
        </p:nvSpPr>
        <p:spPr>
          <a:xfrm>
            <a:off x="1447800" y="1748135"/>
            <a:ext cx="2443298" cy="461665"/>
          </a:xfrm>
          <a:prstGeom prst="rect">
            <a:avLst/>
          </a:prstGeom>
          <a:noFill/>
        </p:spPr>
        <p:txBody>
          <a:bodyPr wrap="none" rtlCol="0">
            <a:spAutoFit/>
          </a:bodyPr>
          <a:lstStyle/>
          <a:p>
            <a:r>
              <a:rPr lang="en-US" sz="2400" i="1" dirty="0"/>
              <a:t>Solution Step 1 :</a:t>
            </a:r>
          </a:p>
        </p:txBody>
      </p:sp>
      <p:sp>
        <p:nvSpPr>
          <p:cNvPr id="11" name="TextBox 10"/>
          <p:cNvSpPr txBox="1"/>
          <p:nvPr/>
        </p:nvSpPr>
        <p:spPr>
          <a:xfrm>
            <a:off x="876300" y="1104900"/>
            <a:ext cx="4686300" cy="523220"/>
          </a:xfrm>
          <a:prstGeom prst="rect">
            <a:avLst/>
          </a:prstGeom>
          <a:noFill/>
        </p:spPr>
        <p:txBody>
          <a:bodyPr wrap="square" rtlCol="0">
            <a:spAutoFit/>
          </a:bodyPr>
          <a:lstStyle/>
          <a:p>
            <a:r>
              <a:rPr lang="en-US" sz="1400" dirty="0"/>
              <a:t>(Note: Since not specified, assume want the equivalent of the circuit to the right of the open terminals.)</a:t>
            </a:r>
            <a:endParaRPr lang="tr-TR" sz="1400" dirty="0"/>
          </a:p>
        </p:txBody>
      </p:sp>
      <p:graphicFrame>
        <p:nvGraphicFramePr>
          <p:cNvPr id="188421" name="Object 5"/>
          <p:cNvGraphicFramePr>
            <a:graphicFrameLocks noChangeAspect="1"/>
          </p:cNvGraphicFramePr>
          <p:nvPr/>
        </p:nvGraphicFramePr>
        <p:xfrm>
          <a:off x="3467100" y="2841625"/>
          <a:ext cx="4778375" cy="690563"/>
        </p:xfrm>
        <a:graphic>
          <a:graphicData uri="http://schemas.openxmlformats.org/presentationml/2006/ole">
            <mc:AlternateContent xmlns:mc="http://schemas.openxmlformats.org/markup-compatibility/2006">
              <mc:Choice xmlns:v="urn:schemas-microsoft-com:vml" Requires="v">
                <p:oleObj name="Equation" r:id="rId4" imgW="1854000" imgH="330120" progId="Equation.3">
                  <p:embed/>
                </p:oleObj>
              </mc:Choice>
              <mc:Fallback>
                <p:oleObj name="Equation" r:id="rId4" imgW="1854000" imgH="330120" progId="Equation.3">
                  <p:embed/>
                  <p:pic>
                    <p:nvPicPr>
                      <p:cNvPr id="0"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67100" y="2841625"/>
                        <a:ext cx="4778375" cy="690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20</a:t>
            </a:fld>
            <a:endParaRPr lang="en-US" dirty="0"/>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9444" name="Picture 4"/>
          <p:cNvPicPr>
            <a:picLocks noChangeAspect="1" noChangeArrowheads="1"/>
          </p:cNvPicPr>
          <p:nvPr/>
        </p:nvPicPr>
        <p:blipFill>
          <a:blip r:embed="rId2" cstate="print"/>
          <a:srcRect/>
          <a:stretch>
            <a:fillRect/>
          </a:stretch>
        </p:blipFill>
        <p:spPr bwMode="auto">
          <a:xfrm>
            <a:off x="723900" y="4712732"/>
            <a:ext cx="2335516" cy="1409700"/>
          </a:xfrm>
          <a:prstGeom prst="rect">
            <a:avLst/>
          </a:prstGeom>
          <a:noFill/>
          <a:ln w="9525">
            <a:noFill/>
            <a:miter lim="800000"/>
            <a:headEnd/>
            <a:tailEnd/>
          </a:ln>
          <a:effectLst/>
        </p:spPr>
      </p:pic>
      <p:sp>
        <p:nvSpPr>
          <p:cNvPr id="6146" name="Title 1"/>
          <p:cNvSpPr>
            <a:spLocks noGrp="1"/>
          </p:cNvSpPr>
          <p:nvPr>
            <p:ph type="title"/>
          </p:nvPr>
        </p:nvSpPr>
        <p:spPr>
          <a:xfrm>
            <a:off x="457200" y="122237"/>
            <a:ext cx="8229600" cy="563563"/>
          </a:xfrm>
        </p:spPr>
        <p:txBody>
          <a:bodyPr/>
          <a:lstStyle/>
          <a:p>
            <a:r>
              <a:rPr lang="en-US" sz="3200" dirty="0"/>
              <a:t>Example 1</a:t>
            </a:r>
          </a:p>
        </p:txBody>
      </p:sp>
      <p:sp>
        <p:nvSpPr>
          <p:cNvPr id="14" name="Content Placeholder 13"/>
          <p:cNvSpPr>
            <a:spLocks noGrp="1"/>
          </p:cNvSpPr>
          <p:nvPr>
            <p:ph idx="1"/>
          </p:nvPr>
        </p:nvSpPr>
        <p:spPr>
          <a:xfrm>
            <a:off x="457200" y="685801"/>
            <a:ext cx="8229600" cy="5440364"/>
          </a:xfrm>
        </p:spPr>
        <p:txBody>
          <a:bodyPr/>
          <a:lstStyle/>
          <a:p>
            <a:r>
              <a:rPr lang="en-US" sz="2400" dirty="0"/>
              <a:t>Find </a:t>
            </a:r>
            <a:r>
              <a:rPr lang="en-US" sz="2400" dirty="0" err="1"/>
              <a:t>Thevenin</a:t>
            </a:r>
            <a:r>
              <a:rPr lang="en-US" sz="2400" dirty="0"/>
              <a:t> and Norton equivalents:</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187396" name="Picture 4"/>
          <p:cNvPicPr>
            <a:picLocks noChangeAspect="1" noChangeArrowheads="1"/>
          </p:cNvPicPr>
          <p:nvPr/>
        </p:nvPicPr>
        <p:blipFill>
          <a:blip r:embed="rId3" cstate="print"/>
          <a:srcRect/>
          <a:stretch>
            <a:fillRect/>
          </a:stretch>
        </p:blipFill>
        <p:spPr bwMode="auto">
          <a:xfrm>
            <a:off x="5901666" y="685800"/>
            <a:ext cx="2823234" cy="1676400"/>
          </a:xfrm>
          <a:prstGeom prst="rect">
            <a:avLst/>
          </a:prstGeom>
          <a:noFill/>
          <a:ln w="9525">
            <a:noFill/>
            <a:miter lim="800000"/>
            <a:headEnd/>
            <a:tailEnd/>
          </a:ln>
          <a:effectLst/>
        </p:spPr>
      </p:pic>
      <p:sp>
        <p:nvSpPr>
          <p:cNvPr id="7" name="TextBox 6"/>
          <p:cNvSpPr txBox="1"/>
          <p:nvPr/>
        </p:nvSpPr>
        <p:spPr>
          <a:xfrm>
            <a:off x="647700" y="2324100"/>
            <a:ext cx="3666388" cy="369332"/>
          </a:xfrm>
          <a:prstGeom prst="rect">
            <a:avLst/>
          </a:prstGeom>
          <a:noFill/>
        </p:spPr>
        <p:txBody>
          <a:bodyPr wrap="none" rtlCol="0">
            <a:spAutoFit/>
          </a:bodyPr>
          <a:lstStyle/>
          <a:p>
            <a:r>
              <a:rPr lang="en-US" dirty="0"/>
              <a:t>1. </a:t>
            </a:r>
            <a:r>
              <a:rPr lang="en-US" u="sng" dirty="0"/>
              <a:t>Open-circuit the terminals (</a:t>
            </a:r>
            <a:r>
              <a:rPr lang="en-US" u="sng" dirty="0" err="1"/>
              <a:t>i</a:t>
            </a:r>
            <a:r>
              <a:rPr lang="en-US" u="sng" dirty="0"/>
              <a:t>=0):</a:t>
            </a:r>
          </a:p>
        </p:txBody>
      </p:sp>
      <p:pic>
        <p:nvPicPr>
          <p:cNvPr id="188418" name="Picture 2"/>
          <p:cNvPicPr>
            <a:picLocks noChangeAspect="1" noChangeArrowheads="1"/>
          </p:cNvPicPr>
          <p:nvPr/>
        </p:nvPicPr>
        <p:blipFill>
          <a:blip r:embed="rId4" cstate="print"/>
          <a:srcRect/>
          <a:stretch>
            <a:fillRect/>
          </a:stretch>
        </p:blipFill>
        <p:spPr bwMode="auto">
          <a:xfrm>
            <a:off x="685800" y="2731532"/>
            <a:ext cx="2396774" cy="1409700"/>
          </a:xfrm>
          <a:prstGeom prst="rect">
            <a:avLst/>
          </a:prstGeom>
          <a:noFill/>
          <a:ln w="9525">
            <a:noFill/>
            <a:miter lim="800000"/>
            <a:headEnd/>
            <a:tailEnd/>
          </a:ln>
          <a:effectLst/>
        </p:spPr>
      </p:pic>
      <p:graphicFrame>
        <p:nvGraphicFramePr>
          <p:cNvPr id="188419" name="Object 3"/>
          <p:cNvGraphicFramePr>
            <a:graphicFrameLocks noChangeAspect="1"/>
          </p:cNvGraphicFramePr>
          <p:nvPr/>
        </p:nvGraphicFramePr>
        <p:xfrm>
          <a:off x="3467100" y="2841070"/>
          <a:ext cx="4778375" cy="690562"/>
        </p:xfrm>
        <a:graphic>
          <a:graphicData uri="http://schemas.openxmlformats.org/presentationml/2006/ole">
            <mc:AlternateContent xmlns:mc="http://schemas.openxmlformats.org/markup-compatibility/2006">
              <mc:Choice xmlns:v="urn:schemas-microsoft-com:vml" Requires="v">
                <p:oleObj name="Equation" r:id="rId5" imgW="1854000" imgH="330120" progId="Equation.3">
                  <p:embed/>
                </p:oleObj>
              </mc:Choice>
              <mc:Fallback>
                <p:oleObj name="Equation" r:id="rId5" imgW="1854000" imgH="330120" progId="Equation.3">
                  <p:embed/>
                  <p:pic>
                    <p:nvPicPr>
                      <p:cNvPr id="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67100" y="2841070"/>
                        <a:ext cx="4778375" cy="690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Box 9"/>
          <p:cNvSpPr txBox="1"/>
          <p:nvPr/>
        </p:nvSpPr>
        <p:spPr>
          <a:xfrm>
            <a:off x="647700" y="4331732"/>
            <a:ext cx="3717684" cy="369332"/>
          </a:xfrm>
          <a:prstGeom prst="rect">
            <a:avLst/>
          </a:prstGeom>
          <a:noFill/>
        </p:spPr>
        <p:txBody>
          <a:bodyPr wrap="none" rtlCol="0">
            <a:spAutoFit/>
          </a:bodyPr>
          <a:lstStyle/>
          <a:p>
            <a:r>
              <a:rPr lang="en-US" dirty="0"/>
              <a:t>2. </a:t>
            </a:r>
            <a:r>
              <a:rPr lang="en-US" u="sng" dirty="0"/>
              <a:t>Short-circuit the terminals (v=0):</a:t>
            </a:r>
          </a:p>
        </p:txBody>
      </p:sp>
      <p:graphicFrame>
        <p:nvGraphicFramePr>
          <p:cNvPr id="12" name="Object 3"/>
          <p:cNvGraphicFramePr>
            <a:graphicFrameLocks noChangeAspect="1"/>
          </p:cNvGraphicFramePr>
          <p:nvPr/>
        </p:nvGraphicFramePr>
        <p:xfrm>
          <a:off x="3429000" y="4522232"/>
          <a:ext cx="2913063" cy="690563"/>
        </p:xfrm>
        <a:graphic>
          <a:graphicData uri="http://schemas.openxmlformats.org/presentationml/2006/ole">
            <mc:AlternateContent xmlns:mc="http://schemas.openxmlformats.org/markup-compatibility/2006">
              <mc:Choice xmlns:v="urn:schemas-microsoft-com:vml" Requires="v">
                <p:oleObj name="Equation" r:id="rId7" imgW="1130040" imgH="330120" progId="Equation.3">
                  <p:embed/>
                </p:oleObj>
              </mc:Choice>
              <mc:Fallback>
                <p:oleObj name="Equation" r:id="rId7" imgW="1130040" imgH="330120" progId="Equation.3">
                  <p:embed/>
                  <p:pic>
                    <p:nvPicPr>
                      <p:cNvPr id="0"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29000" y="4522232"/>
                        <a:ext cx="2913063" cy="690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9446" name="Object 6"/>
          <p:cNvGraphicFramePr>
            <a:graphicFrameLocks noChangeAspect="1"/>
          </p:cNvGraphicFramePr>
          <p:nvPr/>
        </p:nvGraphicFramePr>
        <p:xfrm>
          <a:off x="3467100" y="5246132"/>
          <a:ext cx="2651125" cy="690563"/>
        </p:xfrm>
        <a:graphic>
          <a:graphicData uri="http://schemas.openxmlformats.org/presentationml/2006/ole">
            <mc:AlternateContent xmlns:mc="http://schemas.openxmlformats.org/markup-compatibility/2006">
              <mc:Choice xmlns:v="urn:schemas-microsoft-com:vml" Requires="v">
                <p:oleObj name="Equation" r:id="rId9" imgW="1028520" imgH="330120" progId="Equation.3">
                  <p:embed/>
                </p:oleObj>
              </mc:Choice>
              <mc:Fallback>
                <p:oleObj name="Equation" r:id="rId9" imgW="1028520" imgH="330120" progId="Equation.3">
                  <p:embed/>
                  <p:pic>
                    <p:nvPicPr>
                      <p:cNvPr id="0" name="Picture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67100" y="5246132"/>
                        <a:ext cx="2651125" cy="690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9447" name="Object 7"/>
          <p:cNvGraphicFramePr>
            <a:graphicFrameLocks noChangeAspect="1"/>
          </p:cNvGraphicFramePr>
          <p:nvPr/>
        </p:nvGraphicFramePr>
        <p:xfrm>
          <a:off x="3505200" y="5887482"/>
          <a:ext cx="5268913" cy="769938"/>
        </p:xfrm>
        <a:graphic>
          <a:graphicData uri="http://schemas.openxmlformats.org/presentationml/2006/ole">
            <mc:AlternateContent xmlns:mc="http://schemas.openxmlformats.org/markup-compatibility/2006">
              <mc:Choice xmlns:v="urn:schemas-microsoft-com:vml" Requires="v">
                <p:oleObj name="Equation" r:id="rId11" imgW="2044440" imgH="368280" progId="Equation.3">
                  <p:embed/>
                </p:oleObj>
              </mc:Choice>
              <mc:Fallback>
                <p:oleObj name="Equation" r:id="rId11" imgW="2044440" imgH="368280" progId="Equation.3">
                  <p:embed/>
                  <p:pic>
                    <p:nvPicPr>
                      <p:cNvPr id="0" name="Picture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05200" y="5887482"/>
                        <a:ext cx="5268913" cy="769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TextBox 16"/>
          <p:cNvSpPr txBox="1"/>
          <p:nvPr/>
        </p:nvSpPr>
        <p:spPr>
          <a:xfrm>
            <a:off x="1447800" y="1748135"/>
            <a:ext cx="2443298" cy="461665"/>
          </a:xfrm>
          <a:prstGeom prst="rect">
            <a:avLst/>
          </a:prstGeom>
          <a:noFill/>
        </p:spPr>
        <p:txBody>
          <a:bodyPr wrap="none" rtlCol="0">
            <a:spAutoFit/>
          </a:bodyPr>
          <a:lstStyle/>
          <a:p>
            <a:r>
              <a:rPr lang="en-US" sz="2400" i="1" dirty="0"/>
              <a:t>Solution Step 2 :</a:t>
            </a:r>
          </a:p>
        </p:txBody>
      </p:sp>
      <p:sp>
        <p:nvSpPr>
          <p:cNvPr id="16" name="TextBox 15"/>
          <p:cNvSpPr txBox="1"/>
          <p:nvPr/>
        </p:nvSpPr>
        <p:spPr>
          <a:xfrm>
            <a:off x="876300" y="1104900"/>
            <a:ext cx="4686300" cy="523220"/>
          </a:xfrm>
          <a:prstGeom prst="rect">
            <a:avLst/>
          </a:prstGeom>
          <a:noFill/>
        </p:spPr>
        <p:txBody>
          <a:bodyPr wrap="square" rtlCol="0">
            <a:spAutoFit/>
          </a:bodyPr>
          <a:lstStyle/>
          <a:p>
            <a:r>
              <a:rPr lang="en-US" sz="1400" dirty="0"/>
              <a:t>(Note: Since not specified, assume want the equivalent of the circuit to the right of the open terminals.)</a:t>
            </a:r>
            <a:endParaRPr lang="tr-TR" sz="1400" dirty="0"/>
          </a:p>
        </p:txBody>
      </p:sp>
      <p:sp>
        <p:nvSpPr>
          <p:cNvPr id="18"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21</a:t>
            </a:fld>
            <a:endParaRPr lang="en-US" dirty="0"/>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 1</a:t>
            </a:r>
          </a:p>
        </p:txBody>
      </p:sp>
      <p:sp>
        <p:nvSpPr>
          <p:cNvPr id="14" name="Content Placeholder 13"/>
          <p:cNvSpPr>
            <a:spLocks noGrp="1"/>
          </p:cNvSpPr>
          <p:nvPr>
            <p:ph idx="1"/>
          </p:nvPr>
        </p:nvSpPr>
        <p:spPr>
          <a:xfrm>
            <a:off x="457200" y="685801"/>
            <a:ext cx="8229600" cy="5440364"/>
          </a:xfrm>
        </p:spPr>
        <p:txBody>
          <a:bodyPr/>
          <a:lstStyle/>
          <a:p>
            <a:r>
              <a:rPr lang="en-US" sz="2400" dirty="0"/>
              <a:t>Find </a:t>
            </a:r>
            <a:r>
              <a:rPr lang="en-US" sz="2400" dirty="0" err="1"/>
              <a:t>Thevenin</a:t>
            </a:r>
            <a:r>
              <a:rPr lang="en-US" sz="2400" dirty="0"/>
              <a:t> and Norton equivalents:</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187396" name="Picture 4"/>
          <p:cNvPicPr>
            <a:picLocks noChangeAspect="1" noChangeArrowheads="1"/>
          </p:cNvPicPr>
          <p:nvPr/>
        </p:nvPicPr>
        <p:blipFill>
          <a:blip r:embed="rId2" cstate="print"/>
          <a:srcRect/>
          <a:stretch>
            <a:fillRect/>
          </a:stretch>
        </p:blipFill>
        <p:spPr bwMode="auto">
          <a:xfrm>
            <a:off x="5901666" y="685800"/>
            <a:ext cx="2823234" cy="1676400"/>
          </a:xfrm>
          <a:prstGeom prst="rect">
            <a:avLst/>
          </a:prstGeom>
          <a:noFill/>
          <a:ln w="9525">
            <a:noFill/>
            <a:miter lim="800000"/>
            <a:headEnd/>
            <a:tailEnd/>
          </a:ln>
          <a:effectLst/>
        </p:spPr>
      </p:pic>
      <p:sp>
        <p:nvSpPr>
          <p:cNvPr id="7" name="TextBox 6"/>
          <p:cNvSpPr txBox="1"/>
          <p:nvPr/>
        </p:nvSpPr>
        <p:spPr>
          <a:xfrm>
            <a:off x="723900" y="2857500"/>
            <a:ext cx="3057247" cy="369332"/>
          </a:xfrm>
          <a:prstGeom prst="rect">
            <a:avLst/>
          </a:prstGeom>
          <a:noFill/>
        </p:spPr>
        <p:txBody>
          <a:bodyPr wrap="none" rtlCol="0">
            <a:spAutoFit/>
          </a:bodyPr>
          <a:lstStyle/>
          <a:p>
            <a:r>
              <a:rPr lang="en-US" u="sng" dirty="0" err="1"/>
              <a:t>Thevenin</a:t>
            </a:r>
            <a:r>
              <a:rPr lang="en-US" u="sng" dirty="0"/>
              <a:t> Equivalent Circuit:</a:t>
            </a:r>
          </a:p>
        </p:txBody>
      </p:sp>
      <p:sp>
        <p:nvSpPr>
          <p:cNvPr id="10" name="TextBox 9"/>
          <p:cNvSpPr txBox="1"/>
          <p:nvPr/>
        </p:nvSpPr>
        <p:spPr>
          <a:xfrm>
            <a:off x="4953000" y="2857500"/>
            <a:ext cx="2800767" cy="369332"/>
          </a:xfrm>
          <a:prstGeom prst="rect">
            <a:avLst/>
          </a:prstGeom>
          <a:noFill/>
        </p:spPr>
        <p:txBody>
          <a:bodyPr wrap="none" rtlCol="0">
            <a:spAutoFit/>
          </a:bodyPr>
          <a:lstStyle/>
          <a:p>
            <a:r>
              <a:rPr lang="en-US" u="sng" dirty="0"/>
              <a:t>Norton Equivalent Circuit:</a:t>
            </a:r>
          </a:p>
        </p:txBody>
      </p:sp>
      <p:sp>
        <p:nvSpPr>
          <p:cNvPr id="15" name="TextBox 14"/>
          <p:cNvSpPr txBox="1"/>
          <p:nvPr/>
        </p:nvSpPr>
        <p:spPr>
          <a:xfrm>
            <a:off x="723900" y="1824335"/>
            <a:ext cx="4104009" cy="461665"/>
          </a:xfrm>
          <a:prstGeom prst="rect">
            <a:avLst/>
          </a:prstGeom>
          <a:noFill/>
        </p:spPr>
        <p:txBody>
          <a:bodyPr wrap="none" rtlCol="0">
            <a:spAutoFit/>
          </a:bodyPr>
          <a:lstStyle/>
          <a:p>
            <a:r>
              <a:rPr lang="en-US" sz="2400" i="1" dirty="0"/>
              <a:t>Thus, equivalent circuits are:</a:t>
            </a:r>
          </a:p>
        </p:txBody>
      </p:sp>
      <p:pic>
        <p:nvPicPr>
          <p:cNvPr id="190470" name="Picture 6"/>
          <p:cNvPicPr>
            <a:picLocks noChangeAspect="1" noChangeArrowheads="1"/>
          </p:cNvPicPr>
          <p:nvPr/>
        </p:nvPicPr>
        <p:blipFill>
          <a:blip r:embed="rId3" cstate="print"/>
          <a:srcRect/>
          <a:stretch>
            <a:fillRect/>
          </a:stretch>
        </p:blipFill>
        <p:spPr bwMode="auto">
          <a:xfrm>
            <a:off x="1181100" y="3352799"/>
            <a:ext cx="1676400" cy="1733107"/>
          </a:xfrm>
          <a:prstGeom prst="rect">
            <a:avLst/>
          </a:prstGeom>
          <a:noFill/>
          <a:ln w="9525">
            <a:noFill/>
            <a:miter lim="800000"/>
            <a:headEnd/>
            <a:tailEnd/>
          </a:ln>
          <a:effectLst/>
        </p:spPr>
      </p:pic>
      <p:pic>
        <p:nvPicPr>
          <p:cNvPr id="190471" name="Picture 7"/>
          <p:cNvPicPr>
            <a:picLocks noChangeAspect="1" noChangeArrowheads="1"/>
          </p:cNvPicPr>
          <p:nvPr/>
        </p:nvPicPr>
        <p:blipFill>
          <a:blip r:embed="rId4" cstate="print"/>
          <a:srcRect/>
          <a:stretch>
            <a:fillRect/>
          </a:stretch>
        </p:blipFill>
        <p:spPr bwMode="auto">
          <a:xfrm>
            <a:off x="5219700" y="3352800"/>
            <a:ext cx="2057400" cy="1716840"/>
          </a:xfrm>
          <a:prstGeom prst="rect">
            <a:avLst/>
          </a:prstGeom>
          <a:noFill/>
          <a:ln w="9525">
            <a:noFill/>
            <a:miter lim="800000"/>
            <a:headEnd/>
            <a:tailEnd/>
          </a:ln>
          <a:effectLst/>
        </p:spPr>
      </p:pic>
      <p:sp>
        <p:nvSpPr>
          <p:cNvPr id="12" name="TextBox 11"/>
          <p:cNvSpPr txBox="1"/>
          <p:nvPr/>
        </p:nvSpPr>
        <p:spPr>
          <a:xfrm>
            <a:off x="876300" y="1104900"/>
            <a:ext cx="4686300" cy="523220"/>
          </a:xfrm>
          <a:prstGeom prst="rect">
            <a:avLst/>
          </a:prstGeom>
          <a:noFill/>
        </p:spPr>
        <p:txBody>
          <a:bodyPr wrap="square" rtlCol="0">
            <a:spAutoFit/>
          </a:bodyPr>
          <a:lstStyle/>
          <a:p>
            <a:r>
              <a:rPr lang="en-US" sz="1400" dirty="0"/>
              <a:t>(Note: Since not specified, assume want the equivalent of the circuit to the right of the open terminals.)</a:t>
            </a:r>
            <a:endParaRPr lang="tr-TR" sz="1400" dirty="0"/>
          </a:p>
        </p:txBody>
      </p:sp>
      <p:sp>
        <p:nvSpPr>
          <p:cNvPr id="13"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22</a:t>
            </a:fld>
            <a:endParaRPr lang="en-US" dirty="0"/>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 2 </a:t>
            </a:r>
            <a:r>
              <a:rPr lang="en-US" sz="2400" dirty="0"/>
              <a:t>(Johnson &amp; Johnson Exercise 2.6 – Page 54)</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191491" name="Picture 3"/>
          <p:cNvPicPr>
            <a:picLocks noChangeAspect="1" noChangeArrowheads="1"/>
          </p:cNvPicPr>
          <p:nvPr/>
        </p:nvPicPr>
        <p:blipFill>
          <a:blip r:embed="rId2" cstate="print"/>
          <a:srcRect/>
          <a:stretch>
            <a:fillRect/>
          </a:stretch>
        </p:blipFill>
        <p:spPr bwMode="auto">
          <a:xfrm>
            <a:off x="723900" y="1409699"/>
            <a:ext cx="7162800" cy="1768011"/>
          </a:xfrm>
          <a:prstGeom prst="rect">
            <a:avLst/>
          </a:prstGeom>
          <a:noFill/>
          <a:ln w="9525">
            <a:noFill/>
            <a:miter lim="800000"/>
            <a:headEnd/>
            <a:tailEnd/>
          </a:ln>
          <a:effectLst/>
        </p:spPr>
      </p:pic>
      <p:sp>
        <p:nvSpPr>
          <p:cNvPr id="9" name="TextBox 8"/>
          <p:cNvSpPr txBox="1"/>
          <p:nvPr/>
        </p:nvSpPr>
        <p:spPr>
          <a:xfrm>
            <a:off x="609600" y="723900"/>
            <a:ext cx="7458194" cy="646331"/>
          </a:xfrm>
          <a:prstGeom prst="rect">
            <a:avLst/>
          </a:prstGeom>
          <a:noFill/>
        </p:spPr>
        <p:txBody>
          <a:bodyPr wrap="square" rtlCol="0">
            <a:spAutoFit/>
          </a:bodyPr>
          <a:lstStyle/>
          <a:p>
            <a:r>
              <a:rPr lang="en-US" dirty="0"/>
              <a:t>Find the </a:t>
            </a:r>
            <a:r>
              <a:rPr lang="en-US" dirty="0" err="1"/>
              <a:t>Thevenin</a:t>
            </a:r>
            <a:r>
              <a:rPr lang="en-US" dirty="0"/>
              <a:t> equivalent of circuits to the right of line c-d, to the left of line a-b, and use the results to find the value of v</a:t>
            </a:r>
            <a:r>
              <a:rPr lang="en-US" baseline="-25000" dirty="0"/>
              <a:t>1</a:t>
            </a:r>
            <a:r>
              <a:rPr lang="en-US" dirty="0"/>
              <a:t> :</a:t>
            </a:r>
          </a:p>
        </p:txBody>
      </p:sp>
      <p:sp>
        <p:nvSpPr>
          <p:cNvPr id="7"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23</a:t>
            </a:fld>
            <a:endParaRPr lang="en-US" dirty="0"/>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 2 </a:t>
            </a:r>
            <a:r>
              <a:rPr lang="en-US" sz="2400" dirty="0"/>
              <a:t>(Johnson &amp; Johnson Exercise 2.6 – Page 54)</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191491" name="Picture 3"/>
          <p:cNvPicPr>
            <a:picLocks noChangeAspect="1" noChangeArrowheads="1"/>
          </p:cNvPicPr>
          <p:nvPr/>
        </p:nvPicPr>
        <p:blipFill>
          <a:blip r:embed="rId2" cstate="print"/>
          <a:srcRect/>
          <a:stretch>
            <a:fillRect/>
          </a:stretch>
        </p:blipFill>
        <p:spPr bwMode="auto">
          <a:xfrm>
            <a:off x="723900" y="1409699"/>
            <a:ext cx="7162800" cy="1768011"/>
          </a:xfrm>
          <a:prstGeom prst="rect">
            <a:avLst/>
          </a:prstGeom>
          <a:noFill/>
          <a:ln w="9525">
            <a:noFill/>
            <a:miter lim="800000"/>
            <a:headEnd/>
            <a:tailEnd/>
          </a:ln>
          <a:effectLst/>
        </p:spPr>
      </p:pic>
      <p:sp>
        <p:nvSpPr>
          <p:cNvPr id="9" name="TextBox 8"/>
          <p:cNvSpPr txBox="1"/>
          <p:nvPr/>
        </p:nvSpPr>
        <p:spPr>
          <a:xfrm>
            <a:off x="609600" y="723900"/>
            <a:ext cx="7458194" cy="646331"/>
          </a:xfrm>
          <a:prstGeom prst="rect">
            <a:avLst/>
          </a:prstGeom>
          <a:noFill/>
        </p:spPr>
        <p:txBody>
          <a:bodyPr wrap="square" rtlCol="0">
            <a:spAutoFit/>
          </a:bodyPr>
          <a:lstStyle/>
          <a:p>
            <a:r>
              <a:rPr lang="en-US" dirty="0"/>
              <a:t>Find the </a:t>
            </a:r>
            <a:r>
              <a:rPr lang="en-US" dirty="0" err="1"/>
              <a:t>Thevenin</a:t>
            </a:r>
            <a:r>
              <a:rPr lang="en-US" dirty="0"/>
              <a:t> equivalent of circuits to the right of line c-d, to the left of line a-b, and use the results to find the value of v</a:t>
            </a:r>
            <a:r>
              <a:rPr lang="en-US" baseline="-25000" dirty="0"/>
              <a:t>1</a:t>
            </a:r>
            <a:r>
              <a:rPr lang="en-US" dirty="0"/>
              <a:t> :</a:t>
            </a:r>
          </a:p>
        </p:txBody>
      </p:sp>
      <p:sp>
        <p:nvSpPr>
          <p:cNvPr id="7" name="TextBox 6"/>
          <p:cNvSpPr txBox="1"/>
          <p:nvPr/>
        </p:nvSpPr>
        <p:spPr>
          <a:xfrm>
            <a:off x="685800" y="3314700"/>
            <a:ext cx="4108817" cy="769441"/>
          </a:xfrm>
          <a:prstGeom prst="rect">
            <a:avLst/>
          </a:prstGeom>
          <a:noFill/>
        </p:spPr>
        <p:txBody>
          <a:bodyPr wrap="none" rtlCol="0">
            <a:spAutoFit/>
          </a:bodyPr>
          <a:lstStyle/>
          <a:p>
            <a:r>
              <a:rPr lang="en-US" u="sng" dirty="0" err="1"/>
              <a:t>Thevenin</a:t>
            </a:r>
            <a:r>
              <a:rPr lang="en-US" u="sng" dirty="0"/>
              <a:t> equivalent to the right of c-d:</a:t>
            </a:r>
          </a:p>
          <a:p>
            <a:endParaRPr lang="en-US" sz="800" u="sng" dirty="0"/>
          </a:p>
          <a:p>
            <a:r>
              <a:rPr lang="en-US" dirty="0"/>
              <a:t>1. Kill sources:</a:t>
            </a:r>
          </a:p>
        </p:txBody>
      </p:sp>
      <p:pic>
        <p:nvPicPr>
          <p:cNvPr id="192514" name="Picture 2"/>
          <p:cNvPicPr>
            <a:picLocks noChangeAspect="1" noChangeArrowheads="1"/>
          </p:cNvPicPr>
          <p:nvPr/>
        </p:nvPicPr>
        <p:blipFill>
          <a:blip r:embed="rId3" cstate="print"/>
          <a:srcRect/>
          <a:stretch>
            <a:fillRect/>
          </a:stretch>
        </p:blipFill>
        <p:spPr bwMode="auto">
          <a:xfrm>
            <a:off x="1104900" y="4034330"/>
            <a:ext cx="2590800" cy="1071070"/>
          </a:xfrm>
          <a:prstGeom prst="rect">
            <a:avLst/>
          </a:prstGeom>
          <a:noFill/>
          <a:ln w="9525">
            <a:noFill/>
            <a:miter lim="800000"/>
            <a:headEnd/>
            <a:tailEnd/>
          </a:ln>
          <a:effectLst/>
        </p:spPr>
      </p:pic>
      <p:cxnSp>
        <p:nvCxnSpPr>
          <p:cNvPr id="12" name="Straight Connector 11"/>
          <p:cNvCxnSpPr/>
          <p:nvPr/>
        </p:nvCxnSpPr>
        <p:spPr>
          <a:xfrm rot="5400000">
            <a:off x="2971005" y="2399506"/>
            <a:ext cx="1752600" cy="1588"/>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0"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24</a:t>
            </a:fld>
            <a:endParaRPr lang="en-US" dirty="0"/>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 2 </a:t>
            </a:r>
            <a:r>
              <a:rPr lang="en-US" sz="2400" dirty="0"/>
              <a:t>(Johnson &amp; Johnson Exercise 2.6 – Page 54)</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191491" name="Picture 3"/>
          <p:cNvPicPr>
            <a:picLocks noChangeAspect="1" noChangeArrowheads="1"/>
          </p:cNvPicPr>
          <p:nvPr/>
        </p:nvPicPr>
        <p:blipFill>
          <a:blip r:embed="rId2" cstate="print"/>
          <a:srcRect/>
          <a:stretch>
            <a:fillRect/>
          </a:stretch>
        </p:blipFill>
        <p:spPr bwMode="auto">
          <a:xfrm>
            <a:off x="723900" y="1409699"/>
            <a:ext cx="7162800" cy="1768011"/>
          </a:xfrm>
          <a:prstGeom prst="rect">
            <a:avLst/>
          </a:prstGeom>
          <a:noFill/>
          <a:ln w="9525">
            <a:noFill/>
            <a:miter lim="800000"/>
            <a:headEnd/>
            <a:tailEnd/>
          </a:ln>
          <a:effectLst/>
        </p:spPr>
      </p:pic>
      <p:sp>
        <p:nvSpPr>
          <p:cNvPr id="9" name="TextBox 8"/>
          <p:cNvSpPr txBox="1"/>
          <p:nvPr/>
        </p:nvSpPr>
        <p:spPr>
          <a:xfrm>
            <a:off x="609600" y="723900"/>
            <a:ext cx="7458194" cy="646331"/>
          </a:xfrm>
          <a:prstGeom prst="rect">
            <a:avLst/>
          </a:prstGeom>
          <a:noFill/>
        </p:spPr>
        <p:txBody>
          <a:bodyPr wrap="square" rtlCol="0">
            <a:spAutoFit/>
          </a:bodyPr>
          <a:lstStyle/>
          <a:p>
            <a:r>
              <a:rPr lang="en-US" dirty="0"/>
              <a:t>Find the </a:t>
            </a:r>
            <a:r>
              <a:rPr lang="en-US" dirty="0" err="1"/>
              <a:t>Thevenin</a:t>
            </a:r>
            <a:r>
              <a:rPr lang="en-US" dirty="0"/>
              <a:t> equivalent of circuits to the right of line c-d, to the left of line a-b, and use the results to find the value of v</a:t>
            </a:r>
            <a:r>
              <a:rPr lang="en-US" baseline="-25000" dirty="0"/>
              <a:t>1</a:t>
            </a:r>
            <a:r>
              <a:rPr lang="en-US" dirty="0"/>
              <a:t> :</a:t>
            </a:r>
          </a:p>
        </p:txBody>
      </p:sp>
      <p:sp>
        <p:nvSpPr>
          <p:cNvPr id="7" name="TextBox 6"/>
          <p:cNvSpPr txBox="1"/>
          <p:nvPr/>
        </p:nvSpPr>
        <p:spPr>
          <a:xfrm>
            <a:off x="685800" y="3314700"/>
            <a:ext cx="4108817" cy="769441"/>
          </a:xfrm>
          <a:prstGeom prst="rect">
            <a:avLst/>
          </a:prstGeom>
          <a:noFill/>
        </p:spPr>
        <p:txBody>
          <a:bodyPr wrap="none" rtlCol="0">
            <a:spAutoFit/>
          </a:bodyPr>
          <a:lstStyle/>
          <a:p>
            <a:r>
              <a:rPr lang="en-US" u="sng" dirty="0" err="1"/>
              <a:t>Thevenin</a:t>
            </a:r>
            <a:r>
              <a:rPr lang="en-US" u="sng" dirty="0"/>
              <a:t> equivalent to the right of c-d:</a:t>
            </a:r>
          </a:p>
          <a:p>
            <a:endParaRPr lang="en-US" sz="800" u="sng" dirty="0"/>
          </a:p>
          <a:p>
            <a:r>
              <a:rPr lang="en-US" dirty="0"/>
              <a:t>1. Kill sources:</a:t>
            </a:r>
          </a:p>
        </p:txBody>
      </p:sp>
      <p:pic>
        <p:nvPicPr>
          <p:cNvPr id="192514" name="Picture 2"/>
          <p:cNvPicPr>
            <a:picLocks noChangeAspect="1" noChangeArrowheads="1"/>
          </p:cNvPicPr>
          <p:nvPr/>
        </p:nvPicPr>
        <p:blipFill>
          <a:blip r:embed="rId3" cstate="print"/>
          <a:srcRect/>
          <a:stretch>
            <a:fillRect/>
          </a:stretch>
        </p:blipFill>
        <p:spPr bwMode="auto">
          <a:xfrm>
            <a:off x="1104900" y="4034330"/>
            <a:ext cx="2590800" cy="1071070"/>
          </a:xfrm>
          <a:prstGeom prst="rect">
            <a:avLst/>
          </a:prstGeom>
          <a:noFill/>
          <a:ln w="9525">
            <a:noFill/>
            <a:miter lim="800000"/>
            <a:headEnd/>
            <a:tailEnd/>
          </a:ln>
          <a:effectLst/>
        </p:spPr>
      </p:pic>
      <p:sp>
        <p:nvSpPr>
          <p:cNvPr id="11" name="Oval 10"/>
          <p:cNvSpPr/>
          <p:nvPr/>
        </p:nvSpPr>
        <p:spPr>
          <a:xfrm>
            <a:off x="2476500" y="3924300"/>
            <a:ext cx="1257300" cy="1333500"/>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2" name="Straight Connector 11"/>
          <p:cNvCxnSpPr/>
          <p:nvPr/>
        </p:nvCxnSpPr>
        <p:spPr>
          <a:xfrm rot="5400000">
            <a:off x="2971005" y="2399506"/>
            <a:ext cx="1752600" cy="1588"/>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graphicFrame>
        <p:nvGraphicFramePr>
          <p:cNvPr id="192516" name="Object 4"/>
          <p:cNvGraphicFramePr>
            <a:graphicFrameLocks noChangeAspect="1"/>
          </p:cNvGraphicFramePr>
          <p:nvPr/>
        </p:nvGraphicFramePr>
        <p:xfrm>
          <a:off x="3924300" y="3676650"/>
          <a:ext cx="2673350" cy="666750"/>
        </p:xfrm>
        <a:graphic>
          <a:graphicData uri="http://schemas.openxmlformats.org/presentationml/2006/ole">
            <mc:AlternateContent xmlns:mc="http://schemas.openxmlformats.org/markup-compatibility/2006">
              <mc:Choice xmlns:v="urn:schemas-microsoft-com:vml" Requires="v">
                <p:oleObj name="Equation" r:id="rId4" imgW="1282680" imgH="393480" progId="Equation.3">
                  <p:embed/>
                </p:oleObj>
              </mc:Choice>
              <mc:Fallback>
                <p:oleObj name="Equation" r:id="rId4" imgW="1282680" imgH="393480" progId="Equation.3">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24300" y="3676650"/>
                        <a:ext cx="2673350" cy="666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25</a:t>
            </a:fld>
            <a:endParaRPr lang="en-US" dirty="0"/>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 2 </a:t>
            </a:r>
            <a:r>
              <a:rPr lang="en-US" sz="2400" dirty="0"/>
              <a:t>(Johnson &amp; Johnson Exercise 2.6 – Page 54)</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191491" name="Picture 3"/>
          <p:cNvPicPr>
            <a:picLocks noChangeAspect="1" noChangeArrowheads="1"/>
          </p:cNvPicPr>
          <p:nvPr/>
        </p:nvPicPr>
        <p:blipFill>
          <a:blip r:embed="rId2" cstate="print"/>
          <a:srcRect/>
          <a:stretch>
            <a:fillRect/>
          </a:stretch>
        </p:blipFill>
        <p:spPr bwMode="auto">
          <a:xfrm>
            <a:off x="723900" y="1409699"/>
            <a:ext cx="7162800" cy="1768011"/>
          </a:xfrm>
          <a:prstGeom prst="rect">
            <a:avLst/>
          </a:prstGeom>
          <a:noFill/>
          <a:ln w="9525">
            <a:noFill/>
            <a:miter lim="800000"/>
            <a:headEnd/>
            <a:tailEnd/>
          </a:ln>
          <a:effectLst/>
        </p:spPr>
      </p:pic>
      <p:sp>
        <p:nvSpPr>
          <p:cNvPr id="9" name="TextBox 8"/>
          <p:cNvSpPr txBox="1"/>
          <p:nvPr/>
        </p:nvSpPr>
        <p:spPr>
          <a:xfrm>
            <a:off x="609600" y="723900"/>
            <a:ext cx="7458194" cy="646331"/>
          </a:xfrm>
          <a:prstGeom prst="rect">
            <a:avLst/>
          </a:prstGeom>
          <a:noFill/>
        </p:spPr>
        <p:txBody>
          <a:bodyPr wrap="square" rtlCol="0">
            <a:spAutoFit/>
          </a:bodyPr>
          <a:lstStyle/>
          <a:p>
            <a:r>
              <a:rPr lang="en-US" dirty="0"/>
              <a:t>Find the </a:t>
            </a:r>
            <a:r>
              <a:rPr lang="en-US" dirty="0" err="1"/>
              <a:t>Thevenin</a:t>
            </a:r>
            <a:r>
              <a:rPr lang="en-US" dirty="0"/>
              <a:t> equivalent of circuits to the right of line c-d, to the left of line a-b, and use the results to find the value of v</a:t>
            </a:r>
            <a:r>
              <a:rPr lang="en-US" baseline="-25000" dirty="0"/>
              <a:t>1</a:t>
            </a:r>
            <a:r>
              <a:rPr lang="en-US" dirty="0"/>
              <a:t> :</a:t>
            </a:r>
          </a:p>
        </p:txBody>
      </p:sp>
      <p:sp>
        <p:nvSpPr>
          <p:cNvPr id="7" name="TextBox 6"/>
          <p:cNvSpPr txBox="1"/>
          <p:nvPr/>
        </p:nvSpPr>
        <p:spPr>
          <a:xfrm>
            <a:off x="685800" y="3314700"/>
            <a:ext cx="4108817" cy="769441"/>
          </a:xfrm>
          <a:prstGeom prst="rect">
            <a:avLst/>
          </a:prstGeom>
          <a:noFill/>
        </p:spPr>
        <p:txBody>
          <a:bodyPr wrap="none" rtlCol="0">
            <a:spAutoFit/>
          </a:bodyPr>
          <a:lstStyle/>
          <a:p>
            <a:r>
              <a:rPr lang="en-US" u="sng" dirty="0" err="1"/>
              <a:t>Thevenin</a:t>
            </a:r>
            <a:r>
              <a:rPr lang="en-US" u="sng" dirty="0"/>
              <a:t> equivalent to the right of c-d:</a:t>
            </a:r>
          </a:p>
          <a:p>
            <a:endParaRPr lang="en-US" sz="800" u="sng" dirty="0"/>
          </a:p>
          <a:p>
            <a:r>
              <a:rPr lang="en-US" dirty="0"/>
              <a:t>1. Kill sources:</a:t>
            </a:r>
          </a:p>
        </p:txBody>
      </p:sp>
      <p:pic>
        <p:nvPicPr>
          <p:cNvPr id="192514" name="Picture 2"/>
          <p:cNvPicPr>
            <a:picLocks noChangeAspect="1" noChangeArrowheads="1"/>
          </p:cNvPicPr>
          <p:nvPr/>
        </p:nvPicPr>
        <p:blipFill>
          <a:blip r:embed="rId3" cstate="print"/>
          <a:srcRect/>
          <a:stretch>
            <a:fillRect/>
          </a:stretch>
        </p:blipFill>
        <p:spPr bwMode="auto">
          <a:xfrm>
            <a:off x="1104900" y="4034330"/>
            <a:ext cx="2590800" cy="1071070"/>
          </a:xfrm>
          <a:prstGeom prst="rect">
            <a:avLst/>
          </a:prstGeom>
          <a:noFill/>
          <a:ln w="9525">
            <a:noFill/>
            <a:miter lim="800000"/>
            <a:headEnd/>
            <a:tailEnd/>
          </a:ln>
          <a:effectLst/>
        </p:spPr>
      </p:pic>
      <p:graphicFrame>
        <p:nvGraphicFramePr>
          <p:cNvPr id="192516" name="Object 4"/>
          <p:cNvGraphicFramePr>
            <a:graphicFrameLocks noChangeAspect="1"/>
          </p:cNvGraphicFramePr>
          <p:nvPr/>
        </p:nvGraphicFramePr>
        <p:xfrm>
          <a:off x="4305300" y="4343400"/>
          <a:ext cx="4175041" cy="647700"/>
        </p:xfrm>
        <a:graphic>
          <a:graphicData uri="http://schemas.openxmlformats.org/presentationml/2006/ole">
            <mc:AlternateContent xmlns:mc="http://schemas.openxmlformats.org/markup-compatibility/2006">
              <mc:Choice xmlns:v="urn:schemas-microsoft-com:vml" Requires="v">
                <p:oleObj name="Equation" r:id="rId4" imgW="2057400" imgH="393480" progId="Equation.3">
                  <p:embed/>
                </p:oleObj>
              </mc:Choice>
              <mc:Fallback>
                <p:oleObj name="Equation" r:id="rId4" imgW="2057400" imgH="393480" progId="Equation.3">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05300" y="4343400"/>
                        <a:ext cx="4175041" cy="647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Oval 10"/>
          <p:cNvSpPr/>
          <p:nvPr/>
        </p:nvSpPr>
        <p:spPr>
          <a:xfrm>
            <a:off x="1638300" y="3924300"/>
            <a:ext cx="2171700" cy="1333500"/>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2" name="Straight Connector 11"/>
          <p:cNvCxnSpPr/>
          <p:nvPr/>
        </p:nvCxnSpPr>
        <p:spPr>
          <a:xfrm rot="5400000">
            <a:off x="2971005" y="2399506"/>
            <a:ext cx="1752600" cy="1588"/>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graphicFrame>
        <p:nvGraphicFramePr>
          <p:cNvPr id="193540" name="Object 4"/>
          <p:cNvGraphicFramePr>
            <a:graphicFrameLocks noChangeAspect="1"/>
          </p:cNvGraphicFramePr>
          <p:nvPr/>
        </p:nvGraphicFramePr>
        <p:xfrm>
          <a:off x="3924300" y="3676650"/>
          <a:ext cx="2673350" cy="666750"/>
        </p:xfrm>
        <a:graphic>
          <a:graphicData uri="http://schemas.openxmlformats.org/presentationml/2006/ole">
            <mc:AlternateContent xmlns:mc="http://schemas.openxmlformats.org/markup-compatibility/2006">
              <mc:Choice xmlns:v="urn:schemas-microsoft-com:vml" Requires="v">
                <p:oleObj name="Equation" r:id="rId6" imgW="1282680" imgH="393480" progId="Equation.3">
                  <p:embed/>
                </p:oleObj>
              </mc:Choice>
              <mc:Fallback>
                <p:oleObj name="Equation" r:id="rId6" imgW="1282680" imgH="393480" progId="Equation.3">
                  <p:embed/>
                  <p:pic>
                    <p:nvPicPr>
                      <p:cNvPr id="0"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24300" y="3676650"/>
                        <a:ext cx="2673350" cy="666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26</a:t>
            </a:fld>
            <a:endParaRPr lang="en-US" dirty="0"/>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 2 </a:t>
            </a:r>
            <a:r>
              <a:rPr lang="en-US" sz="2400" dirty="0"/>
              <a:t>(Johnson &amp; Johnson Exercise 2.6 – Page 54)</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191491" name="Picture 3"/>
          <p:cNvPicPr>
            <a:picLocks noChangeAspect="1" noChangeArrowheads="1"/>
          </p:cNvPicPr>
          <p:nvPr/>
        </p:nvPicPr>
        <p:blipFill>
          <a:blip r:embed="rId2" cstate="print"/>
          <a:srcRect/>
          <a:stretch>
            <a:fillRect/>
          </a:stretch>
        </p:blipFill>
        <p:spPr bwMode="auto">
          <a:xfrm>
            <a:off x="723900" y="1409699"/>
            <a:ext cx="7162800" cy="1768011"/>
          </a:xfrm>
          <a:prstGeom prst="rect">
            <a:avLst/>
          </a:prstGeom>
          <a:noFill/>
          <a:ln w="9525">
            <a:noFill/>
            <a:miter lim="800000"/>
            <a:headEnd/>
            <a:tailEnd/>
          </a:ln>
          <a:effectLst/>
        </p:spPr>
      </p:pic>
      <p:sp>
        <p:nvSpPr>
          <p:cNvPr id="9" name="TextBox 8"/>
          <p:cNvSpPr txBox="1"/>
          <p:nvPr/>
        </p:nvSpPr>
        <p:spPr>
          <a:xfrm>
            <a:off x="609600" y="723900"/>
            <a:ext cx="7458194" cy="646331"/>
          </a:xfrm>
          <a:prstGeom prst="rect">
            <a:avLst/>
          </a:prstGeom>
          <a:noFill/>
        </p:spPr>
        <p:txBody>
          <a:bodyPr wrap="square" rtlCol="0">
            <a:spAutoFit/>
          </a:bodyPr>
          <a:lstStyle/>
          <a:p>
            <a:r>
              <a:rPr lang="en-US" dirty="0"/>
              <a:t>Find the </a:t>
            </a:r>
            <a:r>
              <a:rPr lang="en-US" dirty="0" err="1"/>
              <a:t>Thevenin</a:t>
            </a:r>
            <a:r>
              <a:rPr lang="en-US" dirty="0"/>
              <a:t> equivalent of circuits to the right of line c-d, to the left of line a-b, and use the results to find the value of v</a:t>
            </a:r>
            <a:r>
              <a:rPr lang="en-US" baseline="-25000" dirty="0"/>
              <a:t>1</a:t>
            </a:r>
            <a:r>
              <a:rPr lang="en-US" dirty="0"/>
              <a:t> :</a:t>
            </a:r>
          </a:p>
        </p:txBody>
      </p:sp>
      <p:sp>
        <p:nvSpPr>
          <p:cNvPr id="7" name="TextBox 6"/>
          <p:cNvSpPr txBox="1"/>
          <p:nvPr/>
        </p:nvSpPr>
        <p:spPr>
          <a:xfrm>
            <a:off x="685800" y="3314700"/>
            <a:ext cx="4108817" cy="769441"/>
          </a:xfrm>
          <a:prstGeom prst="rect">
            <a:avLst/>
          </a:prstGeom>
          <a:noFill/>
        </p:spPr>
        <p:txBody>
          <a:bodyPr wrap="none" rtlCol="0">
            <a:spAutoFit/>
          </a:bodyPr>
          <a:lstStyle/>
          <a:p>
            <a:r>
              <a:rPr lang="en-US" u="sng" dirty="0" err="1"/>
              <a:t>Thevenin</a:t>
            </a:r>
            <a:r>
              <a:rPr lang="en-US" u="sng" dirty="0"/>
              <a:t> equivalent to the right of c-d:</a:t>
            </a:r>
          </a:p>
          <a:p>
            <a:endParaRPr lang="en-US" sz="800" u="sng" dirty="0"/>
          </a:p>
          <a:p>
            <a:r>
              <a:rPr lang="en-US" dirty="0"/>
              <a:t>1. Kill sources:</a:t>
            </a:r>
          </a:p>
        </p:txBody>
      </p:sp>
      <p:pic>
        <p:nvPicPr>
          <p:cNvPr id="192514" name="Picture 2"/>
          <p:cNvPicPr>
            <a:picLocks noChangeAspect="1" noChangeArrowheads="1"/>
          </p:cNvPicPr>
          <p:nvPr/>
        </p:nvPicPr>
        <p:blipFill>
          <a:blip r:embed="rId3" cstate="print"/>
          <a:srcRect/>
          <a:stretch>
            <a:fillRect/>
          </a:stretch>
        </p:blipFill>
        <p:spPr bwMode="auto">
          <a:xfrm>
            <a:off x="1104900" y="4034330"/>
            <a:ext cx="2590800" cy="1071070"/>
          </a:xfrm>
          <a:prstGeom prst="rect">
            <a:avLst/>
          </a:prstGeom>
          <a:noFill/>
          <a:ln w="9525">
            <a:noFill/>
            <a:miter lim="800000"/>
            <a:headEnd/>
            <a:tailEnd/>
          </a:ln>
          <a:effectLst/>
        </p:spPr>
      </p:pic>
      <p:sp>
        <p:nvSpPr>
          <p:cNvPr id="12" name="TextBox 11"/>
          <p:cNvSpPr txBox="1"/>
          <p:nvPr/>
        </p:nvSpPr>
        <p:spPr>
          <a:xfrm>
            <a:off x="677123" y="5221069"/>
            <a:ext cx="3288080" cy="646331"/>
          </a:xfrm>
          <a:prstGeom prst="rect">
            <a:avLst/>
          </a:prstGeom>
          <a:noFill/>
        </p:spPr>
        <p:txBody>
          <a:bodyPr wrap="none" rtlCol="0">
            <a:spAutoFit/>
          </a:bodyPr>
          <a:lstStyle/>
          <a:p>
            <a:r>
              <a:rPr lang="en-US" dirty="0"/>
              <a:t>2. Open-circuit terminals (c-d):</a:t>
            </a:r>
          </a:p>
          <a:p>
            <a:endParaRPr lang="en-US" dirty="0"/>
          </a:p>
        </p:txBody>
      </p:sp>
      <p:pic>
        <p:nvPicPr>
          <p:cNvPr id="195588" name="Picture 4"/>
          <p:cNvPicPr>
            <a:picLocks noChangeAspect="1" noChangeArrowheads="1"/>
          </p:cNvPicPr>
          <p:nvPr/>
        </p:nvPicPr>
        <p:blipFill>
          <a:blip r:embed="rId4" cstate="print"/>
          <a:srcRect/>
          <a:stretch>
            <a:fillRect/>
          </a:stretch>
        </p:blipFill>
        <p:spPr bwMode="auto">
          <a:xfrm>
            <a:off x="1066800" y="5562600"/>
            <a:ext cx="2606758" cy="1066800"/>
          </a:xfrm>
          <a:prstGeom prst="rect">
            <a:avLst/>
          </a:prstGeom>
          <a:noFill/>
          <a:ln w="9525">
            <a:noFill/>
            <a:miter lim="800000"/>
            <a:headEnd/>
            <a:tailEnd/>
          </a:ln>
          <a:effectLst/>
        </p:spPr>
      </p:pic>
      <p:graphicFrame>
        <p:nvGraphicFramePr>
          <p:cNvPr id="195589" name="Object 5"/>
          <p:cNvGraphicFramePr>
            <a:graphicFrameLocks noChangeAspect="1"/>
          </p:cNvGraphicFramePr>
          <p:nvPr/>
        </p:nvGraphicFramePr>
        <p:xfrm>
          <a:off x="3879850" y="5810250"/>
          <a:ext cx="4713288" cy="423863"/>
        </p:xfrm>
        <a:graphic>
          <a:graphicData uri="http://schemas.openxmlformats.org/presentationml/2006/ole">
            <mc:AlternateContent xmlns:mc="http://schemas.openxmlformats.org/markup-compatibility/2006">
              <mc:Choice xmlns:v="urn:schemas-microsoft-com:vml" Requires="v">
                <p:oleObj name="Equation" r:id="rId5" imgW="1828800" imgH="203040" progId="Equation.3">
                  <p:embed/>
                </p:oleObj>
              </mc:Choice>
              <mc:Fallback>
                <p:oleObj name="Equation" r:id="rId5" imgW="1828800" imgH="203040" progId="Equation.3">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79850" y="5810250"/>
                        <a:ext cx="4713288" cy="423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16" name="Straight Connector 15"/>
          <p:cNvCxnSpPr/>
          <p:nvPr/>
        </p:nvCxnSpPr>
        <p:spPr>
          <a:xfrm rot="5400000">
            <a:off x="2971005" y="2399506"/>
            <a:ext cx="1752600" cy="1588"/>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graphicFrame>
        <p:nvGraphicFramePr>
          <p:cNvPr id="195590" name="Object 6"/>
          <p:cNvGraphicFramePr>
            <a:graphicFrameLocks noChangeAspect="1"/>
          </p:cNvGraphicFramePr>
          <p:nvPr/>
        </p:nvGraphicFramePr>
        <p:xfrm>
          <a:off x="4305300" y="4343400"/>
          <a:ext cx="4175125" cy="647700"/>
        </p:xfrm>
        <a:graphic>
          <a:graphicData uri="http://schemas.openxmlformats.org/presentationml/2006/ole">
            <mc:AlternateContent xmlns:mc="http://schemas.openxmlformats.org/markup-compatibility/2006">
              <mc:Choice xmlns:v="urn:schemas-microsoft-com:vml" Requires="v">
                <p:oleObj name="Equation" r:id="rId7" imgW="2057400" imgH="393480" progId="Equation.3">
                  <p:embed/>
                </p:oleObj>
              </mc:Choice>
              <mc:Fallback>
                <p:oleObj name="Equation" r:id="rId7" imgW="2057400" imgH="393480" progId="Equation.3">
                  <p:embed/>
                  <p:pic>
                    <p:nvPicPr>
                      <p:cNvPr id="0"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05300" y="4343400"/>
                        <a:ext cx="4175125" cy="647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5591" name="Object 7"/>
          <p:cNvGraphicFramePr>
            <a:graphicFrameLocks noChangeAspect="1"/>
          </p:cNvGraphicFramePr>
          <p:nvPr/>
        </p:nvGraphicFramePr>
        <p:xfrm>
          <a:off x="3924300" y="3676650"/>
          <a:ext cx="2673350" cy="666750"/>
        </p:xfrm>
        <a:graphic>
          <a:graphicData uri="http://schemas.openxmlformats.org/presentationml/2006/ole">
            <mc:AlternateContent xmlns:mc="http://schemas.openxmlformats.org/markup-compatibility/2006">
              <mc:Choice xmlns:v="urn:schemas-microsoft-com:vml" Requires="v">
                <p:oleObj name="Equation" r:id="rId9" imgW="1282680" imgH="393480" progId="Equation.3">
                  <p:embed/>
                </p:oleObj>
              </mc:Choice>
              <mc:Fallback>
                <p:oleObj name="Equation" r:id="rId9" imgW="1282680" imgH="393480" progId="Equation.3">
                  <p:embed/>
                  <p:pic>
                    <p:nvPicPr>
                      <p:cNvPr id="0" name="Picture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24300" y="3676650"/>
                        <a:ext cx="2673350" cy="666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27</a:t>
            </a:fld>
            <a:endParaRPr lang="en-US" dirty="0"/>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 2 </a:t>
            </a:r>
            <a:r>
              <a:rPr lang="en-US" sz="2400" dirty="0"/>
              <a:t>(Johnson &amp; Johnson Exercise 2.6 – Page 54)</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191491" name="Picture 3"/>
          <p:cNvPicPr>
            <a:picLocks noChangeAspect="1" noChangeArrowheads="1"/>
          </p:cNvPicPr>
          <p:nvPr/>
        </p:nvPicPr>
        <p:blipFill>
          <a:blip r:embed="rId2" cstate="print"/>
          <a:srcRect/>
          <a:stretch>
            <a:fillRect/>
          </a:stretch>
        </p:blipFill>
        <p:spPr bwMode="auto">
          <a:xfrm>
            <a:off x="723900" y="1409699"/>
            <a:ext cx="7162800" cy="1768011"/>
          </a:xfrm>
          <a:prstGeom prst="rect">
            <a:avLst/>
          </a:prstGeom>
          <a:noFill/>
          <a:ln w="9525">
            <a:noFill/>
            <a:miter lim="800000"/>
            <a:headEnd/>
            <a:tailEnd/>
          </a:ln>
          <a:effectLst/>
        </p:spPr>
      </p:pic>
      <p:sp>
        <p:nvSpPr>
          <p:cNvPr id="9" name="TextBox 8"/>
          <p:cNvSpPr txBox="1"/>
          <p:nvPr/>
        </p:nvSpPr>
        <p:spPr>
          <a:xfrm>
            <a:off x="609600" y="723900"/>
            <a:ext cx="7458194" cy="646331"/>
          </a:xfrm>
          <a:prstGeom prst="rect">
            <a:avLst/>
          </a:prstGeom>
          <a:noFill/>
        </p:spPr>
        <p:txBody>
          <a:bodyPr wrap="square" rtlCol="0">
            <a:spAutoFit/>
          </a:bodyPr>
          <a:lstStyle/>
          <a:p>
            <a:r>
              <a:rPr lang="en-US" dirty="0"/>
              <a:t>Find the </a:t>
            </a:r>
            <a:r>
              <a:rPr lang="en-US" dirty="0" err="1"/>
              <a:t>Thevenin</a:t>
            </a:r>
            <a:r>
              <a:rPr lang="en-US" dirty="0"/>
              <a:t> equivalent of circuits to the right of line c-d, to the left of line a-b, and use the results to find the value of v</a:t>
            </a:r>
            <a:r>
              <a:rPr lang="en-US" baseline="-25000" dirty="0"/>
              <a:t>1</a:t>
            </a:r>
            <a:r>
              <a:rPr lang="en-US" dirty="0"/>
              <a:t> :</a:t>
            </a:r>
          </a:p>
        </p:txBody>
      </p:sp>
      <p:sp>
        <p:nvSpPr>
          <p:cNvPr id="7" name="TextBox 6"/>
          <p:cNvSpPr txBox="1"/>
          <p:nvPr/>
        </p:nvSpPr>
        <p:spPr>
          <a:xfrm>
            <a:off x="685800" y="3314700"/>
            <a:ext cx="3967753" cy="769441"/>
          </a:xfrm>
          <a:prstGeom prst="rect">
            <a:avLst/>
          </a:prstGeom>
          <a:noFill/>
        </p:spPr>
        <p:txBody>
          <a:bodyPr wrap="none" rtlCol="0">
            <a:spAutoFit/>
          </a:bodyPr>
          <a:lstStyle/>
          <a:p>
            <a:r>
              <a:rPr lang="en-US" u="sng" dirty="0" err="1"/>
              <a:t>Thevenin</a:t>
            </a:r>
            <a:r>
              <a:rPr lang="en-US" u="sng" dirty="0"/>
              <a:t> equivalent to the left of a-b:</a:t>
            </a:r>
          </a:p>
          <a:p>
            <a:endParaRPr lang="en-US" sz="800" u="sng" dirty="0"/>
          </a:p>
          <a:p>
            <a:r>
              <a:rPr lang="en-US" dirty="0"/>
              <a:t>1. Kill sources:</a:t>
            </a:r>
          </a:p>
        </p:txBody>
      </p:sp>
      <p:cxnSp>
        <p:nvCxnSpPr>
          <p:cNvPr id="12" name="Straight Connector 11"/>
          <p:cNvCxnSpPr/>
          <p:nvPr/>
        </p:nvCxnSpPr>
        <p:spPr>
          <a:xfrm rot="5400000">
            <a:off x="2056606" y="2399506"/>
            <a:ext cx="1752600" cy="1588"/>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pic>
        <p:nvPicPr>
          <p:cNvPr id="196610" name="Picture 2"/>
          <p:cNvPicPr>
            <a:picLocks noChangeAspect="1" noChangeArrowheads="1"/>
          </p:cNvPicPr>
          <p:nvPr/>
        </p:nvPicPr>
        <p:blipFill>
          <a:blip r:embed="rId3" cstate="print"/>
          <a:srcRect/>
          <a:stretch>
            <a:fillRect/>
          </a:stretch>
        </p:blipFill>
        <p:spPr bwMode="auto">
          <a:xfrm>
            <a:off x="2171700" y="3695700"/>
            <a:ext cx="1828800" cy="1133112"/>
          </a:xfrm>
          <a:prstGeom prst="rect">
            <a:avLst/>
          </a:prstGeom>
          <a:noFill/>
          <a:ln w="9525">
            <a:noFill/>
            <a:miter lim="800000"/>
            <a:headEnd/>
            <a:tailEnd/>
          </a:ln>
          <a:effectLst/>
        </p:spPr>
      </p:pic>
      <p:graphicFrame>
        <p:nvGraphicFramePr>
          <p:cNvPr id="196611" name="Object 3"/>
          <p:cNvGraphicFramePr>
            <a:graphicFrameLocks noChangeAspect="1"/>
          </p:cNvGraphicFramePr>
          <p:nvPr/>
        </p:nvGraphicFramePr>
        <p:xfrm>
          <a:off x="4343400" y="4102100"/>
          <a:ext cx="1504950" cy="425450"/>
        </p:xfrm>
        <a:graphic>
          <a:graphicData uri="http://schemas.openxmlformats.org/presentationml/2006/ole">
            <mc:AlternateContent xmlns:mc="http://schemas.openxmlformats.org/markup-compatibility/2006">
              <mc:Choice xmlns:v="urn:schemas-microsoft-com:vml" Requires="v">
                <p:oleObj name="Equation" r:id="rId4" imgW="583920" imgH="203040" progId="Equation.3">
                  <p:embed/>
                </p:oleObj>
              </mc:Choice>
              <mc:Fallback>
                <p:oleObj name="Equation" r:id="rId4" imgW="583920" imgH="203040" progId="Equation.3">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43400" y="4102100"/>
                        <a:ext cx="1504950" cy="425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28</a:t>
            </a:fld>
            <a:endParaRPr lang="en-US" dirty="0"/>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 2 </a:t>
            </a:r>
            <a:r>
              <a:rPr lang="en-US" sz="2400" dirty="0"/>
              <a:t>(Johnson &amp; Johnson Exercise 2.6 – Page 54)</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191491" name="Picture 3"/>
          <p:cNvPicPr>
            <a:picLocks noChangeAspect="1" noChangeArrowheads="1"/>
          </p:cNvPicPr>
          <p:nvPr/>
        </p:nvPicPr>
        <p:blipFill>
          <a:blip r:embed="rId2" cstate="print"/>
          <a:srcRect/>
          <a:stretch>
            <a:fillRect/>
          </a:stretch>
        </p:blipFill>
        <p:spPr bwMode="auto">
          <a:xfrm>
            <a:off x="723900" y="1409699"/>
            <a:ext cx="7162800" cy="1768011"/>
          </a:xfrm>
          <a:prstGeom prst="rect">
            <a:avLst/>
          </a:prstGeom>
          <a:noFill/>
          <a:ln w="9525">
            <a:noFill/>
            <a:miter lim="800000"/>
            <a:headEnd/>
            <a:tailEnd/>
          </a:ln>
          <a:effectLst/>
        </p:spPr>
      </p:pic>
      <p:sp>
        <p:nvSpPr>
          <p:cNvPr id="9" name="TextBox 8"/>
          <p:cNvSpPr txBox="1"/>
          <p:nvPr/>
        </p:nvSpPr>
        <p:spPr>
          <a:xfrm>
            <a:off x="609600" y="723900"/>
            <a:ext cx="7458194" cy="646331"/>
          </a:xfrm>
          <a:prstGeom prst="rect">
            <a:avLst/>
          </a:prstGeom>
          <a:noFill/>
        </p:spPr>
        <p:txBody>
          <a:bodyPr wrap="square" rtlCol="0">
            <a:spAutoFit/>
          </a:bodyPr>
          <a:lstStyle/>
          <a:p>
            <a:r>
              <a:rPr lang="en-US" dirty="0"/>
              <a:t>Find the </a:t>
            </a:r>
            <a:r>
              <a:rPr lang="en-US" dirty="0" err="1"/>
              <a:t>Thevenin</a:t>
            </a:r>
            <a:r>
              <a:rPr lang="en-US" dirty="0"/>
              <a:t> equivalent of circuits to the right of line c-d, to the left of line a-b, and use the results to find the value of v</a:t>
            </a:r>
            <a:r>
              <a:rPr lang="en-US" baseline="-25000" dirty="0"/>
              <a:t>1</a:t>
            </a:r>
            <a:r>
              <a:rPr lang="en-US" dirty="0"/>
              <a:t> :</a:t>
            </a:r>
          </a:p>
        </p:txBody>
      </p:sp>
      <p:sp>
        <p:nvSpPr>
          <p:cNvPr id="7" name="TextBox 6"/>
          <p:cNvSpPr txBox="1"/>
          <p:nvPr/>
        </p:nvSpPr>
        <p:spPr>
          <a:xfrm>
            <a:off x="685800" y="3314700"/>
            <a:ext cx="3967753" cy="769441"/>
          </a:xfrm>
          <a:prstGeom prst="rect">
            <a:avLst/>
          </a:prstGeom>
          <a:noFill/>
        </p:spPr>
        <p:txBody>
          <a:bodyPr wrap="none" rtlCol="0">
            <a:spAutoFit/>
          </a:bodyPr>
          <a:lstStyle/>
          <a:p>
            <a:r>
              <a:rPr lang="en-US" u="sng" dirty="0" err="1"/>
              <a:t>Thevenin</a:t>
            </a:r>
            <a:r>
              <a:rPr lang="en-US" u="sng" dirty="0"/>
              <a:t> equivalent to the left of a-b:</a:t>
            </a:r>
          </a:p>
          <a:p>
            <a:endParaRPr lang="en-US" sz="800" u="sng" dirty="0"/>
          </a:p>
          <a:p>
            <a:r>
              <a:rPr lang="en-US" dirty="0"/>
              <a:t>1. Kill sources:</a:t>
            </a:r>
          </a:p>
        </p:txBody>
      </p:sp>
      <p:cxnSp>
        <p:nvCxnSpPr>
          <p:cNvPr id="12" name="Straight Connector 11"/>
          <p:cNvCxnSpPr/>
          <p:nvPr/>
        </p:nvCxnSpPr>
        <p:spPr>
          <a:xfrm rot="5400000">
            <a:off x="2056606" y="2399506"/>
            <a:ext cx="1752600" cy="1588"/>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pic>
        <p:nvPicPr>
          <p:cNvPr id="196610" name="Picture 2"/>
          <p:cNvPicPr>
            <a:picLocks noChangeAspect="1" noChangeArrowheads="1"/>
          </p:cNvPicPr>
          <p:nvPr/>
        </p:nvPicPr>
        <p:blipFill>
          <a:blip r:embed="rId3" cstate="print"/>
          <a:srcRect/>
          <a:stretch>
            <a:fillRect/>
          </a:stretch>
        </p:blipFill>
        <p:spPr bwMode="auto">
          <a:xfrm>
            <a:off x="2171700" y="3695700"/>
            <a:ext cx="1828800" cy="1133112"/>
          </a:xfrm>
          <a:prstGeom prst="rect">
            <a:avLst/>
          </a:prstGeom>
          <a:noFill/>
          <a:ln w="9525">
            <a:noFill/>
            <a:miter lim="800000"/>
            <a:headEnd/>
            <a:tailEnd/>
          </a:ln>
          <a:effectLst/>
        </p:spPr>
      </p:pic>
      <p:graphicFrame>
        <p:nvGraphicFramePr>
          <p:cNvPr id="196611" name="Object 3"/>
          <p:cNvGraphicFramePr>
            <a:graphicFrameLocks noChangeAspect="1"/>
          </p:cNvGraphicFramePr>
          <p:nvPr/>
        </p:nvGraphicFramePr>
        <p:xfrm>
          <a:off x="4343400" y="4102100"/>
          <a:ext cx="1504950" cy="425450"/>
        </p:xfrm>
        <a:graphic>
          <a:graphicData uri="http://schemas.openxmlformats.org/presentationml/2006/ole">
            <mc:AlternateContent xmlns:mc="http://schemas.openxmlformats.org/markup-compatibility/2006">
              <mc:Choice xmlns:v="urn:schemas-microsoft-com:vml" Requires="v">
                <p:oleObj name="Equation" r:id="rId4" imgW="583920" imgH="203040" progId="Equation.3">
                  <p:embed/>
                </p:oleObj>
              </mc:Choice>
              <mc:Fallback>
                <p:oleObj name="Equation" r:id="rId4" imgW="583920" imgH="203040" progId="Equation.3">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43400" y="4102100"/>
                        <a:ext cx="1504950" cy="425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TextBox 12"/>
          <p:cNvSpPr txBox="1"/>
          <p:nvPr/>
        </p:nvSpPr>
        <p:spPr>
          <a:xfrm>
            <a:off x="677123" y="4953000"/>
            <a:ext cx="3300904" cy="646331"/>
          </a:xfrm>
          <a:prstGeom prst="rect">
            <a:avLst/>
          </a:prstGeom>
          <a:noFill/>
        </p:spPr>
        <p:txBody>
          <a:bodyPr wrap="none" rtlCol="0">
            <a:spAutoFit/>
          </a:bodyPr>
          <a:lstStyle/>
          <a:p>
            <a:r>
              <a:rPr lang="en-US" dirty="0"/>
              <a:t>2. Open-circuit terminals (a-b):</a:t>
            </a:r>
          </a:p>
          <a:p>
            <a:endParaRPr lang="en-US" dirty="0"/>
          </a:p>
        </p:txBody>
      </p:sp>
      <p:pic>
        <p:nvPicPr>
          <p:cNvPr id="196612" name="Picture 4"/>
          <p:cNvPicPr>
            <a:picLocks noChangeAspect="1" noChangeArrowheads="1"/>
          </p:cNvPicPr>
          <p:nvPr/>
        </p:nvPicPr>
        <p:blipFill>
          <a:blip r:embed="rId6" cstate="print"/>
          <a:srcRect/>
          <a:stretch>
            <a:fillRect/>
          </a:stretch>
        </p:blipFill>
        <p:spPr bwMode="auto">
          <a:xfrm>
            <a:off x="800100" y="5295900"/>
            <a:ext cx="1638300" cy="1166451"/>
          </a:xfrm>
          <a:prstGeom prst="rect">
            <a:avLst/>
          </a:prstGeom>
          <a:noFill/>
          <a:ln w="9525">
            <a:noFill/>
            <a:miter lim="800000"/>
            <a:headEnd/>
            <a:tailEnd/>
          </a:ln>
          <a:effectLst/>
        </p:spPr>
      </p:pic>
      <p:graphicFrame>
        <p:nvGraphicFramePr>
          <p:cNvPr id="196613" name="Object 5"/>
          <p:cNvGraphicFramePr>
            <a:graphicFrameLocks noChangeAspect="1"/>
          </p:cNvGraphicFramePr>
          <p:nvPr/>
        </p:nvGraphicFramePr>
        <p:xfrm>
          <a:off x="3124200" y="5715000"/>
          <a:ext cx="3797300" cy="423863"/>
        </p:xfrm>
        <a:graphic>
          <a:graphicData uri="http://schemas.openxmlformats.org/presentationml/2006/ole">
            <mc:AlternateContent xmlns:mc="http://schemas.openxmlformats.org/markup-compatibility/2006">
              <mc:Choice xmlns:v="urn:schemas-microsoft-com:vml" Requires="v">
                <p:oleObj name="Equation" r:id="rId7" imgW="1473120" imgH="203040" progId="Equation.3">
                  <p:embed/>
                </p:oleObj>
              </mc:Choice>
              <mc:Fallback>
                <p:oleObj name="Equation" r:id="rId7" imgW="1473120" imgH="203040" progId="Equation.3">
                  <p:embed/>
                  <p:pic>
                    <p:nvPicPr>
                      <p:cNvPr id="0"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24200" y="5715000"/>
                        <a:ext cx="3797300" cy="423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29</a:t>
            </a:fld>
            <a:endParaRPr lang="en-US" dirty="0"/>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 2 </a:t>
            </a:r>
            <a:r>
              <a:rPr lang="en-US" sz="2400" dirty="0"/>
              <a:t>(Johnson &amp; Johnson Exercise 2.6 – Page 54)</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191491" name="Picture 3"/>
          <p:cNvPicPr>
            <a:picLocks noChangeAspect="1" noChangeArrowheads="1"/>
          </p:cNvPicPr>
          <p:nvPr/>
        </p:nvPicPr>
        <p:blipFill>
          <a:blip r:embed="rId2" cstate="print"/>
          <a:srcRect/>
          <a:stretch>
            <a:fillRect/>
          </a:stretch>
        </p:blipFill>
        <p:spPr bwMode="auto">
          <a:xfrm>
            <a:off x="723900" y="1409699"/>
            <a:ext cx="7162800" cy="1768011"/>
          </a:xfrm>
          <a:prstGeom prst="rect">
            <a:avLst/>
          </a:prstGeom>
          <a:noFill/>
          <a:ln w="9525">
            <a:noFill/>
            <a:miter lim="800000"/>
            <a:headEnd/>
            <a:tailEnd/>
          </a:ln>
          <a:effectLst/>
        </p:spPr>
      </p:pic>
      <p:sp>
        <p:nvSpPr>
          <p:cNvPr id="9" name="TextBox 8"/>
          <p:cNvSpPr txBox="1"/>
          <p:nvPr/>
        </p:nvSpPr>
        <p:spPr>
          <a:xfrm>
            <a:off x="609600" y="723900"/>
            <a:ext cx="7458194" cy="646331"/>
          </a:xfrm>
          <a:prstGeom prst="rect">
            <a:avLst/>
          </a:prstGeom>
          <a:noFill/>
        </p:spPr>
        <p:txBody>
          <a:bodyPr wrap="square" rtlCol="0">
            <a:spAutoFit/>
          </a:bodyPr>
          <a:lstStyle/>
          <a:p>
            <a:r>
              <a:rPr lang="en-US" dirty="0"/>
              <a:t>Find the </a:t>
            </a:r>
            <a:r>
              <a:rPr lang="en-US" dirty="0" err="1"/>
              <a:t>Thevenin</a:t>
            </a:r>
            <a:r>
              <a:rPr lang="en-US" dirty="0"/>
              <a:t> equivalent of circuits to the right of line c-d, to the left of line a-b, and use the results to find the value of v</a:t>
            </a:r>
            <a:r>
              <a:rPr lang="en-US" baseline="-25000" dirty="0"/>
              <a:t>1</a:t>
            </a:r>
            <a:r>
              <a:rPr lang="en-US" dirty="0"/>
              <a:t> :</a:t>
            </a:r>
          </a:p>
        </p:txBody>
      </p:sp>
      <p:sp>
        <p:nvSpPr>
          <p:cNvPr id="7" name="TextBox 6"/>
          <p:cNvSpPr txBox="1"/>
          <p:nvPr/>
        </p:nvSpPr>
        <p:spPr>
          <a:xfrm>
            <a:off x="685800" y="3314700"/>
            <a:ext cx="6591869" cy="369332"/>
          </a:xfrm>
          <a:prstGeom prst="rect">
            <a:avLst/>
          </a:prstGeom>
          <a:noFill/>
        </p:spPr>
        <p:txBody>
          <a:bodyPr wrap="none" rtlCol="0">
            <a:spAutoFit/>
          </a:bodyPr>
          <a:lstStyle/>
          <a:p>
            <a:r>
              <a:rPr lang="en-US" u="sng" dirty="0"/>
              <a:t>Use the two equivalent circuits to reduce the circuit and find v</a:t>
            </a:r>
            <a:r>
              <a:rPr lang="en-US" u="sng" baseline="-25000" dirty="0"/>
              <a:t>1</a:t>
            </a:r>
            <a:r>
              <a:rPr lang="en-US" u="sng" dirty="0"/>
              <a:t>:</a:t>
            </a:r>
          </a:p>
        </p:txBody>
      </p:sp>
      <p:graphicFrame>
        <p:nvGraphicFramePr>
          <p:cNvPr id="196613" name="Object 5"/>
          <p:cNvGraphicFramePr>
            <a:graphicFrameLocks noChangeAspect="1"/>
          </p:cNvGraphicFramePr>
          <p:nvPr/>
        </p:nvGraphicFramePr>
        <p:xfrm>
          <a:off x="5051425" y="4146550"/>
          <a:ext cx="3502025" cy="768350"/>
        </p:xfrm>
        <a:graphic>
          <a:graphicData uri="http://schemas.openxmlformats.org/presentationml/2006/ole">
            <mc:AlternateContent xmlns:mc="http://schemas.openxmlformats.org/markup-compatibility/2006">
              <mc:Choice xmlns:v="urn:schemas-microsoft-com:vml" Requires="v">
                <p:oleObj name="Equation" r:id="rId3" imgW="1358640" imgH="368280" progId="Equation.3">
                  <p:embed/>
                </p:oleObj>
              </mc:Choice>
              <mc:Fallback>
                <p:oleObj name="Equation" r:id="rId3" imgW="1358640" imgH="368280" progId="Equation.3">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51425" y="4146550"/>
                        <a:ext cx="3502025" cy="768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98660" name="Picture 4"/>
          <p:cNvPicPr>
            <a:picLocks noChangeAspect="1" noChangeArrowheads="1"/>
          </p:cNvPicPr>
          <p:nvPr/>
        </p:nvPicPr>
        <p:blipFill>
          <a:blip r:embed="rId5" cstate="print"/>
          <a:srcRect/>
          <a:stretch>
            <a:fillRect/>
          </a:stretch>
        </p:blipFill>
        <p:spPr bwMode="auto">
          <a:xfrm>
            <a:off x="609600" y="3871129"/>
            <a:ext cx="4152900" cy="1805771"/>
          </a:xfrm>
          <a:prstGeom prst="rect">
            <a:avLst/>
          </a:prstGeom>
          <a:noFill/>
          <a:ln w="9525">
            <a:noFill/>
            <a:miter lim="800000"/>
            <a:headEnd/>
            <a:tailEnd/>
          </a:ln>
          <a:effectLst/>
        </p:spPr>
      </p:pic>
      <p:sp>
        <p:nvSpPr>
          <p:cNvPr id="15" name="TextBox 14"/>
          <p:cNvSpPr txBox="1"/>
          <p:nvPr/>
        </p:nvSpPr>
        <p:spPr>
          <a:xfrm>
            <a:off x="4800600" y="5181600"/>
            <a:ext cx="4283545" cy="923330"/>
          </a:xfrm>
          <a:prstGeom prst="rect">
            <a:avLst/>
          </a:prstGeom>
          <a:noFill/>
        </p:spPr>
        <p:txBody>
          <a:bodyPr wrap="none" rtlCol="0">
            <a:spAutoFit/>
          </a:bodyPr>
          <a:lstStyle/>
          <a:p>
            <a:r>
              <a:rPr lang="en-US" dirty="0"/>
              <a:t>Note the negative sign comes from</a:t>
            </a:r>
          </a:p>
          <a:p>
            <a:r>
              <a:rPr lang="en-US" dirty="0"/>
              <a:t>the direction of the v</a:t>
            </a:r>
            <a:r>
              <a:rPr lang="en-US" baseline="-25000" dirty="0"/>
              <a:t>1</a:t>
            </a:r>
            <a:r>
              <a:rPr lang="en-US" dirty="0"/>
              <a:t> voltage as defined</a:t>
            </a:r>
          </a:p>
          <a:p>
            <a:r>
              <a:rPr lang="en-US" dirty="0"/>
              <a:t>in the problem.</a:t>
            </a:r>
          </a:p>
        </p:txBody>
      </p:sp>
      <p:sp>
        <p:nvSpPr>
          <p:cNvPr id="11"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30</a:t>
            </a:fld>
            <a:endParaRPr lang="en-US" dirty="0"/>
          </a:p>
        </p:txBody>
      </p:sp>
      <p:sp>
        <p:nvSpPr>
          <p:cNvPr id="12" name="TextBox 11"/>
          <p:cNvSpPr txBox="1"/>
          <p:nvPr/>
        </p:nvSpPr>
        <p:spPr>
          <a:xfrm>
            <a:off x="4953000" y="3810000"/>
            <a:ext cx="1851854" cy="369332"/>
          </a:xfrm>
          <a:prstGeom prst="rect">
            <a:avLst/>
          </a:prstGeom>
          <a:noFill/>
        </p:spPr>
        <p:txBody>
          <a:bodyPr wrap="none" rtlCol="0">
            <a:spAutoFit/>
          </a:bodyPr>
          <a:lstStyle/>
          <a:p>
            <a:r>
              <a:rPr lang="en-US" dirty="0"/>
              <a:t>Voltage division:</a:t>
            </a:r>
            <a:endParaRPr lang="tr-TR" dirty="0"/>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 3 </a:t>
            </a:r>
            <a:r>
              <a:rPr lang="en-US" sz="2400" dirty="0"/>
              <a:t>(Based on N &amp; R Problem 4.74)</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9" name="TextBox 8"/>
          <p:cNvSpPr txBox="1"/>
          <p:nvPr/>
        </p:nvSpPr>
        <p:spPr>
          <a:xfrm>
            <a:off x="609600" y="723900"/>
            <a:ext cx="7458194" cy="1200329"/>
          </a:xfrm>
          <a:prstGeom prst="rect">
            <a:avLst/>
          </a:prstGeom>
          <a:noFill/>
        </p:spPr>
        <p:txBody>
          <a:bodyPr wrap="square" rtlCol="0">
            <a:spAutoFit/>
          </a:bodyPr>
          <a:lstStyle/>
          <a:p>
            <a:r>
              <a:rPr lang="en-US" dirty="0"/>
              <a:t>When an ammeter is used to measure the current </a:t>
            </a:r>
            <a:r>
              <a:rPr lang="en-US" dirty="0" err="1"/>
              <a:t>i</a:t>
            </a:r>
            <a:r>
              <a:rPr lang="el-GR" baseline="-25000" dirty="0"/>
              <a:t>ϕ</a:t>
            </a:r>
            <a:r>
              <a:rPr lang="en-US" dirty="0"/>
              <a:t> in the circuit shown below, it reads 10 A.</a:t>
            </a:r>
          </a:p>
          <a:p>
            <a:pPr marL="342900" indent="-342900">
              <a:buAutoNum type="alphaLcParenR"/>
            </a:pPr>
            <a:r>
              <a:rPr lang="en-US" dirty="0"/>
              <a:t>What is the resistance of the ammeter?</a:t>
            </a:r>
          </a:p>
          <a:p>
            <a:pPr marL="342900" indent="-342900">
              <a:buAutoNum type="alphaLcParenR"/>
            </a:pPr>
            <a:r>
              <a:rPr lang="en-US" dirty="0"/>
              <a:t>What is the percentage of error in the current measurement?</a:t>
            </a:r>
          </a:p>
        </p:txBody>
      </p:sp>
      <p:pic>
        <p:nvPicPr>
          <p:cNvPr id="7" name="Picture 2" descr="04_69-61P4-74"/>
          <p:cNvPicPr>
            <a:picLocks noChangeAspect="1" noChangeArrowheads="1"/>
          </p:cNvPicPr>
          <p:nvPr/>
        </p:nvPicPr>
        <p:blipFill>
          <a:blip r:embed="rId3" cstate="print"/>
          <a:srcRect/>
          <a:stretch>
            <a:fillRect/>
          </a:stretch>
        </p:blipFill>
        <p:spPr bwMode="auto">
          <a:xfrm>
            <a:off x="419100" y="1905000"/>
            <a:ext cx="3810000" cy="2107469"/>
          </a:xfrm>
          <a:prstGeom prst="rect">
            <a:avLst/>
          </a:prstGeom>
          <a:noFill/>
          <a:ln w="9525">
            <a:noFill/>
            <a:miter lim="800000"/>
            <a:headEnd/>
            <a:tailEnd/>
          </a:ln>
          <a:effectLst/>
        </p:spPr>
      </p:pic>
      <p:sp>
        <p:nvSpPr>
          <p:cNvPr id="11" name="TextBox 10"/>
          <p:cNvSpPr txBox="1"/>
          <p:nvPr/>
        </p:nvSpPr>
        <p:spPr>
          <a:xfrm>
            <a:off x="3771900" y="3086100"/>
            <a:ext cx="685800" cy="307777"/>
          </a:xfrm>
          <a:prstGeom prst="rect">
            <a:avLst/>
          </a:prstGeom>
          <a:solidFill>
            <a:schemeClr val="bg1"/>
          </a:solidFill>
        </p:spPr>
        <p:txBody>
          <a:bodyPr wrap="square" rtlCol="0">
            <a:spAutoFit/>
          </a:bodyPr>
          <a:lstStyle/>
          <a:p>
            <a:r>
              <a:rPr lang="en-US" sz="1400" dirty="0">
                <a:latin typeface="Arial" pitchFamily="34" charset="0"/>
                <a:cs typeface="Arial" pitchFamily="34" charset="0"/>
              </a:rPr>
              <a:t>144 </a:t>
            </a:r>
            <a:r>
              <a:rPr lang="el-GR" sz="1400" dirty="0">
                <a:latin typeface="Arial" pitchFamily="34" charset="0"/>
                <a:cs typeface="Arial" pitchFamily="34" charset="0"/>
              </a:rPr>
              <a:t>Ω</a:t>
            </a:r>
            <a:endParaRPr lang="tr-TR" sz="1400" dirty="0">
              <a:latin typeface="Arial" pitchFamily="34" charset="0"/>
              <a:cs typeface="Arial" pitchFamily="34" charset="0"/>
            </a:endParaRPr>
          </a:p>
        </p:txBody>
      </p:sp>
      <p:sp>
        <p:nvSpPr>
          <p:cNvPr id="12"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31</a:t>
            </a:fld>
            <a:endParaRPr lang="en-US" dirty="0"/>
          </a:p>
        </p:txBody>
      </p:sp>
    </p:spTree>
    <p:extLst>
      <p:ext uri="{BB962C8B-B14F-4D97-AF65-F5344CB8AC3E}">
        <p14:creationId xmlns:p14="http://schemas.microsoft.com/office/powerpoint/2010/main" val="481918370"/>
      </p:ext>
    </p:extLst>
  </p:cSld>
  <p:clrMapOvr>
    <a:masterClrMapping/>
  </p:clrMapOvr>
  <p:transition spd="med"/>
  <p:extLst>
    <p:ext uri="{6950BFC3-D8DA-4A85-94F7-54DA5524770B}">
      <p188:commentRel xmlns:p188="http://schemas.microsoft.com/office/powerpoint/2018/8/main" r:id="rId2"/>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 3 </a:t>
            </a:r>
            <a:r>
              <a:rPr lang="en-US" sz="2400" dirty="0"/>
              <a:t>(Based on N &amp; R Problem 4.74)</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9" name="TextBox 8"/>
          <p:cNvSpPr txBox="1"/>
          <p:nvPr/>
        </p:nvSpPr>
        <p:spPr>
          <a:xfrm>
            <a:off x="609600" y="723900"/>
            <a:ext cx="7458194" cy="1200329"/>
          </a:xfrm>
          <a:prstGeom prst="rect">
            <a:avLst/>
          </a:prstGeom>
          <a:noFill/>
        </p:spPr>
        <p:txBody>
          <a:bodyPr wrap="square" rtlCol="0">
            <a:spAutoFit/>
          </a:bodyPr>
          <a:lstStyle/>
          <a:p>
            <a:r>
              <a:rPr lang="en-US" dirty="0"/>
              <a:t>When an ammeter is used to measure the current </a:t>
            </a:r>
            <a:r>
              <a:rPr lang="en-US" dirty="0" err="1"/>
              <a:t>i</a:t>
            </a:r>
            <a:r>
              <a:rPr lang="el-GR" baseline="-25000" dirty="0"/>
              <a:t>ϕ</a:t>
            </a:r>
            <a:r>
              <a:rPr lang="en-US" dirty="0"/>
              <a:t> in the circuit shown below, it reads 10 A.</a:t>
            </a:r>
          </a:p>
          <a:p>
            <a:pPr marL="342900" indent="-342900">
              <a:buAutoNum type="alphaLcParenR"/>
            </a:pPr>
            <a:r>
              <a:rPr lang="en-US" dirty="0"/>
              <a:t>What is the resistance of the ammeter?</a:t>
            </a:r>
          </a:p>
          <a:p>
            <a:pPr marL="342900" indent="-342900">
              <a:buAutoNum type="alphaLcParenR"/>
            </a:pPr>
            <a:r>
              <a:rPr lang="en-US" dirty="0"/>
              <a:t>What is the percentage of error in the current measurement?</a:t>
            </a:r>
          </a:p>
        </p:txBody>
      </p:sp>
      <p:pic>
        <p:nvPicPr>
          <p:cNvPr id="7" name="Picture 2" descr="04_69-61P4-74"/>
          <p:cNvPicPr>
            <a:picLocks noChangeAspect="1" noChangeArrowheads="1"/>
          </p:cNvPicPr>
          <p:nvPr/>
        </p:nvPicPr>
        <p:blipFill>
          <a:blip r:embed="rId2" cstate="print"/>
          <a:srcRect/>
          <a:stretch>
            <a:fillRect/>
          </a:stretch>
        </p:blipFill>
        <p:spPr bwMode="auto">
          <a:xfrm>
            <a:off x="419100" y="1905000"/>
            <a:ext cx="3810000" cy="2107469"/>
          </a:xfrm>
          <a:prstGeom prst="rect">
            <a:avLst/>
          </a:prstGeom>
          <a:noFill/>
          <a:ln w="9525">
            <a:noFill/>
            <a:miter lim="800000"/>
            <a:headEnd/>
            <a:tailEnd/>
          </a:ln>
          <a:effectLst/>
        </p:spPr>
      </p:pic>
      <p:sp>
        <p:nvSpPr>
          <p:cNvPr id="8" name="Title 1"/>
          <p:cNvSpPr txBox="1">
            <a:spLocks/>
          </p:cNvSpPr>
          <p:nvPr/>
        </p:nvSpPr>
        <p:spPr bwMode="auto">
          <a:xfrm>
            <a:off x="4610100" y="2247900"/>
            <a:ext cx="4305300" cy="20193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n-US" b="0" i="0" u="sng" strike="noStrike" kern="1200" cap="none" spc="0" normalizeH="0" baseline="0" noProof="0" dirty="0">
                <a:ln>
                  <a:noFill/>
                </a:ln>
                <a:solidFill>
                  <a:schemeClr val="tx1"/>
                </a:solidFill>
                <a:effectLst/>
                <a:uLnTx/>
                <a:uFillTx/>
                <a:latin typeface="+mj-lt"/>
                <a:ea typeface="+mj-ea"/>
                <a:cs typeface="+mj-cs"/>
              </a:rPr>
              <a:t>Solution:</a:t>
            </a:r>
          </a:p>
          <a:p>
            <a:pPr marL="0" marR="0" lvl="0" indent="0" defTabSz="914400" rtl="0" eaLnBrk="1" fontAlgn="base" latinLnBrk="0" hangingPunct="1">
              <a:lnSpc>
                <a:spcPct val="100000"/>
              </a:lnSpc>
              <a:spcBef>
                <a:spcPct val="0"/>
              </a:spcBef>
              <a:spcAft>
                <a:spcPct val="0"/>
              </a:spcAft>
              <a:buClrTx/>
              <a:buSzTx/>
              <a:buFontTx/>
              <a:buNone/>
              <a:tabLst/>
              <a:defRPr/>
            </a:pPr>
            <a:endParaRPr kumimoji="0" lang="en-US" sz="800" b="0" i="0" u="sng" strike="noStrike" kern="1200" cap="none" spc="0" normalizeH="0" baseline="0" noProof="0" dirty="0">
              <a:ln>
                <a:noFill/>
              </a:ln>
              <a:solidFill>
                <a:schemeClr val="tx1"/>
              </a:solidFill>
              <a:effectLst/>
              <a:uLnTx/>
              <a:uFillTx/>
              <a:latin typeface="+mj-lt"/>
              <a:ea typeface="+mj-ea"/>
              <a:cs typeface="+mj-cs"/>
            </a:endParaRPr>
          </a:p>
          <a:p>
            <a:pPr lvl="0">
              <a:defRPr/>
            </a:pPr>
            <a:r>
              <a:rPr lang="en-US" noProof="0" dirty="0">
                <a:latin typeface="+mj-lt"/>
                <a:ea typeface="+mj-ea"/>
                <a:cs typeface="+mj-cs"/>
              </a:rPr>
              <a:t>Note the ammeter needs to be placed in series with the 50</a:t>
            </a:r>
            <a:r>
              <a:rPr lang="el-GR" noProof="0" dirty="0">
                <a:latin typeface="+mj-lt"/>
                <a:ea typeface="+mj-ea"/>
                <a:cs typeface="+mj-cs"/>
              </a:rPr>
              <a:t>Ω</a:t>
            </a:r>
            <a:r>
              <a:rPr lang="en-US" noProof="0" dirty="0">
                <a:latin typeface="+mj-lt"/>
                <a:ea typeface="+mj-ea"/>
                <a:cs typeface="+mj-cs"/>
              </a:rPr>
              <a:t> resistor if it is to measure </a:t>
            </a:r>
            <a:r>
              <a:rPr lang="en-US" noProof="0" dirty="0" err="1">
                <a:latin typeface="+mj-lt"/>
                <a:ea typeface="+mj-ea"/>
                <a:cs typeface="+mj-cs"/>
              </a:rPr>
              <a:t>i</a:t>
            </a:r>
            <a:r>
              <a:rPr lang="el-GR" baseline="-25000" dirty="0">
                <a:latin typeface="+mj-lt"/>
              </a:rPr>
              <a:t>ϕ</a:t>
            </a:r>
            <a:r>
              <a:rPr lang="en-US" noProof="0" dirty="0">
                <a:latin typeface="+mj-lt"/>
                <a:ea typeface="+mj-ea"/>
                <a:cs typeface="+mj-cs"/>
              </a:rPr>
              <a:t>. </a:t>
            </a:r>
          </a:p>
          <a:p>
            <a:pPr lvl="0">
              <a:defRPr/>
            </a:pPr>
            <a:r>
              <a:rPr lang="en-US" dirty="0">
                <a:latin typeface="+mj-lt"/>
                <a:ea typeface="+mj-ea"/>
                <a:cs typeface="+mj-cs"/>
              </a:rPr>
              <a:t>First, let’s simplify the circuit connected to </a:t>
            </a:r>
            <a:r>
              <a:rPr lang="en-US" dirty="0">
                <a:latin typeface="+mj-lt"/>
              </a:rPr>
              <a:t>the terminals of the 50</a:t>
            </a:r>
            <a:r>
              <a:rPr lang="el-GR" dirty="0">
                <a:latin typeface="+mj-lt"/>
              </a:rPr>
              <a:t>Ω</a:t>
            </a:r>
            <a:r>
              <a:rPr lang="en-US" dirty="0">
                <a:latin typeface="+mj-lt"/>
              </a:rPr>
              <a:t> resistor </a:t>
            </a:r>
            <a:r>
              <a:rPr lang="en-US" dirty="0">
                <a:latin typeface="+mj-lt"/>
                <a:ea typeface="+mj-ea"/>
                <a:cs typeface="+mj-cs"/>
              </a:rPr>
              <a:t>to a </a:t>
            </a:r>
            <a:r>
              <a:rPr lang="en-US" dirty="0" err="1">
                <a:latin typeface="+mj-lt"/>
                <a:ea typeface="+mj-ea"/>
                <a:cs typeface="+mj-cs"/>
              </a:rPr>
              <a:t>Thevenin</a:t>
            </a:r>
            <a:r>
              <a:rPr lang="en-US" dirty="0">
                <a:latin typeface="+mj-lt"/>
                <a:ea typeface="+mj-ea"/>
                <a:cs typeface="+mj-cs"/>
              </a:rPr>
              <a:t> equivalent.</a:t>
            </a:r>
            <a:endParaRPr lang="en-US" noProof="0" dirty="0">
              <a:latin typeface="+mj-lt"/>
              <a:ea typeface="+mj-ea"/>
              <a:cs typeface="+mj-cs"/>
            </a:endParaRPr>
          </a:p>
          <a:p>
            <a:pPr lvl="0">
              <a:defRPr/>
            </a:pPr>
            <a:endParaRPr kumimoji="0" lang="en-US" b="0" i="0" strike="noStrike" kern="1200" cap="none" spc="0" normalizeH="0" baseline="0" noProof="0" dirty="0">
              <a:ln>
                <a:noFill/>
              </a:ln>
              <a:solidFill>
                <a:schemeClr val="tx1"/>
              </a:solidFill>
              <a:effectLst/>
              <a:uLnTx/>
              <a:uFillTx/>
              <a:latin typeface="+mj-lt"/>
              <a:ea typeface="+mj-ea"/>
              <a:cs typeface="+mj-cs"/>
            </a:endParaRPr>
          </a:p>
        </p:txBody>
      </p:sp>
      <p:sp>
        <p:nvSpPr>
          <p:cNvPr id="13" name="TextBox 12"/>
          <p:cNvSpPr txBox="1"/>
          <p:nvPr/>
        </p:nvSpPr>
        <p:spPr>
          <a:xfrm>
            <a:off x="3771900" y="3086100"/>
            <a:ext cx="685800" cy="307777"/>
          </a:xfrm>
          <a:prstGeom prst="rect">
            <a:avLst/>
          </a:prstGeom>
          <a:solidFill>
            <a:schemeClr val="bg1"/>
          </a:solidFill>
        </p:spPr>
        <p:txBody>
          <a:bodyPr wrap="square" rtlCol="0">
            <a:spAutoFit/>
          </a:bodyPr>
          <a:lstStyle/>
          <a:p>
            <a:r>
              <a:rPr lang="en-US" sz="1400" dirty="0">
                <a:latin typeface="Arial" pitchFamily="34" charset="0"/>
                <a:cs typeface="Arial" pitchFamily="34" charset="0"/>
              </a:rPr>
              <a:t>144 </a:t>
            </a:r>
            <a:r>
              <a:rPr lang="el-GR" sz="1400" dirty="0">
                <a:latin typeface="Arial" pitchFamily="34" charset="0"/>
                <a:cs typeface="Arial" pitchFamily="34" charset="0"/>
              </a:rPr>
              <a:t>Ω</a:t>
            </a:r>
            <a:endParaRPr lang="tr-TR" sz="1400" dirty="0">
              <a:latin typeface="Arial" pitchFamily="34" charset="0"/>
              <a:cs typeface="Arial" pitchFamily="34" charset="0"/>
            </a:endParaRPr>
          </a:p>
        </p:txBody>
      </p:sp>
      <p:sp>
        <p:nvSpPr>
          <p:cNvPr id="14"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32</a:t>
            </a:fld>
            <a:endParaRPr lang="en-US" dirty="0"/>
          </a:p>
        </p:txBody>
      </p:sp>
    </p:spTree>
    <p:extLst>
      <p:ext uri="{BB962C8B-B14F-4D97-AF65-F5344CB8AC3E}">
        <p14:creationId xmlns:p14="http://schemas.microsoft.com/office/powerpoint/2010/main" val="1733214024"/>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 3 </a:t>
            </a:r>
            <a:r>
              <a:rPr lang="en-US" sz="2400" dirty="0"/>
              <a:t>(Based on N &amp; R Problem 4.74)</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9" name="TextBox 8"/>
          <p:cNvSpPr txBox="1"/>
          <p:nvPr/>
        </p:nvSpPr>
        <p:spPr>
          <a:xfrm>
            <a:off x="609600" y="723900"/>
            <a:ext cx="7458194" cy="1200329"/>
          </a:xfrm>
          <a:prstGeom prst="rect">
            <a:avLst/>
          </a:prstGeom>
          <a:noFill/>
        </p:spPr>
        <p:txBody>
          <a:bodyPr wrap="square" rtlCol="0">
            <a:spAutoFit/>
          </a:bodyPr>
          <a:lstStyle/>
          <a:p>
            <a:r>
              <a:rPr lang="en-US" dirty="0"/>
              <a:t>When an ammeter is used to measure the current </a:t>
            </a:r>
            <a:r>
              <a:rPr lang="en-US" dirty="0" err="1"/>
              <a:t>i</a:t>
            </a:r>
            <a:r>
              <a:rPr lang="el-GR" baseline="-25000" dirty="0"/>
              <a:t>ϕ</a:t>
            </a:r>
            <a:r>
              <a:rPr lang="en-US" dirty="0"/>
              <a:t> in the circuit shown below, it reads 10 A.</a:t>
            </a:r>
          </a:p>
          <a:p>
            <a:pPr marL="342900" indent="-342900">
              <a:buAutoNum type="alphaLcParenR"/>
            </a:pPr>
            <a:r>
              <a:rPr lang="en-US" dirty="0"/>
              <a:t>What is the resistance of the ammeter?</a:t>
            </a:r>
          </a:p>
          <a:p>
            <a:pPr marL="342900" indent="-342900">
              <a:buAutoNum type="alphaLcParenR"/>
            </a:pPr>
            <a:r>
              <a:rPr lang="en-US" dirty="0"/>
              <a:t>What is the percentage of error in the current measurement?</a:t>
            </a:r>
          </a:p>
        </p:txBody>
      </p:sp>
      <p:pic>
        <p:nvPicPr>
          <p:cNvPr id="7" name="Picture 2" descr="04_69-61P4-74"/>
          <p:cNvPicPr>
            <a:picLocks noChangeAspect="1" noChangeArrowheads="1"/>
          </p:cNvPicPr>
          <p:nvPr/>
        </p:nvPicPr>
        <p:blipFill>
          <a:blip r:embed="rId2" cstate="print"/>
          <a:srcRect/>
          <a:stretch>
            <a:fillRect/>
          </a:stretch>
        </p:blipFill>
        <p:spPr bwMode="auto">
          <a:xfrm>
            <a:off x="419100" y="1905000"/>
            <a:ext cx="3810000" cy="2107469"/>
          </a:xfrm>
          <a:prstGeom prst="rect">
            <a:avLst/>
          </a:prstGeom>
          <a:noFill/>
          <a:ln w="9525">
            <a:noFill/>
            <a:miter lim="800000"/>
            <a:headEnd/>
            <a:tailEnd/>
          </a:ln>
          <a:effectLst/>
        </p:spPr>
      </p:pic>
      <p:sp>
        <p:nvSpPr>
          <p:cNvPr id="8" name="Title 1"/>
          <p:cNvSpPr txBox="1">
            <a:spLocks/>
          </p:cNvSpPr>
          <p:nvPr/>
        </p:nvSpPr>
        <p:spPr bwMode="auto">
          <a:xfrm>
            <a:off x="4610100" y="2247900"/>
            <a:ext cx="4305300" cy="20193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n-US" b="0" i="0" u="sng" strike="noStrike" kern="1200" cap="none" spc="0" normalizeH="0" baseline="0" noProof="0" dirty="0">
                <a:ln>
                  <a:noFill/>
                </a:ln>
                <a:solidFill>
                  <a:schemeClr val="tx1"/>
                </a:solidFill>
                <a:effectLst/>
                <a:uLnTx/>
                <a:uFillTx/>
                <a:latin typeface="+mj-lt"/>
                <a:ea typeface="+mj-ea"/>
                <a:cs typeface="+mj-cs"/>
              </a:rPr>
              <a:t>Solution:</a:t>
            </a:r>
          </a:p>
          <a:p>
            <a:pPr marL="0" marR="0" lvl="0" indent="0" defTabSz="914400" rtl="0" eaLnBrk="1" fontAlgn="base" latinLnBrk="0" hangingPunct="1">
              <a:lnSpc>
                <a:spcPct val="100000"/>
              </a:lnSpc>
              <a:spcBef>
                <a:spcPct val="0"/>
              </a:spcBef>
              <a:spcAft>
                <a:spcPct val="0"/>
              </a:spcAft>
              <a:buClrTx/>
              <a:buSzTx/>
              <a:buFontTx/>
              <a:buNone/>
              <a:tabLst/>
              <a:defRPr/>
            </a:pPr>
            <a:endParaRPr kumimoji="0" lang="en-US" sz="800" b="0" i="0" u="sng" strike="noStrike" kern="1200" cap="none" spc="0" normalizeH="0" baseline="0" noProof="0" dirty="0">
              <a:ln>
                <a:noFill/>
              </a:ln>
              <a:solidFill>
                <a:schemeClr val="tx1"/>
              </a:solidFill>
              <a:effectLst/>
              <a:uLnTx/>
              <a:uFillTx/>
              <a:latin typeface="+mj-lt"/>
              <a:ea typeface="+mj-ea"/>
              <a:cs typeface="+mj-cs"/>
            </a:endParaRPr>
          </a:p>
          <a:p>
            <a:pPr lvl="0">
              <a:defRPr/>
            </a:pPr>
            <a:r>
              <a:rPr lang="en-US" noProof="0" dirty="0">
                <a:latin typeface="+mj-lt"/>
                <a:ea typeface="+mj-ea"/>
                <a:cs typeface="+mj-cs"/>
              </a:rPr>
              <a:t>Note the ammeter needs to be placed in series with the 50</a:t>
            </a:r>
            <a:r>
              <a:rPr lang="el-GR" noProof="0" dirty="0">
                <a:latin typeface="+mj-lt"/>
                <a:ea typeface="+mj-ea"/>
                <a:cs typeface="+mj-cs"/>
              </a:rPr>
              <a:t>Ω</a:t>
            </a:r>
            <a:r>
              <a:rPr lang="en-US" noProof="0" dirty="0">
                <a:latin typeface="+mj-lt"/>
                <a:ea typeface="+mj-ea"/>
                <a:cs typeface="+mj-cs"/>
              </a:rPr>
              <a:t> resistor if it is to measure </a:t>
            </a:r>
            <a:r>
              <a:rPr lang="en-US" noProof="0" dirty="0" err="1">
                <a:latin typeface="+mj-lt"/>
                <a:ea typeface="+mj-ea"/>
                <a:cs typeface="+mj-cs"/>
              </a:rPr>
              <a:t>i</a:t>
            </a:r>
            <a:r>
              <a:rPr lang="el-GR" baseline="-25000" dirty="0">
                <a:latin typeface="+mj-lt"/>
              </a:rPr>
              <a:t>ϕ</a:t>
            </a:r>
            <a:r>
              <a:rPr lang="en-US" noProof="0" dirty="0">
                <a:latin typeface="+mj-lt"/>
                <a:ea typeface="+mj-ea"/>
                <a:cs typeface="+mj-cs"/>
              </a:rPr>
              <a:t>. </a:t>
            </a:r>
          </a:p>
          <a:p>
            <a:pPr lvl="0">
              <a:defRPr/>
            </a:pPr>
            <a:r>
              <a:rPr lang="en-US" dirty="0">
                <a:latin typeface="+mj-lt"/>
                <a:ea typeface="+mj-ea"/>
                <a:cs typeface="+mj-cs"/>
              </a:rPr>
              <a:t>First, let’s simplify the circuit connected to </a:t>
            </a:r>
            <a:r>
              <a:rPr lang="en-US" dirty="0">
                <a:latin typeface="+mj-lt"/>
              </a:rPr>
              <a:t>the terminals of the 50</a:t>
            </a:r>
            <a:r>
              <a:rPr lang="el-GR" dirty="0">
                <a:latin typeface="+mj-lt"/>
              </a:rPr>
              <a:t>Ω</a:t>
            </a:r>
            <a:r>
              <a:rPr lang="en-US" dirty="0">
                <a:latin typeface="+mj-lt"/>
              </a:rPr>
              <a:t> resistor </a:t>
            </a:r>
            <a:r>
              <a:rPr lang="en-US" dirty="0">
                <a:latin typeface="+mj-lt"/>
                <a:ea typeface="+mj-ea"/>
                <a:cs typeface="+mj-cs"/>
              </a:rPr>
              <a:t>to a </a:t>
            </a:r>
            <a:r>
              <a:rPr lang="en-US" dirty="0" err="1">
                <a:latin typeface="+mj-lt"/>
                <a:ea typeface="+mj-ea"/>
                <a:cs typeface="+mj-cs"/>
              </a:rPr>
              <a:t>Thevenin</a:t>
            </a:r>
            <a:r>
              <a:rPr lang="en-US" dirty="0">
                <a:latin typeface="+mj-lt"/>
                <a:ea typeface="+mj-ea"/>
                <a:cs typeface="+mj-cs"/>
              </a:rPr>
              <a:t> equivalent.</a:t>
            </a:r>
            <a:endParaRPr lang="en-US" noProof="0" dirty="0">
              <a:latin typeface="+mj-lt"/>
              <a:ea typeface="+mj-ea"/>
              <a:cs typeface="+mj-cs"/>
            </a:endParaRPr>
          </a:p>
          <a:p>
            <a:pPr lvl="0">
              <a:defRPr/>
            </a:pPr>
            <a:endParaRPr kumimoji="0" lang="en-US" b="0" i="0" strike="noStrike" kern="1200" cap="none" spc="0" normalizeH="0" baseline="0" noProof="0" dirty="0">
              <a:ln>
                <a:noFill/>
              </a:ln>
              <a:solidFill>
                <a:schemeClr val="tx1"/>
              </a:solidFill>
              <a:effectLst/>
              <a:uLnTx/>
              <a:uFillTx/>
              <a:latin typeface="+mj-lt"/>
              <a:ea typeface="+mj-ea"/>
              <a:cs typeface="+mj-cs"/>
            </a:endParaRPr>
          </a:p>
        </p:txBody>
      </p:sp>
      <p:sp>
        <p:nvSpPr>
          <p:cNvPr id="10" name="TextBox 9"/>
          <p:cNvSpPr txBox="1"/>
          <p:nvPr/>
        </p:nvSpPr>
        <p:spPr>
          <a:xfrm>
            <a:off x="571500" y="4305300"/>
            <a:ext cx="4237570" cy="369332"/>
          </a:xfrm>
          <a:prstGeom prst="rect">
            <a:avLst/>
          </a:prstGeom>
          <a:noFill/>
        </p:spPr>
        <p:txBody>
          <a:bodyPr wrap="none" rtlCol="0">
            <a:spAutoFit/>
          </a:bodyPr>
          <a:lstStyle/>
          <a:p>
            <a:r>
              <a:rPr lang="en-US" dirty="0">
                <a:latin typeface="+mj-lt"/>
              </a:rPr>
              <a:t>1. Open-circuit @ the 50</a:t>
            </a:r>
            <a:r>
              <a:rPr lang="el-GR" dirty="0">
                <a:latin typeface="+mj-lt"/>
              </a:rPr>
              <a:t>Ω </a:t>
            </a:r>
            <a:r>
              <a:rPr lang="en-US" dirty="0">
                <a:latin typeface="+mj-lt"/>
              </a:rPr>
              <a:t>terminals (</a:t>
            </a:r>
            <a:r>
              <a:rPr lang="en-US" dirty="0" err="1">
                <a:latin typeface="+mj-lt"/>
              </a:rPr>
              <a:t>i</a:t>
            </a:r>
            <a:r>
              <a:rPr lang="el-GR" baseline="-25000" dirty="0">
                <a:latin typeface="+mj-lt"/>
              </a:rPr>
              <a:t>ϕ </a:t>
            </a:r>
            <a:r>
              <a:rPr lang="en-US" dirty="0">
                <a:latin typeface="+mj-lt"/>
              </a:rPr>
              <a:t>=0):</a:t>
            </a:r>
          </a:p>
        </p:txBody>
      </p:sp>
      <p:sp>
        <p:nvSpPr>
          <p:cNvPr id="13" name="TextBox 12"/>
          <p:cNvSpPr txBox="1"/>
          <p:nvPr/>
        </p:nvSpPr>
        <p:spPr>
          <a:xfrm>
            <a:off x="3771900" y="3086100"/>
            <a:ext cx="685800" cy="307777"/>
          </a:xfrm>
          <a:prstGeom prst="rect">
            <a:avLst/>
          </a:prstGeom>
          <a:solidFill>
            <a:schemeClr val="bg1"/>
          </a:solidFill>
        </p:spPr>
        <p:txBody>
          <a:bodyPr wrap="square" rtlCol="0">
            <a:spAutoFit/>
          </a:bodyPr>
          <a:lstStyle/>
          <a:p>
            <a:r>
              <a:rPr lang="en-US" sz="1400" dirty="0">
                <a:latin typeface="Arial" pitchFamily="34" charset="0"/>
                <a:cs typeface="Arial" pitchFamily="34" charset="0"/>
              </a:rPr>
              <a:t>144 </a:t>
            </a:r>
            <a:r>
              <a:rPr lang="el-GR" sz="1400" dirty="0">
                <a:latin typeface="Arial" pitchFamily="34" charset="0"/>
                <a:cs typeface="Arial" pitchFamily="34" charset="0"/>
              </a:rPr>
              <a:t>Ω</a:t>
            </a:r>
            <a:endParaRPr lang="tr-TR" sz="1400" dirty="0">
              <a:latin typeface="Arial" pitchFamily="34" charset="0"/>
              <a:cs typeface="Arial" pitchFamily="34" charset="0"/>
            </a:endParaRPr>
          </a:p>
        </p:txBody>
      </p:sp>
      <p:sp>
        <p:nvSpPr>
          <p:cNvPr id="14"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33</a:t>
            </a:fld>
            <a:endParaRPr lang="en-US" dirty="0"/>
          </a:p>
        </p:txBody>
      </p:sp>
    </p:spTree>
    <p:extLst>
      <p:ext uri="{BB962C8B-B14F-4D97-AF65-F5344CB8AC3E}">
        <p14:creationId xmlns:p14="http://schemas.microsoft.com/office/powerpoint/2010/main" val="1308787610"/>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 3 </a:t>
            </a:r>
            <a:r>
              <a:rPr lang="en-US" sz="2400" dirty="0"/>
              <a:t>(Based on N &amp; R Problem 4.74)</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9" name="TextBox 8"/>
          <p:cNvSpPr txBox="1"/>
          <p:nvPr/>
        </p:nvSpPr>
        <p:spPr>
          <a:xfrm>
            <a:off x="609600" y="723900"/>
            <a:ext cx="7458194" cy="1200329"/>
          </a:xfrm>
          <a:prstGeom prst="rect">
            <a:avLst/>
          </a:prstGeom>
          <a:noFill/>
        </p:spPr>
        <p:txBody>
          <a:bodyPr wrap="square" rtlCol="0">
            <a:spAutoFit/>
          </a:bodyPr>
          <a:lstStyle/>
          <a:p>
            <a:r>
              <a:rPr lang="en-US" dirty="0"/>
              <a:t>When an ammeter is used to measure the current </a:t>
            </a:r>
            <a:r>
              <a:rPr lang="en-US" dirty="0" err="1"/>
              <a:t>i</a:t>
            </a:r>
            <a:r>
              <a:rPr lang="el-GR" baseline="-25000" dirty="0"/>
              <a:t>ϕ</a:t>
            </a:r>
            <a:r>
              <a:rPr lang="en-US" dirty="0"/>
              <a:t> in the circuit shown below, it reads 10 A.</a:t>
            </a:r>
          </a:p>
          <a:p>
            <a:pPr marL="342900" indent="-342900">
              <a:buAutoNum type="alphaLcParenR"/>
            </a:pPr>
            <a:r>
              <a:rPr lang="en-US" dirty="0"/>
              <a:t>What is the resistance of the ammeter?</a:t>
            </a:r>
          </a:p>
          <a:p>
            <a:pPr marL="342900" indent="-342900">
              <a:buAutoNum type="alphaLcParenR"/>
            </a:pPr>
            <a:r>
              <a:rPr lang="en-US" dirty="0"/>
              <a:t>What is the percentage of error in the current measurement?</a:t>
            </a:r>
          </a:p>
        </p:txBody>
      </p:sp>
      <p:pic>
        <p:nvPicPr>
          <p:cNvPr id="7" name="Picture 2" descr="04_69-61P4-74"/>
          <p:cNvPicPr>
            <a:picLocks noChangeAspect="1" noChangeArrowheads="1"/>
          </p:cNvPicPr>
          <p:nvPr/>
        </p:nvPicPr>
        <p:blipFill>
          <a:blip r:embed="rId2" cstate="print"/>
          <a:srcRect/>
          <a:stretch>
            <a:fillRect/>
          </a:stretch>
        </p:blipFill>
        <p:spPr bwMode="auto">
          <a:xfrm>
            <a:off x="419100" y="1905000"/>
            <a:ext cx="3810000" cy="2107469"/>
          </a:xfrm>
          <a:prstGeom prst="rect">
            <a:avLst/>
          </a:prstGeom>
          <a:noFill/>
          <a:ln w="9525">
            <a:noFill/>
            <a:miter lim="800000"/>
            <a:headEnd/>
            <a:tailEnd/>
          </a:ln>
          <a:effectLst/>
        </p:spPr>
      </p:pic>
      <p:sp>
        <p:nvSpPr>
          <p:cNvPr id="8" name="Title 1"/>
          <p:cNvSpPr txBox="1">
            <a:spLocks/>
          </p:cNvSpPr>
          <p:nvPr/>
        </p:nvSpPr>
        <p:spPr bwMode="auto">
          <a:xfrm>
            <a:off x="4610100" y="2247900"/>
            <a:ext cx="4305300" cy="20193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n-US" b="0" i="0" u="sng" strike="noStrike" kern="1200" cap="none" spc="0" normalizeH="0" baseline="0" noProof="0" dirty="0">
                <a:ln>
                  <a:noFill/>
                </a:ln>
                <a:solidFill>
                  <a:schemeClr val="tx1"/>
                </a:solidFill>
                <a:effectLst/>
                <a:uLnTx/>
                <a:uFillTx/>
                <a:latin typeface="+mj-lt"/>
                <a:ea typeface="+mj-ea"/>
                <a:cs typeface="+mj-cs"/>
              </a:rPr>
              <a:t>Solution:</a:t>
            </a:r>
          </a:p>
          <a:p>
            <a:pPr marL="0" marR="0" lvl="0" indent="0" defTabSz="914400" rtl="0" eaLnBrk="1" fontAlgn="base" latinLnBrk="0" hangingPunct="1">
              <a:lnSpc>
                <a:spcPct val="100000"/>
              </a:lnSpc>
              <a:spcBef>
                <a:spcPct val="0"/>
              </a:spcBef>
              <a:spcAft>
                <a:spcPct val="0"/>
              </a:spcAft>
              <a:buClrTx/>
              <a:buSzTx/>
              <a:buFontTx/>
              <a:buNone/>
              <a:tabLst/>
              <a:defRPr/>
            </a:pPr>
            <a:endParaRPr kumimoji="0" lang="en-US" sz="800" b="0" i="0" u="sng" strike="noStrike" kern="1200" cap="none" spc="0" normalizeH="0" baseline="0" noProof="0" dirty="0">
              <a:ln>
                <a:noFill/>
              </a:ln>
              <a:solidFill>
                <a:schemeClr val="tx1"/>
              </a:solidFill>
              <a:effectLst/>
              <a:uLnTx/>
              <a:uFillTx/>
              <a:latin typeface="+mj-lt"/>
              <a:ea typeface="+mj-ea"/>
              <a:cs typeface="+mj-cs"/>
            </a:endParaRPr>
          </a:p>
          <a:p>
            <a:pPr lvl="0">
              <a:defRPr/>
            </a:pPr>
            <a:r>
              <a:rPr lang="en-US" noProof="0" dirty="0">
                <a:latin typeface="+mj-lt"/>
                <a:ea typeface="+mj-ea"/>
                <a:cs typeface="+mj-cs"/>
              </a:rPr>
              <a:t>Note the ammeter needs to be placed in series with the 50</a:t>
            </a:r>
            <a:r>
              <a:rPr lang="el-GR" noProof="0" dirty="0">
                <a:latin typeface="+mj-lt"/>
                <a:ea typeface="+mj-ea"/>
                <a:cs typeface="+mj-cs"/>
              </a:rPr>
              <a:t>Ω</a:t>
            </a:r>
            <a:r>
              <a:rPr lang="en-US" noProof="0" dirty="0">
                <a:latin typeface="+mj-lt"/>
                <a:ea typeface="+mj-ea"/>
                <a:cs typeface="+mj-cs"/>
              </a:rPr>
              <a:t> resistor if it is to measure </a:t>
            </a:r>
            <a:r>
              <a:rPr lang="en-US" noProof="0" dirty="0" err="1">
                <a:latin typeface="+mj-lt"/>
                <a:ea typeface="+mj-ea"/>
                <a:cs typeface="+mj-cs"/>
              </a:rPr>
              <a:t>i</a:t>
            </a:r>
            <a:r>
              <a:rPr lang="el-GR" baseline="-25000" dirty="0">
                <a:latin typeface="+mj-lt"/>
              </a:rPr>
              <a:t>ϕ</a:t>
            </a:r>
            <a:r>
              <a:rPr lang="en-US" noProof="0" dirty="0">
                <a:latin typeface="+mj-lt"/>
                <a:ea typeface="+mj-ea"/>
                <a:cs typeface="+mj-cs"/>
              </a:rPr>
              <a:t>. </a:t>
            </a:r>
          </a:p>
          <a:p>
            <a:pPr lvl="0">
              <a:defRPr/>
            </a:pPr>
            <a:r>
              <a:rPr lang="en-US" dirty="0">
                <a:latin typeface="+mj-lt"/>
                <a:ea typeface="+mj-ea"/>
                <a:cs typeface="+mj-cs"/>
              </a:rPr>
              <a:t>First, let’s simplify the circuit connected to </a:t>
            </a:r>
            <a:r>
              <a:rPr lang="en-US" dirty="0">
                <a:latin typeface="+mj-lt"/>
              </a:rPr>
              <a:t>the terminals of the 50</a:t>
            </a:r>
            <a:r>
              <a:rPr lang="el-GR" dirty="0">
                <a:latin typeface="+mj-lt"/>
              </a:rPr>
              <a:t>Ω</a:t>
            </a:r>
            <a:r>
              <a:rPr lang="en-US" dirty="0">
                <a:latin typeface="+mj-lt"/>
              </a:rPr>
              <a:t> resistor </a:t>
            </a:r>
            <a:r>
              <a:rPr lang="en-US" dirty="0">
                <a:latin typeface="+mj-lt"/>
                <a:ea typeface="+mj-ea"/>
                <a:cs typeface="+mj-cs"/>
              </a:rPr>
              <a:t>to a </a:t>
            </a:r>
            <a:r>
              <a:rPr lang="en-US" dirty="0" err="1">
                <a:latin typeface="+mj-lt"/>
                <a:ea typeface="+mj-ea"/>
                <a:cs typeface="+mj-cs"/>
              </a:rPr>
              <a:t>Thevenin</a:t>
            </a:r>
            <a:r>
              <a:rPr lang="en-US" dirty="0">
                <a:latin typeface="+mj-lt"/>
                <a:ea typeface="+mj-ea"/>
                <a:cs typeface="+mj-cs"/>
              </a:rPr>
              <a:t> equivalent.</a:t>
            </a:r>
            <a:endParaRPr lang="en-US" noProof="0" dirty="0">
              <a:latin typeface="+mj-lt"/>
              <a:ea typeface="+mj-ea"/>
              <a:cs typeface="+mj-cs"/>
            </a:endParaRPr>
          </a:p>
          <a:p>
            <a:pPr lvl="0">
              <a:defRPr/>
            </a:pPr>
            <a:endParaRPr kumimoji="0" lang="en-US" b="0" i="0" strike="noStrike" kern="1200" cap="none" spc="0" normalizeH="0" baseline="0" noProof="0" dirty="0">
              <a:ln>
                <a:noFill/>
              </a:ln>
              <a:solidFill>
                <a:schemeClr val="tx1"/>
              </a:solidFill>
              <a:effectLst/>
              <a:uLnTx/>
              <a:uFillTx/>
              <a:latin typeface="+mj-lt"/>
              <a:ea typeface="+mj-ea"/>
              <a:cs typeface="+mj-cs"/>
            </a:endParaRPr>
          </a:p>
        </p:txBody>
      </p:sp>
      <p:sp>
        <p:nvSpPr>
          <p:cNvPr id="10" name="TextBox 9"/>
          <p:cNvSpPr txBox="1"/>
          <p:nvPr/>
        </p:nvSpPr>
        <p:spPr>
          <a:xfrm>
            <a:off x="571500" y="4305300"/>
            <a:ext cx="4237570" cy="369332"/>
          </a:xfrm>
          <a:prstGeom prst="rect">
            <a:avLst/>
          </a:prstGeom>
          <a:noFill/>
        </p:spPr>
        <p:txBody>
          <a:bodyPr wrap="none" rtlCol="0">
            <a:spAutoFit/>
          </a:bodyPr>
          <a:lstStyle/>
          <a:p>
            <a:r>
              <a:rPr lang="en-US" dirty="0">
                <a:latin typeface="+mj-lt"/>
              </a:rPr>
              <a:t>1. Open-circuit @ the 50</a:t>
            </a:r>
            <a:r>
              <a:rPr lang="el-GR" dirty="0">
                <a:latin typeface="+mj-lt"/>
              </a:rPr>
              <a:t>Ω </a:t>
            </a:r>
            <a:r>
              <a:rPr lang="en-US" dirty="0">
                <a:latin typeface="+mj-lt"/>
              </a:rPr>
              <a:t>terminals (</a:t>
            </a:r>
            <a:r>
              <a:rPr lang="en-US" dirty="0" err="1">
                <a:latin typeface="+mj-lt"/>
              </a:rPr>
              <a:t>i</a:t>
            </a:r>
            <a:r>
              <a:rPr lang="el-GR" baseline="-25000" dirty="0">
                <a:latin typeface="+mj-lt"/>
              </a:rPr>
              <a:t>ϕ </a:t>
            </a:r>
            <a:r>
              <a:rPr lang="en-US" dirty="0">
                <a:latin typeface="+mj-lt"/>
              </a:rPr>
              <a:t>=0):</a:t>
            </a:r>
          </a:p>
        </p:txBody>
      </p:sp>
      <p:pic>
        <p:nvPicPr>
          <p:cNvPr id="342018" name="Picture 2"/>
          <p:cNvPicPr>
            <a:picLocks noChangeAspect="1" noChangeArrowheads="1"/>
          </p:cNvPicPr>
          <p:nvPr/>
        </p:nvPicPr>
        <p:blipFill>
          <a:blip r:embed="rId3" cstate="print"/>
          <a:srcRect/>
          <a:stretch>
            <a:fillRect/>
          </a:stretch>
        </p:blipFill>
        <p:spPr bwMode="auto">
          <a:xfrm>
            <a:off x="381000" y="4724400"/>
            <a:ext cx="4200525" cy="1819275"/>
          </a:xfrm>
          <a:prstGeom prst="rect">
            <a:avLst/>
          </a:prstGeom>
          <a:noFill/>
          <a:ln w="9525">
            <a:noFill/>
            <a:miter lim="800000"/>
            <a:headEnd/>
            <a:tailEnd/>
          </a:ln>
          <a:effectLst/>
        </p:spPr>
      </p:pic>
      <p:pic>
        <p:nvPicPr>
          <p:cNvPr id="342019" name="Picture 3"/>
          <p:cNvPicPr>
            <a:picLocks noChangeAspect="1" noChangeArrowheads="1"/>
          </p:cNvPicPr>
          <p:nvPr/>
        </p:nvPicPr>
        <p:blipFill>
          <a:blip r:embed="rId4" cstate="print"/>
          <a:srcRect/>
          <a:stretch>
            <a:fillRect/>
          </a:stretch>
        </p:blipFill>
        <p:spPr bwMode="auto">
          <a:xfrm>
            <a:off x="4924425" y="5048250"/>
            <a:ext cx="3228975" cy="933450"/>
          </a:xfrm>
          <a:prstGeom prst="rect">
            <a:avLst/>
          </a:prstGeom>
          <a:noFill/>
          <a:ln w="9525">
            <a:noFill/>
            <a:miter lim="800000"/>
            <a:headEnd/>
            <a:tailEnd/>
          </a:ln>
          <a:effectLst/>
        </p:spPr>
      </p:pic>
      <p:sp>
        <p:nvSpPr>
          <p:cNvPr id="12" name="TextBox 11"/>
          <p:cNvSpPr txBox="1"/>
          <p:nvPr/>
        </p:nvSpPr>
        <p:spPr>
          <a:xfrm>
            <a:off x="4876800" y="4648200"/>
            <a:ext cx="3048000" cy="369332"/>
          </a:xfrm>
          <a:prstGeom prst="rect">
            <a:avLst/>
          </a:prstGeom>
          <a:noFill/>
        </p:spPr>
        <p:txBody>
          <a:bodyPr wrap="square" rtlCol="0">
            <a:spAutoFit/>
          </a:bodyPr>
          <a:lstStyle/>
          <a:p>
            <a:r>
              <a:rPr lang="en-US" dirty="0">
                <a:latin typeface="+mj-lt"/>
              </a:rPr>
              <a:t>Through KCL:</a:t>
            </a:r>
            <a:endParaRPr lang="tr-TR" dirty="0">
              <a:latin typeface="+mj-lt"/>
            </a:endParaRPr>
          </a:p>
        </p:txBody>
      </p:sp>
      <p:sp>
        <p:nvSpPr>
          <p:cNvPr id="13" name="TextBox 12"/>
          <p:cNvSpPr txBox="1"/>
          <p:nvPr/>
        </p:nvSpPr>
        <p:spPr>
          <a:xfrm>
            <a:off x="3771900" y="3086100"/>
            <a:ext cx="685800" cy="307777"/>
          </a:xfrm>
          <a:prstGeom prst="rect">
            <a:avLst/>
          </a:prstGeom>
          <a:solidFill>
            <a:schemeClr val="bg1"/>
          </a:solidFill>
        </p:spPr>
        <p:txBody>
          <a:bodyPr wrap="square" rtlCol="0">
            <a:spAutoFit/>
          </a:bodyPr>
          <a:lstStyle/>
          <a:p>
            <a:r>
              <a:rPr lang="en-US" sz="1400" dirty="0">
                <a:latin typeface="Arial" pitchFamily="34" charset="0"/>
                <a:cs typeface="Arial" pitchFamily="34" charset="0"/>
              </a:rPr>
              <a:t>144 </a:t>
            </a:r>
            <a:r>
              <a:rPr lang="el-GR" sz="1400" dirty="0">
                <a:latin typeface="Arial" pitchFamily="34" charset="0"/>
                <a:cs typeface="Arial" pitchFamily="34" charset="0"/>
              </a:rPr>
              <a:t>Ω</a:t>
            </a:r>
            <a:endParaRPr lang="tr-TR" sz="1400" dirty="0">
              <a:latin typeface="Arial" pitchFamily="34" charset="0"/>
              <a:cs typeface="Arial" pitchFamily="34" charset="0"/>
            </a:endParaRPr>
          </a:p>
        </p:txBody>
      </p:sp>
      <p:sp>
        <p:nvSpPr>
          <p:cNvPr id="14"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34</a:t>
            </a:fld>
            <a:endParaRPr lang="en-US" dirty="0"/>
          </a:p>
        </p:txBody>
      </p:sp>
    </p:spTree>
    <p:extLst>
      <p:ext uri="{BB962C8B-B14F-4D97-AF65-F5344CB8AC3E}">
        <p14:creationId xmlns:p14="http://schemas.microsoft.com/office/powerpoint/2010/main" val="85137560"/>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 3 </a:t>
            </a:r>
            <a:r>
              <a:rPr lang="en-US" sz="2400" dirty="0"/>
              <a:t>(Based on N &amp; R Problem 4.74)</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9" name="TextBox 8"/>
          <p:cNvSpPr txBox="1"/>
          <p:nvPr/>
        </p:nvSpPr>
        <p:spPr>
          <a:xfrm>
            <a:off x="609600" y="723900"/>
            <a:ext cx="7458194" cy="1200329"/>
          </a:xfrm>
          <a:prstGeom prst="rect">
            <a:avLst/>
          </a:prstGeom>
          <a:noFill/>
        </p:spPr>
        <p:txBody>
          <a:bodyPr wrap="square" rtlCol="0">
            <a:spAutoFit/>
          </a:bodyPr>
          <a:lstStyle/>
          <a:p>
            <a:r>
              <a:rPr lang="en-US" dirty="0"/>
              <a:t>When an ammeter is used to measure the current </a:t>
            </a:r>
            <a:r>
              <a:rPr lang="en-US" dirty="0" err="1"/>
              <a:t>i</a:t>
            </a:r>
            <a:r>
              <a:rPr lang="el-GR" baseline="-25000" dirty="0"/>
              <a:t>ϕ</a:t>
            </a:r>
            <a:r>
              <a:rPr lang="en-US" dirty="0"/>
              <a:t> in the circuit shown below, it reads 10 A.</a:t>
            </a:r>
          </a:p>
          <a:p>
            <a:pPr marL="342900" indent="-342900">
              <a:buAutoNum type="alphaLcParenR"/>
            </a:pPr>
            <a:r>
              <a:rPr lang="en-US" dirty="0"/>
              <a:t>What is the resistance of the ammeter?</a:t>
            </a:r>
          </a:p>
          <a:p>
            <a:pPr marL="342900" indent="-342900">
              <a:buAutoNum type="alphaLcParenR"/>
            </a:pPr>
            <a:r>
              <a:rPr lang="en-US" dirty="0"/>
              <a:t>What is the percentage of error in the current measurement?</a:t>
            </a:r>
          </a:p>
        </p:txBody>
      </p:sp>
      <p:pic>
        <p:nvPicPr>
          <p:cNvPr id="7" name="Picture 2" descr="04_69-61P4-74"/>
          <p:cNvPicPr>
            <a:picLocks noChangeAspect="1" noChangeArrowheads="1"/>
          </p:cNvPicPr>
          <p:nvPr/>
        </p:nvPicPr>
        <p:blipFill>
          <a:blip r:embed="rId2" cstate="print"/>
          <a:srcRect/>
          <a:stretch>
            <a:fillRect/>
          </a:stretch>
        </p:blipFill>
        <p:spPr bwMode="auto">
          <a:xfrm>
            <a:off x="419100" y="1905000"/>
            <a:ext cx="3810000" cy="2107469"/>
          </a:xfrm>
          <a:prstGeom prst="rect">
            <a:avLst/>
          </a:prstGeom>
          <a:noFill/>
          <a:ln w="9525">
            <a:noFill/>
            <a:miter lim="800000"/>
            <a:headEnd/>
            <a:tailEnd/>
          </a:ln>
          <a:effectLst/>
        </p:spPr>
      </p:pic>
      <p:sp>
        <p:nvSpPr>
          <p:cNvPr id="8" name="Title 1"/>
          <p:cNvSpPr txBox="1">
            <a:spLocks/>
          </p:cNvSpPr>
          <p:nvPr/>
        </p:nvSpPr>
        <p:spPr bwMode="auto">
          <a:xfrm>
            <a:off x="4610100" y="2247900"/>
            <a:ext cx="4305300" cy="381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n-US" b="0" i="0" u="sng" strike="noStrike" kern="1200" cap="none" spc="0" normalizeH="0" baseline="0" noProof="0" dirty="0">
                <a:ln>
                  <a:noFill/>
                </a:ln>
                <a:solidFill>
                  <a:schemeClr val="tx1"/>
                </a:solidFill>
                <a:effectLst/>
                <a:uLnTx/>
                <a:uFillTx/>
                <a:latin typeface="+mj-lt"/>
                <a:ea typeface="+mj-ea"/>
                <a:cs typeface="+mj-cs"/>
              </a:rPr>
              <a:t>Solution:</a:t>
            </a:r>
          </a:p>
          <a:p>
            <a:pPr marL="0" marR="0" lvl="0" indent="0" defTabSz="914400" rtl="0" eaLnBrk="1" fontAlgn="base" latinLnBrk="0" hangingPunct="1">
              <a:lnSpc>
                <a:spcPct val="100000"/>
              </a:lnSpc>
              <a:spcBef>
                <a:spcPct val="0"/>
              </a:spcBef>
              <a:spcAft>
                <a:spcPct val="0"/>
              </a:spcAft>
              <a:buClrTx/>
              <a:buSzTx/>
              <a:buFontTx/>
              <a:buNone/>
              <a:tabLst/>
              <a:defRPr/>
            </a:pPr>
            <a:endParaRPr kumimoji="0" lang="en-US" sz="800" b="0" i="0" u="sng" strike="noStrike" kern="1200" cap="none" spc="0" normalizeH="0" baseline="0" noProof="0" dirty="0">
              <a:ln>
                <a:noFill/>
              </a:ln>
              <a:solidFill>
                <a:schemeClr val="tx1"/>
              </a:solidFill>
              <a:effectLst/>
              <a:uLnTx/>
              <a:uFillTx/>
              <a:latin typeface="+mj-lt"/>
              <a:ea typeface="+mj-ea"/>
              <a:cs typeface="+mj-cs"/>
            </a:endParaRPr>
          </a:p>
          <a:p>
            <a:pPr lvl="0">
              <a:defRPr/>
            </a:pPr>
            <a:endParaRPr kumimoji="0" lang="en-US" b="0" i="0" strike="noStrike" kern="1200" cap="none" spc="0" normalizeH="0" baseline="0" noProof="0" dirty="0">
              <a:ln>
                <a:noFill/>
              </a:ln>
              <a:solidFill>
                <a:schemeClr val="tx1"/>
              </a:solidFill>
              <a:effectLst/>
              <a:uLnTx/>
              <a:uFillTx/>
              <a:latin typeface="+mj-lt"/>
              <a:ea typeface="+mj-ea"/>
              <a:cs typeface="+mj-cs"/>
            </a:endParaRPr>
          </a:p>
        </p:txBody>
      </p:sp>
      <p:sp>
        <p:nvSpPr>
          <p:cNvPr id="10" name="TextBox 9"/>
          <p:cNvSpPr txBox="1"/>
          <p:nvPr/>
        </p:nvSpPr>
        <p:spPr>
          <a:xfrm>
            <a:off x="4648200" y="2514600"/>
            <a:ext cx="4444165" cy="369332"/>
          </a:xfrm>
          <a:prstGeom prst="rect">
            <a:avLst/>
          </a:prstGeom>
          <a:noFill/>
        </p:spPr>
        <p:txBody>
          <a:bodyPr wrap="none" rtlCol="0">
            <a:spAutoFit/>
          </a:bodyPr>
          <a:lstStyle/>
          <a:p>
            <a:r>
              <a:rPr lang="en-US" dirty="0">
                <a:latin typeface="+mj-lt"/>
              </a:rPr>
              <a:t>2. Short-circuit  @ the 50</a:t>
            </a:r>
            <a:r>
              <a:rPr lang="el-GR" dirty="0">
                <a:latin typeface="+mj-lt"/>
              </a:rPr>
              <a:t>Ω </a:t>
            </a:r>
            <a:r>
              <a:rPr lang="en-US" dirty="0">
                <a:latin typeface="+mj-lt"/>
              </a:rPr>
              <a:t>terminals (</a:t>
            </a:r>
            <a:r>
              <a:rPr lang="en-US" dirty="0" err="1">
                <a:latin typeface="+mj-lt"/>
              </a:rPr>
              <a:t>v</a:t>
            </a:r>
            <a:r>
              <a:rPr lang="en-US" baseline="-25000" dirty="0" err="1">
                <a:latin typeface="+mj-lt"/>
              </a:rPr>
              <a:t>ab</a:t>
            </a:r>
            <a:r>
              <a:rPr lang="en-US" dirty="0">
                <a:latin typeface="+mj-lt"/>
              </a:rPr>
              <a:t>=0):</a:t>
            </a:r>
          </a:p>
        </p:txBody>
      </p:sp>
      <p:sp>
        <p:nvSpPr>
          <p:cNvPr id="17" name="TextBox 16"/>
          <p:cNvSpPr txBox="1"/>
          <p:nvPr/>
        </p:nvSpPr>
        <p:spPr>
          <a:xfrm>
            <a:off x="3771900" y="3086100"/>
            <a:ext cx="685800" cy="307777"/>
          </a:xfrm>
          <a:prstGeom prst="rect">
            <a:avLst/>
          </a:prstGeom>
          <a:solidFill>
            <a:schemeClr val="bg1"/>
          </a:solidFill>
        </p:spPr>
        <p:txBody>
          <a:bodyPr wrap="square" rtlCol="0">
            <a:spAutoFit/>
          </a:bodyPr>
          <a:lstStyle/>
          <a:p>
            <a:r>
              <a:rPr lang="en-US" sz="1400" dirty="0">
                <a:latin typeface="Arial" pitchFamily="34" charset="0"/>
                <a:cs typeface="Arial" pitchFamily="34" charset="0"/>
              </a:rPr>
              <a:t>144 </a:t>
            </a:r>
            <a:r>
              <a:rPr lang="el-GR" sz="1400" dirty="0">
                <a:latin typeface="Arial" pitchFamily="34" charset="0"/>
                <a:cs typeface="Arial" pitchFamily="34" charset="0"/>
              </a:rPr>
              <a:t>Ω</a:t>
            </a:r>
            <a:endParaRPr lang="tr-TR" sz="1400" dirty="0">
              <a:latin typeface="Arial" pitchFamily="34" charset="0"/>
              <a:cs typeface="Arial" pitchFamily="34" charset="0"/>
            </a:endParaRPr>
          </a:p>
        </p:txBody>
      </p:sp>
      <p:sp>
        <p:nvSpPr>
          <p:cNvPr id="18"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35</a:t>
            </a:fld>
            <a:endParaRPr lang="en-US" dirty="0"/>
          </a:p>
        </p:txBody>
      </p:sp>
    </p:spTree>
    <p:extLst>
      <p:ext uri="{BB962C8B-B14F-4D97-AF65-F5344CB8AC3E}">
        <p14:creationId xmlns:p14="http://schemas.microsoft.com/office/powerpoint/2010/main" val="653106268"/>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 3 </a:t>
            </a:r>
            <a:r>
              <a:rPr lang="en-US" sz="2400" dirty="0"/>
              <a:t>(Based on N &amp; R Problem 4.74)</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9" name="TextBox 8"/>
          <p:cNvSpPr txBox="1"/>
          <p:nvPr/>
        </p:nvSpPr>
        <p:spPr>
          <a:xfrm>
            <a:off x="609600" y="723900"/>
            <a:ext cx="7458194" cy="1200329"/>
          </a:xfrm>
          <a:prstGeom prst="rect">
            <a:avLst/>
          </a:prstGeom>
          <a:noFill/>
        </p:spPr>
        <p:txBody>
          <a:bodyPr wrap="square" rtlCol="0">
            <a:spAutoFit/>
          </a:bodyPr>
          <a:lstStyle/>
          <a:p>
            <a:r>
              <a:rPr lang="en-US" dirty="0"/>
              <a:t>When an ammeter is used to measure the current </a:t>
            </a:r>
            <a:r>
              <a:rPr lang="en-US" dirty="0" err="1"/>
              <a:t>i</a:t>
            </a:r>
            <a:r>
              <a:rPr lang="el-GR" baseline="-25000" dirty="0"/>
              <a:t>ϕ</a:t>
            </a:r>
            <a:r>
              <a:rPr lang="en-US" dirty="0"/>
              <a:t> in the circuit shown below, it reads 10 A.</a:t>
            </a:r>
          </a:p>
          <a:p>
            <a:pPr marL="342900" indent="-342900">
              <a:buAutoNum type="alphaLcParenR"/>
            </a:pPr>
            <a:r>
              <a:rPr lang="en-US" dirty="0"/>
              <a:t>What is the resistance of the ammeter?</a:t>
            </a:r>
          </a:p>
          <a:p>
            <a:pPr marL="342900" indent="-342900">
              <a:buAutoNum type="alphaLcParenR"/>
            </a:pPr>
            <a:r>
              <a:rPr lang="en-US" dirty="0"/>
              <a:t>What is the percentage of error in the current measurement?</a:t>
            </a:r>
          </a:p>
        </p:txBody>
      </p:sp>
      <p:pic>
        <p:nvPicPr>
          <p:cNvPr id="7" name="Picture 2" descr="04_69-61P4-74"/>
          <p:cNvPicPr>
            <a:picLocks noChangeAspect="1" noChangeArrowheads="1"/>
          </p:cNvPicPr>
          <p:nvPr/>
        </p:nvPicPr>
        <p:blipFill>
          <a:blip r:embed="rId2" cstate="print"/>
          <a:srcRect/>
          <a:stretch>
            <a:fillRect/>
          </a:stretch>
        </p:blipFill>
        <p:spPr bwMode="auto">
          <a:xfrm>
            <a:off x="419100" y="1905000"/>
            <a:ext cx="3810000" cy="2107469"/>
          </a:xfrm>
          <a:prstGeom prst="rect">
            <a:avLst/>
          </a:prstGeom>
          <a:noFill/>
          <a:ln w="9525">
            <a:noFill/>
            <a:miter lim="800000"/>
            <a:headEnd/>
            <a:tailEnd/>
          </a:ln>
          <a:effectLst/>
        </p:spPr>
      </p:pic>
      <p:sp>
        <p:nvSpPr>
          <p:cNvPr id="8" name="Title 1"/>
          <p:cNvSpPr txBox="1">
            <a:spLocks/>
          </p:cNvSpPr>
          <p:nvPr/>
        </p:nvSpPr>
        <p:spPr bwMode="auto">
          <a:xfrm>
            <a:off x="4610100" y="2247900"/>
            <a:ext cx="4305300" cy="381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n-US" b="0" i="0" u="sng" strike="noStrike" kern="1200" cap="none" spc="0" normalizeH="0" baseline="0" noProof="0" dirty="0">
                <a:ln>
                  <a:noFill/>
                </a:ln>
                <a:solidFill>
                  <a:schemeClr val="tx1"/>
                </a:solidFill>
                <a:effectLst/>
                <a:uLnTx/>
                <a:uFillTx/>
                <a:latin typeface="+mj-lt"/>
                <a:ea typeface="+mj-ea"/>
                <a:cs typeface="+mj-cs"/>
              </a:rPr>
              <a:t>Solution:</a:t>
            </a:r>
          </a:p>
          <a:p>
            <a:pPr marL="0" marR="0" lvl="0" indent="0" defTabSz="914400" rtl="0" eaLnBrk="1" fontAlgn="base" latinLnBrk="0" hangingPunct="1">
              <a:lnSpc>
                <a:spcPct val="100000"/>
              </a:lnSpc>
              <a:spcBef>
                <a:spcPct val="0"/>
              </a:spcBef>
              <a:spcAft>
                <a:spcPct val="0"/>
              </a:spcAft>
              <a:buClrTx/>
              <a:buSzTx/>
              <a:buFontTx/>
              <a:buNone/>
              <a:tabLst/>
              <a:defRPr/>
            </a:pPr>
            <a:endParaRPr kumimoji="0" lang="en-US" sz="800" b="0" i="0" u="sng" strike="noStrike" kern="1200" cap="none" spc="0" normalizeH="0" baseline="0" noProof="0" dirty="0">
              <a:ln>
                <a:noFill/>
              </a:ln>
              <a:solidFill>
                <a:schemeClr val="tx1"/>
              </a:solidFill>
              <a:effectLst/>
              <a:uLnTx/>
              <a:uFillTx/>
              <a:latin typeface="+mj-lt"/>
              <a:ea typeface="+mj-ea"/>
              <a:cs typeface="+mj-cs"/>
            </a:endParaRPr>
          </a:p>
          <a:p>
            <a:pPr lvl="0">
              <a:defRPr/>
            </a:pPr>
            <a:endParaRPr kumimoji="0" lang="en-US" b="0" i="0" strike="noStrike" kern="1200" cap="none" spc="0" normalizeH="0" baseline="0" noProof="0" dirty="0">
              <a:ln>
                <a:noFill/>
              </a:ln>
              <a:solidFill>
                <a:schemeClr val="tx1"/>
              </a:solidFill>
              <a:effectLst/>
              <a:uLnTx/>
              <a:uFillTx/>
              <a:latin typeface="+mj-lt"/>
              <a:ea typeface="+mj-ea"/>
              <a:cs typeface="+mj-cs"/>
            </a:endParaRPr>
          </a:p>
        </p:txBody>
      </p:sp>
      <p:sp>
        <p:nvSpPr>
          <p:cNvPr id="10" name="TextBox 9"/>
          <p:cNvSpPr txBox="1"/>
          <p:nvPr/>
        </p:nvSpPr>
        <p:spPr>
          <a:xfrm>
            <a:off x="4648200" y="2514600"/>
            <a:ext cx="4444165" cy="369332"/>
          </a:xfrm>
          <a:prstGeom prst="rect">
            <a:avLst/>
          </a:prstGeom>
          <a:noFill/>
        </p:spPr>
        <p:txBody>
          <a:bodyPr wrap="none" rtlCol="0">
            <a:spAutoFit/>
          </a:bodyPr>
          <a:lstStyle/>
          <a:p>
            <a:r>
              <a:rPr lang="en-US" dirty="0">
                <a:latin typeface="+mj-lt"/>
              </a:rPr>
              <a:t>2. Short-circuit  @ the 50</a:t>
            </a:r>
            <a:r>
              <a:rPr lang="el-GR" dirty="0">
                <a:latin typeface="+mj-lt"/>
              </a:rPr>
              <a:t>Ω </a:t>
            </a:r>
            <a:r>
              <a:rPr lang="en-US" dirty="0">
                <a:latin typeface="+mj-lt"/>
              </a:rPr>
              <a:t>terminals (</a:t>
            </a:r>
            <a:r>
              <a:rPr lang="en-US" dirty="0" err="1">
                <a:latin typeface="+mj-lt"/>
              </a:rPr>
              <a:t>v</a:t>
            </a:r>
            <a:r>
              <a:rPr lang="en-US" baseline="-25000" dirty="0" err="1">
                <a:latin typeface="+mj-lt"/>
              </a:rPr>
              <a:t>ab</a:t>
            </a:r>
            <a:r>
              <a:rPr lang="en-US" dirty="0">
                <a:latin typeface="+mj-lt"/>
              </a:rPr>
              <a:t>=0):</a:t>
            </a:r>
          </a:p>
        </p:txBody>
      </p:sp>
      <p:pic>
        <p:nvPicPr>
          <p:cNvPr id="343042" name="Picture 2"/>
          <p:cNvPicPr>
            <a:picLocks noChangeAspect="1" noChangeArrowheads="1"/>
          </p:cNvPicPr>
          <p:nvPr/>
        </p:nvPicPr>
        <p:blipFill>
          <a:blip r:embed="rId3" cstate="print"/>
          <a:srcRect/>
          <a:stretch>
            <a:fillRect/>
          </a:stretch>
        </p:blipFill>
        <p:spPr bwMode="auto">
          <a:xfrm>
            <a:off x="5257800" y="2933700"/>
            <a:ext cx="3157537" cy="1878982"/>
          </a:xfrm>
          <a:prstGeom prst="rect">
            <a:avLst/>
          </a:prstGeom>
          <a:noFill/>
          <a:ln w="9525">
            <a:noFill/>
            <a:miter lim="800000"/>
            <a:headEnd/>
            <a:tailEnd/>
          </a:ln>
          <a:effectLst/>
        </p:spPr>
      </p:pic>
      <p:pic>
        <p:nvPicPr>
          <p:cNvPr id="343043" name="Picture 3"/>
          <p:cNvPicPr>
            <a:picLocks noChangeAspect="1" noChangeArrowheads="1"/>
          </p:cNvPicPr>
          <p:nvPr/>
        </p:nvPicPr>
        <p:blipFill>
          <a:blip r:embed="rId4" cstate="print"/>
          <a:srcRect/>
          <a:stretch>
            <a:fillRect/>
          </a:stretch>
        </p:blipFill>
        <p:spPr bwMode="auto">
          <a:xfrm>
            <a:off x="5372100" y="5762625"/>
            <a:ext cx="3581400" cy="942975"/>
          </a:xfrm>
          <a:prstGeom prst="rect">
            <a:avLst/>
          </a:prstGeom>
          <a:noFill/>
          <a:ln w="9525">
            <a:noFill/>
            <a:miter lim="800000"/>
            <a:headEnd/>
            <a:tailEnd/>
          </a:ln>
          <a:effectLst/>
        </p:spPr>
      </p:pic>
      <p:sp>
        <p:nvSpPr>
          <p:cNvPr id="16" name="TextBox 15"/>
          <p:cNvSpPr txBox="1"/>
          <p:nvPr/>
        </p:nvSpPr>
        <p:spPr>
          <a:xfrm>
            <a:off x="5295900" y="4876800"/>
            <a:ext cx="3657600" cy="923330"/>
          </a:xfrm>
          <a:prstGeom prst="rect">
            <a:avLst/>
          </a:prstGeom>
          <a:noFill/>
        </p:spPr>
        <p:txBody>
          <a:bodyPr wrap="square" rtlCol="0">
            <a:spAutoFit/>
          </a:bodyPr>
          <a:lstStyle/>
          <a:p>
            <a:r>
              <a:rPr lang="en-US" dirty="0">
                <a:latin typeface="+mj-lt"/>
              </a:rPr>
              <a:t>The above currents can be calculated through Ohm’s Law and current division. Then,</a:t>
            </a:r>
            <a:endParaRPr lang="tr-TR" dirty="0">
              <a:latin typeface="+mj-lt"/>
            </a:endParaRPr>
          </a:p>
        </p:txBody>
      </p:sp>
      <p:sp>
        <p:nvSpPr>
          <p:cNvPr id="17" name="TextBox 16"/>
          <p:cNvSpPr txBox="1"/>
          <p:nvPr/>
        </p:nvSpPr>
        <p:spPr>
          <a:xfrm>
            <a:off x="3771900" y="3086100"/>
            <a:ext cx="685800" cy="307777"/>
          </a:xfrm>
          <a:prstGeom prst="rect">
            <a:avLst/>
          </a:prstGeom>
          <a:solidFill>
            <a:schemeClr val="bg1"/>
          </a:solidFill>
        </p:spPr>
        <p:txBody>
          <a:bodyPr wrap="square" rtlCol="0">
            <a:spAutoFit/>
          </a:bodyPr>
          <a:lstStyle/>
          <a:p>
            <a:r>
              <a:rPr lang="en-US" sz="1400" dirty="0">
                <a:latin typeface="Arial" pitchFamily="34" charset="0"/>
                <a:cs typeface="Arial" pitchFamily="34" charset="0"/>
              </a:rPr>
              <a:t>144 </a:t>
            </a:r>
            <a:r>
              <a:rPr lang="el-GR" sz="1400" dirty="0">
                <a:latin typeface="Arial" pitchFamily="34" charset="0"/>
                <a:cs typeface="Arial" pitchFamily="34" charset="0"/>
              </a:rPr>
              <a:t>Ω</a:t>
            </a:r>
            <a:endParaRPr lang="tr-TR" sz="1400" dirty="0">
              <a:latin typeface="Arial" pitchFamily="34" charset="0"/>
              <a:cs typeface="Arial" pitchFamily="34" charset="0"/>
            </a:endParaRPr>
          </a:p>
        </p:txBody>
      </p:sp>
      <p:sp>
        <p:nvSpPr>
          <p:cNvPr id="18"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36</a:t>
            </a:fld>
            <a:endParaRPr lang="en-US" dirty="0"/>
          </a:p>
        </p:txBody>
      </p:sp>
    </p:spTree>
    <p:extLst>
      <p:ext uri="{BB962C8B-B14F-4D97-AF65-F5344CB8AC3E}">
        <p14:creationId xmlns:p14="http://schemas.microsoft.com/office/powerpoint/2010/main" val="2575091077"/>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 3 </a:t>
            </a:r>
            <a:r>
              <a:rPr lang="en-US" sz="2400" dirty="0"/>
              <a:t>(Based on N &amp; R Problem 4.74)</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9" name="TextBox 8"/>
          <p:cNvSpPr txBox="1"/>
          <p:nvPr/>
        </p:nvSpPr>
        <p:spPr>
          <a:xfrm>
            <a:off x="609600" y="723900"/>
            <a:ext cx="7458194" cy="1200329"/>
          </a:xfrm>
          <a:prstGeom prst="rect">
            <a:avLst/>
          </a:prstGeom>
          <a:noFill/>
        </p:spPr>
        <p:txBody>
          <a:bodyPr wrap="square" rtlCol="0">
            <a:spAutoFit/>
          </a:bodyPr>
          <a:lstStyle/>
          <a:p>
            <a:r>
              <a:rPr lang="en-US" dirty="0"/>
              <a:t>When an ammeter is used to measure the current </a:t>
            </a:r>
            <a:r>
              <a:rPr lang="en-US" dirty="0" err="1"/>
              <a:t>i</a:t>
            </a:r>
            <a:r>
              <a:rPr lang="el-GR" baseline="-25000" dirty="0"/>
              <a:t>ϕ</a:t>
            </a:r>
            <a:r>
              <a:rPr lang="en-US" dirty="0"/>
              <a:t> in the circuit shown below, it reads 10 A.</a:t>
            </a:r>
          </a:p>
          <a:p>
            <a:pPr marL="342900" indent="-342900">
              <a:buAutoNum type="alphaLcParenR"/>
            </a:pPr>
            <a:r>
              <a:rPr lang="en-US" dirty="0"/>
              <a:t>What is the resistance of the ammeter?</a:t>
            </a:r>
          </a:p>
          <a:p>
            <a:pPr marL="342900" indent="-342900">
              <a:buAutoNum type="alphaLcParenR"/>
            </a:pPr>
            <a:r>
              <a:rPr lang="en-US" dirty="0"/>
              <a:t>What is the percentage of error in the current measurement?</a:t>
            </a:r>
          </a:p>
        </p:txBody>
      </p:sp>
      <p:pic>
        <p:nvPicPr>
          <p:cNvPr id="7" name="Picture 2" descr="04_69-61P4-74"/>
          <p:cNvPicPr>
            <a:picLocks noChangeAspect="1" noChangeArrowheads="1"/>
          </p:cNvPicPr>
          <p:nvPr/>
        </p:nvPicPr>
        <p:blipFill>
          <a:blip r:embed="rId2" cstate="print"/>
          <a:srcRect/>
          <a:stretch>
            <a:fillRect/>
          </a:stretch>
        </p:blipFill>
        <p:spPr bwMode="auto">
          <a:xfrm>
            <a:off x="419100" y="1905000"/>
            <a:ext cx="3810000" cy="2107469"/>
          </a:xfrm>
          <a:prstGeom prst="rect">
            <a:avLst/>
          </a:prstGeom>
          <a:noFill/>
          <a:ln w="9525">
            <a:noFill/>
            <a:miter lim="800000"/>
            <a:headEnd/>
            <a:tailEnd/>
          </a:ln>
          <a:effectLst/>
        </p:spPr>
      </p:pic>
      <p:sp>
        <p:nvSpPr>
          <p:cNvPr id="8" name="Title 1"/>
          <p:cNvSpPr txBox="1">
            <a:spLocks/>
          </p:cNvSpPr>
          <p:nvPr/>
        </p:nvSpPr>
        <p:spPr bwMode="auto">
          <a:xfrm>
            <a:off x="4610100" y="2247900"/>
            <a:ext cx="4305300" cy="381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n-US" b="0" i="0" u="sng" strike="noStrike" kern="1200" cap="none" spc="0" normalizeH="0" baseline="0" noProof="0" dirty="0">
                <a:ln>
                  <a:noFill/>
                </a:ln>
                <a:solidFill>
                  <a:schemeClr val="tx1"/>
                </a:solidFill>
                <a:effectLst/>
                <a:uLnTx/>
                <a:uFillTx/>
                <a:latin typeface="+mj-lt"/>
                <a:ea typeface="+mj-ea"/>
                <a:cs typeface="+mj-cs"/>
              </a:rPr>
              <a:t>Solution:</a:t>
            </a:r>
          </a:p>
          <a:p>
            <a:pPr marL="0" marR="0" lvl="0" indent="0" defTabSz="914400" rtl="0" eaLnBrk="1" fontAlgn="base" latinLnBrk="0" hangingPunct="1">
              <a:lnSpc>
                <a:spcPct val="100000"/>
              </a:lnSpc>
              <a:spcBef>
                <a:spcPct val="0"/>
              </a:spcBef>
              <a:spcAft>
                <a:spcPct val="0"/>
              </a:spcAft>
              <a:buClrTx/>
              <a:buSzTx/>
              <a:buFontTx/>
              <a:buNone/>
              <a:tabLst/>
              <a:defRPr/>
            </a:pPr>
            <a:endParaRPr kumimoji="0" lang="en-US" sz="800" b="0" i="0" u="sng" strike="noStrike" kern="1200" cap="none" spc="0" normalizeH="0" baseline="0" noProof="0" dirty="0">
              <a:ln>
                <a:noFill/>
              </a:ln>
              <a:solidFill>
                <a:schemeClr val="tx1"/>
              </a:solidFill>
              <a:effectLst/>
              <a:uLnTx/>
              <a:uFillTx/>
              <a:latin typeface="+mj-lt"/>
              <a:ea typeface="+mj-ea"/>
              <a:cs typeface="+mj-cs"/>
            </a:endParaRPr>
          </a:p>
          <a:p>
            <a:pPr lvl="0">
              <a:defRPr/>
            </a:pPr>
            <a:endParaRPr kumimoji="0" lang="en-US" b="0" i="0" strike="noStrike" kern="1200" cap="none" spc="0" normalizeH="0" baseline="0" noProof="0" dirty="0">
              <a:ln>
                <a:noFill/>
              </a:ln>
              <a:solidFill>
                <a:schemeClr val="tx1"/>
              </a:solidFill>
              <a:effectLst/>
              <a:uLnTx/>
              <a:uFillTx/>
              <a:latin typeface="+mj-lt"/>
              <a:ea typeface="+mj-ea"/>
              <a:cs typeface="+mj-cs"/>
            </a:endParaRPr>
          </a:p>
        </p:txBody>
      </p:sp>
      <p:sp>
        <p:nvSpPr>
          <p:cNvPr id="10" name="TextBox 9"/>
          <p:cNvSpPr txBox="1"/>
          <p:nvPr/>
        </p:nvSpPr>
        <p:spPr>
          <a:xfrm>
            <a:off x="4648200" y="2514600"/>
            <a:ext cx="4444165" cy="369332"/>
          </a:xfrm>
          <a:prstGeom prst="rect">
            <a:avLst/>
          </a:prstGeom>
          <a:noFill/>
        </p:spPr>
        <p:txBody>
          <a:bodyPr wrap="none" rtlCol="0">
            <a:spAutoFit/>
          </a:bodyPr>
          <a:lstStyle/>
          <a:p>
            <a:r>
              <a:rPr lang="en-US" dirty="0">
                <a:latin typeface="+mj-lt"/>
              </a:rPr>
              <a:t>2. Short-circuit  @ the 50</a:t>
            </a:r>
            <a:r>
              <a:rPr lang="el-GR" dirty="0">
                <a:latin typeface="+mj-lt"/>
              </a:rPr>
              <a:t>Ω </a:t>
            </a:r>
            <a:r>
              <a:rPr lang="en-US" dirty="0">
                <a:latin typeface="+mj-lt"/>
              </a:rPr>
              <a:t>terminals (</a:t>
            </a:r>
            <a:r>
              <a:rPr lang="en-US" dirty="0" err="1">
                <a:latin typeface="+mj-lt"/>
              </a:rPr>
              <a:t>v</a:t>
            </a:r>
            <a:r>
              <a:rPr lang="en-US" baseline="-25000" dirty="0" err="1">
                <a:latin typeface="+mj-lt"/>
              </a:rPr>
              <a:t>ab</a:t>
            </a:r>
            <a:r>
              <a:rPr lang="en-US" dirty="0">
                <a:latin typeface="+mj-lt"/>
              </a:rPr>
              <a:t>=0):</a:t>
            </a:r>
          </a:p>
        </p:txBody>
      </p:sp>
      <p:pic>
        <p:nvPicPr>
          <p:cNvPr id="343042" name="Picture 2"/>
          <p:cNvPicPr>
            <a:picLocks noChangeAspect="1" noChangeArrowheads="1"/>
          </p:cNvPicPr>
          <p:nvPr/>
        </p:nvPicPr>
        <p:blipFill>
          <a:blip r:embed="rId3" cstate="print"/>
          <a:srcRect/>
          <a:stretch>
            <a:fillRect/>
          </a:stretch>
        </p:blipFill>
        <p:spPr bwMode="auto">
          <a:xfrm>
            <a:off x="5257800" y="2933700"/>
            <a:ext cx="3157537" cy="1878982"/>
          </a:xfrm>
          <a:prstGeom prst="rect">
            <a:avLst/>
          </a:prstGeom>
          <a:noFill/>
          <a:ln w="9525">
            <a:noFill/>
            <a:miter lim="800000"/>
            <a:headEnd/>
            <a:tailEnd/>
          </a:ln>
          <a:effectLst/>
        </p:spPr>
      </p:pic>
      <p:pic>
        <p:nvPicPr>
          <p:cNvPr id="343043" name="Picture 3"/>
          <p:cNvPicPr>
            <a:picLocks noChangeAspect="1" noChangeArrowheads="1"/>
          </p:cNvPicPr>
          <p:nvPr/>
        </p:nvPicPr>
        <p:blipFill>
          <a:blip r:embed="rId4" cstate="print"/>
          <a:srcRect/>
          <a:stretch>
            <a:fillRect/>
          </a:stretch>
        </p:blipFill>
        <p:spPr bwMode="auto">
          <a:xfrm>
            <a:off x="5372100" y="5762625"/>
            <a:ext cx="3581400" cy="942975"/>
          </a:xfrm>
          <a:prstGeom prst="rect">
            <a:avLst/>
          </a:prstGeom>
          <a:noFill/>
          <a:ln w="9525">
            <a:noFill/>
            <a:miter lim="800000"/>
            <a:headEnd/>
            <a:tailEnd/>
          </a:ln>
          <a:effectLst/>
        </p:spPr>
      </p:pic>
      <p:sp>
        <p:nvSpPr>
          <p:cNvPr id="13" name="TextBox 12"/>
          <p:cNvSpPr txBox="1"/>
          <p:nvPr/>
        </p:nvSpPr>
        <p:spPr>
          <a:xfrm>
            <a:off x="228600" y="4229100"/>
            <a:ext cx="3411383" cy="369332"/>
          </a:xfrm>
          <a:prstGeom prst="rect">
            <a:avLst/>
          </a:prstGeom>
          <a:noFill/>
        </p:spPr>
        <p:txBody>
          <a:bodyPr wrap="none" rtlCol="0">
            <a:spAutoFit/>
          </a:bodyPr>
          <a:lstStyle/>
          <a:p>
            <a:r>
              <a:rPr lang="en-US" dirty="0">
                <a:latin typeface="+mj-lt"/>
              </a:rPr>
              <a:t>3. Therefore the reduced circuit is:</a:t>
            </a:r>
          </a:p>
        </p:txBody>
      </p:sp>
      <p:sp>
        <p:nvSpPr>
          <p:cNvPr id="14" name="Right Arrow 13"/>
          <p:cNvSpPr/>
          <p:nvPr/>
        </p:nvSpPr>
        <p:spPr>
          <a:xfrm rot="10800000">
            <a:off x="4457701" y="5372099"/>
            <a:ext cx="4191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343044" name="Picture 4"/>
          <p:cNvPicPr>
            <a:picLocks noChangeAspect="1" noChangeArrowheads="1"/>
          </p:cNvPicPr>
          <p:nvPr/>
        </p:nvPicPr>
        <p:blipFill>
          <a:blip r:embed="rId5" cstate="print"/>
          <a:srcRect/>
          <a:stretch>
            <a:fillRect/>
          </a:stretch>
        </p:blipFill>
        <p:spPr bwMode="auto">
          <a:xfrm>
            <a:off x="990600" y="4610100"/>
            <a:ext cx="3009900" cy="2142535"/>
          </a:xfrm>
          <a:prstGeom prst="rect">
            <a:avLst/>
          </a:prstGeom>
          <a:noFill/>
          <a:ln w="9525">
            <a:noFill/>
            <a:miter lim="800000"/>
            <a:headEnd/>
            <a:tailEnd/>
          </a:ln>
          <a:effectLst/>
        </p:spPr>
      </p:pic>
      <p:sp>
        <p:nvSpPr>
          <p:cNvPr id="16" name="TextBox 15"/>
          <p:cNvSpPr txBox="1"/>
          <p:nvPr/>
        </p:nvSpPr>
        <p:spPr>
          <a:xfrm>
            <a:off x="5295900" y="4876800"/>
            <a:ext cx="3657600" cy="923330"/>
          </a:xfrm>
          <a:prstGeom prst="rect">
            <a:avLst/>
          </a:prstGeom>
          <a:noFill/>
        </p:spPr>
        <p:txBody>
          <a:bodyPr wrap="square" rtlCol="0">
            <a:spAutoFit/>
          </a:bodyPr>
          <a:lstStyle/>
          <a:p>
            <a:r>
              <a:rPr lang="en-US" dirty="0">
                <a:latin typeface="+mj-lt"/>
              </a:rPr>
              <a:t>The above currents can be calculated through Ohm’s Law and current division. Then,</a:t>
            </a:r>
            <a:endParaRPr lang="tr-TR" dirty="0">
              <a:latin typeface="+mj-lt"/>
            </a:endParaRPr>
          </a:p>
        </p:txBody>
      </p:sp>
      <p:sp>
        <p:nvSpPr>
          <p:cNvPr id="17" name="TextBox 16"/>
          <p:cNvSpPr txBox="1"/>
          <p:nvPr/>
        </p:nvSpPr>
        <p:spPr>
          <a:xfrm>
            <a:off x="3771900" y="3086100"/>
            <a:ext cx="685800" cy="307777"/>
          </a:xfrm>
          <a:prstGeom prst="rect">
            <a:avLst/>
          </a:prstGeom>
          <a:solidFill>
            <a:schemeClr val="bg1"/>
          </a:solidFill>
        </p:spPr>
        <p:txBody>
          <a:bodyPr wrap="square" rtlCol="0">
            <a:spAutoFit/>
          </a:bodyPr>
          <a:lstStyle/>
          <a:p>
            <a:r>
              <a:rPr lang="en-US" sz="1400" dirty="0">
                <a:latin typeface="Arial" pitchFamily="34" charset="0"/>
                <a:cs typeface="Arial" pitchFamily="34" charset="0"/>
              </a:rPr>
              <a:t>144 </a:t>
            </a:r>
            <a:r>
              <a:rPr lang="el-GR" sz="1400" dirty="0">
                <a:latin typeface="Arial" pitchFamily="34" charset="0"/>
                <a:cs typeface="Arial" pitchFamily="34" charset="0"/>
              </a:rPr>
              <a:t>Ω</a:t>
            </a:r>
            <a:endParaRPr lang="tr-TR" sz="1400" dirty="0">
              <a:latin typeface="Arial" pitchFamily="34" charset="0"/>
              <a:cs typeface="Arial" pitchFamily="34" charset="0"/>
            </a:endParaRPr>
          </a:p>
        </p:txBody>
      </p:sp>
      <p:sp>
        <p:nvSpPr>
          <p:cNvPr id="18"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37</a:t>
            </a:fld>
            <a:endParaRPr lang="en-US" dirty="0"/>
          </a:p>
        </p:txBody>
      </p:sp>
    </p:spTree>
    <p:extLst>
      <p:ext uri="{BB962C8B-B14F-4D97-AF65-F5344CB8AC3E}">
        <p14:creationId xmlns:p14="http://schemas.microsoft.com/office/powerpoint/2010/main" val="1904076654"/>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4070" name="Picture 6"/>
          <p:cNvPicPr>
            <a:picLocks noChangeAspect="1" noChangeArrowheads="1"/>
          </p:cNvPicPr>
          <p:nvPr/>
        </p:nvPicPr>
        <p:blipFill>
          <a:blip r:embed="rId2" cstate="print"/>
          <a:srcRect/>
          <a:stretch>
            <a:fillRect/>
          </a:stretch>
        </p:blipFill>
        <p:spPr bwMode="auto">
          <a:xfrm>
            <a:off x="876300" y="5524500"/>
            <a:ext cx="2290811" cy="1295400"/>
          </a:xfrm>
          <a:prstGeom prst="rect">
            <a:avLst/>
          </a:prstGeom>
          <a:noFill/>
          <a:ln w="9525">
            <a:noFill/>
            <a:miter lim="800000"/>
            <a:headEnd/>
            <a:tailEnd/>
          </a:ln>
          <a:effectLst/>
        </p:spPr>
      </p:pic>
      <p:sp>
        <p:nvSpPr>
          <p:cNvPr id="6146" name="Title 1"/>
          <p:cNvSpPr>
            <a:spLocks noGrp="1"/>
          </p:cNvSpPr>
          <p:nvPr>
            <p:ph type="title"/>
          </p:nvPr>
        </p:nvSpPr>
        <p:spPr>
          <a:xfrm>
            <a:off x="457200" y="122237"/>
            <a:ext cx="8229600" cy="563563"/>
          </a:xfrm>
        </p:spPr>
        <p:txBody>
          <a:bodyPr/>
          <a:lstStyle/>
          <a:p>
            <a:r>
              <a:rPr lang="en-US" sz="3200" dirty="0"/>
              <a:t>Example 3 </a:t>
            </a:r>
            <a:r>
              <a:rPr lang="en-US" sz="2400" dirty="0"/>
              <a:t>(Based on N &amp; R Problem 4.74)</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9" name="TextBox 8"/>
          <p:cNvSpPr txBox="1"/>
          <p:nvPr/>
        </p:nvSpPr>
        <p:spPr>
          <a:xfrm>
            <a:off x="609600" y="723900"/>
            <a:ext cx="7458194" cy="1200329"/>
          </a:xfrm>
          <a:prstGeom prst="rect">
            <a:avLst/>
          </a:prstGeom>
          <a:noFill/>
        </p:spPr>
        <p:txBody>
          <a:bodyPr wrap="square" rtlCol="0">
            <a:spAutoFit/>
          </a:bodyPr>
          <a:lstStyle/>
          <a:p>
            <a:r>
              <a:rPr lang="en-US" dirty="0"/>
              <a:t>When an ammeter is used to measure the current </a:t>
            </a:r>
            <a:r>
              <a:rPr lang="en-US" dirty="0" err="1"/>
              <a:t>i</a:t>
            </a:r>
            <a:r>
              <a:rPr lang="el-GR" baseline="-25000" dirty="0"/>
              <a:t>ϕ</a:t>
            </a:r>
            <a:r>
              <a:rPr lang="en-US" dirty="0"/>
              <a:t> in the circuit shown below, it reads 10 A.</a:t>
            </a:r>
          </a:p>
          <a:p>
            <a:pPr marL="342900" indent="-342900">
              <a:buAutoNum type="alphaLcParenR"/>
            </a:pPr>
            <a:r>
              <a:rPr lang="en-US" dirty="0"/>
              <a:t>What is the resistance of the ammeter?</a:t>
            </a:r>
          </a:p>
          <a:p>
            <a:pPr marL="342900" indent="-342900">
              <a:buAutoNum type="alphaLcParenR"/>
            </a:pPr>
            <a:r>
              <a:rPr lang="en-US" dirty="0"/>
              <a:t>What is the percentage of error in the current measurement?</a:t>
            </a:r>
          </a:p>
        </p:txBody>
      </p:sp>
      <p:pic>
        <p:nvPicPr>
          <p:cNvPr id="7" name="Picture 2" descr="04_69-61P4-74"/>
          <p:cNvPicPr>
            <a:picLocks noChangeAspect="1" noChangeArrowheads="1"/>
          </p:cNvPicPr>
          <p:nvPr/>
        </p:nvPicPr>
        <p:blipFill>
          <a:blip r:embed="rId3" cstate="print"/>
          <a:srcRect/>
          <a:stretch>
            <a:fillRect/>
          </a:stretch>
        </p:blipFill>
        <p:spPr bwMode="auto">
          <a:xfrm>
            <a:off x="419100" y="1905000"/>
            <a:ext cx="3810000" cy="2107469"/>
          </a:xfrm>
          <a:prstGeom prst="rect">
            <a:avLst/>
          </a:prstGeom>
          <a:noFill/>
          <a:ln w="9525">
            <a:noFill/>
            <a:miter lim="800000"/>
            <a:headEnd/>
            <a:tailEnd/>
          </a:ln>
          <a:effectLst/>
        </p:spPr>
      </p:pic>
      <p:sp>
        <p:nvSpPr>
          <p:cNvPr id="8" name="Title 1"/>
          <p:cNvSpPr txBox="1">
            <a:spLocks/>
          </p:cNvSpPr>
          <p:nvPr/>
        </p:nvSpPr>
        <p:spPr bwMode="auto">
          <a:xfrm>
            <a:off x="4610100" y="2247900"/>
            <a:ext cx="4305300" cy="6477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n-US" b="0" i="0" u="sng" strike="noStrike" kern="1200" cap="none" spc="0" normalizeH="0" baseline="0" noProof="0" dirty="0">
                <a:ln>
                  <a:noFill/>
                </a:ln>
                <a:solidFill>
                  <a:schemeClr val="tx1"/>
                </a:solidFill>
                <a:effectLst/>
                <a:uLnTx/>
                <a:uFillTx/>
                <a:latin typeface="+mj-lt"/>
                <a:ea typeface="+mj-ea"/>
                <a:cs typeface="+mj-cs"/>
              </a:rPr>
              <a:t>Solution:</a:t>
            </a:r>
          </a:p>
          <a:p>
            <a:pPr marL="0" marR="0" lvl="0" indent="0" defTabSz="914400" rtl="0" eaLnBrk="1" fontAlgn="base" latinLnBrk="0" hangingPunct="1">
              <a:lnSpc>
                <a:spcPct val="100000"/>
              </a:lnSpc>
              <a:spcBef>
                <a:spcPct val="0"/>
              </a:spcBef>
              <a:spcAft>
                <a:spcPct val="0"/>
              </a:spcAft>
              <a:buClrTx/>
              <a:buSzTx/>
              <a:buFontTx/>
              <a:buNone/>
              <a:tabLst/>
              <a:defRPr/>
            </a:pPr>
            <a:r>
              <a:rPr lang="en-US" dirty="0">
                <a:latin typeface="+mj-lt"/>
                <a:ea typeface="+mj-ea"/>
                <a:cs typeface="+mj-cs"/>
              </a:rPr>
              <a:t>Given the reduced circuit:</a:t>
            </a:r>
            <a:endParaRPr kumimoji="0" lang="en-US" b="0" i="0" strike="noStrike" kern="1200" cap="none" spc="0" normalizeH="0" baseline="0" noProof="0" dirty="0">
              <a:ln>
                <a:noFill/>
              </a:ln>
              <a:solidFill>
                <a:schemeClr val="tx1"/>
              </a:solidFill>
              <a:effectLst/>
              <a:uLnTx/>
              <a:uFillTx/>
              <a:latin typeface="+mj-lt"/>
              <a:ea typeface="+mj-ea"/>
              <a:cs typeface="+mj-cs"/>
            </a:endParaRPr>
          </a:p>
          <a:p>
            <a:pPr marL="0" marR="0" lvl="0" indent="0" defTabSz="914400" rtl="0" eaLnBrk="1" fontAlgn="base" latinLnBrk="0" hangingPunct="1">
              <a:lnSpc>
                <a:spcPct val="100000"/>
              </a:lnSpc>
              <a:spcBef>
                <a:spcPct val="0"/>
              </a:spcBef>
              <a:spcAft>
                <a:spcPct val="0"/>
              </a:spcAft>
              <a:buClrTx/>
              <a:buSzTx/>
              <a:buFontTx/>
              <a:buNone/>
              <a:tabLst/>
              <a:defRPr/>
            </a:pPr>
            <a:endParaRPr kumimoji="0" lang="en-US" sz="800" b="0" i="0" u="sng" strike="noStrike" kern="1200" cap="none" spc="0" normalizeH="0" baseline="0" noProof="0" dirty="0">
              <a:ln>
                <a:noFill/>
              </a:ln>
              <a:solidFill>
                <a:schemeClr val="tx1"/>
              </a:solidFill>
              <a:effectLst/>
              <a:uLnTx/>
              <a:uFillTx/>
              <a:latin typeface="+mj-lt"/>
              <a:ea typeface="+mj-ea"/>
              <a:cs typeface="+mj-cs"/>
            </a:endParaRPr>
          </a:p>
          <a:p>
            <a:pPr lvl="0">
              <a:defRPr/>
            </a:pPr>
            <a:endParaRPr kumimoji="0" lang="en-US" b="0" i="0" strike="noStrike" kern="1200" cap="none" spc="0" normalizeH="0" baseline="0" noProof="0" dirty="0">
              <a:ln>
                <a:noFill/>
              </a:ln>
              <a:solidFill>
                <a:schemeClr val="tx1"/>
              </a:solidFill>
              <a:effectLst/>
              <a:uLnTx/>
              <a:uFillTx/>
              <a:latin typeface="+mj-lt"/>
              <a:ea typeface="+mj-ea"/>
              <a:cs typeface="+mj-cs"/>
            </a:endParaRPr>
          </a:p>
        </p:txBody>
      </p:sp>
      <p:pic>
        <p:nvPicPr>
          <p:cNvPr id="344066" name="Picture 2"/>
          <p:cNvPicPr>
            <a:picLocks noChangeAspect="1" noChangeArrowheads="1"/>
          </p:cNvPicPr>
          <p:nvPr/>
        </p:nvPicPr>
        <p:blipFill>
          <a:blip r:embed="rId4" cstate="print"/>
          <a:srcRect/>
          <a:stretch>
            <a:fillRect/>
          </a:stretch>
        </p:blipFill>
        <p:spPr bwMode="auto">
          <a:xfrm>
            <a:off x="4533900" y="2628900"/>
            <a:ext cx="2642681" cy="1524000"/>
          </a:xfrm>
          <a:prstGeom prst="rect">
            <a:avLst/>
          </a:prstGeom>
          <a:noFill/>
          <a:ln w="9525">
            <a:noFill/>
            <a:miter lim="800000"/>
            <a:headEnd/>
            <a:tailEnd/>
          </a:ln>
          <a:effectLst/>
        </p:spPr>
      </p:pic>
      <p:sp>
        <p:nvSpPr>
          <p:cNvPr id="15" name="TextBox 14"/>
          <p:cNvSpPr txBox="1"/>
          <p:nvPr/>
        </p:nvSpPr>
        <p:spPr>
          <a:xfrm>
            <a:off x="457200" y="4152900"/>
            <a:ext cx="5925212" cy="1415772"/>
          </a:xfrm>
          <a:prstGeom prst="rect">
            <a:avLst/>
          </a:prstGeom>
          <a:noFill/>
        </p:spPr>
        <p:txBody>
          <a:bodyPr wrap="none" rtlCol="0">
            <a:spAutoFit/>
          </a:bodyPr>
          <a:lstStyle/>
          <a:p>
            <a:pPr marL="342900" indent="-342900">
              <a:buAutoNum type="alphaLcParenR"/>
            </a:pPr>
            <a:r>
              <a:rPr lang="en-US" dirty="0">
                <a:latin typeface="+mj-lt"/>
              </a:rPr>
              <a:t>Since the ammeter measures </a:t>
            </a:r>
            <a:r>
              <a:rPr lang="en-US" dirty="0" err="1">
                <a:latin typeface="+mj-lt"/>
              </a:rPr>
              <a:t>i</a:t>
            </a:r>
            <a:r>
              <a:rPr lang="el-GR" baseline="-25000" dirty="0">
                <a:latin typeface="+mj-lt"/>
              </a:rPr>
              <a:t>ϕ </a:t>
            </a:r>
            <a:r>
              <a:rPr lang="en-US" dirty="0">
                <a:latin typeface="+mj-lt"/>
              </a:rPr>
              <a:t>=10 A:</a:t>
            </a:r>
          </a:p>
          <a:p>
            <a:pPr marL="342900" indent="-342900"/>
            <a:endParaRPr lang="en-US" dirty="0">
              <a:latin typeface="+mj-lt"/>
            </a:endParaRPr>
          </a:p>
          <a:p>
            <a:pPr marL="342900" indent="-342900"/>
            <a:r>
              <a:rPr lang="en-US" dirty="0">
                <a:latin typeface="+mj-lt"/>
              </a:rPr>
              <a:t>Therefore,</a:t>
            </a:r>
          </a:p>
          <a:p>
            <a:pPr marL="342900" indent="-342900"/>
            <a:endParaRPr lang="en-US" sz="1400" dirty="0">
              <a:latin typeface="+mj-lt"/>
            </a:endParaRPr>
          </a:p>
          <a:p>
            <a:pPr marL="342900" indent="-342900"/>
            <a:r>
              <a:rPr lang="en-US" dirty="0">
                <a:latin typeface="+mj-lt"/>
              </a:rPr>
              <a:t>b) Actual current (if ammeter was not connected in series):    </a:t>
            </a:r>
          </a:p>
        </p:txBody>
      </p:sp>
      <p:pic>
        <p:nvPicPr>
          <p:cNvPr id="344067" name="Picture 3"/>
          <p:cNvPicPr>
            <a:picLocks noChangeAspect="1" noChangeArrowheads="1"/>
          </p:cNvPicPr>
          <p:nvPr/>
        </p:nvPicPr>
        <p:blipFill>
          <a:blip r:embed="rId5" cstate="print"/>
          <a:srcRect/>
          <a:stretch>
            <a:fillRect/>
          </a:stretch>
        </p:blipFill>
        <p:spPr bwMode="auto">
          <a:xfrm>
            <a:off x="4457700" y="4086225"/>
            <a:ext cx="1857375" cy="561975"/>
          </a:xfrm>
          <a:prstGeom prst="rect">
            <a:avLst/>
          </a:prstGeom>
          <a:noFill/>
          <a:ln w="9525">
            <a:noFill/>
            <a:miter lim="800000"/>
            <a:headEnd/>
            <a:tailEnd/>
          </a:ln>
          <a:effectLst/>
        </p:spPr>
      </p:pic>
      <p:pic>
        <p:nvPicPr>
          <p:cNvPr id="344069" name="Picture 5"/>
          <p:cNvPicPr>
            <a:picLocks noChangeAspect="1" noChangeArrowheads="1"/>
          </p:cNvPicPr>
          <p:nvPr/>
        </p:nvPicPr>
        <p:blipFill>
          <a:blip r:embed="rId6" cstate="print"/>
          <a:srcRect/>
          <a:stretch>
            <a:fillRect/>
          </a:stretch>
        </p:blipFill>
        <p:spPr bwMode="auto">
          <a:xfrm>
            <a:off x="1600200" y="4724400"/>
            <a:ext cx="2466975" cy="314325"/>
          </a:xfrm>
          <a:prstGeom prst="rect">
            <a:avLst/>
          </a:prstGeom>
          <a:noFill/>
          <a:ln w="9525">
            <a:noFill/>
            <a:miter lim="800000"/>
            <a:headEnd/>
            <a:tailEnd/>
          </a:ln>
          <a:effectLst/>
        </p:spPr>
      </p:pic>
      <p:pic>
        <p:nvPicPr>
          <p:cNvPr id="344071" name="Picture 7"/>
          <p:cNvPicPr>
            <a:picLocks noChangeAspect="1" noChangeArrowheads="1"/>
          </p:cNvPicPr>
          <p:nvPr/>
        </p:nvPicPr>
        <p:blipFill>
          <a:blip r:embed="rId7" cstate="print"/>
          <a:srcRect/>
          <a:stretch>
            <a:fillRect/>
          </a:stretch>
        </p:blipFill>
        <p:spPr bwMode="auto">
          <a:xfrm>
            <a:off x="3390900" y="5524500"/>
            <a:ext cx="3657600" cy="1219200"/>
          </a:xfrm>
          <a:prstGeom prst="rect">
            <a:avLst/>
          </a:prstGeom>
          <a:noFill/>
          <a:ln w="9525">
            <a:noFill/>
            <a:miter lim="800000"/>
            <a:headEnd/>
            <a:tailEnd/>
          </a:ln>
          <a:effectLst/>
        </p:spPr>
      </p:pic>
      <p:sp>
        <p:nvSpPr>
          <p:cNvPr id="22" name="TextBox 21"/>
          <p:cNvSpPr txBox="1"/>
          <p:nvPr/>
        </p:nvSpPr>
        <p:spPr>
          <a:xfrm>
            <a:off x="3771900" y="3086100"/>
            <a:ext cx="685800" cy="307777"/>
          </a:xfrm>
          <a:prstGeom prst="rect">
            <a:avLst/>
          </a:prstGeom>
          <a:solidFill>
            <a:schemeClr val="bg1"/>
          </a:solidFill>
        </p:spPr>
        <p:txBody>
          <a:bodyPr wrap="square" rtlCol="0">
            <a:spAutoFit/>
          </a:bodyPr>
          <a:lstStyle/>
          <a:p>
            <a:r>
              <a:rPr lang="en-US" sz="1400" dirty="0">
                <a:latin typeface="Arial" pitchFamily="34" charset="0"/>
                <a:cs typeface="Arial" pitchFamily="34" charset="0"/>
              </a:rPr>
              <a:t>144 </a:t>
            </a:r>
            <a:r>
              <a:rPr lang="el-GR" sz="1400" dirty="0">
                <a:latin typeface="Arial" pitchFamily="34" charset="0"/>
                <a:cs typeface="Arial" pitchFamily="34" charset="0"/>
              </a:rPr>
              <a:t>Ω</a:t>
            </a:r>
            <a:endParaRPr lang="tr-TR" sz="1400" dirty="0">
              <a:latin typeface="Arial" pitchFamily="34" charset="0"/>
              <a:cs typeface="Arial" pitchFamily="34" charset="0"/>
            </a:endParaRPr>
          </a:p>
        </p:txBody>
      </p:sp>
      <p:sp>
        <p:nvSpPr>
          <p:cNvPr id="23"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38</a:t>
            </a:fld>
            <a:endParaRPr lang="en-US" dirty="0"/>
          </a:p>
        </p:txBody>
      </p:sp>
    </p:spTree>
    <p:extLst>
      <p:ext uri="{BB962C8B-B14F-4D97-AF65-F5344CB8AC3E}">
        <p14:creationId xmlns:p14="http://schemas.microsoft.com/office/powerpoint/2010/main" val="385325610"/>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 3 </a:t>
            </a:r>
            <a:r>
              <a:rPr lang="en-US" sz="2400" dirty="0"/>
              <a:t>(Based on N &amp; R Problem 4.74)</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9" name="TextBox 8"/>
          <p:cNvSpPr txBox="1"/>
          <p:nvPr/>
        </p:nvSpPr>
        <p:spPr>
          <a:xfrm>
            <a:off x="609600" y="723900"/>
            <a:ext cx="7458194" cy="1200329"/>
          </a:xfrm>
          <a:prstGeom prst="rect">
            <a:avLst/>
          </a:prstGeom>
          <a:noFill/>
        </p:spPr>
        <p:txBody>
          <a:bodyPr wrap="square" rtlCol="0">
            <a:spAutoFit/>
          </a:bodyPr>
          <a:lstStyle/>
          <a:p>
            <a:r>
              <a:rPr lang="en-US" dirty="0"/>
              <a:t>When an ammeter is used to measure the current </a:t>
            </a:r>
            <a:r>
              <a:rPr lang="en-US" dirty="0" err="1"/>
              <a:t>i</a:t>
            </a:r>
            <a:r>
              <a:rPr lang="el-GR" baseline="-25000" dirty="0"/>
              <a:t>ϕ</a:t>
            </a:r>
            <a:r>
              <a:rPr lang="en-US" dirty="0"/>
              <a:t> in the circuit shown below, it reads 10 A.</a:t>
            </a:r>
          </a:p>
          <a:p>
            <a:pPr marL="342900" indent="-342900">
              <a:buAutoNum type="alphaLcParenR"/>
            </a:pPr>
            <a:r>
              <a:rPr lang="en-US" dirty="0"/>
              <a:t>What is the resistance of the ammeter?</a:t>
            </a:r>
          </a:p>
          <a:p>
            <a:pPr marL="342900" indent="-342900">
              <a:buAutoNum type="alphaLcParenR"/>
            </a:pPr>
            <a:r>
              <a:rPr lang="en-US" dirty="0"/>
              <a:t>What is the percentage of error in the current measurement?</a:t>
            </a:r>
          </a:p>
        </p:txBody>
      </p:sp>
      <p:pic>
        <p:nvPicPr>
          <p:cNvPr id="7" name="Picture 2" descr="04_69-61P4-74"/>
          <p:cNvPicPr>
            <a:picLocks noChangeAspect="1" noChangeArrowheads="1"/>
          </p:cNvPicPr>
          <p:nvPr/>
        </p:nvPicPr>
        <p:blipFill>
          <a:blip r:embed="rId2" cstate="print"/>
          <a:srcRect/>
          <a:stretch>
            <a:fillRect/>
          </a:stretch>
        </p:blipFill>
        <p:spPr bwMode="auto">
          <a:xfrm>
            <a:off x="419100" y="1905000"/>
            <a:ext cx="3810000" cy="2107469"/>
          </a:xfrm>
          <a:prstGeom prst="rect">
            <a:avLst/>
          </a:prstGeom>
          <a:noFill/>
          <a:ln w="9525">
            <a:noFill/>
            <a:miter lim="800000"/>
            <a:headEnd/>
            <a:tailEnd/>
          </a:ln>
          <a:effectLst/>
        </p:spPr>
      </p:pic>
      <p:sp>
        <p:nvSpPr>
          <p:cNvPr id="8" name="Title 1"/>
          <p:cNvSpPr txBox="1">
            <a:spLocks/>
          </p:cNvSpPr>
          <p:nvPr/>
        </p:nvSpPr>
        <p:spPr bwMode="auto">
          <a:xfrm>
            <a:off x="4610100" y="2286000"/>
            <a:ext cx="4305300" cy="10287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n-US" b="0" i="0" u="sng" strike="noStrike" kern="1200" cap="none" spc="0" normalizeH="0" baseline="0" noProof="0" dirty="0">
                <a:ln>
                  <a:noFill/>
                </a:ln>
                <a:solidFill>
                  <a:schemeClr val="tx1"/>
                </a:solidFill>
                <a:effectLst/>
                <a:uLnTx/>
                <a:uFillTx/>
                <a:latin typeface="+mj-lt"/>
                <a:ea typeface="+mj-ea"/>
                <a:cs typeface="+mj-cs"/>
              </a:rPr>
              <a:t>Question:</a:t>
            </a:r>
            <a:r>
              <a:rPr kumimoji="0" lang="en-US" b="0" i="0" u="sng" strike="noStrike" kern="1200" cap="none" spc="0" normalizeH="0" noProof="0" dirty="0">
                <a:ln>
                  <a:noFill/>
                </a:ln>
                <a:solidFill>
                  <a:schemeClr val="tx1"/>
                </a:solidFill>
                <a:effectLst/>
                <a:uLnTx/>
                <a:uFillTx/>
                <a:latin typeface="+mj-lt"/>
                <a:ea typeface="+mj-ea"/>
                <a:cs typeface="+mj-cs"/>
              </a:rPr>
              <a:t> </a:t>
            </a:r>
            <a:r>
              <a:rPr kumimoji="0" lang="en-US" b="0" strike="noStrike" kern="1200" cap="none" spc="0" normalizeH="0" noProof="0" dirty="0">
                <a:ln>
                  <a:noFill/>
                </a:ln>
                <a:solidFill>
                  <a:schemeClr val="tx1"/>
                </a:solidFill>
                <a:effectLst/>
                <a:uLnTx/>
                <a:uFillTx/>
                <a:latin typeface="+mj-lt"/>
                <a:ea typeface="+mj-ea"/>
                <a:cs typeface="+mj-cs"/>
              </a:rPr>
              <a:t> </a:t>
            </a:r>
            <a:r>
              <a:rPr kumimoji="0" lang="en-US" i="0" strike="noStrike" kern="1200" cap="none" spc="0" normalizeH="0" noProof="0" dirty="0">
                <a:ln>
                  <a:noFill/>
                </a:ln>
                <a:solidFill>
                  <a:schemeClr val="tx1"/>
                </a:solidFill>
                <a:effectLst/>
                <a:uLnTx/>
                <a:uFillTx/>
                <a:latin typeface="+mj-lt"/>
                <a:ea typeface="+mj-ea"/>
                <a:cs typeface="+mj-cs"/>
              </a:rPr>
              <a:t>How would we find </a:t>
            </a:r>
            <a:r>
              <a:rPr kumimoji="0" lang="en-US" i="0" strike="noStrike" kern="1200" cap="none" spc="0" normalizeH="0" noProof="0" dirty="0" err="1">
                <a:ln>
                  <a:noFill/>
                </a:ln>
                <a:solidFill>
                  <a:schemeClr val="tx1"/>
                </a:solidFill>
                <a:effectLst/>
                <a:uLnTx/>
                <a:uFillTx/>
                <a:latin typeface="+mj-lt"/>
                <a:ea typeface="+mj-ea"/>
                <a:cs typeface="+mj-cs"/>
              </a:rPr>
              <a:t>R</a:t>
            </a:r>
            <a:r>
              <a:rPr kumimoji="0" lang="en-US" i="0" strike="noStrike" kern="1200" cap="none" spc="0" normalizeH="0" baseline="-25000" noProof="0" dirty="0" err="1">
                <a:ln>
                  <a:noFill/>
                </a:ln>
                <a:solidFill>
                  <a:schemeClr val="tx1"/>
                </a:solidFill>
                <a:effectLst/>
                <a:uLnTx/>
                <a:uFillTx/>
                <a:latin typeface="+mj-lt"/>
                <a:ea typeface="+mj-ea"/>
                <a:cs typeface="+mj-cs"/>
              </a:rPr>
              <a:t>Th</a:t>
            </a:r>
            <a:r>
              <a:rPr kumimoji="0" lang="en-US" i="0" strike="noStrike" kern="1200" cap="none" spc="0" normalizeH="0" noProof="0" dirty="0">
                <a:ln>
                  <a:noFill/>
                </a:ln>
                <a:solidFill>
                  <a:schemeClr val="tx1"/>
                </a:solidFill>
                <a:effectLst/>
                <a:uLnTx/>
                <a:uFillTx/>
                <a:latin typeface="+mj-lt"/>
                <a:ea typeface="+mj-ea"/>
                <a:cs typeface="+mj-cs"/>
              </a:rPr>
              <a:t> through the Step 3(B) of the </a:t>
            </a:r>
            <a:r>
              <a:rPr kumimoji="0" lang="en-US" i="0" strike="noStrike" kern="1200" cap="none" spc="0" normalizeH="0" noProof="0" dirty="0" err="1">
                <a:ln>
                  <a:noFill/>
                </a:ln>
                <a:solidFill>
                  <a:schemeClr val="tx1"/>
                </a:solidFill>
                <a:effectLst/>
                <a:uLnTx/>
                <a:uFillTx/>
                <a:latin typeface="+mj-lt"/>
                <a:ea typeface="+mj-ea"/>
                <a:cs typeface="+mj-cs"/>
              </a:rPr>
              <a:t>Thevenin</a:t>
            </a:r>
            <a:r>
              <a:rPr lang="en-US" dirty="0">
                <a:latin typeface="+mj-lt"/>
                <a:ea typeface="+mj-ea"/>
                <a:cs typeface="+mj-cs"/>
              </a:rPr>
              <a:t>/Norton derivation guidelines </a:t>
            </a:r>
            <a:r>
              <a:rPr kumimoji="0" lang="en-US" i="0" strike="noStrike" kern="1200" cap="none" spc="0" normalizeH="0" noProof="0" dirty="0">
                <a:ln>
                  <a:noFill/>
                </a:ln>
                <a:solidFill>
                  <a:schemeClr val="tx1"/>
                </a:solidFill>
                <a:effectLst/>
                <a:uLnTx/>
                <a:uFillTx/>
                <a:latin typeface="+mj-lt"/>
                <a:ea typeface="+mj-ea"/>
                <a:cs typeface="+mj-cs"/>
              </a:rPr>
              <a:t>presented earlier?</a:t>
            </a:r>
            <a:endParaRPr kumimoji="0" lang="en-US" b="0" i="0" u="sng" strike="noStrike" kern="1200" cap="none" spc="0" normalizeH="0" baseline="0" noProof="0" dirty="0">
              <a:ln>
                <a:noFill/>
              </a:ln>
              <a:solidFill>
                <a:schemeClr val="tx1"/>
              </a:solidFill>
              <a:effectLst/>
              <a:uLnTx/>
              <a:uFillTx/>
              <a:latin typeface="+mj-lt"/>
              <a:ea typeface="+mj-ea"/>
              <a:cs typeface="+mj-cs"/>
            </a:endParaRPr>
          </a:p>
          <a:p>
            <a:pPr marL="0" marR="0" lvl="0" indent="0" defTabSz="914400" rtl="0" eaLnBrk="1" fontAlgn="base" latinLnBrk="0" hangingPunct="1">
              <a:lnSpc>
                <a:spcPct val="100000"/>
              </a:lnSpc>
              <a:spcBef>
                <a:spcPct val="0"/>
              </a:spcBef>
              <a:spcAft>
                <a:spcPct val="0"/>
              </a:spcAft>
              <a:buClrTx/>
              <a:buSzTx/>
              <a:buFontTx/>
              <a:buNone/>
              <a:tabLst/>
              <a:defRPr/>
            </a:pPr>
            <a:endParaRPr kumimoji="0" lang="en-US" sz="800" b="0" i="0" u="sng" strike="noStrike" kern="1200" cap="none" spc="0" normalizeH="0" baseline="0" noProof="0" dirty="0">
              <a:ln>
                <a:noFill/>
              </a:ln>
              <a:solidFill>
                <a:schemeClr val="tx1"/>
              </a:solidFill>
              <a:effectLst/>
              <a:uLnTx/>
              <a:uFillTx/>
              <a:latin typeface="+mj-lt"/>
              <a:ea typeface="+mj-ea"/>
              <a:cs typeface="+mj-cs"/>
            </a:endParaRPr>
          </a:p>
          <a:p>
            <a:pPr lvl="0">
              <a:defRPr/>
            </a:pPr>
            <a:endParaRPr kumimoji="0" lang="en-US" b="0" i="0" strike="noStrike" kern="1200" cap="none" spc="0" normalizeH="0" baseline="0" noProof="0" dirty="0">
              <a:ln>
                <a:noFill/>
              </a:ln>
              <a:solidFill>
                <a:schemeClr val="tx1"/>
              </a:solidFill>
              <a:effectLst/>
              <a:uLnTx/>
              <a:uFillTx/>
              <a:latin typeface="+mj-lt"/>
              <a:ea typeface="+mj-ea"/>
              <a:cs typeface="+mj-cs"/>
            </a:endParaRPr>
          </a:p>
        </p:txBody>
      </p:sp>
      <p:sp>
        <p:nvSpPr>
          <p:cNvPr id="15" name="TextBox 14"/>
          <p:cNvSpPr txBox="1"/>
          <p:nvPr/>
        </p:nvSpPr>
        <p:spPr>
          <a:xfrm>
            <a:off x="3771900" y="3086100"/>
            <a:ext cx="685800" cy="307777"/>
          </a:xfrm>
          <a:prstGeom prst="rect">
            <a:avLst/>
          </a:prstGeom>
          <a:solidFill>
            <a:schemeClr val="bg1"/>
          </a:solidFill>
        </p:spPr>
        <p:txBody>
          <a:bodyPr wrap="square" rtlCol="0">
            <a:spAutoFit/>
          </a:bodyPr>
          <a:lstStyle/>
          <a:p>
            <a:r>
              <a:rPr lang="en-US" sz="1400" dirty="0">
                <a:latin typeface="Arial" pitchFamily="34" charset="0"/>
                <a:cs typeface="Arial" pitchFamily="34" charset="0"/>
              </a:rPr>
              <a:t>144 </a:t>
            </a:r>
            <a:r>
              <a:rPr lang="el-GR" sz="1400" dirty="0">
                <a:latin typeface="Arial" pitchFamily="34" charset="0"/>
                <a:cs typeface="Arial" pitchFamily="34" charset="0"/>
              </a:rPr>
              <a:t>Ω</a:t>
            </a:r>
            <a:endParaRPr lang="tr-TR" sz="1400" dirty="0">
              <a:latin typeface="Arial" pitchFamily="34" charset="0"/>
              <a:cs typeface="Arial" pitchFamily="34" charset="0"/>
            </a:endParaRPr>
          </a:p>
        </p:txBody>
      </p:sp>
      <p:sp>
        <p:nvSpPr>
          <p:cNvPr id="17"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39</a:t>
            </a:fld>
            <a:endParaRPr lang="en-US" dirty="0"/>
          </a:p>
        </p:txBody>
      </p:sp>
    </p:spTree>
    <p:extLst>
      <p:ext uri="{BB962C8B-B14F-4D97-AF65-F5344CB8AC3E}">
        <p14:creationId xmlns:p14="http://schemas.microsoft.com/office/powerpoint/2010/main" val="119688315"/>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 3 </a:t>
            </a:r>
            <a:r>
              <a:rPr lang="en-US" sz="2400" dirty="0"/>
              <a:t>(Based on N &amp; R Problem 4.74)</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9" name="TextBox 8"/>
          <p:cNvSpPr txBox="1"/>
          <p:nvPr/>
        </p:nvSpPr>
        <p:spPr>
          <a:xfrm>
            <a:off x="609600" y="723900"/>
            <a:ext cx="7458194" cy="1200329"/>
          </a:xfrm>
          <a:prstGeom prst="rect">
            <a:avLst/>
          </a:prstGeom>
          <a:noFill/>
        </p:spPr>
        <p:txBody>
          <a:bodyPr wrap="square" rtlCol="0">
            <a:spAutoFit/>
          </a:bodyPr>
          <a:lstStyle/>
          <a:p>
            <a:r>
              <a:rPr lang="en-US" dirty="0"/>
              <a:t>When an ammeter is used to measure the current </a:t>
            </a:r>
            <a:r>
              <a:rPr lang="en-US" dirty="0" err="1"/>
              <a:t>i</a:t>
            </a:r>
            <a:r>
              <a:rPr lang="el-GR" baseline="-25000" dirty="0"/>
              <a:t>ϕ</a:t>
            </a:r>
            <a:r>
              <a:rPr lang="en-US" dirty="0"/>
              <a:t> in the circuit shown below, it reads 10 A.</a:t>
            </a:r>
          </a:p>
          <a:p>
            <a:pPr marL="342900" indent="-342900">
              <a:buAutoNum type="alphaLcParenR"/>
            </a:pPr>
            <a:r>
              <a:rPr lang="en-US" dirty="0"/>
              <a:t>What is the resistance of the ammeter?</a:t>
            </a:r>
          </a:p>
          <a:p>
            <a:pPr marL="342900" indent="-342900">
              <a:buAutoNum type="alphaLcParenR"/>
            </a:pPr>
            <a:r>
              <a:rPr lang="en-US" dirty="0"/>
              <a:t>What is the percentage of error in the current measurement?</a:t>
            </a:r>
          </a:p>
        </p:txBody>
      </p:sp>
      <p:pic>
        <p:nvPicPr>
          <p:cNvPr id="7" name="Picture 2" descr="04_69-61P4-74"/>
          <p:cNvPicPr>
            <a:picLocks noChangeAspect="1" noChangeArrowheads="1"/>
          </p:cNvPicPr>
          <p:nvPr/>
        </p:nvPicPr>
        <p:blipFill>
          <a:blip r:embed="rId2" cstate="print"/>
          <a:srcRect/>
          <a:stretch>
            <a:fillRect/>
          </a:stretch>
        </p:blipFill>
        <p:spPr bwMode="auto">
          <a:xfrm>
            <a:off x="419100" y="1905000"/>
            <a:ext cx="3810000" cy="2107469"/>
          </a:xfrm>
          <a:prstGeom prst="rect">
            <a:avLst/>
          </a:prstGeom>
          <a:noFill/>
          <a:ln w="9525">
            <a:noFill/>
            <a:miter lim="800000"/>
            <a:headEnd/>
            <a:tailEnd/>
          </a:ln>
          <a:effectLst/>
        </p:spPr>
      </p:pic>
      <p:sp>
        <p:nvSpPr>
          <p:cNvPr id="8" name="Title 1"/>
          <p:cNvSpPr txBox="1">
            <a:spLocks/>
          </p:cNvSpPr>
          <p:nvPr/>
        </p:nvSpPr>
        <p:spPr bwMode="auto">
          <a:xfrm>
            <a:off x="4610100" y="2247900"/>
            <a:ext cx="4305300" cy="1905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n-US" b="0" i="0" u="sng" strike="noStrike" kern="1200" cap="none" spc="0" normalizeH="0" baseline="0" noProof="0" dirty="0">
                <a:ln>
                  <a:noFill/>
                </a:ln>
                <a:solidFill>
                  <a:schemeClr val="tx1"/>
                </a:solidFill>
                <a:effectLst/>
                <a:uLnTx/>
                <a:uFillTx/>
                <a:latin typeface="+mj-lt"/>
                <a:ea typeface="+mj-ea"/>
                <a:cs typeface="+mj-cs"/>
              </a:rPr>
              <a:t>Question:</a:t>
            </a:r>
            <a:r>
              <a:rPr kumimoji="0" lang="en-US" b="0" i="0" u="sng" strike="noStrike" kern="1200" cap="none" spc="0" normalizeH="0" noProof="0" dirty="0">
                <a:ln>
                  <a:noFill/>
                </a:ln>
                <a:solidFill>
                  <a:schemeClr val="tx1"/>
                </a:solidFill>
                <a:effectLst/>
                <a:uLnTx/>
                <a:uFillTx/>
                <a:latin typeface="+mj-lt"/>
                <a:ea typeface="+mj-ea"/>
                <a:cs typeface="+mj-cs"/>
              </a:rPr>
              <a:t> </a:t>
            </a:r>
            <a:r>
              <a:rPr kumimoji="0" lang="en-US" b="0" strike="noStrike" kern="1200" cap="none" spc="0" normalizeH="0" noProof="0" dirty="0">
                <a:ln>
                  <a:noFill/>
                </a:ln>
                <a:solidFill>
                  <a:schemeClr val="tx1"/>
                </a:solidFill>
                <a:effectLst/>
                <a:uLnTx/>
                <a:uFillTx/>
                <a:latin typeface="+mj-lt"/>
                <a:ea typeface="+mj-ea"/>
                <a:cs typeface="+mj-cs"/>
              </a:rPr>
              <a:t> </a:t>
            </a:r>
            <a:r>
              <a:rPr kumimoji="0" lang="en-US" i="0" strike="noStrike" kern="1200" cap="none" spc="0" normalizeH="0" noProof="0" dirty="0">
                <a:ln>
                  <a:noFill/>
                </a:ln>
                <a:solidFill>
                  <a:schemeClr val="tx1"/>
                </a:solidFill>
                <a:effectLst/>
                <a:uLnTx/>
                <a:uFillTx/>
                <a:latin typeface="+mj-lt"/>
                <a:ea typeface="+mj-ea"/>
                <a:cs typeface="+mj-cs"/>
              </a:rPr>
              <a:t>How would we find </a:t>
            </a:r>
            <a:r>
              <a:rPr kumimoji="0" lang="en-US" i="0" strike="noStrike" kern="1200" cap="none" spc="0" normalizeH="0" noProof="0" dirty="0" err="1">
                <a:ln>
                  <a:noFill/>
                </a:ln>
                <a:solidFill>
                  <a:schemeClr val="tx1"/>
                </a:solidFill>
                <a:effectLst/>
                <a:uLnTx/>
                <a:uFillTx/>
                <a:latin typeface="+mj-lt"/>
                <a:ea typeface="+mj-ea"/>
                <a:cs typeface="+mj-cs"/>
              </a:rPr>
              <a:t>R</a:t>
            </a:r>
            <a:r>
              <a:rPr kumimoji="0" lang="en-US" i="0" strike="noStrike" kern="1200" cap="none" spc="0" normalizeH="0" baseline="-25000" noProof="0" dirty="0" err="1">
                <a:ln>
                  <a:noFill/>
                </a:ln>
                <a:solidFill>
                  <a:schemeClr val="tx1"/>
                </a:solidFill>
                <a:effectLst/>
                <a:uLnTx/>
                <a:uFillTx/>
                <a:latin typeface="+mj-lt"/>
                <a:ea typeface="+mj-ea"/>
                <a:cs typeface="+mj-cs"/>
              </a:rPr>
              <a:t>Th</a:t>
            </a:r>
            <a:r>
              <a:rPr kumimoji="0" lang="en-US" i="0" strike="noStrike" kern="1200" cap="none" spc="0" normalizeH="0" noProof="0" dirty="0">
                <a:ln>
                  <a:noFill/>
                </a:ln>
                <a:solidFill>
                  <a:schemeClr val="tx1"/>
                </a:solidFill>
                <a:effectLst/>
                <a:uLnTx/>
                <a:uFillTx/>
                <a:latin typeface="+mj-lt"/>
                <a:ea typeface="+mj-ea"/>
                <a:cs typeface="+mj-cs"/>
              </a:rPr>
              <a:t> through the Step 3(B) of the </a:t>
            </a:r>
            <a:r>
              <a:rPr kumimoji="0" lang="en-US" i="0" strike="noStrike" kern="1200" cap="none" spc="0" normalizeH="0" noProof="0" dirty="0" err="1">
                <a:ln>
                  <a:noFill/>
                </a:ln>
                <a:solidFill>
                  <a:schemeClr val="tx1"/>
                </a:solidFill>
                <a:effectLst/>
                <a:uLnTx/>
                <a:uFillTx/>
                <a:latin typeface="+mj-lt"/>
                <a:ea typeface="+mj-ea"/>
                <a:cs typeface="+mj-cs"/>
              </a:rPr>
              <a:t>Thevenin</a:t>
            </a:r>
            <a:r>
              <a:rPr lang="en-US" dirty="0">
                <a:latin typeface="+mj-lt"/>
                <a:ea typeface="+mj-ea"/>
                <a:cs typeface="+mj-cs"/>
              </a:rPr>
              <a:t>/Norton derivation guidelines </a:t>
            </a:r>
            <a:r>
              <a:rPr kumimoji="0" lang="en-US" i="0" strike="noStrike" kern="1200" cap="none" spc="0" normalizeH="0" noProof="0" dirty="0">
                <a:ln>
                  <a:noFill/>
                </a:ln>
                <a:solidFill>
                  <a:schemeClr val="tx1"/>
                </a:solidFill>
                <a:effectLst/>
                <a:uLnTx/>
                <a:uFillTx/>
                <a:latin typeface="+mj-lt"/>
                <a:ea typeface="+mj-ea"/>
                <a:cs typeface="+mj-cs"/>
              </a:rPr>
              <a:t>presented earlier?</a:t>
            </a:r>
          </a:p>
          <a:p>
            <a:pPr marL="0" marR="0" lvl="0" indent="0" defTabSz="914400" rtl="0" eaLnBrk="1" fontAlgn="base" latinLnBrk="0" hangingPunct="1">
              <a:lnSpc>
                <a:spcPct val="100000"/>
              </a:lnSpc>
              <a:spcBef>
                <a:spcPct val="0"/>
              </a:spcBef>
              <a:spcAft>
                <a:spcPct val="0"/>
              </a:spcAft>
              <a:buClrTx/>
              <a:buSzTx/>
              <a:buFontTx/>
              <a:buNone/>
              <a:tabLst/>
              <a:defRPr/>
            </a:pPr>
            <a:endParaRPr lang="en-US" b="0" u="sng" baseline="0" dirty="0">
              <a:latin typeface="+mj-lt"/>
              <a:ea typeface="+mj-ea"/>
              <a:cs typeface="+mj-cs"/>
            </a:endParaRPr>
          </a:p>
          <a:p>
            <a:pPr marL="0" marR="0" lvl="0" indent="0" defTabSz="914400" rtl="0" eaLnBrk="1" fontAlgn="base" latinLnBrk="0" hangingPunct="1">
              <a:lnSpc>
                <a:spcPct val="100000"/>
              </a:lnSpc>
              <a:spcBef>
                <a:spcPct val="0"/>
              </a:spcBef>
              <a:spcAft>
                <a:spcPct val="0"/>
              </a:spcAft>
              <a:buClrTx/>
              <a:buSzTx/>
              <a:buFontTx/>
              <a:buNone/>
              <a:tabLst/>
              <a:defRPr/>
            </a:pPr>
            <a:r>
              <a:rPr lang="en-US" dirty="0">
                <a:latin typeface="+mj-lt"/>
                <a:ea typeface="+mj-ea"/>
                <a:cs typeface="+mj-cs"/>
              </a:rPr>
              <a:t>- Kill independent sources, apply a test current i</a:t>
            </a:r>
            <a:r>
              <a:rPr lang="en-US" baseline="-25000" dirty="0">
                <a:latin typeface="+mj-lt"/>
                <a:ea typeface="+mj-ea"/>
                <a:cs typeface="+mj-cs"/>
              </a:rPr>
              <a:t>t</a:t>
            </a:r>
            <a:r>
              <a:rPr lang="en-US" dirty="0">
                <a:latin typeface="+mj-lt"/>
                <a:ea typeface="+mj-ea"/>
                <a:cs typeface="+mj-cs"/>
              </a:rPr>
              <a:t>, and find R = </a:t>
            </a:r>
            <a:r>
              <a:rPr lang="en-US" dirty="0" err="1">
                <a:latin typeface="+mj-lt"/>
                <a:ea typeface="+mj-ea"/>
                <a:cs typeface="+mj-cs"/>
              </a:rPr>
              <a:t>v</a:t>
            </a:r>
            <a:r>
              <a:rPr lang="en-US" baseline="-25000" dirty="0" err="1">
                <a:latin typeface="+mj-lt"/>
                <a:ea typeface="+mj-ea"/>
                <a:cs typeface="+mj-cs"/>
              </a:rPr>
              <a:t>t</a:t>
            </a:r>
            <a:r>
              <a:rPr lang="en-US" dirty="0">
                <a:latin typeface="+mj-lt"/>
                <a:ea typeface="+mj-ea"/>
                <a:cs typeface="+mj-cs"/>
              </a:rPr>
              <a:t>/i</a:t>
            </a:r>
            <a:r>
              <a:rPr lang="en-US" baseline="-25000" dirty="0">
                <a:latin typeface="+mj-lt"/>
                <a:ea typeface="+mj-ea"/>
                <a:cs typeface="+mj-cs"/>
              </a:rPr>
              <a:t>t</a:t>
            </a:r>
            <a:endParaRPr kumimoji="0" lang="en-US" b="0" i="0" strike="noStrike" kern="1200" cap="none" spc="0" normalizeH="0" baseline="-25000" noProof="0" dirty="0">
              <a:ln>
                <a:noFill/>
              </a:ln>
              <a:solidFill>
                <a:schemeClr val="tx1"/>
              </a:solidFill>
              <a:effectLst/>
              <a:uLnTx/>
              <a:uFillTx/>
              <a:latin typeface="+mj-lt"/>
              <a:ea typeface="+mj-ea"/>
              <a:cs typeface="+mj-cs"/>
            </a:endParaRPr>
          </a:p>
          <a:p>
            <a:pPr marL="0" marR="0" lvl="0" indent="0" defTabSz="914400" rtl="0" eaLnBrk="1" fontAlgn="base" latinLnBrk="0" hangingPunct="1">
              <a:lnSpc>
                <a:spcPct val="100000"/>
              </a:lnSpc>
              <a:spcBef>
                <a:spcPct val="0"/>
              </a:spcBef>
              <a:spcAft>
                <a:spcPct val="0"/>
              </a:spcAft>
              <a:buClrTx/>
              <a:buSzTx/>
              <a:buFontTx/>
              <a:buNone/>
              <a:tabLst/>
              <a:defRPr/>
            </a:pPr>
            <a:endParaRPr kumimoji="0" lang="en-US" sz="800" b="0" i="0" u="sng" strike="noStrike" kern="1200" cap="none" spc="0" normalizeH="0" baseline="0" noProof="0" dirty="0">
              <a:ln>
                <a:noFill/>
              </a:ln>
              <a:solidFill>
                <a:schemeClr val="tx1"/>
              </a:solidFill>
              <a:effectLst/>
              <a:uLnTx/>
              <a:uFillTx/>
              <a:latin typeface="+mj-lt"/>
              <a:ea typeface="+mj-ea"/>
              <a:cs typeface="+mj-cs"/>
            </a:endParaRPr>
          </a:p>
          <a:p>
            <a:pPr lvl="0">
              <a:defRPr/>
            </a:pPr>
            <a:endParaRPr kumimoji="0" lang="en-US" b="0" i="0" strike="noStrike" kern="1200" cap="none" spc="0" normalizeH="0" baseline="0" noProof="0" dirty="0">
              <a:ln>
                <a:noFill/>
              </a:ln>
              <a:solidFill>
                <a:schemeClr val="tx1"/>
              </a:solidFill>
              <a:effectLst/>
              <a:uLnTx/>
              <a:uFillTx/>
              <a:latin typeface="+mj-lt"/>
              <a:ea typeface="+mj-ea"/>
              <a:cs typeface="+mj-cs"/>
            </a:endParaRPr>
          </a:p>
        </p:txBody>
      </p:sp>
      <p:sp>
        <p:nvSpPr>
          <p:cNvPr id="10" name="TextBox 9"/>
          <p:cNvSpPr txBox="1"/>
          <p:nvPr/>
        </p:nvSpPr>
        <p:spPr>
          <a:xfrm>
            <a:off x="3771900" y="3086100"/>
            <a:ext cx="685800" cy="307777"/>
          </a:xfrm>
          <a:prstGeom prst="rect">
            <a:avLst/>
          </a:prstGeom>
          <a:solidFill>
            <a:schemeClr val="bg1"/>
          </a:solidFill>
        </p:spPr>
        <p:txBody>
          <a:bodyPr wrap="square" rtlCol="0">
            <a:spAutoFit/>
          </a:bodyPr>
          <a:lstStyle/>
          <a:p>
            <a:r>
              <a:rPr lang="en-US" sz="1400" dirty="0">
                <a:latin typeface="Arial" pitchFamily="34" charset="0"/>
                <a:cs typeface="Arial" pitchFamily="34" charset="0"/>
              </a:rPr>
              <a:t>144 </a:t>
            </a:r>
            <a:r>
              <a:rPr lang="el-GR" sz="1400" dirty="0">
                <a:latin typeface="Arial" pitchFamily="34" charset="0"/>
                <a:cs typeface="Arial" pitchFamily="34" charset="0"/>
              </a:rPr>
              <a:t>Ω</a:t>
            </a:r>
            <a:endParaRPr lang="tr-TR" sz="1400" dirty="0">
              <a:latin typeface="Arial" pitchFamily="34" charset="0"/>
              <a:cs typeface="Arial" pitchFamily="34" charset="0"/>
            </a:endParaRPr>
          </a:p>
        </p:txBody>
      </p:sp>
      <p:pic>
        <p:nvPicPr>
          <p:cNvPr id="345090" name="Picture 2"/>
          <p:cNvPicPr>
            <a:picLocks noChangeAspect="1" noChangeArrowheads="1"/>
          </p:cNvPicPr>
          <p:nvPr/>
        </p:nvPicPr>
        <p:blipFill>
          <a:blip r:embed="rId3" cstate="print"/>
          <a:srcRect/>
          <a:stretch>
            <a:fillRect/>
          </a:stretch>
        </p:blipFill>
        <p:spPr bwMode="auto">
          <a:xfrm>
            <a:off x="1066800" y="4343400"/>
            <a:ext cx="3133086" cy="2019300"/>
          </a:xfrm>
          <a:prstGeom prst="rect">
            <a:avLst/>
          </a:prstGeom>
          <a:noFill/>
          <a:ln w="9525">
            <a:noFill/>
            <a:miter lim="800000"/>
            <a:headEnd/>
            <a:tailEnd/>
          </a:ln>
          <a:effectLst/>
        </p:spPr>
      </p:pic>
      <p:sp>
        <p:nvSpPr>
          <p:cNvPr id="11" name="Right Arrow 10"/>
          <p:cNvSpPr/>
          <p:nvPr/>
        </p:nvSpPr>
        <p:spPr>
          <a:xfrm rot="10800000" flipH="1">
            <a:off x="4229100" y="5219700"/>
            <a:ext cx="4191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Right Arrow 11"/>
          <p:cNvSpPr/>
          <p:nvPr/>
        </p:nvSpPr>
        <p:spPr>
          <a:xfrm rot="10800000" flipH="1">
            <a:off x="457200" y="5181600"/>
            <a:ext cx="4191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345091" name="Picture 3"/>
          <p:cNvPicPr>
            <a:picLocks noChangeAspect="1" noChangeArrowheads="1"/>
          </p:cNvPicPr>
          <p:nvPr/>
        </p:nvPicPr>
        <p:blipFill>
          <a:blip r:embed="rId4" cstate="print"/>
          <a:srcRect/>
          <a:stretch>
            <a:fillRect/>
          </a:stretch>
        </p:blipFill>
        <p:spPr bwMode="auto">
          <a:xfrm>
            <a:off x="4838700" y="4076701"/>
            <a:ext cx="3242510" cy="2628900"/>
          </a:xfrm>
          <a:prstGeom prst="rect">
            <a:avLst/>
          </a:prstGeom>
          <a:noFill/>
          <a:ln w="9525">
            <a:noFill/>
            <a:miter lim="800000"/>
            <a:headEnd/>
            <a:tailEnd/>
          </a:ln>
          <a:effectLst/>
        </p:spPr>
      </p:pic>
      <p:sp>
        <p:nvSpPr>
          <p:cNvPr id="13" name="TextBox 12"/>
          <p:cNvSpPr txBox="1"/>
          <p:nvPr/>
        </p:nvSpPr>
        <p:spPr>
          <a:xfrm>
            <a:off x="3962400" y="4812268"/>
            <a:ext cx="889987" cy="369332"/>
          </a:xfrm>
          <a:prstGeom prst="rect">
            <a:avLst/>
          </a:prstGeom>
          <a:noFill/>
        </p:spPr>
        <p:txBody>
          <a:bodyPr wrap="none" rtlCol="0">
            <a:spAutoFit/>
          </a:bodyPr>
          <a:lstStyle/>
          <a:p>
            <a:r>
              <a:rPr lang="en-US" dirty="0"/>
              <a:t>redraw</a:t>
            </a:r>
            <a:endParaRPr lang="tr-TR" dirty="0"/>
          </a:p>
        </p:txBody>
      </p:sp>
      <p:sp>
        <p:nvSpPr>
          <p:cNvPr id="14"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40</a:t>
            </a:fld>
            <a:endParaRPr lang="en-US" dirty="0"/>
          </a:p>
        </p:txBody>
      </p:sp>
    </p:spTree>
    <p:extLst>
      <p:ext uri="{BB962C8B-B14F-4D97-AF65-F5344CB8AC3E}">
        <p14:creationId xmlns:p14="http://schemas.microsoft.com/office/powerpoint/2010/main" val="904316079"/>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 3 </a:t>
            </a:r>
            <a:r>
              <a:rPr lang="en-US" sz="2400" dirty="0"/>
              <a:t>(Based on N &amp; R Problem 4.74)</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9" name="TextBox 8"/>
          <p:cNvSpPr txBox="1"/>
          <p:nvPr/>
        </p:nvSpPr>
        <p:spPr>
          <a:xfrm>
            <a:off x="609600" y="723900"/>
            <a:ext cx="7458194" cy="1200329"/>
          </a:xfrm>
          <a:prstGeom prst="rect">
            <a:avLst/>
          </a:prstGeom>
          <a:noFill/>
        </p:spPr>
        <p:txBody>
          <a:bodyPr wrap="square" rtlCol="0">
            <a:spAutoFit/>
          </a:bodyPr>
          <a:lstStyle/>
          <a:p>
            <a:r>
              <a:rPr lang="en-US" dirty="0"/>
              <a:t>When an ammeter is used to measure the current </a:t>
            </a:r>
            <a:r>
              <a:rPr lang="en-US" dirty="0" err="1"/>
              <a:t>i</a:t>
            </a:r>
            <a:r>
              <a:rPr lang="el-GR" baseline="-25000" dirty="0"/>
              <a:t>ϕ</a:t>
            </a:r>
            <a:r>
              <a:rPr lang="en-US" dirty="0"/>
              <a:t> in the circuit shown below, it reads 10 A.</a:t>
            </a:r>
          </a:p>
          <a:p>
            <a:pPr marL="342900" indent="-342900">
              <a:buAutoNum type="alphaLcParenR"/>
            </a:pPr>
            <a:r>
              <a:rPr lang="en-US" dirty="0"/>
              <a:t>What is the resistance of the ammeter?</a:t>
            </a:r>
          </a:p>
          <a:p>
            <a:pPr marL="342900" indent="-342900">
              <a:buAutoNum type="alphaLcParenR"/>
            </a:pPr>
            <a:r>
              <a:rPr lang="en-US" dirty="0"/>
              <a:t>What is the percentage of error in the current measurement?</a:t>
            </a:r>
          </a:p>
        </p:txBody>
      </p:sp>
      <p:pic>
        <p:nvPicPr>
          <p:cNvPr id="7" name="Picture 2" descr="04_69-61P4-74"/>
          <p:cNvPicPr>
            <a:picLocks noChangeAspect="1" noChangeArrowheads="1"/>
          </p:cNvPicPr>
          <p:nvPr/>
        </p:nvPicPr>
        <p:blipFill>
          <a:blip r:embed="rId2" cstate="print"/>
          <a:srcRect/>
          <a:stretch>
            <a:fillRect/>
          </a:stretch>
        </p:blipFill>
        <p:spPr bwMode="auto">
          <a:xfrm>
            <a:off x="419100" y="1905000"/>
            <a:ext cx="3810000" cy="2107469"/>
          </a:xfrm>
          <a:prstGeom prst="rect">
            <a:avLst/>
          </a:prstGeom>
          <a:noFill/>
          <a:ln w="9525">
            <a:noFill/>
            <a:miter lim="800000"/>
            <a:headEnd/>
            <a:tailEnd/>
          </a:ln>
          <a:effectLst/>
        </p:spPr>
      </p:pic>
      <p:sp>
        <p:nvSpPr>
          <p:cNvPr id="8" name="Title 1"/>
          <p:cNvSpPr txBox="1">
            <a:spLocks/>
          </p:cNvSpPr>
          <p:nvPr/>
        </p:nvSpPr>
        <p:spPr bwMode="auto">
          <a:xfrm>
            <a:off x="4610100" y="2247900"/>
            <a:ext cx="4305300" cy="1905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n-US" b="0" i="0" u="sng" strike="noStrike" kern="1200" cap="none" spc="0" normalizeH="0" baseline="0" noProof="0" dirty="0">
                <a:ln>
                  <a:noFill/>
                </a:ln>
                <a:solidFill>
                  <a:schemeClr val="tx1"/>
                </a:solidFill>
                <a:effectLst/>
                <a:uLnTx/>
                <a:uFillTx/>
                <a:latin typeface="+mj-lt"/>
                <a:ea typeface="+mj-ea"/>
                <a:cs typeface="+mj-cs"/>
              </a:rPr>
              <a:t>Question:</a:t>
            </a:r>
            <a:r>
              <a:rPr kumimoji="0" lang="en-US" b="0" i="0" u="sng" strike="noStrike" kern="1200" cap="none" spc="0" normalizeH="0" noProof="0" dirty="0">
                <a:ln>
                  <a:noFill/>
                </a:ln>
                <a:solidFill>
                  <a:schemeClr val="tx1"/>
                </a:solidFill>
                <a:effectLst/>
                <a:uLnTx/>
                <a:uFillTx/>
                <a:latin typeface="+mj-lt"/>
                <a:ea typeface="+mj-ea"/>
                <a:cs typeface="+mj-cs"/>
              </a:rPr>
              <a:t> </a:t>
            </a:r>
            <a:r>
              <a:rPr kumimoji="0" lang="en-US" b="0" strike="noStrike" kern="1200" cap="none" spc="0" normalizeH="0" noProof="0" dirty="0">
                <a:ln>
                  <a:noFill/>
                </a:ln>
                <a:solidFill>
                  <a:schemeClr val="tx1"/>
                </a:solidFill>
                <a:effectLst/>
                <a:uLnTx/>
                <a:uFillTx/>
                <a:latin typeface="+mj-lt"/>
                <a:ea typeface="+mj-ea"/>
                <a:cs typeface="+mj-cs"/>
              </a:rPr>
              <a:t> </a:t>
            </a:r>
            <a:r>
              <a:rPr kumimoji="0" lang="en-US" i="0" strike="noStrike" kern="1200" cap="none" spc="0" normalizeH="0" noProof="0" dirty="0">
                <a:ln>
                  <a:noFill/>
                </a:ln>
                <a:solidFill>
                  <a:schemeClr val="tx1"/>
                </a:solidFill>
                <a:effectLst/>
                <a:uLnTx/>
                <a:uFillTx/>
                <a:latin typeface="+mj-lt"/>
                <a:ea typeface="+mj-ea"/>
                <a:cs typeface="+mj-cs"/>
              </a:rPr>
              <a:t>How would we find </a:t>
            </a:r>
            <a:r>
              <a:rPr kumimoji="0" lang="en-US" i="0" strike="noStrike" kern="1200" cap="none" spc="0" normalizeH="0" noProof="0" dirty="0" err="1">
                <a:ln>
                  <a:noFill/>
                </a:ln>
                <a:solidFill>
                  <a:schemeClr val="tx1"/>
                </a:solidFill>
                <a:effectLst/>
                <a:uLnTx/>
                <a:uFillTx/>
                <a:latin typeface="+mj-lt"/>
                <a:ea typeface="+mj-ea"/>
                <a:cs typeface="+mj-cs"/>
              </a:rPr>
              <a:t>R</a:t>
            </a:r>
            <a:r>
              <a:rPr kumimoji="0" lang="en-US" i="0" strike="noStrike" kern="1200" cap="none" spc="0" normalizeH="0" baseline="-25000" noProof="0" dirty="0" err="1">
                <a:ln>
                  <a:noFill/>
                </a:ln>
                <a:solidFill>
                  <a:schemeClr val="tx1"/>
                </a:solidFill>
                <a:effectLst/>
                <a:uLnTx/>
                <a:uFillTx/>
                <a:latin typeface="+mj-lt"/>
                <a:ea typeface="+mj-ea"/>
                <a:cs typeface="+mj-cs"/>
              </a:rPr>
              <a:t>Th</a:t>
            </a:r>
            <a:r>
              <a:rPr kumimoji="0" lang="en-US" i="0" strike="noStrike" kern="1200" cap="none" spc="0" normalizeH="0" noProof="0" dirty="0">
                <a:ln>
                  <a:noFill/>
                </a:ln>
                <a:solidFill>
                  <a:schemeClr val="tx1"/>
                </a:solidFill>
                <a:effectLst/>
                <a:uLnTx/>
                <a:uFillTx/>
                <a:latin typeface="+mj-lt"/>
                <a:ea typeface="+mj-ea"/>
                <a:cs typeface="+mj-cs"/>
              </a:rPr>
              <a:t> through the Step 3(B) of the </a:t>
            </a:r>
            <a:r>
              <a:rPr kumimoji="0" lang="en-US" i="0" strike="noStrike" kern="1200" cap="none" spc="0" normalizeH="0" noProof="0" dirty="0" err="1">
                <a:ln>
                  <a:noFill/>
                </a:ln>
                <a:solidFill>
                  <a:schemeClr val="tx1"/>
                </a:solidFill>
                <a:effectLst/>
                <a:uLnTx/>
                <a:uFillTx/>
                <a:latin typeface="+mj-lt"/>
                <a:ea typeface="+mj-ea"/>
                <a:cs typeface="+mj-cs"/>
              </a:rPr>
              <a:t>Thevenin</a:t>
            </a:r>
            <a:r>
              <a:rPr lang="en-US" dirty="0">
                <a:latin typeface="+mj-lt"/>
                <a:ea typeface="+mj-ea"/>
                <a:cs typeface="+mj-cs"/>
              </a:rPr>
              <a:t>/Norton derivation guidelines </a:t>
            </a:r>
            <a:r>
              <a:rPr kumimoji="0" lang="en-US" i="0" strike="noStrike" kern="1200" cap="none" spc="0" normalizeH="0" noProof="0" dirty="0">
                <a:ln>
                  <a:noFill/>
                </a:ln>
                <a:solidFill>
                  <a:schemeClr val="tx1"/>
                </a:solidFill>
                <a:effectLst/>
                <a:uLnTx/>
                <a:uFillTx/>
                <a:latin typeface="+mj-lt"/>
                <a:ea typeface="+mj-ea"/>
                <a:cs typeface="+mj-cs"/>
              </a:rPr>
              <a:t>presented earlier?</a:t>
            </a:r>
          </a:p>
          <a:p>
            <a:pPr marL="0" marR="0" lvl="0" indent="0" defTabSz="914400" rtl="0" eaLnBrk="1" fontAlgn="base" latinLnBrk="0" hangingPunct="1">
              <a:lnSpc>
                <a:spcPct val="100000"/>
              </a:lnSpc>
              <a:spcBef>
                <a:spcPct val="0"/>
              </a:spcBef>
              <a:spcAft>
                <a:spcPct val="0"/>
              </a:spcAft>
              <a:buClrTx/>
              <a:buSzTx/>
              <a:buFontTx/>
              <a:buNone/>
              <a:tabLst/>
              <a:defRPr/>
            </a:pPr>
            <a:endParaRPr lang="en-US" b="0" u="sng" baseline="0" dirty="0">
              <a:latin typeface="+mj-lt"/>
              <a:ea typeface="+mj-ea"/>
              <a:cs typeface="+mj-cs"/>
            </a:endParaRPr>
          </a:p>
          <a:p>
            <a:pPr marL="0" marR="0" lvl="0" indent="0" defTabSz="914400" rtl="0" eaLnBrk="1" fontAlgn="base" latinLnBrk="0" hangingPunct="1">
              <a:lnSpc>
                <a:spcPct val="100000"/>
              </a:lnSpc>
              <a:spcBef>
                <a:spcPct val="0"/>
              </a:spcBef>
              <a:spcAft>
                <a:spcPct val="0"/>
              </a:spcAft>
              <a:buClrTx/>
              <a:buSzTx/>
              <a:buFontTx/>
              <a:buNone/>
              <a:tabLst/>
              <a:defRPr/>
            </a:pPr>
            <a:r>
              <a:rPr lang="en-US" dirty="0">
                <a:latin typeface="+mj-lt"/>
                <a:ea typeface="+mj-ea"/>
                <a:cs typeface="+mj-cs"/>
              </a:rPr>
              <a:t>- Kill independent sources, apply a test current i</a:t>
            </a:r>
            <a:r>
              <a:rPr lang="en-US" baseline="-25000" dirty="0">
                <a:latin typeface="+mj-lt"/>
                <a:ea typeface="+mj-ea"/>
                <a:cs typeface="+mj-cs"/>
              </a:rPr>
              <a:t>t</a:t>
            </a:r>
            <a:r>
              <a:rPr lang="en-US" dirty="0">
                <a:latin typeface="+mj-lt"/>
                <a:ea typeface="+mj-ea"/>
                <a:cs typeface="+mj-cs"/>
              </a:rPr>
              <a:t>, and find R = </a:t>
            </a:r>
            <a:r>
              <a:rPr lang="en-US" dirty="0" err="1">
                <a:latin typeface="+mj-lt"/>
                <a:ea typeface="+mj-ea"/>
                <a:cs typeface="+mj-cs"/>
              </a:rPr>
              <a:t>v</a:t>
            </a:r>
            <a:r>
              <a:rPr lang="en-US" baseline="-25000" dirty="0" err="1">
                <a:latin typeface="+mj-lt"/>
                <a:ea typeface="+mj-ea"/>
                <a:cs typeface="+mj-cs"/>
              </a:rPr>
              <a:t>t</a:t>
            </a:r>
            <a:r>
              <a:rPr lang="en-US" dirty="0">
                <a:latin typeface="+mj-lt"/>
                <a:ea typeface="+mj-ea"/>
                <a:cs typeface="+mj-cs"/>
              </a:rPr>
              <a:t>/i</a:t>
            </a:r>
            <a:r>
              <a:rPr lang="en-US" baseline="-25000" dirty="0">
                <a:latin typeface="+mj-lt"/>
                <a:ea typeface="+mj-ea"/>
                <a:cs typeface="+mj-cs"/>
              </a:rPr>
              <a:t>t</a:t>
            </a:r>
            <a:endParaRPr kumimoji="0" lang="en-US" b="0" i="0" strike="noStrike" kern="1200" cap="none" spc="0" normalizeH="0" baseline="-25000" noProof="0" dirty="0">
              <a:ln>
                <a:noFill/>
              </a:ln>
              <a:solidFill>
                <a:schemeClr val="tx1"/>
              </a:solidFill>
              <a:effectLst/>
              <a:uLnTx/>
              <a:uFillTx/>
              <a:latin typeface="+mj-lt"/>
              <a:ea typeface="+mj-ea"/>
              <a:cs typeface="+mj-cs"/>
            </a:endParaRPr>
          </a:p>
          <a:p>
            <a:pPr marL="0" marR="0" lvl="0" indent="0" defTabSz="914400" rtl="0" eaLnBrk="1" fontAlgn="base" latinLnBrk="0" hangingPunct="1">
              <a:lnSpc>
                <a:spcPct val="100000"/>
              </a:lnSpc>
              <a:spcBef>
                <a:spcPct val="0"/>
              </a:spcBef>
              <a:spcAft>
                <a:spcPct val="0"/>
              </a:spcAft>
              <a:buClrTx/>
              <a:buSzTx/>
              <a:buFontTx/>
              <a:buNone/>
              <a:tabLst/>
              <a:defRPr/>
            </a:pPr>
            <a:endParaRPr kumimoji="0" lang="en-US" sz="800" b="0" i="0" u="sng" strike="noStrike" kern="1200" cap="none" spc="0" normalizeH="0" baseline="0" noProof="0" dirty="0">
              <a:ln>
                <a:noFill/>
              </a:ln>
              <a:solidFill>
                <a:schemeClr val="tx1"/>
              </a:solidFill>
              <a:effectLst/>
              <a:uLnTx/>
              <a:uFillTx/>
              <a:latin typeface="+mj-lt"/>
              <a:ea typeface="+mj-ea"/>
              <a:cs typeface="+mj-cs"/>
            </a:endParaRPr>
          </a:p>
          <a:p>
            <a:pPr lvl="0">
              <a:defRPr/>
            </a:pPr>
            <a:endParaRPr kumimoji="0" lang="en-US" b="0" i="0" strike="noStrike" kern="1200" cap="none" spc="0" normalizeH="0" baseline="0" noProof="0" dirty="0">
              <a:ln>
                <a:noFill/>
              </a:ln>
              <a:solidFill>
                <a:schemeClr val="tx1"/>
              </a:solidFill>
              <a:effectLst/>
              <a:uLnTx/>
              <a:uFillTx/>
              <a:latin typeface="+mj-lt"/>
              <a:ea typeface="+mj-ea"/>
              <a:cs typeface="+mj-cs"/>
            </a:endParaRPr>
          </a:p>
        </p:txBody>
      </p:sp>
      <p:sp>
        <p:nvSpPr>
          <p:cNvPr id="10" name="TextBox 9"/>
          <p:cNvSpPr txBox="1"/>
          <p:nvPr/>
        </p:nvSpPr>
        <p:spPr>
          <a:xfrm>
            <a:off x="3771900" y="3086100"/>
            <a:ext cx="685800" cy="307777"/>
          </a:xfrm>
          <a:prstGeom prst="rect">
            <a:avLst/>
          </a:prstGeom>
          <a:solidFill>
            <a:schemeClr val="bg1"/>
          </a:solidFill>
        </p:spPr>
        <p:txBody>
          <a:bodyPr wrap="square" rtlCol="0">
            <a:spAutoFit/>
          </a:bodyPr>
          <a:lstStyle/>
          <a:p>
            <a:r>
              <a:rPr lang="en-US" sz="1400" dirty="0">
                <a:latin typeface="Arial" pitchFamily="34" charset="0"/>
                <a:cs typeface="Arial" pitchFamily="34" charset="0"/>
              </a:rPr>
              <a:t>144 </a:t>
            </a:r>
            <a:r>
              <a:rPr lang="el-GR" sz="1400" dirty="0">
                <a:latin typeface="Arial" pitchFamily="34" charset="0"/>
                <a:cs typeface="Arial" pitchFamily="34" charset="0"/>
              </a:rPr>
              <a:t>Ω</a:t>
            </a:r>
            <a:endParaRPr lang="tr-TR" sz="1400" dirty="0">
              <a:latin typeface="Arial" pitchFamily="34" charset="0"/>
              <a:cs typeface="Arial" pitchFamily="34" charset="0"/>
            </a:endParaRPr>
          </a:p>
        </p:txBody>
      </p:sp>
      <p:pic>
        <p:nvPicPr>
          <p:cNvPr id="345091" name="Picture 3"/>
          <p:cNvPicPr>
            <a:picLocks noChangeAspect="1" noChangeArrowheads="1"/>
          </p:cNvPicPr>
          <p:nvPr/>
        </p:nvPicPr>
        <p:blipFill>
          <a:blip r:embed="rId3" cstate="print"/>
          <a:srcRect/>
          <a:stretch>
            <a:fillRect/>
          </a:stretch>
        </p:blipFill>
        <p:spPr bwMode="auto">
          <a:xfrm>
            <a:off x="190500" y="4212771"/>
            <a:ext cx="2933700" cy="2378529"/>
          </a:xfrm>
          <a:prstGeom prst="rect">
            <a:avLst/>
          </a:prstGeom>
          <a:noFill/>
          <a:ln w="9525">
            <a:noFill/>
            <a:miter lim="800000"/>
            <a:headEnd/>
            <a:tailEnd/>
          </a:ln>
          <a:effectLst/>
        </p:spPr>
      </p:pic>
      <p:sp>
        <p:nvSpPr>
          <p:cNvPr id="14" name="Right Arrow 13"/>
          <p:cNvSpPr/>
          <p:nvPr/>
        </p:nvSpPr>
        <p:spPr>
          <a:xfrm rot="10800000" flipH="1">
            <a:off x="3276600" y="5143500"/>
            <a:ext cx="4191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aphicFrame>
        <p:nvGraphicFramePr>
          <p:cNvPr id="15" name="Object 14"/>
          <p:cNvGraphicFramePr>
            <a:graphicFrameLocks noChangeAspect="1"/>
          </p:cNvGraphicFramePr>
          <p:nvPr/>
        </p:nvGraphicFramePr>
        <p:xfrm>
          <a:off x="4038600" y="4305300"/>
          <a:ext cx="4568825" cy="1771650"/>
        </p:xfrm>
        <a:graphic>
          <a:graphicData uri="http://schemas.openxmlformats.org/presentationml/2006/ole">
            <mc:AlternateContent xmlns:mc="http://schemas.openxmlformats.org/markup-compatibility/2006">
              <mc:Choice xmlns:v="urn:schemas-microsoft-com:vml" Requires="v">
                <p:oleObj name="Equation" r:id="rId4" imgW="2882880" imgH="1117440" progId="Equation.3">
                  <p:embed/>
                </p:oleObj>
              </mc:Choice>
              <mc:Fallback>
                <p:oleObj name="Equation" r:id="rId4" imgW="2882880" imgH="11174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38600" y="4305300"/>
                        <a:ext cx="4568825" cy="1771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41</a:t>
            </a:fld>
            <a:endParaRPr lang="en-US" dirty="0"/>
          </a:p>
        </p:txBody>
      </p:sp>
    </p:spTree>
    <p:extLst>
      <p:ext uri="{BB962C8B-B14F-4D97-AF65-F5344CB8AC3E}">
        <p14:creationId xmlns:p14="http://schemas.microsoft.com/office/powerpoint/2010/main" val="2357406949"/>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52400" y="76200"/>
            <a:ext cx="8229600" cy="563563"/>
          </a:xfrm>
        </p:spPr>
        <p:txBody>
          <a:bodyPr/>
          <a:lstStyle/>
          <a:p>
            <a:r>
              <a:rPr lang="en-US" sz="3200" dirty="0"/>
              <a:t>Theoretical Sources</a:t>
            </a:r>
          </a:p>
        </p:txBody>
      </p:sp>
      <p:sp>
        <p:nvSpPr>
          <p:cNvPr id="9"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1" name="Slide Number Placeholder 12"/>
          <p:cNvSpPr>
            <a:spLocks noGrp="1"/>
          </p:cNvSpPr>
          <p:nvPr>
            <p:ph type="sldNum" sz="quarter" idx="11"/>
          </p:nvPr>
        </p:nvSpPr>
        <p:spPr>
          <a:xfrm>
            <a:off x="6667500" y="6454776"/>
            <a:ext cx="2438400" cy="365125"/>
          </a:xfrm>
        </p:spPr>
        <p:txBody>
          <a:bodyPr/>
          <a:lstStyle/>
          <a:p>
            <a:pPr>
              <a:defRPr/>
            </a:pPr>
            <a:fld id="{A957CEED-90C7-4FD0-AB8C-14085BB9151E}" type="slidenum">
              <a:rPr lang="en-US" smtClean="0"/>
              <a:pPr>
                <a:defRPr/>
              </a:pPr>
              <a:t>42</a:t>
            </a:fld>
            <a:endParaRPr lang="en-US" dirty="0"/>
          </a:p>
        </p:txBody>
      </p:sp>
      <p:sp>
        <p:nvSpPr>
          <p:cNvPr id="5" name="Content Placeholder 13"/>
          <p:cNvSpPr>
            <a:spLocks noGrp="1"/>
          </p:cNvSpPr>
          <p:nvPr>
            <p:ph idx="1"/>
          </p:nvPr>
        </p:nvSpPr>
        <p:spPr>
          <a:xfrm>
            <a:off x="152400" y="685800"/>
            <a:ext cx="8801100" cy="5981699"/>
          </a:xfrm>
        </p:spPr>
        <p:txBody>
          <a:bodyPr/>
          <a:lstStyle/>
          <a:p>
            <a:pPr>
              <a:buNone/>
            </a:pPr>
            <a:r>
              <a:rPr lang="en-US" sz="2200" dirty="0"/>
              <a:t>An ideal voltage and current source can theoretically deliver infinite power:</a:t>
            </a:r>
          </a:p>
          <a:p>
            <a:pPr>
              <a:buNone/>
            </a:pPr>
            <a:endParaRPr lang="en-US" sz="2200" dirty="0"/>
          </a:p>
          <a:p>
            <a:pPr>
              <a:buNone/>
            </a:pPr>
            <a:endParaRPr lang="en-US" sz="2200" dirty="0"/>
          </a:p>
          <a:p>
            <a:pPr>
              <a:buNone/>
            </a:pPr>
            <a:endParaRPr lang="en-US" sz="2200" dirty="0"/>
          </a:p>
          <a:p>
            <a:pPr>
              <a:buNone/>
            </a:pPr>
            <a:endParaRPr lang="en-US" sz="2200" dirty="0"/>
          </a:p>
          <a:p>
            <a:pPr>
              <a:buNone/>
            </a:pPr>
            <a:endParaRPr lang="en-US" sz="2200" dirty="0"/>
          </a:p>
        </p:txBody>
      </p:sp>
      <p:pic>
        <p:nvPicPr>
          <p:cNvPr id="209922" name="Picture 2"/>
          <p:cNvPicPr>
            <a:picLocks noChangeAspect="1" noChangeArrowheads="1"/>
          </p:cNvPicPr>
          <p:nvPr/>
        </p:nvPicPr>
        <p:blipFill>
          <a:blip r:embed="rId2" cstate="print"/>
          <a:srcRect/>
          <a:stretch>
            <a:fillRect/>
          </a:stretch>
        </p:blipFill>
        <p:spPr bwMode="auto">
          <a:xfrm>
            <a:off x="723900" y="1371599"/>
            <a:ext cx="2731010" cy="2133601"/>
          </a:xfrm>
          <a:prstGeom prst="rect">
            <a:avLst/>
          </a:prstGeom>
          <a:noFill/>
          <a:ln w="9525">
            <a:noFill/>
            <a:miter lim="800000"/>
            <a:headEnd/>
            <a:tailEnd/>
          </a:ln>
          <a:effectLst/>
        </p:spPr>
      </p:pic>
      <p:pic>
        <p:nvPicPr>
          <p:cNvPr id="209923" name="Picture 3"/>
          <p:cNvPicPr>
            <a:picLocks noChangeAspect="1" noChangeArrowheads="1"/>
          </p:cNvPicPr>
          <p:nvPr/>
        </p:nvPicPr>
        <p:blipFill>
          <a:blip r:embed="rId3" cstate="print"/>
          <a:srcRect/>
          <a:stretch>
            <a:fillRect/>
          </a:stretch>
        </p:blipFill>
        <p:spPr bwMode="auto">
          <a:xfrm>
            <a:off x="647700" y="4068369"/>
            <a:ext cx="2816351" cy="2133600"/>
          </a:xfrm>
          <a:prstGeom prst="rect">
            <a:avLst/>
          </a:prstGeom>
          <a:noFill/>
          <a:ln w="9525">
            <a:noFill/>
            <a:miter lim="800000"/>
            <a:headEnd/>
            <a:tailEnd/>
          </a:ln>
          <a:effectLst/>
        </p:spPr>
      </p:pic>
      <p:graphicFrame>
        <p:nvGraphicFramePr>
          <p:cNvPr id="209924" name="Object 4"/>
          <p:cNvGraphicFramePr>
            <a:graphicFrameLocks noChangeAspect="1"/>
          </p:cNvGraphicFramePr>
          <p:nvPr/>
        </p:nvGraphicFramePr>
        <p:xfrm>
          <a:off x="4267200" y="1371600"/>
          <a:ext cx="1600200" cy="1084278"/>
        </p:xfrm>
        <a:graphic>
          <a:graphicData uri="http://schemas.openxmlformats.org/presentationml/2006/ole">
            <mc:AlternateContent xmlns:mc="http://schemas.openxmlformats.org/markup-compatibility/2006">
              <mc:Choice xmlns:v="urn:schemas-microsoft-com:vml" Requires="v">
                <p:oleObj name="Equation" r:id="rId4" imgW="469800" imgH="393480" progId="Equation.3">
                  <p:embed/>
                </p:oleObj>
              </mc:Choice>
              <mc:Fallback>
                <p:oleObj name="Equation" r:id="rId4" imgW="469800" imgH="393480" progId="Equation.3">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67200" y="1371600"/>
                        <a:ext cx="1600200" cy="108427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9925" name="Object 5"/>
          <p:cNvGraphicFramePr>
            <a:graphicFrameLocks noChangeAspect="1"/>
          </p:cNvGraphicFramePr>
          <p:nvPr/>
        </p:nvGraphicFramePr>
        <p:xfrm>
          <a:off x="3962400" y="2667000"/>
          <a:ext cx="3738562" cy="590550"/>
        </p:xfrm>
        <a:graphic>
          <a:graphicData uri="http://schemas.openxmlformats.org/presentationml/2006/ole">
            <mc:AlternateContent xmlns:mc="http://schemas.openxmlformats.org/markup-compatibility/2006">
              <mc:Choice xmlns:v="urn:schemas-microsoft-com:vml" Requires="v">
                <p:oleObj name="Equation" r:id="rId6" imgW="1041120" imgH="203040" progId="Equation.3">
                  <p:embed/>
                </p:oleObj>
              </mc:Choice>
              <mc:Fallback>
                <p:oleObj name="Equation" r:id="rId6" imgW="1041120" imgH="203040" progId="Equation.3">
                  <p:embed/>
                  <p:pic>
                    <p:nvPicPr>
                      <p:cNvPr id="0"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62400" y="2667000"/>
                        <a:ext cx="3738562" cy="590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9926" name="Object 6"/>
          <p:cNvGraphicFramePr>
            <a:graphicFrameLocks noChangeAspect="1"/>
          </p:cNvGraphicFramePr>
          <p:nvPr/>
        </p:nvGraphicFramePr>
        <p:xfrm>
          <a:off x="4283076" y="4258869"/>
          <a:ext cx="2291634" cy="685800"/>
        </p:xfrm>
        <a:graphic>
          <a:graphicData uri="http://schemas.openxmlformats.org/presentationml/2006/ole">
            <mc:AlternateContent xmlns:mc="http://schemas.openxmlformats.org/markup-compatibility/2006">
              <mc:Choice xmlns:v="urn:schemas-microsoft-com:vml" Requires="v">
                <p:oleObj name="Equation" r:id="rId8" imgW="583920" imgH="215640" progId="Equation.3">
                  <p:embed/>
                </p:oleObj>
              </mc:Choice>
              <mc:Fallback>
                <p:oleObj name="Equation" r:id="rId8" imgW="583920" imgH="215640" progId="Equation.3">
                  <p:embed/>
                  <p:pic>
                    <p:nvPicPr>
                      <p:cNvPr id="0" name="Picture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83076" y="4258869"/>
                        <a:ext cx="2291634"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9927" name="Object 7"/>
          <p:cNvGraphicFramePr>
            <a:graphicFrameLocks noChangeAspect="1"/>
          </p:cNvGraphicFramePr>
          <p:nvPr/>
        </p:nvGraphicFramePr>
        <p:xfrm>
          <a:off x="3962400" y="5257800"/>
          <a:ext cx="4033838" cy="614363"/>
        </p:xfrm>
        <a:graphic>
          <a:graphicData uri="http://schemas.openxmlformats.org/presentationml/2006/ole">
            <mc:AlternateContent xmlns:mc="http://schemas.openxmlformats.org/markup-compatibility/2006">
              <mc:Choice xmlns:v="urn:schemas-microsoft-com:vml" Requires="v">
                <p:oleObj name="Equation" r:id="rId10" imgW="1079280" imgH="203040" progId="Equation.3">
                  <p:embed/>
                </p:oleObj>
              </mc:Choice>
              <mc:Fallback>
                <p:oleObj name="Equation" r:id="rId10" imgW="1079280" imgH="203040" progId="Equation.3">
                  <p:embed/>
                  <p:pic>
                    <p:nvPicPr>
                      <p:cNvPr id="0" name="Picture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62400" y="5257800"/>
                        <a:ext cx="4033838" cy="614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52400" y="76200"/>
            <a:ext cx="8229600" cy="563563"/>
          </a:xfrm>
        </p:spPr>
        <p:txBody>
          <a:bodyPr/>
          <a:lstStyle/>
          <a:p>
            <a:r>
              <a:rPr lang="en-US" sz="3200" dirty="0"/>
              <a:t>Practical Sources</a:t>
            </a:r>
          </a:p>
        </p:txBody>
      </p:sp>
      <p:sp>
        <p:nvSpPr>
          <p:cNvPr id="9"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1" name="Slide Number Placeholder 12"/>
          <p:cNvSpPr>
            <a:spLocks noGrp="1"/>
          </p:cNvSpPr>
          <p:nvPr>
            <p:ph type="sldNum" sz="quarter" idx="11"/>
          </p:nvPr>
        </p:nvSpPr>
        <p:spPr>
          <a:xfrm>
            <a:off x="6667500" y="6454776"/>
            <a:ext cx="2438400" cy="365125"/>
          </a:xfrm>
        </p:spPr>
        <p:txBody>
          <a:bodyPr/>
          <a:lstStyle/>
          <a:p>
            <a:pPr>
              <a:defRPr/>
            </a:pPr>
            <a:fld id="{A957CEED-90C7-4FD0-AB8C-14085BB9151E}" type="slidenum">
              <a:rPr lang="en-US" smtClean="0"/>
              <a:pPr>
                <a:defRPr/>
              </a:pPr>
              <a:t>43</a:t>
            </a:fld>
            <a:endParaRPr lang="en-US" dirty="0"/>
          </a:p>
        </p:txBody>
      </p:sp>
      <p:sp>
        <p:nvSpPr>
          <p:cNvPr id="5" name="Content Placeholder 13"/>
          <p:cNvSpPr>
            <a:spLocks noGrp="1"/>
          </p:cNvSpPr>
          <p:nvPr>
            <p:ph idx="1"/>
          </p:nvPr>
        </p:nvSpPr>
        <p:spPr>
          <a:xfrm>
            <a:off x="152400" y="685800"/>
            <a:ext cx="8801100" cy="5981699"/>
          </a:xfrm>
        </p:spPr>
        <p:txBody>
          <a:bodyPr/>
          <a:lstStyle/>
          <a:p>
            <a:pPr>
              <a:buNone/>
            </a:pPr>
            <a:r>
              <a:rPr lang="en-US" sz="2200" dirty="0"/>
              <a:t>In reality there are always resistive drops associated with practical voltage and current sources, which can be modeled using </a:t>
            </a:r>
            <a:r>
              <a:rPr lang="en-US" sz="2200" dirty="0" err="1"/>
              <a:t>Thevenin</a:t>
            </a:r>
            <a:r>
              <a:rPr lang="en-US" sz="2200" dirty="0"/>
              <a:t> &amp; Norton equivalent circuits respectively.</a:t>
            </a:r>
          </a:p>
        </p:txBody>
      </p:sp>
      <p:pic>
        <p:nvPicPr>
          <p:cNvPr id="209928" name="Picture 8"/>
          <p:cNvPicPr>
            <a:picLocks noChangeAspect="1" noChangeArrowheads="1"/>
          </p:cNvPicPr>
          <p:nvPr/>
        </p:nvPicPr>
        <p:blipFill>
          <a:blip r:embed="rId2" cstate="print"/>
          <a:srcRect/>
          <a:stretch>
            <a:fillRect/>
          </a:stretch>
        </p:blipFill>
        <p:spPr bwMode="auto">
          <a:xfrm>
            <a:off x="266700" y="1981200"/>
            <a:ext cx="3009900" cy="1998063"/>
          </a:xfrm>
          <a:prstGeom prst="rect">
            <a:avLst/>
          </a:prstGeom>
          <a:noFill/>
          <a:ln w="9525">
            <a:noFill/>
            <a:miter lim="800000"/>
            <a:headEnd/>
            <a:tailEnd/>
          </a:ln>
          <a:effectLst/>
        </p:spPr>
      </p:pic>
      <p:graphicFrame>
        <p:nvGraphicFramePr>
          <p:cNvPr id="209929" name="Object 9"/>
          <p:cNvGraphicFramePr>
            <a:graphicFrameLocks noChangeAspect="1"/>
          </p:cNvGraphicFramePr>
          <p:nvPr/>
        </p:nvGraphicFramePr>
        <p:xfrm>
          <a:off x="3352800" y="1871602"/>
          <a:ext cx="5134012" cy="1023997"/>
        </p:xfrm>
        <a:graphic>
          <a:graphicData uri="http://schemas.openxmlformats.org/presentationml/2006/ole">
            <mc:AlternateContent xmlns:mc="http://schemas.openxmlformats.org/markup-compatibility/2006">
              <mc:Choice xmlns:v="urn:schemas-microsoft-com:vml" Requires="v">
                <p:oleObj name="Equation" r:id="rId3" imgW="1803240" imgH="444240" progId="Equation.3">
                  <p:embed/>
                </p:oleObj>
              </mc:Choice>
              <mc:Fallback>
                <p:oleObj name="Equation" r:id="rId3" imgW="1803240" imgH="444240" progId="Equation.3">
                  <p:embed/>
                  <p:pic>
                    <p:nvPicPr>
                      <p:cNvPr id="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1871602"/>
                        <a:ext cx="5134012" cy="10239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9930" name="Object 10"/>
          <p:cNvGraphicFramePr>
            <a:graphicFrameLocks noChangeAspect="1"/>
          </p:cNvGraphicFramePr>
          <p:nvPr/>
        </p:nvGraphicFramePr>
        <p:xfrm>
          <a:off x="3771899" y="3238500"/>
          <a:ext cx="3352801" cy="542872"/>
        </p:xfrm>
        <a:graphic>
          <a:graphicData uri="http://schemas.openxmlformats.org/presentationml/2006/ole">
            <mc:AlternateContent xmlns:mc="http://schemas.openxmlformats.org/markup-compatibility/2006">
              <mc:Choice xmlns:v="urn:schemas-microsoft-com:vml" Requires="v">
                <p:oleObj name="Equation" r:id="rId5" imgW="1015920" imgH="203040" progId="Equation.3">
                  <p:embed/>
                </p:oleObj>
              </mc:Choice>
              <mc:Fallback>
                <p:oleObj name="Equation" r:id="rId5" imgW="1015920" imgH="203040" progId="Equation.3">
                  <p:embed/>
                  <p:pic>
                    <p:nvPicPr>
                      <p:cNvPr id="0"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71899" y="3238500"/>
                        <a:ext cx="3352801" cy="5428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10952" name="Picture 8"/>
          <p:cNvPicPr>
            <a:picLocks noChangeAspect="1" noChangeArrowheads="1"/>
          </p:cNvPicPr>
          <p:nvPr/>
        </p:nvPicPr>
        <p:blipFill>
          <a:blip r:embed="rId7" cstate="print"/>
          <a:srcRect/>
          <a:stretch>
            <a:fillRect/>
          </a:stretch>
        </p:blipFill>
        <p:spPr bwMode="auto">
          <a:xfrm>
            <a:off x="278050" y="4229100"/>
            <a:ext cx="2960450" cy="2095500"/>
          </a:xfrm>
          <a:prstGeom prst="rect">
            <a:avLst/>
          </a:prstGeom>
          <a:noFill/>
          <a:ln w="9525">
            <a:noFill/>
            <a:miter lim="800000"/>
            <a:headEnd/>
            <a:tailEnd/>
          </a:ln>
          <a:effectLst/>
        </p:spPr>
      </p:pic>
      <p:graphicFrame>
        <p:nvGraphicFramePr>
          <p:cNvPr id="210953" name="Object 9"/>
          <p:cNvGraphicFramePr>
            <a:graphicFrameLocks noChangeAspect="1"/>
          </p:cNvGraphicFramePr>
          <p:nvPr/>
        </p:nvGraphicFramePr>
        <p:xfrm>
          <a:off x="3848100" y="4338638"/>
          <a:ext cx="3541712" cy="1023937"/>
        </p:xfrm>
        <a:graphic>
          <a:graphicData uri="http://schemas.openxmlformats.org/presentationml/2006/ole">
            <mc:AlternateContent xmlns:mc="http://schemas.openxmlformats.org/markup-compatibility/2006">
              <mc:Choice xmlns:v="urn:schemas-microsoft-com:vml" Requires="v">
                <p:oleObj name="Equation" r:id="rId8" imgW="1244520" imgH="444240" progId="Equation.3">
                  <p:embed/>
                </p:oleObj>
              </mc:Choice>
              <mc:Fallback>
                <p:oleObj name="Equation" r:id="rId8" imgW="1244520" imgH="444240" progId="Equation.3">
                  <p:embed/>
                  <p:pic>
                    <p:nvPicPr>
                      <p:cNvPr id="0" name="Picture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48100" y="4338638"/>
                        <a:ext cx="3541712" cy="1023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0954" name="Object 10"/>
          <p:cNvGraphicFramePr>
            <a:graphicFrameLocks noChangeAspect="1"/>
          </p:cNvGraphicFramePr>
          <p:nvPr/>
        </p:nvGraphicFramePr>
        <p:xfrm>
          <a:off x="3730625" y="5705475"/>
          <a:ext cx="3436938" cy="542925"/>
        </p:xfrm>
        <a:graphic>
          <a:graphicData uri="http://schemas.openxmlformats.org/presentationml/2006/ole">
            <mc:AlternateContent xmlns:mc="http://schemas.openxmlformats.org/markup-compatibility/2006">
              <mc:Choice xmlns:v="urn:schemas-microsoft-com:vml" Requires="v">
                <p:oleObj name="Equation" r:id="rId10" imgW="1041120" imgH="203040" progId="Equation.3">
                  <p:embed/>
                </p:oleObj>
              </mc:Choice>
              <mc:Fallback>
                <p:oleObj name="Equation" r:id="rId10" imgW="1041120" imgH="203040" progId="Equation.3">
                  <p:embed/>
                  <p:pic>
                    <p:nvPicPr>
                      <p:cNvPr id="0" name="Picture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30625" y="5705475"/>
                        <a:ext cx="3436938" cy="542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76200"/>
            <a:ext cx="8229600" cy="563563"/>
          </a:xfrm>
        </p:spPr>
        <p:txBody>
          <a:bodyPr/>
          <a:lstStyle/>
          <a:p>
            <a:r>
              <a:rPr lang="en-US" sz="3200" dirty="0"/>
              <a:t>Example </a:t>
            </a:r>
            <a:r>
              <a:rPr lang="en-US" sz="2400" dirty="0"/>
              <a:t>(2.7.3 Johnson &amp; Johnson P:61)</a:t>
            </a:r>
            <a:endParaRPr lang="en-US" sz="3200" dirty="0"/>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18" name="TextBox 17"/>
          <p:cNvSpPr txBox="1"/>
          <p:nvPr/>
        </p:nvSpPr>
        <p:spPr>
          <a:xfrm>
            <a:off x="381000" y="647700"/>
            <a:ext cx="8382000" cy="1477328"/>
          </a:xfrm>
          <a:prstGeom prst="rect">
            <a:avLst/>
          </a:prstGeom>
          <a:noFill/>
        </p:spPr>
        <p:txBody>
          <a:bodyPr wrap="square" rtlCol="0">
            <a:spAutoFit/>
          </a:bodyPr>
          <a:lstStyle/>
          <a:p>
            <a:r>
              <a:rPr lang="en-US" dirty="0"/>
              <a:t>An automobile battery in a poor state of charge has an open-circuit voltage of +11.5 V dc and when loaded by the starter motor, which we model as a 0.8-</a:t>
            </a:r>
            <a:r>
              <a:rPr lang="el-GR" dirty="0"/>
              <a:t>Ω</a:t>
            </a:r>
            <a:r>
              <a:rPr lang="en-US" dirty="0"/>
              <a:t> resistor, supplies 10 V across the starter motor terminals. Determine the </a:t>
            </a:r>
            <a:r>
              <a:rPr lang="en-US" i="1" dirty="0"/>
              <a:t>power</a:t>
            </a:r>
            <a:r>
              <a:rPr lang="en-US" dirty="0"/>
              <a:t> </a:t>
            </a:r>
            <a:r>
              <a:rPr lang="en-US" i="1" dirty="0"/>
              <a:t>delivered to the load</a:t>
            </a:r>
            <a:r>
              <a:rPr lang="en-US" dirty="0"/>
              <a:t> and the </a:t>
            </a:r>
            <a:r>
              <a:rPr lang="en-US" i="1" dirty="0"/>
              <a:t>power being dissipated internally in the source </a:t>
            </a:r>
            <a:r>
              <a:rPr lang="en-US" dirty="0"/>
              <a:t>resistance under these conditions.</a:t>
            </a:r>
          </a:p>
        </p:txBody>
      </p:sp>
      <p:sp>
        <p:nvSpPr>
          <p:cNvPr id="6"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44</a:t>
            </a:fld>
            <a:endParaRPr lang="en-US" dirty="0"/>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76200"/>
            <a:ext cx="8229600" cy="563563"/>
          </a:xfrm>
        </p:spPr>
        <p:txBody>
          <a:bodyPr/>
          <a:lstStyle/>
          <a:p>
            <a:r>
              <a:rPr lang="en-US" sz="3200" dirty="0"/>
              <a:t>Example </a:t>
            </a:r>
            <a:r>
              <a:rPr lang="en-US" sz="2400" dirty="0"/>
              <a:t>(2.7.3 Johnson &amp; Johnson P:61)</a:t>
            </a:r>
            <a:endParaRPr lang="en-US" sz="3200" dirty="0"/>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10" name="TextBox 9"/>
          <p:cNvSpPr txBox="1"/>
          <p:nvPr/>
        </p:nvSpPr>
        <p:spPr>
          <a:xfrm>
            <a:off x="381000" y="647700"/>
            <a:ext cx="8382000" cy="1477328"/>
          </a:xfrm>
          <a:prstGeom prst="rect">
            <a:avLst/>
          </a:prstGeom>
          <a:noFill/>
        </p:spPr>
        <p:txBody>
          <a:bodyPr wrap="square" rtlCol="0">
            <a:spAutoFit/>
          </a:bodyPr>
          <a:lstStyle/>
          <a:p>
            <a:r>
              <a:rPr lang="en-US" dirty="0"/>
              <a:t>An automobile battery in a poor state of charge has an open-circuit voltage of +11.5 V dc and when loaded by the starter motor, which we model as a 0.8-</a:t>
            </a:r>
            <a:r>
              <a:rPr lang="el-GR" dirty="0"/>
              <a:t>Ω</a:t>
            </a:r>
            <a:r>
              <a:rPr lang="en-US" dirty="0"/>
              <a:t> resistor, supplies 10 V across the starter motor terminals. Determine the </a:t>
            </a:r>
            <a:r>
              <a:rPr lang="en-US" i="1" dirty="0"/>
              <a:t>power</a:t>
            </a:r>
            <a:r>
              <a:rPr lang="en-US" dirty="0"/>
              <a:t> </a:t>
            </a:r>
            <a:r>
              <a:rPr lang="en-US" i="1" dirty="0"/>
              <a:t>delivered to the load</a:t>
            </a:r>
            <a:r>
              <a:rPr lang="en-US" dirty="0"/>
              <a:t> and the </a:t>
            </a:r>
            <a:r>
              <a:rPr lang="en-US" i="1" dirty="0"/>
              <a:t>power being dissipated internally in the source </a:t>
            </a:r>
            <a:r>
              <a:rPr lang="en-US" dirty="0"/>
              <a:t>resistance under these conditions.</a:t>
            </a:r>
          </a:p>
        </p:txBody>
      </p:sp>
      <p:sp>
        <p:nvSpPr>
          <p:cNvPr id="11" name="Title 1"/>
          <p:cNvSpPr txBox="1">
            <a:spLocks/>
          </p:cNvSpPr>
          <p:nvPr/>
        </p:nvSpPr>
        <p:spPr bwMode="auto">
          <a:xfrm>
            <a:off x="381000" y="2284679"/>
            <a:ext cx="46482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n-US" b="0" i="0" u="sng" strike="noStrike" kern="1200" cap="none" spc="0" normalizeH="0" baseline="0" noProof="0" dirty="0">
                <a:ln>
                  <a:noFill/>
                </a:ln>
                <a:solidFill>
                  <a:schemeClr val="tx1"/>
                </a:solidFill>
                <a:effectLst/>
                <a:uLnTx/>
                <a:uFillTx/>
                <a:latin typeface="+mj-lt"/>
                <a:ea typeface="+mj-ea"/>
                <a:cs typeface="+mj-cs"/>
              </a:rPr>
              <a:t>Solution:</a:t>
            </a:r>
          </a:p>
        </p:txBody>
      </p:sp>
      <p:pic>
        <p:nvPicPr>
          <p:cNvPr id="12" name="Picture 2"/>
          <p:cNvPicPr>
            <a:picLocks noChangeAspect="1" noChangeArrowheads="1"/>
          </p:cNvPicPr>
          <p:nvPr/>
        </p:nvPicPr>
        <p:blipFill>
          <a:blip r:embed="rId3" cstate="print"/>
          <a:srcRect/>
          <a:stretch>
            <a:fillRect/>
          </a:stretch>
        </p:blipFill>
        <p:spPr bwMode="auto">
          <a:xfrm>
            <a:off x="3162300" y="2360879"/>
            <a:ext cx="2590800" cy="1536212"/>
          </a:xfrm>
          <a:prstGeom prst="rect">
            <a:avLst/>
          </a:prstGeom>
          <a:noFill/>
          <a:ln w="9525">
            <a:noFill/>
            <a:miter lim="800000"/>
            <a:headEnd/>
            <a:tailEnd/>
          </a:ln>
          <a:effectLst/>
        </p:spPr>
      </p:pic>
      <p:sp>
        <p:nvSpPr>
          <p:cNvPr id="13" name="TextBox 12"/>
          <p:cNvSpPr txBox="1"/>
          <p:nvPr/>
        </p:nvSpPr>
        <p:spPr>
          <a:xfrm>
            <a:off x="381000" y="2894279"/>
            <a:ext cx="2422458" cy="338554"/>
          </a:xfrm>
          <a:prstGeom prst="rect">
            <a:avLst/>
          </a:prstGeom>
          <a:noFill/>
        </p:spPr>
        <p:txBody>
          <a:bodyPr wrap="none" rtlCol="0">
            <a:spAutoFit/>
          </a:bodyPr>
          <a:lstStyle/>
          <a:p>
            <a:r>
              <a:rPr lang="en-US" sz="1600" dirty="0"/>
              <a:t>First draw out the circuit:</a:t>
            </a:r>
            <a:endParaRPr lang="tr-TR" sz="1600" dirty="0"/>
          </a:p>
        </p:txBody>
      </p:sp>
      <p:graphicFrame>
        <p:nvGraphicFramePr>
          <p:cNvPr id="325637" name="Object 5"/>
          <p:cNvGraphicFramePr>
            <a:graphicFrameLocks noChangeAspect="1"/>
          </p:cNvGraphicFramePr>
          <p:nvPr/>
        </p:nvGraphicFramePr>
        <p:xfrm>
          <a:off x="6064439" y="2818079"/>
          <a:ext cx="2812861" cy="734741"/>
        </p:xfrm>
        <a:graphic>
          <a:graphicData uri="http://schemas.openxmlformats.org/presentationml/2006/ole">
            <mc:AlternateContent xmlns:mc="http://schemas.openxmlformats.org/markup-compatibility/2006">
              <mc:Choice xmlns:v="urn:schemas-microsoft-com:vml" Requires="v">
                <p:oleObj name="Equation" r:id="rId4" imgW="1218960" imgH="393480" progId="Equation.3">
                  <p:embed/>
                </p:oleObj>
              </mc:Choice>
              <mc:Fallback>
                <p:oleObj name="Equation" r:id="rId4" imgW="1218960" imgH="393480" progId="Equation.3">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64439" y="2818079"/>
                        <a:ext cx="2812861" cy="7347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TextBox 14"/>
          <p:cNvSpPr txBox="1"/>
          <p:nvPr/>
        </p:nvSpPr>
        <p:spPr>
          <a:xfrm>
            <a:off x="419100" y="4113479"/>
            <a:ext cx="1742785" cy="369332"/>
          </a:xfrm>
          <a:prstGeom prst="rect">
            <a:avLst/>
          </a:prstGeom>
          <a:noFill/>
        </p:spPr>
        <p:txBody>
          <a:bodyPr wrap="none" rtlCol="0">
            <a:spAutoFit/>
          </a:bodyPr>
          <a:lstStyle/>
          <a:p>
            <a:r>
              <a:rPr lang="en-US" dirty="0">
                <a:latin typeface="+mn-lt"/>
              </a:rPr>
              <a:t>Voltage Division:</a:t>
            </a:r>
          </a:p>
        </p:txBody>
      </p:sp>
      <p:graphicFrame>
        <p:nvGraphicFramePr>
          <p:cNvPr id="325638" name="Object 6"/>
          <p:cNvGraphicFramePr>
            <a:graphicFrameLocks noChangeAspect="1"/>
          </p:cNvGraphicFramePr>
          <p:nvPr/>
        </p:nvGraphicFramePr>
        <p:xfrm>
          <a:off x="2228850" y="4326237"/>
          <a:ext cx="6466512" cy="739742"/>
        </p:xfrm>
        <a:graphic>
          <a:graphicData uri="http://schemas.openxmlformats.org/presentationml/2006/ole">
            <mc:AlternateContent xmlns:mc="http://schemas.openxmlformats.org/markup-compatibility/2006">
              <mc:Choice xmlns:v="urn:schemas-microsoft-com:vml" Requires="v">
                <p:oleObj name="Equation" r:id="rId6" imgW="2603160" imgH="368280" progId="Equation.3">
                  <p:embed/>
                </p:oleObj>
              </mc:Choice>
              <mc:Fallback>
                <p:oleObj name="Equation" r:id="rId6" imgW="2603160" imgH="368280" progId="Equation.3">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28850" y="4326237"/>
                        <a:ext cx="6466512" cy="7397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5639" name="Object 7"/>
          <p:cNvGraphicFramePr>
            <a:graphicFrameLocks noChangeAspect="1"/>
          </p:cNvGraphicFramePr>
          <p:nvPr/>
        </p:nvGraphicFramePr>
        <p:xfrm>
          <a:off x="2171699" y="5332679"/>
          <a:ext cx="4978637" cy="877621"/>
        </p:xfrm>
        <a:graphic>
          <a:graphicData uri="http://schemas.openxmlformats.org/presentationml/2006/ole">
            <mc:AlternateContent xmlns:mc="http://schemas.openxmlformats.org/markup-compatibility/2006">
              <mc:Choice xmlns:v="urn:schemas-microsoft-com:vml" Requires="v">
                <p:oleObj name="Equation" r:id="rId8" imgW="1866600" imgH="406080" progId="Equation.3">
                  <p:embed/>
                </p:oleObj>
              </mc:Choice>
              <mc:Fallback>
                <p:oleObj name="Equation" r:id="rId8" imgW="1866600" imgH="406080" progId="Equation.3">
                  <p:embed/>
                  <p:pic>
                    <p:nvPicPr>
                      <p:cNvPr id="0"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71699" y="5332679"/>
                        <a:ext cx="4978637" cy="8776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45</a:t>
            </a:fld>
            <a:endParaRPr lang="en-US" dirty="0"/>
          </a:p>
        </p:txBody>
      </p:sp>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76200"/>
            <a:ext cx="8229600" cy="563563"/>
          </a:xfrm>
        </p:spPr>
        <p:txBody>
          <a:bodyPr/>
          <a:lstStyle/>
          <a:p>
            <a:r>
              <a:rPr lang="en-US" sz="3200" dirty="0"/>
              <a:t>Example 2 </a:t>
            </a:r>
            <a:r>
              <a:rPr lang="en-US" sz="2400" dirty="0"/>
              <a:t>(2.7.2 Johnson &amp; Johnson P:61)</a:t>
            </a:r>
            <a:endParaRPr lang="en-US" sz="3200" dirty="0"/>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18" name="TextBox 17"/>
          <p:cNvSpPr txBox="1"/>
          <p:nvPr/>
        </p:nvSpPr>
        <p:spPr>
          <a:xfrm>
            <a:off x="381000" y="647700"/>
            <a:ext cx="8382000" cy="1200329"/>
          </a:xfrm>
          <a:prstGeom prst="rect">
            <a:avLst/>
          </a:prstGeom>
          <a:noFill/>
        </p:spPr>
        <p:txBody>
          <a:bodyPr wrap="square" rtlCol="0">
            <a:spAutoFit/>
          </a:bodyPr>
          <a:lstStyle/>
          <a:p>
            <a:r>
              <a:rPr lang="en-US" dirty="0"/>
              <a:t>A 500-mA fuse is located in the wire connecting a power supply to its load. If the power supply has an open-circuit voltage of +100 V dc and a source resistance of 30 </a:t>
            </a:r>
            <a:r>
              <a:rPr lang="el-GR" dirty="0"/>
              <a:t>Ω</a:t>
            </a:r>
            <a:r>
              <a:rPr lang="en-US" dirty="0"/>
              <a:t>, what is the range of acceptable load resistances that will not cause the fuse to blow?</a:t>
            </a:r>
          </a:p>
        </p:txBody>
      </p:sp>
      <p:sp>
        <p:nvSpPr>
          <p:cNvPr id="6"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46</a:t>
            </a:fld>
            <a:endParaRPr lang="en-US" dirty="0"/>
          </a:p>
        </p:txBody>
      </p:sp>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76200"/>
            <a:ext cx="8229600" cy="563563"/>
          </a:xfrm>
        </p:spPr>
        <p:txBody>
          <a:bodyPr/>
          <a:lstStyle/>
          <a:p>
            <a:r>
              <a:rPr lang="en-US" sz="3200" dirty="0"/>
              <a:t>Example 2 </a:t>
            </a:r>
            <a:r>
              <a:rPr lang="en-US" sz="2400" dirty="0"/>
              <a:t>(2.7.2 Johnson &amp; Johnson P:61)</a:t>
            </a:r>
            <a:endParaRPr lang="en-US" sz="3200" dirty="0"/>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18" name="TextBox 17"/>
          <p:cNvSpPr txBox="1"/>
          <p:nvPr/>
        </p:nvSpPr>
        <p:spPr>
          <a:xfrm>
            <a:off x="381000" y="647700"/>
            <a:ext cx="8382000" cy="1200329"/>
          </a:xfrm>
          <a:prstGeom prst="rect">
            <a:avLst/>
          </a:prstGeom>
          <a:noFill/>
        </p:spPr>
        <p:txBody>
          <a:bodyPr wrap="square" rtlCol="0">
            <a:spAutoFit/>
          </a:bodyPr>
          <a:lstStyle/>
          <a:p>
            <a:r>
              <a:rPr lang="en-US" dirty="0"/>
              <a:t>A 500-mA fuse is located in the wire connecting a power supply to its load. If the power supply has an open-circuit voltage of +100 V dc and a source resistance of 30 </a:t>
            </a:r>
            <a:r>
              <a:rPr lang="el-GR" dirty="0"/>
              <a:t>Ω</a:t>
            </a:r>
            <a:r>
              <a:rPr lang="en-US" dirty="0"/>
              <a:t>, what is the range of acceptable load resistances that will not cause the fuse to blow?</a:t>
            </a:r>
          </a:p>
        </p:txBody>
      </p:sp>
      <p:sp>
        <p:nvSpPr>
          <p:cNvPr id="6" name="Title 1"/>
          <p:cNvSpPr txBox="1">
            <a:spLocks/>
          </p:cNvSpPr>
          <p:nvPr/>
        </p:nvSpPr>
        <p:spPr bwMode="auto">
          <a:xfrm>
            <a:off x="381000" y="2284679"/>
            <a:ext cx="46482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n-US" b="0" i="0" u="sng" strike="noStrike" kern="1200" cap="none" spc="0" normalizeH="0" baseline="0" noProof="0" dirty="0">
                <a:ln>
                  <a:noFill/>
                </a:ln>
                <a:solidFill>
                  <a:schemeClr val="tx1"/>
                </a:solidFill>
                <a:effectLst/>
                <a:uLnTx/>
                <a:uFillTx/>
                <a:latin typeface="+mj-lt"/>
                <a:ea typeface="+mj-ea"/>
                <a:cs typeface="+mj-cs"/>
              </a:rPr>
              <a:t>Solution:</a:t>
            </a:r>
          </a:p>
        </p:txBody>
      </p:sp>
      <p:sp>
        <p:nvSpPr>
          <p:cNvPr id="8" name="TextBox 7"/>
          <p:cNvSpPr txBox="1"/>
          <p:nvPr/>
        </p:nvSpPr>
        <p:spPr>
          <a:xfrm>
            <a:off x="381000" y="2894279"/>
            <a:ext cx="2422458" cy="338554"/>
          </a:xfrm>
          <a:prstGeom prst="rect">
            <a:avLst/>
          </a:prstGeom>
          <a:noFill/>
        </p:spPr>
        <p:txBody>
          <a:bodyPr wrap="none" rtlCol="0">
            <a:spAutoFit/>
          </a:bodyPr>
          <a:lstStyle/>
          <a:p>
            <a:r>
              <a:rPr lang="en-US" sz="1600" dirty="0"/>
              <a:t>First draw out the circuit:</a:t>
            </a:r>
            <a:endParaRPr lang="tr-TR" sz="1600" dirty="0"/>
          </a:p>
        </p:txBody>
      </p:sp>
      <p:pic>
        <p:nvPicPr>
          <p:cNvPr id="13" name="Picture 5"/>
          <p:cNvPicPr>
            <a:picLocks noChangeAspect="1" noChangeArrowheads="1"/>
          </p:cNvPicPr>
          <p:nvPr/>
        </p:nvPicPr>
        <p:blipFill>
          <a:blip r:embed="rId3" cstate="print"/>
          <a:srcRect/>
          <a:stretch>
            <a:fillRect/>
          </a:stretch>
        </p:blipFill>
        <p:spPr bwMode="auto">
          <a:xfrm>
            <a:off x="2971800" y="2628900"/>
            <a:ext cx="2895176" cy="1333500"/>
          </a:xfrm>
          <a:prstGeom prst="rect">
            <a:avLst/>
          </a:prstGeom>
          <a:noFill/>
          <a:ln w="9525">
            <a:noFill/>
            <a:miter lim="800000"/>
            <a:headEnd/>
            <a:tailEnd/>
          </a:ln>
          <a:effectLst/>
        </p:spPr>
      </p:pic>
      <p:graphicFrame>
        <p:nvGraphicFramePr>
          <p:cNvPr id="327685" name="Object 5"/>
          <p:cNvGraphicFramePr>
            <a:graphicFrameLocks noChangeAspect="1"/>
          </p:cNvGraphicFramePr>
          <p:nvPr/>
        </p:nvGraphicFramePr>
        <p:xfrm>
          <a:off x="2154238" y="4419600"/>
          <a:ext cx="4959350" cy="1638300"/>
        </p:xfrm>
        <a:graphic>
          <a:graphicData uri="http://schemas.openxmlformats.org/presentationml/2006/ole">
            <mc:AlternateContent xmlns:mc="http://schemas.openxmlformats.org/markup-compatibility/2006">
              <mc:Choice xmlns:v="urn:schemas-microsoft-com:vml" Requires="v">
                <p:oleObj name="Equation" r:id="rId4" imgW="2768400" imgH="1117440" progId="Equation.3">
                  <p:embed/>
                </p:oleObj>
              </mc:Choice>
              <mc:Fallback>
                <p:oleObj name="Equation" r:id="rId4" imgW="2768400" imgH="1117440" progId="Equation.3">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54238" y="4419600"/>
                        <a:ext cx="4959350" cy="1638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47</a:t>
            </a:fld>
            <a:endParaRPr lang="en-US" dirty="0"/>
          </a:p>
        </p:txBody>
      </p:sp>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419100" y="5410200"/>
            <a:ext cx="8343900" cy="1143000"/>
          </a:xfrm>
          <a:prstGeom prst="roundRect">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6" name="Title 1"/>
          <p:cNvSpPr>
            <a:spLocks noGrp="1"/>
          </p:cNvSpPr>
          <p:nvPr>
            <p:ph type="title"/>
          </p:nvPr>
        </p:nvSpPr>
        <p:spPr>
          <a:xfrm>
            <a:off x="457200" y="122237"/>
            <a:ext cx="8229600" cy="563563"/>
          </a:xfrm>
        </p:spPr>
        <p:txBody>
          <a:bodyPr/>
          <a:lstStyle/>
          <a:p>
            <a:r>
              <a:rPr lang="en-US" sz="3200" dirty="0"/>
              <a:t>Superposition</a:t>
            </a:r>
          </a:p>
        </p:txBody>
      </p:sp>
      <p:sp>
        <p:nvSpPr>
          <p:cNvPr id="6147" name="Content Placeholder 2"/>
          <p:cNvSpPr>
            <a:spLocks noGrp="1"/>
          </p:cNvSpPr>
          <p:nvPr>
            <p:ph idx="1"/>
          </p:nvPr>
        </p:nvSpPr>
        <p:spPr>
          <a:xfrm>
            <a:off x="533400" y="838201"/>
            <a:ext cx="8229600" cy="5753099"/>
          </a:xfrm>
        </p:spPr>
        <p:txBody>
          <a:bodyPr/>
          <a:lstStyle/>
          <a:p>
            <a:pPr>
              <a:buNone/>
            </a:pPr>
            <a:r>
              <a:rPr lang="en-US" sz="2400" dirty="0"/>
              <a:t>Given a circuit with variables x</a:t>
            </a:r>
            <a:r>
              <a:rPr lang="en-US" sz="2400" baseline="-25000" dirty="0"/>
              <a:t>i</a:t>
            </a:r>
            <a:r>
              <a:rPr lang="en-US" sz="2400" dirty="0"/>
              <a:t>’s (currents and voltages), linear scaling parameters </a:t>
            </a:r>
            <a:r>
              <a:rPr lang="en-US" sz="2400" dirty="0" err="1"/>
              <a:t>a</a:t>
            </a:r>
            <a:r>
              <a:rPr lang="en-US" sz="2400" baseline="-25000" dirty="0" err="1"/>
              <a:t>i</a:t>
            </a:r>
            <a:r>
              <a:rPr lang="en-US" sz="2400" dirty="0" err="1"/>
              <a:t>’s</a:t>
            </a:r>
            <a:r>
              <a:rPr lang="en-US" sz="2400" dirty="0"/>
              <a:t>, and the net source value </a:t>
            </a:r>
            <a:r>
              <a:rPr lang="en-US" sz="2400" dirty="0" err="1"/>
              <a:t>y</a:t>
            </a:r>
            <a:r>
              <a:rPr lang="en-US" sz="2400" baseline="-25000" dirty="0" err="1"/>
              <a:t>a</a:t>
            </a:r>
            <a:r>
              <a:rPr lang="en-US" sz="2400" dirty="0"/>
              <a:t>, KCL or KVL will result in an equation of type :</a:t>
            </a:r>
          </a:p>
          <a:p>
            <a:pPr>
              <a:buNone/>
            </a:pPr>
            <a:endParaRPr lang="en-US" sz="2400" dirty="0"/>
          </a:p>
          <a:p>
            <a:pPr>
              <a:buNone/>
            </a:pPr>
            <a:r>
              <a:rPr lang="en-US" sz="2400" dirty="0"/>
              <a:t>Similarly, if another source </a:t>
            </a:r>
            <a:r>
              <a:rPr lang="en-US" sz="2400" dirty="0" err="1"/>
              <a:t>y</a:t>
            </a:r>
            <a:r>
              <a:rPr lang="en-US" sz="2400" baseline="-25000" dirty="0" err="1"/>
              <a:t>b</a:t>
            </a:r>
            <a:r>
              <a:rPr lang="en-US" sz="2400" dirty="0"/>
              <a:t> is applied to the circuit:</a:t>
            </a:r>
          </a:p>
          <a:p>
            <a:pPr lvl="1"/>
            <a:endParaRPr lang="en-US" sz="2000" dirty="0"/>
          </a:p>
          <a:p>
            <a:pPr>
              <a:buNone/>
            </a:pPr>
            <a:r>
              <a:rPr lang="en-US" sz="2400" dirty="0"/>
              <a:t>Note </a:t>
            </a:r>
            <a:r>
              <a:rPr lang="en-US" sz="2400" dirty="0" err="1"/>
              <a:t>a</a:t>
            </a:r>
            <a:r>
              <a:rPr lang="en-US" sz="2400" baseline="-25000" dirty="0" err="1"/>
              <a:t>i</a:t>
            </a:r>
            <a:r>
              <a:rPr lang="en-US" sz="2400" dirty="0" err="1"/>
              <a:t>’s</a:t>
            </a:r>
            <a:r>
              <a:rPr lang="en-US" sz="2400" dirty="0"/>
              <a:t> are unchanged because the linear elements and the connection among them are unchanged.</a:t>
            </a:r>
          </a:p>
          <a:p>
            <a:pPr>
              <a:buNone/>
            </a:pPr>
            <a:r>
              <a:rPr lang="en-US" sz="2400" dirty="0"/>
              <a:t>If the two sources are applied together, then the response to the new circuit is the summation of the individual responses:</a:t>
            </a:r>
          </a:p>
          <a:p>
            <a:pPr>
              <a:buNone/>
            </a:pPr>
            <a:endParaRPr lang="en-US" sz="2800" dirty="0"/>
          </a:p>
          <a:p>
            <a:pPr>
              <a:buNone/>
            </a:pPr>
            <a:r>
              <a:rPr lang="en-US" sz="2400" dirty="0"/>
              <a:t>Principle of superposition: The overall response of a circuit containing several sources is the sum of the responses to each individual source with the other sources killed.</a:t>
            </a:r>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48</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graphicFrame>
        <p:nvGraphicFramePr>
          <p:cNvPr id="89091" name="Object 3"/>
          <p:cNvGraphicFramePr>
            <a:graphicFrameLocks noChangeAspect="1"/>
          </p:cNvGraphicFramePr>
          <p:nvPr/>
        </p:nvGraphicFramePr>
        <p:xfrm>
          <a:off x="3124200" y="1828800"/>
          <a:ext cx="3665537" cy="561975"/>
        </p:xfrm>
        <a:graphic>
          <a:graphicData uri="http://schemas.openxmlformats.org/presentationml/2006/ole">
            <mc:AlternateContent xmlns:mc="http://schemas.openxmlformats.org/markup-compatibility/2006">
              <mc:Choice xmlns:v="urn:schemas-microsoft-com:vml" Requires="v">
                <p:oleObj name="Equation" r:id="rId2" imgW="1409400" imgH="215640" progId="Equation.3">
                  <p:embed/>
                </p:oleObj>
              </mc:Choice>
              <mc:Fallback>
                <p:oleObj name="Equation" r:id="rId2" imgW="1409400" imgH="2156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0" y="1828800"/>
                        <a:ext cx="3665537" cy="561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2344" name="Object 8"/>
          <p:cNvGraphicFramePr>
            <a:graphicFrameLocks noChangeAspect="1"/>
          </p:cNvGraphicFramePr>
          <p:nvPr/>
        </p:nvGraphicFramePr>
        <p:xfrm>
          <a:off x="3140075" y="2781300"/>
          <a:ext cx="3632200" cy="561975"/>
        </p:xfrm>
        <a:graphic>
          <a:graphicData uri="http://schemas.openxmlformats.org/presentationml/2006/ole">
            <mc:AlternateContent xmlns:mc="http://schemas.openxmlformats.org/markup-compatibility/2006">
              <mc:Choice xmlns:v="urn:schemas-microsoft-com:vml" Requires="v">
                <p:oleObj name="Equation" r:id="rId4" imgW="1396800" imgH="215640" progId="Equation.3">
                  <p:embed/>
                </p:oleObj>
              </mc:Choice>
              <mc:Fallback>
                <p:oleObj name="Equation" r:id="rId4" imgW="1396800" imgH="2156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40075" y="2781300"/>
                        <a:ext cx="3632200" cy="561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2345" name="Object 9"/>
          <p:cNvGraphicFramePr>
            <a:graphicFrameLocks noChangeAspect="1"/>
          </p:cNvGraphicFramePr>
          <p:nvPr/>
        </p:nvGraphicFramePr>
        <p:xfrm>
          <a:off x="1371600" y="4810125"/>
          <a:ext cx="6670675" cy="561975"/>
        </p:xfrm>
        <a:graphic>
          <a:graphicData uri="http://schemas.openxmlformats.org/presentationml/2006/ole">
            <mc:AlternateContent xmlns:mc="http://schemas.openxmlformats.org/markup-compatibility/2006">
              <mc:Choice xmlns:v="urn:schemas-microsoft-com:vml" Requires="v">
                <p:oleObj name="Equation" r:id="rId6" imgW="2565360" imgH="215640" progId="Equation.3">
                  <p:embed/>
                </p:oleObj>
              </mc:Choice>
              <mc:Fallback>
                <p:oleObj name="Equation" r:id="rId6" imgW="2565360" imgH="2156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71600" y="4810125"/>
                        <a:ext cx="6670675" cy="561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861333814"/>
      </p:ext>
    </p:ext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14300" y="122237"/>
            <a:ext cx="7886700" cy="563563"/>
          </a:xfrm>
        </p:spPr>
        <p:txBody>
          <a:bodyPr/>
          <a:lstStyle/>
          <a:p>
            <a:r>
              <a:rPr lang="en-US" sz="3200" dirty="0"/>
              <a:t>Example : </a:t>
            </a:r>
            <a:r>
              <a:rPr lang="en-US" sz="2800" dirty="0"/>
              <a:t>Based on 4.3 (Johnson &amp; Johnson P:123)</a:t>
            </a:r>
            <a:endParaRPr lang="en-US" sz="3200" dirty="0"/>
          </a:p>
        </p:txBody>
      </p:sp>
      <p:sp>
        <p:nvSpPr>
          <p:cNvPr id="6147" name="Content Placeholder 2"/>
          <p:cNvSpPr>
            <a:spLocks noGrp="1"/>
          </p:cNvSpPr>
          <p:nvPr>
            <p:ph idx="1"/>
          </p:nvPr>
        </p:nvSpPr>
        <p:spPr>
          <a:xfrm>
            <a:off x="533400" y="723901"/>
            <a:ext cx="8229600" cy="5867400"/>
          </a:xfrm>
        </p:spPr>
        <p:txBody>
          <a:bodyPr/>
          <a:lstStyle/>
          <a:p>
            <a:pPr>
              <a:buNone/>
            </a:pPr>
            <a:r>
              <a:rPr lang="en-US" sz="2400" dirty="0"/>
              <a:t>Solve for the circuit variables i</a:t>
            </a:r>
            <a:r>
              <a:rPr lang="en-US" sz="2400" baseline="-25000" dirty="0"/>
              <a:t>1</a:t>
            </a:r>
            <a:r>
              <a:rPr lang="en-US" sz="2400" dirty="0"/>
              <a:t> and i</a:t>
            </a:r>
            <a:r>
              <a:rPr lang="en-US" sz="2400" baseline="-25000" dirty="0"/>
              <a:t>2</a:t>
            </a:r>
            <a:r>
              <a:rPr lang="en-US" sz="2400" dirty="0"/>
              <a:t> by applying the principle of superposition to the two sources.</a:t>
            </a:r>
          </a:p>
          <a:p>
            <a:pPr>
              <a:buNone/>
            </a:pPr>
            <a:endParaRPr lang="en-US" sz="24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49</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11" name="Picture 5"/>
          <p:cNvPicPr>
            <a:picLocks noChangeAspect="1" noChangeArrowheads="1"/>
          </p:cNvPicPr>
          <p:nvPr/>
        </p:nvPicPr>
        <p:blipFill>
          <a:blip r:embed="rId2" cstate="print"/>
          <a:srcRect/>
          <a:stretch>
            <a:fillRect/>
          </a:stretch>
        </p:blipFill>
        <p:spPr bwMode="auto">
          <a:xfrm>
            <a:off x="76201" y="1447800"/>
            <a:ext cx="3924300" cy="1905355"/>
          </a:xfrm>
          <a:prstGeom prst="rect">
            <a:avLst/>
          </a:prstGeom>
          <a:noFill/>
          <a:ln w="9525">
            <a:noFill/>
            <a:miter lim="800000"/>
            <a:headEnd/>
            <a:tailEnd/>
          </a:ln>
          <a:effectLst/>
        </p:spPr>
      </p:pic>
    </p:spTree>
    <p:extLst>
      <p:ext uri="{BB962C8B-B14F-4D97-AF65-F5344CB8AC3E}">
        <p14:creationId xmlns:p14="http://schemas.microsoft.com/office/powerpoint/2010/main" val="2865758437"/>
      </p:ext>
    </p:ext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Content Placeholder 2"/>
          <p:cNvSpPr>
            <a:spLocks noGrp="1"/>
          </p:cNvSpPr>
          <p:nvPr>
            <p:ph idx="1"/>
          </p:nvPr>
        </p:nvSpPr>
        <p:spPr>
          <a:xfrm>
            <a:off x="533400" y="723901"/>
            <a:ext cx="8229600" cy="5867400"/>
          </a:xfrm>
        </p:spPr>
        <p:txBody>
          <a:bodyPr/>
          <a:lstStyle/>
          <a:p>
            <a:pPr>
              <a:buNone/>
            </a:pPr>
            <a:r>
              <a:rPr lang="en-US" sz="2400" dirty="0"/>
              <a:t>Solve for the circuit variables i</a:t>
            </a:r>
            <a:r>
              <a:rPr lang="en-US" sz="2400" baseline="-25000" dirty="0"/>
              <a:t>1</a:t>
            </a:r>
            <a:r>
              <a:rPr lang="en-US" sz="2400" dirty="0"/>
              <a:t> and i</a:t>
            </a:r>
            <a:r>
              <a:rPr lang="en-US" sz="2400" baseline="-25000" dirty="0"/>
              <a:t>2</a:t>
            </a:r>
            <a:r>
              <a:rPr lang="en-US" sz="2400" dirty="0"/>
              <a:t> by applying the principle of superposition to the two sources.</a:t>
            </a:r>
          </a:p>
          <a:p>
            <a:pPr>
              <a:buNone/>
            </a:pPr>
            <a:endParaRPr lang="en-US" sz="24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50</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143365" name="Picture 5"/>
          <p:cNvPicPr>
            <a:picLocks noChangeAspect="1" noChangeArrowheads="1"/>
          </p:cNvPicPr>
          <p:nvPr/>
        </p:nvPicPr>
        <p:blipFill>
          <a:blip r:embed="rId2" cstate="print"/>
          <a:srcRect/>
          <a:stretch>
            <a:fillRect/>
          </a:stretch>
        </p:blipFill>
        <p:spPr bwMode="auto">
          <a:xfrm>
            <a:off x="76201" y="1447800"/>
            <a:ext cx="3924300" cy="1905355"/>
          </a:xfrm>
          <a:prstGeom prst="rect">
            <a:avLst/>
          </a:prstGeom>
          <a:noFill/>
          <a:ln w="9525">
            <a:noFill/>
            <a:miter lim="800000"/>
            <a:headEnd/>
            <a:tailEnd/>
          </a:ln>
          <a:effectLst/>
        </p:spPr>
      </p:pic>
      <p:sp>
        <p:nvSpPr>
          <p:cNvPr id="7" name="TextBox 6"/>
          <p:cNvSpPr txBox="1"/>
          <p:nvPr/>
        </p:nvSpPr>
        <p:spPr>
          <a:xfrm>
            <a:off x="3810000" y="1600200"/>
            <a:ext cx="5327099" cy="369332"/>
          </a:xfrm>
          <a:prstGeom prst="rect">
            <a:avLst/>
          </a:prstGeom>
          <a:noFill/>
        </p:spPr>
        <p:txBody>
          <a:bodyPr wrap="none" rtlCol="0">
            <a:spAutoFit/>
          </a:bodyPr>
          <a:lstStyle/>
          <a:p>
            <a:r>
              <a:rPr lang="en-US" dirty="0"/>
              <a:t>1. </a:t>
            </a:r>
            <a:r>
              <a:rPr lang="en-US" u="sng" dirty="0"/>
              <a:t>Kill the current source to solve for component a:</a:t>
            </a:r>
          </a:p>
        </p:txBody>
      </p:sp>
      <p:graphicFrame>
        <p:nvGraphicFramePr>
          <p:cNvPr id="144387" name="Object 3"/>
          <p:cNvGraphicFramePr>
            <a:graphicFrameLocks noChangeAspect="1"/>
          </p:cNvGraphicFramePr>
          <p:nvPr/>
        </p:nvGraphicFramePr>
        <p:xfrm>
          <a:off x="6858000" y="2019300"/>
          <a:ext cx="2171700" cy="716121"/>
        </p:xfrm>
        <a:graphic>
          <a:graphicData uri="http://schemas.openxmlformats.org/presentationml/2006/ole">
            <mc:AlternateContent xmlns:mc="http://schemas.openxmlformats.org/markup-compatibility/2006">
              <mc:Choice xmlns:v="urn:schemas-microsoft-com:vml" Requires="v">
                <p:oleObj name="Equation" r:id="rId3" imgW="1079280" imgH="355320" progId="Equation.3">
                  <p:embed/>
                </p:oleObj>
              </mc:Choice>
              <mc:Fallback>
                <p:oleObj name="Equation" r:id="rId3" imgW="1079280" imgH="35532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0" y="2019300"/>
                        <a:ext cx="2171700" cy="7161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4388" name="Object 4"/>
          <p:cNvGraphicFramePr>
            <a:graphicFrameLocks noChangeAspect="1"/>
          </p:cNvGraphicFramePr>
          <p:nvPr/>
        </p:nvGraphicFramePr>
        <p:xfrm>
          <a:off x="7164388" y="2968625"/>
          <a:ext cx="1558925" cy="433388"/>
        </p:xfrm>
        <a:graphic>
          <a:graphicData uri="http://schemas.openxmlformats.org/presentationml/2006/ole">
            <mc:AlternateContent xmlns:mc="http://schemas.openxmlformats.org/markup-compatibility/2006">
              <mc:Choice xmlns:v="urn:schemas-microsoft-com:vml" Requires="v">
                <p:oleObj name="Equation" r:id="rId5" imgW="774360" imgH="215640" progId="Equation.3">
                  <p:embed/>
                </p:oleObj>
              </mc:Choice>
              <mc:Fallback>
                <p:oleObj name="Equation" r:id="rId5" imgW="774360" imgH="2156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64388" y="2968625"/>
                        <a:ext cx="1558925" cy="433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1" name="Picture 6"/>
          <p:cNvPicPr>
            <a:picLocks noChangeAspect="1" noChangeArrowheads="1"/>
          </p:cNvPicPr>
          <p:nvPr/>
        </p:nvPicPr>
        <p:blipFill>
          <a:blip r:embed="rId7" cstate="print"/>
          <a:srcRect/>
          <a:stretch>
            <a:fillRect/>
          </a:stretch>
        </p:blipFill>
        <p:spPr bwMode="auto">
          <a:xfrm>
            <a:off x="4229100" y="2019300"/>
            <a:ext cx="2400300" cy="1374177"/>
          </a:xfrm>
          <a:prstGeom prst="rect">
            <a:avLst/>
          </a:prstGeom>
          <a:noFill/>
          <a:ln w="9525">
            <a:noFill/>
            <a:miter lim="800000"/>
            <a:headEnd/>
            <a:tailEnd/>
          </a:ln>
          <a:effectLst/>
        </p:spPr>
      </p:pic>
      <p:sp>
        <p:nvSpPr>
          <p:cNvPr id="14" name="Title 1"/>
          <p:cNvSpPr>
            <a:spLocks noGrp="1"/>
          </p:cNvSpPr>
          <p:nvPr>
            <p:ph type="title"/>
          </p:nvPr>
        </p:nvSpPr>
        <p:spPr>
          <a:xfrm>
            <a:off x="114300" y="122237"/>
            <a:ext cx="7886700" cy="563563"/>
          </a:xfrm>
        </p:spPr>
        <p:txBody>
          <a:bodyPr/>
          <a:lstStyle/>
          <a:p>
            <a:r>
              <a:rPr lang="en-US" sz="3200" dirty="0"/>
              <a:t>Example : </a:t>
            </a:r>
            <a:r>
              <a:rPr lang="en-US" sz="2800" dirty="0"/>
              <a:t>Based on 4.3 (Johnson &amp; Johnson P:123)</a:t>
            </a:r>
            <a:endParaRPr lang="en-US" sz="3200" dirty="0"/>
          </a:p>
        </p:txBody>
      </p:sp>
    </p:spTree>
    <p:extLst>
      <p:ext uri="{BB962C8B-B14F-4D97-AF65-F5344CB8AC3E}">
        <p14:creationId xmlns:p14="http://schemas.microsoft.com/office/powerpoint/2010/main" val="3573000541"/>
      </p:ext>
    </p:ext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Content Placeholder 2"/>
          <p:cNvSpPr>
            <a:spLocks noGrp="1"/>
          </p:cNvSpPr>
          <p:nvPr>
            <p:ph idx="1"/>
          </p:nvPr>
        </p:nvSpPr>
        <p:spPr>
          <a:xfrm>
            <a:off x="533400" y="723901"/>
            <a:ext cx="8229600" cy="5867400"/>
          </a:xfrm>
        </p:spPr>
        <p:txBody>
          <a:bodyPr/>
          <a:lstStyle/>
          <a:p>
            <a:pPr>
              <a:buNone/>
            </a:pPr>
            <a:r>
              <a:rPr lang="en-US" sz="2400" dirty="0"/>
              <a:t>Solve for the circuit variables i</a:t>
            </a:r>
            <a:r>
              <a:rPr lang="en-US" sz="2400" baseline="-25000" dirty="0"/>
              <a:t>1</a:t>
            </a:r>
            <a:r>
              <a:rPr lang="en-US" sz="2400" dirty="0"/>
              <a:t> and i</a:t>
            </a:r>
            <a:r>
              <a:rPr lang="en-US" sz="2400" baseline="-25000" dirty="0"/>
              <a:t>2</a:t>
            </a:r>
            <a:r>
              <a:rPr lang="en-US" sz="2400" dirty="0"/>
              <a:t> by applying the principle of superposition to the two sources.</a:t>
            </a:r>
          </a:p>
          <a:p>
            <a:pPr>
              <a:buNone/>
            </a:pPr>
            <a:endParaRPr lang="en-US" sz="24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51</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143365" name="Picture 5"/>
          <p:cNvPicPr>
            <a:picLocks noChangeAspect="1" noChangeArrowheads="1"/>
          </p:cNvPicPr>
          <p:nvPr/>
        </p:nvPicPr>
        <p:blipFill>
          <a:blip r:embed="rId2" cstate="print"/>
          <a:srcRect/>
          <a:stretch>
            <a:fillRect/>
          </a:stretch>
        </p:blipFill>
        <p:spPr bwMode="auto">
          <a:xfrm>
            <a:off x="76201" y="1447800"/>
            <a:ext cx="3924300" cy="1905355"/>
          </a:xfrm>
          <a:prstGeom prst="rect">
            <a:avLst/>
          </a:prstGeom>
          <a:noFill/>
          <a:ln w="9525">
            <a:noFill/>
            <a:miter lim="800000"/>
            <a:headEnd/>
            <a:tailEnd/>
          </a:ln>
          <a:effectLst/>
        </p:spPr>
      </p:pic>
      <p:sp>
        <p:nvSpPr>
          <p:cNvPr id="7" name="TextBox 6"/>
          <p:cNvSpPr txBox="1"/>
          <p:nvPr/>
        </p:nvSpPr>
        <p:spPr>
          <a:xfrm>
            <a:off x="3810000" y="1600200"/>
            <a:ext cx="5327099" cy="369332"/>
          </a:xfrm>
          <a:prstGeom prst="rect">
            <a:avLst/>
          </a:prstGeom>
          <a:noFill/>
        </p:spPr>
        <p:txBody>
          <a:bodyPr wrap="none" rtlCol="0">
            <a:spAutoFit/>
          </a:bodyPr>
          <a:lstStyle/>
          <a:p>
            <a:r>
              <a:rPr lang="en-US" dirty="0"/>
              <a:t>1. </a:t>
            </a:r>
            <a:r>
              <a:rPr lang="en-US" u="sng" dirty="0"/>
              <a:t>Kill the current source to solve for component a:</a:t>
            </a:r>
          </a:p>
        </p:txBody>
      </p:sp>
      <p:graphicFrame>
        <p:nvGraphicFramePr>
          <p:cNvPr id="144387" name="Object 3"/>
          <p:cNvGraphicFramePr>
            <a:graphicFrameLocks noChangeAspect="1"/>
          </p:cNvGraphicFramePr>
          <p:nvPr/>
        </p:nvGraphicFramePr>
        <p:xfrm>
          <a:off x="6858000" y="2019300"/>
          <a:ext cx="2171700" cy="716121"/>
        </p:xfrm>
        <a:graphic>
          <a:graphicData uri="http://schemas.openxmlformats.org/presentationml/2006/ole">
            <mc:AlternateContent xmlns:mc="http://schemas.openxmlformats.org/markup-compatibility/2006">
              <mc:Choice xmlns:v="urn:schemas-microsoft-com:vml" Requires="v">
                <p:oleObj name="Equation" r:id="rId3" imgW="1079280" imgH="355320" progId="Equation.3">
                  <p:embed/>
                </p:oleObj>
              </mc:Choice>
              <mc:Fallback>
                <p:oleObj name="Equation" r:id="rId3" imgW="1079280" imgH="35532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0" y="2019300"/>
                        <a:ext cx="2171700" cy="7161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4388" name="Object 4"/>
          <p:cNvGraphicFramePr>
            <a:graphicFrameLocks noChangeAspect="1"/>
          </p:cNvGraphicFramePr>
          <p:nvPr/>
        </p:nvGraphicFramePr>
        <p:xfrm>
          <a:off x="7164388" y="2968625"/>
          <a:ext cx="1558925" cy="433388"/>
        </p:xfrm>
        <a:graphic>
          <a:graphicData uri="http://schemas.openxmlformats.org/presentationml/2006/ole">
            <mc:AlternateContent xmlns:mc="http://schemas.openxmlformats.org/markup-compatibility/2006">
              <mc:Choice xmlns:v="urn:schemas-microsoft-com:vml" Requires="v">
                <p:oleObj name="Equation" r:id="rId5" imgW="774360" imgH="215640" progId="Equation.3">
                  <p:embed/>
                </p:oleObj>
              </mc:Choice>
              <mc:Fallback>
                <p:oleObj name="Equation" r:id="rId5" imgW="774360" imgH="2156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64388" y="2968625"/>
                        <a:ext cx="1558925" cy="433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Box 10"/>
          <p:cNvSpPr txBox="1"/>
          <p:nvPr/>
        </p:nvSpPr>
        <p:spPr>
          <a:xfrm>
            <a:off x="266700" y="3467100"/>
            <a:ext cx="5352747" cy="369332"/>
          </a:xfrm>
          <a:prstGeom prst="rect">
            <a:avLst/>
          </a:prstGeom>
          <a:noFill/>
        </p:spPr>
        <p:txBody>
          <a:bodyPr wrap="none" rtlCol="0">
            <a:spAutoFit/>
          </a:bodyPr>
          <a:lstStyle/>
          <a:p>
            <a:r>
              <a:rPr lang="en-US" dirty="0"/>
              <a:t>2. </a:t>
            </a:r>
            <a:r>
              <a:rPr lang="en-US" u="sng" dirty="0"/>
              <a:t>Kill the voltage source to solve for component b:</a:t>
            </a:r>
          </a:p>
        </p:txBody>
      </p:sp>
      <p:graphicFrame>
        <p:nvGraphicFramePr>
          <p:cNvPr id="14" name="Object 3"/>
          <p:cNvGraphicFramePr>
            <a:graphicFrameLocks noChangeAspect="1"/>
          </p:cNvGraphicFramePr>
          <p:nvPr/>
        </p:nvGraphicFramePr>
        <p:xfrm>
          <a:off x="3336925" y="3924300"/>
          <a:ext cx="2530475" cy="1457325"/>
        </p:xfrm>
        <a:graphic>
          <a:graphicData uri="http://schemas.openxmlformats.org/presentationml/2006/ole">
            <mc:AlternateContent xmlns:mc="http://schemas.openxmlformats.org/markup-compatibility/2006">
              <mc:Choice xmlns:v="urn:schemas-microsoft-com:vml" Requires="v">
                <p:oleObj name="Equation" r:id="rId7" imgW="1257120" imgH="723600" progId="Equation.3">
                  <p:embed/>
                </p:oleObj>
              </mc:Choice>
              <mc:Fallback>
                <p:oleObj name="Equation" r:id="rId7" imgW="1257120" imgH="7236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36925" y="3924300"/>
                        <a:ext cx="2530475" cy="1457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5" name="Picture 6"/>
          <p:cNvPicPr>
            <a:picLocks noChangeAspect="1" noChangeArrowheads="1"/>
          </p:cNvPicPr>
          <p:nvPr/>
        </p:nvPicPr>
        <p:blipFill>
          <a:blip r:embed="rId9" cstate="print"/>
          <a:srcRect/>
          <a:stretch>
            <a:fillRect/>
          </a:stretch>
        </p:blipFill>
        <p:spPr bwMode="auto">
          <a:xfrm>
            <a:off x="4229100" y="2019300"/>
            <a:ext cx="2400300" cy="1374177"/>
          </a:xfrm>
          <a:prstGeom prst="rect">
            <a:avLst/>
          </a:prstGeom>
          <a:noFill/>
          <a:ln w="9525">
            <a:noFill/>
            <a:miter lim="800000"/>
            <a:headEnd/>
            <a:tailEnd/>
          </a:ln>
          <a:effectLst/>
        </p:spPr>
      </p:pic>
      <p:pic>
        <p:nvPicPr>
          <p:cNvPr id="145413" name="Picture 5"/>
          <p:cNvPicPr>
            <a:picLocks noChangeAspect="1" noChangeArrowheads="1"/>
          </p:cNvPicPr>
          <p:nvPr/>
        </p:nvPicPr>
        <p:blipFill>
          <a:blip r:embed="rId10" cstate="print"/>
          <a:srcRect/>
          <a:stretch>
            <a:fillRect/>
          </a:stretch>
        </p:blipFill>
        <p:spPr bwMode="auto">
          <a:xfrm>
            <a:off x="533400" y="3886200"/>
            <a:ext cx="2628900" cy="1493756"/>
          </a:xfrm>
          <a:prstGeom prst="rect">
            <a:avLst/>
          </a:prstGeom>
          <a:noFill/>
          <a:ln w="9525">
            <a:noFill/>
            <a:miter lim="800000"/>
            <a:headEnd/>
            <a:tailEnd/>
          </a:ln>
          <a:effectLst/>
        </p:spPr>
      </p:pic>
      <p:sp>
        <p:nvSpPr>
          <p:cNvPr id="17" name="Title 1"/>
          <p:cNvSpPr>
            <a:spLocks noGrp="1"/>
          </p:cNvSpPr>
          <p:nvPr>
            <p:ph type="title"/>
          </p:nvPr>
        </p:nvSpPr>
        <p:spPr>
          <a:xfrm>
            <a:off x="114300" y="122237"/>
            <a:ext cx="7886700" cy="563563"/>
          </a:xfrm>
        </p:spPr>
        <p:txBody>
          <a:bodyPr/>
          <a:lstStyle/>
          <a:p>
            <a:r>
              <a:rPr lang="en-US" sz="3200" dirty="0"/>
              <a:t>Example : </a:t>
            </a:r>
            <a:r>
              <a:rPr lang="en-US" sz="2800" dirty="0"/>
              <a:t>Based on 4.3 (Johnson &amp; Johnson P:123)</a:t>
            </a:r>
            <a:endParaRPr lang="en-US" sz="3200" dirty="0"/>
          </a:p>
        </p:txBody>
      </p:sp>
    </p:spTree>
    <p:extLst>
      <p:ext uri="{BB962C8B-B14F-4D97-AF65-F5344CB8AC3E}">
        <p14:creationId xmlns:p14="http://schemas.microsoft.com/office/powerpoint/2010/main" val="616546249"/>
      </p:ext>
    </p:ext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Content Placeholder 2"/>
          <p:cNvSpPr>
            <a:spLocks noGrp="1"/>
          </p:cNvSpPr>
          <p:nvPr>
            <p:ph idx="1"/>
          </p:nvPr>
        </p:nvSpPr>
        <p:spPr>
          <a:xfrm>
            <a:off x="533400" y="723901"/>
            <a:ext cx="8229600" cy="5867400"/>
          </a:xfrm>
        </p:spPr>
        <p:txBody>
          <a:bodyPr/>
          <a:lstStyle/>
          <a:p>
            <a:pPr>
              <a:buNone/>
            </a:pPr>
            <a:r>
              <a:rPr lang="en-US" sz="2400" dirty="0"/>
              <a:t>Solve for the circuit variables i</a:t>
            </a:r>
            <a:r>
              <a:rPr lang="en-US" sz="2400" baseline="-25000" dirty="0"/>
              <a:t>1</a:t>
            </a:r>
            <a:r>
              <a:rPr lang="en-US" sz="2400" dirty="0"/>
              <a:t> and i</a:t>
            </a:r>
            <a:r>
              <a:rPr lang="en-US" sz="2400" baseline="-25000" dirty="0"/>
              <a:t>2</a:t>
            </a:r>
            <a:r>
              <a:rPr lang="en-US" sz="2400" dirty="0"/>
              <a:t> by applying the principle of superposition to the two sources.</a:t>
            </a:r>
          </a:p>
          <a:p>
            <a:pPr>
              <a:buNone/>
            </a:pPr>
            <a:endParaRPr lang="en-US" sz="24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52</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143365" name="Picture 5"/>
          <p:cNvPicPr>
            <a:picLocks noChangeAspect="1" noChangeArrowheads="1"/>
          </p:cNvPicPr>
          <p:nvPr/>
        </p:nvPicPr>
        <p:blipFill>
          <a:blip r:embed="rId2" cstate="print"/>
          <a:srcRect/>
          <a:stretch>
            <a:fillRect/>
          </a:stretch>
        </p:blipFill>
        <p:spPr bwMode="auto">
          <a:xfrm>
            <a:off x="76201" y="1447800"/>
            <a:ext cx="3924300" cy="1905355"/>
          </a:xfrm>
          <a:prstGeom prst="rect">
            <a:avLst/>
          </a:prstGeom>
          <a:noFill/>
          <a:ln w="9525">
            <a:noFill/>
            <a:miter lim="800000"/>
            <a:headEnd/>
            <a:tailEnd/>
          </a:ln>
          <a:effectLst/>
        </p:spPr>
      </p:pic>
      <p:sp>
        <p:nvSpPr>
          <p:cNvPr id="7" name="TextBox 6"/>
          <p:cNvSpPr txBox="1"/>
          <p:nvPr/>
        </p:nvSpPr>
        <p:spPr>
          <a:xfrm>
            <a:off x="3816901" y="1600200"/>
            <a:ext cx="5327099" cy="369332"/>
          </a:xfrm>
          <a:prstGeom prst="rect">
            <a:avLst/>
          </a:prstGeom>
          <a:noFill/>
        </p:spPr>
        <p:txBody>
          <a:bodyPr wrap="none" rtlCol="0">
            <a:spAutoFit/>
          </a:bodyPr>
          <a:lstStyle/>
          <a:p>
            <a:r>
              <a:rPr lang="en-US" dirty="0"/>
              <a:t>1. </a:t>
            </a:r>
            <a:r>
              <a:rPr lang="en-US" u="sng" dirty="0"/>
              <a:t>Kill the current source to solve for component a:</a:t>
            </a:r>
          </a:p>
        </p:txBody>
      </p:sp>
      <p:graphicFrame>
        <p:nvGraphicFramePr>
          <p:cNvPr id="144387" name="Object 3"/>
          <p:cNvGraphicFramePr>
            <a:graphicFrameLocks noChangeAspect="1"/>
          </p:cNvGraphicFramePr>
          <p:nvPr/>
        </p:nvGraphicFramePr>
        <p:xfrm>
          <a:off x="6858000" y="2019300"/>
          <a:ext cx="2171700" cy="716121"/>
        </p:xfrm>
        <a:graphic>
          <a:graphicData uri="http://schemas.openxmlformats.org/presentationml/2006/ole">
            <mc:AlternateContent xmlns:mc="http://schemas.openxmlformats.org/markup-compatibility/2006">
              <mc:Choice xmlns:v="urn:schemas-microsoft-com:vml" Requires="v">
                <p:oleObj name="Equation" r:id="rId3" imgW="1079280" imgH="355320" progId="Equation.3">
                  <p:embed/>
                </p:oleObj>
              </mc:Choice>
              <mc:Fallback>
                <p:oleObj name="Equation" r:id="rId3" imgW="1079280" imgH="35532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0" y="2019300"/>
                        <a:ext cx="2171700" cy="7161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4388" name="Object 4"/>
          <p:cNvGraphicFramePr>
            <a:graphicFrameLocks noChangeAspect="1"/>
          </p:cNvGraphicFramePr>
          <p:nvPr/>
        </p:nvGraphicFramePr>
        <p:xfrm>
          <a:off x="7164388" y="2968625"/>
          <a:ext cx="1558925" cy="433388"/>
        </p:xfrm>
        <a:graphic>
          <a:graphicData uri="http://schemas.openxmlformats.org/presentationml/2006/ole">
            <mc:AlternateContent xmlns:mc="http://schemas.openxmlformats.org/markup-compatibility/2006">
              <mc:Choice xmlns:v="urn:schemas-microsoft-com:vml" Requires="v">
                <p:oleObj name="Equation" r:id="rId5" imgW="774360" imgH="215640" progId="Equation.3">
                  <p:embed/>
                </p:oleObj>
              </mc:Choice>
              <mc:Fallback>
                <p:oleObj name="Equation" r:id="rId5" imgW="774360" imgH="2156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64388" y="2968625"/>
                        <a:ext cx="1558925" cy="433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Box 10"/>
          <p:cNvSpPr txBox="1"/>
          <p:nvPr/>
        </p:nvSpPr>
        <p:spPr>
          <a:xfrm>
            <a:off x="266700" y="3467100"/>
            <a:ext cx="5352747" cy="369332"/>
          </a:xfrm>
          <a:prstGeom prst="rect">
            <a:avLst/>
          </a:prstGeom>
          <a:noFill/>
        </p:spPr>
        <p:txBody>
          <a:bodyPr wrap="none" rtlCol="0">
            <a:spAutoFit/>
          </a:bodyPr>
          <a:lstStyle/>
          <a:p>
            <a:r>
              <a:rPr lang="en-US" dirty="0"/>
              <a:t>2. </a:t>
            </a:r>
            <a:r>
              <a:rPr lang="en-US" u="sng" dirty="0"/>
              <a:t>Kill the voltage source to solve for component b:</a:t>
            </a:r>
          </a:p>
        </p:txBody>
      </p:sp>
      <p:graphicFrame>
        <p:nvGraphicFramePr>
          <p:cNvPr id="14" name="Object 3"/>
          <p:cNvGraphicFramePr>
            <a:graphicFrameLocks noChangeAspect="1"/>
          </p:cNvGraphicFramePr>
          <p:nvPr/>
        </p:nvGraphicFramePr>
        <p:xfrm>
          <a:off x="3336925" y="3924300"/>
          <a:ext cx="2530475" cy="1457325"/>
        </p:xfrm>
        <a:graphic>
          <a:graphicData uri="http://schemas.openxmlformats.org/presentationml/2006/ole">
            <mc:AlternateContent xmlns:mc="http://schemas.openxmlformats.org/markup-compatibility/2006">
              <mc:Choice xmlns:v="urn:schemas-microsoft-com:vml" Requires="v">
                <p:oleObj name="Equation" r:id="rId7" imgW="1257120" imgH="723600" progId="Equation.3">
                  <p:embed/>
                </p:oleObj>
              </mc:Choice>
              <mc:Fallback>
                <p:oleObj name="Equation" r:id="rId7" imgW="1257120" imgH="7236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36925" y="3924300"/>
                        <a:ext cx="2530475" cy="1457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TextBox 14"/>
          <p:cNvSpPr txBox="1"/>
          <p:nvPr/>
        </p:nvSpPr>
        <p:spPr>
          <a:xfrm>
            <a:off x="266700" y="5448300"/>
            <a:ext cx="8212569" cy="369332"/>
          </a:xfrm>
          <a:prstGeom prst="rect">
            <a:avLst/>
          </a:prstGeom>
          <a:noFill/>
        </p:spPr>
        <p:txBody>
          <a:bodyPr wrap="none" rtlCol="0">
            <a:spAutoFit/>
          </a:bodyPr>
          <a:lstStyle/>
          <a:p>
            <a:r>
              <a:rPr lang="en-US" dirty="0"/>
              <a:t>3. </a:t>
            </a:r>
            <a:r>
              <a:rPr lang="en-US" u="sng" dirty="0"/>
              <a:t>Apply the superposition principle (each response is sum of its components): </a:t>
            </a:r>
          </a:p>
        </p:txBody>
      </p:sp>
      <p:graphicFrame>
        <p:nvGraphicFramePr>
          <p:cNvPr id="146437" name="Object 5"/>
          <p:cNvGraphicFramePr>
            <a:graphicFrameLocks noChangeAspect="1"/>
          </p:cNvGraphicFramePr>
          <p:nvPr/>
        </p:nvGraphicFramePr>
        <p:xfrm>
          <a:off x="3386137" y="5829300"/>
          <a:ext cx="2862263" cy="893763"/>
        </p:xfrm>
        <a:graphic>
          <a:graphicData uri="http://schemas.openxmlformats.org/presentationml/2006/ole">
            <mc:AlternateContent xmlns:mc="http://schemas.openxmlformats.org/markup-compatibility/2006">
              <mc:Choice xmlns:v="urn:schemas-microsoft-com:vml" Requires="v">
                <p:oleObj name="Equation" r:id="rId9" imgW="1422360" imgH="444240" progId="Equation.3">
                  <p:embed/>
                </p:oleObj>
              </mc:Choice>
              <mc:Fallback>
                <p:oleObj name="Equation" r:id="rId9" imgW="1422360" imgH="44424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86137" y="5829300"/>
                        <a:ext cx="2862263" cy="893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46438" name="Picture 6"/>
          <p:cNvPicPr>
            <a:picLocks noChangeAspect="1" noChangeArrowheads="1"/>
          </p:cNvPicPr>
          <p:nvPr/>
        </p:nvPicPr>
        <p:blipFill>
          <a:blip r:embed="rId11" cstate="print"/>
          <a:srcRect/>
          <a:stretch>
            <a:fillRect/>
          </a:stretch>
        </p:blipFill>
        <p:spPr bwMode="auto">
          <a:xfrm>
            <a:off x="4229100" y="2019300"/>
            <a:ext cx="2400300" cy="1374177"/>
          </a:xfrm>
          <a:prstGeom prst="rect">
            <a:avLst/>
          </a:prstGeom>
          <a:noFill/>
          <a:ln w="9525">
            <a:noFill/>
            <a:miter lim="800000"/>
            <a:headEnd/>
            <a:tailEnd/>
          </a:ln>
          <a:effectLst/>
        </p:spPr>
      </p:pic>
      <p:pic>
        <p:nvPicPr>
          <p:cNvPr id="17" name="Picture 5"/>
          <p:cNvPicPr>
            <a:picLocks noChangeAspect="1" noChangeArrowheads="1"/>
          </p:cNvPicPr>
          <p:nvPr/>
        </p:nvPicPr>
        <p:blipFill>
          <a:blip r:embed="rId12" cstate="print"/>
          <a:srcRect/>
          <a:stretch>
            <a:fillRect/>
          </a:stretch>
        </p:blipFill>
        <p:spPr bwMode="auto">
          <a:xfrm>
            <a:off x="533400" y="3886200"/>
            <a:ext cx="2628900" cy="1493756"/>
          </a:xfrm>
          <a:prstGeom prst="rect">
            <a:avLst/>
          </a:prstGeom>
          <a:noFill/>
          <a:ln w="9525">
            <a:noFill/>
            <a:miter lim="800000"/>
            <a:headEnd/>
            <a:tailEnd/>
          </a:ln>
          <a:effectLst/>
        </p:spPr>
      </p:pic>
      <p:sp>
        <p:nvSpPr>
          <p:cNvPr id="18" name="Title 1"/>
          <p:cNvSpPr>
            <a:spLocks noGrp="1"/>
          </p:cNvSpPr>
          <p:nvPr>
            <p:ph type="title"/>
          </p:nvPr>
        </p:nvSpPr>
        <p:spPr>
          <a:xfrm>
            <a:off x="114300" y="122237"/>
            <a:ext cx="7886700" cy="563563"/>
          </a:xfrm>
        </p:spPr>
        <p:txBody>
          <a:bodyPr/>
          <a:lstStyle/>
          <a:p>
            <a:r>
              <a:rPr lang="en-US" sz="3200" dirty="0"/>
              <a:t>Example : </a:t>
            </a:r>
            <a:r>
              <a:rPr lang="en-US" sz="2800" dirty="0"/>
              <a:t>Based on 4.3 (Johnson &amp; Johnson P:123)</a:t>
            </a:r>
            <a:endParaRPr lang="en-US" sz="3200" dirty="0"/>
          </a:p>
        </p:txBody>
      </p:sp>
    </p:spTree>
    <p:extLst>
      <p:ext uri="{BB962C8B-B14F-4D97-AF65-F5344CB8AC3E}">
        <p14:creationId xmlns:p14="http://schemas.microsoft.com/office/powerpoint/2010/main" val="655325476"/>
      </p:ext>
    </p:extLst>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Superposition</a:t>
            </a:r>
          </a:p>
        </p:txBody>
      </p:sp>
      <p:sp>
        <p:nvSpPr>
          <p:cNvPr id="6147" name="Content Placeholder 2"/>
          <p:cNvSpPr>
            <a:spLocks noGrp="1"/>
          </p:cNvSpPr>
          <p:nvPr>
            <p:ph idx="1"/>
          </p:nvPr>
        </p:nvSpPr>
        <p:spPr>
          <a:xfrm>
            <a:off x="533400" y="838201"/>
            <a:ext cx="8229600" cy="5753099"/>
          </a:xfrm>
        </p:spPr>
        <p:txBody>
          <a:bodyPr/>
          <a:lstStyle/>
          <a:p>
            <a:pPr>
              <a:buNone/>
            </a:pPr>
            <a:endParaRPr lang="en-US" sz="2800" dirty="0"/>
          </a:p>
          <a:p>
            <a:pPr>
              <a:buNone/>
            </a:pPr>
            <a:r>
              <a:rPr lang="en-US" sz="2400" i="1" dirty="0"/>
              <a:t>Dependent sources </a:t>
            </a:r>
            <a:r>
              <a:rPr lang="en-US" sz="2400" dirty="0"/>
              <a:t>are </a:t>
            </a:r>
            <a:r>
              <a:rPr lang="en-US" sz="2400" b="1" dirty="0"/>
              <a:t>NOT</a:t>
            </a:r>
            <a:r>
              <a:rPr lang="en-US" sz="2400" dirty="0"/>
              <a:t> killed when using the superposition method for calculating circuit parameters.</a:t>
            </a:r>
          </a:p>
          <a:p>
            <a:pPr>
              <a:buNone/>
            </a:pPr>
            <a:endParaRPr lang="en-US" sz="2400" dirty="0"/>
          </a:p>
          <a:p>
            <a:pPr>
              <a:buNone/>
            </a:pPr>
            <a:r>
              <a:rPr lang="en-US" sz="2400" dirty="0"/>
              <a:t>Even in linear circuits </a:t>
            </a:r>
            <a:r>
              <a:rPr lang="en-US" sz="2400" b="1" dirty="0"/>
              <a:t>power does not superpose </a:t>
            </a:r>
            <a:r>
              <a:rPr lang="en-US" sz="2400" dirty="0"/>
              <a:t>since it is not a linear function of voltage and current. Power needs to be calculated last once all the components are summed.</a:t>
            </a:r>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53</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Tree>
    <p:extLst>
      <p:ext uri="{BB962C8B-B14F-4D97-AF65-F5344CB8AC3E}">
        <p14:creationId xmlns:p14="http://schemas.microsoft.com/office/powerpoint/2010/main" val="1767194803"/>
      </p:ext>
    </p:extLst>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6819900" cy="563563"/>
          </a:xfrm>
        </p:spPr>
        <p:txBody>
          <a:bodyPr/>
          <a:lstStyle/>
          <a:p>
            <a:r>
              <a:rPr lang="en-US" sz="3200" dirty="0"/>
              <a:t>Example (</a:t>
            </a:r>
            <a:r>
              <a:rPr lang="en-US" sz="2800" dirty="0"/>
              <a:t>4.5 Johnson &amp; Johnson P:126)</a:t>
            </a:r>
            <a:endParaRPr lang="en-US" sz="3200" dirty="0"/>
          </a:p>
        </p:txBody>
      </p:sp>
      <p:sp>
        <p:nvSpPr>
          <p:cNvPr id="6147" name="Content Placeholder 2"/>
          <p:cNvSpPr>
            <a:spLocks noGrp="1"/>
          </p:cNvSpPr>
          <p:nvPr>
            <p:ph idx="1"/>
          </p:nvPr>
        </p:nvSpPr>
        <p:spPr>
          <a:xfrm>
            <a:off x="533400" y="723901"/>
            <a:ext cx="8229600" cy="5867400"/>
          </a:xfrm>
        </p:spPr>
        <p:txBody>
          <a:bodyPr/>
          <a:lstStyle/>
          <a:p>
            <a:pPr>
              <a:buNone/>
            </a:pPr>
            <a:r>
              <a:rPr lang="en-US" sz="2400" dirty="0"/>
              <a:t>Find the voltage </a:t>
            </a:r>
            <a:r>
              <a:rPr lang="en-US" sz="2400" i="1" dirty="0"/>
              <a:t>v</a:t>
            </a:r>
            <a:r>
              <a:rPr lang="en-US" sz="2400" dirty="0"/>
              <a:t> and the power dissipated by the 3 </a:t>
            </a:r>
            <a:r>
              <a:rPr lang="el-GR" sz="2400" dirty="0"/>
              <a:t>Ω</a:t>
            </a:r>
            <a:r>
              <a:rPr lang="en-US" sz="2400" dirty="0"/>
              <a:t> resistor.</a:t>
            </a:r>
          </a:p>
          <a:p>
            <a:pPr>
              <a:buNone/>
            </a:pPr>
            <a:endParaRPr lang="en-US" sz="24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54</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147462" name="Picture 6"/>
          <p:cNvPicPr>
            <a:picLocks noChangeAspect="1" noChangeArrowheads="1"/>
          </p:cNvPicPr>
          <p:nvPr/>
        </p:nvPicPr>
        <p:blipFill>
          <a:blip r:embed="rId2" cstate="print"/>
          <a:srcRect/>
          <a:stretch>
            <a:fillRect/>
          </a:stretch>
        </p:blipFill>
        <p:spPr bwMode="auto">
          <a:xfrm>
            <a:off x="114300" y="1104900"/>
            <a:ext cx="4026797" cy="2133600"/>
          </a:xfrm>
          <a:prstGeom prst="rect">
            <a:avLst/>
          </a:prstGeom>
          <a:noFill/>
          <a:ln w="9525">
            <a:noFill/>
            <a:miter lim="800000"/>
            <a:headEnd/>
            <a:tailEnd/>
          </a:ln>
          <a:effectLst/>
        </p:spPr>
      </p:pic>
    </p:spTree>
    <p:extLst>
      <p:ext uri="{BB962C8B-B14F-4D97-AF65-F5344CB8AC3E}">
        <p14:creationId xmlns:p14="http://schemas.microsoft.com/office/powerpoint/2010/main" val="1307710951"/>
      </p:ext>
    </p:ext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Content Placeholder 2"/>
          <p:cNvSpPr>
            <a:spLocks noGrp="1"/>
          </p:cNvSpPr>
          <p:nvPr>
            <p:ph idx="1"/>
          </p:nvPr>
        </p:nvSpPr>
        <p:spPr>
          <a:xfrm>
            <a:off x="533400" y="723901"/>
            <a:ext cx="8229600" cy="5867400"/>
          </a:xfrm>
        </p:spPr>
        <p:txBody>
          <a:bodyPr/>
          <a:lstStyle/>
          <a:p>
            <a:pPr>
              <a:buNone/>
            </a:pPr>
            <a:r>
              <a:rPr lang="en-US" sz="2400" dirty="0"/>
              <a:t>Find the voltage </a:t>
            </a:r>
            <a:r>
              <a:rPr lang="en-US" sz="2400" i="1" dirty="0"/>
              <a:t>v</a:t>
            </a:r>
            <a:r>
              <a:rPr lang="en-US" sz="2400" dirty="0"/>
              <a:t> and the power dissipated by the 3 </a:t>
            </a:r>
            <a:r>
              <a:rPr lang="el-GR" sz="2400" dirty="0"/>
              <a:t>Ω</a:t>
            </a:r>
            <a:r>
              <a:rPr lang="en-US" sz="2400" dirty="0"/>
              <a:t> resistor.</a:t>
            </a:r>
          </a:p>
          <a:p>
            <a:pPr>
              <a:buNone/>
            </a:pPr>
            <a:endParaRPr lang="en-US" sz="24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55</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7" name="TextBox 6"/>
          <p:cNvSpPr txBox="1"/>
          <p:nvPr/>
        </p:nvSpPr>
        <p:spPr>
          <a:xfrm>
            <a:off x="3816901" y="1371600"/>
            <a:ext cx="5327099" cy="369332"/>
          </a:xfrm>
          <a:prstGeom prst="rect">
            <a:avLst/>
          </a:prstGeom>
          <a:noFill/>
        </p:spPr>
        <p:txBody>
          <a:bodyPr wrap="none" rtlCol="0">
            <a:spAutoFit/>
          </a:bodyPr>
          <a:lstStyle/>
          <a:p>
            <a:r>
              <a:rPr lang="en-US" dirty="0"/>
              <a:t>1. </a:t>
            </a:r>
            <a:r>
              <a:rPr lang="en-US" u="sng" dirty="0"/>
              <a:t>Kill the current source to solve for component a:</a:t>
            </a:r>
          </a:p>
        </p:txBody>
      </p:sp>
      <p:graphicFrame>
        <p:nvGraphicFramePr>
          <p:cNvPr id="144387" name="Object 3"/>
          <p:cNvGraphicFramePr>
            <a:graphicFrameLocks noChangeAspect="1"/>
          </p:cNvGraphicFramePr>
          <p:nvPr/>
        </p:nvGraphicFramePr>
        <p:xfrm>
          <a:off x="6665912" y="2127250"/>
          <a:ext cx="2401888" cy="844550"/>
        </p:xfrm>
        <a:graphic>
          <a:graphicData uri="http://schemas.openxmlformats.org/presentationml/2006/ole">
            <mc:AlternateContent xmlns:mc="http://schemas.openxmlformats.org/markup-compatibility/2006">
              <mc:Choice xmlns:v="urn:schemas-microsoft-com:vml" Requires="v">
                <p:oleObj name="Equation" r:id="rId2" imgW="1193760" imgH="419040" progId="Equation.3">
                  <p:embed/>
                </p:oleObj>
              </mc:Choice>
              <mc:Fallback>
                <p:oleObj name="Equation" r:id="rId2" imgW="1193760" imgH="4190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5912" y="2127250"/>
                        <a:ext cx="2401888" cy="844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47462" name="Picture 6"/>
          <p:cNvPicPr>
            <a:picLocks noChangeAspect="1" noChangeArrowheads="1"/>
          </p:cNvPicPr>
          <p:nvPr/>
        </p:nvPicPr>
        <p:blipFill>
          <a:blip r:embed="rId4" cstate="print"/>
          <a:srcRect/>
          <a:stretch>
            <a:fillRect/>
          </a:stretch>
        </p:blipFill>
        <p:spPr bwMode="auto">
          <a:xfrm>
            <a:off x="114300" y="1104900"/>
            <a:ext cx="4026797" cy="2133600"/>
          </a:xfrm>
          <a:prstGeom prst="rect">
            <a:avLst/>
          </a:prstGeom>
          <a:noFill/>
          <a:ln w="9525">
            <a:noFill/>
            <a:miter lim="800000"/>
            <a:headEnd/>
            <a:tailEnd/>
          </a:ln>
          <a:effectLst/>
        </p:spPr>
      </p:pic>
      <p:sp>
        <p:nvSpPr>
          <p:cNvPr id="18" name="TextBox 17"/>
          <p:cNvSpPr txBox="1"/>
          <p:nvPr/>
        </p:nvSpPr>
        <p:spPr>
          <a:xfrm>
            <a:off x="6553200" y="1840468"/>
            <a:ext cx="2108334" cy="369332"/>
          </a:xfrm>
          <a:prstGeom prst="rect">
            <a:avLst/>
          </a:prstGeom>
          <a:noFill/>
        </p:spPr>
        <p:txBody>
          <a:bodyPr wrap="none" rtlCol="0">
            <a:spAutoFit/>
          </a:bodyPr>
          <a:lstStyle/>
          <a:p>
            <a:r>
              <a:rPr lang="en-US" dirty="0"/>
              <a:t>KVL &amp; Ohm’s Law:</a:t>
            </a:r>
          </a:p>
        </p:txBody>
      </p:sp>
      <p:graphicFrame>
        <p:nvGraphicFramePr>
          <p:cNvPr id="147463" name="Object 7"/>
          <p:cNvGraphicFramePr>
            <a:graphicFrameLocks noChangeAspect="1"/>
          </p:cNvGraphicFramePr>
          <p:nvPr/>
        </p:nvGraphicFramePr>
        <p:xfrm>
          <a:off x="7026275" y="3048000"/>
          <a:ext cx="1457325" cy="436563"/>
        </p:xfrm>
        <a:graphic>
          <a:graphicData uri="http://schemas.openxmlformats.org/presentationml/2006/ole">
            <mc:AlternateContent xmlns:mc="http://schemas.openxmlformats.org/markup-compatibility/2006">
              <mc:Choice xmlns:v="urn:schemas-microsoft-com:vml" Requires="v">
                <p:oleObj name="Equation" r:id="rId5" imgW="723600" imgH="215640" progId="Equation.3">
                  <p:embed/>
                </p:oleObj>
              </mc:Choice>
              <mc:Fallback>
                <p:oleObj name="Equation" r:id="rId5" imgW="723600" imgH="2156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26275" y="3048000"/>
                        <a:ext cx="1457325" cy="436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extBox 19"/>
          <p:cNvSpPr txBox="1"/>
          <p:nvPr/>
        </p:nvSpPr>
        <p:spPr>
          <a:xfrm>
            <a:off x="6515100" y="2743200"/>
            <a:ext cx="1398781" cy="369332"/>
          </a:xfrm>
          <a:prstGeom prst="rect">
            <a:avLst/>
          </a:prstGeom>
          <a:noFill/>
        </p:spPr>
        <p:txBody>
          <a:bodyPr wrap="none" rtlCol="0">
            <a:spAutoFit/>
          </a:bodyPr>
          <a:lstStyle/>
          <a:p>
            <a:r>
              <a:rPr lang="en-US" dirty="0"/>
              <a:t>Ohm’s Law:</a:t>
            </a:r>
          </a:p>
        </p:txBody>
      </p:sp>
      <p:pic>
        <p:nvPicPr>
          <p:cNvPr id="150533" name="Picture 5"/>
          <p:cNvPicPr>
            <a:picLocks noChangeAspect="1" noChangeArrowheads="1"/>
          </p:cNvPicPr>
          <p:nvPr/>
        </p:nvPicPr>
        <p:blipFill>
          <a:blip r:embed="rId7" cstate="print"/>
          <a:srcRect/>
          <a:stretch>
            <a:fillRect/>
          </a:stretch>
        </p:blipFill>
        <p:spPr bwMode="auto">
          <a:xfrm>
            <a:off x="4267200" y="1752600"/>
            <a:ext cx="2261685" cy="1485900"/>
          </a:xfrm>
          <a:prstGeom prst="rect">
            <a:avLst/>
          </a:prstGeom>
          <a:noFill/>
          <a:ln w="9525">
            <a:noFill/>
            <a:miter lim="800000"/>
            <a:headEnd/>
            <a:tailEnd/>
          </a:ln>
          <a:effectLst/>
        </p:spPr>
      </p:pic>
      <p:sp>
        <p:nvSpPr>
          <p:cNvPr id="15" name="Title 1"/>
          <p:cNvSpPr>
            <a:spLocks noGrp="1"/>
          </p:cNvSpPr>
          <p:nvPr>
            <p:ph type="title"/>
          </p:nvPr>
        </p:nvSpPr>
        <p:spPr>
          <a:xfrm>
            <a:off x="457200" y="122237"/>
            <a:ext cx="6819900" cy="563563"/>
          </a:xfrm>
        </p:spPr>
        <p:txBody>
          <a:bodyPr/>
          <a:lstStyle/>
          <a:p>
            <a:r>
              <a:rPr lang="en-US" sz="3200" dirty="0"/>
              <a:t>Example (</a:t>
            </a:r>
            <a:r>
              <a:rPr lang="en-US" sz="2800" dirty="0"/>
              <a:t>4.5 Johnson &amp; Johnson P:126)</a:t>
            </a:r>
            <a:endParaRPr lang="en-US" sz="3200" dirty="0"/>
          </a:p>
        </p:txBody>
      </p:sp>
    </p:spTree>
    <p:extLst>
      <p:ext uri="{BB962C8B-B14F-4D97-AF65-F5344CB8AC3E}">
        <p14:creationId xmlns:p14="http://schemas.microsoft.com/office/powerpoint/2010/main" val="1555583427"/>
      </p:ext>
    </p:extLst>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Content Placeholder 2"/>
          <p:cNvSpPr>
            <a:spLocks noGrp="1"/>
          </p:cNvSpPr>
          <p:nvPr>
            <p:ph idx="1"/>
          </p:nvPr>
        </p:nvSpPr>
        <p:spPr>
          <a:xfrm>
            <a:off x="533400" y="723901"/>
            <a:ext cx="8229600" cy="5867400"/>
          </a:xfrm>
        </p:spPr>
        <p:txBody>
          <a:bodyPr/>
          <a:lstStyle/>
          <a:p>
            <a:pPr>
              <a:buNone/>
            </a:pPr>
            <a:r>
              <a:rPr lang="en-US" sz="2400" dirty="0"/>
              <a:t>Find the voltage </a:t>
            </a:r>
            <a:r>
              <a:rPr lang="en-US" sz="2400" i="1" dirty="0"/>
              <a:t>v</a:t>
            </a:r>
            <a:r>
              <a:rPr lang="en-US" sz="2400" dirty="0"/>
              <a:t> and the power dissipated by the 3 </a:t>
            </a:r>
            <a:r>
              <a:rPr lang="el-GR" sz="2400" dirty="0"/>
              <a:t>Ω</a:t>
            </a:r>
            <a:r>
              <a:rPr lang="en-US" sz="2400" dirty="0"/>
              <a:t> resistor.</a:t>
            </a:r>
          </a:p>
          <a:p>
            <a:pPr>
              <a:buNone/>
            </a:pPr>
            <a:endParaRPr lang="en-US" sz="24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56</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7" name="TextBox 6"/>
          <p:cNvSpPr txBox="1"/>
          <p:nvPr/>
        </p:nvSpPr>
        <p:spPr>
          <a:xfrm>
            <a:off x="3816901" y="1371600"/>
            <a:ext cx="5327099" cy="369332"/>
          </a:xfrm>
          <a:prstGeom prst="rect">
            <a:avLst/>
          </a:prstGeom>
          <a:noFill/>
        </p:spPr>
        <p:txBody>
          <a:bodyPr wrap="none" rtlCol="0">
            <a:spAutoFit/>
          </a:bodyPr>
          <a:lstStyle/>
          <a:p>
            <a:r>
              <a:rPr lang="en-US" dirty="0"/>
              <a:t>1. </a:t>
            </a:r>
            <a:r>
              <a:rPr lang="en-US" u="sng" dirty="0"/>
              <a:t>Kill the current source to solve for component a:</a:t>
            </a:r>
          </a:p>
        </p:txBody>
      </p:sp>
      <p:graphicFrame>
        <p:nvGraphicFramePr>
          <p:cNvPr id="144387" name="Object 3"/>
          <p:cNvGraphicFramePr>
            <a:graphicFrameLocks noChangeAspect="1"/>
          </p:cNvGraphicFramePr>
          <p:nvPr/>
        </p:nvGraphicFramePr>
        <p:xfrm>
          <a:off x="6665912" y="2127250"/>
          <a:ext cx="2401888" cy="844550"/>
        </p:xfrm>
        <a:graphic>
          <a:graphicData uri="http://schemas.openxmlformats.org/presentationml/2006/ole">
            <mc:AlternateContent xmlns:mc="http://schemas.openxmlformats.org/markup-compatibility/2006">
              <mc:Choice xmlns:v="urn:schemas-microsoft-com:vml" Requires="v">
                <p:oleObj name="Equation" r:id="rId2" imgW="1193760" imgH="419040" progId="Equation.3">
                  <p:embed/>
                </p:oleObj>
              </mc:Choice>
              <mc:Fallback>
                <p:oleObj name="Equation" r:id="rId2" imgW="1193760" imgH="4190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5912" y="2127250"/>
                        <a:ext cx="2401888" cy="844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Box 10"/>
          <p:cNvSpPr txBox="1"/>
          <p:nvPr/>
        </p:nvSpPr>
        <p:spPr>
          <a:xfrm>
            <a:off x="266700" y="3467100"/>
            <a:ext cx="8148384" cy="369332"/>
          </a:xfrm>
          <a:prstGeom prst="rect">
            <a:avLst/>
          </a:prstGeom>
          <a:noFill/>
        </p:spPr>
        <p:txBody>
          <a:bodyPr wrap="none" rtlCol="0">
            <a:spAutoFit/>
          </a:bodyPr>
          <a:lstStyle/>
          <a:p>
            <a:r>
              <a:rPr lang="en-US" dirty="0"/>
              <a:t>2. </a:t>
            </a:r>
            <a:r>
              <a:rPr lang="en-US" u="sng" dirty="0"/>
              <a:t>Kill the voltage source (independent source only!) to solve for component b:</a:t>
            </a:r>
          </a:p>
        </p:txBody>
      </p:sp>
      <p:pic>
        <p:nvPicPr>
          <p:cNvPr id="147462" name="Picture 6"/>
          <p:cNvPicPr>
            <a:picLocks noChangeAspect="1" noChangeArrowheads="1"/>
          </p:cNvPicPr>
          <p:nvPr/>
        </p:nvPicPr>
        <p:blipFill>
          <a:blip r:embed="rId4" cstate="print"/>
          <a:srcRect/>
          <a:stretch>
            <a:fillRect/>
          </a:stretch>
        </p:blipFill>
        <p:spPr bwMode="auto">
          <a:xfrm>
            <a:off x="114300" y="1104900"/>
            <a:ext cx="4026797" cy="2133600"/>
          </a:xfrm>
          <a:prstGeom prst="rect">
            <a:avLst/>
          </a:prstGeom>
          <a:noFill/>
          <a:ln w="9525">
            <a:noFill/>
            <a:miter lim="800000"/>
            <a:headEnd/>
            <a:tailEnd/>
          </a:ln>
          <a:effectLst/>
        </p:spPr>
      </p:pic>
      <p:sp>
        <p:nvSpPr>
          <p:cNvPr id="18" name="TextBox 17"/>
          <p:cNvSpPr txBox="1"/>
          <p:nvPr/>
        </p:nvSpPr>
        <p:spPr>
          <a:xfrm>
            <a:off x="6553200" y="1840468"/>
            <a:ext cx="2108334" cy="369332"/>
          </a:xfrm>
          <a:prstGeom prst="rect">
            <a:avLst/>
          </a:prstGeom>
          <a:noFill/>
        </p:spPr>
        <p:txBody>
          <a:bodyPr wrap="none" rtlCol="0">
            <a:spAutoFit/>
          </a:bodyPr>
          <a:lstStyle/>
          <a:p>
            <a:r>
              <a:rPr lang="en-US" dirty="0"/>
              <a:t>KVL &amp; Ohm’s Law:</a:t>
            </a:r>
          </a:p>
        </p:txBody>
      </p:sp>
      <p:graphicFrame>
        <p:nvGraphicFramePr>
          <p:cNvPr id="147463" name="Object 7"/>
          <p:cNvGraphicFramePr>
            <a:graphicFrameLocks noChangeAspect="1"/>
          </p:cNvGraphicFramePr>
          <p:nvPr/>
        </p:nvGraphicFramePr>
        <p:xfrm>
          <a:off x="7026275" y="3048000"/>
          <a:ext cx="1457325" cy="436563"/>
        </p:xfrm>
        <a:graphic>
          <a:graphicData uri="http://schemas.openxmlformats.org/presentationml/2006/ole">
            <mc:AlternateContent xmlns:mc="http://schemas.openxmlformats.org/markup-compatibility/2006">
              <mc:Choice xmlns:v="urn:schemas-microsoft-com:vml" Requires="v">
                <p:oleObj name="Equation" r:id="rId5" imgW="723600" imgH="215640" progId="Equation.3">
                  <p:embed/>
                </p:oleObj>
              </mc:Choice>
              <mc:Fallback>
                <p:oleObj name="Equation" r:id="rId5" imgW="723600" imgH="2156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26275" y="3048000"/>
                        <a:ext cx="1457325" cy="436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extBox 19"/>
          <p:cNvSpPr txBox="1"/>
          <p:nvPr/>
        </p:nvSpPr>
        <p:spPr>
          <a:xfrm>
            <a:off x="6515100" y="2743200"/>
            <a:ext cx="1398781" cy="369332"/>
          </a:xfrm>
          <a:prstGeom prst="rect">
            <a:avLst/>
          </a:prstGeom>
          <a:noFill/>
        </p:spPr>
        <p:txBody>
          <a:bodyPr wrap="none" rtlCol="0">
            <a:spAutoFit/>
          </a:bodyPr>
          <a:lstStyle/>
          <a:p>
            <a:r>
              <a:rPr lang="en-US" dirty="0"/>
              <a:t>Ohm’s Law:</a:t>
            </a:r>
          </a:p>
        </p:txBody>
      </p:sp>
      <p:graphicFrame>
        <p:nvGraphicFramePr>
          <p:cNvPr id="22" name="Object 3"/>
          <p:cNvGraphicFramePr>
            <a:graphicFrameLocks noChangeAspect="1"/>
          </p:cNvGraphicFramePr>
          <p:nvPr/>
        </p:nvGraphicFramePr>
        <p:xfrm>
          <a:off x="5269627" y="4114800"/>
          <a:ext cx="3500437" cy="844550"/>
        </p:xfrm>
        <a:graphic>
          <a:graphicData uri="http://schemas.openxmlformats.org/presentationml/2006/ole">
            <mc:AlternateContent xmlns:mc="http://schemas.openxmlformats.org/markup-compatibility/2006">
              <mc:Choice xmlns:v="urn:schemas-microsoft-com:vml" Requires="v">
                <p:oleObj name="Equation" r:id="rId7" imgW="1739880" imgH="419040" progId="Equation.3">
                  <p:embed/>
                </p:oleObj>
              </mc:Choice>
              <mc:Fallback>
                <p:oleObj name="Equation" r:id="rId7" imgW="1739880" imgH="41904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69627" y="4114800"/>
                        <a:ext cx="3500437" cy="844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TextBox 22"/>
          <p:cNvSpPr txBox="1"/>
          <p:nvPr/>
        </p:nvSpPr>
        <p:spPr>
          <a:xfrm>
            <a:off x="5193427" y="3848100"/>
            <a:ext cx="2108334" cy="369332"/>
          </a:xfrm>
          <a:prstGeom prst="rect">
            <a:avLst/>
          </a:prstGeom>
          <a:noFill/>
        </p:spPr>
        <p:txBody>
          <a:bodyPr wrap="none" rtlCol="0">
            <a:spAutoFit/>
          </a:bodyPr>
          <a:lstStyle/>
          <a:p>
            <a:r>
              <a:rPr lang="en-US" dirty="0"/>
              <a:t>KVL &amp; Ohm’s Law:</a:t>
            </a:r>
          </a:p>
        </p:txBody>
      </p:sp>
      <p:sp>
        <p:nvSpPr>
          <p:cNvPr id="24" name="TextBox 23"/>
          <p:cNvSpPr txBox="1"/>
          <p:nvPr/>
        </p:nvSpPr>
        <p:spPr>
          <a:xfrm>
            <a:off x="3467100" y="3886200"/>
            <a:ext cx="697627" cy="369332"/>
          </a:xfrm>
          <a:prstGeom prst="rect">
            <a:avLst/>
          </a:prstGeom>
          <a:noFill/>
        </p:spPr>
        <p:txBody>
          <a:bodyPr wrap="none" rtlCol="0">
            <a:spAutoFit/>
          </a:bodyPr>
          <a:lstStyle/>
          <a:p>
            <a:r>
              <a:rPr lang="en-US" dirty="0"/>
              <a:t>KCL:</a:t>
            </a:r>
          </a:p>
        </p:txBody>
      </p:sp>
      <p:graphicFrame>
        <p:nvGraphicFramePr>
          <p:cNvPr id="147466" name="Object 10"/>
          <p:cNvGraphicFramePr>
            <a:graphicFrameLocks noChangeAspect="1"/>
          </p:cNvGraphicFramePr>
          <p:nvPr/>
        </p:nvGraphicFramePr>
        <p:xfrm>
          <a:off x="3555127" y="4267200"/>
          <a:ext cx="1430338" cy="847725"/>
        </p:xfrm>
        <a:graphic>
          <a:graphicData uri="http://schemas.openxmlformats.org/presentationml/2006/ole">
            <mc:AlternateContent xmlns:mc="http://schemas.openxmlformats.org/markup-compatibility/2006">
              <mc:Choice xmlns:v="urn:schemas-microsoft-com:vml" Requires="v">
                <p:oleObj name="Equation" r:id="rId9" imgW="711000" imgH="419040" progId="Equation.3">
                  <p:embed/>
                </p:oleObj>
              </mc:Choice>
              <mc:Fallback>
                <p:oleObj name="Equation" r:id="rId9" imgW="711000" imgH="41904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55127" y="4267200"/>
                        <a:ext cx="1430338" cy="847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 name="TextBox 27"/>
          <p:cNvSpPr txBox="1"/>
          <p:nvPr/>
        </p:nvSpPr>
        <p:spPr>
          <a:xfrm>
            <a:off x="5269627" y="5029200"/>
            <a:ext cx="1398781" cy="369332"/>
          </a:xfrm>
          <a:prstGeom prst="rect">
            <a:avLst/>
          </a:prstGeom>
          <a:noFill/>
        </p:spPr>
        <p:txBody>
          <a:bodyPr wrap="none" rtlCol="0">
            <a:spAutoFit/>
          </a:bodyPr>
          <a:lstStyle/>
          <a:p>
            <a:r>
              <a:rPr lang="en-US" dirty="0"/>
              <a:t>Ohm’s Law:</a:t>
            </a:r>
          </a:p>
        </p:txBody>
      </p:sp>
      <p:graphicFrame>
        <p:nvGraphicFramePr>
          <p:cNvPr id="147469" name="Object 13"/>
          <p:cNvGraphicFramePr>
            <a:graphicFrameLocks noChangeAspect="1"/>
          </p:cNvGraphicFramePr>
          <p:nvPr/>
        </p:nvGraphicFramePr>
        <p:xfrm>
          <a:off x="6603127" y="4973638"/>
          <a:ext cx="1968500" cy="436562"/>
        </p:xfrm>
        <a:graphic>
          <a:graphicData uri="http://schemas.openxmlformats.org/presentationml/2006/ole">
            <mc:AlternateContent xmlns:mc="http://schemas.openxmlformats.org/markup-compatibility/2006">
              <mc:Choice xmlns:v="urn:schemas-microsoft-com:vml" Requires="v">
                <p:oleObj name="Equation" r:id="rId11" imgW="977760" imgH="215640" progId="Equation.3">
                  <p:embed/>
                </p:oleObj>
              </mc:Choice>
              <mc:Fallback>
                <p:oleObj name="Equation" r:id="rId11" imgW="977760" imgH="21564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603127" y="4973638"/>
                        <a:ext cx="1968500" cy="436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1" name="Picture 5"/>
          <p:cNvPicPr>
            <a:picLocks noChangeAspect="1" noChangeArrowheads="1"/>
          </p:cNvPicPr>
          <p:nvPr/>
        </p:nvPicPr>
        <p:blipFill>
          <a:blip r:embed="rId13" cstate="print"/>
          <a:srcRect/>
          <a:stretch>
            <a:fillRect/>
          </a:stretch>
        </p:blipFill>
        <p:spPr bwMode="auto">
          <a:xfrm>
            <a:off x="4267200" y="1752600"/>
            <a:ext cx="2261685" cy="1485900"/>
          </a:xfrm>
          <a:prstGeom prst="rect">
            <a:avLst/>
          </a:prstGeom>
          <a:noFill/>
          <a:ln w="9525">
            <a:noFill/>
            <a:miter lim="800000"/>
            <a:headEnd/>
            <a:tailEnd/>
          </a:ln>
          <a:effectLst/>
        </p:spPr>
      </p:pic>
      <p:pic>
        <p:nvPicPr>
          <p:cNvPr id="151560" name="Picture 8"/>
          <p:cNvPicPr>
            <a:picLocks noChangeAspect="1" noChangeArrowheads="1"/>
          </p:cNvPicPr>
          <p:nvPr/>
        </p:nvPicPr>
        <p:blipFill>
          <a:blip r:embed="rId14" cstate="print"/>
          <a:srcRect/>
          <a:stretch>
            <a:fillRect/>
          </a:stretch>
        </p:blipFill>
        <p:spPr bwMode="auto">
          <a:xfrm>
            <a:off x="533399" y="3809999"/>
            <a:ext cx="2667001" cy="1444388"/>
          </a:xfrm>
          <a:prstGeom prst="rect">
            <a:avLst/>
          </a:prstGeom>
          <a:noFill/>
          <a:ln w="9525">
            <a:noFill/>
            <a:miter lim="800000"/>
            <a:headEnd/>
            <a:tailEnd/>
          </a:ln>
          <a:effectLst/>
        </p:spPr>
      </p:pic>
      <p:sp>
        <p:nvSpPr>
          <p:cNvPr id="26" name="Title 1"/>
          <p:cNvSpPr>
            <a:spLocks noGrp="1"/>
          </p:cNvSpPr>
          <p:nvPr>
            <p:ph type="title"/>
          </p:nvPr>
        </p:nvSpPr>
        <p:spPr>
          <a:xfrm>
            <a:off x="457200" y="122237"/>
            <a:ext cx="6819900" cy="563563"/>
          </a:xfrm>
        </p:spPr>
        <p:txBody>
          <a:bodyPr/>
          <a:lstStyle/>
          <a:p>
            <a:r>
              <a:rPr lang="en-US" sz="3200" dirty="0"/>
              <a:t>Example (</a:t>
            </a:r>
            <a:r>
              <a:rPr lang="en-US" sz="2800" dirty="0"/>
              <a:t>4.5 Johnson &amp; Johnson P:126)</a:t>
            </a:r>
            <a:endParaRPr lang="en-US" sz="3200" dirty="0"/>
          </a:p>
        </p:txBody>
      </p:sp>
    </p:spTree>
    <p:extLst>
      <p:ext uri="{BB962C8B-B14F-4D97-AF65-F5344CB8AC3E}">
        <p14:creationId xmlns:p14="http://schemas.microsoft.com/office/powerpoint/2010/main" val="2298024356"/>
      </p:ext>
    </p:extLst>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Content Placeholder 2"/>
          <p:cNvSpPr>
            <a:spLocks noGrp="1"/>
          </p:cNvSpPr>
          <p:nvPr>
            <p:ph idx="1"/>
          </p:nvPr>
        </p:nvSpPr>
        <p:spPr>
          <a:xfrm>
            <a:off x="533400" y="723901"/>
            <a:ext cx="8229600" cy="5867400"/>
          </a:xfrm>
        </p:spPr>
        <p:txBody>
          <a:bodyPr/>
          <a:lstStyle/>
          <a:p>
            <a:pPr>
              <a:buNone/>
            </a:pPr>
            <a:r>
              <a:rPr lang="en-US" sz="2400" dirty="0"/>
              <a:t>Find the voltage </a:t>
            </a:r>
            <a:r>
              <a:rPr lang="en-US" sz="2400" i="1" dirty="0"/>
              <a:t>v</a:t>
            </a:r>
            <a:r>
              <a:rPr lang="en-US" sz="2400" dirty="0"/>
              <a:t> and the power dissipated by the 3 </a:t>
            </a:r>
            <a:r>
              <a:rPr lang="el-GR" sz="2400" dirty="0"/>
              <a:t>Ω</a:t>
            </a:r>
            <a:r>
              <a:rPr lang="en-US" sz="2400" dirty="0"/>
              <a:t> resistor.</a:t>
            </a:r>
          </a:p>
          <a:p>
            <a:pPr>
              <a:buNone/>
            </a:pPr>
            <a:endParaRPr lang="en-US" sz="24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57</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7" name="TextBox 6"/>
          <p:cNvSpPr txBox="1"/>
          <p:nvPr/>
        </p:nvSpPr>
        <p:spPr>
          <a:xfrm>
            <a:off x="3816901" y="1371600"/>
            <a:ext cx="5327099" cy="369332"/>
          </a:xfrm>
          <a:prstGeom prst="rect">
            <a:avLst/>
          </a:prstGeom>
          <a:noFill/>
        </p:spPr>
        <p:txBody>
          <a:bodyPr wrap="none" rtlCol="0">
            <a:spAutoFit/>
          </a:bodyPr>
          <a:lstStyle/>
          <a:p>
            <a:r>
              <a:rPr lang="en-US" dirty="0"/>
              <a:t>1. </a:t>
            </a:r>
            <a:r>
              <a:rPr lang="en-US" u="sng" dirty="0"/>
              <a:t>Kill the current source to solve for component a:</a:t>
            </a:r>
          </a:p>
        </p:txBody>
      </p:sp>
      <p:graphicFrame>
        <p:nvGraphicFramePr>
          <p:cNvPr id="144387" name="Object 3"/>
          <p:cNvGraphicFramePr>
            <a:graphicFrameLocks noChangeAspect="1"/>
          </p:cNvGraphicFramePr>
          <p:nvPr/>
        </p:nvGraphicFramePr>
        <p:xfrm>
          <a:off x="6665912" y="2127250"/>
          <a:ext cx="2401888" cy="844550"/>
        </p:xfrm>
        <a:graphic>
          <a:graphicData uri="http://schemas.openxmlformats.org/presentationml/2006/ole">
            <mc:AlternateContent xmlns:mc="http://schemas.openxmlformats.org/markup-compatibility/2006">
              <mc:Choice xmlns:v="urn:schemas-microsoft-com:vml" Requires="v">
                <p:oleObj name="Equation" r:id="rId2" imgW="1193760" imgH="419040" progId="Equation.3">
                  <p:embed/>
                </p:oleObj>
              </mc:Choice>
              <mc:Fallback>
                <p:oleObj name="Equation" r:id="rId2" imgW="1193760" imgH="4190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5912" y="2127250"/>
                        <a:ext cx="2401888" cy="844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Box 10"/>
          <p:cNvSpPr txBox="1"/>
          <p:nvPr/>
        </p:nvSpPr>
        <p:spPr>
          <a:xfrm>
            <a:off x="266700" y="3467100"/>
            <a:ext cx="8148384" cy="369332"/>
          </a:xfrm>
          <a:prstGeom prst="rect">
            <a:avLst/>
          </a:prstGeom>
          <a:noFill/>
        </p:spPr>
        <p:txBody>
          <a:bodyPr wrap="none" rtlCol="0">
            <a:spAutoFit/>
          </a:bodyPr>
          <a:lstStyle/>
          <a:p>
            <a:r>
              <a:rPr lang="en-US" dirty="0"/>
              <a:t>2. </a:t>
            </a:r>
            <a:r>
              <a:rPr lang="en-US" u="sng" dirty="0"/>
              <a:t>Kill the voltage source (independent source only!) to solve for component b:</a:t>
            </a:r>
          </a:p>
        </p:txBody>
      </p:sp>
      <p:sp>
        <p:nvSpPr>
          <p:cNvPr id="15" name="TextBox 14"/>
          <p:cNvSpPr txBox="1"/>
          <p:nvPr/>
        </p:nvSpPr>
        <p:spPr>
          <a:xfrm>
            <a:off x="266700" y="5448300"/>
            <a:ext cx="4596130" cy="369332"/>
          </a:xfrm>
          <a:prstGeom prst="rect">
            <a:avLst/>
          </a:prstGeom>
          <a:noFill/>
        </p:spPr>
        <p:txBody>
          <a:bodyPr wrap="none" rtlCol="0">
            <a:spAutoFit/>
          </a:bodyPr>
          <a:lstStyle/>
          <a:p>
            <a:r>
              <a:rPr lang="en-US" dirty="0"/>
              <a:t>3. </a:t>
            </a:r>
            <a:r>
              <a:rPr lang="en-US" u="sng" dirty="0"/>
              <a:t>By superposition of component voltages:</a:t>
            </a:r>
          </a:p>
        </p:txBody>
      </p:sp>
      <p:graphicFrame>
        <p:nvGraphicFramePr>
          <p:cNvPr id="146437" name="Object 5"/>
          <p:cNvGraphicFramePr>
            <a:graphicFrameLocks noChangeAspect="1"/>
          </p:cNvGraphicFramePr>
          <p:nvPr/>
        </p:nvGraphicFramePr>
        <p:xfrm>
          <a:off x="1905000" y="5867400"/>
          <a:ext cx="1814512" cy="460375"/>
        </p:xfrm>
        <a:graphic>
          <a:graphicData uri="http://schemas.openxmlformats.org/presentationml/2006/ole">
            <mc:AlternateContent xmlns:mc="http://schemas.openxmlformats.org/markup-compatibility/2006">
              <mc:Choice xmlns:v="urn:schemas-microsoft-com:vml" Requires="v">
                <p:oleObj name="Equation" r:id="rId4" imgW="901440" imgH="228600" progId="Equation.3">
                  <p:embed/>
                </p:oleObj>
              </mc:Choice>
              <mc:Fallback>
                <p:oleObj name="Equation" r:id="rId4" imgW="901440" imgH="2286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5000" y="5867400"/>
                        <a:ext cx="1814512" cy="460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47462" name="Picture 6"/>
          <p:cNvPicPr>
            <a:picLocks noChangeAspect="1" noChangeArrowheads="1"/>
          </p:cNvPicPr>
          <p:nvPr/>
        </p:nvPicPr>
        <p:blipFill>
          <a:blip r:embed="rId6" cstate="print"/>
          <a:srcRect/>
          <a:stretch>
            <a:fillRect/>
          </a:stretch>
        </p:blipFill>
        <p:spPr bwMode="auto">
          <a:xfrm>
            <a:off x="114300" y="1104900"/>
            <a:ext cx="4026797" cy="2133600"/>
          </a:xfrm>
          <a:prstGeom prst="rect">
            <a:avLst/>
          </a:prstGeom>
          <a:noFill/>
          <a:ln w="9525">
            <a:noFill/>
            <a:miter lim="800000"/>
            <a:headEnd/>
            <a:tailEnd/>
          </a:ln>
          <a:effectLst/>
        </p:spPr>
      </p:pic>
      <p:sp>
        <p:nvSpPr>
          <p:cNvPr id="18" name="TextBox 17"/>
          <p:cNvSpPr txBox="1"/>
          <p:nvPr/>
        </p:nvSpPr>
        <p:spPr>
          <a:xfrm>
            <a:off x="6553200" y="1840468"/>
            <a:ext cx="2108334" cy="369332"/>
          </a:xfrm>
          <a:prstGeom prst="rect">
            <a:avLst/>
          </a:prstGeom>
          <a:noFill/>
        </p:spPr>
        <p:txBody>
          <a:bodyPr wrap="none" rtlCol="0">
            <a:spAutoFit/>
          </a:bodyPr>
          <a:lstStyle/>
          <a:p>
            <a:r>
              <a:rPr lang="en-US" dirty="0"/>
              <a:t>KVL &amp; Ohm’s Law:</a:t>
            </a:r>
          </a:p>
        </p:txBody>
      </p:sp>
      <p:graphicFrame>
        <p:nvGraphicFramePr>
          <p:cNvPr id="147463" name="Object 7"/>
          <p:cNvGraphicFramePr>
            <a:graphicFrameLocks noChangeAspect="1"/>
          </p:cNvGraphicFramePr>
          <p:nvPr/>
        </p:nvGraphicFramePr>
        <p:xfrm>
          <a:off x="7026275" y="3048000"/>
          <a:ext cx="1457325" cy="436563"/>
        </p:xfrm>
        <a:graphic>
          <a:graphicData uri="http://schemas.openxmlformats.org/presentationml/2006/ole">
            <mc:AlternateContent xmlns:mc="http://schemas.openxmlformats.org/markup-compatibility/2006">
              <mc:Choice xmlns:v="urn:schemas-microsoft-com:vml" Requires="v">
                <p:oleObj name="Equation" r:id="rId7" imgW="723600" imgH="215640" progId="Equation.3">
                  <p:embed/>
                </p:oleObj>
              </mc:Choice>
              <mc:Fallback>
                <p:oleObj name="Equation" r:id="rId7" imgW="723600" imgH="21564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26275" y="3048000"/>
                        <a:ext cx="1457325" cy="436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extBox 19"/>
          <p:cNvSpPr txBox="1"/>
          <p:nvPr/>
        </p:nvSpPr>
        <p:spPr>
          <a:xfrm>
            <a:off x="6515100" y="2743200"/>
            <a:ext cx="1398781" cy="369332"/>
          </a:xfrm>
          <a:prstGeom prst="rect">
            <a:avLst/>
          </a:prstGeom>
          <a:noFill/>
        </p:spPr>
        <p:txBody>
          <a:bodyPr wrap="none" rtlCol="0">
            <a:spAutoFit/>
          </a:bodyPr>
          <a:lstStyle/>
          <a:p>
            <a:r>
              <a:rPr lang="en-US" dirty="0"/>
              <a:t>Ohm’s Law:</a:t>
            </a:r>
          </a:p>
        </p:txBody>
      </p:sp>
      <p:graphicFrame>
        <p:nvGraphicFramePr>
          <p:cNvPr id="22" name="Object 3"/>
          <p:cNvGraphicFramePr>
            <a:graphicFrameLocks noChangeAspect="1"/>
          </p:cNvGraphicFramePr>
          <p:nvPr/>
        </p:nvGraphicFramePr>
        <p:xfrm>
          <a:off x="5269627" y="4114800"/>
          <a:ext cx="3500437" cy="844550"/>
        </p:xfrm>
        <a:graphic>
          <a:graphicData uri="http://schemas.openxmlformats.org/presentationml/2006/ole">
            <mc:AlternateContent xmlns:mc="http://schemas.openxmlformats.org/markup-compatibility/2006">
              <mc:Choice xmlns:v="urn:schemas-microsoft-com:vml" Requires="v">
                <p:oleObj name="Equation" r:id="rId9" imgW="1739880" imgH="419040" progId="Equation.3">
                  <p:embed/>
                </p:oleObj>
              </mc:Choice>
              <mc:Fallback>
                <p:oleObj name="Equation" r:id="rId9" imgW="1739880" imgH="41904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69627" y="4114800"/>
                        <a:ext cx="3500437" cy="844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TextBox 22"/>
          <p:cNvSpPr txBox="1"/>
          <p:nvPr/>
        </p:nvSpPr>
        <p:spPr>
          <a:xfrm>
            <a:off x="5193427" y="3848100"/>
            <a:ext cx="2108334" cy="369332"/>
          </a:xfrm>
          <a:prstGeom prst="rect">
            <a:avLst/>
          </a:prstGeom>
          <a:noFill/>
        </p:spPr>
        <p:txBody>
          <a:bodyPr wrap="none" rtlCol="0">
            <a:spAutoFit/>
          </a:bodyPr>
          <a:lstStyle/>
          <a:p>
            <a:r>
              <a:rPr lang="en-US" dirty="0"/>
              <a:t>KVL &amp; Ohm’s Law:</a:t>
            </a:r>
          </a:p>
        </p:txBody>
      </p:sp>
      <p:sp>
        <p:nvSpPr>
          <p:cNvPr id="24" name="TextBox 23"/>
          <p:cNvSpPr txBox="1"/>
          <p:nvPr/>
        </p:nvSpPr>
        <p:spPr>
          <a:xfrm>
            <a:off x="3467100" y="3886200"/>
            <a:ext cx="697627" cy="369332"/>
          </a:xfrm>
          <a:prstGeom prst="rect">
            <a:avLst/>
          </a:prstGeom>
          <a:noFill/>
        </p:spPr>
        <p:txBody>
          <a:bodyPr wrap="none" rtlCol="0">
            <a:spAutoFit/>
          </a:bodyPr>
          <a:lstStyle/>
          <a:p>
            <a:r>
              <a:rPr lang="en-US" dirty="0"/>
              <a:t>KCL:</a:t>
            </a:r>
          </a:p>
        </p:txBody>
      </p:sp>
      <p:graphicFrame>
        <p:nvGraphicFramePr>
          <p:cNvPr id="147466" name="Object 10"/>
          <p:cNvGraphicFramePr>
            <a:graphicFrameLocks noChangeAspect="1"/>
          </p:cNvGraphicFramePr>
          <p:nvPr/>
        </p:nvGraphicFramePr>
        <p:xfrm>
          <a:off x="3555127" y="4267200"/>
          <a:ext cx="1430338" cy="847725"/>
        </p:xfrm>
        <a:graphic>
          <a:graphicData uri="http://schemas.openxmlformats.org/presentationml/2006/ole">
            <mc:AlternateContent xmlns:mc="http://schemas.openxmlformats.org/markup-compatibility/2006">
              <mc:Choice xmlns:v="urn:schemas-microsoft-com:vml" Requires="v">
                <p:oleObj name="Equation" r:id="rId11" imgW="711000" imgH="419040" progId="Equation.3">
                  <p:embed/>
                </p:oleObj>
              </mc:Choice>
              <mc:Fallback>
                <p:oleObj name="Equation" r:id="rId11" imgW="711000" imgH="41904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55127" y="4267200"/>
                        <a:ext cx="1430338" cy="847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 name="TextBox 27"/>
          <p:cNvSpPr txBox="1"/>
          <p:nvPr/>
        </p:nvSpPr>
        <p:spPr>
          <a:xfrm>
            <a:off x="5269627" y="5029200"/>
            <a:ext cx="1398781" cy="369332"/>
          </a:xfrm>
          <a:prstGeom prst="rect">
            <a:avLst/>
          </a:prstGeom>
          <a:noFill/>
        </p:spPr>
        <p:txBody>
          <a:bodyPr wrap="none" rtlCol="0">
            <a:spAutoFit/>
          </a:bodyPr>
          <a:lstStyle/>
          <a:p>
            <a:r>
              <a:rPr lang="en-US" dirty="0"/>
              <a:t>Ohm’s Law:</a:t>
            </a:r>
          </a:p>
        </p:txBody>
      </p:sp>
      <p:graphicFrame>
        <p:nvGraphicFramePr>
          <p:cNvPr id="147469" name="Object 13"/>
          <p:cNvGraphicFramePr>
            <a:graphicFrameLocks noChangeAspect="1"/>
          </p:cNvGraphicFramePr>
          <p:nvPr/>
        </p:nvGraphicFramePr>
        <p:xfrm>
          <a:off x="6603127" y="4973638"/>
          <a:ext cx="1968500" cy="436562"/>
        </p:xfrm>
        <a:graphic>
          <a:graphicData uri="http://schemas.openxmlformats.org/presentationml/2006/ole">
            <mc:AlternateContent xmlns:mc="http://schemas.openxmlformats.org/markup-compatibility/2006">
              <mc:Choice xmlns:v="urn:schemas-microsoft-com:vml" Requires="v">
                <p:oleObj name="Equation" r:id="rId13" imgW="977760" imgH="215640" progId="Equation.3">
                  <p:embed/>
                </p:oleObj>
              </mc:Choice>
              <mc:Fallback>
                <p:oleObj name="Equation" r:id="rId13" imgW="977760" imgH="21564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603127" y="4973638"/>
                        <a:ext cx="1968500" cy="436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5" name="Picture 5"/>
          <p:cNvPicPr>
            <a:picLocks noChangeAspect="1" noChangeArrowheads="1"/>
          </p:cNvPicPr>
          <p:nvPr/>
        </p:nvPicPr>
        <p:blipFill>
          <a:blip r:embed="rId15" cstate="print"/>
          <a:srcRect/>
          <a:stretch>
            <a:fillRect/>
          </a:stretch>
        </p:blipFill>
        <p:spPr bwMode="auto">
          <a:xfrm>
            <a:off x="4267200" y="1752600"/>
            <a:ext cx="2261685" cy="1485900"/>
          </a:xfrm>
          <a:prstGeom prst="rect">
            <a:avLst/>
          </a:prstGeom>
          <a:noFill/>
          <a:ln w="9525">
            <a:noFill/>
            <a:miter lim="800000"/>
            <a:headEnd/>
            <a:tailEnd/>
          </a:ln>
          <a:effectLst/>
        </p:spPr>
      </p:pic>
      <p:pic>
        <p:nvPicPr>
          <p:cNvPr id="26" name="Picture 8"/>
          <p:cNvPicPr>
            <a:picLocks noChangeAspect="1" noChangeArrowheads="1"/>
          </p:cNvPicPr>
          <p:nvPr/>
        </p:nvPicPr>
        <p:blipFill>
          <a:blip r:embed="rId16" cstate="print"/>
          <a:srcRect/>
          <a:stretch>
            <a:fillRect/>
          </a:stretch>
        </p:blipFill>
        <p:spPr bwMode="auto">
          <a:xfrm>
            <a:off x="533399" y="3809999"/>
            <a:ext cx="2667001" cy="1444388"/>
          </a:xfrm>
          <a:prstGeom prst="rect">
            <a:avLst/>
          </a:prstGeom>
          <a:noFill/>
          <a:ln w="9525">
            <a:noFill/>
            <a:miter lim="800000"/>
            <a:headEnd/>
            <a:tailEnd/>
          </a:ln>
          <a:effectLst/>
        </p:spPr>
      </p:pic>
      <p:sp>
        <p:nvSpPr>
          <p:cNvPr id="29" name="Title 1"/>
          <p:cNvSpPr>
            <a:spLocks noGrp="1"/>
          </p:cNvSpPr>
          <p:nvPr>
            <p:ph type="title"/>
          </p:nvPr>
        </p:nvSpPr>
        <p:spPr>
          <a:xfrm>
            <a:off x="457200" y="122237"/>
            <a:ext cx="6819900" cy="563563"/>
          </a:xfrm>
        </p:spPr>
        <p:txBody>
          <a:bodyPr/>
          <a:lstStyle/>
          <a:p>
            <a:r>
              <a:rPr lang="en-US" sz="3200" dirty="0"/>
              <a:t>Example (</a:t>
            </a:r>
            <a:r>
              <a:rPr lang="en-US" sz="2800" dirty="0"/>
              <a:t>4.5 Johnson &amp; Johnson P:126)</a:t>
            </a:r>
            <a:endParaRPr lang="en-US" sz="3200" dirty="0"/>
          </a:p>
        </p:txBody>
      </p:sp>
    </p:spTree>
    <p:extLst>
      <p:ext uri="{BB962C8B-B14F-4D97-AF65-F5344CB8AC3E}">
        <p14:creationId xmlns:p14="http://schemas.microsoft.com/office/powerpoint/2010/main" val="3437234188"/>
      </p:ext>
    </p:extLst>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Content Placeholder 2"/>
          <p:cNvSpPr>
            <a:spLocks noGrp="1"/>
          </p:cNvSpPr>
          <p:nvPr>
            <p:ph idx="1"/>
          </p:nvPr>
        </p:nvSpPr>
        <p:spPr>
          <a:xfrm>
            <a:off x="533400" y="723901"/>
            <a:ext cx="8229600" cy="5867400"/>
          </a:xfrm>
        </p:spPr>
        <p:txBody>
          <a:bodyPr/>
          <a:lstStyle/>
          <a:p>
            <a:pPr>
              <a:buNone/>
            </a:pPr>
            <a:r>
              <a:rPr lang="en-US" sz="2400" dirty="0"/>
              <a:t>Find the voltage </a:t>
            </a:r>
            <a:r>
              <a:rPr lang="en-US" sz="2400" i="1" dirty="0"/>
              <a:t>v</a:t>
            </a:r>
            <a:r>
              <a:rPr lang="en-US" sz="2400" dirty="0"/>
              <a:t> and the power dissipated by the 3 </a:t>
            </a:r>
            <a:r>
              <a:rPr lang="el-GR" sz="2400" dirty="0"/>
              <a:t>Ω</a:t>
            </a:r>
            <a:r>
              <a:rPr lang="en-US" sz="2400" dirty="0"/>
              <a:t> resistor.</a:t>
            </a:r>
          </a:p>
          <a:p>
            <a:pPr>
              <a:buNone/>
            </a:pPr>
            <a:endParaRPr lang="en-US" sz="24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58</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7" name="TextBox 6"/>
          <p:cNvSpPr txBox="1"/>
          <p:nvPr/>
        </p:nvSpPr>
        <p:spPr>
          <a:xfrm>
            <a:off x="3816901" y="1371600"/>
            <a:ext cx="5327099" cy="369332"/>
          </a:xfrm>
          <a:prstGeom prst="rect">
            <a:avLst/>
          </a:prstGeom>
          <a:noFill/>
        </p:spPr>
        <p:txBody>
          <a:bodyPr wrap="none" rtlCol="0">
            <a:spAutoFit/>
          </a:bodyPr>
          <a:lstStyle/>
          <a:p>
            <a:r>
              <a:rPr lang="en-US" dirty="0"/>
              <a:t>1. </a:t>
            </a:r>
            <a:r>
              <a:rPr lang="en-US" u="sng" dirty="0"/>
              <a:t>Kill the current source to solve for component a:</a:t>
            </a:r>
          </a:p>
        </p:txBody>
      </p:sp>
      <p:graphicFrame>
        <p:nvGraphicFramePr>
          <p:cNvPr id="144387" name="Object 3"/>
          <p:cNvGraphicFramePr>
            <a:graphicFrameLocks noChangeAspect="1"/>
          </p:cNvGraphicFramePr>
          <p:nvPr/>
        </p:nvGraphicFramePr>
        <p:xfrm>
          <a:off x="6665912" y="2127250"/>
          <a:ext cx="2401888" cy="844550"/>
        </p:xfrm>
        <a:graphic>
          <a:graphicData uri="http://schemas.openxmlformats.org/presentationml/2006/ole">
            <mc:AlternateContent xmlns:mc="http://schemas.openxmlformats.org/markup-compatibility/2006">
              <mc:Choice xmlns:v="urn:schemas-microsoft-com:vml" Requires="v">
                <p:oleObj name="Equation" r:id="rId2" imgW="1193760" imgH="419040" progId="Equation.3">
                  <p:embed/>
                </p:oleObj>
              </mc:Choice>
              <mc:Fallback>
                <p:oleObj name="Equation" r:id="rId2" imgW="1193760" imgH="4190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5912" y="2127250"/>
                        <a:ext cx="2401888" cy="844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Box 10"/>
          <p:cNvSpPr txBox="1"/>
          <p:nvPr/>
        </p:nvSpPr>
        <p:spPr>
          <a:xfrm>
            <a:off x="266700" y="3467100"/>
            <a:ext cx="8148384" cy="369332"/>
          </a:xfrm>
          <a:prstGeom prst="rect">
            <a:avLst/>
          </a:prstGeom>
          <a:noFill/>
        </p:spPr>
        <p:txBody>
          <a:bodyPr wrap="none" rtlCol="0">
            <a:spAutoFit/>
          </a:bodyPr>
          <a:lstStyle/>
          <a:p>
            <a:r>
              <a:rPr lang="en-US" dirty="0"/>
              <a:t>2. </a:t>
            </a:r>
            <a:r>
              <a:rPr lang="en-US" u="sng" dirty="0"/>
              <a:t>Kill the voltage source (independent source only!) to solve for component b:</a:t>
            </a:r>
          </a:p>
        </p:txBody>
      </p:sp>
      <p:sp>
        <p:nvSpPr>
          <p:cNvPr id="15" name="TextBox 14"/>
          <p:cNvSpPr txBox="1"/>
          <p:nvPr/>
        </p:nvSpPr>
        <p:spPr>
          <a:xfrm>
            <a:off x="266700" y="5448300"/>
            <a:ext cx="4596130" cy="369332"/>
          </a:xfrm>
          <a:prstGeom prst="rect">
            <a:avLst/>
          </a:prstGeom>
          <a:noFill/>
        </p:spPr>
        <p:txBody>
          <a:bodyPr wrap="none" rtlCol="0">
            <a:spAutoFit/>
          </a:bodyPr>
          <a:lstStyle/>
          <a:p>
            <a:r>
              <a:rPr lang="en-US" dirty="0"/>
              <a:t>3. </a:t>
            </a:r>
            <a:r>
              <a:rPr lang="en-US" u="sng" dirty="0"/>
              <a:t>By superposition of component voltages:</a:t>
            </a:r>
          </a:p>
        </p:txBody>
      </p:sp>
      <p:graphicFrame>
        <p:nvGraphicFramePr>
          <p:cNvPr id="146437" name="Object 5"/>
          <p:cNvGraphicFramePr>
            <a:graphicFrameLocks noChangeAspect="1"/>
          </p:cNvGraphicFramePr>
          <p:nvPr/>
        </p:nvGraphicFramePr>
        <p:xfrm>
          <a:off x="1905000" y="5867400"/>
          <a:ext cx="1814512" cy="460375"/>
        </p:xfrm>
        <a:graphic>
          <a:graphicData uri="http://schemas.openxmlformats.org/presentationml/2006/ole">
            <mc:AlternateContent xmlns:mc="http://schemas.openxmlformats.org/markup-compatibility/2006">
              <mc:Choice xmlns:v="urn:schemas-microsoft-com:vml" Requires="v">
                <p:oleObj name="Equation" r:id="rId4" imgW="901440" imgH="228600" progId="Equation.3">
                  <p:embed/>
                </p:oleObj>
              </mc:Choice>
              <mc:Fallback>
                <p:oleObj name="Equation" r:id="rId4" imgW="901440" imgH="2286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5000" y="5867400"/>
                        <a:ext cx="1814512" cy="460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47462" name="Picture 6"/>
          <p:cNvPicPr>
            <a:picLocks noChangeAspect="1" noChangeArrowheads="1"/>
          </p:cNvPicPr>
          <p:nvPr/>
        </p:nvPicPr>
        <p:blipFill>
          <a:blip r:embed="rId6" cstate="print"/>
          <a:srcRect/>
          <a:stretch>
            <a:fillRect/>
          </a:stretch>
        </p:blipFill>
        <p:spPr bwMode="auto">
          <a:xfrm>
            <a:off x="114300" y="1104900"/>
            <a:ext cx="4026797" cy="2133600"/>
          </a:xfrm>
          <a:prstGeom prst="rect">
            <a:avLst/>
          </a:prstGeom>
          <a:noFill/>
          <a:ln w="9525">
            <a:noFill/>
            <a:miter lim="800000"/>
            <a:headEnd/>
            <a:tailEnd/>
          </a:ln>
          <a:effectLst/>
        </p:spPr>
      </p:pic>
      <p:sp>
        <p:nvSpPr>
          <p:cNvPr id="18" name="TextBox 17"/>
          <p:cNvSpPr txBox="1"/>
          <p:nvPr/>
        </p:nvSpPr>
        <p:spPr>
          <a:xfrm>
            <a:off x="6553200" y="1840468"/>
            <a:ext cx="2108334" cy="369332"/>
          </a:xfrm>
          <a:prstGeom prst="rect">
            <a:avLst/>
          </a:prstGeom>
          <a:noFill/>
        </p:spPr>
        <p:txBody>
          <a:bodyPr wrap="none" rtlCol="0">
            <a:spAutoFit/>
          </a:bodyPr>
          <a:lstStyle/>
          <a:p>
            <a:r>
              <a:rPr lang="en-US" dirty="0"/>
              <a:t>KVL &amp; Ohm’s Law:</a:t>
            </a:r>
          </a:p>
        </p:txBody>
      </p:sp>
      <p:graphicFrame>
        <p:nvGraphicFramePr>
          <p:cNvPr id="147463" name="Object 7"/>
          <p:cNvGraphicFramePr>
            <a:graphicFrameLocks noChangeAspect="1"/>
          </p:cNvGraphicFramePr>
          <p:nvPr/>
        </p:nvGraphicFramePr>
        <p:xfrm>
          <a:off x="7026275" y="3048000"/>
          <a:ext cx="1457325" cy="436563"/>
        </p:xfrm>
        <a:graphic>
          <a:graphicData uri="http://schemas.openxmlformats.org/presentationml/2006/ole">
            <mc:AlternateContent xmlns:mc="http://schemas.openxmlformats.org/markup-compatibility/2006">
              <mc:Choice xmlns:v="urn:schemas-microsoft-com:vml" Requires="v">
                <p:oleObj name="Equation" r:id="rId7" imgW="723600" imgH="215640" progId="Equation.3">
                  <p:embed/>
                </p:oleObj>
              </mc:Choice>
              <mc:Fallback>
                <p:oleObj name="Equation" r:id="rId7" imgW="723600" imgH="21564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26275" y="3048000"/>
                        <a:ext cx="1457325" cy="436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extBox 19"/>
          <p:cNvSpPr txBox="1"/>
          <p:nvPr/>
        </p:nvSpPr>
        <p:spPr>
          <a:xfrm>
            <a:off x="6515100" y="2743200"/>
            <a:ext cx="1398781" cy="369332"/>
          </a:xfrm>
          <a:prstGeom prst="rect">
            <a:avLst/>
          </a:prstGeom>
          <a:noFill/>
        </p:spPr>
        <p:txBody>
          <a:bodyPr wrap="none" rtlCol="0">
            <a:spAutoFit/>
          </a:bodyPr>
          <a:lstStyle/>
          <a:p>
            <a:r>
              <a:rPr lang="en-US" dirty="0"/>
              <a:t>Ohm’s Law:</a:t>
            </a:r>
          </a:p>
        </p:txBody>
      </p:sp>
      <p:graphicFrame>
        <p:nvGraphicFramePr>
          <p:cNvPr id="22" name="Object 3"/>
          <p:cNvGraphicFramePr>
            <a:graphicFrameLocks noChangeAspect="1"/>
          </p:cNvGraphicFramePr>
          <p:nvPr/>
        </p:nvGraphicFramePr>
        <p:xfrm>
          <a:off x="5269627" y="4114800"/>
          <a:ext cx="3500437" cy="844550"/>
        </p:xfrm>
        <a:graphic>
          <a:graphicData uri="http://schemas.openxmlformats.org/presentationml/2006/ole">
            <mc:AlternateContent xmlns:mc="http://schemas.openxmlformats.org/markup-compatibility/2006">
              <mc:Choice xmlns:v="urn:schemas-microsoft-com:vml" Requires="v">
                <p:oleObj name="Equation" r:id="rId9" imgW="1739880" imgH="419040" progId="Equation.3">
                  <p:embed/>
                </p:oleObj>
              </mc:Choice>
              <mc:Fallback>
                <p:oleObj name="Equation" r:id="rId9" imgW="1739880" imgH="41904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69627" y="4114800"/>
                        <a:ext cx="3500437" cy="844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TextBox 22"/>
          <p:cNvSpPr txBox="1"/>
          <p:nvPr/>
        </p:nvSpPr>
        <p:spPr>
          <a:xfrm>
            <a:off x="5193427" y="3848100"/>
            <a:ext cx="2108334" cy="369332"/>
          </a:xfrm>
          <a:prstGeom prst="rect">
            <a:avLst/>
          </a:prstGeom>
          <a:noFill/>
        </p:spPr>
        <p:txBody>
          <a:bodyPr wrap="none" rtlCol="0">
            <a:spAutoFit/>
          </a:bodyPr>
          <a:lstStyle/>
          <a:p>
            <a:r>
              <a:rPr lang="en-US" dirty="0"/>
              <a:t>KVL &amp; Ohm’s Law:</a:t>
            </a:r>
          </a:p>
        </p:txBody>
      </p:sp>
      <p:sp>
        <p:nvSpPr>
          <p:cNvPr id="24" name="TextBox 23"/>
          <p:cNvSpPr txBox="1"/>
          <p:nvPr/>
        </p:nvSpPr>
        <p:spPr>
          <a:xfrm>
            <a:off x="3467100" y="3886200"/>
            <a:ext cx="697627" cy="369332"/>
          </a:xfrm>
          <a:prstGeom prst="rect">
            <a:avLst/>
          </a:prstGeom>
          <a:noFill/>
        </p:spPr>
        <p:txBody>
          <a:bodyPr wrap="none" rtlCol="0">
            <a:spAutoFit/>
          </a:bodyPr>
          <a:lstStyle/>
          <a:p>
            <a:r>
              <a:rPr lang="en-US" dirty="0"/>
              <a:t>KCL:</a:t>
            </a:r>
          </a:p>
        </p:txBody>
      </p:sp>
      <p:graphicFrame>
        <p:nvGraphicFramePr>
          <p:cNvPr id="147466" name="Object 10"/>
          <p:cNvGraphicFramePr>
            <a:graphicFrameLocks noChangeAspect="1"/>
          </p:cNvGraphicFramePr>
          <p:nvPr/>
        </p:nvGraphicFramePr>
        <p:xfrm>
          <a:off x="3555127" y="4267200"/>
          <a:ext cx="1430338" cy="847725"/>
        </p:xfrm>
        <a:graphic>
          <a:graphicData uri="http://schemas.openxmlformats.org/presentationml/2006/ole">
            <mc:AlternateContent xmlns:mc="http://schemas.openxmlformats.org/markup-compatibility/2006">
              <mc:Choice xmlns:v="urn:schemas-microsoft-com:vml" Requires="v">
                <p:oleObj name="Equation" r:id="rId11" imgW="711000" imgH="419040" progId="Equation.3">
                  <p:embed/>
                </p:oleObj>
              </mc:Choice>
              <mc:Fallback>
                <p:oleObj name="Equation" r:id="rId11" imgW="711000" imgH="41904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55127" y="4267200"/>
                        <a:ext cx="1430338" cy="847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 name="TextBox 27"/>
          <p:cNvSpPr txBox="1"/>
          <p:nvPr/>
        </p:nvSpPr>
        <p:spPr>
          <a:xfrm>
            <a:off x="5269627" y="5029200"/>
            <a:ext cx="1398781" cy="369332"/>
          </a:xfrm>
          <a:prstGeom prst="rect">
            <a:avLst/>
          </a:prstGeom>
          <a:noFill/>
        </p:spPr>
        <p:txBody>
          <a:bodyPr wrap="none" rtlCol="0">
            <a:spAutoFit/>
          </a:bodyPr>
          <a:lstStyle/>
          <a:p>
            <a:r>
              <a:rPr lang="en-US" dirty="0"/>
              <a:t>Ohm’s Law:</a:t>
            </a:r>
          </a:p>
        </p:txBody>
      </p:sp>
      <p:graphicFrame>
        <p:nvGraphicFramePr>
          <p:cNvPr id="147469" name="Object 13"/>
          <p:cNvGraphicFramePr>
            <a:graphicFrameLocks noChangeAspect="1"/>
          </p:cNvGraphicFramePr>
          <p:nvPr/>
        </p:nvGraphicFramePr>
        <p:xfrm>
          <a:off x="6603127" y="4973638"/>
          <a:ext cx="1968500" cy="436562"/>
        </p:xfrm>
        <a:graphic>
          <a:graphicData uri="http://schemas.openxmlformats.org/presentationml/2006/ole">
            <mc:AlternateContent xmlns:mc="http://schemas.openxmlformats.org/markup-compatibility/2006">
              <mc:Choice xmlns:v="urn:schemas-microsoft-com:vml" Requires="v">
                <p:oleObj name="Equation" r:id="rId13" imgW="977760" imgH="215640" progId="Equation.3">
                  <p:embed/>
                </p:oleObj>
              </mc:Choice>
              <mc:Fallback>
                <p:oleObj name="Equation" r:id="rId13" imgW="977760" imgH="21564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603127" y="4973638"/>
                        <a:ext cx="1968500" cy="436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 name="TextBox 29"/>
          <p:cNvSpPr txBox="1"/>
          <p:nvPr/>
        </p:nvSpPr>
        <p:spPr>
          <a:xfrm>
            <a:off x="5257800" y="5448300"/>
            <a:ext cx="3581430" cy="369332"/>
          </a:xfrm>
          <a:prstGeom prst="rect">
            <a:avLst/>
          </a:prstGeom>
          <a:noFill/>
        </p:spPr>
        <p:txBody>
          <a:bodyPr wrap="none" rtlCol="0">
            <a:spAutoFit/>
          </a:bodyPr>
          <a:lstStyle/>
          <a:p>
            <a:r>
              <a:rPr lang="en-US" dirty="0"/>
              <a:t>4. </a:t>
            </a:r>
            <a:r>
              <a:rPr lang="en-US" u="sng" dirty="0"/>
              <a:t>Power through the 3</a:t>
            </a:r>
            <a:r>
              <a:rPr lang="el-GR" u="sng" dirty="0"/>
              <a:t>Ω</a:t>
            </a:r>
            <a:r>
              <a:rPr lang="en-US" u="sng" dirty="0"/>
              <a:t> resistor:</a:t>
            </a:r>
          </a:p>
        </p:txBody>
      </p:sp>
      <p:pic>
        <p:nvPicPr>
          <p:cNvPr id="25" name="Picture 5"/>
          <p:cNvPicPr>
            <a:picLocks noChangeAspect="1" noChangeArrowheads="1"/>
          </p:cNvPicPr>
          <p:nvPr/>
        </p:nvPicPr>
        <p:blipFill>
          <a:blip r:embed="rId15" cstate="print"/>
          <a:srcRect/>
          <a:stretch>
            <a:fillRect/>
          </a:stretch>
        </p:blipFill>
        <p:spPr bwMode="auto">
          <a:xfrm>
            <a:off x="4267200" y="1752600"/>
            <a:ext cx="2261685" cy="1485900"/>
          </a:xfrm>
          <a:prstGeom prst="rect">
            <a:avLst/>
          </a:prstGeom>
          <a:noFill/>
          <a:ln w="9525">
            <a:noFill/>
            <a:miter lim="800000"/>
            <a:headEnd/>
            <a:tailEnd/>
          </a:ln>
          <a:effectLst/>
        </p:spPr>
      </p:pic>
      <p:pic>
        <p:nvPicPr>
          <p:cNvPr id="26" name="Picture 8"/>
          <p:cNvPicPr>
            <a:picLocks noChangeAspect="1" noChangeArrowheads="1"/>
          </p:cNvPicPr>
          <p:nvPr/>
        </p:nvPicPr>
        <p:blipFill>
          <a:blip r:embed="rId16" cstate="print"/>
          <a:srcRect/>
          <a:stretch>
            <a:fillRect/>
          </a:stretch>
        </p:blipFill>
        <p:spPr bwMode="auto">
          <a:xfrm>
            <a:off x="533399" y="3809999"/>
            <a:ext cx="2667001" cy="1444388"/>
          </a:xfrm>
          <a:prstGeom prst="rect">
            <a:avLst/>
          </a:prstGeom>
          <a:noFill/>
          <a:ln w="9525">
            <a:noFill/>
            <a:miter lim="800000"/>
            <a:headEnd/>
            <a:tailEnd/>
          </a:ln>
          <a:effectLst/>
        </p:spPr>
      </p:pic>
      <p:sp>
        <p:nvSpPr>
          <p:cNvPr id="29" name="Title 1"/>
          <p:cNvSpPr>
            <a:spLocks noGrp="1"/>
          </p:cNvSpPr>
          <p:nvPr>
            <p:ph type="title"/>
          </p:nvPr>
        </p:nvSpPr>
        <p:spPr>
          <a:xfrm>
            <a:off x="457200" y="122237"/>
            <a:ext cx="6819900" cy="563563"/>
          </a:xfrm>
        </p:spPr>
        <p:txBody>
          <a:bodyPr/>
          <a:lstStyle/>
          <a:p>
            <a:r>
              <a:rPr lang="en-US" sz="3200" dirty="0"/>
              <a:t>Example (</a:t>
            </a:r>
            <a:r>
              <a:rPr lang="en-US" sz="2800" dirty="0"/>
              <a:t>4.5 Johnson &amp; Johnson P:126)</a:t>
            </a:r>
            <a:endParaRPr lang="en-US" sz="3200" dirty="0"/>
          </a:p>
        </p:txBody>
      </p:sp>
      <p:graphicFrame>
        <p:nvGraphicFramePr>
          <p:cNvPr id="153609" name="Object 9"/>
          <p:cNvGraphicFramePr>
            <a:graphicFrameLocks noChangeAspect="1"/>
          </p:cNvGraphicFramePr>
          <p:nvPr/>
        </p:nvGraphicFramePr>
        <p:xfrm>
          <a:off x="5726112" y="5816600"/>
          <a:ext cx="2427288" cy="801688"/>
        </p:xfrm>
        <a:graphic>
          <a:graphicData uri="http://schemas.openxmlformats.org/presentationml/2006/ole">
            <mc:AlternateContent xmlns:mc="http://schemas.openxmlformats.org/markup-compatibility/2006">
              <mc:Choice xmlns:v="urn:schemas-microsoft-com:vml" Requires="v">
                <p:oleObj name="Equation" r:id="rId17" imgW="1307880" imgH="431640" progId="Equation.3">
                  <p:embed/>
                </p:oleObj>
              </mc:Choice>
              <mc:Fallback>
                <p:oleObj name="Equation" r:id="rId17" imgW="1307880" imgH="431640"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726112" y="5816600"/>
                        <a:ext cx="2427288" cy="801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036753331"/>
      </p:ext>
    </p:extLst>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p:cNvSpPr txBox="1"/>
          <p:nvPr/>
        </p:nvSpPr>
        <p:spPr>
          <a:xfrm>
            <a:off x="5538668" y="5829300"/>
            <a:ext cx="3262432" cy="923330"/>
          </a:xfrm>
          <a:prstGeom prst="rect">
            <a:avLst/>
          </a:prstGeom>
          <a:noFill/>
        </p:spPr>
        <p:txBody>
          <a:bodyPr wrap="none" rtlCol="0">
            <a:spAutoFit/>
          </a:bodyPr>
          <a:lstStyle/>
          <a:p>
            <a:r>
              <a:rPr lang="en-US" dirty="0"/>
              <a:t>Note: Superposition of</a:t>
            </a:r>
          </a:p>
          <a:p>
            <a:r>
              <a:rPr lang="en-US" dirty="0"/>
              <a:t>component a and b powers</a:t>
            </a:r>
          </a:p>
          <a:p>
            <a:r>
              <a:rPr lang="en-US" dirty="0"/>
              <a:t>does not give the right answer</a:t>
            </a:r>
          </a:p>
        </p:txBody>
      </p:sp>
      <p:sp>
        <p:nvSpPr>
          <p:cNvPr id="6147" name="Content Placeholder 2"/>
          <p:cNvSpPr>
            <a:spLocks noGrp="1"/>
          </p:cNvSpPr>
          <p:nvPr>
            <p:ph idx="1"/>
          </p:nvPr>
        </p:nvSpPr>
        <p:spPr>
          <a:xfrm>
            <a:off x="533400" y="723901"/>
            <a:ext cx="8229600" cy="5867400"/>
          </a:xfrm>
        </p:spPr>
        <p:txBody>
          <a:bodyPr/>
          <a:lstStyle/>
          <a:p>
            <a:pPr>
              <a:buNone/>
            </a:pPr>
            <a:r>
              <a:rPr lang="en-US" sz="2400" dirty="0"/>
              <a:t>Find the voltage </a:t>
            </a:r>
            <a:r>
              <a:rPr lang="en-US" sz="2400" i="1" dirty="0"/>
              <a:t>v</a:t>
            </a:r>
            <a:r>
              <a:rPr lang="en-US" sz="2400" dirty="0"/>
              <a:t> and the power dissipated by the 3 </a:t>
            </a:r>
            <a:r>
              <a:rPr lang="el-GR" sz="2400" dirty="0"/>
              <a:t>Ω</a:t>
            </a:r>
            <a:r>
              <a:rPr lang="en-US" sz="2400" dirty="0"/>
              <a:t> resistor.</a:t>
            </a:r>
          </a:p>
          <a:p>
            <a:pPr>
              <a:buNone/>
            </a:pPr>
            <a:endParaRPr lang="en-US" sz="24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59</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7" name="TextBox 6"/>
          <p:cNvSpPr txBox="1"/>
          <p:nvPr/>
        </p:nvSpPr>
        <p:spPr>
          <a:xfrm>
            <a:off x="3816901" y="1371600"/>
            <a:ext cx="5327099" cy="369332"/>
          </a:xfrm>
          <a:prstGeom prst="rect">
            <a:avLst/>
          </a:prstGeom>
          <a:noFill/>
        </p:spPr>
        <p:txBody>
          <a:bodyPr wrap="none" rtlCol="0">
            <a:spAutoFit/>
          </a:bodyPr>
          <a:lstStyle/>
          <a:p>
            <a:r>
              <a:rPr lang="en-US" dirty="0"/>
              <a:t>1. </a:t>
            </a:r>
            <a:r>
              <a:rPr lang="en-US" u="sng" dirty="0"/>
              <a:t>Kill the current source to solve for component a:</a:t>
            </a:r>
          </a:p>
        </p:txBody>
      </p:sp>
      <p:graphicFrame>
        <p:nvGraphicFramePr>
          <p:cNvPr id="144387" name="Object 3"/>
          <p:cNvGraphicFramePr>
            <a:graphicFrameLocks noChangeAspect="1"/>
          </p:cNvGraphicFramePr>
          <p:nvPr/>
        </p:nvGraphicFramePr>
        <p:xfrm>
          <a:off x="6665912" y="2127250"/>
          <a:ext cx="2401888" cy="844550"/>
        </p:xfrm>
        <a:graphic>
          <a:graphicData uri="http://schemas.openxmlformats.org/presentationml/2006/ole">
            <mc:AlternateContent xmlns:mc="http://schemas.openxmlformats.org/markup-compatibility/2006">
              <mc:Choice xmlns:v="urn:schemas-microsoft-com:vml" Requires="v">
                <p:oleObj name="Equation" r:id="rId2" imgW="1193760" imgH="419040" progId="Equation.3">
                  <p:embed/>
                </p:oleObj>
              </mc:Choice>
              <mc:Fallback>
                <p:oleObj name="Equation" r:id="rId2" imgW="1193760" imgH="4190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5912" y="2127250"/>
                        <a:ext cx="2401888" cy="844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Box 10"/>
          <p:cNvSpPr txBox="1"/>
          <p:nvPr/>
        </p:nvSpPr>
        <p:spPr>
          <a:xfrm>
            <a:off x="266700" y="3467100"/>
            <a:ext cx="8148384" cy="369332"/>
          </a:xfrm>
          <a:prstGeom prst="rect">
            <a:avLst/>
          </a:prstGeom>
          <a:noFill/>
        </p:spPr>
        <p:txBody>
          <a:bodyPr wrap="none" rtlCol="0">
            <a:spAutoFit/>
          </a:bodyPr>
          <a:lstStyle/>
          <a:p>
            <a:r>
              <a:rPr lang="en-US" dirty="0"/>
              <a:t>2. </a:t>
            </a:r>
            <a:r>
              <a:rPr lang="en-US" u="sng" dirty="0"/>
              <a:t>Kill the voltage source (independent source only!) to solve for component b:</a:t>
            </a:r>
          </a:p>
        </p:txBody>
      </p:sp>
      <p:sp>
        <p:nvSpPr>
          <p:cNvPr id="15" name="TextBox 14"/>
          <p:cNvSpPr txBox="1"/>
          <p:nvPr/>
        </p:nvSpPr>
        <p:spPr>
          <a:xfrm>
            <a:off x="266700" y="5448300"/>
            <a:ext cx="4596130" cy="369332"/>
          </a:xfrm>
          <a:prstGeom prst="rect">
            <a:avLst/>
          </a:prstGeom>
          <a:noFill/>
        </p:spPr>
        <p:txBody>
          <a:bodyPr wrap="none" rtlCol="0">
            <a:spAutoFit/>
          </a:bodyPr>
          <a:lstStyle/>
          <a:p>
            <a:r>
              <a:rPr lang="en-US" dirty="0"/>
              <a:t>3. </a:t>
            </a:r>
            <a:r>
              <a:rPr lang="en-US" u="sng" dirty="0"/>
              <a:t>By superposition of component voltages:</a:t>
            </a:r>
          </a:p>
        </p:txBody>
      </p:sp>
      <p:graphicFrame>
        <p:nvGraphicFramePr>
          <p:cNvPr id="146437" name="Object 5"/>
          <p:cNvGraphicFramePr>
            <a:graphicFrameLocks noChangeAspect="1"/>
          </p:cNvGraphicFramePr>
          <p:nvPr/>
        </p:nvGraphicFramePr>
        <p:xfrm>
          <a:off x="1905000" y="5867400"/>
          <a:ext cx="1814512" cy="460375"/>
        </p:xfrm>
        <a:graphic>
          <a:graphicData uri="http://schemas.openxmlformats.org/presentationml/2006/ole">
            <mc:AlternateContent xmlns:mc="http://schemas.openxmlformats.org/markup-compatibility/2006">
              <mc:Choice xmlns:v="urn:schemas-microsoft-com:vml" Requires="v">
                <p:oleObj name="Equation" r:id="rId4" imgW="901440" imgH="228600" progId="Equation.3">
                  <p:embed/>
                </p:oleObj>
              </mc:Choice>
              <mc:Fallback>
                <p:oleObj name="Equation" r:id="rId4" imgW="901440" imgH="2286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5000" y="5867400"/>
                        <a:ext cx="1814512" cy="460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47462" name="Picture 6"/>
          <p:cNvPicPr>
            <a:picLocks noChangeAspect="1" noChangeArrowheads="1"/>
          </p:cNvPicPr>
          <p:nvPr/>
        </p:nvPicPr>
        <p:blipFill>
          <a:blip r:embed="rId6" cstate="print"/>
          <a:srcRect/>
          <a:stretch>
            <a:fillRect/>
          </a:stretch>
        </p:blipFill>
        <p:spPr bwMode="auto">
          <a:xfrm>
            <a:off x="114300" y="1104900"/>
            <a:ext cx="4026797" cy="2133600"/>
          </a:xfrm>
          <a:prstGeom prst="rect">
            <a:avLst/>
          </a:prstGeom>
          <a:noFill/>
          <a:ln w="9525">
            <a:noFill/>
            <a:miter lim="800000"/>
            <a:headEnd/>
            <a:tailEnd/>
          </a:ln>
          <a:effectLst/>
        </p:spPr>
      </p:pic>
      <p:sp>
        <p:nvSpPr>
          <p:cNvPr id="18" name="TextBox 17"/>
          <p:cNvSpPr txBox="1"/>
          <p:nvPr/>
        </p:nvSpPr>
        <p:spPr>
          <a:xfrm>
            <a:off x="6553200" y="1840468"/>
            <a:ext cx="2108334" cy="369332"/>
          </a:xfrm>
          <a:prstGeom prst="rect">
            <a:avLst/>
          </a:prstGeom>
          <a:noFill/>
        </p:spPr>
        <p:txBody>
          <a:bodyPr wrap="none" rtlCol="0">
            <a:spAutoFit/>
          </a:bodyPr>
          <a:lstStyle/>
          <a:p>
            <a:r>
              <a:rPr lang="en-US" dirty="0"/>
              <a:t>KVL &amp; Ohm’s Law:</a:t>
            </a:r>
          </a:p>
        </p:txBody>
      </p:sp>
      <p:graphicFrame>
        <p:nvGraphicFramePr>
          <p:cNvPr id="147463" name="Object 7"/>
          <p:cNvGraphicFramePr>
            <a:graphicFrameLocks noChangeAspect="1"/>
          </p:cNvGraphicFramePr>
          <p:nvPr/>
        </p:nvGraphicFramePr>
        <p:xfrm>
          <a:off x="7026275" y="3048000"/>
          <a:ext cx="1457325" cy="436563"/>
        </p:xfrm>
        <a:graphic>
          <a:graphicData uri="http://schemas.openxmlformats.org/presentationml/2006/ole">
            <mc:AlternateContent xmlns:mc="http://schemas.openxmlformats.org/markup-compatibility/2006">
              <mc:Choice xmlns:v="urn:schemas-microsoft-com:vml" Requires="v">
                <p:oleObj name="Equation" r:id="rId7" imgW="723600" imgH="215640" progId="Equation.3">
                  <p:embed/>
                </p:oleObj>
              </mc:Choice>
              <mc:Fallback>
                <p:oleObj name="Equation" r:id="rId7" imgW="723600" imgH="21564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26275" y="3048000"/>
                        <a:ext cx="1457325" cy="436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extBox 19"/>
          <p:cNvSpPr txBox="1"/>
          <p:nvPr/>
        </p:nvSpPr>
        <p:spPr>
          <a:xfrm>
            <a:off x="6515100" y="2743200"/>
            <a:ext cx="1398781" cy="369332"/>
          </a:xfrm>
          <a:prstGeom prst="rect">
            <a:avLst/>
          </a:prstGeom>
          <a:noFill/>
        </p:spPr>
        <p:txBody>
          <a:bodyPr wrap="none" rtlCol="0">
            <a:spAutoFit/>
          </a:bodyPr>
          <a:lstStyle/>
          <a:p>
            <a:r>
              <a:rPr lang="en-US" dirty="0"/>
              <a:t>Ohm’s Law:</a:t>
            </a:r>
          </a:p>
        </p:txBody>
      </p:sp>
      <p:graphicFrame>
        <p:nvGraphicFramePr>
          <p:cNvPr id="22" name="Object 3"/>
          <p:cNvGraphicFramePr>
            <a:graphicFrameLocks noChangeAspect="1"/>
          </p:cNvGraphicFramePr>
          <p:nvPr/>
        </p:nvGraphicFramePr>
        <p:xfrm>
          <a:off x="5269627" y="4114800"/>
          <a:ext cx="3500437" cy="844550"/>
        </p:xfrm>
        <a:graphic>
          <a:graphicData uri="http://schemas.openxmlformats.org/presentationml/2006/ole">
            <mc:AlternateContent xmlns:mc="http://schemas.openxmlformats.org/markup-compatibility/2006">
              <mc:Choice xmlns:v="urn:schemas-microsoft-com:vml" Requires="v">
                <p:oleObj name="Equation" r:id="rId9" imgW="1739880" imgH="419040" progId="Equation.3">
                  <p:embed/>
                </p:oleObj>
              </mc:Choice>
              <mc:Fallback>
                <p:oleObj name="Equation" r:id="rId9" imgW="1739880" imgH="41904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69627" y="4114800"/>
                        <a:ext cx="3500437" cy="844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TextBox 22"/>
          <p:cNvSpPr txBox="1"/>
          <p:nvPr/>
        </p:nvSpPr>
        <p:spPr>
          <a:xfrm>
            <a:off x="5193427" y="3848100"/>
            <a:ext cx="2108334" cy="369332"/>
          </a:xfrm>
          <a:prstGeom prst="rect">
            <a:avLst/>
          </a:prstGeom>
          <a:noFill/>
        </p:spPr>
        <p:txBody>
          <a:bodyPr wrap="none" rtlCol="0">
            <a:spAutoFit/>
          </a:bodyPr>
          <a:lstStyle/>
          <a:p>
            <a:r>
              <a:rPr lang="en-US" dirty="0"/>
              <a:t>KVL &amp; Ohm’s Law:</a:t>
            </a:r>
          </a:p>
        </p:txBody>
      </p:sp>
      <p:sp>
        <p:nvSpPr>
          <p:cNvPr id="24" name="TextBox 23"/>
          <p:cNvSpPr txBox="1"/>
          <p:nvPr/>
        </p:nvSpPr>
        <p:spPr>
          <a:xfrm>
            <a:off x="3467100" y="3886200"/>
            <a:ext cx="697627" cy="369332"/>
          </a:xfrm>
          <a:prstGeom prst="rect">
            <a:avLst/>
          </a:prstGeom>
          <a:noFill/>
        </p:spPr>
        <p:txBody>
          <a:bodyPr wrap="none" rtlCol="0">
            <a:spAutoFit/>
          </a:bodyPr>
          <a:lstStyle/>
          <a:p>
            <a:r>
              <a:rPr lang="en-US" dirty="0"/>
              <a:t>KCL:</a:t>
            </a:r>
          </a:p>
        </p:txBody>
      </p:sp>
      <p:graphicFrame>
        <p:nvGraphicFramePr>
          <p:cNvPr id="147466" name="Object 10"/>
          <p:cNvGraphicFramePr>
            <a:graphicFrameLocks noChangeAspect="1"/>
          </p:cNvGraphicFramePr>
          <p:nvPr/>
        </p:nvGraphicFramePr>
        <p:xfrm>
          <a:off x="3555127" y="4267200"/>
          <a:ext cx="1430338" cy="847725"/>
        </p:xfrm>
        <a:graphic>
          <a:graphicData uri="http://schemas.openxmlformats.org/presentationml/2006/ole">
            <mc:AlternateContent xmlns:mc="http://schemas.openxmlformats.org/markup-compatibility/2006">
              <mc:Choice xmlns:v="urn:schemas-microsoft-com:vml" Requires="v">
                <p:oleObj name="Equation" r:id="rId11" imgW="711000" imgH="419040" progId="Equation.3">
                  <p:embed/>
                </p:oleObj>
              </mc:Choice>
              <mc:Fallback>
                <p:oleObj name="Equation" r:id="rId11" imgW="711000" imgH="41904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55127" y="4267200"/>
                        <a:ext cx="1430338" cy="847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 name="TextBox 27"/>
          <p:cNvSpPr txBox="1"/>
          <p:nvPr/>
        </p:nvSpPr>
        <p:spPr>
          <a:xfrm>
            <a:off x="5269627" y="5029200"/>
            <a:ext cx="1398781" cy="369332"/>
          </a:xfrm>
          <a:prstGeom prst="rect">
            <a:avLst/>
          </a:prstGeom>
          <a:noFill/>
        </p:spPr>
        <p:txBody>
          <a:bodyPr wrap="none" rtlCol="0">
            <a:spAutoFit/>
          </a:bodyPr>
          <a:lstStyle/>
          <a:p>
            <a:r>
              <a:rPr lang="en-US" dirty="0"/>
              <a:t>Ohm’s Law:</a:t>
            </a:r>
          </a:p>
        </p:txBody>
      </p:sp>
      <p:graphicFrame>
        <p:nvGraphicFramePr>
          <p:cNvPr id="147469" name="Object 13"/>
          <p:cNvGraphicFramePr>
            <a:graphicFrameLocks noChangeAspect="1"/>
          </p:cNvGraphicFramePr>
          <p:nvPr/>
        </p:nvGraphicFramePr>
        <p:xfrm>
          <a:off x="6603127" y="4973638"/>
          <a:ext cx="1968500" cy="436562"/>
        </p:xfrm>
        <a:graphic>
          <a:graphicData uri="http://schemas.openxmlformats.org/presentationml/2006/ole">
            <mc:AlternateContent xmlns:mc="http://schemas.openxmlformats.org/markup-compatibility/2006">
              <mc:Choice xmlns:v="urn:schemas-microsoft-com:vml" Requires="v">
                <p:oleObj name="Equation" r:id="rId13" imgW="977760" imgH="215640" progId="Equation.3">
                  <p:embed/>
                </p:oleObj>
              </mc:Choice>
              <mc:Fallback>
                <p:oleObj name="Equation" r:id="rId13" imgW="977760" imgH="21564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603127" y="4973638"/>
                        <a:ext cx="1968500" cy="436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 name="TextBox 29"/>
          <p:cNvSpPr txBox="1"/>
          <p:nvPr/>
        </p:nvSpPr>
        <p:spPr>
          <a:xfrm>
            <a:off x="5257800" y="5448300"/>
            <a:ext cx="3581430" cy="369332"/>
          </a:xfrm>
          <a:prstGeom prst="rect">
            <a:avLst/>
          </a:prstGeom>
          <a:noFill/>
        </p:spPr>
        <p:txBody>
          <a:bodyPr wrap="none" rtlCol="0">
            <a:spAutoFit/>
          </a:bodyPr>
          <a:lstStyle/>
          <a:p>
            <a:r>
              <a:rPr lang="en-US" dirty="0"/>
              <a:t>4. </a:t>
            </a:r>
            <a:r>
              <a:rPr lang="en-US" u="sng" dirty="0"/>
              <a:t>Power through the 3</a:t>
            </a:r>
            <a:r>
              <a:rPr lang="el-GR" u="sng" dirty="0"/>
              <a:t>Ω</a:t>
            </a:r>
            <a:r>
              <a:rPr lang="en-US" u="sng" dirty="0"/>
              <a:t> resistor:</a:t>
            </a:r>
          </a:p>
        </p:txBody>
      </p:sp>
      <p:pic>
        <p:nvPicPr>
          <p:cNvPr id="26" name="Picture 5"/>
          <p:cNvPicPr>
            <a:picLocks noChangeAspect="1" noChangeArrowheads="1"/>
          </p:cNvPicPr>
          <p:nvPr/>
        </p:nvPicPr>
        <p:blipFill>
          <a:blip r:embed="rId15" cstate="print"/>
          <a:srcRect/>
          <a:stretch>
            <a:fillRect/>
          </a:stretch>
        </p:blipFill>
        <p:spPr bwMode="auto">
          <a:xfrm>
            <a:off x="4267200" y="1752600"/>
            <a:ext cx="2261685" cy="1485900"/>
          </a:xfrm>
          <a:prstGeom prst="rect">
            <a:avLst/>
          </a:prstGeom>
          <a:noFill/>
          <a:ln w="9525">
            <a:noFill/>
            <a:miter lim="800000"/>
            <a:headEnd/>
            <a:tailEnd/>
          </a:ln>
          <a:effectLst/>
        </p:spPr>
      </p:pic>
      <p:pic>
        <p:nvPicPr>
          <p:cNvPr id="27" name="Picture 8"/>
          <p:cNvPicPr>
            <a:picLocks noChangeAspect="1" noChangeArrowheads="1"/>
          </p:cNvPicPr>
          <p:nvPr/>
        </p:nvPicPr>
        <p:blipFill>
          <a:blip r:embed="rId16" cstate="print"/>
          <a:srcRect/>
          <a:stretch>
            <a:fillRect/>
          </a:stretch>
        </p:blipFill>
        <p:spPr bwMode="auto">
          <a:xfrm>
            <a:off x="533399" y="3809999"/>
            <a:ext cx="2667001" cy="1444388"/>
          </a:xfrm>
          <a:prstGeom prst="rect">
            <a:avLst/>
          </a:prstGeom>
          <a:noFill/>
          <a:ln w="9525">
            <a:noFill/>
            <a:miter lim="800000"/>
            <a:headEnd/>
            <a:tailEnd/>
          </a:ln>
          <a:effectLst/>
        </p:spPr>
      </p:pic>
      <p:sp>
        <p:nvSpPr>
          <p:cNvPr id="31" name="Title 1"/>
          <p:cNvSpPr>
            <a:spLocks noGrp="1"/>
          </p:cNvSpPr>
          <p:nvPr>
            <p:ph type="title"/>
          </p:nvPr>
        </p:nvSpPr>
        <p:spPr>
          <a:xfrm>
            <a:off x="457200" y="122237"/>
            <a:ext cx="6819900" cy="563563"/>
          </a:xfrm>
        </p:spPr>
        <p:txBody>
          <a:bodyPr/>
          <a:lstStyle/>
          <a:p>
            <a:r>
              <a:rPr lang="en-US" sz="3200" dirty="0"/>
              <a:t>Example (</a:t>
            </a:r>
            <a:r>
              <a:rPr lang="en-US" sz="2800" dirty="0"/>
              <a:t>4.5 Johnson &amp; Johnson P:126)</a:t>
            </a:r>
            <a:endParaRPr lang="en-US" sz="3200" dirty="0"/>
          </a:p>
        </p:txBody>
      </p:sp>
    </p:spTree>
    <p:extLst>
      <p:ext uri="{BB962C8B-B14F-4D97-AF65-F5344CB8AC3E}">
        <p14:creationId xmlns:p14="http://schemas.microsoft.com/office/powerpoint/2010/main" val="2783727737"/>
      </p:ext>
    </p:extLst>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6781800" cy="563563"/>
          </a:xfrm>
        </p:spPr>
        <p:txBody>
          <a:bodyPr/>
          <a:lstStyle/>
          <a:p>
            <a:r>
              <a:rPr lang="en-US" sz="3200" dirty="0"/>
              <a:t>Example (</a:t>
            </a:r>
            <a:r>
              <a:rPr lang="en-US" sz="2800" dirty="0"/>
              <a:t>4.2.3 Johnson &amp; Johnson P:127)</a:t>
            </a:r>
            <a:endParaRPr lang="en-US" sz="3200" dirty="0"/>
          </a:p>
        </p:txBody>
      </p:sp>
      <p:sp>
        <p:nvSpPr>
          <p:cNvPr id="6147" name="Content Placeholder 2"/>
          <p:cNvSpPr>
            <a:spLocks noGrp="1"/>
          </p:cNvSpPr>
          <p:nvPr>
            <p:ph idx="1"/>
          </p:nvPr>
        </p:nvSpPr>
        <p:spPr>
          <a:xfrm>
            <a:off x="533400" y="723901"/>
            <a:ext cx="8229600" cy="5867400"/>
          </a:xfrm>
        </p:spPr>
        <p:txBody>
          <a:bodyPr/>
          <a:lstStyle/>
          <a:p>
            <a:pPr>
              <a:buNone/>
            </a:pPr>
            <a:r>
              <a:rPr lang="en-US" sz="2400" dirty="0"/>
              <a:t>Find v and i</a:t>
            </a:r>
            <a:r>
              <a:rPr lang="en-US" sz="2400" baseline="-25000" dirty="0"/>
              <a:t>1</a:t>
            </a:r>
            <a:r>
              <a:rPr lang="en-US" sz="2400" dirty="0"/>
              <a:t> by superposition in the following circuit:</a:t>
            </a:r>
          </a:p>
          <a:p>
            <a:pPr>
              <a:buNone/>
            </a:pPr>
            <a:endParaRPr lang="en-US" sz="24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60</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157704" name="Picture 8"/>
          <p:cNvPicPr>
            <a:picLocks noChangeAspect="1" noChangeArrowheads="1"/>
          </p:cNvPicPr>
          <p:nvPr/>
        </p:nvPicPr>
        <p:blipFill>
          <a:blip r:embed="rId2" cstate="print"/>
          <a:srcRect/>
          <a:stretch>
            <a:fillRect/>
          </a:stretch>
        </p:blipFill>
        <p:spPr bwMode="auto">
          <a:xfrm>
            <a:off x="114300" y="1295400"/>
            <a:ext cx="3488121" cy="1714500"/>
          </a:xfrm>
          <a:prstGeom prst="rect">
            <a:avLst/>
          </a:prstGeom>
          <a:noFill/>
          <a:ln w="9525">
            <a:noFill/>
            <a:miter lim="800000"/>
            <a:headEnd/>
            <a:tailEnd/>
          </a:ln>
          <a:effectLst/>
        </p:spPr>
      </p:pic>
    </p:spTree>
    <p:extLst>
      <p:ext uri="{BB962C8B-B14F-4D97-AF65-F5344CB8AC3E}">
        <p14:creationId xmlns:p14="http://schemas.microsoft.com/office/powerpoint/2010/main" val="3196841397"/>
      </p:ext>
    </p:extLst>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Content Placeholder 2"/>
          <p:cNvSpPr>
            <a:spLocks noGrp="1"/>
          </p:cNvSpPr>
          <p:nvPr>
            <p:ph idx="1"/>
          </p:nvPr>
        </p:nvSpPr>
        <p:spPr>
          <a:xfrm>
            <a:off x="533400" y="723901"/>
            <a:ext cx="8229600" cy="5867400"/>
          </a:xfrm>
        </p:spPr>
        <p:txBody>
          <a:bodyPr/>
          <a:lstStyle/>
          <a:p>
            <a:pPr>
              <a:buNone/>
            </a:pPr>
            <a:r>
              <a:rPr lang="en-US" sz="2400" dirty="0"/>
              <a:t>Find v and i</a:t>
            </a:r>
            <a:r>
              <a:rPr lang="en-US" sz="2400" baseline="-25000" dirty="0"/>
              <a:t>1</a:t>
            </a:r>
            <a:r>
              <a:rPr lang="en-US" sz="2400" dirty="0"/>
              <a:t> by superposition in the following circuit:</a:t>
            </a:r>
          </a:p>
          <a:p>
            <a:pPr>
              <a:buNone/>
            </a:pPr>
            <a:endParaRPr lang="en-US" sz="24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61</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7" name="TextBox 6"/>
          <p:cNvSpPr txBox="1"/>
          <p:nvPr/>
        </p:nvSpPr>
        <p:spPr>
          <a:xfrm>
            <a:off x="3816901" y="1371600"/>
            <a:ext cx="4626588" cy="369332"/>
          </a:xfrm>
          <a:prstGeom prst="rect">
            <a:avLst/>
          </a:prstGeom>
          <a:noFill/>
        </p:spPr>
        <p:txBody>
          <a:bodyPr wrap="none" rtlCol="0">
            <a:spAutoFit/>
          </a:bodyPr>
          <a:lstStyle/>
          <a:p>
            <a:r>
              <a:rPr lang="en-US" dirty="0"/>
              <a:t>1. </a:t>
            </a:r>
            <a:r>
              <a:rPr lang="en-US" u="sng" dirty="0"/>
              <a:t>Kill the 1</a:t>
            </a:r>
            <a:r>
              <a:rPr lang="en-US" u="sng" baseline="30000" dirty="0"/>
              <a:t>st</a:t>
            </a:r>
            <a:r>
              <a:rPr lang="en-US" u="sng" dirty="0"/>
              <a:t> voltage source (component a):</a:t>
            </a:r>
          </a:p>
        </p:txBody>
      </p:sp>
      <p:graphicFrame>
        <p:nvGraphicFramePr>
          <p:cNvPr id="144387" name="Object 3"/>
          <p:cNvGraphicFramePr>
            <a:graphicFrameLocks noChangeAspect="1"/>
          </p:cNvGraphicFramePr>
          <p:nvPr/>
        </p:nvGraphicFramePr>
        <p:xfrm>
          <a:off x="6600273" y="2178050"/>
          <a:ext cx="2467527" cy="717550"/>
        </p:xfrm>
        <a:graphic>
          <a:graphicData uri="http://schemas.openxmlformats.org/presentationml/2006/ole">
            <mc:AlternateContent xmlns:mc="http://schemas.openxmlformats.org/markup-compatibility/2006">
              <mc:Choice xmlns:v="urn:schemas-microsoft-com:vml" Requires="v">
                <p:oleObj name="Equation" r:id="rId2" imgW="1663560" imgH="482400" progId="Equation.3">
                  <p:embed/>
                </p:oleObj>
              </mc:Choice>
              <mc:Fallback>
                <p:oleObj name="Equation" r:id="rId2" imgW="1663560" imgH="4824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0273" y="2178050"/>
                        <a:ext cx="2467527" cy="717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TextBox 17"/>
          <p:cNvSpPr txBox="1"/>
          <p:nvPr/>
        </p:nvSpPr>
        <p:spPr>
          <a:xfrm>
            <a:off x="6667500" y="1840468"/>
            <a:ext cx="740331" cy="369332"/>
          </a:xfrm>
          <a:prstGeom prst="rect">
            <a:avLst/>
          </a:prstGeom>
          <a:noFill/>
        </p:spPr>
        <p:txBody>
          <a:bodyPr wrap="none" rtlCol="0">
            <a:spAutoFit/>
          </a:bodyPr>
          <a:lstStyle/>
          <a:p>
            <a:r>
              <a:rPr lang="en-US" dirty="0"/>
              <a:t>KVL :</a:t>
            </a:r>
          </a:p>
        </p:txBody>
      </p:sp>
      <p:graphicFrame>
        <p:nvGraphicFramePr>
          <p:cNvPr id="147463" name="Object 7"/>
          <p:cNvGraphicFramePr>
            <a:graphicFrameLocks noChangeAspect="1"/>
          </p:cNvGraphicFramePr>
          <p:nvPr/>
        </p:nvGraphicFramePr>
        <p:xfrm>
          <a:off x="6794500" y="3009900"/>
          <a:ext cx="2159000" cy="391965"/>
        </p:xfrm>
        <a:graphic>
          <a:graphicData uri="http://schemas.openxmlformats.org/presentationml/2006/ole">
            <mc:AlternateContent xmlns:mc="http://schemas.openxmlformats.org/markup-compatibility/2006">
              <mc:Choice xmlns:v="urn:schemas-microsoft-com:vml" Requires="v">
                <p:oleObj name="Equation" r:id="rId4" imgW="1333440" imgH="241200" progId="Equation.3">
                  <p:embed/>
                </p:oleObj>
              </mc:Choice>
              <mc:Fallback>
                <p:oleObj name="Equation" r:id="rId4" imgW="1333440" imgH="241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94500" y="3009900"/>
                        <a:ext cx="2159000" cy="3919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extBox 19"/>
          <p:cNvSpPr txBox="1"/>
          <p:nvPr/>
        </p:nvSpPr>
        <p:spPr>
          <a:xfrm>
            <a:off x="6731873" y="2743200"/>
            <a:ext cx="697627" cy="369332"/>
          </a:xfrm>
          <a:prstGeom prst="rect">
            <a:avLst/>
          </a:prstGeom>
          <a:noFill/>
        </p:spPr>
        <p:txBody>
          <a:bodyPr wrap="none" rtlCol="0">
            <a:spAutoFit/>
          </a:bodyPr>
          <a:lstStyle/>
          <a:p>
            <a:r>
              <a:rPr lang="en-US" dirty="0"/>
              <a:t>KCL:</a:t>
            </a:r>
          </a:p>
        </p:txBody>
      </p:sp>
      <p:sp>
        <p:nvSpPr>
          <p:cNvPr id="28" name="TextBox 27"/>
          <p:cNvSpPr txBox="1"/>
          <p:nvPr/>
        </p:nvSpPr>
        <p:spPr>
          <a:xfrm>
            <a:off x="495300" y="3390900"/>
            <a:ext cx="911468" cy="369332"/>
          </a:xfrm>
          <a:prstGeom prst="rect">
            <a:avLst/>
          </a:prstGeom>
          <a:noFill/>
        </p:spPr>
        <p:txBody>
          <a:bodyPr wrap="none" rtlCol="0">
            <a:spAutoFit/>
          </a:bodyPr>
          <a:lstStyle/>
          <a:p>
            <a:r>
              <a:rPr lang="en-US" dirty="0"/>
              <a:t>Ohm’s:</a:t>
            </a:r>
          </a:p>
        </p:txBody>
      </p:sp>
      <p:pic>
        <p:nvPicPr>
          <p:cNvPr id="157704" name="Picture 8"/>
          <p:cNvPicPr>
            <a:picLocks noChangeAspect="1" noChangeArrowheads="1"/>
          </p:cNvPicPr>
          <p:nvPr/>
        </p:nvPicPr>
        <p:blipFill>
          <a:blip r:embed="rId6" cstate="print"/>
          <a:srcRect/>
          <a:stretch>
            <a:fillRect/>
          </a:stretch>
        </p:blipFill>
        <p:spPr bwMode="auto">
          <a:xfrm>
            <a:off x="114300" y="1295400"/>
            <a:ext cx="3488121" cy="1714500"/>
          </a:xfrm>
          <a:prstGeom prst="rect">
            <a:avLst/>
          </a:prstGeom>
          <a:noFill/>
          <a:ln w="9525">
            <a:noFill/>
            <a:miter lim="800000"/>
            <a:headEnd/>
            <a:tailEnd/>
          </a:ln>
          <a:effectLst/>
        </p:spPr>
      </p:pic>
      <p:pic>
        <p:nvPicPr>
          <p:cNvPr id="157705" name="Picture 9"/>
          <p:cNvPicPr>
            <a:picLocks noChangeAspect="1" noChangeArrowheads="1"/>
          </p:cNvPicPr>
          <p:nvPr/>
        </p:nvPicPr>
        <p:blipFill>
          <a:blip r:embed="rId7" cstate="print"/>
          <a:srcRect/>
          <a:stretch>
            <a:fillRect/>
          </a:stretch>
        </p:blipFill>
        <p:spPr bwMode="auto">
          <a:xfrm>
            <a:off x="3810000" y="1866900"/>
            <a:ext cx="2649263" cy="1409700"/>
          </a:xfrm>
          <a:prstGeom prst="rect">
            <a:avLst/>
          </a:prstGeom>
          <a:noFill/>
          <a:ln w="9525">
            <a:noFill/>
            <a:miter lim="800000"/>
            <a:headEnd/>
            <a:tailEnd/>
          </a:ln>
          <a:effectLst/>
        </p:spPr>
      </p:pic>
      <p:graphicFrame>
        <p:nvGraphicFramePr>
          <p:cNvPr id="157706" name="Object 10"/>
          <p:cNvGraphicFramePr>
            <a:graphicFrameLocks noChangeAspect="1"/>
          </p:cNvGraphicFramePr>
          <p:nvPr/>
        </p:nvGraphicFramePr>
        <p:xfrm>
          <a:off x="1447800" y="3379787"/>
          <a:ext cx="1314450" cy="392113"/>
        </p:xfrm>
        <a:graphic>
          <a:graphicData uri="http://schemas.openxmlformats.org/presentationml/2006/ole">
            <mc:AlternateContent xmlns:mc="http://schemas.openxmlformats.org/markup-compatibility/2006">
              <mc:Choice xmlns:v="urn:schemas-microsoft-com:vml" Requires="v">
                <p:oleObj name="Equation" r:id="rId8" imgW="812520" imgH="241200" progId="Equation.3">
                  <p:embed/>
                </p:oleObj>
              </mc:Choice>
              <mc:Fallback>
                <p:oleObj name="Equation" r:id="rId8" imgW="812520" imgH="2412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47800" y="3379787"/>
                        <a:ext cx="1314450" cy="392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7707" name="Object 11"/>
          <p:cNvGraphicFramePr>
            <a:graphicFrameLocks noChangeAspect="1"/>
          </p:cNvGraphicFramePr>
          <p:nvPr/>
        </p:nvGraphicFramePr>
        <p:xfrm>
          <a:off x="3048000" y="3389313"/>
          <a:ext cx="2813050" cy="371475"/>
        </p:xfrm>
        <a:graphic>
          <a:graphicData uri="http://schemas.openxmlformats.org/presentationml/2006/ole">
            <mc:AlternateContent xmlns:mc="http://schemas.openxmlformats.org/markup-compatibility/2006">
              <mc:Choice xmlns:v="urn:schemas-microsoft-com:vml" Requires="v">
                <p:oleObj name="Equation" r:id="rId10" imgW="1739880" imgH="228600" progId="Equation.3">
                  <p:embed/>
                </p:oleObj>
              </mc:Choice>
              <mc:Fallback>
                <p:oleObj name="Equation" r:id="rId10" imgW="1739880" imgH="2286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48000" y="3389313"/>
                        <a:ext cx="28130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 name="TextBox 28"/>
          <p:cNvSpPr txBox="1"/>
          <p:nvPr/>
        </p:nvSpPr>
        <p:spPr>
          <a:xfrm>
            <a:off x="495300" y="3745468"/>
            <a:ext cx="1749197" cy="369332"/>
          </a:xfrm>
          <a:prstGeom prst="rect">
            <a:avLst/>
          </a:prstGeom>
          <a:noFill/>
        </p:spPr>
        <p:txBody>
          <a:bodyPr wrap="none" rtlCol="0">
            <a:spAutoFit/>
          </a:bodyPr>
          <a:lstStyle/>
          <a:p>
            <a:r>
              <a:rPr lang="en-US" dirty="0"/>
              <a:t>Using (1) &amp; (2):</a:t>
            </a:r>
          </a:p>
        </p:txBody>
      </p:sp>
      <p:graphicFrame>
        <p:nvGraphicFramePr>
          <p:cNvPr id="157708" name="Object 12"/>
          <p:cNvGraphicFramePr>
            <a:graphicFrameLocks noChangeAspect="1"/>
          </p:cNvGraphicFramePr>
          <p:nvPr/>
        </p:nvGraphicFramePr>
        <p:xfrm>
          <a:off x="2330450" y="3743325"/>
          <a:ext cx="3079750" cy="371475"/>
        </p:xfrm>
        <a:graphic>
          <a:graphicData uri="http://schemas.openxmlformats.org/presentationml/2006/ole">
            <mc:AlternateContent xmlns:mc="http://schemas.openxmlformats.org/markup-compatibility/2006">
              <mc:Choice xmlns:v="urn:schemas-microsoft-com:vml" Requires="v">
                <p:oleObj name="Equation" r:id="rId12" imgW="1904760" imgH="228600" progId="Equation.3">
                  <p:embed/>
                </p:oleObj>
              </mc:Choice>
              <mc:Fallback>
                <p:oleObj name="Equation" r:id="rId12" imgW="1904760" imgH="22860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330450" y="3743325"/>
                        <a:ext cx="30797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 name="TextBox 30"/>
          <p:cNvSpPr txBox="1"/>
          <p:nvPr/>
        </p:nvSpPr>
        <p:spPr>
          <a:xfrm>
            <a:off x="495300" y="4114800"/>
            <a:ext cx="1749197" cy="369332"/>
          </a:xfrm>
          <a:prstGeom prst="rect">
            <a:avLst/>
          </a:prstGeom>
          <a:noFill/>
        </p:spPr>
        <p:txBody>
          <a:bodyPr wrap="none" rtlCol="0">
            <a:spAutoFit/>
          </a:bodyPr>
          <a:lstStyle/>
          <a:p>
            <a:r>
              <a:rPr lang="en-US" dirty="0"/>
              <a:t>Using (3) &amp; (4):</a:t>
            </a:r>
          </a:p>
        </p:txBody>
      </p:sp>
      <p:graphicFrame>
        <p:nvGraphicFramePr>
          <p:cNvPr id="157709" name="Object 13"/>
          <p:cNvGraphicFramePr>
            <a:graphicFrameLocks noChangeAspect="1"/>
          </p:cNvGraphicFramePr>
          <p:nvPr/>
        </p:nvGraphicFramePr>
        <p:xfrm>
          <a:off x="2312987" y="4124325"/>
          <a:ext cx="4125913" cy="371475"/>
        </p:xfrm>
        <a:graphic>
          <a:graphicData uri="http://schemas.openxmlformats.org/presentationml/2006/ole">
            <mc:AlternateContent xmlns:mc="http://schemas.openxmlformats.org/markup-compatibility/2006">
              <mc:Choice xmlns:v="urn:schemas-microsoft-com:vml" Requires="v">
                <p:oleObj name="Equation" r:id="rId14" imgW="2552400" imgH="228600" progId="Equation.3">
                  <p:embed/>
                </p:oleObj>
              </mc:Choice>
              <mc:Fallback>
                <p:oleObj name="Equation" r:id="rId14" imgW="2552400" imgH="22860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312987" y="4124325"/>
                        <a:ext cx="4125913"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Title 1"/>
          <p:cNvSpPr>
            <a:spLocks noGrp="1"/>
          </p:cNvSpPr>
          <p:nvPr>
            <p:ph type="title"/>
          </p:nvPr>
        </p:nvSpPr>
        <p:spPr>
          <a:xfrm>
            <a:off x="457200" y="122237"/>
            <a:ext cx="6781800" cy="563563"/>
          </a:xfrm>
        </p:spPr>
        <p:txBody>
          <a:bodyPr/>
          <a:lstStyle/>
          <a:p>
            <a:r>
              <a:rPr lang="en-US" sz="3200" dirty="0"/>
              <a:t>Example (</a:t>
            </a:r>
            <a:r>
              <a:rPr lang="en-US" sz="2800" dirty="0"/>
              <a:t>4.2.3 Johnson &amp; Johnson P:127)</a:t>
            </a:r>
            <a:endParaRPr lang="en-US" sz="3200" dirty="0"/>
          </a:p>
        </p:txBody>
      </p:sp>
    </p:spTree>
    <p:extLst>
      <p:ext uri="{BB962C8B-B14F-4D97-AF65-F5344CB8AC3E}">
        <p14:creationId xmlns:p14="http://schemas.microsoft.com/office/powerpoint/2010/main" val="3708051417"/>
      </p:ext>
    </p:extLst>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Content Placeholder 2"/>
          <p:cNvSpPr>
            <a:spLocks noGrp="1"/>
          </p:cNvSpPr>
          <p:nvPr>
            <p:ph idx="1"/>
          </p:nvPr>
        </p:nvSpPr>
        <p:spPr>
          <a:xfrm>
            <a:off x="533400" y="723901"/>
            <a:ext cx="8229600" cy="5867400"/>
          </a:xfrm>
        </p:spPr>
        <p:txBody>
          <a:bodyPr/>
          <a:lstStyle/>
          <a:p>
            <a:pPr>
              <a:buNone/>
            </a:pPr>
            <a:r>
              <a:rPr lang="en-US" sz="2400" dirty="0"/>
              <a:t>Find v and i</a:t>
            </a:r>
            <a:r>
              <a:rPr lang="en-US" sz="2400" baseline="-25000" dirty="0"/>
              <a:t>1</a:t>
            </a:r>
            <a:r>
              <a:rPr lang="en-US" sz="2400" dirty="0"/>
              <a:t> by superposition in the following circuit:</a:t>
            </a:r>
          </a:p>
          <a:p>
            <a:pPr>
              <a:buNone/>
            </a:pPr>
            <a:endParaRPr lang="en-US" sz="24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62</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7" name="TextBox 6"/>
          <p:cNvSpPr txBox="1"/>
          <p:nvPr/>
        </p:nvSpPr>
        <p:spPr>
          <a:xfrm>
            <a:off x="3816901" y="1371600"/>
            <a:ext cx="4626588" cy="369332"/>
          </a:xfrm>
          <a:prstGeom prst="rect">
            <a:avLst/>
          </a:prstGeom>
          <a:noFill/>
        </p:spPr>
        <p:txBody>
          <a:bodyPr wrap="none" rtlCol="0">
            <a:spAutoFit/>
          </a:bodyPr>
          <a:lstStyle/>
          <a:p>
            <a:r>
              <a:rPr lang="en-US" dirty="0"/>
              <a:t>1. </a:t>
            </a:r>
            <a:r>
              <a:rPr lang="en-US" u="sng" dirty="0"/>
              <a:t>Kill the 1</a:t>
            </a:r>
            <a:r>
              <a:rPr lang="en-US" u="sng" baseline="30000" dirty="0"/>
              <a:t>st</a:t>
            </a:r>
            <a:r>
              <a:rPr lang="en-US" u="sng" dirty="0"/>
              <a:t> voltage source (component a):</a:t>
            </a:r>
          </a:p>
        </p:txBody>
      </p:sp>
      <p:graphicFrame>
        <p:nvGraphicFramePr>
          <p:cNvPr id="144387" name="Object 3"/>
          <p:cNvGraphicFramePr>
            <a:graphicFrameLocks noChangeAspect="1"/>
          </p:cNvGraphicFramePr>
          <p:nvPr/>
        </p:nvGraphicFramePr>
        <p:xfrm>
          <a:off x="6600273" y="2178050"/>
          <a:ext cx="2467527" cy="717550"/>
        </p:xfrm>
        <a:graphic>
          <a:graphicData uri="http://schemas.openxmlformats.org/presentationml/2006/ole">
            <mc:AlternateContent xmlns:mc="http://schemas.openxmlformats.org/markup-compatibility/2006">
              <mc:Choice xmlns:v="urn:schemas-microsoft-com:vml" Requires="v">
                <p:oleObj name="Equation" r:id="rId2" imgW="1663560" imgH="482400" progId="Equation.3">
                  <p:embed/>
                </p:oleObj>
              </mc:Choice>
              <mc:Fallback>
                <p:oleObj name="Equation" r:id="rId2" imgW="1663560" imgH="4824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0273" y="2178050"/>
                        <a:ext cx="2467527" cy="717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Box 10"/>
          <p:cNvSpPr txBox="1"/>
          <p:nvPr/>
        </p:nvSpPr>
        <p:spPr>
          <a:xfrm>
            <a:off x="266700" y="4621768"/>
            <a:ext cx="4676280" cy="369332"/>
          </a:xfrm>
          <a:prstGeom prst="rect">
            <a:avLst/>
          </a:prstGeom>
          <a:noFill/>
        </p:spPr>
        <p:txBody>
          <a:bodyPr wrap="none" rtlCol="0">
            <a:spAutoFit/>
          </a:bodyPr>
          <a:lstStyle/>
          <a:p>
            <a:r>
              <a:rPr lang="en-US" dirty="0"/>
              <a:t>2. </a:t>
            </a:r>
            <a:r>
              <a:rPr lang="en-US" u="sng" dirty="0"/>
              <a:t>Kill the 2</a:t>
            </a:r>
            <a:r>
              <a:rPr lang="en-US" u="sng" baseline="30000" dirty="0"/>
              <a:t>nd</a:t>
            </a:r>
            <a:r>
              <a:rPr lang="en-US" u="sng" dirty="0"/>
              <a:t> voltage source (component b):</a:t>
            </a:r>
          </a:p>
        </p:txBody>
      </p:sp>
      <p:sp>
        <p:nvSpPr>
          <p:cNvPr id="18" name="TextBox 17"/>
          <p:cNvSpPr txBox="1"/>
          <p:nvPr/>
        </p:nvSpPr>
        <p:spPr>
          <a:xfrm>
            <a:off x="6667500" y="1840468"/>
            <a:ext cx="740331" cy="369332"/>
          </a:xfrm>
          <a:prstGeom prst="rect">
            <a:avLst/>
          </a:prstGeom>
          <a:noFill/>
        </p:spPr>
        <p:txBody>
          <a:bodyPr wrap="none" rtlCol="0">
            <a:spAutoFit/>
          </a:bodyPr>
          <a:lstStyle/>
          <a:p>
            <a:r>
              <a:rPr lang="en-US" dirty="0"/>
              <a:t>KVL :</a:t>
            </a:r>
          </a:p>
        </p:txBody>
      </p:sp>
      <p:graphicFrame>
        <p:nvGraphicFramePr>
          <p:cNvPr id="147463" name="Object 7"/>
          <p:cNvGraphicFramePr>
            <a:graphicFrameLocks noChangeAspect="1"/>
          </p:cNvGraphicFramePr>
          <p:nvPr/>
        </p:nvGraphicFramePr>
        <p:xfrm>
          <a:off x="6794500" y="3009900"/>
          <a:ext cx="2159000" cy="391965"/>
        </p:xfrm>
        <a:graphic>
          <a:graphicData uri="http://schemas.openxmlformats.org/presentationml/2006/ole">
            <mc:AlternateContent xmlns:mc="http://schemas.openxmlformats.org/markup-compatibility/2006">
              <mc:Choice xmlns:v="urn:schemas-microsoft-com:vml" Requires="v">
                <p:oleObj name="Equation" r:id="rId4" imgW="1333440" imgH="241200" progId="Equation.3">
                  <p:embed/>
                </p:oleObj>
              </mc:Choice>
              <mc:Fallback>
                <p:oleObj name="Equation" r:id="rId4" imgW="1333440" imgH="241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94500" y="3009900"/>
                        <a:ext cx="2159000" cy="3919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extBox 19"/>
          <p:cNvSpPr txBox="1"/>
          <p:nvPr/>
        </p:nvSpPr>
        <p:spPr>
          <a:xfrm>
            <a:off x="6731873" y="2743200"/>
            <a:ext cx="697627" cy="369332"/>
          </a:xfrm>
          <a:prstGeom prst="rect">
            <a:avLst/>
          </a:prstGeom>
          <a:noFill/>
        </p:spPr>
        <p:txBody>
          <a:bodyPr wrap="none" rtlCol="0">
            <a:spAutoFit/>
          </a:bodyPr>
          <a:lstStyle/>
          <a:p>
            <a:r>
              <a:rPr lang="en-US" dirty="0"/>
              <a:t>KCL:</a:t>
            </a:r>
          </a:p>
        </p:txBody>
      </p:sp>
      <p:sp>
        <p:nvSpPr>
          <p:cNvPr id="28" name="TextBox 27"/>
          <p:cNvSpPr txBox="1"/>
          <p:nvPr/>
        </p:nvSpPr>
        <p:spPr>
          <a:xfrm>
            <a:off x="495300" y="3390900"/>
            <a:ext cx="911468" cy="369332"/>
          </a:xfrm>
          <a:prstGeom prst="rect">
            <a:avLst/>
          </a:prstGeom>
          <a:noFill/>
        </p:spPr>
        <p:txBody>
          <a:bodyPr wrap="none" rtlCol="0">
            <a:spAutoFit/>
          </a:bodyPr>
          <a:lstStyle/>
          <a:p>
            <a:r>
              <a:rPr lang="en-US" dirty="0"/>
              <a:t>Ohm’s:</a:t>
            </a:r>
          </a:p>
        </p:txBody>
      </p:sp>
      <p:pic>
        <p:nvPicPr>
          <p:cNvPr id="157704" name="Picture 8"/>
          <p:cNvPicPr>
            <a:picLocks noChangeAspect="1" noChangeArrowheads="1"/>
          </p:cNvPicPr>
          <p:nvPr/>
        </p:nvPicPr>
        <p:blipFill>
          <a:blip r:embed="rId6" cstate="print"/>
          <a:srcRect/>
          <a:stretch>
            <a:fillRect/>
          </a:stretch>
        </p:blipFill>
        <p:spPr bwMode="auto">
          <a:xfrm>
            <a:off x="114300" y="1295400"/>
            <a:ext cx="3488121" cy="1714500"/>
          </a:xfrm>
          <a:prstGeom prst="rect">
            <a:avLst/>
          </a:prstGeom>
          <a:noFill/>
          <a:ln w="9525">
            <a:noFill/>
            <a:miter lim="800000"/>
            <a:headEnd/>
            <a:tailEnd/>
          </a:ln>
          <a:effectLst/>
        </p:spPr>
      </p:pic>
      <p:pic>
        <p:nvPicPr>
          <p:cNvPr id="157705" name="Picture 9"/>
          <p:cNvPicPr>
            <a:picLocks noChangeAspect="1" noChangeArrowheads="1"/>
          </p:cNvPicPr>
          <p:nvPr/>
        </p:nvPicPr>
        <p:blipFill>
          <a:blip r:embed="rId7" cstate="print"/>
          <a:srcRect/>
          <a:stretch>
            <a:fillRect/>
          </a:stretch>
        </p:blipFill>
        <p:spPr bwMode="auto">
          <a:xfrm>
            <a:off x="3810000" y="1866900"/>
            <a:ext cx="2649263" cy="1409700"/>
          </a:xfrm>
          <a:prstGeom prst="rect">
            <a:avLst/>
          </a:prstGeom>
          <a:noFill/>
          <a:ln w="9525">
            <a:noFill/>
            <a:miter lim="800000"/>
            <a:headEnd/>
            <a:tailEnd/>
          </a:ln>
          <a:effectLst/>
        </p:spPr>
      </p:pic>
      <p:graphicFrame>
        <p:nvGraphicFramePr>
          <p:cNvPr id="157706" name="Object 10"/>
          <p:cNvGraphicFramePr>
            <a:graphicFrameLocks noChangeAspect="1"/>
          </p:cNvGraphicFramePr>
          <p:nvPr/>
        </p:nvGraphicFramePr>
        <p:xfrm>
          <a:off x="1447800" y="3379787"/>
          <a:ext cx="1314450" cy="392113"/>
        </p:xfrm>
        <a:graphic>
          <a:graphicData uri="http://schemas.openxmlformats.org/presentationml/2006/ole">
            <mc:AlternateContent xmlns:mc="http://schemas.openxmlformats.org/markup-compatibility/2006">
              <mc:Choice xmlns:v="urn:schemas-microsoft-com:vml" Requires="v">
                <p:oleObj name="Equation" r:id="rId8" imgW="812520" imgH="241200" progId="Equation.3">
                  <p:embed/>
                </p:oleObj>
              </mc:Choice>
              <mc:Fallback>
                <p:oleObj name="Equation" r:id="rId8" imgW="812520" imgH="2412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47800" y="3379787"/>
                        <a:ext cx="1314450" cy="392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7707" name="Object 11"/>
          <p:cNvGraphicFramePr>
            <a:graphicFrameLocks noChangeAspect="1"/>
          </p:cNvGraphicFramePr>
          <p:nvPr/>
        </p:nvGraphicFramePr>
        <p:xfrm>
          <a:off x="3048000" y="3389313"/>
          <a:ext cx="2813050" cy="371475"/>
        </p:xfrm>
        <a:graphic>
          <a:graphicData uri="http://schemas.openxmlformats.org/presentationml/2006/ole">
            <mc:AlternateContent xmlns:mc="http://schemas.openxmlformats.org/markup-compatibility/2006">
              <mc:Choice xmlns:v="urn:schemas-microsoft-com:vml" Requires="v">
                <p:oleObj name="Equation" r:id="rId10" imgW="1739880" imgH="228600" progId="Equation.3">
                  <p:embed/>
                </p:oleObj>
              </mc:Choice>
              <mc:Fallback>
                <p:oleObj name="Equation" r:id="rId10" imgW="1739880" imgH="2286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48000" y="3389313"/>
                        <a:ext cx="28130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 name="TextBox 28"/>
          <p:cNvSpPr txBox="1"/>
          <p:nvPr/>
        </p:nvSpPr>
        <p:spPr>
          <a:xfrm>
            <a:off x="495300" y="3745468"/>
            <a:ext cx="1749197" cy="369332"/>
          </a:xfrm>
          <a:prstGeom prst="rect">
            <a:avLst/>
          </a:prstGeom>
          <a:noFill/>
        </p:spPr>
        <p:txBody>
          <a:bodyPr wrap="none" rtlCol="0">
            <a:spAutoFit/>
          </a:bodyPr>
          <a:lstStyle/>
          <a:p>
            <a:r>
              <a:rPr lang="en-US" dirty="0"/>
              <a:t>Using (1) &amp; (2):</a:t>
            </a:r>
          </a:p>
        </p:txBody>
      </p:sp>
      <p:graphicFrame>
        <p:nvGraphicFramePr>
          <p:cNvPr id="157708" name="Object 12"/>
          <p:cNvGraphicFramePr>
            <a:graphicFrameLocks noChangeAspect="1"/>
          </p:cNvGraphicFramePr>
          <p:nvPr/>
        </p:nvGraphicFramePr>
        <p:xfrm>
          <a:off x="2330450" y="3743325"/>
          <a:ext cx="3079750" cy="371475"/>
        </p:xfrm>
        <a:graphic>
          <a:graphicData uri="http://schemas.openxmlformats.org/presentationml/2006/ole">
            <mc:AlternateContent xmlns:mc="http://schemas.openxmlformats.org/markup-compatibility/2006">
              <mc:Choice xmlns:v="urn:schemas-microsoft-com:vml" Requires="v">
                <p:oleObj name="Equation" r:id="rId12" imgW="1904760" imgH="228600" progId="Equation.3">
                  <p:embed/>
                </p:oleObj>
              </mc:Choice>
              <mc:Fallback>
                <p:oleObj name="Equation" r:id="rId12" imgW="1904760" imgH="22860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330450" y="3743325"/>
                        <a:ext cx="30797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 name="TextBox 30"/>
          <p:cNvSpPr txBox="1"/>
          <p:nvPr/>
        </p:nvSpPr>
        <p:spPr>
          <a:xfrm>
            <a:off x="495300" y="4114800"/>
            <a:ext cx="1749197" cy="369332"/>
          </a:xfrm>
          <a:prstGeom prst="rect">
            <a:avLst/>
          </a:prstGeom>
          <a:noFill/>
        </p:spPr>
        <p:txBody>
          <a:bodyPr wrap="none" rtlCol="0">
            <a:spAutoFit/>
          </a:bodyPr>
          <a:lstStyle/>
          <a:p>
            <a:r>
              <a:rPr lang="en-US" dirty="0"/>
              <a:t>Using (3) &amp; (4):</a:t>
            </a:r>
          </a:p>
        </p:txBody>
      </p:sp>
      <p:graphicFrame>
        <p:nvGraphicFramePr>
          <p:cNvPr id="157709" name="Object 13"/>
          <p:cNvGraphicFramePr>
            <a:graphicFrameLocks noChangeAspect="1"/>
          </p:cNvGraphicFramePr>
          <p:nvPr/>
        </p:nvGraphicFramePr>
        <p:xfrm>
          <a:off x="2312987" y="4124325"/>
          <a:ext cx="4125913" cy="371475"/>
        </p:xfrm>
        <a:graphic>
          <a:graphicData uri="http://schemas.openxmlformats.org/presentationml/2006/ole">
            <mc:AlternateContent xmlns:mc="http://schemas.openxmlformats.org/markup-compatibility/2006">
              <mc:Choice xmlns:v="urn:schemas-microsoft-com:vml" Requires="v">
                <p:oleObj name="Equation" r:id="rId14" imgW="2552400" imgH="228600" progId="Equation.3">
                  <p:embed/>
                </p:oleObj>
              </mc:Choice>
              <mc:Fallback>
                <p:oleObj name="Equation" r:id="rId14" imgW="2552400" imgH="22860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312987" y="4124325"/>
                        <a:ext cx="4125913"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57710" name="Picture 14"/>
          <p:cNvPicPr>
            <a:picLocks noChangeAspect="1" noChangeArrowheads="1"/>
          </p:cNvPicPr>
          <p:nvPr/>
        </p:nvPicPr>
        <p:blipFill>
          <a:blip r:embed="rId16" cstate="print"/>
          <a:srcRect/>
          <a:stretch>
            <a:fillRect/>
          </a:stretch>
        </p:blipFill>
        <p:spPr bwMode="auto">
          <a:xfrm>
            <a:off x="381000" y="5029200"/>
            <a:ext cx="2970487" cy="1447800"/>
          </a:xfrm>
          <a:prstGeom prst="rect">
            <a:avLst/>
          </a:prstGeom>
          <a:noFill/>
          <a:ln w="9525">
            <a:noFill/>
            <a:miter lim="800000"/>
            <a:headEnd/>
            <a:tailEnd/>
          </a:ln>
          <a:effectLst/>
        </p:spPr>
      </p:pic>
      <p:sp>
        <p:nvSpPr>
          <p:cNvPr id="34" name="TextBox 33"/>
          <p:cNvSpPr txBox="1"/>
          <p:nvPr/>
        </p:nvSpPr>
        <p:spPr>
          <a:xfrm>
            <a:off x="3581400" y="4953000"/>
            <a:ext cx="740331" cy="369332"/>
          </a:xfrm>
          <a:prstGeom prst="rect">
            <a:avLst/>
          </a:prstGeom>
          <a:noFill/>
        </p:spPr>
        <p:txBody>
          <a:bodyPr wrap="none" rtlCol="0">
            <a:spAutoFit/>
          </a:bodyPr>
          <a:lstStyle/>
          <a:p>
            <a:r>
              <a:rPr lang="en-US" dirty="0"/>
              <a:t>KVL :</a:t>
            </a:r>
          </a:p>
        </p:txBody>
      </p:sp>
      <p:graphicFrame>
        <p:nvGraphicFramePr>
          <p:cNvPr id="157711" name="Object 15"/>
          <p:cNvGraphicFramePr>
            <a:graphicFrameLocks noChangeAspect="1"/>
          </p:cNvGraphicFramePr>
          <p:nvPr/>
        </p:nvGraphicFramePr>
        <p:xfrm>
          <a:off x="4421188" y="4905375"/>
          <a:ext cx="3922712" cy="392113"/>
        </p:xfrm>
        <a:graphic>
          <a:graphicData uri="http://schemas.openxmlformats.org/presentationml/2006/ole">
            <mc:AlternateContent xmlns:mc="http://schemas.openxmlformats.org/markup-compatibility/2006">
              <mc:Choice xmlns:v="urn:schemas-microsoft-com:vml" Requires="v">
                <p:oleObj name="Equation" r:id="rId17" imgW="2425680" imgH="241200" progId="Equation.3">
                  <p:embed/>
                </p:oleObj>
              </mc:Choice>
              <mc:Fallback>
                <p:oleObj name="Equation" r:id="rId17" imgW="2425680" imgH="241200"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421188" y="4905375"/>
                        <a:ext cx="3922712" cy="392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 name="TextBox 35"/>
          <p:cNvSpPr txBox="1"/>
          <p:nvPr/>
        </p:nvSpPr>
        <p:spPr>
          <a:xfrm>
            <a:off x="3581400" y="5231368"/>
            <a:ext cx="753155" cy="369332"/>
          </a:xfrm>
          <a:prstGeom prst="rect">
            <a:avLst/>
          </a:prstGeom>
          <a:noFill/>
        </p:spPr>
        <p:txBody>
          <a:bodyPr wrap="none" rtlCol="0">
            <a:spAutoFit/>
          </a:bodyPr>
          <a:lstStyle/>
          <a:p>
            <a:r>
              <a:rPr lang="en-US" dirty="0"/>
              <a:t>KCL :</a:t>
            </a:r>
          </a:p>
        </p:txBody>
      </p:sp>
      <p:graphicFrame>
        <p:nvGraphicFramePr>
          <p:cNvPr id="157712" name="Object 16"/>
          <p:cNvGraphicFramePr>
            <a:graphicFrameLocks noChangeAspect="1"/>
          </p:cNvGraphicFramePr>
          <p:nvPr/>
        </p:nvGraphicFramePr>
        <p:xfrm>
          <a:off x="4398963" y="5219700"/>
          <a:ext cx="782637" cy="392113"/>
        </p:xfrm>
        <a:graphic>
          <a:graphicData uri="http://schemas.openxmlformats.org/presentationml/2006/ole">
            <mc:AlternateContent xmlns:mc="http://schemas.openxmlformats.org/markup-compatibility/2006">
              <mc:Choice xmlns:v="urn:schemas-microsoft-com:vml" Requires="v">
                <p:oleObj name="Equation" r:id="rId19" imgW="482400" imgH="241200" progId="Equation.3">
                  <p:embed/>
                </p:oleObj>
              </mc:Choice>
              <mc:Fallback>
                <p:oleObj name="Equation" r:id="rId19" imgW="482400" imgH="241200"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398963" y="5219700"/>
                        <a:ext cx="782637" cy="392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8" name="TextBox 37"/>
          <p:cNvSpPr txBox="1"/>
          <p:nvPr/>
        </p:nvSpPr>
        <p:spPr>
          <a:xfrm>
            <a:off x="5181600" y="5231368"/>
            <a:ext cx="2916183" cy="369332"/>
          </a:xfrm>
          <a:prstGeom prst="rect">
            <a:avLst/>
          </a:prstGeom>
          <a:noFill/>
        </p:spPr>
        <p:txBody>
          <a:bodyPr wrap="none" rtlCol="0">
            <a:spAutoFit/>
          </a:bodyPr>
          <a:lstStyle/>
          <a:p>
            <a:r>
              <a:rPr lang="en-US" dirty="0"/>
              <a:t>. From above:	         so,</a:t>
            </a:r>
          </a:p>
        </p:txBody>
      </p:sp>
      <p:graphicFrame>
        <p:nvGraphicFramePr>
          <p:cNvPr id="157713" name="Object 17"/>
          <p:cNvGraphicFramePr>
            <a:graphicFrameLocks noChangeAspect="1"/>
          </p:cNvGraphicFramePr>
          <p:nvPr/>
        </p:nvGraphicFramePr>
        <p:xfrm>
          <a:off x="6761163" y="5229225"/>
          <a:ext cx="782637" cy="371475"/>
        </p:xfrm>
        <a:graphic>
          <a:graphicData uri="http://schemas.openxmlformats.org/presentationml/2006/ole">
            <mc:AlternateContent xmlns:mc="http://schemas.openxmlformats.org/markup-compatibility/2006">
              <mc:Choice xmlns:v="urn:schemas-microsoft-com:vml" Requires="v">
                <p:oleObj name="Equation" r:id="rId21" imgW="482400" imgH="228600" progId="Equation.3">
                  <p:embed/>
                </p:oleObj>
              </mc:Choice>
              <mc:Fallback>
                <p:oleObj name="Equation" r:id="rId21" imgW="482400" imgH="228600"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761163" y="5229225"/>
                        <a:ext cx="782637"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7714" name="Object 18"/>
          <p:cNvGraphicFramePr>
            <a:graphicFrameLocks noChangeAspect="1"/>
          </p:cNvGraphicFramePr>
          <p:nvPr/>
        </p:nvGraphicFramePr>
        <p:xfrm>
          <a:off x="8027988" y="5240338"/>
          <a:ext cx="762000" cy="330200"/>
        </p:xfrm>
        <a:graphic>
          <a:graphicData uri="http://schemas.openxmlformats.org/presentationml/2006/ole">
            <mc:AlternateContent xmlns:mc="http://schemas.openxmlformats.org/markup-compatibility/2006">
              <mc:Choice xmlns:v="urn:schemas-microsoft-com:vml" Requires="v">
                <p:oleObj name="Equation" r:id="rId23" imgW="469800" imgH="203040" progId="Equation.3">
                  <p:embed/>
                </p:oleObj>
              </mc:Choice>
              <mc:Fallback>
                <p:oleObj name="Equation" r:id="rId23" imgW="469800" imgH="203040" progId="Equation.3">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027988" y="5240338"/>
                        <a:ext cx="762000" cy="33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 name="Title 1"/>
          <p:cNvSpPr>
            <a:spLocks noGrp="1"/>
          </p:cNvSpPr>
          <p:nvPr>
            <p:ph type="title"/>
          </p:nvPr>
        </p:nvSpPr>
        <p:spPr>
          <a:xfrm>
            <a:off x="457200" y="122237"/>
            <a:ext cx="6781800" cy="563563"/>
          </a:xfrm>
        </p:spPr>
        <p:txBody>
          <a:bodyPr/>
          <a:lstStyle/>
          <a:p>
            <a:r>
              <a:rPr lang="en-US" sz="3200" dirty="0"/>
              <a:t>Example (</a:t>
            </a:r>
            <a:r>
              <a:rPr lang="en-US" sz="2800" dirty="0"/>
              <a:t>4.2.3 Johnson &amp; Johnson P:127)</a:t>
            </a:r>
            <a:endParaRPr lang="en-US" sz="3200" dirty="0"/>
          </a:p>
        </p:txBody>
      </p:sp>
    </p:spTree>
    <p:extLst>
      <p:ext uri="{BB962C8B-B14F-4D97-AF65-F5344CB8AC3E}">
        <p14:creationId xmlns:p14="http://schemas.microsoft.com/office/powerpoint/2010/main" val="373762674"/>
      </p:ext>
    </p:extLst>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Content Placeholder 2"/>
          <p:cNvSpPr>
            <a:spLocks noGrp="1"/>
          </p:cNvSpPr>
          <p:nvPr>
            <p:ph idx="1"/>
          </p:nvPr>
        </p:nvSpPr>
        <p:spPr>
          <a:xfrm>
            <a:off x="533400" y="723901"/>
            <a:ext cx="8229600" cy="5867400"/>
          </a:xfrm>
        </p:spPr>
        <p:txBody>
          <a:bodyPr/>
          <a:lstStyle/>
          <a:p>
            <a:pPr>
              <a:buNone/>
            </a:pPr>
            <a:r>
              <a:rPr lang="en-US" sz="2400" dirty="0"/>
              <a:t>Find v and i</a:t>
            </a:r>
            <a:r>
              <a:rPr lang="en-US" sz="2400" baseline="-25000" dirty="0"/>
              <a:t>1</a:t>
            </a:r>
            <a:r>
              <a:rPr lang="en-US" sz="2400" dirty="0"/>
              <a:t> by superposition in the following circuit:</a:t>
            </a:r>
          </a:p>
          <a:p>
            <a:pPr>
              <a:buNone/>
            </a:pPr>
            <a:endParaRPr lang="en-US" sz="24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63</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7" name="TextBox 6"/>
          <p:cNvSpPr txBox="1"/>
          <p:nvPr/>
        </p:nvSpPr>
        <p:spPr>
          <a:xfrm>
            <a:off x="3816901" y="1371600"/>
            <a:ext cx="4626588" cy="369332"/>
          </a:xfrm>
          <a:prstGeom prst="rect">
            <a:avLst/>
          </a:prstGeom>
          <a:noFill/>
        </p:spPr>
        <p:txBody>
          <a:bodyPr wrap="none" rtlCol="0">
            <a:spAutoFit/>
          </a:bodyPr>
          <a:lstStyle/>
          <a:p>
            <a:r>
              <a:rPr lang="en-US" dirty="0"/>
              <a:t>1. </a:t>
            </a:r>
            <a:r>
              <a:rPr lang="en-US" u="sng" dirty="0"/>
              <a:t>Kill the 1</a:t>
            </a:r>
            <a:r>
              <a:rPr lang="en-US" u="sng" baseline="30000" dirty="0"/>
              <a:t>st</a:t>
            </a:r>
            <a:r>
              <a:rPr lang="en-US" u="sng" dirty="0"/>
              <a:t> voltage source (component a):</a:t>
            </a:r>
          </a:p>
        </p:txBody>
      </p:sp>
      <p:graphicFrame>
        <p:nvGraphicFramePr>
          <p:cNvPr id="144387" name="Object 3"/>
          <p:cNvGraphicFramePr>
            <a:graphicFrameLocks noChangeAspect="1"/>
          </p:cNvGraphicFramePr>
          <p:nvPr/>
        </p:nvGraphicFramePr>
        <p:xfrm>
          <a:off x="6600273" y="2178050"/>
          <a:ext cx="2467527" cy="717550"/>
        </p:xfrm>
        <a:graphic>
          <a:graphicData uri="http://schemas.openxmlformats.org/presentationml/2006/ole">
            <mc:AlternateContent xmlns:mc="http://schemas.openxmlformats.org/markup-compatibility/2006">
              <mc:Choice xmlns:v="urn:schemas-microsoft-com:vml" Requires="v">
                <p:oleObj name="Equation" r:id="rId2" imgW="1663560" imgH="482400" progId="Equation.3">
                  <p:embed/>
                </p:oleObj>
              </mc:Choice>
              <mc:Fallback>
                <p:oleObj name="Equation" r:id="rId2" imgW="1663560" imgH="4824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0273" y="2178050"/>
                        <a:ext cx="2467527" cy="717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Box 10"/>
          <p:cNvSpPr txBox="1"/>
          <p:nvPr/>
        </p:nvSpPr>
        <p:spPr>
          <a:xfrm>
            <a:off x="266700" y="4621768"/>
            <a:ext cx="4676280" cy="369332"/>
          </a:xfrm>
          <a:prstGeom prst="rect">
            <a:avLst/>
          </a:prstGeom>
          <a:noFill/>
        </p:spPr>
        <p:txBody>
          <a:bodyPr wrap="none" rtlCol="0">
            <a:spAutoFit/>
          </a:bodyPr>
          <a:lstStyle/>
          <a:p>
            <a:r>
              <a:rPr lang="en-US" dirty="0"/>
              <a:t>2. </a:t>
            </a:r>
            <a:r>
              <a:rPr lang="en-US" u="sng" dirty="0"/>
              <a:t>Kill the 2</a:t>
            </a:r>
            <a:r>
              <a:rPr lang="en-US" u="sng" baseline="30000" dirty="0"/>
              <a:t>nd</a:t>
            </a:r>
            <a:r>
              <a:rPr lang="en-US" u="sng" dirty="0"/>
              <a:t> voltage source (component b):</a:t>
            </a:r>
          </a:p>
        </p:txBody>
      </p:sp>
      <p:sp>
        <p:nvSpPr>
          <p:cNvPr id="15" name="TextBox 14"/>
          <p:cNvSpPr txBox="1"/>
          <p:nvPr/>
        </p:nvSpPr>
        <p:spPr>
          <a:xfrm>
            <a:off x="4288983" y="5764768"/>
            <a:ext cx="3788217" cy="369332"/>
          </a:xfrm>
          <a:prstGeom prst="rect">
            <a:avLst/>
          </a:prstGeom>
          <a:noFill/>
        </p:spPr>
        <p:txBody>
          <a:bodyPr wrap="none" rtlCol="0">
            <a:spAutoFit/>
          </a:bodyPr>
          <a:lstStyle/>
          <a:p>
            <a:r>
              <a:rPr lang="en-US" dirty="0"/>
              <a:t>3. </a:t>
            </a:r>
            <a:r>
              <a:rPr lang="en-US" u="sng" dirty="0"/>
              <a:t>By superposition of components:</a:t>
            </a:r>
          </a:p>
        </p:txBody>
      </p:sp>
      <p:graphicFrame>
        <p:nvGraphicFramePr>
          <p:cNvPr id="146437" name="Object 5"/>
          <p:cNvGraphicFramePr>
            <a:graphicFrameLocks noChangeAspect="1"/>
          </p:cNvGraphicFramePr>
          <p:nvPr/>
        </p:nvGraphicFramePr>
        <p:xfrm>
          <a:off x="4381500" y="6080125"/>
          <a:ext cx="4191000" cy="511175"/>
        </p:xfrm>
        <a:graphic>
          <a:graphicData uri="http://schemas.openxmlformats.org/presentationml/2006/ole">
            <mc:AlternateContent xmlns:mc="http://schemas.openxmlformats.org/markup-compatibility/2006">
              <mc:Choice xmlns:v="urn:schemas-microsoft-com:vml" Requires="v">
                <p:oleObj name="Equation" r:id="rId4" imgW="2082600" imgH="253800" progId="Equation.3">
                  <p:embed/>
                </p:oleObj>
              </mc:Choice>
              <mc:Fallback>
                <p:oleObj name="Equation" r:id="rId4" imgW="2082600" imgH="2538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81500" y="6080125"/>
                        <a:ext cx="4191000" cy="511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TextBox 17"/>
          <p:cNvSpPr txBox="1"/>
          <p:nvPr/>
        </p:nvSpPr>
        <p:spPr>
          <a:xfrm>
            <a:off x="6667500" y="1840468"/>
            <a:ext cx="740331" cy="369332"/>
          </a:xfrm>
          <a:prstGeom prst="rect">
            <a:avLst/>
          </a:prstGeom>
          <a:noFill/>
        </p:spPr>
        <p:txBody>
          <a:bodyPr wrap="none" rtlCol="0">
            <a:spAutoFit/>
          </a:bodyPr>
          <a:lstStyle/>
          <a:p>
            <a:r>
              <a:rPr lang="en-US" dirty="0"/>
              <a:t>KVL :</a:t>
            </a:r>
          </a:p>
        </p:txBody>
      </p:sp>
      <p:graphicFrame>
        <p:nvGraphicFramePr>
          <p:cNvPr id="147463" name="Object 7"/>
          <p:cNvGraphicFramePr>
            <a:graphicFrameLocks noChangeAspect="1"/>
          </p:cNvGraphicFramePr>
          <p:nvPr/>
        </p:nvGraphicFramePr>
        <p:xfrm>
          <a:off x="6794500" y="3009900"/>
          <a:ext cx="2159000" cy="391965"/>
        </p:xfrm>
        <a:graphic>
          <a:graphicData uri="http://schemas.openxmlformats.org/presentationml/2006/ole">
            <mc:AlternateContent xmlns:mc="http://schemas.openxmlformats.org/markup-compatibility/2006">
              <mc:Choice xmlns:v="urn:schemas-microsoft-com:vml" Requires="v">
                <p:oleObj name="Equation" r:id="rId6" imgW="1333440" imgH="241200" progId="Equation.3">
                  <p:embed/>
                </p:oleObj>
              </mc:Choice>
              <mc:Fallback>
                <p:oleObj name="Equation" r:id="rId6" imgW="1333440" imgH="2412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94500" y="3009900"/>
                        <a:ext cx="2159000" cy="3919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extBox 19"/>
          <p:cNvSpPr txBox="1"/>
          <p:nvPr/>
        </p:nvSpPr>
        <p:spPr>
          <a:xfrm>
            <a:off x="6731873" y="2743200"/>
            <a:ext cx="697627" cy="369332"/>
          </a:xfrm>
          <a:prstGeom prst="rect">
            <a:avLst/>
          </a:prstGeom>
          <a:noFill/>
        </p:spPr>
        <p:txBody>
          <a:bodyPr wrap="none" rtlCol="0">
            <a:spAutoFit/>
          </a:bodyPr>
          <a:lstStyle/>
          <a:p>
            <a:r>
              <a:rPr lang="en-US" dirty="0"/>
              <a:t>KCL:</a:t>
            </a:r>
          </a:p>
        </p:txBody>
      </p:sp>
      <p:sp>
        <p:nvSpPr>
          <p:cNvPr id="28" name="TextBox 27"/>
          <p:cNvSpPr txBox="1"/>
          <p:nvPr/>
        </p:nvSpPr>
        <p:spPr>
          <a:xfrm>
            <a:off x="495300" y="3390900"/>
            <a:ext cx="911468" cy="369332"/>
          </a:xfrm>
          <a:prstGeom prst="rect">
            <a:avLst/>
          </a:prstGeom>
          <a:noFill/>
        </p:spPr>
        <p:txBody>
          <a:bodyPr wrap="none" rtlCol="0">
            <a:spAutoFit/>
          </a:bodyPr>
          <a:lstStyle/>
          <a:p>
            <a:r>
              <a:rPr lang="en-US" dirty="0"/>
              <a:t>Ohm’s:</a:t>
            </a:r>
          </a:p>
        </p:txBody>
      </p:sp>
      <p:pic>
        <p:nvPicPr>
          <p:cNvPr id="157704" name="Picture 8"/>
          <p:cNvPicPr>
            <a:picLocks noChangeAspect="1" noChangeArrowheads="1"/>
          </p:cNvPicPr>
          <p:nvPr/>
        </p:nvPicPr>
        <p:blipFill>
          <a:blip r:embed="rId8" cstate="print"/>
          <a:srcRect/>
          <a:stretch>
            <a:fillRect/>
          </a:stretch>
        </p:blipFill>
        <p:spPr bwMode="auto">
          <a:xfrm>
            <a:off x="114300" y="1295400"/>
            <a:ext cx="3488121" cy="1714500"/>
          </a:xfrm>
          <a:prstGeom prst="rect">
            <a:avLst/>
          </a:prstGeom>
          <a:noFill/>
          <a:ln w="9525">
            <a:noFill/>
            <a:miter lim="800000"/>
            <a:headEnd/>
            <a:tailEnd/>
          </a:ln>
          <a:effectLst/>
        </p:spPr>
      </p:pic>
      <p:pic>
        <p:nvPicPr>
          <p:cNvPr id="157705" name="Picture 9"/>
          <p:cNvPicPr>
            <a:picLocks noChangeAspect="1" noChangeArrowheads="1"/>
          </p:cNvPicPr>
          <p:nvPr/>
        </p:nvPicPr>
        <p:blipFill>
          <a:blip r:embed="rId9" cstate="print"/>
          <a:srcRect/>
          <a:stretch>
            <a:fillRect/>
          </a:stretch>
        </p:blipFill>
        <p:spPr bwMode="auto">
          <a:xfrm>
            <a:off x="3810000" y="1866900"/>
            <a:ext cx="2649263" cy="1409700"/>
          </a:xfrm>
          <a:prstGeom prst="rect">
            <a:avLst/>
          </a:prstGeom>
          <a:noFill/>
          <a:ln w="9525">
            <a:noFill/>
            <a:miter lim="800000"/>
            <a:headEnd/>
            <a:tailEnd/>
          </a:ln>
          <a:effectLst/>
        </p:spPr>
      </p:pic>
      <p:graphicFrame>
        <p:nvGraphicFramePr>
          <p:cNvPr id="157706" name="Object 10"/>
          <p:cNvGraphicFramePr>
            <a:graphicFrameLocks noChangeAspect="1"/>
          </p:cNvGraphicFramePr>
          <p:nvPr/>
        </p:nvGraphicFramePr>
        <p:xfrm>
          <a:off x="1447800" y="3379787"/>
          <a:ext cx="1314450" cy="392113"/>
        </p:xfrm>
        <a:graphic>
          <a:graphicData uri="http://schemas.openxmlformats.org/presentationml/2006/ole">
            <mc:AlternateContent xmlns:mc="http://schemas.openxmlformats.org/markup-compatibility/2006">
              <mc:Choice xmlns:v="urn:schemas-microsoft-com:vml" Requires="v">
                <p:oleObj name="Equation" r:id="rId10" imgW="812520" imgH="241200" progId="Equation.3">
                  <p:embed/>
                </p:oleObj>
              </mc:Choice>
              <mc:Fallback>
                <p:oleObj name="Equation" r:id="rId10" imgW="812520" imgH="2412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47800" y="3379787"/>
                        <a:ext cx="1314450" cy="392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7707" name="Object 11"/>
          <p:cNvGraphicFramePr>
            <a:graphicFrameLocks noChangeAspect="1"/>
          </p:cNvGraphicFramePr>
          <p:nvPr/>
        </p:nvGraphicFramePr>
        <p:xfrm>
          <a:off x="3048000" y="3389313"/>
          <a:ext cx="2813050" cy="371475"/>
        </p:xfrm>
        <a:graphic>
          <a:graphicData uri="http://schemas.openxmlformats.org/presentationml/2006/ole">
            <mc:AlternateContent xmlns:mc="http://schemas.openxmlformats.org/markup-compatibility/2006">
              <mc:Choice xmlns:v="urn:schemas-microsoft-com:vml" Requires="v">
                <p:oleObj name="Equation" r:id="rId12" imgW="1739880" imgH="228600" progId="Equation.3">
                  <p:embed/>
                </p:oleObj>
              </mc:Choice>
              <mc:Fallback>
                <p:oleObj name="Equation" r:id="rId12" imgW="1739880" imgH="22860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048000" y="3389313"/>
                        <a:ext cx="28130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 name="TextBox 28"/>
          <p:cNvSpPr txBox="1"/>
          <p:nvPr/>
        </p:nvSpPr>
        <p:spPr>
          <a:xfrm>
            <a:off x="495300" y="3745468"/>
            <a:ext cx="1749197" cy="369332"/>
          </a:xfrm>
          <a:prstGeom prst="rect">
            <a:avLst/>
          </a:prstGeom>
          <a:noFill/>
        </p:spPr>
        <p:txBody>
          <a:bodyPr wrap="none" rtlCol="0">
            <a:spAutoFit/>
          </a:bodyPr>
          <a:lstStyle/>
          <a:p>
            <a:r>
              <a:rPr lang="en-US" dirty="0"/>
              <a:t>Using (1) &amp; (2):</a:t>
            </a:r>
          </a:p>
        </p:txBody>
      </p:sp>
      <p:graphicFrame>
        <p:nvGraphicFramePr>
          <p:cNvPr id="157708" name="Object 12"/>
          <p:cNvGraphicFramePr>
            <a:graphicFrameLocks noChangeAspect="1"/>
          </p:cNvGraphicFramePr>
          <p:nvPr/>
        </p:nvGraphicFramePr>
        <p:xfrm>
          <a:off x="2330450" y="3743325"/>
          <a:ext cx="3079750" cy="371475"/>
        </p:xfrm>
        <a:graphic>
          <a:graphicData uri="http://schemas.openxmlformats.org/presentationml/2006/ole">
            <mc:AlternateContent xmlns:mc="http://schemas.openxmlformats.org/markup-compatibility/2006">
              <mc:Choice xmlns:v="urn:schemas-microsoft-com:vml" Requires="v">
                <p:oleObj name="Equation" r:id="rId14" imgW="1904760" imgH="228600" progId="Equation.3">
                  <p:embed/>
                </p:oleObj>
              </mc:Choice>
              <mc:Fallback>
                <p:oleObj name="Equation" r:id="rId14" imgW="1904760" imgH="22860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330450" y="3743325"/>
                        <a:ext cx="30797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 name="TextBox 30"/>
          <p:cNvSpPr txBox="1"/>
          <p:nvPr/>
        </p:nvSpPr>
        <p:spPr>
          <a:xfrm>
            <a:off x="495300" y="4114800"/>
            <a:ext cx="1749197" cy="369332"/>
          </a:xfrm>
          <a:prstGeom prst="rect">
            <a:avLst/>
          </a:prstGeom>
          <a:noFill/>
        </p:spPr>
        <p:txBody>
          <a:bodyPr wrap="none" rtlCol="0">
            <a:spAutoFit/>
          </a:bodyPr>
          <a:lstStyle/>
          <a:p>
            <a:r>
              <a:rPr lang="en-US" dirty="0"/>
              <a:t>Using (3) &amp; (4):</a:t>
            </a:r>
          </a:p>
        </p:txBody>
      </p:sp>
      <p:graphicFrame>
        <p:nvGraphicFramePr>
          <p:cNvPr id="157709" name="Object 13"/>
          <p:cNvGraphicFramePr>
            <a:graphicFrameLocks noChangeAspect="1"/>
          </p:cNvGraphicFramePr>
          <p:nvPr/>
        </p:nvGraphicFramePr>
        <p:xfrm>
          <a:off x="2312987" y="4124325"/>
          <a:ext cx="4125913" cy="371475"/>
        </p:xfrm>
        <a:graphic>
          <a:graphicData uri="http://schemas.openxmlformats.org/presentationml/2006/ole">
            <mc:AlternateContent xmlns:mc="http://schemas.openxmlformats.org/markup-compatibility/2006">
              <mc:Choice xmlns:v="urn:schemas-microsoft-com:vml" Requires="v">
                <p:oleObj name="Equation" r:id="rId16" imgW="2552400" imgH="228600" progId="Equation.3">
                  <p:embed/>
                </p:oleObj>
              </mc:Choice>
              <mc:Fallback>
                <p:oleObj name="Equation" r:id="rId16" imgW="2552400" imgH="228600"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312987" y="4124325"/>
                        <a:ext cx="4125913"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57710" name="Picture 14"/>
          <p:cNvPicPr>
            <a:picLocks noChangeAspect="1" noChangeArrowheads="1"/>
          </p:cNvPicPr>
          <p:nvPr/>
        </p:nvPicPr>
        <p:blipFill>
          <a:blip r:embed="rId18" cstate="print"/>
          <a:srcRect/>
          <a:stretch>
            <a:fillRect/>
          </a:stretch>
        </p:blipFill>
        <p:spPr bwMode="auto">
          <a:xfrm>
            <a:off x="381000" y="5029200"/>
            <a:ext cx="2970487" cy="1447800"/>
          </a:xfrm>
          <a:prstGeom prst="rect">
            <a:avLst/>
          </a:prstGeom>
          <a:noFill/>
          <a:ln w="9525">
            <a:noFill/>
            <a:miter lim="800000"/>
            <a:headEnd/>
            <a:tailEnd/>
          </a:ln>
          <a:effectLst/>
        </p:spPr>
      </p:pic>
      <p:sp>
        <p:nvSpPr>
          <p:cNvPr id="34" name="TextBox 33"/>
          <p:cNvSpPr txBox="1"/>
          <p:nvPr/>
        </p:nvSpPr>
        <p:spPr>
          <a:xfrm>
            <a:off x="3581400" y="4953000"/>
            <a:ext cx="740331" cy="369332"/>
          </a:xfrm>
          <a:prstGeom prst="rect">
            <a:avLst/>
          </a:prstGeom>
          <a:noFill/>
        </p:spPr>
        <p:txBody>
          <a:bodyPr wrap="none" rtlCol="0">
            <a:spAutoFit/>
          </a:bodyPr>
          <a:lstStyle/>
          <a:p>
            <a:r>
              <a:rPr lang="en-US" dirty="0"/>
              <a:t>KVL :</a:t>
            </a:r>
          </a:p>
        </p:txBody>
      </p:sp>
      <p:graphicFrame>
        <p:nvGraphicFramePr>
          <p:cNvPr id="157711" name="Object 15"/>
          <p:cNvGraphicFramePr>
            <a:graphicFrameLocks noChangeAspect="1"/>
          </p:cNvGraphicFramePr>
          <p:nvPr/>
        </p:nvGraphicFramePr>
        <p:xfrm>
          <a:off x="4421188" y="4905375"/>
          <a:ext cx="3922712" cy="392113"/>
        </p:xfrm>
        <a:graphic>
          <a:graphicData uri="http://schemas.openxmlformats.org/presentationml/2006/ole">
            <mc:AlternateContent xmlns:mc="http://schemas.openxmlformats.org/markup-compatibility/2006">
              <mc:Choice xmlns:v="urn:schemas-microsoft-com:vml" Requires="v">
                <p:oleObj name="Equation" r:id="rId19" imgW="2425680" imgH="241200" progId="Equation.3">
                  <p:embed/>
                </p:oleObj>
              </mc:Choice>
              <mc:Fallback>
                <p:oleObj name="Equation" r:id="rId19" imgW="2425680" imgH="241200"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421188" y="4905375"/>
                        <a:ext cx="3922712" cy="392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 name="TextBox 35"/>
          <p:cNvSpPr txBox="1"/>
          <p:nvPr/>
        </p:nvSpPr>
        <p:spPr>
          <a:xfrm>
            <a:off x="3581400" y="5231368"/>
            <a:ext cx="753155" cy="369332"/>
          </a:xfrm>
          <a:prstGeom prst="rect">
            <a:avLst/>
          </a:prstGeom>
          <a:noFill/>
        </p:spPr>
        <p:txBody>
          <a:bodyPr wrap="none" rtlCol="0">
            <a:spAutoFit/>
          </a:bodyPr>
          <a:lstStyle/>
          <a:p>
            <a:r>
              <a:rPr lang="en-US" dirty="0"/>
              <a:t>KCL :</a:t>
            </a:r>
          </a:p>
        </p:txBody>
      </p:sp>
      <p:graphicFrame>
        <p:nvGraphicFramePr>
          <p:cNvPr id="157712" name="Object 16"/>
          <p:cNvGraphicFramePr>
            <a:graphicFrameLocks noChangeAspect="1"/>
          </p:cNvGraphicFramePr>
          <p:nvPr/>
        </p:nvGraphicFramePr>
        <p:xfrm>
          <a:off x="4398963" y="5219700"/>
          <a:ext cx="782637" cy="392113"/>
        </p:xfrm>
        <a:graphic>
          <a:graphicData uri="http://schemas.openxmlformats.org/presentationml/2006/ole">
            <mc:AlternateContent xmlns:mc="http://schemas.openxmlformats.org/markup-compatibility/2006">
              <mc:Choice xmlns:v="urn:schemas-microsoft-com:vml" Requires="v">
                <p:oleObj name="Equation" r:id="rId21" imgW="482400" imgH="241200" progId="Equation.3">
                  <p:embed/>
                </p:oleObj>
              </mc:Choice>
              <mc:Fallback>
                <p:oleObj name="Equation" r:id="rId21" imgW="482400" imgH="241200"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398963" y="5219700"/>
                        <a:ext cx="782637" cy="392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8" name="TextBox 37"/>
          <p:cNvSpPr txBox="1"/>
          <p:nvPr/>
        </p:nvSpPr>
        <p:spPr>
          <a:xfrm>
            <a:off x="5181600" y="5231368"/>
            <a:ext cx="2916183" cy="369332"/>
          </a:xfrm>
          <a:prstGeom prst="rect">
            <a:avLst/>
          </a:prstGeom>
          <a:noFill/>
        </p:spPr>
        <p:txBody>
          <a:bodyPr wrap="none" rtlCol="0">
            <a:spAutoFit/>
          </a:bodyPr>
          <a:lstStyle/>
          <a:p>
            <a:r>
              <a:rPr lang="en-US" dirty="0"/>
              <a:t>. From above:	         so,</a:t>
            </a:r>
          </a:p>
        </p:txBody>
      </p:sp>
      <p:graphicFrame>
        <p:nvGraphicFramePr>
          <p:cNvPr id="157713" name="Object 17"/>
          <p:cNvGraphicFramePr>
            <a:graphicFrameLocks noChangeAspect="1"/>
          </p:cNvGraphicFramePr>
          <p:nvPr/>
        </p:nvGraphicFramePr>
        <p:xfrm>
          <a:off x="6761163" y="5229225"/>
          <a:ext cx="782637" cy="371475"/>
        </p:xfrm>
        <a:graphic>
          <a:graphicData uri="http://schemas.openxmlformats.org/presentationml/2006/ole">
            <mc:AlternateContent xmlns:mc="http://schemas.openxmlformats.org/markup-compatibility/2006">
              <mc:Choice xmlns:v="urn:schemas-microsoft-com:vml" Requires="v">
                <p:oleObj name="Equation" r:id="rId23" imgW="482400" imgH="228600" progId="Equation.3">
                  <p:embed/>
                </p:oleObj>
              </mc:Choice>
              <mc:Fallback>
                <p:oleObj name="Equation" r:id="rId23" imgW="482400" imgH="228600" progId="Equation.3">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761163" y="5229225"/>
                        <a:ext cx="782637"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7714" name="Object 18"/>
          <p:cNvGraphicFramePr>
            <a:graphicFrameLocks noChangeAspect="1"/>
          </p:cNvGraphicFramePr>
          <p:nvPr/>
        </p:nvGraphicFramePr>
        <p:xfrm>
          <a:off x="8027988" y="5240338"/>
          <a:ext cx="762000" cy="330200"/>
        </p:xfrm>
        <a:graphic>
          <a:graphicData uri="http://schemas.openxmlformats.org/presentationml/2006/ole">
            <mc:AlternateContent xmlns:mc="http://schemas.openxmlformats.org/markup-compatibility/2006">
              <mc:Choice xmlns:v="urn:schemas-microsoft-com:vml" Requires="v">
                <p:oleObj name="Equation" r:id="rId25" imgW="469800" imgH="203040" progId="Equation.3">
                  <p:embed/>
                </p:oleObj>
              </mc:Choice>
              <mc:Fallback>
                <p:oleObj name="Equation" r:id="rId25" imgW="469800" imgH="203040" progId="Equation.3">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8027988" y="5240338"/>
                        <a:ext cx="762000" cy="33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 name="Title 1"/>
          <p:cNvSpPr>
            <a:spLocks noGrp="1"/>
          </p:cNvSpPr>
          <p:nvPr>
            <p:ph type="title"/>
          </p:nvPr>
        </p:nvSpPr>
        <p:spPr>
          <a:xfrm>
            <a:off x="457200" y="122237"/>
            <a:ext cx="6781800" cy="563563"/>
          </a:xfrm>
        </p:spPr>
        <p:txBody>
          <a:bodyPr/>
          <a:lstStyle/>
          <a:p>
            <a:r>
              <a:rPr lang="en-US" sz="3200" dirty="0"/>
              <a:t>Example (</a:t>
            </a:r>
            <a:r>
              <a:rPr lang="en-US" sz="2800" dirty="0"/>
              <a:t>4.2.3 Johnson &amp; Johnson P:127)</a:t>
            </a:r>
            <a:endParaRPr lang="en-US" sz="3200" dirty="0"/>
          </a:p>
        </p:txBody>
      </p:sp>
    </p:spTree>
    <p:extLst>
      <p:ext uri="{BB962C8B-B14F-4D97-AF65-F5344CB8AC3E}">
        <p14:creationId xmlns:p14="http://schemas.microsoft.com/office/powerpoint/2010/main" val="1147575303"/>
      </p:ext>
    </p:extLst>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Nodal Analysis</a:t>
            </a:r>
          </a:p>
        </p:txBody>
      </p:sp>
      <p:sp>
        <p:nvSpPr>
          <p:cNvPr id="6147" name="Content Placeholder 2"/>
          <p:cNvSpPr>
            <a:spLocks noGrp="1"/>
          </p:cNvSpPr>
          <p:nvPr>
            <p:ph idx="1"/>
          </p:nvPr>
        </p:nvSpPr>
        <p:spPr>
          <a:xfrm>
            <a:off x="533400" y="838201"/>
            <a:ext cx="8229600" cy="5753099"/>
          </a:xfrm>
        </p:spPr>
        <p:txBody>
          <a:bodyPr/>
          <a:lstStyle/>
          <a:p>
            <a:r>
              <a:rPr lang="en-US" sz="2400" dirty="0"/>
              <a:t>Select a </a:t>
            </a:r>
            <a:r>
              <a:rPr lang="en-US" sz="2400" u="sng" dirty="0"/>
              <a:t>reference node </a:t>
            </a:r>
            <a:r>
              <a:rPr lang="en-US" sz="2400" dirty="0"/>
              <a:t>and define the voltage at each of the </a:t>
            </a:r>
            <a:r>
              <a:rPr lang="en-US" sz="2400" dirty="0" err="1"/>
              <a:t>nonreference</a:t>
            </a:r>
            <a:r>
              <a:rPr lang="en-US" sz="2400" dirty="0"/>
              <a:t> nodes with respect to the reference node. Call this the </a:t>
            </a:r>
            <a:r>
              <a:rPr lang="en-US" sz="2400" u="sng" dirty="0"/>
              <a:t>node voltage</a:t>
            </a:r>
            <a:r>
              <a:rPr lang="en-US" sz="2400" dirty="0"/>
              <a:t>. </a:t>
            </a:r>
          </a:p>
          <a:p>
            <a:r>
              <a:rPr lang="en-US" sz="2400" dirty="0"/>
              <a:t>In nodal analysis method, analyze the node voltages first, and derive the other circuit variables (currents and voltages) next.</a:t>
            </a:r>
          </a:p>
          <a:p>
            <a:r>
              <a:rPr lang="en-US" sz="2400" dirty="0"/>
              <a:t>Many circuit elements are connected to a reference plane that is a metallic base or </a:t>
            </a:r>
            <a:r>
              <a:rPr lang="en-US" sz="2400" dirty="0" err="1"/>
              <a:t>chasis</a:t>
            </a:r>
            <a:r>
              <a:rPr lang="en-US" sz="2400" dirty="0"/>
              <a:t>. Usually the </a:t>
            </a:r>
            <a:r>
              <a:rPr lang="en-US" sz="2400" dirty="0" err="1"/>
              <a:t>chasis</a:t>
            </a:r>
            <a:r>
              <a:rPr lang="en-US" sz="2400" dirty="0"/>
              <a:t> or reference plane is shorted to the earth itself. We call this node the </a:t>
            </a:r>
            <a:r>
              <a:rPr lang="en-US" sz="2400" u="sng" dirty="0"/>
              <a:t>ground node</a:t>
            </a:r>
            <a:r>
              <a:rPr lang="en-US" sz="2400" dirty="0"/>
              <a:t> or the </a:t>
            </a:r>
            <a:r>
              <a:rPr lang="en-US" sz="2400" u="sng" dirty="0"/>
              <a:t>ground</a:t>
            </a:r>
            <a:r>
              <a:rPr lang="en-US" sz="2400" dirty="0"/>
              <a:t> or the </a:t>
            </a:r>
            <a:r>
              <a:rPr lang="en-US" sz="2400" u="sng" dirty="0"/>
              <a:t>reference node</a:t>
            </a:r>
            <a:r>
              <a:rPr lang="en-US" sz="2400" dirty="0"/>
              <a:t>.</a:t>
            </a:r>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64</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161794" name="Picture 2"/>
          <p:cNvPicPr>
            <a:picLocks noChangeAspect="1" noChangeArrowheads="1"/>
          </p:cNvPicPr>
          <p:nvPr/>
        </p:nvPicPr>
        <p:blipFill>
          <a:blip r:embed="rId2" cstate="print"/>
          <a:srcRect/>
          <a:stretch>
            <a:fillRect/>
          </a:stretch>
        </p:blipFill>
        <p:spPr bwMode="auto">
          <a:xfrm>
            <a:off x="952500" y="4457700"/>
            <a:ext cx="2362200" cy="2201058"/>
          </a:xfrm>
          <a:prstGeom prst="rect">
            <a:avLst/>
          </a:prstGeom>
          <a:noFill/>
          <a:ln w="9525">
            <a:noFill/>
            <a:miter lim="800000"/>
            <a:headEnd/>
            <a:tailEnd/>
          </a:ln>
          <a:effectLst/>
        </p:spPr>
      </p:pic>
      <p:graphicFrame>
        <p:nvGraphicFramePr>
          <p:cNvPr id="161795" name="Object 3"/>
          <p:cNvGraphicFramePr>
            <a:graphicFrameLocks noChangeAspect="1"/>
          </p:cNvGraphicFramePr>
          <p:nvPr/>
        </p:nvGraphicFramePr>
        <p:xfrm>
          <a:off x="3886200" y="4686300"/>
          <a:ext cx="1006475" cy="350838"/>
        </p:xfrm>
        <a:graphic>
          <a:graphicData uri="http://schemas.openxmlformats.org/presentationml/2006/ole">
            <mc:AlternateContent xmlns:mc="http://schemas.openxmlformats.org/markup-compatibility/2006">
              <mc:Choice xmlns:v="urn:schemas-microsoft-com:vml" Requires="v">
                <p:oleObj name="Equation" r:id="rId3" imgW="622080" imgH="215640" progId="Equation.3">
                  <p:embed/>
                </p:oleObj>
              </mc:Choice>
              <mc:Fallback>
                <p:oleObj name="Equation" r:id="rId3" imgW="622080" imgH="215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6200" y="4686300"/>
                        <a:ext cx="1006475" cy="350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Box 7"/>
          <p:cNvSpPr txBox="1"/>
          <p:nvPr/>
        </p:nvSpPr>
        <p:spPr>
          <a:xfrm>
            <a:off x="3810000" y="5067300"/>
            <a:ext cx="1398781" cy="369332"/>
          </a:xfrm>
          <a:prstGeom prst="rect">
            <a:avLst/>
          </a:prstGeom>
          <a:noFill/>
        </p:spPr>
        <p:txBody>
          <a:bodyPr wrap="none" rtlCol="0">
            <a:spAutoFit/>
          </a:bodyPr>
          <a:lstStyle/>
          <a:p>
            <a:r>
              <a:rPr lang="en-US" dirty="0"/>
              <a:t>Ohm’s Law:</a:t>
            </a:r>
          </a:p>
        </p:txBody>
      </p:sp>
      <p:graphicFrame>
        <p:nvGraphicFramePr>
          <p:cNvPr id="161796" name="Object 4"/>
          <p:cNvGraphicFramePr>
            <a:graphicFrameLocks noChangeAspect="1"/>
          </p:cNvGraphicFramePr>
          <p:nvPr/>
        </p:nvGraphicFramePr>
        <p:xfrm>
          <a:off x="5257800" y="4960938"/>
          <a:ext cx="2670175" cy="639762"/>
        </p:xfrm>
        <a:graphic>
          <a:graphicData uri="http://schemas.openxmlformats.org/presentationml/2006/ole">
            <mc:AlternateContent xmlns:mc="http://schemas.openxmlformats.org/markup-compatibility/2006">
              <mc:Choice xmlns:v="urn:schemas-microsoft-com:vml" Requires="v">
                <p:oleObj name="Equation" r:id="rId5" imgW="1650960" imgH="393480" progId="Equation.3">
                  <p:embed/>
                </p:oleObj>
              </mc:Choice>
              <mc:Fallback>
                <p:oleObj name="Equation" r:id="rId5" imgW="1650960" imgH="39348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57800" y="4960938"/>
                        <a:ext cx="2670175" cy="639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Box 9"/>
          <p:cNvSpPr txBox="1"/>
          <p:nvPr/>
        </p:nvSpPr>
        <p:spPr>
          <a:xfrm>
            <a:off x="3445748" y="5715000"/>
            <a:ext cx="5545852" cy="923330"/>
          </a:xfrm>
          <a:prstGeom prst="rect">
            <a:avLst/>
          </a:prstGeom>
          <a:noFill/>
        </p:spPr>
        <p:txBody>
          <a:bodyPr wrap="square" rtlCol="0">
            <a:spAutoFit/>
          </a:bodyPr>
          <a:lstStyle/>
          <a:p>
            <a:r>
              <a:rPr lang="en-US" dirty="0"/>
              <a:t>The current from Node 1 to Node 2 through a resistor is the difference in node voltages divided by the resistance R, or multiplied by the conductance G.</a:t>
            </a:r>
          </a:p>
        </p:txBody>
      </p:sp>
    </p:spTree>
    <p:extLst>
      <p:ext uri="{BB962C8B-B14F-4D97-AF65-F5344CB8AC3E}">
        <p14:creationId xmlns:p14="http://schemas.microsoft.com/office/powerpoint/2010/main" val="1413722594"/>
      </p:ext>
    </p:extLst>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0" y="122237"/>
            <a:ext cx="7353300" cy="563563"/>
          </a:xfrm>
        </p:spPr>
        <p:txBody>
          <a:bodyPr/>
          <a:lstStyle/>
          <a:p>
            <a:r>
              <a:rPr lang="en-US" sz="3200" dirty="0"/>
              <a:t>Circuits with Current Sources &amp; Resistances</a:t>
            </a:r>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65</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163844" name="Picture 4"/>
          <p:cNvPicPr>
            <a:picLocks noChangeAspect="1" noChangeArrowheads="1"/>
          </p:cNvPicPr>
          <p:nvPr/>
        </p:nvPicPr>
        <p:blipFill>
          <a:blip r:embed="rId2" cstate="print"/>
          <a:srcRect/>
          <a:stretch>
            <a:fillRect/>
          </a:stretch>
        </p:blipFill>
        <p:spPr bwMode="auto">
          <a:xfrm>
            <a:off x="342900" y="762000"/>
            <a:ext cx="3950969" cy="2095500"/>
          </a:xfrm>
          <a:prstGeom prst="rect">
            <a:avLst/>
          </a:prstGeom>
          <a:noFill/>
          <a:ln w="9525">
            <a:noFill/>
            <a:miter lim="800000"/>
            <a:headEnd/>
            <a:tailEnd/>
          </a:ln>
          <a:effectLst/>
        </p:spPr>
      </p:pic>
      <p:pic>
        <p:nvPicPr>
          <p:cNvPr id="163845" name="Picture 5"/>
          <p:cNvPicPr>
            <a:picLocks noChangeAspect="1" noChangeArrowheads="1"/>
          </p:cNvPicPr>
          <p:nvPr/>
        </p:nvPicPr>
        <p:blipFill>
          <a:blip r:embed="rId3" cstate="print"/>
          <a:srcRect/>
          <a:stretch>
            <a:fillRect/>
          </a:stretch>
        </p:blipFill>
        <p:spPr bwMode="auto">
          <a:xfrm>
            <a:off x="5295900" y="685800"/>
            <a:ext cx="2362200" cy="2201060"/>
          </a:xfrm>
          <a:prstGeom prst="rect">
            <a:avLst/>
          </a:prstGeom>
          <a:noFill/>
          <a:ln w="9525">
            <a:noFill/>
            <a:miter lim="800000"/>
            <a:headEnd/>
            <a:tailEnd/>
          </a:ln>
          <a:effectLst/>
        </p:spPr>
      </p:pic>
      <p:graphicFrame>
        <p:nvGraphicFramePr>
          <p:cNvPr id="163846" name="Object 6"/>
          <p:cNvGraphicFramePr>
            <a:graphicFrameLocks noChangeAspect="1"/>
          </p:cNvGraphicFramePr>
          <p:nvPr/>
        </p:nvGraphicFramePr>
        <p:xfrm>
          <a:off x="4610100" y="1562100"/>
          <a:ext cx="680590" cy="482600"/>
        </p:xfrm>
        <a:graphic>
          <a:graphicData uri="http://schemas.openxmlformats.org/presentationml/2006/ole">
            <mc:AlternateContent xmlns:mc="http://schemas.openxmlformats.org/markup-compatibility/2006">
              <mc:Choice xmlns:v="urn:schemas-microsoft-com:vml" Requires="v">
                <p:oleObj name="Equation" r:id="rId4" imgW="215640" imgH="152280" progId="Equation.3">
                  <p:embed/>
                </p:oleObj>
              </mc:Choice>
              <mc:Fallback>
                <p:oleObj name="Equation" r:id="rId4" imgW="215640" imgH="1522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10100" y="1562100"/>
                        <a:ext cx="680590"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TextBox 13"/>
          <p:cNvSpPr txBox="1"/>
          <p:nvPr/>
        </p:nvSpPr>
        <p:spPr>
          <a:xfrm>
            <a:off x="685800" y="3048000"/>
            <a:ext cx="1817549" cy="369332"/>
          </a:xfrm>
          <a:prstGeom prst="rect">
            <a:avLst/>
          </a:prstGeom>
          <a:noFill/>
        </p:spPr>
        <p:txBody>
          <a:bodyPr wrap="none" rtlCol="0">
            <a:spAutoFit/>
          </a:bodyPr>
          <a:lstStyle/>
          <a:p>
            <a:r>
              <a:rPr lang="en-US" dirty="0"/>
              <a:t>KCL at Node 1:</a:t>
            </a:r>
          </a:p>
        </p:txBody>
      </p:sp>
      <p:graphicFrame>
        <p:nvGraphicFramePr>
          <p:cNvPr id="163847" name="Object 7"/>
          <p:cNvGraphicFramePr>
            <a:graphicFrameLocks noChangeAspect="1"/>
          </p:cNvGraphicFramePr>
          <p:nvPr/>
        </p:nvGraphicFramePr>
        <p:xfrm>
          <a:off x="2476500" y="3048000"/>
          <a:ext cx="1376363" cy="392112"/>
        </p:xfrm>
        <a:graphic>
          <a:graphicData uri="http://schemas.openxmlformats.org/presentationml/2006/ole">
            <mc:AlternateContent xmlns:mc="http://schemas.openxmlformats.org/markup-compatibility/2006">
              <mc:Choice xmlns:v="urn:schemas-microsoft-com:vml" Requires="v">
                <p:oleObj name="Equation" r:id="rId6" imgW="850680" imgH="241200" progId="Equation.3">
                  <p:embed/>
                </p:oleObj>
              </mc:Choice>
              <mc:Fallback>
                <p:oleObj name="Equation" r:id="rId6" imgW="850680" imgH="2412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76500" y="3048000"/>
                        <a:ext cx="1376363" cy="392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TextBox 15"/>
          <p:cNvSpPr txBox="1"/>
          <p:nvPr/>
        </p:nvSpPr>
        <p:spPr>
          <a:xfrm>
            <a:off x="697051" y="3429000"/>
            <a:ext cx="2839239" cy="369332"/>
          </a:xfrm>
          <a:prstGeom prst="rect">
            <a:avLst/>
          </a:prstGeom>
          <a:noFill/>
        </p:spPr>
        <p:txBody>
          <a:bodyPr wrap="none" rtlCol="0">
            <a:spAutoFit/>
          </a:bodyPr>
          <a:lstStyle/>
          <a:p>
            <a:r>
              <a:rPr lang="en-US" dirty="0"/>
              <a:t>In terms of node voltages:</a:t>
            </a:r>
          </a:p>
        </p:txBody>
      </p:sp>
      <p:graphicFrame>
        <p:nvGraphicFramePr>
          <p:cNvPr id="163848" name="Object 8"/>
          <p:cNvGraphicFramePr>
            <a:graphicFrameLocks noChangeAspect="1"/>
          </p:cNvGraphicFramePr>
          <p:nvPr/>
        </p:nvGraphicFramePr>
        <p:xfrm>
          <a:off x="3551237" y="3429000"/>
          <a:ext cx="2506663" cy="392113"/>
        </p:xfrm>
        <a:graphic>
          <a:graphicData uri="http://schemas.openxmlformats.org/presentationml/2006/ole">
            <mc:AlternateContent xmlns:mc="http://schemas.openxmlformats.org/markup-compatibility/2006">
              <mc:Choice xmlns:v="urn:schemas-microsoft-com:vml" Requires="v">
                <p:oleObj name="Equation" r:id="rId8" imgW="1549080" imgH="241200" progId="Equation.3">
                  <p:embed/>
                </p:oleObj>
              </mc:Choice>
              <mc:Fallback>
                <p:oleObj name="Equation" r:id="rId8" imgW="1549080" imgH="2412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51237" y="3429000"/>
                        <a:ext cx="2506663" cy="392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TextBox 17"/>
          <p:cNvSpPr txBox="1"/>
          <p:nvPr/>
        </p:nvSpPr>
        <p:spPr>
          <a:xfrm>
            <a:off x="685800" y="3821668"/>
            <a:ext cx="1753429" cy="369332"/>
          </a:xfrm>
          <a:prstGeom prst="rect">
            <a:avLst/>
          </a:prstGeom>
          <a:noFill/>
        </p:spPr>
        <p:txBody>
          <a:bodyPr wrap="none" rtlCol="0">
            <a:spAutoFit/>
          </a:bodyPr>
          <a:lstStyle/>
          <a:p>
            <a:r>
              <a:rPr lang="en-US" dirty="0"/>
              <a:t>KCL at Node 2:</a:t>
            </a:r>
          </a:p>
        </p:txBody>
      </p:sp>
      <p:graphicFrame>
        <p:nvGraphicFramePr>
          <p:cNvPr id="163849" name="Object 9"/>
          <p:cNvGraphicFramePr>
            <a:graphicFrameLocks noChangeAspect="1"/>
          </p:cNvGraphicFramePr>
          <p:nvPr/>
        </p:nvGraphicFramePr>
        <p:xfrm>
          <a:off x="2436812" y="3810000"/>
          <a:ext cx="1601788" cy="392113"/>
        </p:xfrm>
        <a:graphic>
          <a:graphicData uri="http://schemas.openxmlformats.org/presentationml/2006/ole">
            <mc:AlternateContent xmlns:mc="http://schemas.openxmlformats.org/markup-compatibility/2006">
              <mc:Choice xmlns:v="urn:schemas-microsoft-com:vml" Requires="v">
                <p:oleObj name="Equation" r:id="rId10" imgW="990360" imgH="241200" progId="Equation.3">
                  <p:embed/>
                </p:oleObj>
              </mc:Choice>
              <mc:Fallback>
                <p:oleObj name="Equation" r:id="rId10" imgW="990360" imgH="2412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36812" y="3810000"/>
                        <a:ext cx="1601788" cy="392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3850" name="Object 10"/>
          <p:cNvGraphicFramePr>
            <a:graphicFrameLocks noChangeAspect="1"/>
          </p:cNvGraphicFramePr>
          <p:nvPr/>
        </p:nvGraphicFramePr>
        <p:xfrm>
          <a:off x="2362200" y="4152900"/>
          <a:ext cx="2587625" cy="392112"/>
        </p:xfrm>
        <a:graphic>
          <a:graphicData uri="http://schemas.openxmlformats.org/presentationml/2006/ole">
            <mc:AlternateContent xmlns:mc="http://schemas.openxmlformats.org/markup-compatibility/2006">
              <mc:Choice xmlns:v="urn:schemas-microsoft-com:vml" Requires="v">
                <p:oleObj name="Equation" r:id="rId12" imgW="1600200" imgH="241200" progId="Equation.3">
                  <p:embed/>
                </p:oleObj>
              </mc:Choice>
              <mc:Fallback>
                <p:oleObj name="Equation" r:id="rId12" imgW="1600200" imgH="24120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362200" y="4152900"/>
                        <a:ext cx="2587625" cy="392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TextBox 20"/>
          <p:cNvSpPr txBox="1"/>
          <p:nvPr/>
        </p:nvSpPr>
        <p:spPr>
          <a:xfrm>
            <a:off x="684971" y="4659868"/>
            <a:ext cx="1518364" cy="369332"/>
          </a:xfrm>
          <a:prstGeom prst="rect">
            <a:avLst/>
          </a:prstGeom>
          <a:noFill/>
        </p:spPr>
        <p:txBody>
          <a:bodyPr wrap="none" rtlCol="0">
            <a:spAutoFit/>
          </a:bodyPr>
          <a:lstStyle/>
          <a:p>
            <a:r>
              <a:rPr lang="en-US" u="sng" dirty="0"/>
              <a:t>Rearranging:</a:t>
            </a:r>
          </a:p>
        </p:txBody>
      </p:sp>
      <p:graphicFrame>
        <p:nvGraphicFramePr>
          <p:cNvPr id="163851" name="Object 11"/>
          <p:cNvGraphicFramePr>
            <a:graphicFrameLocks noChangeAspect="1"/>
          </p:cNvGraphicFramePr>
          <p:nvPr/>
        </p:nvGraphicFramePr>
        <p:xfrm>
          <a:off x="3225800" y="5067300"/>
          <a:ext cx="2260600" cy="392113"/>
        </p:xfrm>
        <a:graphic>
          <a:graphicData uri="http://schemas.openxmlformats.org/presentationml/2006/ole">
            <mc:AlternateContent xmlns:mc="http://schemas.openxmlformats.org/markup-compatibility/2006">
              <mc:Choice xmlns:v="urn:schemas-microsoft-com:vml" Requires="v">
                <p:oleObj name="Equation" r:id="rId14" imgW="1396800" imgH="241200" progId="Equation.3">
                  <p:embed/>
                </p:oleObj>
              </mc:Choice>
              <mc:Fallback>
                <p:oleObj name="Equation" r:id="rId14" imgW="1396800" imgH="24120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225800" y="5067300"/>
                        <a:ext cx="2260600" cy="392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3852" name="Object 12"/>
          <p:cNvGraphicFramePr>
            <a:graphicFrameLocks noChangeAspect="1"/>
          </p:cNvGraphicFramePr>
          <p:nvPr/>
        </p:nvGraphicFramePr>
        <p:xfrm>
          <a:off x="3048000" y="5562600"/>
          <a:ext cx="2609850" cy="392112"/>
        </p:xfrm>
        <a:graphic>
          <a:graphicData uri="http://schemas.openxmlformats.org/presentationml/2006/ole">
            <mc:AlternateContent xmlns:mc="http://schemas.openxmlformats.org/markup-compatibility/2006">
              <mc:Choice xmlns:v="urn:schemas-microsoft-com:vml" Requires="v">
                <p:oleObj name="Equation" r:id="rId16" imgW="1612800" imgH="241200" progId="Equation.3">
                  <p:embed/>
                </p:oleObj>
              </mc:Choice>
              <mc:Fallback>
                <p:oleObj name="Equation" r:id="rId16" imgW="1612800" imgH="241200"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048000" y="5562600"/>
                        <a:ext cx="2609850" cy="392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Freeform 26"/>
          <p:cNvSpPr/>
          <p:nvPr/>
        </p:nvSpPr>
        <p:spPr>
          <a:xfrm>
            <a:off x="2552700" y="5219700"/>
            <a:ext cx="625929" cy="304800"/>
          </a:xfrm>
          <a:custGeom>
            <a:avLst/>
            <a:gdLst>
              <a:gd name="connsiteX0" fmla="*/ 1273629 w 1273629"/>
              <a:gd name="connsiteY0" fmla="*/ 0 h 337457"/>
              <a:gd name="connsiteX1" fmla="*/ 381000 w 1273629"/>
              <a:gd name="connsiteY1" fmla="*/ 97971 h 337457"/>
              <a:gd name="connsiteX2" fmla="*/ 914400 w 1273629"/>
              <a:gd name="connsiteY2" fmla="*/ 152400 h 337457"/>
              <a:gd name="connsiteX3" fmla="*/ 0 w 1273629"/>
              <a:gd name="connsiteY3" fmla="*/ 337457 h 337457"/>
            </a:gdLst>
            <a:ahLst/>
            <a:cxnLst>
              <a:cxn ang="0">
                <a:pos x="connsiteX0" y="connsiteY0"/>
              </a:cxn>
              <a:cxn ang="0">
                <a:pos x="connsiteX1" y="connsiteY1"/>
              </a:cxn>
              <a:cxn ang="0">
                <a:pos x="connsiteX2" y="connsiteY2"/>
              </a:cxn>
              <a:cxn ang="0">
                <a:pos x="connsiteX3" y="connsiteY3"/>
              </a:cxn>
            </a:cxnLst>
            <a:rect l="l" t="t" r="r" b="b"/>
            <a:pathLst>
              <a:path w="1273629" h="337457">
                <a:moveTo>
                  <a:pt x="1273629" y="0"/>
                </a:moveTo>
                <a:cubicBezTo>
                  <a:pt x="857250" y="36285"/>
                  <a:pt x="440871" y="72571"/>
                  <a:pt x="381000" y="97971"/>
                </a:cubicBezTo>
                <a:cubicBezTo>
                  <a:pt x="321129" y="123371"/>
                  <a:pt x="977900" y="112486"/>
                  <a:pt x="914400" y="152400"/>
                </a:cubicBezTo>
                <a:cubicBezTo>
                  <a:pt x="850900" y="192314"/>
                  <a:pt x="425450" y="264885"/>
                  <a:pt x="0" y="337457"/>
                </a:cubicBezTo>
              </a:path>
            </a:pathLst>
          </a:custGeom>
          <a:ln w="9525">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 name="TextBox 27"/>
          <p:cNvSpPr txBox="1"/>
          <p:nvPr/>
        </p:nvSpPr>
        <p:spPr>
          <a:xfrm>
            <a:off x="264150" y="5144869"/>
            <a:ext cx="2364750" cy="646331"/>
          </a:xfrm>
          <a:prstGeom prst="rect">
            <a:avLst/>
          </a:prstGeom>
          <a:noFill/>
        </p:spPr>
        <p:txBody>
          <a:bodyPr wrap="none" rtlCol="0">
            <a:spAutoFit/>
          </a:bodyPr>
          <a:lstStyle/>
          <a:p>
            <a:r>
              <a:rPr lang="en-US" dirty="0"/>
              <a:t>sum of </a:t>
            </a:r>
            <a:r>
              <a:rPr lang="en-US" dirty="0" err="1"/>
              <a:t>conductances</a:t>
            </a:r>
            <a:endParaRPr lang="en-US" dirty="0"/>
          </a:p>
          <a:p>
            <a:r>
              <a:rPr lang="en-US" dirty="0"/>
              <a:t>connected to node 1</a:t>
            </a:r>
          </a:p>
        </p:txBody>
      </p:sp>
      <p:sp>
        <p:nvSpPr>
          <p:cNvPr id="29" name="Freeform 28"/>
          <p:cNvSpPr/>
          <p:nvPr/>
        </p:nvSpPr>
        <p:spPr>
          <a:xfrm>
            <a:off x="2590800" y="5900057"/>
            <a:ext cx="566057" cy="217714"/>
          </a:xfrm>
          <a:custGeom>
            <a:avLst/>
            <a:gdLst>
              <a:gd name="connsiteX0" fmla="*/ 566057 w 566057"/>
              <a:gd name="connsiteY0" fmla="*/ 0 h 217714"/>
              <a:gd name="connsiteX1" fmla="*/ 326571 w 566057"/>
              <a:gd name="connsiteY1" fmla="*/ 174172 h 217714"/>
              <a:gd name="connsiteX2" fmla="*/ 326571 w 566057"/>
              <a:gd name="connsiteY2" fmla="*/ 32657 h 217714"/>
              <a:gd name="connsiteX3" fmla="*/ 0 w 566057"/>
              <a:gd name="connsiteY3" fmla="*/ 217714 h 217714"/>
            </a:gdLst>
            <a:ahLst/>
            <a:cxnLst>
              <a:cxn ang="0">
                <a:pos x="connsiteX0" y="connsiteY0"/>
              </a:cxn>
              <a:cxn ang="0">
                <a:pos x="connsiteX1" y="connsiteY1"/>
              </a:cxn>
              <a:cxn ang="0">
                <a:pos x="connsiteX2" y="connsiteY2"/>
              </a:cxn>
              <a:cxn ang="0">
                <a:pos x="connsiteX3" y="connsiteY3"/>
              </a:cxn>
            </a:cxnLst>
            <a:rect l="l" t="t" r="r" b="b"/>
            <a:pathLst>
              <a:path w="566057" h="217714">
                <a:moveTo>
                  <a:pt x="566057" y="0"/>
                </a:moveTo>
                <a:cubicBezTo>
                  <a:pt x="466271" y="84364"/>
                  <a:pt x="366485" y="168729"/>
                  <a:pt x="326571" y="174172"/>
                </a:cubicBezTo>
                <a:cubicBezTo>
                  <a:pt x="286657" y="179615"/>
                  <a:pt x="381000" y="25400"/>
                  <a:pt x="326571" y="32657"/>
                </a:cubicBezTo>
                <a:cubicBezTo>
                  <a:pt x="272142" y="39914"/>
                  <a:pt x="136071" y="128814"/>
                  <a:pt x="0" y="217714"/>
                </a:cubicBezTo>
              </a:path>
            </a:pathLst>
          </a:custGeom>
          <a:ln>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0" name="TextBox 29"/>
          <p:cNvSpPr txBox="1"/>
          <p:nvPr/>
        </p:nvSpPr>
        <p:spPr>
          <a:xfrm>
            <a:off x="663357" y="5868769"/>
            <a:ext cx="3108543" cy="646331"/>
          </a:xfrm>
          <a:prstGeom prst="rect">
            <a:avLst/>
          </a:prstGeom>
          <a:noFill/>
        </p:spPr>
        <p:txBody>
          <a:bodyPr wrap="none" rtlCol="0">
            <a:spAutoFit/>
          </a:bodyPr>
          <a:lstStyle/>
          <a:p>
            <a:r>
              <a:rPr lang="en-US" dirty="0"/>
              <a:t>-</a:t>
            </a:r>
            <a:r>
              <a:rPr lang="en-US" dirty="0" err="1"/>
              <a:t>ve</a:t>
            </a:r>
            <a:r>
              <a:rPr lang="en-US" dirty="0"/>
              <a:t> conductance </a:t>
            </a:r>
          </a:p>
          <a:p>
            <a:r>
              <a:rPr lang="en-US" dirty="0"/>
              <a:t>Connecting node 1 &amp; node 2</a:t>
            </a:r>
          </a:p>
        </p:txBody>
      </p:sp>
      <p:sp>
        <p:nvSpPr>
          <p:cNvPr id="31" name="Freeform 30"/>
          <p:cNvSpPr/>
          <p:nvPr/>
        </p:nvSpPr>
        <p:spPr>
          <a:xfrm rot="21137052" flipH="1" flipV="1">
            <a:off x="4730750" y="4742395"/>
            <a:ext cx="857253" cy="320622"/>
          </a:xfrm>
          <a:custGeom>
            <a:avLst/>
            <a:gdLst>
              <a:gd name="connsiteX0" fmla="*/ 1273629 w 1273629"/>
              <a:gd name="connsiteY0" fmla="*/ 0 h 337457"/>
              <a:gd name="connsiteX1" fmla="*/ 381000 w 1273629"/>
              <a:gd name="connsiteY1" fmla="*/ 97971 h 337457"/>
              <a:gd name="connsiteX2" fmla="*/ 914400 w 1273629"/>
              <a:gd name="connsiteY2" fmla="*/ 152400 h 337457"/>
              <a:gd name="connsiteX3" fmla="*/ 0 w 1273629"/>
              <a:gd name="connsiteY3" fmla="*/ 337457 h 337457"/>
            </a:gdLst>
            <a:ahLst/>
            <a:cxnLst>
              <a:cxn ang="0">
                <a:pos x="connsiteX0" y="connsiteY0"/>
              </a:cxn>
              <a:cxn ang="0">
                <a:pos x="connsiteX1" y="connsiteY1"/>
              </a:cxn>
              <a:cxn ang="0">
                <a:pos x="connsiteX2" y="connsiteY2"/>
              </a:cxn>
              <a:cxn ang="0">
                <a:pos x="connsiteX3" y="connsiteY3"/>
              </a:cxn>
            </a:cxnLst>
            <a:rect l="l" t="t" r="r" b="b"/>
            <a:pathLst>
              <a:path w="1273629" h="337457">
                <a:moveTo>
                  <a:pt x="1273629" y="0"/>
                </a:moveTo>
                <a:cubicBezTo>
                  <a:pt x="857250" y="36285"/>
                  <a:pt x="440871" y="72571"/>
                  <a:pt x="381000" y="97971"/>
                </a:cubicBezTo>
                <a:cubicBezTo>
                  <a:pt x="321129" y="123371"/>
                  <a:pt x="977900" y="112486"/>
                  <a:pt x="914400" y="152400"/>
                </a:cubicBezTo>
                <a:cubicBezTo>
                  <a:pt x="850900" y="192314"/>
                  <a:pt x="425450" y="264885"/>
                  <a:pt x="0" y="337457"/>
                </a:cubicBezTo>
              </a:path>
            </a:pathLst>
          </a:custGeom>
          <a:ln w="9525">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TextBox 31"/>
          <p:cNvSpPr txBox="1"/>
          <p:nvPr/>
        </p:nvSpPr>
        <p:spPr>
          <a:xfrm>
            <a:off x="5600700" y="4343400"/>
            <a:ext cx="3108543" cy="646331"/>
          </a:xfrm>
          <a:prstGeom prst="rect">
            <a:avLst/>
          </a:prstGeom>
          <a:noFill/>
        </p:spPr>
        <p:txBody>
          <a:bodyPr wrap="none" rtlCol="0">
            <a:spAutoFit/>
          </a:bodyPr>
          <a:lstStyle/>
          <a:p>
            <a:r>
              <a:rPr lang="en-US" dirty="0"/>
              <a:t>-</a:t>
            </a:r>
            <a:r>
              <a:rPr lang="en-US" dirty="0" err="1"/>
              <a:t>ve</a:t>
            </a:r>
            <a:r>
              <a:rPr lang="en-US" dirty="0"/>
              <a:t> conductance </a:t>
            </a:r>
          </a:p>
          <a:p>
            <a:r>
              <a:rPr lang="en-US" dirty="0"/>
              <a:t>Connecting node 1 &amp; node 2</a:t>
            </a:r>
          </a:p>
        </p:txBody>
      </p:sp>
      <p:sp>
        <p:nvSpPr>
          <p:cNvPr id="33" name="TextBox 32"/>
          <p:cNvSpPr txBox="1"/>
          <p:nvPr/>
        </p:nvSpPr>
        <p:spPr>
          <a:xfrm>
            <a:off x="4838700" y="6059269"/>
            <a:ext cx="2364750" cy="646331"/>
          </a:xfrm>
          <a:prstGeom prst="rect">
            <a:avLst/>
          </a:prstGeom>
          <a:noFill/>
        </p:spPr>
        <p:txBody>
          <a:bodyPr wrap="none" rtlCol="0">
            <a:spAutoFit/>
          </a:bodyPr>
          <a:lstStyle/>
          <a:p>
            <a:r>
              <a:rPr lang="en-US" dirty="0"/>
              <a:t>sum of </a:t>
            </a:r>
            <a:r>
              <a:rPr lang="en-US" dirty="0" err="1"/>
              <a:t>conductances</a:t>
            </a:r>
            <a:endParaRPr lang="en-US" dirty="0"/>
          </a:p>
          <a:p>
            <a:r>
              <a:rPr lang="en-US" dirty="0"/>
              <a:t>connected to node 2</a:t>
            </a:r>
          </a:p>
        </p:txBody>
      </p:sp>
      <p:sp>
        <p:nvSpPr>
          <p:cNvPr id="34" name="Freeform 33"/>
          <p:cNvSpPr/>
          <p:nvPr/>
        </p:nvSpPr>
        <p:spPr>
          <a:xfrm flipH="1">
            <a:off x="4348843" y="5943600"/>
            <a:ext cx="566057" cy="217714"/>
          </a:xfrm>
          <a:custGeom>
            <a:avLst/>
            <a:gdLst>
              <a:gd name="connsiteX0" fmla="*/ 566057 w 566057"/>
              <a:gd name="connsiteY0" fmla="*/ 0 h 217714"/>
              <a:gd name="connsiteX1" fmla="*/ 326571 w 566057"/>
              <a:gd name="connsiteY1" fmla="*/ 174172 h 217714"/>
              <a:gd name="connsiteX2" fmla="*/ 326571 w 566057"/>
              <a:gd name="connsiteY2" fmla="*/ 32657 h 217714"/>
              <a:gd name="connsiteX3" fmla="*/ 0 w 566057"/>
              <a:gd name="connsiteY3" fmla="*/ 217714 h 217714"/>
            </a:gdLst>
            <a:ahLst/>
            <a:cxnLst>
              <a:cxn ang="0">
                <a:pos x="connsiteX0" y="connsiteY0"/>
              </a:cxn>
              <a:cxn ang="0">
                <a:pos x="connsiteX1" y="connsiteY1"/>
              </a:cxn>
              <a:cxn ang="0">
                <a:pos x="connsiteX2" y="connsiteY2"/>
              </a:cxn>
              <a:cxn ang="0">
                <a:pos x="connsiteX3" y="connsiteY3"/>
              </a:cxn>
            </a:cxnLst>
            <a:rect l="l" t="t" r="r" b="b"/>
            <a:pathLst>
              <a:path w="566057" h="217714">
                <a:moveTo>
                  <a:pt x="566057" y="0"/>
                </a:moveTo>
                <a:cubicBezTo>
                  <a:pt x="466271" y="84364"/>
                  <a:pt x="366485" y="168729"/>
                  <a:pt x="326571" y="174172"/>
                </a:cubicBezTo>
                <a:cubicBezTo>
                  <a:pt x="286657" y="179615"/>
                  <a:pt x="381000" y="25400"/>
                  <a:pt x="326571" y="32657"/>
                </a:cubicBezTo>
                <a:cubicBezTo>
                  <a:pt x="272142" y="39914"/>
                  <a:pt x="136071" y="128814"/>
                  <a:pt x="0" y="217714"/>
                </a:cubicBezTo>
              </a:path>
            </a:pathLst>
          </a:custGeom>
          <a:ln>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Freeform 34"/>
          <p:cNvSpPr/>
          <p:nvPr/>
        </p:nvSpPr>
        <p:spPr>
          <a:xfrm flipH="1">
            <a:off x="5486400" y="5257800"/>
            <a:ext cx="685800" cy="76200"/>
          </a:xfrm>
          <a:custGeom>
            <a:avLst/>
            <a:gdLst>
              <a:gd name="connsiteX0" fmla="*/ 566057 w 566057"/>
              <a:gd name="connsiteY0" fmla="*/ 0 h 217714"/>
              <a:gd name="connsiteX1" fmla="*/ 326571 w 566057"/>
              <a:gd name="connsiteY1" fmla="*/ 174172 h 217714"/>
              <a:gd name="connsiteX2" fmla="*/ 326571 w 566057"/>
              <a:gd name="connsiteY2" fmla="*/ 32657 h 217714"/>
              <a:gd name="connsiteX3" fmla="*/ 0 w 566057"/>
              <a:gd name="connsiteY3" fmla="*/ 217714 h 217714"/>
            </a:gdLst>
            <a:ahLst/>
            <a:cxnLst>
              <a:cxn ang="0">
                <a:pos x="connsiteX0" y="connsiteY0"/>
              </a:cxn>
              <a:cxn ang="0">
                <a:pos x="connsiteX1" y="connsiteY1"/>
              </a:cxn>
              <a:cxn ang="0">
                <a:pos x="connsiteX2" y="connsiteY2"/>
              </a:cxn>
              <a:cxn ang="0">
                <a:pos x="connsiteX3" y="connsiteY3"/>
              </a:cxn>
            </a:cxnLst>
            <a:rect l="l" t="t" r="r" b="b"/>
            <a:pathLst>
              <a:path w="566057" h="217714">
                <a:moveTo>
                  <a:pt x="566057" y="0"/>
                </a:moveTo>
                <a:cubicBezTo>
                  <a:pt x="466271" y="84364"/>
                  <a:pt x="366485" y="168729"/>
                  <a:pt x="326571" y="174172"/>
                </a:cubicBezTo>
                <a:cubicBezTo>
                  <a:pt x="286657" y="179615"/>
                  <a:pt x="381000" y="25400"/>
                  <a:pt x="326571" y="32657"/>
                </a:cubicBezTo>
                <a:cubicBezTo>
                  <a:pt x="272142" y="39914"/>
                  <a:pt x="136071" y="128814"/>
                  <a:pt x="0" y="217714"/>
                </a:cubicBezTo>
              </a:path>
            </a:pathLst>
          </a:custGeom>
          <a:ln>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6" name="TextBox 35"/>
          <p:cNvSpPr txBox="1"/>
          <p:nvPr/>
        </p:nvSpPr>
        <p:spPr>
          <a:xfrm>
            <a:off x="6134100" y="5143500"/>
            <a:ext cx="2569934" cy="369332"/>
          </a:xfrm>
          <a:prstGeom prst="rect">
            <a:avLst/>
          </a:prstGeom>
          <a:noFill/>
        </p:spPr>
        <p:txBody>
          <a:bodyPr wrap="none" rtlCol="0">
            <a:spAutoFit/>
          </a:bodyPr>
          <a:lstStyle/>
          <a:p>
            <a:r>
              <a:rPr lang="en-US" dirty="0"/>
              <a:t>current entering node 1</a:t>
            </a:r>
          </a:p>
        </p:txBody>
      </p:sp>
      <p:sp>
        <p:nvSpPr>
          <p:cNvPr id="37" name="Freeform 36"/>
          <p:cNvSpPr/>
          <p:nvPr/>
        </p:nvSpPr>
        <p:spPr>
          <a:xfrm flipH="1">
            <a:off x="5638800" y="5726668"/>
            <a:ext cx="685800" cy="76200"/>
          </a:xfrm>
          <a:custGeom>
            <a:avLst/>
            <a:gdLst>
              <a:gd name="connsiteX0" fmla="*/ 566057 w 566057"/>
              <a:gd name="connsiteY0" fmla="*/ 0 h 217714"/>
              <a:gd name="connsiteX1" fmla="*/ 326571 w 566057"/>
              <a:gd name="connsiteY1" fmla="*/ 174172 h 217714"/>
              <a:gd name="connsiteX2" fmla="*/ 326571 w 566057"/>
              <a:gd name="connsiteY2" fmla="*/ 32657 h 217714"/>
              <a:gd name="connsiteX3" fmla="*/ 0 w 566057"/>
              <a:gd name="connsiteY3" fmla="*/ 217714 h 217714"/>
            </a:gdLst>
            <a:ahLst/>
            <a:cxnLst>
              <a:cxn ang="0">
                <a:pos x="connsiteX0" y="connsiteY0"/>
              </a:cxn>
              <a:cxn ang="0">
                <a:pos x="connsiteX1" y="connsiteY1"/>
              </a:cxn>
              <a:cxn ang="0">
                <a:pos x="connsiteX2" y="connsiteY2"/>
              </a:cxn>
              <a:cxn ang="0">
                <a:pos x="connsiteX3" y="connsiteY3"/>
              </a:cxn>
            </a:cxnLst>
            <a:rect l="l" t="t" r="r" b="b"/>
            <a:pathLst>
              <a:path w="566057" h="217714">
                <a:moveTo>
                  <a:pt x="566057" y="0"/>
                </a:moveTo>
                <a:cubicBezTo>
                  <a:pt x="466271" y="84364"/>
                  <a:pt x="366485" y="168729"/>
                  <a:pt x="326571" y="174172"/>
                </a:cubicBezTo>
                <a:cubicBezTo>
                  <a:pt x="286657" y="179615"/>
                  <a:pt x="381000" y="25400"/>
                  <a:pt x="326571" y="32657"/>
                </a:cubicBezTo>
                <a:cubicBezTo>
                  <a:pt x="272142" y="39914"/>
                  <a:pt x="136071" y="128814"/>
                  <a:pt x="0" y="217714"/>
                </a:cubicBezTo>
              </a:path>
            </a:pathLst>
          </a:custGeom>
          <a:ln>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8" name="TextBox 37"/>
          <p:cNvSpPr txBox="1"/>
          <p:nvPr/>
        </p:nvSpPr>
        <p:spPr>
          <a:xfrm>
            <a:off x="6286500" y="5612368"/>
            <a:ext cx="2569934" cy="369332"/>
          </a:xfrm>
          <a:prstGeom prst="rect">
            <a:avLst/>
          </a:prstGeom>
          <a:noFill/>
        </p:spPr>
        <p:txBody>
          <a:bodyPr wrap="none" rtlCol="0">
            <a:spAutoFit/>
          </a:bodyPr>
          <a:lstStyle/>
          <a:p>
            <a:r>
              <a:rPr lang="en-US" dirty="0"/>
              <a:t>current entering node 2</a:t>
            </a:r>
          </a:p>
        </p:txBody>
      </p:sp>
    </p:spTree>
    <p:extLst>
      <p:ext uri="{BB962C8B-B14F-4D97-AF65-F5344CB8AC3E}">
        <p14:creationId xmlns:p14="http://schemas.microsoft.com/office/powerpoint/2010/main" val="4076187910"/>
      </p:ext>
    </p:extLst>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5891" name="Picture 3"/>
          <p:cNvPicPr>
            <a:picLocks noChangeAspect="1" noChangeArrowheads="1"/>
          </p:cNvPicPr>
          <p:nvPr/>
        </p:nvPicPr>
        <p:blipFill>
          <a:blip r:embed="rId2" cstate="print"/>
          <a:srcRect/>
          <a:stretch>
            <a:fillRect/>
          </a:stretch>
        </p:blipFill>
        <p:spPr bwMode="auto">
          <a:xfrm>
            <a:off x="419101" y="1181101"/>
            <a:ext cx="3657599" cy="1301674"/>
          </a:xfrm>
          <a:prstGeom prst="rect">
            <a:avLst/>
          </a:prstGeom>
          <a:noFill/>
          <a:ln w="9525">
            <a:noFill/>
            <a:miter lim="800000"/>
            <a:headEnd/>
            <a:tailEnd/>
          </a:ln>
          <a:effectLst/>
        </p:spPr>
      </p:pic>
      <p:sp>
        <p:nvSpPr>
          <p:cNvPr id="6146" name="Title 1"/>
          <p:cNvSpPr>
            <a:spLocks noGrp="1"/>
          </p:cNvSpPr>
          <p:nvPr>
            <p:ph type="title"/>
          </p:nvPr>
        </p:nvSpPr>
        <p:spPr>
          <a:xfrm>
            <a:off x="457200" y="122237"/>
            <a:ext cx="8229600" cy="563563"/>
          </a:xfrm>
        </p:spPr>
        <p:txBody>
          <a:bodyPr/>
          <a:lstStyle/>
          <a:p>
            <a:r>
              <a:rPr lang="en-US" sz="3200" dirty="0"/>
              <a:t>Example</a:t>
            </a:r>
          </a:p>
        </p:txBody>
      </p:sp>
      <p:sp>
        <p:nvSpPr>
          <p:cNvPr id="6147" name="Content Placeholder 2"/>
          <p:cNvSpPr>
            <a:spLocks noGrp="1"/>
          </p:cNvSpPr>
          <p:nvPr>
            <p:ph idx="1"/>
          </p:nvPr>
        </p:nvSpPr>
        <p:spPr>
          <a:xfrm>
            <a:off x="533400" y="723901"/>
            <a:ext cx="8229600" cy="5867400"/>
          </a:xfrm>
        </p:spPr>
        <p:txBody>
          <a:bodyPr/>
          <a:lstStyle/>
          <a:p>
            <a:pPr>
              <a:buNone/>
            </a:pPr>
            <a:r>
              <a:rPr lang="en-US" sz="2400" dirty="0"/>
              <a:t>Solve for node voltage and </a:t>
            </a:r>
            <a:r>
              <a:rPr lang="en-US" sz="2400" dirty="0" err="1"/>
              <a:t>i</a:t>
            </a:r>
            <a:r>
              <a:rPr lang="en-US" sz="2400" dirty="0"/>
              <a:t> in the following circuit:</a:t>
            </a:r>
          </a:p>
          <a:p>
            <a:pPr>
              <a:buNone/>
            </a:pPr>
            <a:endParaRPr lang="en-US" sz="24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66</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Tree>
    <p:extLst>
      <p:ext uri="{BB962C8B-B14F-4D97-AF65-F5344CB8AC3E}">
        <p14:creationId xmlns:p14="http://schemas.microsoft.com/office/powerpoint/2010/main" val="3585906143"/>
      </p:ext>
    </p:extLst>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a:t>
            </a:r>
          </a:p>
        </p:txBody>
      </p:sp>
      <p:sp>
        <p:nvSpPr>
          <p:cNvPr id="6147" name="Content Placeholder 2"/>
          <p:cNvSpPr>
            <a:spLocks noGrp="1"/>
          </p:cNvSpPr>
          <p:nvPr>
            <p:ph idx="1"/>
          </p:nvPr>
        </p:nvSpPr>
        <p:spPr>
          <a:xfrm>
            <a:off x="533400" y="723901"/>
            <a:ext cx="8229600" cy="5867400"/>
          </a:xfrm>
        </p:spPr>
        <p:txBody>
          <a:bodyPr/>
          <a:lstStyle/>
          <a:p>
            <a:pPr>
              <a:buNone/>
            </a:pPr>
            <a:r>
              <a:rPr lang="en-US" sz="2400" dirty="0"/>
              <a:t>Solve for node voltage and </a:t>
            </a:r>
            <a:r>
              <a:rPr lang="en-US" sz="2400" dirty="0" err="1"/>
              <a:t>i</a:t>
            </a:r>
            <a:r>
              <a:rPr lang="en-US" sz="2400" dirty="0"/>
              <a:t> in the following circuit:</a:t>
            </a:r>
          </a:p>
          <a:p>
            <a:pPr>
              <a:buNone/>
            </a:pPr>
            <a:endParaRPr lang="en-US" sz="24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67</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164866" name="Picture 2"/>
          <p:cNvPicPr>
            <a:picLocks noChangeAspect="1" noChangeArrowheads="1"/>
          </p:cNvPicPr>
          <p:nvPr/>
        </p:nvPicPr>
        <p:blipFill>
          <a:blip r:embed="rId3" cstate="print"/>
          <a:srcRect/>
          <a:stretch>
            <a:fillRect/>
          </a:stretch>
        </p:blipFill>
        <p:spPr bwMode="auto">
          <a:xfrm>
            <a:off x="419100" y="1181100"/>
            <a:ext cx="3674225" cy="1485900"/>
          </a:xfrm>
          <a:prstGeom prst="rect">
            <a:avLst/>
          </a:prstGeom>
          <a:noFill/>
          <a:ln w="9525">
            <a:noFill/>
            <a:miter lim="800000"/>
            <a:headEnd/>
            <a:tailEnd/>
          </a:ln>
          <a:effectLst/>
        </p:spPr>
      </p:pic>
    </p:spTree>
    <p:extLst>
      <p:ext uri="{BB962C8B-B14F-4D97-AF65-F5344CB8AC3E}">
        <p14:creationId xmlns:p14="http://schemas.microsoft.com/office/powerpoint/2010/main" val="227683546"/>
      </p:ext>
    </p:extLst>
  </p:cSld>
  <p:clrMapOvr>
    <a:masterClrMapping/>
  </p:clrMapOvr>
  <p:transition spd="med"/>
  <p:extLst>
    <p:ext uri="{6950BFC3-D8DA-4A85-94F7-54DA5524770B}">
      <p188:commentRel xmlns:p188="http://schemas.microsoft.com/office/powerpoint/2018/8/main" r:id="rId2"/>
    </p:ext>
  </p:extLs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a:t>
            </a:r>
          </a:p>
        </p:txBody>
      </p:sp>
      <p:sp>
        <p:nvSpPr>
          <p:cNvPr id="6147" name="Content Placeholder 2"/>
          <p:cNvSpPr>
            <a:spLocks noGrp="1"/>
          </p:cNvSpPr>
          <p:nvPr>
            <p:ph idx="1"/>
          </p:nvPr>
        </p:nvSpPr>
        <p:spPr>
          <a:xfrm>
            <a:off x="533400" y="723901"/>
            <a:ext cx="8229600" cy="5867400"/>
          </a:xfrm>
        </p:spPr>
        <p:txBody>
          <a:bodyPr/>
          <a:lstStyle/>
          <a:p>
            <a:pPr>
              <a:buNone/>
            </a:pPr>
            <a:r>
              <a:rPr lang="en-US" sz="2400" dirty="0"/>
              <a:t>Solve for node voltage and </a:t>
            </a:r>
            <a:r>
              <a:rPr lang="en-US" sz="2400" dirty="0" err="1"/>
              <a:t>i</a:t>
            </a:r>
            <a:r>
              <a:rPr lang="en-US" sz="2400" dirty="0"/>
              <a:t> in the following circuit:</a:t>
            </a:r>
          </a:p>
          <a:p>
            <a:pPr>
              <a:buNone/>
            </a:pPr>
            <a:endParaRPr lang="en-US" sz="24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68</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164866" name="Picture 2"/>
          <p:cNvPicPr>
            <a:picLocks noChangeAspect="1" noChangeArrowheads="1"/>
          </p:cNvPicPr>
          <p:nvPr/>
        </p:nvPicPr>
        <p:blipFill>
          <a:blip r:embed="rId2" cstate="print"/>
          <a:srcRect/>
          <a:stretch>
            <a:fillRect/>
          </a:stretch>
        </p:blipFill>
        <p:spPr bwMode="auto">
          <a:xfrm>
            <a:off x="419100" y="1181100"/>
            <a:ext cx="3674225" cy="1485900"/>
          </a:xfrm>
          <a:prstGeom prst="rect">
            <a:avLst/>
          </a:prstGeom>
          <a:noFill/>
          <a:ln w="9525">
            <a:noFill/>
            <a:miter lim="800000"/>
            <a:headEnd/>
            <a:tailEnd/>
          </a:ln>
          <a:effectLst/>
        </p:spPr>
      </p:pic>
      <p:sp>
        <p:nvSpPr>
          <p:cNvPr id="9" name="TextBox 8"/>
          <p:cNvSpPr txBox="1"/>
          <p:nvPr/>
        </p:nvSpPr>
        <p:spPr>
          <a:xfrm>
            <a:off x="4244975" y="1371600"/>
            <a:ext cx="992579" cy="369332"/>
          </a:xfrm>
          <a:prstGeom prst="rect">
            <a:avLst/>
          </a:prstGeom>
          <a:noFill/>
        </p:spPr>
        <p:txBody>
          <a:bodyPr wrap="none" rtlCol="0">
            <a:spAutoFit/>
          </a:bodyPr>
          <a:lstStyle/>
          <a:p>
            <a:r>
              <a:rPr lang="en-US" dirty="0"/>
              <a:t>Node 1:</a:t>
            </a:r>
          </a:p>
        </p:txBody>
      </p:sp>
      <p:graphicFrame>
        <p:nvGraphicFramePr>
          <p:cNvPr id="10" name="Object 2"/>
          <p:cNvGraphicFramePr>
            <a:graphicFrameLocks noChangeAspect="1"/>
          </p:cNvGraphicFramePr>
          <p:nvPr/>
        </p:nvGraphicFramePr>
        <p:xfrm>
          <a:off x="5197475" y="1392238"/>
          <a:ext cx="2362200" cy="350837"/>
        </p:xfrm>
        <a:graphic>
          <a:graphicData uri="http://schemas.openxmlformats.org/presentationml/2006/ole">
            <mc:AlternateContent xmlns:mc="http://schemas.openxmlformats.org/markup-compatibility/2006">
              <mc:Choice xmlns:v="urn:schemas-microsoft-com:vml" Requires="v">
                <p:oleObj name="Equation" r:id="rId3" imgW="1460160" imgH="215640" progId="Equation.3">
                  <p:embed/>
                </p:oleObj>
              </mc:Choice>
              <mc:Fallback>
                <p:oleObj name="Equation" r:id="rId3" imgW="1460160" imgH="215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7475" y="1392238"/>
                        <a:ext cx="2362200" cy="350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17627078"/>
      </p:ext>
    </p:extLst>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a:t>
            </a:r>
          </a:p>
        </p:txBody>
      </p:sp>
      <p:sp>
        <p:nvSpPr>
          <p:cNvPr id="6147" name="Content Placeholder 2"/>
          <p:cNvSpPr>
            <a:spLocks noGrp="1"/>
          </p:cNvSpPr>
          <p:nvPr>
            <p:ph idx="1"/>
          </p:nvPr>
        </p:nvSpPr>
        <p:spPr>
          <a:xfrm>
            <a:off x="533400" y="723901"/>
            <a:ext cx="8229600" cy="5867400"/>
          </a:xfrm>
        </p:spPr>
        <p:txBody>
          <a:bodyPr/>
          <a:lstStyle/>
          <a:p>
            <a:pPr>
              <a:buNone/>
            </a:pPr>
            <a:r>
              <a:rPr lang="en-US" sz="2400" dirty="0"/>
              <a:t>Solve for node voltage and </a:t>
            </a:r>
            <a:r>
              <a:rPr lang="en-US" sz="2400" dirty="0" err="1"/>
              <a:t>i</a:t>
            </a:r>
            <a:r>
              <a:rPr lang="en-US" sz="2400" dirty="0"/>
              <a:t> in the following circuit:</a:t>
            </a:r>
          </a:p>
          <a:p>
            <a:pPr>
              <a:buNone/>
            </a:pPr>
            <a:endParaRPr lang="en-US" sz="24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69</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164866" name="Picture 2"/>
          <p:cNvPicPr>
            <a:picLocks noChangeAspect="1" noChangeArrowheads="1"/>
          </p:cNvPicPr>
          <p:nvPr/>
        </p:nvPicPr>
        <p:blipFill>
          <a:blip r:embed="rId2" cstate="print"/>
          <a:srcRect/>
          <a:stretch>
            <a:fillRect/>
          </a:stretch>
        </p:blipFill>
        <p:spPr bwMode="auto">
          <a:xfrm>
            <a:off x="419100" y="1181100"/>
            <a:ext cx="3674225" cy="1485900"/>
          </a:xfrm>
          <a:prstGeom prst="rect">
            <a:avLst/>
          </a:prstGeom>
          <a:noFill/>
          <a:ln w="9525">
            <a:noFill/>
            <a:miter lim="800000"/>
            <a:headEnd/>
            <a:tailEnd/>
          </a:ln>
          <a:effectLst/>
        </p:spPr>
      </p:pic>
      <p:sp>
        <p:nvSpPr>
          <p:cNvPr id="7" name="TextBox 6"/>
          <p:cNvSpPr txBox="1"/>
          <p:nvPr/>
        </p:nvSpPr>
        <p:spPr>
          <a:xfrm>
            <a:off x="4244975" y="1371600"/>
            <a:ext cx="992579" cy="369332"/>
          </a:xfrm>
          <a:prstGeom prst="rect">
            <a:avLst/>
          </a:prstGeom>
          <a:noFill/>
        </p:spPr>
        <p:txBody>
          <a:bodyPr wrap="none" rtlCol="0">
            <a:spAutoFit/>
          </a:bodyPr>
          <a:lstStyle/>
          <a:p>
            <a:r>
              <a:rPr lang="en-US" dirty="0"/>
              <a:t>Node 1:</a:t>
            </a:r>
          </a:p>
        </p:txBody>
      </p:sp>
      <p:graphicFrame>
        <p:nvGraphicFramePr>
          <p:cNvPr id="166914" name="Object 2"/>
          <p:cNvGraphicFramePr>
            <a:graphicFrameLocks noChangeAspect="1"/>
          </p:cNvGraphicFramePr>
          <p:nvPr/>
        </p:nvGraphicFramePr>
        <p:xfrm>
          <a:off x="5197475" y="1392238"/>
          <a:ext cx="2362200" cy="350837"/>
        </p:xfrm>
        <a:graphic>
          <a:graphicData uri="http://schemas.openxmlformats.org/presentationml/2006/ole">
            <mc:AlternateContent xmlns:mc="http://schemas.openxmlformats.org/markup-compatibility/2006">
              <mc:Choice xmlns:v="urn:schemas-microsoft-com:vml" Requires="v">
                <p:oleObj name="Equation" r:id="rId3" imgW="1460160" imgH="215640" progId="Equation.3">
                  <p:embed/>
                </p:oleObj>
              </mc:Choice>
              <mc:Fallback>
                <p:oleObj name="Equation" r:id="rId3" imgW="1460160" imgH="215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7475" y="1392238"/>
                        <a:ext cx="2362200" cy="350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Box 8"/>
          <p:cNvSpPr txBox="1"/>
          <p:nvPr/>
        </p:nvSpPr>
        <p:spPr>
          <a:xfrm>
            <a:off x="4244975" y="1726168"/>
            <a:ext cx="992579" cy="369332"/>
          </a:xfrm>
          <a:prstGeom prst="rect">
            <a:avLst/>
          </a:prstGeom>
          <a:noFill/>
        </p:spPr>
        <p:txBody>
          <a:bodyPr wrap="none" rtlCol="0">
            <a:spAutoFit/>
          </a:bodyPr>
          <a:lstStyle/>
          <a:p>
            <a:r>
              <a:rPr lang="en-US" dirty="0"/>
              <a:t>Node 2:</a:t>
            </a:r>
          </a:p>
        </p:txBody>
      </p:sp>
      <p:graphicFrame>
        <p:nvGraphicFramePr>
          <p:cNvPr id="167939" name="Object 3"/>
          <p:cNvGraphicFramePr>
            <a:graphicFrameLocks noChangeAspect="1"/>
          </p:cNvGraphicFramePr>
          <p:nvPr/>
        </p:nvGraphicFramePr>
        <p:xfrm>
          <a:off x="5197475" y="1735138"/>
          <a:ext cx="3717925" cy="371475"/>
        </p:xfrm>
        <a:graphic>
          <a:graphicData uri="http://schemas.openxmlformats.org/presentationml/2006/ole">
            <mc:AlternateContent xmlns:mc="http://schemas.openxmlformats.org/markup-compatibility/2006">
              <mc:Choice xmlns:v="urn:schemas-microsoft-com:vml" Requires="v">
                <p:oleObj name="Equation" r:id="rId5" imgW="2298600" imgH="228600" progId="Equation.3">
                  <p:embed/>
                </p:oleObj>
              </mc:Choice>
              <mc:Fallback>
                <p:oleObj name="Equation" r:id="rId5" imgW="229860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97475" y="1735138"/>
                        <a:ext cx="3717925"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960551275"/>
      </p:ext>
    </p:extLst>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a:t>
            </a:r>
          </a:p>
        </p:txBody>
      </p:sp>
      <p:sp>
        <p:nvSpPr>
          <p:cNvPr id="6147" name="Content Placeholder 2"/>
          <p:cNvSpPr>
            <a:spLocks noGrp="1"/>
          </p:cNvSpPr>
          <p:nvPr>
            <p:ph idx="1"/>
          </p:nvPr>
        </p:nvSpPr>
        <p:spPr>
          <a:xfrm>
            <a:off x="533400" y="723901"/>
            <a:ext cx="8229600" cy="5867400"/>
          </a:xfrm>
        </p:spPr>
        <p:txBody>
          <a:bodyPr/>
          <a:lstStyle/>
          <a:p>
            <a:pPr>
              <a:buNone/>
            </a:pPr>
            <a:r>
              <a:rPr lang="en-US" sz="2400" dirty="0"/>
              <a:t>Solve for node voltage and </a:t>
            </a:r>
            <a:r>
              <a:rPr lang="en-US" sz="2400" dirty="0" err="1"/>
              <a:t>i</a:t>
            </a:r>
            <a:r>
              <a:rPr lang="en-US" sz="2400" dirty="0"/>
              <a:t> in the following circuit:</a:t>
            </a:r>
          </a:p>
          <a:p>
            <a:pPr>
              <a:buNone/>
            </a:pPr>
            <a:endParaRPr lang="en-US" sz="24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70</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164866" name="Picture 2"/>
          <p:cNvPicPr>
            <a:picLocks noChangeAspect="1" noChangeArrowheads="1"/>
          </p:cNvPicPr>
          <p:nvPr/>
        </p:nvPicPr>
        <p:blipFill>
          <a:blip r:embed="rId2" cstate="print"/>
          <a:srcRect/>
          <a:stretch>
            <a:fillRect/>
          </a:stretch>
        </p:blipFill>
        <p:spPr bwMode="auto">
          <a:xfrm>
            <a:off x="419100" y="1181100"/>
            <a:ext cx="3674225" cy="1485900"/>
          </a:xfrm>
          <a:prstGeom prst="rect">
            <a:avLst/>
          </a:prstGeom>
          <a:noFill/>
          <a:ln w="9525">
            <a:noFill/>
            <a:miter lim="800000"/>
            <a:headEnd/>
            <a:tailEnd/>
          </a:ln>
          <a:effectLst/>
        </p:spPr>
      </p:pic>
      <p:sp>
        <p:nvSpPr>
          <p:cNvPr id="7" name="TextBox 6"/>
          <p:cNvSpPr txBox="1"/>
          <p:nvPr/>
        </p:nvSpPr>
        <p:spPr>
          <a:xfrm>
            <a:off x="4244975" y="1371600"/>
            <a:ext cx="992579" cy="369332"/>
          </a:xfrm>
          <a:prstGeom prst="rect">
            <a:avLst/>
          </a:prstGeom>
          <a:noFill/>
        </p:spPr>
        <p:txBody>
          <a:bodyPr wrap="none" rtlCol="0">
            <a:spAutoFit/>
          </a:bodyPr>
          <a:lstStyle/>
          <a:p>
            <a:r>
              <a:rPr lang="en-US" dirty="0"/>
              <a:t>Node 1:</a:t>
            </a:r>
          </a:p>
        </p:txBody>
      </p:sp>
      <p:graphicFrame>
        <p:nvGraphicFramePr>
          <p:cNvPr id="166914" name="Object 2"/>
          <p:cNvGraphicFramePr>
            <a:graphicFrameLocks noChangeAspect="1"/>
          </p:cNvGraphicFramePr>
          <p:nvPr/>
        </p:nvGraphicFramePr>
        <p:xfrm>
          <a:off x="5197475" y="1392238"/>
          <a:ext cx="2362200" cy="350837"/>
        </p:xfrm>
        <a:graphic>
          <a:graphicData uri="http://schemas.openxmlformats.org/presentationml/2006/ole">
            <mc:AlternateContent xmlns:mc="http://schemas.openxmlformats.org/markup-compatibility/2006">
              <mc:Choice xmlns:v="urn:schemas-microsoft-com:vml" Requires="v">
                <p:oleObj name="Equation" r:id="rId3" imgW="1460160" imgH="215640" progId="Equation.3">
                  <p:embed/>
                </p:oleObj>
              </mc:Choice>
              <mc:Fallback>
                <p:oleObj name="Equation" r:id="rId3" imgW="1460160" imgH="215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7475" y="1392238"/>
                        <a:ext cx="2362200" cy="350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Box 8"/>
          <p:cNvSpPr txBox="1"/>
          <p:nvPr/>
        </p:nvSpPr>
        <p:spPr>
          <a:xfrm>
            <a:off x="4244975" y="1726168"/>
            <a:ext cx="992579" cy="369332"/>
          </a:xfrm>
          <a:prstGeom prst="rect">
            <a:avLst/>
          </a:prstGeom>
          <a:noFill/>
        </p:spPr>
        <p:txBody>
          <a:bodyPr wrap="none" rtlCol="0">
            <a:spAutoFit/>
          </a:bodyPr>
          <a:lstStyle/>
          <a:p>
            <a:r>
              <a:rPr lang="en-US" dirty="0"/>
              <a:t>Node 2:</a:t>
            </a:r>
          </a:p>
        </p:txBody>
      </p:sp>
      <p:graphicFrame>
        <p:nvGraphicFramePr>
          <p:cNvPr id="167939" name="Object 3"/>
          <p:cNvGraphicFramePr>
            <a:graphicFrameLocks noChangeAspect="1"/>
          </p:cNvGraphicFramePr>
          <p:nvPr/>
        </p:nvGraphicFramePr>
        <p:xfrm>
          <a:off x="5197475" y="1735138"/>
          <a:ext cx="3717925" cy="371475"/>
        </p:xfrm>
        <a:graphic>
          <a:graphicData uri="http://schemas.openxmlformats.org/presentationml/2006/ole">
            <mc:AlternateContent xmlns:mc="http://schemas.openxmlformats.org/markup-compatibility/2006">
              <mc:Choice xmlns:v="urn:schemas-microsoft-com:vml" Requires="v">
                <p:oleObj name="Equation" r:id="rId5" imgW="2298600" imgH="228600" progId="Equation.3">
                  <p:embed/>
                </p:oleObj>
              </mc:Choice>
              <mc:Fallback>
                <p:oleObj name="Equation" r:id="rId5" imgW="229860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97475" y="1735138"/>
                        <a:ext cx="3717925"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Box 10"/>
          <p:cNvSpPr txBox="1"/>
          <p:nvPr/>
        </p:nvSpPr>
        <p:spPr>
          <a:xfrm>
            <a:off x="4244975" y="2096055"/>
            <a:ext cx="992579" cy="369332"/>
          </a:xfrm>
          <a:prstGeom prst="rect">
            <a:avLst/>
          </a:prstGeom>
          <a:noFill/>
        </p:spPr>
        <p:txBody>
          <a:bodyPr wrap="none" rtlCol="0">
            <a:spAutoFit/>
          </a:bodyPr>
          <a:lstStyle/>
          <a:p>
            <a:r>
              <a:rPr lang="en-US" dirty="0"/>
              <a:t>Node 3:</a:t>
            </a:r>
          </a:p>
        </p:txBody>
      </p:sp>
      <p:graphicFrame>
        <p:nvGraphicFramePr>
          <p:cNvPr id="12" name="Object 3"/>
          <p:cNvGraphicFramePr>
            <a:graphicFrameLocks noChangeAspect="1"/>
          </p:cNvGraphicFramePr>
          <p:nvPr/>
        </p:nvGraphicFramePr>
        <p:xfrm>
          <a:off x="5172075" y="2105025"/>
          <a:ext cx="3225800" cy="371475"/>
        </p:xfrm>
        <a:graphic>
          <a:graphicData uri="http://schemas.openxmlformats.org/presentationml/2006/ole">
            <mc:AlternateContent xmlns:mc="http://schemas.openxmlformats.org/markup-compatibility/2006">
              <mc:Choice xmlns:v="urn:schemas-microsoft-com:vml" Requires="v">
                <p:oleObj name="Equation" r:id="rId7" imgW="1993680" imgH="228600" progId="Equation.3">
                  <p:embed/>
                </p:oleObj>
              </mc:Choice>
              <mc:Fallback>
                <p:oleObj name="Equation" r:id="rId7" imgW="1993680" imgH="2286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72075" y="2105025"/>
                        <a:ext cx="322580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444940042"/>
      </p:ext>
    </p:extLst>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a:t>
            </a:r>
          </a:p>
        </p:txBody>
      </p:sp>
      <p:sp>
        <p:nvSpPr>
          <p:cNvPr id="6147" name="Content Placeholder 2"/>
          <p:cNvSpPr>
            <a:spLocks noGrp="1"/>
          </p:cNvSpPr>
          <p:nvPr>
            <p:ph idx="1"/>
          </p:nvPr>
        </p:nvSpPr>
        <p:spPr>
          <a:xfrm>
            <a:off x="533400" y="723901"/>
            <a:ext cx="8229600" cy="5867400"/>
          </a:xfrm>
        </p:spPr>
        <p:txBody>
          <a:bodyPr/>
          <a:lstStyle/>
          <a:p>
            <a:pPr>
              <a:buNone/>
            </a:pPr>
            <a:r>
              <a:rPr lang="en-US" sz="2400" dirty="0"/>
              <a:t>Solve for node voltage and </a:t>
            </a:r>
            <a:r>
              <a:rPr lang="en-US" sz="2400" dirty="0" err="1"/>
              <a:t>i</a:t>
            </a:r>
            <a:r>
              <a:rPr lang="en-US" sz="2400" dirty="0"/>
              <a:t> in the following circuit:</a:t>
            </a:r>
          </a:p>
          <a:p>
            <a:pPr>
              <a:buNone/>
            </a:pPr>
            <a:endParaRPr lang="en-US" sz="24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71</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164866" name="Picture 2"/>
          <p:cNvPicPr>
            <a:picLocks noChangeAspect="1" noChangeArrowheads="1"/>
          </p:cNvPicPr>
          <p:nvPr/>
        </p:nvPicPr>
        <p:blipFill>
          <a:blip r:embed="rId2" cstate="print"/>
          <a:srcRect/>
          <a:stretch>
            <a:fillRect/>
          </a:stretch>
        </p:blipFill>
        <p:spPr bwMode="auto">
          <a:xfrm>
            <a:off x="419100" y="1181100"/>
            <a:ext cx="3674225" cy="1485900"/>
          </a:xfrm>
          <a:prstGeom prst="rect">
            <a:avLst/>
          </a:prstGeom>
          <a:noFill/>
          <a:ln w="9525">
            <a:noFill/>
            <a:miter lim="800000"/>
            <a:headEnd/>
            <a:tailEnd/>
          </a:ln>
          <a:effectLst/>
        </p:spPr>
      </p:pic>
      <p:sp>
        <p:nvSpPr>
          <p:cNvPr id="7" name="TextBox 6"/>
          <p:cNvSpPr txBox="1"/>
          <p:nvPr/>
        </p:nvSpPr>
        <p:spPr>
          <a:xfrm>
            <a:off x="4244975" y="1371600"/>
            <a:ext cx="992579" cy="369332"/>
          </a:xfrm>
          <a:prstGeom prst="rect">
            <a:avLst/>
          </a:prstGeom>
          <a:noFill/>
        </p:spPr>
        <p:txBody>
          <a:bodyPr wrap="none" rtlCol="0">
            <a:spAutoFit/>
          </a:bodyPr>
          <a:lstStyle/>
          <a:p>
            <a:r>
              <a:rPr lang="en-US" dirty="0"/>
              <a:t>Node 1:</a:t>
            </a:r>
          </a:p>
        </p:txBody>
      </p:sp>
      <p:graphicFrame>
        <p:nvGraphicFramePr>
          <p:cNvPr id="166914" name="Object 2"/>
          <p:cNvGraphicFramePr>
            <a:graphicFrameLocks noChangeAspect="1"/>
          </p:cNvGraphicFramePr>
          <p:nvPr/>
        </p:nvGraphicFramePr>
        <p:xfrm>
          <a:off x="5197475" y="1392238"/>
          <a:ext cx="2362200" cy="350837"/>
        </p:xfrm>
        <a:graphic>
          <a:graphicData uri="http://schemas.openxmlformats.org/presentationml/2006/ole">
            <mc:AlternateContent xmlns:mc="http://schemas.openxmlformats.org/markup-compatibility/2006">
              <mc:Choice xmlns:v="urn:schemas-microsoft-com:vml" Requires="v">
                <p:oleObj name="Equation" r:id="rId3" imgW="1460160" imgH="215640" progId="Equation.3">
                  <p:embed/>
                </p:oleObj>
              </mc:Choice>
              <mc:Fallback>
                <p:oleObj name="Equation" r:id="rId3" imgW="1460160" imgH="215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7475" y="1392238"/>
                        <a:ext cx="2362200" cy="350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Box 8"/>
          <p:cNvSpPr txBox="1"/>
          <p:nvPr/>
        </p:nvSpPr>
        <p:spPr>
          <a:xfrm>
            <a:off x="4244975" y="1726168"/>
            <a:ext cx="992579" cy="369332"/>
          </a:xfrm>
          <a:prstGeom prst="rect">
            <a:avLst/>
          </a:prstGeom>
          <a:noFill/>
        </p:spPr>
        <p:txBody>
          <a:bodyPr wrap="none" rtlCol="0">
            <a:spAutoFit/>
          </a:bodyPr>
          <a:lstStyle/>
          <a:p>
            <a:r>
              <a:rPr lang="en-US" dirty="0"/>
              <a:t>Node 2:</a:t>
            </a:r>
          </a:p>
        </p:txBody>
      </p:sp>
      <p:graphicFrame>
        <p:nvGraphicFramePr>
          <p:cNvPr id="167939" name="Object 3"/>
          <p:cNvGraphicFramePr>
            <a:graphicFrameLocks noChangeAspect="1"/>
          </p:cNvGraphicFramePr>
          <p:nvPr/>
        </p:nvGraphicFramePr>
        <p:xfrm>
          <a:off x="5197475" y="1735138"/>
          <a:ext cx="3717925" cy="371475"/>
        </p:xfrm>
        <a:graphic>
          <a:graphicData uri="http://schemas.openxmlformats.org/presentationml/2006/ole">
            <mc:AlternateContent xmlns:mc="http://schemas.openxmlformats.org/markup-compatibility/2006">
              <mc:Choice xmlns:v="urn:schemas-microsoft-com:vml" Requires="v">
                <p:oleObj name="Equation" r:id="rId5" imgW="2298600" imgH="228600" progId="Equation.3">
                  <p:embed/>
                </p:oleObj>
              </mc:Choice>
              <mc:Fallback>
                <p:oleObj name="Equation" r:id="rId5" imgW="229860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97475" y="1735138"/>
                        <a:ext cx="3717925"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Box 10"/>
          <p:cNvSpPr txBox="1"/>
          <p:nvPr/>
        </p:nvSpPr>
        <p:spPr>
          <a:xfrm>
            <a:off x="4244975" y="2096055"/>
            <a:ext cx="992579" cy="369332"/>
          </a:xfrm>
          <a:prstGeom prst="rect">
            <a:avLst/>
          </a:prstGeom>
          <a:noFill/>
        </p:spPr>
        <p:txBody>
          <a:bodyPr wrap="none" rtlCol="0">
            <a:spAutoFit/>
          </a:bodyPr>
          <a:lstStyle/>
          <a:p>
            <a:r>
              <a:rPr lang="en-US" dirty="0"/>
              <a:t>Node 3:</a:t>
            </a:r>
          </a:p>
        </p:txBody>
      </p:sp>
      <p:graphicFrame>
        <p:nvGraphicFramePr>
          <p:cNvPr id="12" name="Object 3"/>
          <p:cNvGraphicFramePr>
            <a:graphicFrameLocks noChangeAspect="1"/>
          </p:cNvGraphicFramePr>
          <p:nvPr/>
        </p:nvGraphicFramePr>
        <p:xfrm>
          <a:off x="5172075" y="2105025"/>
          <a:ext cx="3225800" cy="371475"/>
        </p:xfrm>
        <a:graphic>
          <a:graphicData uri="http://schemas.openxmlformats.org/presentationml/2006/ole">
            <mc:AlternateContent xmlns:mc="http://schemas.openxmlformats.org/markup-compatibility/2006">
              <mc:Choice xmlns:v="urn:schemas-microsoft-com:vml" Requires="v">
                <p:oleObj name="Equation" r:id="rId7" imgW="1993680" imgH="228600" progId="Equation.3">
                  <p:embed/>
                </p:oleObj>
              </mc:Choice>
              <mc:Fallback>
                <p:oleObj name="Equation" r:id="rId7" imgW="1993680" imgH="2286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72075" y="2105025"/>
                        <a:ext cx="322580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TextBox 13"/>
          <p:cNvSpPr txBox="1"/>
          <p:nvPr/>
        </p:nvSpPr>
        <p:spPr>
          <a:xfrm>
            <a:off x="228600" y="2705100"/>
            <a:ext cx="8801100" cy="923330"/>
          </a:xfrm>
          <a:prstGeom prst="rect">
            <a:avLst/>
          </a:prstGeom>
          <a:noFill/>
        </p:spPr>
        <p:txBody>
          <a:bodyPr wrap="square" rtlCol="0">
            <a:spAutoFit/>
          </a:bodyPr>
          <a:lstStyle/>
          <a:p>
            <a:r>
              <a:rPr lang="en-US" dirty="0"/>
              <a:t>3 simultaneous equations w/ 3 unknowns can be solved using few different</a:t>
            </a:r>
          </a:p>
          <a:p>
            <a:r>
              <a:rPr lang="en-US" dirty="0"/>
              <a:t>methods. The methods are covered in the appendix of the Johnson &amp; Johnson text . One method involves using matrices as below (Cramer’s rule.)</a:t>
            </a:r>
          </a:p>
        </p:txBody>
      </p:sp>
    </p:spTree>
    <p:extLst>
      <p:ext uri="{BB962C8B-B14F-4D97-AF65-F5344CB8AC3E}">
        <p14:creationId xmlns:p14="http://schemas.microsoft.com/office/powerpoint/2010/main" val="2177408176"/>
      </p:ext>
    </p:extLst>
  </p:cSld>
  <p:clrMapOvr>
    <a:masterClrMapping/>
  </p:clrMapOvr>
  <p:transition spd="me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a:t>
            </a:r>
          </a:p>
        </p:txBody>
      </p:sp>
      <p:sp>
        <p:nvSpPr>
          <p:cNvPr id="6147" name="Content Placeholder 2"/>
          <p:cNvSpPr>
            <a:spLocks noGrp="1"/>
          </p:cNvSpPr>
          <p:nvPr>
            <p:ph idx="1"/>
          </p:nvPr>
        </p:nvSpPr>
        <p:spPr>
          <a:xfrm>
            <a:off x="533400" y="723901"/>
            <a:ext cx="8229600" cy="5867400"/>
          </a:xfrm>
        </p:spPr>
        <p:txBody>
          <a:bodyPr/>
          <a:lstStyle/>
          <a:p>
            <a:pPr>
              <a:buNone/>
            </a:pPr>
            <a:r>
              <a:rPr lang="en-US" sz="2400" dirty="0"/>
              <a:t>Solve for node voltage and </a:t>
            </a:r>
            <a:r>
              <a:rPr lang="en-US" sz="2400" dirty="0" err="1"/>
              <a:t>i</a:t>
            </a:r>
            <a:r>
              <a:rPr lang="en-US" sz="2400" dirty="0"/>
              <a:t> in the following circuit:</a:t>
            </a:r>
          </a:p>
          <a:p>
            <a:pPr>
              <a:buNone/>
            </a:pPr>
            <a:endParaRPr lang="en-US" sz="24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72</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164866" name="Picture 2"/>
          <p:cNvPicPr>
            <a:picLocks noChangeAspect="1" noChangeArrowheads="1"/>
          </p:cNvPicPr>
          <p:nvPr/>
        </p:nvPicPr>
        <p:blipFill>
          <a:blip r:embed="rId2" cstate="print"/>
          <a:srcRect/>
          <a:stretch>
            <a:fillRect/>
          </a:stretch>
        </p:blipFill>
        <p:spPr bwMode="auto">
          <a:xfrm>
            <a:off x="419100" y="1181100"/>
            <a:ext cx="3674225" cy="1485900"/>
          </a:xfrm>
          <a:prstGeom prst="rect">
            <a:avLst/>
          </a:prstGeom>
          <a:noFill/>
          <a:ln w="9525">
            <a:noFill/>
            <a:miter lim="800000"/>
            <a:headEnd/>
            <a:tailEnd/>
          </a:ln>
          <a:effectLst/>
        </p:spPr>
      </p:pic>
      <p:sp>
        <p:nvSpPr>
          <p:cNvPr id="7" name="TextBox 6"/>
          <p:cNvSpPr txBox="1"/>
          <p:nvPr/>
        </p:nvSpPr>
        <p:spPr>
          <a:xfrm>
            <a:off x="4244975" y="1371600"/>
            <a:ext cx="992579" cy="369332"/>
          </a:xfrm>
          <a:prstGeom prst="rect">
            <a:avLst/>
          </a:prstGeom>
          <a:noFill/>
        </p:spPr>
        <p:txBody>
          <a:bodyPr wrap="none" rtlCol="0">
            <a:spAutoFit/>
          </a:bodyPr>
          <a:lstStyle/>
          <a:p>
            <a:r>
              <a:rPr lang="en-US" dirty="0"/>
              <a:t>Node 1:</a:t>
            </a:r>
          </a:p>
        </p:txBody>
      </p:sp>
      <p:graphicFrame>
        <p:nvGraphicFramePr>
          <p:cNvPr id="166914" name="Object 2"/>
          <p:cNvGraphicFramePr>
            <a:graphicFrameLocks noChangeAspect="1"/>
          </p:cNvGraphicFramePr>
          <p:nvPr/>
        </p:nvGraphicFramePr>
        <p:xfrm>
          <a:off x="5197475" y="1392238"/>
          <a:ext cx="2362200" cy="350837"/>
        </p:xfrm>
        <a:graphic>
          <a:graphicData uri="http://schemas.openxmlformats.org/presentationml/2006/ole">
            <mc:AlternateContent xmlns:mc="http://schemas.openxmlformats.org/markup-compatibility/2006">
              <mc:Choice xmlns:v="urn:schemas-microsoft-com:vml" Requires="v">
                <p:oleObj name="Equation" r:id="rId3" imgW="1460160" imgH="215640" progId="Equation.3">
                  <p:embed/>
                </p:oleObj>
              </mc:Choice>
              <mc:Fallback>
                <p:oleObj name="Equation" r:id="rId3" imgW="1460160" imgH="215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7475" y="1392238"/>
                        <a:ext cx="2362200" cy="350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Box 8"/>
          <p:cNvSpPr txBox="1"/>
          <p:nvPr/>
        </p:nvSpPr>
        <p:spPr>
          <a:xfrm>
            <a:off x="4244975" y="1726168"/>
            <a:ext cx="992579" cy="369332"/>
          </a:xfrm>
          <a:prstGeom prst="rect">
            <a:avLst/>
          </a:prstGeom>
          <a:noFill/>
        </p:spPr>
        <p:txBody>
          <a:bodyPr wrap="none" rtlCol="0">
            <a:spAutoFit/>
          </a:bodyPr>
          <a:lstStyle/>
          <a:p>
            <a:r>
              <a:rPr lang="en-US" dirty="0"/>
              <a:t>Node 2:</a:t>
            </a:r>
          </a:p>
        </p:txBody>
      </p:sp>
      <p:graphicFrame>
        <p:nvGraphicFramePr>
          <p:cNvPr id="167939" name="Object 3"/>
          <p:cNvGraphicFramePr>
            <a:graphicFrameLocks noChangeAspect="1"/>
          </p:cNvGraphicFramePr>
          <p:nvPr/>
        </p:nvGraphicFramePr>
        <p:xfrm>
          <a:off x="5197475" y="1735138"/>
          <a:ext cx="3717925" cy="371475"/>
        </p:xfrm>
        <a:graphic>
          <a:graphicData uri="http://schemas.openxmlformats.org/presentationml/2006/ole">
            <mc:AlternateContent xmlns:mc="http://schemas.openxmlformats.org/markup-compatibility/2006">
              <mc:Choice xmlns:v="urn:schemas-microsoft-com:vml" Requires="v">
                <p:oleObj name="Equation" r:id="rId5" imgW="2298600" imgH="228600" progId="Equation.3">
                  <p:embed/>
                </p:oleObj>
              </mc:Choice>
              <mc:Fallback>
                <p:oleObj name="Equation" r:id="rId5" imgW="229860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97475" y="1735138"/>
                        <a:ext cx="3717925"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Box 10"/>
          <p:cNvSpPr txBox="1"/>
          <p:nvPr/>
        </p:nvSpPr>
        <p:spPr>
          <a:xfrm>
            <a:off x="4244975" y="2096055"/>
            <a:ext cx="992579" cy="369332"/>
          </a:xfrm>
          <a:prstGeom prst="rect">
            <a:avLst/>
          </a:prstGeom>
          <a:noFill/>
        </p:spPr>
        <p:txBody>
          <a:bodyPr wrap="none" rtlCol="0">
            <a:spAutoFit/>
          </a:bodyPr>
          <a:lstStyle/>
          <a:p>
            <a:r>
              <a:rPr lang="en-US" dirty="0"/>
              <a:t>Node 3:</a:t>
            </a:r>
          </a:p>
        </p:txBody>
      </p:sp>
      <p:graphicFrame>
        <p:nvGraphicFramePr>
          <p:cNvPr id="12" name="Object 3"/>
          <p:cNvGraphicFramePr>
            <a:graphicFrameLocks noChangeAspect="1"/>
          </p:cNvGraphicFramePr>
          <p:nvPr/>
        </p:nvGraphicFramePr>
        <p:xfrm>
          <a:off x="5172075" y="2105025"/>
          <a:ext cx="3225800" cy="371475"/>
        </p:xfrm>
        <a:graphic>
          <a:graphicData uri="http://schemas.openxmlformats.org/presentationml/2006/ole">
            <mc:AlternateContent xmlns:mc="http://schemas.openxmlformats.org/markup-compatibility/2006">
              <mc:Choice xmlns:v="urn:schemas-microsoft-com:vml" Requires="v">
                <p:oleObj name="Equation" r:id="rId7" imgW="1993680" imgH="228600" progId="Equation.3">
                  <p:embed/>
                </p:oleObj>
              </mc:Choice>
              <mc:Fallback>
                <p:oleObj name="Equation" r:id="rId7" imgW="1993680" imgH="2286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72075" y="2105025"/>
                        <a:ext cx="322580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TextBox 13"/>
          <p:cNvSpPr txBox="1"/>
          <p:nvPr/>
        </p:nvSpPr>
        <p:spPr>
          <a:xfrm>
            <a:off x="228600" y="2705100"/>
            <a:ext cx="8801100" cy="923330"/>
          </a:xfrm>
          <a:prstGeom prst="rect">
            <a:avLst/>
          </a:prstGeom>
          <a:noFill/>
        </p:spPr>
        <p:txBody>
          <a:bodyPr wrap="square" rtlCol="0">
            <a:spAutoFit/>
          </a:bodyPr>
          <a:lstStyle/>
          <a:p>
            <a:r>
              <a:rPr lang="en-US" dirty="0"/>
              <a:t>3 simultaneous equations w/ 3 unknowns can be solved using few different</a:t>
            </a:r>
          </a:p>
          <a:p>
            <a:r>
              <a:rPr lang="en-US" dirty="0"/>
              <a:t>methods. The methods are covered in the appendix of the Johnson &amp; Johnson text. One method involves using matrices as below (Cramer’s rule.)</a:t>
            </a:r>
          </a:p>
        </p:txBody>
      </p:sp>
      <p:sp>
        <p:nvSpPr>
          <p:cNvPr id="25" name="TextBox 24"/>
          <p:cNvSpPr txBox="1"/>
          <p:nvPr/>
        </p:nvSpPr>
        <p:spPr>
          <a:xfrm>
            <a:off x="152400" y="3619500"/>
            <a:ext cx="5451236" cy="369332"/>
          </a:xfrm>
          <a:prstGeom prst="rect">
            <a:avLst/>
          </a:prstGeom>
          <a:noFill/>
        </p:spPr>
        <p:txBody>
          <a:bodyPr wrap="none" rtlCol="0">
            <a:spAutoFit/>
          </a:bodyPr>
          <a:lstStyle/>
          <a:p>
            <a:r>
              <a:rPr lang="en-US" dirty="0"/>
              <a:t>a) First find determinant, </a:t>
            </a:r>
            <a:r>
              <a:rPr lang="el-GR" dirty="0"/>
              <a:t>Δ</a:t>
            </a:r>
            <a:r>
              <a:rPr lang="en-US" dirty="0"/>
              <a:t>, of the coefficient matrix:</a:t>
            </a:r>
          </a:p>
        </p:txBody>
      </p:sp>
      <p:graphicFrame>
        <p:nvGraphicFramePr>
          <p:cNvPr id="26" name="Object 5"/>
          <p:cNvGraphicFramePr>
            <a:graphicFrameLocks noChangeAspect="1"/>
          </p:cNvGraphicFramePr>
          <p:nvPr/>
        </p:nvGraphicFramePr>
        <p:xfrm>
          <a:off x="533400" y="4140200"/>
          <a:ext cx="6972300" cy="1040769"/>
        </p:xfrm>
        <a:graphic>
          <a:graphicData uri="http://schemas.openxmlformats.org/presentationml/2006/ole">
            <mc:AlternateContent xmlns:mc="http://schemas.openxmlformats.org/markup-compatibility/2006">
              <mc:Choice xmlns:v="urn:schemas-microsoft-com:vml" Requires="v">
                <p:oleObj name="Equation" r:id="rId9" imgW="4787640" imgH="711000" progId="Equation.3">
                  <p:embed/>
                </p:oleObj>
              </mc:Choice>
              <mc:Fallback>
                <p:oleObj name="Equation" r:id="rId9" imgW="4787640" imgH="7110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3400" y="4140200"/>
                        <a:ext cx="6972300" cy="10407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TextBox 26"/>
          <p:cNvSpPr txBox="1"/>
          <p:nvPr/>
        </p:nvSpPr>
        <p:spPr>
          <a:xfrm>
            <a:off x="914400" y="3847068"/>
            <a:ext cx="385042" cy="369332"/>
          </a:xfrm>
          <a:prstGeom prst="rect">
            <a:avLst/>
          </a:prstGeom>
          <a:noFill/>
        </p:spPr>
        <p:txBody>
          <a:bodyPr wrap="none" rtlCol="0">
            <a:spAutoFit/>
          </a:bodyPr>
          <a:lstStyle/>
          <a:p>
            <a:r>
              <a:rPr lang="en-US" dirty="0"/>
              <a:t>v</a:t>
            </a:r>
            <a:r>
              <a:rPr lang="en-US" baseline="-25000" dirty="0"/>
              <a:t>1</a:t>
            </a:r>
          </a:p>
        </p:txBody>
      </p:sp>
      <p:sp>
        <p:nvSpPr>
          <p:cNvPr id="28" name="TextBox 27"/>
          <p:cNvSpPr txBox="1"/>
          <p:nvPr/>
        </p:nvSpPr>
        <p:spPr>
          <a:xfrm>
            <a:off x="1371600" y="3847068"/>
            <a:ext cx="385042" cy="369332"/>
          </a:xfrm>
          <a:prstGeom prst="rect">
            <a:avLst/>
          </a:prstGeom>
          <a:noFill/>
        </p:spPr>
        <p:txBody>
          <a:bodyPr wrap="none" rtlCol="0">
            <a:spAutoFit/>
          </a:bodyPr>
          <a:lstStyle/>
          <a:p>
            <a:r>
              <a:rPr lang="en-US" dirty="0"/>
              <a:t>v</a:t>
            </a:r>
            <a:r>
              <a:rPr lang="en-US" baseline="-25000" dirty="0"/>
              <a:t>2</a:t>
            </a:r>
          </a:p>
        </p:txBody>
      </p:sp>
      <p:sp>
        <p:nvSpPr>
          <p:cNvPr id="29" name="TextBox 28"/>
          <p:cNvSpPr txBox="1"/>
          <p:nvPr/>
        </p:nvSpPr>
        <p:spPr>
          <a:xfrm>
            <a:off x="1866900" y="3847068"/>
            <a:ext cx="385042" cy="369332"/>
          </a:xfrm>
          <a:prstGeom prst="rect">
            <a:avLst/>
          </a:prstGeom>
          <a:noFill/>
        </p:spPr>
        <p:txBody>
          <a:bodyPr wrap="none" rtlCol="0">
            <a:spAutoFit/>
          </a:bodyPr>
          <a:lstStyle/>
          <a:p>
            <a:r>
              <a:rPr lang="en-US" dirty="0"/>
              <a:t>v</a:t>
            </a:r>
            <a:r>
              <a:rPr lang="en-US" baseline="-25000" dirty="0"/>
              <a:t>3</a:t>
            </a:r>
          </a:p>
        </p:txBody>
      </p:sp>
    </p:spTree>
    <p:extLst>
      <p:ext uri="{BB962C8B-B14F-4D97-AF65-F5344CB8AC3E}">
        <p14:creationId xmlns:p14="http://schemas.microsoft.com/office/powerpoint/2010/main" val="285116884"/>
      </p:ext>
    </p:extLst>
  </p:cSld>
  <p:clrMapOvr>
    <a:masterClrMapping/>
  </p:clrMapOvr>
  <p:transition spd="me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a:t>
            </a:r>
          </a:p>
        </p:txBody>
      </p:sp>
      <p:sp>
        <p:nvSpPr>
          <p:cNvPr id="6147" name="Content Placeholder 2"/>
          <p:cNvSpPr>
            <a:spLocks noGrp="1"/>
          </p:cNvSpPr>
          <p:nvPr>
            <p:ph idx="1"/>
          </p:nvPr>
        </p:nvSpPr>
        <p:spPr>
          <a:xfrm>
            <a:off x="533400" y="723901"/>
            <a:ext cx="8229600" cy="5867400"/>
          </a:xfrm>
        </p:spPr>
        <p:txBody>
          <a:bodyPr/>
          <a:lstStyle/>
          <a:p>
            <a:pPr>
              <a:buNone/>
            </a:pPr>
            <a:r>
              <a:rPr lang="en-US" sz="2400" dirty="0"/>
              <a:t>Solve for node voltage and </a:t>
            </a:r>
            <a:r>
              <a:rPr lang="en-US" sz="2400" dirty="0" err="1"/>
              <a:t>i</a:t>
            </a:r>
            <a:r>
              <a:rPr lang="en-US" sz="2400" dirty="0"/>
              <a:t> in the following circuit:</a:t>
            </a:r>
          </a:p>
          <a:p>
            <a:pPr>
              <a:buNone/>
            </a:pPr>
            <a:endParaRPr lang="en-US" sz="24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73</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164866" name="Picture 2"/>
          <p:cNvPicPr>
            <a:picLocks noChangeAspect="1" noChangeArrowheads="1"/>
          </p:cNvPicPr>
          <p:nvPr/>
        </p:nvPicPr>
        <p:blipFill>
          <a:blip r:embed="rId2" cstate="print"/>
          <a:srcRect/>
          <a:stretch>
            <a:fillRect/>
          </a:stretch>
        </p:blipFill>
        <p:spPr bwMode="auto">
          <a:xfrm>
            <a:off x="419100" y="1181100"/>
            <a:ext cx="3674225" cy="1485900"/>
          </a:xfrm>
          <a:prstGeom prst="rect">
            <a:avLst/>
          </a:prstGeom>
          <a:noFill/>
          <a:ln w="9525">
            <a:noFill/>
            <a:miter lim="800000"/>
            <a:headEnd/>
            <a:tailEnd/>
          </a:ln>
          <a:effectLst/>
        </p:spPr>
      </p:pic>
      <p:sp>
        <p:nvSpPr>
          <p:cNvPr id="7" name="TextBox 6"/>
          <p:cNvSpPr txBox="1"/>
          <p:nvPr/>
        </p:nvSpPr>
        <p:spPr>
          <a:xfrm>
            <a:off x="4244975" y="1371600"/>
            <a:ext cx="992579" cy="369332"/>
          </a:xfrm>
          <a:prstGeom prst="rect">
            <a:avLst/>
          </a:prstGeom>
          <a:noFill/>
        </p:spPr>
        <p:txBody>
          <a:bodyPr wrap="none" rtlCol="0">
            <a:spAutoFit/>
          </a:bodyPr>
          <a:lstStyle/>
          <a:p>
            <a:r>
              <a:rPr lang="en-US" dirty="0"/>
              <a:t>Node 1:</a:t>
            </a:r>
          </a:p>
        </p:txBody>
      </p:sp>
      <p:graphicFrame>
        <p:nvGraphicFramePr>
          <p:cNvPr id="166914" name="Object 2"/>
          <p:cNvGraphicFramePr>
            <a:graphicFrameLocks noChangeAspect="1"/>
          </p:cNvGraphicFramePr>
          <p:nvPr/>
        </p:nvGraphicFramePr>
        <p:xfrm>
          <a:off x="5197475" y="1392238"/>
          <a:ext cx="2362200" cy="350837"/>
        </p:xfrm>
        <a:graphic>
          <a:graphicData uri="http://schemas.openxmlformats.org/presentationml/2006/ole">
            <mc:AlternateContent xmlns:mc="http://schemas.openxmlformats.org/markup-compatibility/2006">
              <mc:Choice xmlns:v="urn:schemas-microsoft-com:vml" Requires="v">
                <p:oleObj name="Equation" r:id="rId3" imgW="1460160" imgH="215640" progId="Equation.3">
                  <p:embed/>
                </p:oleObj>
              </mc:Choice>
              <mc:Fallback>
                <p:oleObj name="Equation" r:id="rId3" imgW="1460160" imgH="215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7475" y="1392238"/>
                        <a:ext cx="2362200" cy="350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Box 8"/>
          <p:cNvSpPr txBox="1"/>
          <p:nvPr/>
        </p:nvSpPr>
        <p:spPr>
          <a:xfrm>
            <a:off x="4244975" y="1726168"/>
            <a:ext cx="992579" cy="369332"/>
          </a:xfrm>
          <a:prstGeom prst="rect">
            <a:avLst/>
          </a:prstGeom>
          <a:noFill/>
        </p:spPr>
        <p:txBody>
          <a:bodyPr wrap="none" rtlCol="0">
            <a:spAutoFit/>
          </a:bodyPr>
          <a:lstStyle/>
          <a:p>
            <a:r>
              <a:rPr lang="en-US" dirty="0"/>
              <a:t>Node 2:</a:t>
            </a:r>
          </a:p>
        </p:txBody>
      </p:sp>
      <p:graphicFrame>
        <p:nvGraphicFramePr>
          <p:cNvPr id="167939" name="Object 3"/>
          <p:cNvGraphicFramePr>
            <a:graphicFrameLocks noChangeAspect="1"/>
          </p:cNvGraphicFramePr>
          <p:nvPr/>
        </p:nvGraphicFramePr>
        <p:xfrm>
          <a:off x="5197475" y="1735138"/>
          <a:ext cx="3717925" cy="371475"/>
        </p:xfrm>
        <a:graphic>
          <a:graphicData uri="http://schemas.openxmlformats.org/presentationml/2006/ole">
            <mc:AlternateContent xmlns:mc="http://schemas.openxmlformats.org/markup-compatibility/2006">
              <mc:Choice xmlns:v="urn:schemas-microsoft-com:vml" Requires="v">
                <p:oleObj name="Equation" r:id="rId5" imgW="2298600" imgH="228600" progId="Equation.3">
                  <p:embed/>
                </p:oleObj>
              </mc:Choice>
              <mc:Fallback>
                <p:oleObj name="Equation" r:id="rId5" imgW="229860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97475" y="1735138"/>
                        <a:ext cx="3717925"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Box 10"/>
          <p:cNvSpPr txBox="1"/>
          <p:nvPr/>
        </p:nvSpPr>
        <p:spPr>
          <a:xfrm>
            <a:off x="4244975" y="2096055"/>
            <a:ext cx="992579" cy="369332"/>
          </a:xfrm>
          <a:prstGeom prst="rect">
            <a:avLst/>
          </a:prstGeom>
          <a:noFill/>
        </p:spPr>
        <p:txBody>
          <a:bodyPr wrap="none" rtlCol="0">
            <a:spAutoFit/>
          </a:bodyPr>
          <a:lstStyle/>
          <a:p>
            <a:r>
              <a:rPr lang="en-US" dirty="0"/>
              <a:t>Node 3:</a:t>
            </a:r>
          </a:p>
        </p:txBody>
      </p:sp>
      <p:graphicFrame>
        <p:nvGraphicFramePr>
          <p:cNvPr id="12" name="Object 3"/>
          <p:cNvGraphicFramePr>
            <a:graphicFrameLocks noChangeAspect="1"/>
          </p:cNvGraphicFramePr>
          <p:nvPr/>
        </p:nvGraphicFramePr>
        <p:xfrm>
          <a:off x="5172075" y="2105025"/>
          <a:ext cx="3225800" cy="371475"/>
        </p:xfrm>
        <a:graphic>
          <a:graphicData uri="http://schemas.openxmlformats.org/presentationml/2006/ole">
            <mc:AlternateContent xmlns:mc="http://schemas.openxmlformats.org/markup-compatibility/2006">
              <mc:Choice xmlns:v="urn:schemas-microsoft-com:vml" Requires="v">
                <p:oleObj name="Equation" r:id="rId7" imgW="1993680" imgH="228600" progId="Equation.3">
                  <p:embed/>
                </p:oleObj>
              </mc:Choice>
              <mc:Fallback>
                <p:oleObj name="Equation" r:id="rId7" imgW="1993680" imgH="2286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72075" y="2105025"/>
                        <a:ext cx="322580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TextBox 13"/>
          <p:cNvSpPr txBox="1"/>
          <p:nvPr/>
        </p:nvSpPr>
        <p:spPr>
          <a:xfrm>
            <a:off x="228600" y="2705100"/>
            <a:ext cx="8801100" cy="923330"/>
          </a:xfrm>
          <a:prstGeom prst="rect">
            <a:avLst/>
          </a:prstGeom>
          <a:noFill/>
        </p:spPr>
        <p:txBody>
          <a:bodyPr wrap="square" rtlCol="0">
            <a:spAutoFit/>
          </a:bodyPr>
          <a:lstStyle/>
          <a:p>
            <a:r>
              <a:rPr lang="en-US" dirty="0"/>
              <a:t>3 simultaneous equations w/ 3 unknowns can be solved using few different</a:t>
            </a:r>
          </a:p>
          <a:p>
            <a:r>
              <a:rPr lang="en-US" dirty="0"/>
              <a:t>methods. The methods are covered in the appendix of the Johnson &amp; Johnson text. One method involves using matrices as below (Cramer’s rule.)</a:t>
            </a:r>
          </a:p>
        </p:txBody>
      </p:sp>
      <p:sp>
        <p:nvSpPr>
          <p:cNvPr id="15" name="TextBox 14"/>
          <p:cNvSpPr txBox="1"/>
          <p:nvPr/>
        </p:nvSpPr>
        <p:spPr>
          <a:xfrm>
            <a:off x="152400" y="3619500"/>
            <a:ext cx="5451236" cy="369332"/>
          </a:xfrm>
          <a:prstGeom prst="rect">
            <a:avLst/>
          </a:prstGeom>
          <a:noFill/>
        </p:spPr>
        <p:txBody>
          <a:bodyPr wrap="none" rtlCol="0">
            <a:spAutoFit/>
          </a:bodyPr>
          <a:lstStyle/>
          <a:p>
            <a:r>
              <a:rPr lang="en-US" dirty="0"/>
              <a:t>a) First find determinant, </a:t>
            </a:r>
            <a:r>
              <a:rPr lang="el-GR" dirty="0"/>
              <a:t>Δ</a:t>
            </a:r>
            <a:r>
              <a:rPr lang="en-US" dirty="0"/>
              <a:t>, of the coefficient matrix:</a:t>
            </a:r>
          </a:p>
        </p:txBody>
      </p:sp>
      <p:graphicFrame>
        <p:nvGraphicFramePr>
          <p:cNvPr id="171013" name="Object 5"/>
          <p:cNvGraphicFramePr>
            <a:graphicFrameLocks noChangeAspect="1"/>
          </p:cNvGraphicFramePr>
          <p:nvPr/>
        </p:nvGraphicFramePr>
        <p:xfrm>
          <a:off x="533400" y="4140200"/>
          <a:ext cx="6972300" cy="1040769"/>
        </p:xfrm>
        <a:graphic>
          <a:graphicData uri="http://schemas.openxmlformats.org/presentationml/2006/ole">
            <mc:AlternateContent xmlns:mc="http://schemas.openxmlformats.org/markup-compatibility/2006">
              <mc:Choice xmlns:v="urn:schemas-microsoft-com:vml" Requires="v">
                <p:oleObj name="Equation" r:id="rId9" imgW="4787640" imgH="711000" progId="Equation.3">
                  <p:embed/>
                </p:oleObj>
              </mc:Choice>
              <mc:Fallback>
                <p:oleObj name="Equation" r:id="rId9" imgW="4787640" imgH="7110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3400" y="4140200"/>
                        <a:ext cx="6972300" cy="10407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TextBox 15"/>
          <p:cNvSpPr txBox="1"/>
          <p:nvPr/>
        </p:nvSpPr>
        <p:spPr>
          <a:xfrm>
            <a:off x="914400" y="3847068"/>
            <a:ext cx="385042" cy="369332"/>
          </a:xfrm>
          <a:prstGeom prst="rect">
            <a:avLst/>
          </a:prstGeom>
          <a:noFill/>
        </p:spPr>
        <p:txBody>
          <a:bodyPr wrap="none" rtlCol="0">
            <a:spAutoFit/>
          </a:bodyPr>
          <a:lstStyle/>
          <a:p>
            <a:r>
              <a:rPr lang="en-US" dirty="0"/>
              <a:t>v</a:t>
            </a:r>
            <a:r>
              <a:rPr lang="en-US" baseline="-25000" dirty="0"/>
              <a:t>1</a:t>
            </a:r>
          </a:p>
        </p:txBody>
      </p:sp>
      <p:sp>
        <p:nvSpPr>
          <p:cNvPr id="17" name="TextBox 16"/>
          <p:cNvSpPr txBox="1"/>
          <p:nvPr/>
        </p:nvSpPr>
        <p:spPr>
          <a:xfrm>
            <a:off x="1371600" y="3847068"/>
            <a:ext cx="385042" cy="369332"/>
          </a:xfrm>
          <a:prstGeom prst="rect">
            <a:avLst/>
          </a:prstGeom>
          <a:noFill/>
        </p:spPr>
        <p:txBody>
          <a:bodyPr wrap="none" rtlCol="0">
            <a:spAutoFit/>
          </a:bodyPr>
          <a:lstStyle/>
          <a:p>
            <a:r>
              <a:rPr lang="en-US" dirty="0"/>
              <a:t>v</a:t>
            </a:r>
            <a:r>
              <a:rPr lang="en-US" baseline="-25000" dirty="0"/>
              <a:t>2</a:t>
            </a:r>
          </a:p>
        </p:txBody>
      </p:sp>
      <p:sp>
        <p:nvSpPr>
          <p:cNvPr id="18" name="TextBox 17"/>
          <p:cNvSpPr txBox="1"/>
          <p:nvPr/>
        </p:nvSpPr>
        <p:spPr>
          <a:xfrm>
            <a:off x="1866900" y="3847068"/>
            <a:ext cx="385042" cy="369332"/>
          </a:xfrm>
          <a:prstGeom prst="rect">
            <a:avLst/>
          </a:prstGeom>
          <a:noFill/>
        </p:spPr>
        <p:txBody>
          <a:bodyPr wrap="none" rtlCol="0">
            <a:spAutoFit/>
          </a:bodyPr>
          <a:lstStyle/>
          <a:p>
            <a:r>
              <a:rPr lang="en-US" dirty="0"/>
              <a:t>v</a:t>
            </a:r>
            <a:r>
              <a:rPr lang="en-US" baseline="-25000" dirty="0"/>
              <a:t>3</a:t>
            </a:r>
          </a:p>
        </p:txBody>
      </p:sp>
      <p:sp>
        <p:nvSpPr>
          <p:cNvPr id="19" name="TextBox 18"/>
          <p:cNvSpPr txBox="1"/>
          <p:nvPr/>
        </p:nvSpPr>
        <p:spPr>
          <a:xfrm>
            <a:off x="190500" y="5143500"/>
            <a:ext cx="8905002" cy="369332"/>
          </a:xfrm>
          <a:prstGeom prst="rect">
            <a:avLst/>
          </a:prstGeom>
          <a:noFill/>
        </p:spPr>
        <p:txBody>
          <a:bodyPr wrap="none" rtlCol="0">
            <a:spAutoFit/>
          </a:bodyPr>
          <a:lstStyle/>
          <a:p>
            <a:r>
              <a:rPr lang="en-US" dirty="0"/>
              <a:t>b) Find individual voltages by plugging in the right hand values to respective columns:</a:t>
            </a:r>
          </a:p>
        </p:txBody>
      </p:sp>
      <p:graphicFrame>
        <p:nvGraphicFramePr>
          <p:cNvPr id="172039" name="Object 7"/>
          <p:cNvGraphicFramePr>
            <a:graphicFrameLocks noChangeAspect="1"/>
          </p:cNvGraphicFramePr>
          <p:nvPr/>
        </p:nvGraphicFramePr>
        <p:xfrm>
          <a:off x="457200" y="5448300"/>
          <a:ext cx="1880997" cy="1125538"/>
        </p:xfrm>
        <a:graphic>
          <a:graphicData uri="http://schemas.openxmlformats.org/presentationml/2006/ole">
            <mc:AlternateContent xmlns:mc="http://schemas.openxmlformats.org/markup-compatibility/2006">
              <mc:Choice xmlns:v="urn:schemas-microsoft-com:vml" Requires="v">
                <p:oleObj name="Equation" r:id="rId11" imgW="1473120" imgH="876240" progId="Equation.3">
                  <p:embed/>
                </p:oleObj>
              </mc:Choice>
              <mc:Fallback>
                <p:oleObj name="Equation" r:id="rId11" imgW="1473120" imgH="87624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7200" y="5448300"/>
                        <a:ext cx="1880997" cy="1125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2040" name="Object 8"/>
          <p:cNvGraphicFramePr>
            <a:graphicFrameLocks noChangeAspect="1"/>
          </p:cNvGraphicFramePr>
          <p:nvPr/>
        </p:nvGraphicFramePr>
        <p:xfrm>
          <a:off x="2568575" y="5448300"/>
          <a:ext cx="1897063" cy="1125538"/>
        </p:xfrm>
        <a:graphic>
          <a:graphicData uri="http://schemas.openxmlformats.org/presentationml/2006/ole">
            <mc:AlternateContent xmlns:mc="http://schemas.openxmlformats.org/markup-compatibility/2006">
              <mc:Choice xmlns:v="urn:schemas-microsoft-com:vml" Requires="v">
                <p:oleObj name="Equation" r:id="rId13" imgW="1485720" imgH="876240" progId="Equation.3">
                  <p:embed/>
                </p:oleObj>
              </mc:Choice>
              <mc:Fallback>
                <p:oleObj name="Equation" r:id="rId13" imgW="1485720" imgH="87624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68575" y="5448300"/>
                        <a:ext cx="1897063" cy="1125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2041" name="Object 9"/>
          <p:cNvGraphicFramePr>
            <a:graphicFrameLocks noChangeAspect="1"/>
          </p:cNvGraphicFramePr>
          <p:nvPr/>
        </p:nvGraphicFramePr>
        <p:xfrm>
          <a:off x="4565650" y="5448300"/>
          <a:ext cx="1865313" cy="1125538"/>
        </p:xfrm>
        <a:graphic>
          <a:graphicData uri="http://schemas.openxmlformats.org/presentationml/2006/ole">
            <mc:AlternateContent xmlns:mc="http://schemas.openxmlformats.org/markup-compatibility/2006">
              <mc:Choice xmlns:v="urn:schemas-microsoft-com:vml" Requires="v">
                <p:oleObj name="Equation" r:id="rId15" imgW="1460160" imgH="876240" progId="Equation.3">
                  <p:embed/>
                </p:oleObj>
              </mc:Choice>
              <mc:Fallback>
                <p:oleObj name="Equation" r:id="rId15" imgW="1460160" imgH="87624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565650" y="5448300"/>
                        <a:ext cx="1865313" cy="1125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683356377"/>
      </p:ext>
    </p:extLst>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a:t>
            </a:r>
          </a:p>
        </p:txBody>
      </p:sp>
      <p:sp>
        <p:nvSpPr>
          <p:cNvPr id="6147" name="Content Placeholder 2"/>
          <p:cNvSpPr>
            <a:spLocks noGrp="1"/>
          </p:cNvSpPr>
          <p:nvPr>
            <p:ph idx="1"/>
          </p:nvPr>
        </p:nvSpPr>
        <p:spPr>
          <a:xfrm>
            <a:off x="533400" y="723901"/>
            <a:ext cx="8229600" cy="5867400"/>
          </a:xfrm>
        </p:spPr>
        <p:txBody>
          <a:bodyPr/>
          <a:lstStyle/>
          <a:p>
            <a:pPr>
              <a:buNone/>
            </a:pPr>
            <a:r>
              <a:rPr lang="en-US" sz="2400" dirty="0"/>
              <a:t>Solve for node voltage and </a:t>
            </a:r>
            <a:r>
              <a:rPr lang="en-US" sz="2400" dirty="0" err="1"/>
              <a:t>i</a:t>
            </a:r>
            <a:r>
              <a:rPr lang="en-US" sz="2400" dirty="0"/>
              <a:t> in the following circuit:</a:t>
            </a:r>
          </a:p>
          <a:p>
            <a:pPr>
              <a:buNone/>
            </a:pPr>
            <a:endParaRPr lang="en-US" sz="24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74</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164866" name="Picture 2"/>
          <p:cNvPicPr>
            <a:picLocks noChangeAspect="1" noChangeArrowheads="1"/>
          </p:cNvPicPr>
          <p:nvPr/>
        </p:nvPicPr>
        <p:blipFill>
          <a:blip r:embed="rId2" cstate="print"/>
          <a:srcRect/>
          <a:stretch>
            <a:fillRect/>
          </a:stretch>
        </p:blipFill>
        <p:spPr bwMode="auto">
          <a:xfrm>
            <a:off x="419100" y="1181100"/>
            <a:ext cx="3674225" cy="1485900"/>
          </a:xfrm>
          <a:prstGeom prst="rect">
            <a:avLst/>
          </a:prstGeom>
          <a:noFill/>
          <a:ln w="9525">
            <a:noFill/>
            <a:miter lim="800000"/>
            <a:headEnd/>
            <a:tailEnd/>
          </a:ln>
          <a:effectLst/>
        </p:spPr>
      </p:pic>
      <p:sp>
        <p:nvSpPr>
          <p:cNvPr id="7" name="TextBox 6"/>
          <p:cNvSpPr txBox="1"/>
          <p:nvPr/>
        </p:nvSpPr>
        <p:spPr>
          <a:xfrm>
            <a:off x="4244975" y="1371600"/>
            <a:ext cx="992579" cy="369332"/>
          </a:xfrm>
          <a:prstGeom prst="rect">
            <a:avLst/>
          </a:prstGeom>
          <a:noFill/>
        </p:spPr>
        <p:txBody>
          <a:bodyPr wrap="none" rtlCol="0">
            <a:spAutoFit/>
          </a:bodyPr>
          <a:lstStyle/>
          <a:p>
            <a:r>
              <a:rPr lang="en-US" dirty="0"/>
              <a:t>Node 1:</a:t>
            </a:r>
          </a:p>
        </p:txBody>
      </p:sp>
      <p:graphicFrame>
        <p:nvGraphicFramePr>
          <p:cNvPr id="166914" name="Object 2"/>
          <p:cNvGraphicFramePr>
            <a:graphicFrameLocks noChangeAspect="1"/>
          </p:cNvGraphicFramePr>
          <p:nvPr/>
        </p:nvGraphicFramePr>
        <p:xfrm>
          <a:off x="5197475" y="1392238"/>
          <a:ext cx="2362200" cy="350837"/>
        </p:xfrm>
        <a:graphic>
          <a:graphicData uri="http://schemas.openxmlformats.org/presentationml/2006/ole">
            <mc:AlternateContent xmlns:mc="http://schemas.openxmlformats.org/markup-compatibility/2006">
              <mc:Choice xmlns:v="urn:schemas-microsoft-com:vml" Requires="v">
                <p:oleObj name="Equation" r:id="rId3" imgW="1460160" imgH="215640" progId="Equation.3">
                  <p:embed/>
                </p:oleObj>
              </mc:Choice>
              <mc:Fallback>
                <p:oleObj name="Equation" r:id="rId3" imgW="1460160" imgH="215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7475" y="1392238"/>
                        <a:ext cx="2362200" cy="350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Box 8"/>
          <p:cNvSpPr txBox="1"/>
          <p:nvPr/>
        </p:nvSpPr>
        <p:spPr>
          <a:xfrm>
            <a:off x="4244975" y="1726168"/>
            <a:ext cx="992579" cy="369332"/>
          </a:xfrm>
          <a:prstGeom prst="rect">
            <a:avLst/>
          </a:prstGeom>
          <a:noFill/>
        </p:spPr>
        <p:txBody>
          <a:bodyPr wrap="none" rtlCol="0">
            <a:spAutoFit/>
          </a:bodyPr>
          <a:lstStyle/>
          <a:p>
            <a:r>
              <a:rPr lang="en-US" dirty="0"/>
              <a:t>Node 2:</a:t>
            </a:r>
          </a:p>
        </p:txBody>
      </p:sp>
      <p:graphicFrame>
        <p:nvGraphicFramePr>
          <p:cNvPr id="167939" name="Object 3"/>
          <p:cNvGraphicFramePr>
            <a:graphicFrameLocks noChangeAspect="1"/>
          </p:cNvGraphicFramePr>
          <p:nvPr/>
        </p:nvGraphicFramePr>
        <p:xfrm>
          <a:off x="5197475" y="1735138"/>
          <a:ext cx="3717925" cy="371475"/>
        </p:xfrm>
        <a:graphic>
          <a:graphicData uri="http://schemas.openxmlformats.org/presentationml/2006/ole">
            <mc:AlternateContent xmlns:mc="http://schemas.openxmlformats.org/markup-compatibility/2006">
              <mc:Choice xmlns:v="urn:schemas-microsoft-com:vml" Requires="v">
                <p:oleObj name="Equation" r:id="rId5" imgW="2298600" imgH="228600" progId="Equation.3">
                  <p:embed/>
                </p:oleObj>
              </mc:Choice>
              <mc:Fallback>
                <p:oleObj name="Equation" r:id="rId5" imgW="229860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97475" y="1735138"/>
                        <a:ext cx="3717925"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Box 10"/>
          <p:cNvSpPr txBox="1"/>
          <p:nvPr/>
        </p:nvSpPr>
        <p:spPr>
          <a:xfrm>
            <a:off x="4244975" y="2096055"/>
            <a:ext cx="992579" cy="369332"/>
          </a:xfrm>
          <a:prstGeom prst="rect">
            <a:avLst/>
          </a:prstGeom>
          <a:noFill/>
        </p:spPr>
        <p:txBody>
          <a:bodyPr wrap="none" rtlCol="0">
            <a:spAutoFit/>
          </a:bodyPr>
          <a:lstStyle/>
          <a:p>
            <a:r>
              <a:rPr lang="en-US" dirty="0"/>
              <a:t>Node 3:</a:t>
            </a:r>
          </a:p>
        </p:txBody>
      </p:sp>
      <p:graphicFrame>
        <p:nvGraphicFramePr>
          <p:cNvPr id="12" name="Object 3"/>
          <p:cNvGraphicFramePr>
            <a:graphicFrameLocks noChangeAspect="1"/>
          </p:cNvGraphicFramePr>
          <p:nvPr/>
        </p:nvGraphicFramePr>
        <p:xfrm>
          <a:off x="5172075" y="2105025"/>
          <a:ext cx="3225800" cy="371475"/>
        </p:xfrm>
        <a:graphic>
          <a:graphicData uri="http://schemas.openxmlformats.org/presentationml/2006/ole">
            <mc:AlternateContent xmlns:mc="http://schemas.openxmlformats.org/markup-compatibility/2006">
              <mc:Choice xmlns:v="urn:schemas-microsoft-com:vml" Requires="v">
                <p:oleObj name="Equation" r:id="rId7" imgW="1993680" imgH="228600" progId="Equation.3">
                  <p:embed/>
                </p:oleObj>
              </mc:Choice>
              <mc:Fallback>
                <p:oleObj name="Equation" r:id="rId7" imgW="1993680" imgH="2286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72075" y="2105025"/>
                        <a:ext cx="322580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TextBox 13"/>
          <p:cNvSpPr txBox="1"/>
          <p:nvPr/>
        </p:nvSpPr>
        <p:spPr>
          <a:xfrm>
            <a:off x="228600" y="2705100"/>
            <a:ext cx="8801100" cy="923330"/>
          </a:xfrm>
          <a:prstGeom prst="rect">
            <a:avLst/>
          </a:prstGeom>
          <a:noFill/>
        </p:spPr>
        <p:txBody>
          <a:bodyPr wrap="square" rtlCol="0">
            <a:spAutoFit/>
          </a:bodyPr>
          <a:lstStyle/>
          <a:p>
            <a:r>
              <a:rPr lang="en-US" dirty="0"/>
              <a:t>3 simultaneous equations w/ 3 unknowns can be solved using few different</a:t>
            </a:r>
          </a:p>
          <a:p>
            <a:r>
              <a:rPr lang="en-US" dirty="0"/>
              <a:t>methods. The methods are covered in the appendix of the Johnson &amp; Johnson text. One method involves using matrices as below (Cramer’s rule.)</a:t>
            </a:r>
          </a:p>
        </p:txBody>
      </p:sp>
      <p:sp>
        <p:nvSpPr>
          <p:cNvPr id="15" name="TextBox 14"/>
          <p:cNvSpPr txBox="1"/>
          <p:nvPr/>
        </p:nvSpPr>
        <p:spPr>
          <a:xfrm>
            <a:off x="152400" y="3619500"/>
            <a:ext cx="5451236" cy="369332"/>
          </a:xfrm>
          <a:prstGeom prst="rect">
            <a:avLst/>
          </a:prstGeom>
          <a:noFill/>
        </p:spPr>
        <p:txBody>
          <a:bodyPr wrap="none" rtlCol="0">
            <a:spAutoFit/>
          </a:bodyPr>
          <a:lstStyle/>
          <a:p>
            <a:r>
              <a:rPr lang="en-US" dirty="0"/>
              <a:t>a) First find determinant, </a:t>
            </a:r>
            <a:r>
              <a:rPr lang="el-GR" dirty="0"/>
              <a:t>Δ</a:t>
            </a:r>
            <a:r>
              <a:rPr lang="en-US" dirty="0"/>
              <a:t>, of the coefficient matrix:</a:t>
            </a:r>
          </a:p>
        </p:txBody>
      </p:sp>
      <p:graphicFrame>
        <p:nvGraphicFramePr>
          <p:cNvPr id="171013" name="Object 5"/>
          <p:cNvGraphicFramePr>
            <a:graphicFrameLocks noChangeAspect="1"/>
          </p:cNvGraphicFramePr>
          <p:nvPr/>
        </p:nvGraphicFramePr>
        <p:xfrm>
          <a:off x="533400" y="4140200"/>
          <a:ext cx="6972300" cy="1040769"/>
        </p:xfrm>
        <a:graphic>
          <a:graphicData uri="http://schemas.openxmlformats.org/presentationml/2006/ole">
            <mc:AlternateContent xmlns:mc="http://schemas.openxmlformats.org/markup-compatibility/2006">
              <mc:Choice xmlns:v="urn:schemas-microsoft-com:vml" Requires="v">
                <p:oleObj name="Equation" r:id="rId9" imgW="4787640" imgH="711000" progId="Equation.3">
                  <p:embed/>
                </p:oleObj>
              </mc:Choice>
              <mc:Fallback>
                <p:oleObj name="Equation" r:id="rId9" imgW="4787640" imgH="7110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3400" y="4140200"/>
                        <a:ext cx="6972300" cy="10407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TextBox 15"/>
          <p:cNvSpPr txBox="1"/>
          <p:nvPr/>
        </p:nvSpPr>
        <p:spPr>
          <a:xfrm>
            <a:off x="914400" y="3847068"/>
            <a:ext cx="385042" cy="369332"/>
          </a:xfrm>
          <a:prstGeom prst="rect">
            <a:avLst/>
          </a:prstGeom>
          <a:noFill/>
        </p:spPr>
        <p:txBody>
          <a:bodyPr wrap="none" rtlCol="0">
            <a:spAutoFit/>
          </a:bodyPr>
          <a:lstStyle/>
          <a:p>
            <a:r>
              <a:rPr lang="en-US" dirty="0"/>
              <a:t>v</a:t>
            </a:r>
            <a:r>
              <a:rPr lang="en-US" baseline="-25000" dirty="0"/>
              <a:t>1</a:t>
            </a:r>
          </a:p>
        </p:txBody>
      </p:sp>
      <p:sp>
        <p:nvSpPr>
          <p:cNvPr id="17" name="TextBox 16"/>
          <p:cNvSpPr txBox="1"/>
          <p:nvPr/>
        </p:nvSpPr>
        <p:spPr>
          <a:xfrm>
            <a:off x="1371600" y="3847068"/>
            <a:ext cx="385042" cy="369332"/>
          </a:xfrm>
          <a:prstGeom prst="rect">
            <a:avLst/>
          </a:prstGeom>
          <a:noFill/>
        </p:spPr>
        <p:txBody>
          <a:bodyPr wrap="none" rtlCol="0">
            <a:spAutoFit/>
          </a:bodyPr>
          <a:lstStyle/>
          <a:p>
            <a:r>
              <a:rPr lang="en-US" dirty="0"/>
              <a:t>v</a:t>
            </a:r>
            <a:r>
              <a:rPr lang="en-US" baseline="-25000" dirty="0"/>
              <a:t>2</a:t>
            </a:r>
          </a:p>
        </p:txBody>
      </p:sp>
      <p:sp>
        <p:nvSpPr>
          <p:cNvPr id="18" name="TextBox 17"/>
          <p:cNvSpPr txBox="1"/>
          <p:nvPr/>
        </p:nvSpPr>
        <p:spPr>
          <a:xfrm>
            <a:off x="1866900" y="3847068"/>
            <a:ext cx="385042" cy="369332"/>
          </a:xfrm>
          <a:prstGeom prst="rect">
            <a:avLst/>
          </a:prstGeom>
          <a:noFill/>
        </p:spPr>
        <p:txBody>
          <a:bodyPr wrap="none" rtlCol="0">
            <a:spAutoFit/>
          </a:bodyPr>
          <a:lstStyle/>
          <a:p>
            <a:r>
              <a:rPr lang="en-US" dirty="0"/>
              <a:t>v</a:t>
            </a:r>
            <a:r>
              <a:rPr lang="en-US" baseline="-25000" dirty="0"/>
              <a:t>3</a:t>
            </a:r>
          </a:p>
        </p:txBody>
      </p:sp>
      <p:sp>
        <p:nvSpPr>
          <p:cNvPr id="19" name="TextBox 18"/>
          <p:cNvSpPr txBox="1"/>
          <p:nvPr/>
        </p:nvSpPr>
        <p:spPr>
          <a:xfrm>
            <a:off x="190500" y="5143500"/>
            <a:ext cx="8905002" cy="369332"/>
          </a:xfrm>
          <a:prstGeom prst="rect">
            <a:avLst/>
          </a:prstGeom>
          <a:noFill/>
        </p:spPr>
        <p:txBody>
          <a:bodyPr wrap="none" rtlCol="0">
            <a:spAutoFit/>
          </a:bodyPr>
          <a:lstStyle/>
          <a:p>
            <a:r>
              <a:rPr lang="en-US" dirty="0"/>
              <a:t>b) Find individual voltages by plugging in the right hand values to respective columns:</a:t>
            </a:r>
          </a:p>
        </p:txBody>
      </p:sp>
      <p:graphicFrame>
        <p:nvGraphicFramePr>
          <p:cNvPr id="172039" name="Object 7"/>
          <p:cNvGraphicFramePr>
            <a:graphicFrameLocks noChangeAspect="1"/>
          </p:cNvGraphicFramePr>
          <p:nvPr/>
        </p:nvGraphicFramePr>
        <p:xfrm>
          <a:off x="457200" y="5448300"/>
          <a:ext cx="1880997" cy="1125538"/>
        </p:xfrm>
        <a:graphic>
          <a:graphicData uri="http://schemas.openxmlformats.org/presentationml/2006/ole">
            <mc:AlternateContent xmlns:mc="http://schemas.openxmlformats.org/markup-compatibility/2006">
              <mc:Choice xmlns:v="urn:schemas-microsoft-com:vml" Requires="v">
                <p:oleObj name="Equation" r:id="rId11" imgW="1473120" imgH="876240" progId="Equation.3">
                  <p:embed/>
                </p:oleObj>
              </mc:Choice>
              <mc:Fallback>
                <p:oleObj name="Equation" r:id="rId11" imgW="1473120" imgH="87624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7200" y="5448300"/>
                        <a:ext cx="1880997" cy="1125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2040" name="Object 8"/>
          <p:cNvGraphicFramePr>
            <a:graphicFrameLocks noChangeAspect="1"/>
          </p:cNvGraphicFramePr>
          <p:nvPr/>
        </p:nvGraphicFramePr>
        <p:xfrm>
          <a:off x="2568575" y="5448300"/>
          <a:ext cx="1897063" cy="1125538"/>
        </p:xfrm>
        <a:graphic>
          <a:graphicData uri="http://schemas.openxmlformats.org/presentationml/2006/ole">
            <mc:AlternateContent xmlns:mc="http://schemas.openxmlformats.org/markup-compatibility/2006">
              <mc:Choice xmlns:v="urn:schemas-microsoft-com:vml" Requires="v">
                <p:oleObj name="Equation" r:id="rId13" imgW="1485720" imgH="876240" progId="Equation.3">
                  <p:embed/>
                </p:oleObj>
              </mc:Choice>
              <mc:Fallback>
                <p:oleObj name="Equation" r:id="rId13" imgW="1485720" imgH="87624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68575" y="5448300"/>
                        <a:ext cx="1897063" cy="1125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2041" name="Object 9"/>
          <p:cNvGraphicFramePr>
            <a:graphicFrameLocks noChangeAspect="1"/>
          </p:cNvGraphicFramePr>
          <p:nvPr/>
        </p:nvGraphicFramePr>
        <p:xfrm>
          <a:off x="4565650" y="5448300"/>
          <a:ext cx="1865313" cy="1125538"/>
        </p:xfrm>
        <a:graphic>
          <a:graphicData uri="http://schemas.openxmlformats.org/presentationml/2006/ole">
            <mc:AlternateContent xmlns:mc="http://schemas.openxmlformats.org/markup-compatibility/2006">
              <mc:Choice xmlns:v="urn:schemas-microsoft-com:vml" Requires="v">
                <p:oleObj name="Equation" r:id="rId15" imgW="1460160" imgH="876240" progId="Equation.3">
                  <p:embed/>
                </p:oleObj>
              </mc:Choice>
              <mc:Fallback>
                <p:oleObj name="Equation" r:id="rId15" imgW="1460160" imgH="87624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565650" y="5448300"/>
                        <a:ext cx="1865313" cy="1125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3065" name="Object 9"/>
          <p:cNvGraphicFramePr>
            <a:graphicFrameLocks noChangeAspect="1"/>
          </p:cNvGraphicFramePr>
          <p:nvPr/>
        </p:nvGraphicFramePr>
        <p:xfrm>
          <a:off x="6705600" y="5838825"/>
          <a:ext cx="1992313" cy="371475"/>
        </p:xfrm>
        <a:graphic>
          <a:graphicData uri="http://schemas.openxmlformats.org/presentationml/2006/ole">
            <mc:AlternateContent xmlns:mc="http://schemas.openxmlformats.org/markup-compatibility/2006">
              <mc:Choice xmlns:v="urn:schemas-microsoft-com:vml" Requires="v">
                <p:oleObj name="Equation" r:id="rId17" imgW="1231560" imgH="228600" progId="Equation.3">
                  <p:embed/>
                </p:oleObj>
              </mc:Choice>
              <mc:Fallback>
                <p:oleObj name="Equation" r:id="rId17" imgW="1231560" imgH="228600"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705600" y="5838825"/>
                        <a:ext cx="1992313"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 name="TextBox 23"/>
          <p:cNvSpPr txBox="1"/>
          <p:nvPr/>
        </p:nvSpPr>
        <p:spPr>
          <a:xfrm>
            <a:off x="6591300" y="5448300"/>
            <a:ext cx="2274982" cy="369332"/>
          </a:xfrm>
          <a:prstGeom prst="rect">
            <a:avLst/>
          </a:prstGeom>
          <a:noFill/>
        </p:spPr>
        <p:txBody>
          <a:bodyPr wrap="none" rtlCol="0">
            <a:spAutoFit/>
          </a:bodyPr>
          <a:lstStyle/>
          <a:p>
            <a:r>
              <a:rPr lang="en-US" dirty="0"/>
              <a:t>Find other variables:</a:t>
            </a:r>
          </a:p>
        </p:txBody>
      </p:sp>
    </p:spTree>
    <p:extLst>
      <p:ext uri="{BB962C8B-B14F-4D97-AF65-F5344CB8AC3E}">
        <p14:creationId xmlns:p14="http://schemas.microsoft.com/office/powerpoint/2010/main" val="3985031506"/>
      </p:ext>
    </p:extLst>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a:t>
            </a:r>
          </a:p>
        </p:txBody>
      </p:sp>
      <p:sp>
        <p:nvSpPr>
          <p:cNvPr id="6147" name="Content Placeholder 2"/>
          <p:cNvSpPr>
            <a:spLocks noGrp="1"/>
          </p:cNvSpPr>
          <p:nvPr>
            <p:ph idx="1"/>
          </p:nvPr>
        </p:nvSpPr>
        <p:spPr>
          <a:xfrm>
            <a:off x="533400" y="723901"/>
            <a:ext cx="8229600" cy="5867400"/>
          </a:xfrm>
        </p:spPr>
        <p:txBody>
          <a:bodyPr/>
          <a:lstStyle/>
          <a:p>
            <a:pPr>
              <a:buNone/>
            </a:pPr>
            <a:endParaRPr lang="en-US" sz="24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75</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174090" name="Picture 10"/>
          <p:cNvPicPr>
            <a:picLocks noChangeAspect="1" noChangeArrowheads="1"/>
          </p:cNvPicPr>
          <p:nvPr/>
        </p:nvPicPr>
        <p:blipFill>
          <a:blip r:embed="rId2" cstate="print"/>
          <a:srcRect/>
          <a:stretch>
            <a:fillRect/>
          </a:stretch>
        </p:blipFill>
        <p:spPr bwMode="auto">
          <a:xfrm>
            <a:off x="381000" y="762000"/>
            <a:ext cx="3266483" cy="1752600"/>
          </a:xfrm>
          <a:prstGeom prst="rect">
            <a:avLst/>
          </a:prstGeom>
          <a:noFill/>
          <a:ln w="9525">
            <a:noFill/>
            <a:miter lim="800000"/>
            <a:headEnd/>
            <a:tailEnd/>
          </a:ln>
          <a:effectLst/>
        </p:spPr>
      </p:pic>
    </p:spTree>
    <p:extLst>
      <p:ext uri="{BB962C8B-B14F-4D97-AF65-F5344CB8AC3E}">
        <p14:creationId xmlns:p14="http://schemas.microsoft.com/office/powerpoint/2010/main" val="3812497577"/>
      </p:ext>
    </p:extLst>
  </p:cSld>
  <p:clrMapOvr>
    <a:masterClrMapping/>
  </p:clrMapOvr>
  <p:transition spd="me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6133" name="Picture 5"/>
          <p:cNvPicPr>
            <a:picLocks noChangeAspect="1" noChangeArrowheads="1"/>
          </p:cNvPicPr>
          <p:nvPr/>
        </p:nvPicPr>
        <p:blipFill>
          <a:blip r:embed="rId2" cstate="print"/>
          <a:srcRect/>
          <a:stretch>
            <a:fillRect/>
          </a:stretch>
        </p:blipFill>
        <p:spPr bwMode="auto">
          <a:xfrm>
            <a:off x="381000" y="761753"/>
            <a:ext cx="3276600" cy="1867147"/>
          </a:xfrm>
          <a:prstGeom prst="rect">
            <a:avLst/>
          </a:prstGeom>
          <a:noFill/>
          <a:ln w="9525">
            <a:noFill/>
            <a:miter lim="800000"/>
            <a:headEnd/>
            <a:tailEnd/>
          </a:ln>
          <a:effectLst/>
        </p:spPr>
      </p:pic>
      <p:sp>
        <p:nvSpPr>
          <p:cNvPr id="6146" name="Title 1"/>
          <p:cNvSpPr>
            <a:spLocks noGrp="1"/>
          </p:cNvSpPr>
          <p:nvPr>
            <p:ph type="title"/>
          </p:nvPr>
        </p:nvSpPr>
        <p:spPr>
          <a:xfrm>
            <a:off x="457200" y="122237"/>
            <a:ext cx="8229600" cy="563563"/>
          </a:xfrm>
        </p:spPr>
        <p:txBody>
          <a:bodyPr/>
          <a:lstStyle/>
          <a:p>
            <a:r>
              <a:rPr lang="en-US" sz="3200" dirty="0"/>
              <a:t>Example</a:t>
            </a:r>
          </a:p>
        </p:txBody>
      </p:sp>
      <p:sp>
        <p:nvSpPr>
          <p:cNvPr id="6147" name="Content Placeholder 2"/>
          <p:cNvSpPr>
            <a:spLocks noGrp="1"/>
          </p:cNvSpPr>
          <p:nvPr>
            <p:ph idx="1"/>
          </p:nvPr>
        </p:nvSpPr>
        <p:spPr>
          <a:xfrm>
            <a:off x="533400" y="723901"/>
            <a:ext cx="8229600" cy="5867400"/>
          </a:xfrm>
        </p:spPr>
        <p:txBody>
          <a:bodyPr/>
          <a:lstStyle/>
          <a:p>
            <a:pPr>
              <a:buNone/>
            </a:pPr>
            <a:endParaRPr lang="en-US" sz="24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76</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14" name="TextBox 13"/>
          <p:cNvSpPr txBox="1"/>
          <p:nvPr/>
        </p:nvSpPr>
        <p:spPr>
          <a:xfrm>
            <a:off x="3505200" y="838200"/>
            <a:ext cx="5545108" cy="369332"/>
          </a:xfrm>
          <a:prstGeom prst="rect">
            <a:avLst/>
          </a:prstGeom>
          <a:noFill/>
        </p:spPr>
        <p:txBody>
          <a:bodyPr wrap="none" rtlCol="0">
            <a:spAutoFit/>
          </a:bodyPr>
          <a:lstStyle/>
          <a:p>
            <a:r>
              <a:rPr lang="en-US" dirty="0"/>
              <a:t>Label reference and non-reference nodes and solve.</a:t>
            </a:r>
          </a:p>
        </p:txBody>
      </p:sp>
    </p:spTree>
    <p:extLst>
      <p:ext uri="{BB962C8B-B14F-4D97-AF65-F5344CB8AC3E}">
        <p14:creationId xmlns:p14="http://schemas.microsoft.com/office/powerpoint/2010/main" val="2450615285"/>
      </p:ext>
    </p:extLst>
  </p:cSld>
  <p:clrMapOvr>
    <a:masterClrMapping/>
  </p:clrMapOvr>
  <p:transition spd="me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6133" name="Picture 5"/>
          <p:cNvPicPr>
            <a:picLocks noChangeAspect="1" noChangeArrowheads="1"/>
          </p:cNvPicPr>
          <p:nvPr/>
        </p:nvPicPr>
        <p:blipFill>
          <a:blip r:embed="rId2" cstate="print"/>
          <a:srcRect/>
          <a:stretch>
            <a:fillRect/>
          </a:stretch>
        </p:blipFill>
        <p:spPr bwMode="auto">
          <a:xfrm>
            <a:off x="381000" y="761753"/>
            <a:ext cx="3276600" cy="1867147"/>
          </a:xfrm>
          <a:prstGeom prst="rect">
            <a:avLst/>
          </a:prstGeom>
          <a:noFill/>
          <a:ln w="9525">
            <a:noFill/>
            <a:miter lim="800000"/>
            <a:headEnd/>
            <a:tailEnd/>
          </a:ln>
          <a:effectLst/>
        </p:spPr>
      </p:pic>
      <p:sp>
        <p:nvSpPr>
          <p:cNvPr id="6146" name="Title 1"/>
          <p:cNvSpPr>
            <a:spLocks noGrp="1"/>
          </p:cNvSpPr>
          <p:nvPr>
            <p:ph type="title"/>
          </p:nvPr>
        </p:nvSpPr>
        <p:spPr>
          <a:xfrm>
            <a:off x="457200" y="122237"/>
            <a:ext cx="8229600" cy="563563"/>
          </a:xfrm>
        </p:spPr>
        <p:txBody>
          <a:bodyPr/>
          <a:lstStyle/>
          <a:p>
            <a:r>
              <a:rPr lang="en-US" sz="3200" dirty="0"/>
              <a:t>Example</a:t>
            </a:r>
          </a:p>
        </p:txBody>
      </p:sp>
      <p:sp>
        <p:nvSpPr>
          <p:cNvPr id="6147" name="Content Placeholder 2"/>
          <p:cNvSpPr>
            <a:spLocks noGrp="1"/>
          </p:cNvSpPr>
          <p:nvPr>
            <p:ph idx="1"/>
          </p:nvPr>
        </p:nvSpPr>
        <p:spPr>
          <a:xfrm>
            <a:off x="533400" y="723901"/>
            <a:ext cx="8229600" cy="5867400"/>
          </a:xfrm>
        </p:spPr>
        <p:txBody>
          <a:bodyPr/>
          <a:lstStyle/>
          <a:p>
            <a:pPr>
              <a:buNone/>
            </a:pPr>
            <a:endParaRPr lang="en-US" sz="24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77</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14" name="TextBox 13"/>
          <p:cNvSpPr txBox="1"/>
          <p:nvPr/>
        </p:nvSpPr>
        <p:spPr>
          <a:xfrm>
            <a:off x="3505200" y="838200"/>
            <a:ext cx="5545108" cy="369332"/>
          </a:xfrm>
          <a:prstGeom prst="rect">
            <a:avLst/>
          </a:prstGeom>
          <a:noFill/>
        </p:spPr>
        <p:txBody>
          <a:bodyPr wrap="none" rtlCol="0">
            <a:spAutoFit/>
          </a:bodyPr>
          <a:lstStyle/>
          <a:p>
            <a:r>
              <a:rPr lang="en-US" dirty="0"/>
              <a:t>Label reference and non-reference nodes and solve.</a:t>
            </a:r>
          </a:p>
        </p:txBody>
      </p:sp>
      <p:sp>
        <p:nvSpPr>
          <p:cNvPr id="8" name="TextBox 7"/>
          <p:cNvSpPr txBox="1"/>
          <p:nvPr/>
        </p:nvSpPr>
        <p:spPr>
          <a:xfrm>
            <a:off x="3810000" y="1295400"/>
            <a:ext cx="992579" cy="369332"/>
          </a:xfrm>
          <a:prstGeom prst="rect">
            <a:avLst/>
          </a:prstGeom>
          <a:noFill/>
        </p:spPr>
        <p:txBody>
          <a:bodyPr wrap="none" rtlCol="0">
            <a:spAutoFit/>
          </a:bodyPr>
          <a:lstStyle/>
          <a:p>
            <a:r>
              <a:rPr lang="en-US" dirty="0"/>
              <a:t>Node 1:</a:t>
            </a:r>
          </a:p>
        </p:txBody>
      </p:sp>
      <p:graphicFrame>
        <p:nvGraphicFramePr>
          <p:cNvPr id="9" name="Object 2"/>
          <p:cNvGraphicFramePr>
            <a:graphicFrameLocks noChangeAspect="1"/>
          </p:cNvGraphicFramePr>
          <p:nvPr/>
        </p:nvGraphicFramePr>
        <p:xfrm>
          <a:off x="4762500" y="1316038"/>
          <a:ext cx="3244850" cy="350837"/>
        </p:xfrm>
        <a:graphic>
          <a:graphicData uri="http://schemas.openxmlformats.org/presentationml/2006/ole">
            <mc:AlternateContent xmlns:mc="http://schemas.openxmlformats.org/markup-compatibility/2006">
              <mc:Choice xmlns:v="urn:schemas-microsoft-com:vml" Requires="v">
                <p:oleObj name="Equation" r:id="rId3" imgW="2006280" imgH="215640" progId="Equation.3">
                  <p:embed/>
                </p:oleObj>
              </mc:Choice>
              <mc:Fallback>
                <p:oleObj name="Equation" r:id="rId3" imgW="2006280" imgH="215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62500" y="1316038"/>
                        <a:ext cx="3244850" cy="350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Box 9"/>
          <p:cNvSpPr txBox="1"/>
          <p:nvPr/>
        </p:nvSpPr>
        <p:spPr>
          <a:xfrm>
            <a:off x="3810000" y="1649968"/>
            <a:ext cx="992579" cy="369332"/>
          </a:xfrm>
          <a:prstGeom prst="rect">
            <a:avLst/>
          </a:prstGeom>
          <a:noFill/>
        </p:spPr>
        <p:txBody>
          <a:bodyPr wrap="none" rtlCol="0">
            <a:spAutoFit/>
          </a:bodyPr>
          <a:lstStyle/>
          <a:p>
            <a:r>
              <a:rPr lang="en-US" dirty="0"/>
              <a:t>Node 2:</a:t>
            </a:r>
          </a:p>
        </p:txBody>
      </p:sp>
      <p:graphicFrame>
        <p:nvGraphicFramePr>
          <p:cNvPr id="11" name="Object 3"/>
          <p:cNvGraphicFramePr>
            <a:graphicFrameLocks noChangeAspect="1"/>
          </p:cNvGraphicFramePr>
          <p:nvPr/>
        </p:nvGraphicFramePr>
        <p:xfrm>
          <a:off x="4762500" y="1668463"/>
          <a:ext cx="3513138" cy="350837"/>
        </p:xfrm>
        <a:graphic>
          <a:graphicData uri="http://schemas.openxmlformats.org/presentationml/2006/ole">
            <mc:AlternateContent xmlns:mc="http://schemas.openxmlformats.org/markup-compatibility/2006">
              <mc:Choice xmlns:v="urn:schemas-microsoft-com:vml" Requires="v">
                <p:oleObj name="Equation" r:id="rId5" imgW="2171520" imgH="215640" progId="Equation.3">
                  <p:embed/>
                </p:oleObj>
              </mc:Choice>
              <mc:Fallback>
                <p:oleObj name="Equation" r:id="rId5" imgW="2171520" imgH="2156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62500" y="1668463"/>
                        <a:ext cx="3513138" cy="350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extBox 11"/>
          <p:cNvSpPr txBox="1"/>
          <p:nvPr/>
        </p:nvSpPr>
        <p:spPr>
          <a:xfrm>
            <a:off x="3810000" y="2019855"/>
            <a:ext cx="1313180" cy="369332"/>
          </a:xfrm>
          <a:prstGeom prst="rect">
            <a:avLst/>
          </a:prstGeom>
          <a:noFill/>
        </p:spPr>
        <p:txBody>
          <a:bodyPr wrap="none" rtlCol="0">
            <a:spAutoFit/>
          </a:bodyPr>
          <a:lstStyle/>
          <a:p>
            <a:r>
              <a:rPr lang="en-US" dirty="0"/>
              <a:t>In addition:</a:t>
            </a:r>
          </a:p>
        </p:txBody>
      </p:sp>
      <p:graphicFrame>
        <p:nvGraphicFramePr>
          <p:cNvPr id="15" name="Object 3"/>
          <p:cNvGraphicFramePr>
            <a:graphicFrameLocks noChangeAspect="1"/>
          </p:cNvGraphicFramePr>
          <p:nvPr/>
        </p:nvGraphicFramePr>
        <p:xfrm>
          <a:off x="5143500" y="2028825"/>
          <a:ext cx="3244850" cy="350838"/>
        </p:xfrm>
        <a:graphic>
          <a:graphicData uri="http://schemas.openxmlformats.org/presentationml/2006/ole">
            <mc:AlternateContent xmlns:mc="http://schemas.openxmlformats.org/markup-compatibility/2006">
              <mc:Choice xmlns:v="urn:schemas-microsoft-com:vml" Requires="v">
                <p:oleObj name="Equation" r:id="rId7" imgW="2006280" imgH="215640" progId="Equation.3">
                  <p:embed/>
                </p:oleObj>
              </mc:Choice>
              <mc:Fallback>
                <p:oleObj name="Equation" r:id="rId7" imgW="2006280" imgH="21564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43500" y="2028825"/>
                        <a:ext cx="3244850" cy="350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TextBox 15"/>
          <p:cNvSpPr txBox="1"/>
          <p:nvPr/>
        </p:nvSpPr>
        <p:spPr>
          <a:xfrm>
            <a:off x="838200" y="2705100"/>
            <a:ext cx="4121641" cy="369332"/>
          </a:xfrm>
          <a:prstGeom prst="rect">
            <a:avLst/>
          </a:prstGeom>
          <a:noFill/>
        </p:spPr>
        <p:txBody>
          <a:bodyPr wrap="none" rtlCol="0">
            <a:spAutoFit/>
          </a:bodyPr>
          <a:lstStyle/>
          <a:p>
            <a:r>
              <a:rPr lang="en-US" dirty="0"/>
              <a:t>Substituting for </a:t>
            </a:r>
            <a:r>
              <a:rPr lang="en-US" dirty="0" err="1"/>
              <a:t>i</a:t>
            </a:r>
            <a:r>
              <a:rPr lang="en-US" dirty="0"/>
              <a:t> and v into (1) and (2):</a:t>
            </a:r>
          </a:p>
        </p:txBody>
      </p:sp>
      <p:graphicFrame>
        <p:nvGraphicFramePr>
          <p:cNvPr id="178181" name="Object 5"/>
          <p:cNvGraphicFramePr>
            <a:graphicFrameLocks noChangeAspect="1"/>
          </p:cNvGraphicFramePr>
          <p:nvPr/>
        </p:nvGraphicFramePr>
        <p:xfrm>
          <a:off x="5135563" y="2705100"/>
          <a:ext cx="2217737" cy="742950"/>
        </p:xfrm>
        <a:graphic>
          <a:graphicData uri="http://schemas.openxmlformats.org/presentationml/2006/ole">
            <mc:AlternateContent xmlns:mc="http://schemas.openxmlformats.org/markup-compatibility/2006">
              <mc:Choice xmlns:v="urn:schemas-microsoft-com:vml" Requires="v">
                <p:oleObj name="Equation" r:id="rId9" imgW="1371600" imgH="457200" progId="Equation.3">
                  <p:embed/>
                </p:oleObj>
              </mc:Choice>
              <mc:Fallback>
                <p:oleObj name="Equation" r:id="rId9" imgW="1371600" imgH="4572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35563" y="2705100"/>
                        <a:ext cx="2217737" cy="742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TextBox 16"/>
          <p:cNvSpPr txBox="1"/>
          <p:nvPr/>
        </p:nvSpPr>
        <p:spPr>
          <a:xfrm>
            <a:off x="838200" y="3593068"/>
            <a:ext cx="3877985" cy="369332"/>
          </a:xfrm>
          <a:prstGeom prst="rect">
            <a:avLst/>
          </a:prstGeom>
          <a:noFill/>
        </p:spPr>
        <p:txBody>
          <a:bodyPr wrap="none" rtlCol="0">
            <a:spAutoFit/>
          </a:bodyPr>
          <a:lstStyle/>
          <a:p>
            <a:r>
              <a:rPr lang="en-US" dirty="0"/>
              <a:t>Solving the simultaneous equations:</a:t>
            </a:r>
          </a:p>
        </p:txBody>
      </p:sp>
      <p:graphicFrame>
        <p:nvGraphicFramePr>
          <p:cNvPr id="178182" name="Object 6"/>
          <p:cNvGraphicFramePr>
            <a:graphicFrameLocks noChangeAspect="1"/>
          </p:cNvGraphicFramePr>
          <p:nvPr/>
        </p:nvGraphicFramePr>
        <p:xfrm>
          <a:off x="4838700" y="3629025"/>
          <a:ext cx="965200" cy="866775"/>
        </p:xfrm>
        <a:graphic>
          <a:graphicData uri="http://schemas.openxmlformats.org/presentationml/2006/ole">
            <mc:AlternateContent xmlns:mc="http://schemas.openxmlformats.org/markup-compatibility/2006">
              <mc:Choice xmlns:v="urn:schemas-microsoft-com:vml" Requires="v">
                <p:oleObj name="Equation" r:id="rId11" imgW="596880" imgH="533160" progId="Equation.3">
                  <p:embed/>
                </p:oleObj>
              </mc:Choice>
              <mc:Fallback>
                <p:oleObj name="Equation" r:id="rId11" imgW="596880" imgH="53316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838700" y="3629025"/>
                        <a:ext cx="965200" cy="866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794178312"/>
      </p:ext>
    </p:extLst>
  </p:cSld>
  <p:clrMapOvr>
    <a:masterClrMapping/>
  </p:clrMapOvr>
  <p:transition spd="me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78</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9" name="Content Placeholder 2"/>
          <p:cNvSpPr>
            <a:spLocks noGrp="1"/>
          </p:cNvSpPr>
          <p:nvPr>
            <p:ph idx="1"/>
          </p:nvPr>
        </p:nvSpPr>
        <p:spPr>
          <a:xfrm>
            <a:off x="533400" y="723901"/>
            <a:ext cx="8229600" cy="5867400"/>
          </a:xfrm>
        </p:spPr>
        <p:txBody>
          <a:bodyPr/>
          <a:lstStyle/>
          <a:p>
            <a:r>
              <a:rPr lang="en-US" sz="2400" dirty="0"/>
              <a:t>The presence of voltage sources reduces the number of equations and the number of unknowns in nodal analysis by one per voltage source through </a:t>
            </a:r>
            <a:r>
              <a:rPr lang="en-US" sz="2400" b="1" i="1" dirty="0" err="1"/>
              <a:t>supernodes</a:t>
            </a:r>
            <a:r>
              <a:rPr lang="en-US" sz="2400" dirty="0"/>
              <a:t>.</a:t>
            </a:r>
          </a:p>
          <a:p>
            <a:pPr>
              <a:buNone/>
            </a:pPr>
            <a:endParaRPr lang="en-US" sz="2400" dirty="0"/>
          </a:p>
          <a:p>
            <a:endParaRPr lang="en-US" sz="2000" dirty="0"/>
          </a:p>
          <a:p>
            <a:pPr lvl="1">
              <a:buFont typeface="Arial" charset="0"/>
              <a:buNone/>
            </a:pPr>
            <a:endParaRPr lang="en-US" sz="2000" dirty="0"/>
          </a:p>
        </p:txBody>
      </p:sp>
      <p:sp>
        <p:nvSpPr>
          <p:cNvPr id="41" name="Title 1"/>
          <p:cNvSpPr txBox="1">
            <a:spLocks/>
          </p:cNvSpPr>
          <p:nvPr/>
        </p:nvSpPr>
        <p:spPr bwMode="auto">
          <a:xfrm>
            <a:off x="0" y="122237"/>
            <a:ext cx="73152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3200" b="0" i="0" u="none" strike="noStrike" kern="1200" cap="none" spc="0" normalizeH="0" baseline="0" noProof="0" dirty="0">
                <a:ln>
                  <a:noFill/>
                </a:ln>
                <a:solidFill>
                  <a:schemeClr val="tx1"/>
                </a:solidFill>
                <a:effectLst/>
                <a:uLnTx/>
                <a:uFillTx/>
                <a:latin typeface="+mj-lt"/>
                <a:ea typeface="+mj-ea"/>
                <a:cs typeface="+mj-cs"/>
              </a:rPr>
              <a:t>Circuits with Voltage Sources (</a:t>
            </a:r>
            <a:r>
              <a:rPr kumimoji="0" lang="en-US" sz="3200" b="0" i="0" u="none" strike="noStrike" kern="1200" cap="none" spc="0" normalizeH="0" baseline="0" noProof="0" dirty="0" err="1">
                <a:ln>
                  <a:noFill/>
                </a:ln>
                <a:solidFill>
                  <a:schemeClr val="tx1"/>
                </a:solidFill>
                <a:effectLst/>
                <a:uLnTx/>
                <a:uFillTx/>
                <a:latin typeface="+mj-lt"/>
                <a:ea typeface="+mj-ea"/>
                <a:cs typeface="+mj-cs"/>
              </a:rPr>
              <a:t>Supernodes</a:t>
            </a:r>
            <a:r>
              <a:rPr kumimoji="0" lang="en-US" sz="3200" b="0" i="0" u="none" strike="noStrike" kern="1200" cap="none" spc="0" normalizeH="0" baseline="0" noProof="0" dirty="0">
                <a:ln>
                  <a:noFill/>
                </a:ln>
                <a:solidFill>
                  <a:schemeClr val="tx1"/>
                </a:solidFill>
                <a:effectLst/>
                <a:uLnTx/>
                <a:uFillTx/>
                <a:latin typeface="+mj-lt"/>
                <a:ea typeface="+mj-ea"/>
                <a:cs typeface="+mj-cs"/>
              </a:rPr>
              <a:t>)</a:t>
            </a:r>
          </a:p>
        </p:txBody>
      </p:sp>
    </p:spTree>
    <p:extLst>
      <p:ext uri="{BB962C8B-B14F-4D97-AF65-F5344CB8AC3E}">
        <p14:creationId xmlns:p14="http://schemas.microsoft.com/office/powerpoint/2010/main" val="494864251"/>
      </p:ext>
    </p:extLst>
  </p:cSld>
  <p:clrMapOvr>
    <a:masterClrMapping/>
  </p:clrMapOvr>
  <p:transition spd="me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79</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9" name="Content Placeholder 2"/>
          <p:cNvSpPr>
            <a:spLocks noGrp="1"/>
          </p:cNvSpPr>
          <p:nvPr>
            <p:ph idx="1"/>
          </p:nvPr>
        </p:nvSpPr>
        <p:spPr>
          <a:xfrm>
            <a:off x="533400" y="723901"/>
            <a:ext cx="8229600" cy="5867400"/>
          </a:xfrm>
        </p:spPr>
        <p:txBody>
          <a:bodyPr/>
          <a:lstStyle/>
          <a:p>
            <a:r>
              <a:rPr lang="en-US" sz="2400" dirty="0"/>
              <a:t>The presence of voltage sources reduces the number of equations and the number of unknowns in nodal analysis by one per voltage source through </a:t>
            </a:r>
            <a:r>
              <a:rPr lang="en-US" sz="2400" b="1" i="1" dirty="0" err="1"/>
              <a:t>supernodes</a:t>
            </a:r>
            <a:r>
              <a:rPr lang="en-US" sz="2400" dirty="0"/>
              <a:t>.</a:t>
            </a:r>
          </a:p>
          <a:p>
            <a:pPr>
              <a:buNone/>
            </a:pPr>
            <a:r>
              <a:rPr lang="en-US" sz="2400" dirty="0"/>
              <a:t>	Example:</a:t>
            </a:r>
          </a:p>
          <a:p>
            <a:pPr>
              <a:buNone/>
            </a:pPr>
            <a:endParaRPr lang="en-US" sz="2400" dirty="0"/>
          </a:p>
          <a:p>
            <a:endParaRPr lang="en-US" sz="2000" dirty="0"/>
          </a:p>
          <a:p>
            <a:pPr lvl="1">
              <a:buFont typeface="Arial" charset="0"/>
              <a:buNone/>
            </a:pPr>
            <a:endParaRPr lang="en-US" sz="2000" dirty="0"/>
          </a:p>
        </p:txBody>
      </p:sp>
      <p:pic>
        <p:nvPicPr>
          <p:cNvPr id="180226" name="Picture 2"/>
          <p:cNvPicPr>
            <a:picLocks noChangeAspect="1" noChangeArrowheads="1"/>
          </p:cNvPicPr>
          <p:nvPr/>
        </p:nvPicPr>
        <p:blipFill>
          <a:blip r:embed="rId2" cstate="print"/>
          <a:srcRect/>
          <a:stretch>
            <a:fillRect/>
          </a:stretch>
        </p:blipFill>
        <p:spPr bwMode="auto">
          <a:xfrm>
            <a:off x="609600" y="2438400"/>
            <a:ext cx="2674914" cy="1981200"/>
          </a:xfrm>
          <a:prstGeom prst="rect">
            <a:avLst/>
          </a:prstGeom>
          <a:noFill/>
          <a:ln w="9525">
            <a:noFill/>
            <a:miter lim="800000"/>
            <a:headEnd/>
            <a:tailEnd/>
          </a:ln>
          <a:effectLst/>
        </p:spPr>
      </p:pic>
      <p:sp>
        <p:nvSpPr>
          <p:cNvPr id="7" name="TextBox 6"/>
          <p:cNvSpPr txBox="1"/>
          <p:nvPr/>
        </p:nvSpPr>
        <p:spPr>
          <a:xfrm>
            <a:off x="1866900" y="3124200"/>
            <a:ext cx="415498" cy="276999"/>
          </a:xfrm>
          <a:prstGeom prst="rect">
            <a:avLst/>
          </a:prstGeom>
          <a:noFill/>
        </p:spPr>
        <p:txBody>
          <a:bodyPr wrap="none" rtlCol="0">
            <a:spAutoFit/>
          </a:bodyPr>
          <a:lstStyle/>
          <a:p>
            <a:r>
              <a:rPr lang="en-US" sz="1200" b="1" dirty="0"/>
              <a:t>4 S</a:t>
            </a:r>
            <a:endParaRPr lang="tr-TR" sz="1200" b="1" dirty="0"/>
          </a:p>
        </p:txBody>
      </p:sp>
      <p:sp>
        <p:nvSpPr>
          <p:cNvPr id="9" name="Title 1"/>
          <p:cNvSpPr txBox="1">
            <a:spLocks/>
          </p:cNvSpPr>
          <p:nvPr/>
        </p:nvSpPr>
        <p:spPr bwMode="auto">
          <a:xfrm>
            <a:off x="0" y="122237"/>
            <a:ext cx="73152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3200" b="0" i="0" u="none" strike="noStrike" kern="1200" cap="none" spc="0" normalizeH="0" baseline="0" noProof="0" dirty="0">
                <a:ln>
                  <a:noFill/>
                </a:ln>
                <a:solidFill>
                  <a:schemeClr val="tx1"/>
                </a:solidFill>
                <a:effectLst/>
                <a:uLnTx/>
                <a:uFillTx/>
                <a:latin typeface="+mj-lt"/>
                <a:ea typeface="+mj-ea"/>
                <a:cs typeface="+mj-cs"/>
              </a:rPr>
              <a:t>Circuits with Voltage Sources (</a:t>
            </a:r>
            <a:r>
              <a:rPr kumimoji="0" lang="en-US" sz="3200" b="0" i="0" u="none" strike="noStrike" kern="1200" cap="none" spc="0" normalizeH="0" baseline="0" noProof="0" dirty="0" err="1">
                <a:ln>
                  <a:noFill/>
                </a:ln>
                <a:solidFill>
                  <a:schemeClr val="tx1"/>
                </a:solidFill>
                <a:effectLst/>
                <a:uLnTx/>
                <a:uFillTx/>
                <a:latin typeface="+mj-lt"/>
                <a:ea typeface="+mj-ea"/>
                <a:cs typeface="+mj-cs"/>
              </a:rPr>
              <a:t>Supernodes</a:t>
            </a:r>
            <a:r>
              <a:rPr kumimoji="0" lang="en-US" sz="3200" b="0" i="0" u="none" strike="noStrike" kern="1200" cap="none" spc="0" normalizeH="0" baseline="0" noProof="0" dirty="0">
                <a:ln>
                  <a:noFill/>
                </a:ln>
                <a:solidFill>
                  <a:schemeClr val="tx1"/>
                </a:solidFill>
                <a:effectLst/>
                <a:uLnTx/>
                <a:uFillTx/>
                <a:latin typeface="+mj-lt"/>
                <a:ea typeface="+mj-ea"/>
                <a:cs typeface="+mj-cs"/>
              </a:rPr>
              <a:t>)</a:t>
            </a:r>
          </a:p>
        </p:txBody>
      </p:sp>
    </p:spTree>
    <p:extLst>
      <p:ext uri="{BB962C8B-B14F-4D97-AF65-F5344CB8AC3E}">
        <p14:creationId xmlns:p14="http://schemas.microsoft.com/office/powerpoint/2010/main" val="774256100"/>
      </p:ext>
    </p:extLst>
  </p:cSld>
  <p:clrMapOvr>
    <a:masterClrMapping/>
  </p:clrMapOvr>
  <p:transition spd="me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1251" name="Picture 3"/>
          <p:cNvPicPr>
            <a:picLocks noChangeAspect="1" noChangeArrowheads="1"/>
          </p:cNvPicPr>
          <p:nvPr/>
        </p:nvPicPr>
        <p:blipFill>
          <a:blip r:embed="rId2" cstate="print"/>
          <a:srcRect/>
          <a:stretch>
            <a:fillRect/>
          </a:stretch>
        </p:blipFill>
        <p:spPr bwMode="auto">
          <a:xfrm>
            <a:off x="609600" y="2438399"/>
            <a:ext cx="2743200" cy="2121877"/>
          </a:xfrm>
          <a:prstGeom prst="rect">
            <a:avLst/>
          </a:prstGeom>
          <a:noFill/>
          <a:ln w="9525">
            <a:noFill/>
            <a:miter lim="800000"/>
            <a:headEnd/>
            <a:tailEnd/>
          </a:ln>
          <a:effectLst/>
        </p:spPr>
      </p:pic>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80</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9" name="Content Placeholder 2"/>
          <p:cNvSpPr>
            <a:spLocks noGrp="1"/>
          </p:cNvSpPr>
          <p:nvPr>
            <p:ph idx="1"/>
          </p:nvPr>
        </p:nvSpPr>
        <p:spPr>
          <a:xfrm>
            <a:off x="533400" y="723901"/>
            <a:ext cx="8229600" cy="5867400"/>
          </a:xfrm>
        </p:spPr>
        <p:txBody>
          <a:bodyPr/>
          <a:lstStyle/>
          <a:p>
            <a:r>
              <a:rPr lang="en-US" sz="2400" dirty="0"/>
              <a:t>The presence of voltage sources reduces the number of equations and the number of unknowns in nodal analysis by one per voltage source through </a:t>
            </a:r>
            <a:r>
              <a:rPr lang="en-US" sz="2400" b="1" i="1" dirty="0" err="1"/>
              <a:t>supernodes</a:t>
            </a:r>
            <a:r>
              <a:rPr lang="en-US" sz="2400" dirty="0"/>
              <a:t>.</a:t>
            </a:r>
          </a:p>
          <a:p>
            <a:pPr>
              <a:buNone/>
            </a:pPr>
            <a:r>
              <a:rPr lang="en-US" sz="2400" dirty="0"/>
              <a:t>	Example:</a:t>
            </a:r>
          </a:p>
          <a:p>
            <a:pPr>
              <a:buNone/>
            </a:pPr>
            <a:endParaRPr lang="en-US" sz="2400" dirty="0"/>
          </a:p>
          <a:p>
            <a:endParaRPr lang="en-US" sz="2000" dirty="0"/>
          </a:p>
          <a:p>
            <a:pPr lvl="1">
              <a:buFont typeface="Arial" charset="0"/>
              <a:buNone/>
            </a:pPr>
            <a:endParaRPr lang="en-US" sz="2000" dirty="0"/>
          </a:p>
        </p:txBody>
      </p:sp>
      <p:sp>
        <p:nvSpPr>
          <p:cNvPr id="10" name="TextBox 9"/>
          <p:cNvSpPr txBox="1"/>
          <p:nvPr/>
        </p:nvSpPr>
        <p:spPr>
          <a:xfrm>
            <a:off x="4114800" y="3124200"/>
            <a:ext cx="1915909" cy="369332"/>
          </a:xfrm>
          <a:prstGeom prst="rect">
            <a:avLst/>
          </a:prstGeom>
          <a:noFill/>
        </p:spPr>
        <p:txBody>
          <a:bodyPr wrap="none" rtlCol="0">
            <a:spAutoFit/>
          </a:bodyPr>
          <a:lstStyle/>
          <a:p>
            <a:r>
              <a:rPr lang="en-US" dirty="0"/>
              <a:t>Identify all nodes</a:t>
            </a:r>
          </a:p>
        </p:txBody>
      </p:sp>
      <p:sp>
        <p:nvSpPr>
          <p:cNvPr id="8" name="TextBox 7"/>
          <p:cNvSpPr txBox="1"/>
          <p:nvPr/>
        </p:nvSpPr>
        <p:spPr>
          <a:xfrm>
            <a:off x="1866900" y="3124200"/>
            <a:ext cx="415498" cy="276999"/>
          </a:xfrm>
          <a:prstGeom prst="rect">
            <a:avLst/>
          </a:prstGeom>
          <a:noFill/>
        </p:spPr>
        <p:txBody>
          <a:bodyPr wrap="none" rtlCol="0">
            <a:spAutoFit/>
          </a:bodyPr>
          <a:lstStyle/>
          <a:p>
            <a:r>
              <a:rPr lang="en-US" sz="1200" b="1" dirty="0"/>
              <a:t>4 S</a:t>
            </a:r>
            <a:endParaRPr lang="tr-TR" sz="1200" b="1" dirty="0"/>
          </a:p>
        </p:txBody>
      </p:sp>
      <p:sp>
        <p:nvSpPr>
          <p:cNvPr id="11" name="Title 1"/>
          <p:cNvSpPr txBox="1">
            <a:spLocks/>
          </p:cNvSpPr>
          <p:nvPr/>
        </p:nvSpPr>
        <p:spPr bwMode="auto">
          <a:xfrm>
            <a:off x="0" y="122237"/>
            <a:ext cx="73152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3200" b="0" i="0" u="none" strike="noStrike" kern="1200" cap="none" spc="0" normalizeH="0" baseline="0" noProof="0" dirty="0">
                <a:ln>
                  <a:noFill/>
                </a:ln>
                <a:solidFill>
                  <a:schemeClr val="tx1"/>
                </a:solidFill>
                <a:effectLst/>
                <a:uLnTx/>
                <a:uFillTx/>
                <a:latin typeface="+mj-lt"/>
                <a:ea typeface="+mj-ea"/>
                <a:cs typeface="+mj-cs"/>
              </a:rPr>
              <a:t>Circuits with Voltage Sources (</a:t>
            </a:r>
            <a:r>
              <a:rPr kumimoji="0" lang="en-US" sz="3200" b="0" i="0" u="none" strike="noStrike" kern="1200" cap="none" spc="0" normalizeH="0" baseline="0" noProof="0" dirty="0" err="1">
                <a:ln>
                  <a:noFill/>
                </a:ln>
                <a:solidFill>
                  <a:schemeClr val="tx1"/>
                </a:solidFill>
                <a:effectLst/>
                <a:uLnTx/>
                <a:uFillTx/>
                <a:latin typeface="+mj-lt"/>
                <a:ea typeface="+mj-ea"/>
                <a:cs typeface="+mj-cs"/>
              </a:rPr>
              <a:t>Supernodes</a:t>
            </a:r>
            <a:r>
              <a:rPr kumimoji="0" lang="en-US" sz="3200" b="0" i="0" u="none" strike="noStrike" kern="1200" cap="none" spc="0" normalizeH="0" baseline="0" noProof="0" dirty="0">
                <a:ln>
                  <a:noFill/>
                </a:ln>
                <a:solidFill>
                  <a:schemeClr val="tx1"/>
                </a:solidFill>
                <a:effectLst/>
                <a:uLnTx/>
                <a:uFillTx/>
                <a:latin typeface="+mj-lt"/>
                <a:ea typeface="+mj-ea"/>
                <a:cs typeface="+mj-cs"/>
              </a:rPr>
              <a:t>)</a:t>
            </a:r>
          </a:p>
        </p:txBody>
      </p:sp>
    </p:spTree>
    <p:extLst>
      <p:ext uri="{BB962C8B-B14F-4D97-AF65-F5344CB8AC3E}">
        <p14:creationId xmlns:p14="http://schemas.microsoft.com/office/powerpoint/2010/main" val="2853384435"/>
      </p:ext>
    </p:extLst>
  </p:cSld>
  <p:clrMapOvr>
    <a:masterClrMapping/>
  </p:clrMapOvr>
  <p:transition spd="me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3"/>
          <p:cNvPicPr>
            <a:picLocks noChangeAspect="1" noChangeArrowheads="1"/>
          </p:cNvPicPr>
          <p:nvPr/>
        </p:nvPicPr>
        <p:blipFill>
          <a:blip r:embed="rId2" cstate="print"/>
          <a:srcRect/>
          <a:stretch>
            <a:fillRect/>
          </a:stretch>
        </p:blipFill>
        <p:spPr bwMode="auto">
          <a:xfrm>
            <a:off x="609600" y="2438399"/>
            <a:ext cx="2743200" cy="2121877"/>
          </a:xfrm>
          <a:prstGeom prst="rect">
            <a:avLst/>
          </a:prstGeom>
          <a:noFill/>
          <a:ln w="9525">
            <a:noFill/>
            <a:miter lim="800000"/>
            <a:headEnd/>
            <a:tailEnd/>
          </a:ln>
          <a:effectLst/>
        </p:spPr>
      </p:pic>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81</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9" name="Content Placeholder 2"/>
          <p:cNvSpPr>
            <a:spLocks noGrp="1"/>
          </p:cNvSpPr>
          <p:nvPr>
            <p:ph idx="1"/>
          </p:nvPr>
        </p:nvSpPr>
        <p:spPr>
          <a:xfrm>
            <a:off x="533400" y="723901"/>
            <a:ext cx="8229600" cy="5867400"/>
          </a:xfrm>
        </p:spPr>
        <p:txBody>
          <a:bodyPr/>
          <a:lstStyle/>
          <a:p>
            <a:r>
              <a:rPr lang="en-US" sz="2400" dirty="0"/>
              <a:t>The presence of voltage sources reduces the number of equations and the number of unknowns in nodal analysis by one per voltage source through </a:t>
            </a:r>
            <a:r>
              <a:rPr lang="en-US" sz="2400" b="1" i="1" dirty="0" err="1"/>
              <a:t>supernodes</a:t>
            </a:r>
            <a:r>
              <a:rPr lang="en-US" sz="2400" dirty="0"/>
              <a:t>.</a:t>
            </a:r>
          </a:p>
          <a:p>
            <a:pPr>
              <a:buNone/>
            </a:pPr>
            <a:r>
              <a:rPr lang="en-US" sz="2400" dirty="0"/>
              <a:t>	Example:</a:t>
            </a:r>
          </a:p>
          <a:p>
            <a:pPr>
              <a:buNone/>
            </a:pPr>
            <a:endParaRPr lang="en-US" sz="2400" dirty="0"/>
          </a:p>
          <a:p>
            <a:endParaRPr lang="en-US" sz="2000" dirty="0"/>
          </a:p>
          <a:p>
            <a:pPr lvl="1">
              <a:buFont typeface="Arial" charset="0"/>
              <a:buNone/>
            </a:pPr>
            <a:endParaRPr lang="en-US" sz="2000" dirty="0"/>
          </a:p>
        </p:txBody>
      </p:sp>
      <p:sp>
        <p:nvSpPr>
          <p:cNvPr id="7" name="Oval 6"/>
          <p:cNvSpPr/>
          <p:nvPr/>
        </p:nvSpPr>
        <p:spPr>
          <a:xfrm>
            <a:off x="571500" y="2705100"/>
            <a:ext cx="685800" cy="1790700"/>
          </a:xfrm>
          <a:prstGeom prst="ellipse">
            <a:avLst/>
          </a:prstGeom>
          <a:no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4038600" y="3124200"/>
            <a:ext cx="2198038" cy="369332"/>
          </a:xfrm>
          <a:prstGeom prst="rect">
            <a:avLst/>
          </a:prstGeom>
          <a:noFill/>
        </p:spPr>
        <p:txBody>
          <a:bodyPr wrap="none" rtlCol="0">
            <a:spAutoFit/>
          </a:bodyPr>
          <a:lstStyle/>
          <a:p>
            <a:r>
              <a:rPr lang="en-US" dirty="0"/>
              <a:t>Identify </a:t>
            </a:r>
            <a:r>
              <a:rPr lang="en-US" dirty="0" err="1"/>
              <a:t>supernodes</a:t>
            </a:r>
            <a:endParaRPr lang="en-US" dirty="0"/>
          </a:p>
        </p:txBody>
      </p:sp>
      <p:sp>
        <p:nvSpPr>
          <p:cNvPr id="14" name="Freeform 13"/>
          <p:cNvSpPr/>
          <p:nvPr/>
        </p:nvSpPr>
        <p:spPr>
          <a:xfrm>
            <a:off x="2536371" y="2531530"/>
            <a:ext cx="914400" cy="1300241"/>
          </a:xfrm>
          <a:custGeom>
            <a:avLst/>
            <a:gdLst>
              <a:gd name="connsiteX0" fmla="*/ 609600 w 914400"/>
              <a:gd name="connsiteY0" fmla="*/ 4841 h 1300241"/>
              <a:gd name="connsiteX1" fmla="*/ 478972 w 914400"/>
              <a:gd name="connsiteY1" fmla="*/ 37499 h 1300241"/>
              <a:gd name="connsiteX2" fmla="*/ 457200 w 914400"/>
              <a:gd name="connsiteY2" fmla="*/ 70156 h 1300241"/>
              <a:gd name="connsiteX3" fmla="*/ 435429 w 914400"/>
              <a:gd name="connsiteY3" fmla="*/ 581784 h 1300241"/>
              <a:gd name="connsiteX4" fmla="*/ 391886 w 914400"/>
              <a:gd name="connsiteY4" fmla="*/ 745070 h 1300241"/>
              <a:gd name="connsiteX5" fmla="*/ 370115 w 914400"/>
              <a:gd name="connsiteY5" fmla="*/ 777727 h 1300241"/>
              <a:gd name="connsiteX6" fmla="*/ 76200 w 914400"/>
              <a:gd name="connsiteY6" fmla="*/ 788613 h 1300241"/>
              <a:gd name="connsiteX7" fmla="*/ 21772 w 914400"/>
              <a:gd name="connsiteY7" fmla="*/ 832156 h 1300241"/>
              <a:gd name="connsiteX8" fmla="*/ 0 w 914400"/>
              <a:gd name="connsiteY8" fmla="*/ 897470 h 1300241"/>
              <a:gd name="connsiteX9" fmla="*/ 10886 w 914400"/>
              <a:gd name="connsiteY9" fmla="*/ 1147841 h 1300241"/>
              <a:gd name="connsiteX10" fmla="*/ 32658 w 914400"/>
              <a:gd name="connsiteY10" fmla="*/ 1180499 h 1300241"/>
              <a:gd name="connsiteX11" fmla="*/ 76200 w 914400"/>
              <a:gd name="connsiteY11" fmla="*/ 1202270 h 1300241"/>
              <a:gd name="connsiteX12" fmla="*/ 108858 w 914400"/>
              <a:gd name="connsiteY12" fmla="*/ 1256699 h 1300241"/>
              <a:gd name="connsiteX13" fmla="*/ 119743 w 914400"/>
              <a:gd name="connsiteY13" fmla="*/ 1289356 h 1300241"/>
              <a:gd name="connsiteX14" fmla="*/ 152400 w 914400"/>
              <a:gd name="connsiteY14" fmla="*/ 1300241 h 1300241"/>
              <a:gd name="connsiteX15" fmla="*/ 435429 w 914400"/>
              <a:gd name="connsiteY15" fmla="*/ 1289356 h 1300241"/>
              <a:gd name="connsiteX16" fmla="*/ 468086 w 914400"/>
              <a:gd name="connsiteY16" fmla="*/ 1267584 h 1300241"/>
              <a:gd name="connsiteX17" fmla="*/ 511629 w 914400"/>
              <a:gd name="connsiteY17" fmla="*/ 1224041 h 1300241"/>
              <a:gd name="connsiteX18" fmla="*/ 783772 w 914400"/>
              <a:gd name="connsiteY18" fmla="*/ 1213156 h 1300241"/>
              <a:gd name="connsiteX19" fmla="*/ 805543 w 914400"/>
              <a:gd name="connsiteY19" fmla="*/ 1191384 h 1300241"/>
              <a:gd name="connsiteX20" fmla="*/ 838200 w 914400"/>
              <a:gd name="connsiteY20" fmla="*/ 1180499 h 1300241"/>
              <a:gd name="connsiteX21" fmla="*/ 849086 w 914400"/>
              <a:gd name="connsiteY21" fmla="*/ 1147841 h 1300241"/>
              <a:gd name="connsiteX22" fmla="*/ 881743 w 914400"/>
              <a:gd name="connsiteY22" fmla="*/ 1126070 h 1300241"/>
              <a:gd name="connsiteX23" fmla="*/ 903515 w 914400"/>
              <a:gd name="connsiteY23" fmla="*/ 1104299 h 1300241"/>
              <a:gd name="connsiteX24" fmla="*/ 914400 w 914400"/>
              <a:gd name="connsiteY24" fmla="*/ 1071641 h 1300241"/>
              <a:gd name="connsiteX25" fmla="*/ 903515 w 914400"/>
              <a:gd name="connsiteY25" fmla="*/ 962784 h 1300241"/>
              <a:gd name="connsiteX26" fmla="*/ 892629 w 914400"/>
              <a:gd name="connsiteY26" fmla="*/ 930127 h 1300241"/>
              <a:gd name="connsiteX27" fmla="*/ 881743 w 914400"/>
              <a:gd name="connsiteY27" fmla="*/ 886584 h 1300241"/>
              <a:gd name="connsiteX28" fmla="*/ 870858 w 914400"/>
              <a:gd name="connsiteY28" fmla="*/ 472927 h 1300241"/>
              <a:gd name="connsiteX29" fmla="*/ 859972 w 914400"/>
              <a:gd name="connsiteY29" fmla="*/ 396727 h 1300241"/>
              <a:gd name="connsiteX30" fmla="*/ 849086 w 914400"/>
              <a:gd name="connsiteY30" fmla="*/ 298756 h 1300241"/>
              <a:gd name="connsiteX31" fmla="*/ 816429 w 914400"/>
              <a:gd name="connsiteY31" fmla="*/ 189899 h 1300241"/>
              <a:gd name="connsiteX32" fmla="*/ 772886 w 914400"/>
              <a:gd name="connsiteY32" fmla="*/ 179013 h 1300241"/>
              <a:gd name="connsiteX33" fmla="*/ 707572 w 914400"/>
              <a:gd name="connsiteY33" fmla="*/ 91927 h 1300241"/>
              <a:gd name="connsiteX34" fmla="*/ 653143 w 914400"/>
              <a:gd name="connsiteY34" fmla="*/ 15727 h 1300241"/>
              <a:gd name="connsiteX35" fmla="*/ 555172 w 914400"/>
              <a:gd name="connsiteY35" fmla="*/ 15727 h 1300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914400" h="1300241">
                <a:moveTo>
                  <a:pt x="609600" y="4841"/>
                </a:moveTo>
                <a:cubicBezTo>
                  <a:pt x="555128" y="10894"/>
                  <a:pt x="516471" y="0"/>
                  <a:pt x="478972" y="37499"/>
                </a:cubicBezTo>
                <a:cubicBezTo>
                  <a:pt x="469721" y="46750"/>
                  <a:pt x="464457" y="59270"/>
                  <a:pt x="457200" y="70156"/>
                </a:cubicBezTo>
                <a:cubicBezTo>
                  <a:pt x="395304" y="255855"/>
                  <a:pt x="453710" y="69938"/>
                  <a:pt x="435429" y="581784"/>
                </a:cubicBezTo>
                <a:cubicBezTo>
                  <a:pt x="429181" y="756732"/>
                  <a:pt x="453355" y="671307"/>
                  <a:pt x="391886" y="745070"/>
                </a:cubicBezTo>
                <a:cubicBezTo>
                  <a:pt x="383511" y="755121"/>
                  <a:pt x="383075" y="775939"/>
                  <a:pt x="370115" y="777727"/>
                </a:cubicBezTo>
                <a:cubicBezTo>
                  <a:pt x="272996" y="791123"/>
                  <a:pt x="174172" y="784984"/>
                  <a:pt x="76200" y="788613"/>
                </a:cubicBezTo>
                <a:cubicBezTo>
                  <a:pt x="64660" y="796306"/>
                  <a:pt x="29529" y="816643"/>
                  <a:pt x="21772" y="832156"/>
                </a:cubicBezTo>
                <a:cubicBezTo>
                  <a:pt x="11509" y="852682"/>
                  <a:pt x="0" y="897470"/>
                  <a:pt x="0" y="897470"/>
                </a:cubicBezTo>
                <a:cubicBezTo>
                  <a:pt x="3629" y="980927"/>
                  <a:pt x="1311" y="1064856"/>
                  <a:pt x="10886" y="1147841"/>
                </a:cubicBezTo>
                <a:cubicBezTo>
                  <a:pt x="12386" y="1160838"/>
                  <a:pt x="22607" y="1172123"/>
                  <a:pt x="32658" y="1180499"/>
                </a:cubicBezTo>
                <a:cubicBezTo>
                  <a:pt x="45124" y="1190887"/>
                  <a:pt x="61686" y="1195013"/>
                  <a:pt x="76200" y="1202270"/>
                </a:cubicBezTo>
                <a:cubicBezTo>
                  <a:pt x="107040" y="1294786"/>
                  <a:pt x="64028" y="1181981"/>
                  <a:pt x="108858" y="1256699"/>
                </a:cubicBezTo>
                <a:cubicBezTo>
                  <a:pt x="114761" y="1266538"/>
                  <a:pt x="111629" y="1281242"/>
                  <a:pt x="119743" y="1289356"/>
                </a:cubicBezTo>
                <a:cubicBezTo>
                  <a:pt x="127857" y="1297470"/>
                  <a:pt x="141514" y="1296613"/>
                  <a:pt x="152400" y="1300241"/>
                </a:cubicBezTo>
                <a:cubicBezTo>
                  <a:pt x="246743" y="1296613"/>
                  <a:pt x="341517" y="1299071"/>
                  <a:pt x="435429" y="1289356"/>
                </a:cubicBezTo>
                <a:cubicBezTo>
                  <a:pt x="448443" y="1288010"/>
                  <a:pt x="458153" y="1276098"/>
                  <a:pt x="468086" y="1267584"/>
                </a:cubicBezTo>
                <a:cubicBezTo>
                  <a:pt x="483671" y="1254226"/>
                  <a:pt x="491119" y="1224861"/>
                  <a:pt x="511629" y="1224041"/>
                </a:cubicBezTo>
                <a:lnTo>
                  <a:pt x="783772" y="1213156"/>
                </a:lnTo>
                <a:cubicBezTo>
                  <a:pt x="791029" y="1205899"/>
                  <a:pt x="796742" y="1196664"/>
                  <a:pt x="805543" y="1191384"/>
                </a:cubicBezTo>
                <a:cubicBezTo>
                  <a:pt x="815382" y="1185480"/>
                  <a:pt x="830086" y="1188613"/>
                  <a:pt x="838200" y="1180499"/>
                </a:cubicBezTo>
                <a:cubicBezTo>
                  <a:pt x="846314" y="1172385"/>
                  <a:pt x="841918" y="1156801"/>
                  <a:pt x="849086" y="1147841"/>
                </a:cubicBezTo>
                <a:cubicBezTo>
                  <a:pt x="857259" y="1137625"/>
                  <a:pt x="871527" y="1134243"/>
                  <a:pt x="881743" y="1126070"/>
                </a:cubicBezTo>
                <a:cubicBezTo>
                  <a:pt x="889757" y="1119659"/>
                  <a:pt x="896258" y="1111556"/>
                  <a:pt x="903515" y="1104299"/>
                </a:cubicBezTo>
                <a:cubicBezTo>
                  <a:pt x="907143" y="1093413"/>
                  <a:pt x="914400" y="1083116"/>
                  <a:pt x="914400" y="1071641"/>
                </a:cubicBezTo>
                <a:cubicBezTo>
                  <a:pt x="914400" y="1035174"/>
                  <a:pt x="909060" y="998827"/>
                  <a:pt x="903515" y="962784"/>
                </a:cubicBezTo>
                <a:cubicBezTo>
                  <a:pt x="901770" y="951443"/>
                  <a:pt x="895781" y="941160"/>
                  <a:pt x="892629" y="930127"/>
                </a:cubicBezTo>
                <a:cubicBezTo>
                  <a:pt x="888519" y="915742"/>
                  <a:pt x="885372" y="901098"/>
                  <a:pt x="881743" y="886584"/>
                </a:cubicBezTo>
                <a:cubicBezTo>
                  <a:pt x="878115" y="748698"/>
                  <a:pt x="876982" y="610724"/>
                  <a:pt x="870858" y="472927"/>
                </a:cubicBezTo>
                <a:cubicBezTo>
                  <a:pt x="869719" y="447294"/>
                  <a:pt x="863155" y="422187"/>
                  <a:pt x="859972" y="396727"/>
                </a:cubicBezTo>
                <a:cubicBezTo>
                  <a:pt x="855896" y="364123"/>
                  <a:pt x="853162" y="331360"/>
                  <a:pt x="849086" y="298756"/>
                </a:cubicBezTo>
                <a:cubicBezTo>
                  <a:pt x="846111" y="274954"/>
                  <a:pt x="847455" y="210583"/>
                  <a:pt x="816429" y="189899"/>
                </a:cubicBezTo>
                <a:cubicBezTo>
                  <a:pt x="803981" y="181600"/>
                  <a:pt x="787400" y="182642"/>
                  <a:pt x="772886" y="179013"/>
                </a:cubicBezTo>
                <a:cubicBezTo>
                  <a:pt x="747098" y="153223"/>
                  <a:pt x="719880" y="128851"/>
                  <a:pt x="707572" y="91927"/>
                </a:cubicBezTo>
                <a:cubicBezTo>
                  <a:pt x="691502" y="43720"/>
                  <a:pt x="702906" y="19874"/>
                  <a:pt x="653143" y="15727"/>
                </a:cubicBezTo>
                <a:cubicBezTo>
                  <a:pt x="620599" y="13015"/>
                  <a:pt x="587829" y="15727"/>
                  <a:pt x="555172" y="15727"/>
                </a:cubicBezTo>
              </a:path>
            </a:pathLst>
          </a:cu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p:cNvSpPr txBox="1"/>
          <p:nvPr/>
        </p:nvSpPr>
        <p:spPr>
          <a:xfrm>
            <a:off x="190500" y="4495800"/>
            <a:ext cx="1518429" cy="369332"/>
          </a:xfrm>
          <a:prstGeom prst="rect">
            <a:avLst/>
          </a:prstGeom>
          <a:noFill/>
        </p:spPr>
        <p:txBody>
          <a:bodyPr wrap="none" rtlCol="0">
            <a:spAutoFit/>
          </a:bodyPr>
          <a:lstStyle/>
          <a:p>
            <a:r>
              <a:rPr lang="en-US" dirty="0" err="1"/>
              <a:t>Supernode</a:t>
            </a:r>
            <a:r>
              <a:rPr lang="en-US" dirty="0"/>
              <a:t> A</a:t>
            </a:r>
          </a:p>
        </p:txBody>
      </p:sp>
      <p:sp>
        <p:nvSpPr>
          <p:cNvPr id="16" name="TextBox 15"/>
          <p:cNvSpPr txBox="1"/>
          <p:nvPr/>
        </p:nvSpPr>
        <p:spPr>
          <a:xfrm>
            <a:off x="2857500" y="2133600"/>
            <a:ext cx="1518429" cy="369332"/>
          </a:xfrm>
          <a:prstGeom prst="rect">
            <a:avLst/>
          </a:prstGeom>
          <a:noFill/>
        </p:spPr>
        <p:txBody>
          <a:bodyPr wrap="none" rtlCol="0">
            <a:spAutoFit/>
          </a:bodyPr>
          <a:lstStyle/>
          <a:p>
            <a:r>
              <a:rPr lang="en-US" dirty="0" err="1"/>
              <a:t>Supernode</a:t>
            </a:r>
            <a:r>
              <a:rPr lang="en-US" dirty="0"/>
              <a:t> B</a:t>
            </a:r>
          </a:p>
        </p:txBody>
      </p:sp>
      <p:sp>
        <p:nvSpPr>
          <p:cNvPr id="12" name="TextBox 11"/>
          <p:cNvSpPr txBox="1"/>
          <p:nvPr/>
        </p:nvSpPr>
        <p:spPr>
          <a:xfrm>
            <a:off x="1866900" y="3124200"/>
            <a:ext cx="415498" cy="276999"/>
          </a:xfrm>
          <a:prstGeom prst="rect">
            <a:avLst/>
          </a:prstGeom>
          <a:noFill/>
        </p:spPr>
        <p:txBody>
          <a:bodyPr wrap="none" rtlCol="0">
            <a:spAutoFit/>
          </a:bodyPr>
          <a:lstStyle/>
          <a:p>
            <a:r>
              <a:rPr lang="en-US" sz="1200" b="1" dirty="0"/>
              <a:t>4 S</a:t>
            </a:r>
            <a:endParaRPr lang="tr-TR" sz="1200" b="1" dirty="0"/>
          </a:p>
        </p:txBody>
      </p:sp>
      <p:sp>
        <p:nvSpPr>
          <p:cNvPr id="18" name="Title 1"/>
          <p:cNvSpPr txBox="1">
            <a:spLocks/>
          </p:cNvSpPr>
          <p:nvPr/>
        </p:nvSpPr>
        <p:spPr bwMode="auto">
          <a:xfrm>
            <a:off x="0" y="122237"/>
            <a:ext cx="73152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3200" b="0" i="0" u="none" strike="noStrike" kern="1200" cap="none" spc="0" normalizeH="0" baseline="0" noProof="0" dirty="0">
                <a:ln>
                  <a:noFill/>
                </a:ln>
                <a:solidFill>
                  <a:schemeClr val="tx1"/>
                </a:solidFill>
                <a:effectLst/>
                <a:uLnTx/>
                <a:uFillTx/>
                <a:latin typeface="+mj-lt"/>
                <a:ea typeface="+mj-ea"/>
                <a:cs typeface="+mj-cs"/>
              </a:rPr>
              <a:t>Circuits with Voltage Sources (</a:t>
            </a:r>
            <a:r>
              <a:rPr kumimoji="0" lang="en-US" sz="3200" b="0" i="0" u="none" strike="noStrike" kern="1200" cap="none" spc="0" normalizeH="0" baseline="0" noProof="0" dirty="0" err="1">
                <a:ln>
                  <a:noFill/>
                </a:ln>
                <a:solidFill>
                  <a:schemeClr val="tx1"/>
                </a:solidFill>
                <a:effectLst/>
                <a:uLnTx/>
                <a:uFillTx/>
                <a:latin typeface="+mj-lt"/>
                <a:ea typeface="+mj-ea"/>
                <a:cs typeface="+mj-cs"/>
              </a:rPr>
              <a:t>Supernodes</a:t>
            </a:r>
            <a:r>
              <a:rPr kumimoji="0" lang="en-US" sz="3200" b="0" i="0" u="none" strike="noStrike" kern="1200" cap="none" spc="0" normalizeH="0" baseline="0" noProof="0" dirty="0">
                <a:ln>
                  <a:noFill/>
                </a:ln>
                <a:solidFill>
                  <a:schemeClr val="tx1"/>
                </a:solidFill>
                <a:effectLst/>
                <a:uLnTx/>
                <a:uFillTx/>
                <a:latin typeface="+mj-lt"/>
                <a:ea typeface="+mj-ea"/>
                <a:cs typeface="+mj-cs"/>
              </a:rPr>
              <a:t>)</a:t>
            </a:r>
          </a:p>
        </p:txBody>
      </p:sp>
    </p:spTree>
    <p:extLst>
      <p:ext uri="{BB962C8B-B14F-4D97-AF65-F5344CB8AC3E}">
        <p14:creationId xmlns:p14="http://schemas.microsoft.com/office/powerpoint/2010/main" val="3904966158"/>
      </p:ext>
    </p:extLst>
  </p:cSld>
  <p:clrMapOvr>
    <a:masterClrMapping/>
  </p:clrMapOvr>
  <p:transition spd="me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3"/>
          <p:cNvPicPr>
            <a:picLocks noChangeAspect="1" noChangeArrowheads="1"/>
          </p:cNvPicPr>
          <p:nvPr/>
        </p:nvPicPr>
        <p:blipFill>
          <a:blip r:embed="rId2" cstate="print"/>
          <a:srcRect/>
          <a:stretch>
            <a:fillRect/>
          </a:stretch>
        </p:blipFill>
        <p:spPr bwMode="auto">
          <a:xfrm>
            <a:off x="609600" y="2438399"/>
            <a:ext cx="2743200" cy="2121877"/>
          </a:xfrm>
          <a:prstGeom prst="rect">
            <a:avLst/>
          </a:prstGeom>
          <a:noFill/>
          <a:ln w="9525">
            <a:noFill/>
            <a:miter lim="800000"/>
            <a:headEnd/>
            <a:tailEnd/>
          </a:ln>
          <a:effectLst/>
        </p:spPr>
      </p:pic>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82</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9" name="Content Placeholder 2"/>
          <p:cNvSpPr>
            <a:spLocks noGrp="1"/>
          </p:cNvSpPr>
          <p:nvPr>
            <p:ph idx="1"/>
          </p:nvPr>
        </p:nvSpPr>
        <p:spPr>
          <a:xfrm>
            <a:off x="533400" y="723901"/>
            <a:ext cx="8229600" cy="5867400"/>
          </a:xfrm>
        </p:spPr>
        <p:txBody>
          <a:bodyPr/>
          <a:lstStyle/>
          <a:p>
            <a:r>
              <a:rPr lang="en-US" sz="2400" dirty="0"/>
              <a:t>The presence of voltage sources reduces the number of equations and the number of unknowns in nodal analysis by one per voltage source through </a:t>
            </a:r>
            <a:r>
              <a:rPr lang="en-US" sz="2400" b="1" i="1" dirty="0" err="1"/>
              <a:t>supernodes</a:t>
            </a:r>
            <a:r>
              <a:rPr lang="en-US" sz="2400" dirty="0"/>
              <a:t>.</a:t>
            </a:r>
          </a:p>
          <a:p>
            <a:pPr>
              <a:buNone/>
            </a:pPr>
            <a:r>
              <a:rPr lang="en-US" sz="2400" dirty="0"/>
              <a:t>	Example:</a:t>
            </a:r>
          </a:p>
          <a:p>
            <a:pPr>
              <a:buNone/>
            </a:pPr>
            <a:endParaRPr lang="en-US" sz="2400" dirty="0"/>
          </a:p>
          <a:p>
            <a:endParaRPr lang="en-US" sz="2000" dirty="0"/>
          </a:p>
          <a:p>
            <a:pPr lvl="1">
              <a:buFont typeface="Arial" charset="0"/>
              <a:buNone/>
            </a:pPr>
            <a:endParaRPr lang="en-US" sz="2000" dirty="0"/>
          </a:p>
        </p:txBody>
      </p:sp>
      <p:sp>
        <p:nvSpPr>
          <p:cNvPr id="7" name="Oval 6"/>
          <p:cNvSpPr/>
          <p:nvPr/>
        </p:nvSpPr>
        <p:spPr>
          <a:xfrm>
            <a:off x="571500" y="2705100"/>
            <a:ext cx="685800" cy="1790700"/>
          </a:xfrm>
          <a:prstGeom prst="ellipse">
            <a:avLst/>
          </a:prstGeom>
          <a:no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4648200" y="2133600"/>
            <a:ext cx="4314001" cy="1200329"/>
          </a:xfrm>
          <a:prstGeom prst="rect">
            <a:avLst/>
          </a:prstGeom>
          <a:noFill/>
        </p:spPr>
        <p:txBody>
          <a:bodyPr wrap="none" rtlCol="0">
            <a:spAutoFit/>
          </a:bodyPr>
          <a:lstStyle/>
          <a:p>
            <a:r>
              <a:rPr lang="en-US" dirty="0"/>
              <a:t>Do KCL on all nodes (nodes 2,3) and </a:t>
            </a:r>
          </a:p>
          <a:p>
            <a:r>
              <a:rPr lang="en-US" dirty="0" err="1"/>
              <a:t>supernodes</a:t>
            </a:r>
            <a:r>
              <a:rPr lang="en-US" dirty="0"/>
              <a:t> (</a:t>
            </a:r>
            <a:r>
              <a:rPr lang="en-US" dirty="0" err="1"/>
              <a:t>supernode</a:t>
            </a:r>
            <a:r>
              <a:rPr lang="en-US" dirty="0"/>
              <a:t> B) except</a:t>
            </a:r>
          </a:p>
          <a:p>
            <a:r>
              <a:rPr lang="en-US" dirty="0"/>
              <a:t>the </a:t>
            </a:r>
            <a:r>
              <a:rPr lang="en-US" dirty="0" err="1"/>
              <a:t>supernodes</a:t>
            </a:r>
            <a:r>
              <a:rPr lang="en-US" dirty="0"/>
              <a:t> containing the reference</a:t>
            </a:r>
          </a:p>
          <a:p>
            <a:r>
              <a:rPr lang="en-US" dirty="0"/>
              <a:t>node (</a:t>
            </a:r>
            <a:r>
              <a:rPr lang="en-US" dirty="0" err="1"/>
              <a:t>supernode</a:t>
            </a:r>
            <a:r>
              <a:rPr lang="en-US" dirty="0"/>
              <a:t> A).</a:t>
            </a:r>
          </a:p>
        </p:txBody>
      </p:sp>
      <p:sp>
        <p:nvSpPr>
          <p:cNvPr id="14" name="Freeform 13"/>
          <p:cNvSpPr/>
          <p:nvPr/>
        </p:nvSpPr>
        <p:spPr>
          <a:xfrm>
            <a:off x="2536371" y="2531530"/>
            <a:ext cx="914400" cy="1300241"/>
          </a:xfrm>
          <a:custGeom>
            <a:avLst/>
            <a:gdLst>
              <a:gd name="connsiteX0" fmla="*/ 609600 w 914400"/>
              <a:gd name="connsiteY0" fmla="*/ 4841 h 1300241"/>
              <a:gd name="connsiteX1" fmla="*/ 478972 w 914400"/>
              <a:gd name="connsiteY1" fmla="*/ 37499 h 1300241"/>
              <a:gd name="connsiteX2" fmla="*/ 457200 w 914400"/>
              <a:gd name="connsiteY2" fmla="*/ 70156 h 1300241"/>
              <a:gd name="connsiteX3" fmla="*/ 435429 w 914400"/>
              <a:gd name="connsiteY3" fmla="*/ 581784 h 1300241"/>
              <a:gd name="connsiteX4" fmla="*/ 391886 w 914400"/>
              <a:gd name="connsiteY4" fmla="*/ 745070 h 1300241"/>
              <a:gd name="connsiteX5" fmla="*/ 370115 w 914400"/>
              <a:gd name="connsiteY5" fmla="*/ 777727 h 1300241"/>
              <a:gd name="connsiteX6" fmla="*/ 76200 w 914400"/>
              <a:gd name="connsiteY6" fmla="*/ 788613 h 1300241"/>
              <a:gd name="connsiteX7" fmla="*/ 21772 w 914400"/>
              <a:gd name="connsiteY7" fmla="*/ 832156 h 1300241"/>
              <a:gd name="connsiteX8" fmla="*/ 0 w 914400"/>
              <a:gd name="connsiteY8" fmla="*/ 897470 h 1300241"/>
              <a:gd name="connsiteX9" fmla="*/ 10886 w 914400"/>
              <a:gd name="connsiteY9" fmla="*/ 1147841 h 1300241"/>
              <a:gd name="connsiteX10" fmla="*/ 32658 w 914400"/>
              <a:gd name="connsiteY10" fmla="*/ 1180499 h 1300241"/>
              <a:gd name="connsiteX11" fmla="*/ 76200 w 914400"/>
              <a:gd name="connsiteY11" fmla="*/ 1202270 h 1300241"/>
              <a:gd name="connsiteX12" fmla="*/ 108858 w 914400"/>
              <a:gd name="connsiteY12" fmla="*/ 1256699 h 1300241"/>
              <a:gd name="connsiteX13" fmla="*/ 119743 w 914400"/>
              <a:gd name="connsiteY13" fmla="*/ 1289356 h 1300241"/>
              <a:gd name="connsiteX14" fmla="*/ 152400 w 914400"/>
              <a:gd name="connsiteY14" fmla="*/ 1300241 h 1300241"/>
              <a:gd name="connsiteX15" fmla="*/ 435429 w 914400"/>
              <a:gd name="connsiteY15" fmla="*/ 1289356 h 1300241"/>
              <a:gd name="connsiteX16" fmla="*/ 468086 w 914400"/>
              <a:gd name="connsiteY16" fmla="*/ 1267584 h 1300241"/>
              <a:gd name="connsiteX17" fmla="*/ 511629 w 914400"/>
              <a:gd name="connsiteY17" fmla="*/ 1224041 h 1300241"/>
              <a:gd name="connsiteX18" fmla="*/ 783772 w 914400"/>
              <a:gd name="connsiteY18" fmla="*/ 1213156 h 1300241"/>
              <a:gd name="connsiteX19" fmla="*/ 805543 w 914400"/>
              <a:gd name="connsiteY19" fmla="*/ 1191384 h 1300241"/>
              <a:gd name="connsiteX20" fmla="*/ 838200 w 914400"/>
              <a:gd name="connsiteY20" fmla="*/ 1180499 h 1300241"/>
              <a:gd name="connsiteX21" fmla="*/ 849086 w 914400"/>
              <a:gd name="connsiteY21" fmla="*/ 1147841 h 1300241"/>
              <a:gd name="connsiteX22" fmla="*/ 881743 w 914400"/>
              <a:gd name="connsiteY22" fmla="*/ 1126070 h 1300241"/>
              <a:gd name="connsiteX23" fmla="*/ 903515 w 914400"/>
              <a:gd name="connsiteY23" fmla="*/ 1104299 h 1300241"/>
              <a:gd name="connsiteX24" fmla="*/ 914400 w 914400"/>
              <a:gd name="connsiteY24" fmla="*/ 1071641 h 1300241"/>
              <a:gd name="connsiteX25" fmla="*/ 903515 w 914400"/>
              <a:gd name="connsiteY25" fmla="*/ 962784 h 1300241"/>
              <a:gd name="connsiteX26" fmla="*/ 892629 w 914400"/>
              <a:gd name="connsiteY26" fmla="*/ 930127 h 1300241"/>
              <a:gd name="connsiteX27" fmla="*/ 881743 w 914400"/>
              <a:gd name="connsiteY27" fmla="*/ 886584 h 1300241"/>
              <a:gd name="connsiteX28" fmla="*/ 870858 w 914400"/>
              <a:gd name="connsiteY28" fmla="*/ 472927 h 1300241"/>
              <a:gd name="connsiteX29" fmla="*/ 859972 w 914400"/>
              <a:gd name="connsiteY29" fmla="*/ 396727 h 1300241"/>
              <a:gd name="connsiteX30" fmla="*/ 849086 w 914400"/>
              <a:gd name="connsiteY30" fmla="*/ 298756 h 1300241"/>
              <a:gd name="connsiteX31" fmla="*/ 816429 w 914400"/>
              <a:gd name="connsiteY31" fmla="*/ 189899 h 1300241"/>
              <a:gd name="connsiteX32" fmla="*/ 772886 w 914400"/>
              <a:gd name="connsiteY32" fmla="*/ 179013 h 1300241"/>
              <a:gd name="connsiteX33" fmla="*/ 707572 w 914400"/>
              <a:gd name="connsiteY33" fmla="*/ 91927 h 1300241"/>
              <a:gd name="connsiteX34" fmla="*/ 653143 w 914400"/>
              <a:gd name="connsiteY34" fmla="*/ 15727 h 1300241"/>
              <a:gd name="connsiteX35" fmla="*/ 555172 w 914400"/>
              <a:gd name="connsiteY35" fmla="*/ 15727 h 1300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914400" h="1300241">
                <a:moveTo>
                  <a:pt x="609600" y="4841"/>
                </a:moveTo>
                <a:cubicBezTo>
                  <a:pt x="555128" y="10894"/>
                  <a:pt x="516471" y="0"/>
                  <a:pt x="478972" y="37499"/>
                </a:cubicBezTo>
                <a:cubicBezTo>
                  <a:pt x="469721" y="46750"/>
                  <a:pt x="464457" y="59270"/>
                  <a:pt x="457200" y="70156"/>
                </a:cubicBezTo>
                <a:cubicBezTo>
                  <a:pt x="395304" y="255855"/>
                  <a:pt x="453710" y="69938"/>
                  <a:pt x="435429" y="581784"/>
                </a:cubicBezTo>
                <a:cubicBezTo>
                  <a:pt x="429181" y="756732"/>
                  <a:pt x="453355" y="671307"/>
                  <a:pt x="391886" y="745070"/>
                </a:cubicBezTo>
                <a:cubicBezTo>
                  <a:pt x="383511" y="755121"/>
                  <a:pt x="383075" y="775939"/>
                  <a:pt x="370115" y="777727"/>
                </a:cubicBezTo>
                <a:cubicBezTo>
                  <a:pt x="272996" y="791123"/>
                  <a:pt x="174172" y="784984"/>
                  <a:pt x="76200" y="788613"/>
                </a:cubicBezTo>
                <a:cubicBezTo>
                  <a:pt x="64660" y="796306"/>
                  <a:pt x="29529" y="816643"/>
                  <a:pt x="21772" y="832156"/>
                </a:cubicBezTo>
                <a:cubicBezTo>
                  <a:pt x="11509" y="852682"/>
                  <a:pt x="0" y="897470"/>
                  <a:pt x="0" y="897470"/>
                </a:cubicBezTo>
                <a:cubicBezTo>
                  <a:pt x="3629" y="980927"/>
                  <a:pt x="1311" y="1064856"/>
                  <a:pt x="10886" y="1147841"/>
                </a:cubicBezTo>
                <a:cubicBezTo>
                  <a:pt x="12386" y="1160838"/>
                  <a:pt x="22607" y="1172123"/>
                  <a:pt x="32658" y="1180499"/>
                </a:cubicBezTo>
                <a:cubicBezTo>
                  <a:pt x="45124" y="1190887"/>
                  <a:pt x="61686" y="1195013"/>
                  <a:pt x="76200" y="1202270"/>
                </a:cubicBezTo>
                <a:cubicBezTo>
                  <a:pt x="107040" y="1294786"/>
                  <a:pt x="64028" y="1181981"/>
                  <a:pt x="108858" y="1256699"/>
                </a:cubicBezTo>
                <a:cubicBezTo>
                  <a:pt x="114761" y="1266538"/>
                  <a:pt x="111629" y="1281242"/>
                  <a:pt x="119743" y="1289356"/>
                </a:cubicBezTo>
                <a:cubicBezTo>
                  <a:pt x="127857" y="1297470"/>
                  <a:pt x="141514" y="1296613"/>
                  <a:pt x="152400" y="1300241"/>
                </a:cubicBezTo>
                <a:cubicBezTo>
                  <a:pt x="246743" y="1296613"/>
                  <a:pt x="341517" y="1299071"/>
                  <a:pt x="435429" y="1289356"/>
                </a:cubicBezTo>
                <a:cubicBezTo>
                  <a:pt x="448443" y="1288010"/>
                  <a:pt x="458153" y="1276098"/>
                  <a:pt x="468086" y="1267584"/>
                </a:cubicBezTo>
                <a:cubicBezTo>
                  <a:pt x="483671" y="1254226"/>
                  <a:pt x="491119" y="1224861"/>
                  <a:pt x="511629" y="1224041"/>
                </a:cubicBezTo>
                <a:lnTo>
                  <a:pt x="783772" y="1213156"/>
                </a:lnTo>
                <a:cubicBezTo>
                  <a:pt x="791029" y="1205899"/>
                  <a:pt x="796742" y="1196664"/>
                  <a:pt x="805543" y="1191384"/>
                </a:cubicBezTo>
                <a:cubicBezTo>
                  <a:pt x="815382" y="1185480"/>
                  <a:pt x="830086" y="1188613"/>
                  <a:pt x="838200" y="1180499"/>
                </a:cubicBezTo>
                <a:cubicBezTo>
                  <a:pt x="846314" y="1172385"/>
                  <a:pt x="841918" y="1156801"/>
                  <a:pt x="849086" y="1147841"/>
                </a:cubicBezTo>
                <a:cubicBezTo>
                  <a:pt x="857259" y="1137625"/>
                  <a:pt x="871527" y="1134243"/>
                  <a:pt x="881743" y="1126070"/>
                </a:cubicBezTo>
                <a:cubicBezTo>
                  <a:pt x="889757" y="1119659"/>
                  <a:pt x="896258" y="1111556"/>
                  <a:pt x="903515" y="1104299"/>
                </a:cubicBezTo>
                <a:cubicBezTo>
                  <a:pt x="907143" y="1093413"/>
                  <a:pt x="914400" y="1083116"/>
                  <a:pt x="914400" y="1071641"/>
                </a:cubicBezTo>
                <a:cubicBezTo>
                  <a:pt x="914400" y="1035174"/>
                  <a:pt x="909060" y="998827"/>
                  <a:pt x="903515" y="962784"/>
                </a:cubicBezTo>
                <a:cubicBezTo>
                  <a:pt x="901770" y="951443"/>
                  <a:pt x="895781" y="941160"/>
                  <a:pt x="892629" y="930127"/>
                </a:cubicBezTo>
                <a:cubicBezTo>
                  <a:pt x="888519" y="915742"/>
                  <a:pt x="885372" y="901098"/>
                  <a:pt x="881743" y="886584"/>
                </a:cubicBezTo>
                <a:cubicBezTo>
                  <a:pt x="878115" y="748698"/>
                  <a:pt x="876982" y="610724"/>
                  <a:pt x="870858" y="472927"/>
                </a:cubicBezTo>
                <a:cubicBezTo>
                  <a:pt x="869719" y="447294"/>
                  <a:pt x="863155" y="422187"/>
                  <a:pt x="859972" y="396727"/>
                </a:cubicBezTo>
                <a:cubicBezTo>
                  <a:pt x="855896" y="364123"/>
                  <a:pt x="853162" y="331360"/>
                  <a:pt x="849086" y="298756"/>
                </a:cubicBezTo>
                <a:cubicBezTo>
                  <a:pt x="846111" y="274954"/>
                  <a:pt x="847455" y="210583"/>
                  <a:pt x="816429" y="189899"/>
                </a:cubicBezTo>
                <a:cubicBezTo>
                  <a:pt x="803981" y="181600"/>
                  <a:pt x="787400" y="182642"/>
                  <a:pt x="772886" y="179013"/>
                </a:cubicBezTo>
                <a:cubicBezTo>
                  <a:pt x="747098" y="153223"/>
                  <a:pt x="719880" y="128851"/>
                  <a:pt x="707572" y="91927"/>
                </a:cubicBezTo>
                <a:cubicBezTo>
                  <a:pt x="691502" y="43720"/>
                  <a:pt x="702906" y="19874"/>
                  <a:pt x="653143" y="15727"/>
                </a:cubicBezTo>
                <a:cubicBezTo>
                  <a:pt x="620599" y="13015"/>
                  <a:pt x="587829" y="15727"/>
                  <a:pt x="555172" y="15727"/>
                </a:cubicBezTo>
              </a:path>
            </a:pathLst>
          </a:cu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p:cNvSpPr txBox="1"/>
          <p:nvPr/>
        </p:nvSpPr>
        <p:spPr>
          <a:xfrm>
            <a:off x="190500" y="4495800"/>
            <a:ext cx="1518429" cy="369332"/>
          </a:xfrm>
          <a:prstGeom prst="rect">
            <a:avLst/>
          </a:prstGeom>
          <a:noFill/>
        </p:spPr>
        <p:txBody>
          <a:bodyPr wrap="none" rtlCol="0">
            <a:spAutoFit/>
          </a:bodyPr>
          <a:lstStyle/>
          <a:p>
            <a:r>
              <a:rPr lang="en-US" dirty="0" err="1"/>
              <a:t>Supernode</a:t>
            </a:r>
            <a:r>
              <a:rPr lang="en-US" dirty="0"/>
              <a:t> A</a:t>
            </a:r>
          </a:p>
        </p:txBody>
      </p:sp>
      <p:sp>
        <p:nvSpPr>
          <p:cNvPr id="16" name="TextBox 15"/>
          <p:cNvSpPr txBox="1"/>
          <p:nvPr/>
        </p:nvSpPr>
        <p:spPr>
          <a:xfrm>
            <a:off x="2857500" y="2133600"/>
            <a:ext cx="1518429" cy="369332"/>
          </a:xfrm>
          <a:prstGeom prst="rect">
            <a:avLst/>
          </a:prstGeom>
          <a:noFill/>
        </p:spPr>
        <p:txBody>
          <a:bodyPr wrap="none" rtlCol="0">
            <a:spAutoFit/>
          </a:bodyPr>
          <a:lstStyle/>
          <a:p>
            <a:r>
              <a:rPr lang="en-US" dirty="0" err="1"/>
              <a:t>Supernode</a:t>
            </a:r>
            <a:r>
              <a:rPr lang="en-US" dirty="0"/>
              <a:t> B</a:t>
            </a:r>
          </a:p>
        </p:txBody>
      </p:sp>
      <p:sp>
        <p:nvSpPr>
          <p:cNvPr id="12" name="TextBox 11"/>
          <p:cNvSpPr txBox="1"/>
          <p:nvPr/>
        </p:nvSpPr>
        <p:spPr>
          <a:xfrm>
            <a:off x="4000500" y="3352800"/>
            <a:ext cx="992579" cy="369332"/>
          </a:xfrm>
          <a:prstGeom prst="rect">
            <a:avLst/>
          </a:prstGeom>
          <a:noFill/>
        </p:spPr>
        <p:txBody>
          <a:bodyPr wrap="none" rtlCol="0">
            <a:spAutoFit/>
          </a:bodyPr>
          <a:lstStyle/>
          <a:p>
            <a:r>
              <a:rPr lang="en-US" dirty="0"/>
              <a:t>Node 2:</a:t>
            </a:r>
          </a:p>
        </p:txBody>
      </p:sp>
      <p:graphicFrame>
        <p:nvGraphicFramePr>
          <p:cNvPr id="17" name="Object 2"/>
          <p:cNvGraphicFramePr>
            <a:graphicFrameLocks noChangeAspect="1"/>
          </p:cNvGraphicFramePr>
          <p:nvPr/>
        </p:nvGraphicFramePr>
        <p:xfrm>
          <a:off x="4967288" y="3352800"/>
          <a:ext cx="4024312" cy="371475"/>
        </p:xfrm>
        <a:graphic>
          <a:graphicData uri="http://schemas.openxmlformats.org/presentationml/2006/ole">
            <mc:AlternateContent xmlns:mc="http://schemas.openxmlformats.org/markup-compatibility/2006">
              <mc:Choice xmlns:v="urn:schemas-microsoft-com:vml" Requires="v">
                <p:oleObj name="Equation" r:id="rId3" imgW="2489040" imgH="228600" progId="Equation.3">
                  <p:embed/>
                </p:oleObj>
              </mc:Choice>
              <mc:Fallback>
                <p:oleObj name="Equation" r:id="rId3" imgW="2489040" imgH="228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7288" y="3352800"/>
                        <a:ext cx="4024312"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TextBox 17"/>
          <p:cNvSpPr txBox="1"/>
          <p:nvPr/>
        </p:nvSpPr>
        <p:spPr>
          <a:xfrm>
            <a:off x="4000500" y="3707368"/>
            <a:ext cx="992579" cy="369332"/>
          </a:xfrm>
          <a:prstGeom prst="rect">
            <a:avLst/>
          </a:prstGeom>
          <a:noFill/>
        </p:spPr>
        <p:txBody>
          <a:bodyPr wrap="none" rtlCol="0">
            <a:spAutoFit/>
          </a:bodyPr>
          <a:lstStyle/>
          <a:p>
            <a:r>
              <a:rPr lang="en-US" dirty="0"/>
              <a:t>Node 3:</a:t>
            </a:r>
          </a:p>
        </p:txBody>
      </p:sp>
      <p:graphicFrame>
        <p:nvGraphicFramePr>
          <p:cNvPr id="182276" name="Object 4"/>
          <p:cNvGraphicFramePr>
            <a:graphicFrameLocks noChangeAspect="1"/>
          </p:cNvGraphicFramePr>
          <p:nvPr/>
        </p:nvGraphicFramePr>
        <p:xfrm>
          <a:off x="4991100" y="3695700"/>
          <a:ext cx="3203575" cy="371475"/>
        </p:xfrm>
        <a:graphic>
          <a:graphicData uri="http://schemas.openxmlformats.org/presentationml/2006/ole">
            <mc:AlternateContent xmlns:mc="http://schemas.openxmlformats.org/markup-compatibility/2006">
              <mc:Choice xmlns:v="urn:schemas-microsoft-com:vml" Requires="v">
                <p:oleObj name="Equation" r:id="rId5" imgW="1981080" imgH="228600" progId="Equation.3">
                  <p:embed/>
                </p:oleObj>
              </mc:Choice>
              <mc:Fallback>
                <p:oleObj name="Equation" r:id="rId5" imgW="198108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91100" y="3695700"/>
                        <a:ext cx="3203575"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extBox 19"/>
          <p:cNvSpPr txBox="1"/>
          <p:nvPr/>
        </p:nvSpPr>
        <p:spPr>
          <a:xfrm>
            <a:off x="3390900" y="4088368"/>
            <a:ext cx="1595309" cy="369332"/>
          </a:xfrm>
          <a:prstGeom prst="rect">
            <a:avLst/>
          </a:prstGeom>
          <a:noFill/>
        </p:spPr>
        <p:txBody>
          <a:bodyPr wrap="none" rtlCol="0">
            <a:spAutoFit/>
          </a:bodyPr>
          <a:lstStyle/>
          <a:p>
            <a:r>
              <a:rPr lang="en-US" dirty="0" err="1"/>
              <a:t>Supernode</a:t>
            </a:r>
            <a:r>
              <a:rPr lang="en-US" dirty="0"/>
              <a:t> B:</a:t>
            </a:r>
          </a:p>
        </p:txBody>
      </p:sp>
      <p:graphicFrame>
        <p:nvGraphicFramePr>
          <p:cNvPr id="21" name="Object 4"/>
          <p:cNvGraphicFramePr>
            <a:graphicFrameLocks noChangeAspect="1"/>
          </p:cNvGraphicFramePr>
          <p:nvPr/>
        </p:nvGraphicFramePr>
        <p:xfrm>
          <a:off x="4984750" y="4076700"/>
          <a:ext cx="4065588" cy="371475"/>
        </p:xfrm>
        <a:graphic>
          <a:graphicData uri="http://schemas.openxmlformats.org/presentationml/2006/ole">
            <mc:AlternateContent xmlns:mc="http://schemas.openxmlformats.org/markup-compatibility/2006">
              <mc:Choice xmlns:v="urn:schemas-microsoft-com:vml" Requires="v">
                <p:oleObj name="Equation" r:id="rId7" imgW="2514600" imgH="228600" progId="Equation.3">
                  <p:embed/>
                </p:oleObj>
              </mc:Choice>
              <mc:Fallback>
                <p:oleObj name="Equation" r:id="rId7" imgW="2514600" imgH="2286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84750" y="4076700"/>
                        <a:ext cx="4065588"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TextBox 21"/>
          <p:cNvSpPr txBox="1"/>
          <p:nvPr/>
        </p:nvSpPr>
        <p:spPr>
          <a:xfrm>
            <a:off x="2324100" y="5143500"/>
            <a:ext cx="6327373" cy="646331"/>
          </a:xfrm>
          <a:prstGeom prst="rect">
            <a:avLst/>
          </a:prstGeom>
          <a:noFill/>
        </p:spPr>
        <p:txBody>
          <a:bodyPr wrap="none" rtlCol="0">
            <a:spAutoFit/>
          </a:bodyPr>
          <a:lstStyle/>
          <a:p>
            <a:r>
              <a:rPr lang="en-US" dirty="0"/>
              <a:t>Left with 3 equations and 3 unknowns, so this can be solved</a:t>
            </a:r>
          </a:p>
          <a:p>
            <a:r>
              <a:rPr lang="en-US" dirty="0"/>
              <a:t>Easily.</a:t>
            </a:r>
          </a:p>
        </p:txBody>
      </p:sp>
      <p:sp>
        <p:nvSpPr>
          <p:cNvPr id="19" name="TextBox 18"/>
          <p:cNvSpPr txBox="1"/>
          <p:nvPr/>
        </p:nvSpPr>
        <p:spPr>
          <a:xfrm>
            <a:off x="1866900" y="3124200"/>
            <a:ext cx="415498" cy="276999"/>
          </a:xfrm>
          <a:prstGeom prst="rect">
            <a:avLst/>
          </a:prstGeom>
          <a:noFill/>
        </p:spPr>
        <p:txBody>
          <a:bodyPr wrap="none" rtlCol="0">
            <a:spAutoFit/>
          </a:bodyPr>
          <a:lstStyle/>
          <a:p>
            <a:r>
              <a:rPr lang="en-US" sz="1200" b="1" dirty="0"/>
              <a:t>4 S</a:t>
            </a:r>
            <a:endParaRPr lang="tr-TR" sz="1200" b="1" dirty="0"/>
          </a:p>
        </p:txBody>
      </p:sp>
      <p:sp>
        <p:nvSpPr>
          <p:cNvPr id="24" name="Title 1"/>
          <p:cNvSpPr txBox="1">
            <a:spLocks/>
          </p:cNvSpPr>
          <p:nvPr/>
        </p:nvSpPr>
        <p:spPr bwMode="auto">
          <a:xfrm>
            <a:off x="0" y="122237"/>
            <a:ext cx="73152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3200" b="0" i="0" u="none" strike="noStrike" kern="1200" cap="none" spc="0" normalizeH="0" baseline="0" noProof="0" dirty="0">
                <a:ln>
                  <a:noFill/>
                </a:ln>
                <a:solidFill>
                  <a:schemeClr val="tx1"/>
                </a:solidFill>
                <a:effectLst/>
                <a:uLnTx/>
                <a:uFillTx/>
                <a:latin typeface="+mj-lt"/>
                <a:ea typeface="+mj-ea"/>
                <a:cs typeface="+mj-cs"/>
              </a:rPr>
              <a:t>Circuits with Voltage Sources (</a:t>
            </a:r>
            <a:r>
              <a:rPr kumimoji="0" lang="en-US" sz="3200" b="0" i="0" u="none" strike="noStrike" kern="1200" cap="none" spc="0" normalizeH="0" baseline="0" noProof="0" dirty="0" err="1">
                <a:ln>
                  <a:noFill/>
                </a:ln>
                <a:solidFill>
                  <a:schemeClr val="tx1"/>
                </a:solidFill>
                <a:effectLst/>
                <a:uLnTx/>
                <a:uFillTx/>
                <a:latin typeface="+mj-lt"/>
                <a:ea typeface="+mj-ea"/>
                <a:cs typeface="+mj-cs"/>
              </a:rPr>
              <a:t>Supernodes</a:t>
            </a:r>
            <a:r>
              <a:rPr kumimoji="0" lang="en-US" sz="3200" b="0" i="0" u="none" strike="noStrike" kern="1200" cap="none" spc="0" normalizeH="0" baseline="0" noProof="0" dirty="0">
                <a:ln>
                  <a:noFill/>
                </a:ln>
                <a:solidFill>
                  <a:schemeClr val="tx1"/>
                </a:solidFill>
                <a:effectLst/>
                <a:uLnTx/>
                <a:uFillTx/>
                <a:latin typeface="+mj-lt"/>
                <a:ea typeface="+mj-ea"/>
                <a:cs typeface="+mj-cs"/>
              </a:rPr>
              <a:t>)</a:t>
            </a:r>
          </a:p>
        </p:txBody>
      </p:sp>
    </p:spTree>
    <p:extLst>
      <p:ext uri="{BB962C8B-B14F-4D97-AF65-F5344CB8AC3E}">
        <p14:creationId xmlns:p14="http://schemas.microsoft.com/office/powerpoint/2010/main" val="3064560839"/>
      </p:ext>
    </p:extLst>
  </p:cSld>
  <p:clrMapOvr>
    <a:masterClrMapping/>
  </p:clrMapOvr>
  <p:transition spd="me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6896100" cy="563563"/>
          </a:xfrm>
        </p:spPr>
        <p:txBody>
          <a:bodyPr/>
          <a:lstStyle/>
          <a:p>
            <a:r>
              <a:rPr lang="en-US" sz="3200" dirty="0"/>
              <a:t>Summary of Nodal Analysis Procedure</a:t>
            </a:r>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83</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9" name="Content Placeholder 2"/>
          <p:cNvSpPr>
            <a:spLocks noGrp="1"/>
          </p:cNvSpPr>
          <p:nvPr>
            <p:ph idx="1"/>
          </p:nvPr>
        </p:nvSpPr>
        <p:spPr>
          <a:xfrm>
            <a:off x="533400" y="952500"/>
            <a:ext cx="8229600" cy="5448300"/>
          </a:xfrm>
        </p:spPr>
        <p:txBody>
          <a:bodyPr/>
          <a:lstStyle/>
          <a:p>
            <a:pPr marL="457200" indent="-457200">
              <a:buFont typeface="+mj-lt"/>
              <a:buAutoNum type="arabicPeriod"/>
            </a:pPr>
            <a:r>
              <a:rPr lang="en-US" sz="2400" dirty="0"/>
              <a:t>Designate a reference node (preferably with the greatest number of branches.)</a:t>
            </a:r>
          </a:p>
          <a:p>
            <a:pPr marL="457200" indent="-457200">
              <a:buFont typeface="+mj-lt"/>
              <a:buAutoNum type="arabicPeriod"/>
            </a:pPr>
            <a:r>
              <a:rPr lang="en-US" sz="2400" dirty="0"/>
              <a:t>Label N-1 nodes to analyze</a:t>
            </a:r>
          </a:p>
          <a:p>
            <a:pPr marL="457200" indent="-457200">
              <a:buFont typeface="+mj-lt"/>
              <a:buAutoNum type="arabicPeriod"/>
            </a:pPr>
            <a:r>
              <a:rPr lang="en-US" sz="2400" dirty="0"/>
              <a:t>If voltage sources exist, form </a:t>
            </a:r>
            <a:r>
              <a:rPr lang="en-US" sz="2400" dirty="0" err="1"/>
              <a:t>supernodes</a:t>
            </a:r>
            <a:r>
              <a:rPr lang="en-US" sz="2400" dirty="0"/>
              <a:t> (or recognize relationship between nodes separated by voltage sources)</a:t>
            </a:r>
          </a:p>
          <a:p>
            <a:pPr marL="457200" indent="-457200">
              <a:buFont typeface="+mj-lt"/>
              <a:buAutoNum type="arabicPeriod"/>
            </a:pPr>
            <a:r>
              <a:rPr lang="en-US" sz="2400" dirty="0"/>
              <a:t>KCL (in terms of node voltages) per each </a:t>
            </a:r>
            <a:r>
              <a:rPr lang="en-US" sz="2400" dirty="0" err="1"/>
              <a:t>nonreference</a:t>
            </a:r>
            <a:r>
              <a:rPr lang="en-US" sz="2400" dirty="0"/>
              <a:t> node and each </a:t>
            </a:r>
            <a:r>
              <a:rPr lang="en-US" sz="2400" dirty="0" err="1"/>
              <a:t>supernode</a:t>
            </a:r>
            <a:r>
              <a:rPr lang="en-US" sz="2400" dirty="0"/>
              <a:t> that does not contain the reference node.</a:t>
            </a:r>
          </a:p>
          <a:p>
            <a:pPr marL="457200" indent="-457200">
              <a:buFont typeface="+mj-lt"/>
              <a:buAutoNum type="arabicPeriod"/>
            </a:pPr>
            <a:endParaRPr lang="en-US" sz="2400" dirty="0"/>
          </a:p>
          <a:p>
            <a:pPr marL="457200" indent="-457200">
              <a:buFont typeface="+mj-lt"/>
              <a:buAutoNum type="arabicPeriod"/>
            </a:pPr>
            <a:endParaRPr lang="en-US" sz="2400" dirty="0"/>
          </a:p>
          <a:p>
            <a:pPr marL="457200" indent="-457200">
              <a:buFont typeface="+mj-lt"/>
              <a:buAutoNum type="arabicPeriod"/>
            </a:pPr>
            <a:r>
              <a:rPr lang="en-US" sz="2400" dirty="0"/>
              <a:t>Relate voltages across voltage sources and all other unknown variables to the node voltages.</a:t>
            </a:r>
          </a:p>
          <a:p>
            <a:endParaRPr lang="en-US" sz="2000" dirty="0"/>
          </a:p>
          <a:p>
            <a:pPr lvl="1">
              <a:buFont typeface="Arial" charset="0"/>
              <a:buNone/>
            </a:pPr>
            <a:endParaRPr lang="en-US" sz="2000" dirty="0"/>
          </a:p>
        </p:txBody>
      </p:sp>
      <p:graphicFrame>
        <p:nvGraphicFramePr>
          <p:cNvPr id="183298" name="Object 2"/>
          <p:cNvGraphicFramePr>
            <a:graphicFrameLocks noChangeAspect="1"/>
          </p:cNvGraphicFramePr>
          <p:nvPr/>
        </p:nvGraphicFramePr>
        <p:xfrm>
          <a:off x="1090612" y="4127500"/>
          <a:ext cx="7024688" cy="825500"/>
        </p:xfrm>
        <a:graphic>
          <a:graphicData uri="http://schemas.openxmlformats.org/presentationml/2006/ole">
            <mc:AlternateContent xmlns:mc="http://schemas.openxmlformats.org/markup-compatibility/2006">
              <mc:Choice xmlns:v="urn:schemas-microsoft-com:vml" Requires="v">
                <p:oleObj name="Equation" r:id="rId2" imgW="4343400" imgH="507960" progId="Equation.3">
                  <p:embed/>
                </p:oleObj>
              </mc:Choice>
              <mc:Fallback>
                <p:oleObj name="Equation" r:id="rId2" imgW="4343400" imgH="50796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0612" y="4127500"/>
                        <a:ext cx="7024688" cy="825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328358883"/>
      </p:ext>
    </p:extLst>
  </p:cSld>
  <p:clrMapOvr>
    <a:masterClrMapping/>
  </p:clrMapOvr>
  <p:transition spd="me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a:t>
            </a:r>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84</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184323" name="Picture 3"/>
          <p:cNvPicPr>
            <a:picLocks noChangeAspect="1" noChangeArrowheads="1"/>
          </p:cNvPicPr>
          <p:nvPr/>
        </p:nvPicPr>
        <p:blipFill>
          <a:blip r:embed="rId2" cstate="print"/>
          <a:srcRect/>
          <a:stretch>
            <a:fillRect/>
          </a:stretch>
        </p:blipFill>
        <p:spPr bwMode="auto">
          <a:xfrm>
            <a:off x="555255" y="876300"/>
            <a:ext cx="3521445" cy="2743200"/>
          </a:xfrm>
          <a:prstGeom prst="rect">
            <a:avLst/>
          </a:prstGeom>
          <a:noFill/>
          <a:ln w="9525">
            <a:noFill/>
            <a:miter lim="800000"/>
            <a:headEnd/>
            <a:tailEnd/>
          </a:ln>
          <a:effectLst/>
        </p:spPr>
      </p:pic>
      <p:sp>
        <p:nvSpPr>
          <p:cNvPr id="6" name="Oval 5"/>
          <p:cNvSpPr/>
          <p:nvPr/>
        </p:nvSpPr>
        <p:spPr>
          <a:xfrm>
            <a:off x="2400300" y="2324100"/>
            <a:ext cx="76200" cy="762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cxnSp>
        <p:nvCxnSpPr>
          <p:cNvPr id="8" name="Straight Arrow Connector 7"/>
          <p:cNvCxnSpPr/>
          <p:nvPr/>
        </p:nvCxnSpPr>
        <p:spPr>
          <a:xfrm>
            <a:off x="3048000" y="1028700"/>
            <a:ext cx="381000" cy="1588"/>
          </a:xfrm>
          <a:prstGeom prst="straightConnector1">
            <a:avLst/>
          </a:prstGeom>
          <a:ln w="28575">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2857500" y="762000"/>
            <a:ext cx="235962" cy="369332"/>
          </a:xfrm>
          <a:prstGeom prst="rect">
            <a:avLst/>
          </a:prstGeom>
          <a:noFill/>
        </p:spPr>
        <p:txBody>
          <a:bodyPr wrap="none" rtlCol="0">
            <a:spAutoFit/>
          </a:bodyPr>
          <a:lstStyle/>
          <a:p>
            <a:r>
              <a:rPr lang="en-US" dirty="0" err="1"/>
              <a:t>i</a:t>
            </a:r>
            <a:endParaRPr lang="tr-TR" dirty="0"/>
          </a:p>
        </p:txBody>
      </p:sp>
    </p:spTree>
    <p:extLst>
      <p:ext uri="{BB962C8B-B14F-4D97-AF65-F5344CB8AC3E}">
        <p14:creationId xmlns:p14="http://schemas.microsoft.com/office/powerpoint/2010/main" val="2907324782"/>
      </p:ext>
    </p:extLst>
  </p:cSld>
  <p:clrMapOvr>
    <a:masterClrMapping/>
  </p:clrMapOvr>
  <p:transition spd="me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5346" name="Picture 2"/>
          <p:cNvPicPr>
            <a:picLocks noChangeAspect="1" noChangeArrowheads="1"/>
          </p:cNvPicPr>
          <p:nvPr/>
        </p:nvPicPr>
        <p:blipFill>
          <a:blip r:embed="rId2" cstate="print"/>
          <a:srcRect/>
          <a:stretch>
            <a:fillRect/>
          </a:stretch>
        </p:blipFill>
        <p:spPr bwMode="auto">
          <a:xfrm>
            <a:off x="559510" y="876300"/>
            <a:ext cx="3496990" cy="2971800"/>
          </a:xfrm>
          <a:prstGeom prst="rect">
            <a:avLst/>
          </a:prstGeom>
          <a:noFill/>
          <a:ln w="9525">
            <a:noFill/>
            <a:miter lim="800000"/>
            <a:headEnd/>
            <a:tailEnd/>
          </a:ln>
          <a:effectLst/>
        </p:spPr>
      </p:pic>
      <p:sp>
        <p:nvSpPr>
          <p:cNvPr id="6146" name="Title 1"/>
          <p:cNvSpPr>
            <a:spLocks noGrp="1"/>
          </p:cNvSpPr>
          <p:nvPr>
            <p:ph type="title"/>
          </p:nvPr>
        </p:nvSpPr>
        <p:spPr>
          <a:xfrm>
            <a:off x="457200" y="122237"/>
            <a:ext cx="8229600" cy="563563"/>
          </a:xfrm>
        </p:spPr>
        <p:txBody>
          <a:bodyPr/>
          <a:lstStyle/>
          <a:p>
            <a:r>
              <a:rPr lang="en-US" sz="3200" dirty="0"/>
              <a:t>Example</a:t>
            </a:r>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85</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 name="TextBox 5"/>
          <p:cNvSpPr txBox="1"/>
          <p:nvPr/>
        </p:nvSpPr>
        <p:spPr>
          <a:xfrm>
            <a:off x="4572000" y="1104900"/>
            <a:ext cx="3634328" cy="369332"/>
          </a:xfrm>
          <a:prstGeom prst="rect">
            <a:avLst/>
          </a:prstGeom>
          <a:noFill/>
        </p:spPr>
        <p:txBody>
          <a:bodyPr wrap="none" rtlCol="0">
            <a:spAutoFit/>
          </a:bodyPr>
          <a:lstStyle/>
          <a:p>
            <a:r>
              <a:rPr lang="en-US" dirty="0"/>
              <a:t>Step 1: Designate reference node</a:t>
            </a:r>
          </a:p>
        </p:txBody>
      </p:sp>
      <p:sp>
        <p:nvSpPr>
          <p:cNvPr id="7" name="Oval 6"/>
          <p:cNvSpPr/>
          <p:nvPr/>
        </p:nvSpPr>
        <p:spPr>
          <a:xfrm>
            <a:off x="2400300" y="2324100"/>
            <a:ext cx="76200" cy="762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cxnSp>
        <p:nvCxnSpPr>
          <p:cNvPr id="8" name="Straight Arrow Connector 7"/>
          <p:cNvCxnSpPr/>
          <p:nvPr/>
        </p:nvCxnSpPr>
        <p:spPr>
          <a:xfrm>
            <a:off x="3048000" y="1028700"/>
            <a:ext cx="381000" cy="1588"/>
          </a:xfrm>
          <a:prstGeom prst="straightConnector1">
            <a:avLst/>
          </a:prstGeom>
          <a:ln w="28575">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857500" y="762000"/>
            <a:ext cx="235962" cy="369332"/>
          </a:xfrm>
          <a:prstGeom prst="rect">
            <a:avLst/>
          </a:prstGeom>
          <a:noFill/>
        </p:spPr>
        <p:txBody>
          <a:bodyPr wrap="none" rtlCol="0">
            <a:spAutoFit/>
          </a:bodyPr>
          <a:lstStyle/>
          <a:p>
            <a:r>
              <a:rPr lang="en-US" dirty="0" err="1"/>
              <a:t>i</a:t>
            </a:r>
            <a:endParaRPr lang="tr-TR" dirty="0"/>
          </a:p>
        </p:txBody>
      </p:sp>
    </p:spTree>
    <p:extLst>
      <p:ext uri="{BB962C8B-B14F-4D97-AF65-F5344CB8AC3E}">
        <p14:creationId xmlns:p14="http://schemas.microsoft.com/office/powerpoint/2010/main" val="2203055355"/>
      </p:ext>
    </p:extLst>
  </p:cSld>
  <p:clrMapOvr>
    <a:masterClrMapping/>
  </p:clrMapOvr>
  <p:transition spd="me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6370" name="Picture 2"/>
          <p:cNvPicPr>
            <a:picLocks noChangeAspect="1" noChangeArrowheads="1"/>
          </p:cNvPicPr>
          <p:nvPr/>
        </p:nvPicPr>
        <p:blipFill>
          <a:blip r:embed="rId3" cstate="print"/>
          <a:srcRect/>
          <a:stretch>
            <a:fillRect/>
          </a:stretch>
        </p:blipFill>
        <p:spPr bwMode="auto">
          <a:xfrm>
            <a:off x="571500" y="846668"/>
            <a:ext cx="3581400" cy="3001432"/>
          </a:xfrm>
          <a:prstGeom prst="rect">
            <a:avLst/>
          </a:prstGeom>
          <a:noFill/>
          <a:ln w="9525">
            <a:noFill/>
            <a:miter lim="800000"/>
            <a:headEnd/>
            <a:tailEnd/>
          </a:ln>
          <a:effectLst/>
        </p:spPr>
      </p:pic>
      <p:sp>
        <p:nvSpPr>
          <p:cNvPr id="6146" name="Title 1"/>
          <p:cNvSpPr>
            <a:spLocks noGrp="1"/>
          </p:cNvSpPr>
          <p:nvPr>
            <p:ph type="title"/>
          </p:nvPr>
        </p:nvSpPr>
        <p:spPr>
          <a:xfrm>
            <a:off x="457200" y="122237"/>
            <a:ext cx="8229600" cy="563563"/>
          </a:xfrm>
        </p:spPr>
        <p:txBody>
          <a:bodyPr/>
          <a:lstStyle/>
          <a:p>
            <a:r>
              <a:rPr lang="en-US" sz="3200" dirty="0"/>
              <a:t>Example</a:t>
            </a:r>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86</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 name="TextBox 5"/>
          <p:cNvSpPr txBox="1"/>
          <p:nvPr/>
        </p:nvSpPr>
        <p:spPr>
          <a:xfrm>
            <a:off x="4572000" y="1104900"/>
            <a:ext cx="3916457" cy="369332"/>
          </a:xfrm>
          <a:prstGeom prst="rect">
            <a:avLst/>
          </a:prstGeom>
          <a:noFill/>
        </p:spPr>
        <p:txBody>
          <a:bodyPr wrap="none" rtlCol="0">
            <a:spAutoFit/>
          </a:bodyPr>
          <a:lstStyle/>
          <a:p>
            <a:r>
              <a:rPr lang="en-US" dirty="0"/>
              <a:t>Step 2: Label N-1 nodes to analyze  </a:t>
            </a:r>
          </a:p>
        </p:txBody>
      </p:sp>
      <p:sp>
        <p:nvSpPr>
          <p:cNvPr id="7" name="Oval 6"/>
          <p:cNvSpPr/>
          <p:nvPr/>
        </p:nvSpPr>
        <p:spPr>
          <a:xfrm>
            <a:off x="2400300" y="2324100"/>
            <a:ext cx="76200" cy="762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cxnSp>
        <p:nvCxnSpPr>
          <p:cNvPr id="8" name="Straight Arrow Connector 7"/>
          <p:cNvCxnSpPr/>
          <p:nvPr/>
        </p:nvCxnSpPr>
        <p:spPr>
          <a:xfrm>
            <a:off x="3048000" y="1028700"/>
            <a:ext cx="381000" cy="1588"/>
          </a:xfrm>
          <a:prstGeom prst="straightConnector1">
            <a:avLst/>
          </a:prstGeom>
          <a:ln w="28575">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857500" y="762000"/>
            <a:ext cx="235962" cy="369332"/>
          </a:xfrm>
          <a:prstGeom prst="rect">
            <a:avLst/>
          </a:prstGeom>
          <a:noFill/>
        </p:spPr>
        <p:txBody>
          <a:bodyPr wrap="none" rtlCol="0">
            <a:spAutoFit/>
          </a:bodyPr>
          <a:lstStyle/>
          <a:p>
            <a:r>
              <a:rPr lang="en-US" dirty="0" err="1"/>
              <a:t>i</a:t>
            </a:r>
            <a:endParaRPr lang="tr-TR" dirty="0"/>
          </a:p>
        </p:txBody>
      </p:sp>
    </p:spTree>
    <p:extLst>
      <p:ext uri="{BB962C8B-B14F-4D97-AF65-F5344CB8AC3E}">
        <p14:creationId xmlns:p14="http://schemas.microsoft.com/office/powerpoint/2010/main" val="3416891001"/>
      </p:ext>
    </p:extLst>
  </p:cSld>
  <p:clrMapOvr>
    <a:masterClrMapping/>
  </p:clrMapOvr>
  <p:transition spd="me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6370" name="Picture 2"/>
          <p:cNvPicPr>
            <a:picLocks noChangeAspect="1" noChangeArrowheads="1"/>
          </p:cNvPicPr>
          <p:nvPr/>
        </p:nvPicPr>
        <p:blipFill>
          <a:blip r:embed="rId3" cstate="print"/>
          <a:srcRect/>
          <a:stretch>
            <a:fillRect/>
          </a:stretch>
        </p:blipFill>
        <p:spPr bwMode="auto">
          <a:xfrm>
            <a:off x="571500" y="846668"/>
            <a:ext cx="3581400" cy="3001432"/>
          </a:xfrm>
          <a:prstGeom prst="rect">
            <a:avLst/>
          </a:prstGeom>
          <a:noFill/>
          <a:ln w="9525">
            <a:noFill/>
            <a:miter lim="800000"/>
            <a:headEnd/>
            <a:tailEnd/>
          </a:ln>
          <a:effectLst/>
        </p:spPr>
      </p:pic>
      <p:sp>
        <p:nvSpPr>
          <p:cNvPr id="6146" name="Title 1"/>
          <p:cNvSpPr>
            <a:spLocks noGrp="1"/>
          </p:cNvSpPr>
          <p:nvPr>
            <p:ph type="title"/>
          </p:nvPr>
        </p:nvSpPr>
        <p:spPr>
          <a:xfrm>
            <a:off x="457200" y="122237"/>
            <a:ext cx="8229600" cy="563563"/>
          </a:xfrm>
        </p:spPr>
        <p:txBody>
          <a:bodyPr/>
          <a:lstStyle/>
          <a:p>
            <a:r>
              <a:rPr lang="en-US" sz="3200" dirty="0"/>
              <a:t>Example</a:t>
            </a:r>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87</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 name="TextBox 5"/>
          <p:cNvSpPr txBox="1"/>
          <p:nvPr/>
        </p:nvSpPr>
        <p:spPr>
          <a:xfrm>
            <a:off x="4572001" y="1104900"/>
            <a:ext cx="4419600" cy="646331"/>
          </a:xfrm>
          <a:prstGeom prst="rect">
            <a:avLst/>
          </a:prstGeom>
          <a:noFill/>
        </p:spPr>
        <p:txBody>
          <a:bodyPr wrap="square" rtlCol="0">
            <a:spAutoFit/>
          </a:bodyPr>
          <a:lstStyle/>
          <a:p>
            <a:r>
              <a:rPr lang="en-US" dirty="0"/>
              <a:t>Step 3: If voltage sources exist, form </a:t>
            </a:r>
            <a:r>
              <a:rPr lang="en-US" dirty="0" err="1"/>
              <a:t>Supernodes</a:t>
            </a:r>
            <a:r>
              <a:rPr lang="en-US" dirty="0"/>
              <a:t>.</a:t>
            </a:r>
          </a:p>
        </p:txBody>
      </p:sp>
      <p:sp>
        <p:nvSpPr>
          <p:cNvPr id="7" name="Oval 6"/>
          <p:cNvSpPr/>
          <p:nvPr/>
        </p:nvSpPr>
        <p:spPr>
          <a:xfrm>
            <a:off x="876300" y="1905000"/>
            <a:ext cx="609600" cy="1790700"/>
          </a:xfrm>
          <a:prstGeom prst="ellipse">
            <a:avLst/>
          </a:prstGeom>
          <a:no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1828800" y="2552700"/>
            <a:ext cx="1028700" cy="1409700"/>
          </a:xfrm>
          <a:prstGeom prst="ellipse">
            <a:avLst/>
          </a:prstGeom>
          <a:no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p:cNvSpPr/>
          <p:nvPr/>
        </p:nvSpPr>
        <p:spPr>
          <a:xfrm>
            <a:off x="2400300" y="2324100"/>
            <a:ext cx="76200" cy="762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cxnSp>
        <p:nvCxnSpPr>
          <p:cNvPr id="10" name="Straight Arrow Connector 9"/>
          <p:cNvCxnSpPr/>
          <p:nvPr/>
        </p:nvCxnSpPr>
        <p:spPr>
          <a:xfrm>
            <a:off x="3048000" y="1028700"/>
            <a:ext cx="381000" cy="1588"/>
          </a:xfrm>
          <a:prstGeom prst="straightConnector1">
            <a:avLst/>
          </a:prstGeom>
          <a:ln w="28575">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857500" y="762000"/>
            <a:ext cx="235962" cy="369332"/>
          </a:xfrm>
          <a:prstGeom prst="rect">
            <a:avLst/>
          </a:prstGeom>
          <a:noFill/>
        </p:spPr>
        <p:txBody>
          <a:bodyPr wrap="none" rtlCol="0">
            <a:spAutoFit/>
          </a:bodyPr>
          <a:lstStyle/>
          <a:p>
            <a:r>
              <a:rPr lang="en-US" dirty="0" err="1"/>
              <a:t>i</a:t>
            </a:r>
            <a:endParaRPr lang="tr-TR" dirty="0"/>
          </a:p>
        </p:txBody>
      </p:sp>
    </p:spTree>
    <p:extLst>
      <p:ext uri="{BB962C8B-B14F-4D97-AF65-F5344CB8AC3E}">
        <p14:creationId xmlns:p14="http://schemas.microsoft.com/office/powerpoint/2010/main" val="178388221"/>
      </p:ext>
    </p:extLst>
  </p:cSld>
  <p:clrMapOvr>
    <a:masterClrMapping/>
  </p:clrMapOvr>
  <p:transition spd="me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6370" name="Picture 2"/>
          <p:cNvPicPr>
            <a:picLocks noChangeAspect="1" noChangeArrowheads="1"/>
          </p:cNvPicPr>
          <p:nvPr/>
        </p:nvPicPr>
        <p:blipFill>
          <a:blip r:embed="rId3" cstate="print"/>
          <a:srcRect/>
          <a:stretch>
            <a:fillRect/>
          </a:stretch>
        </p:blipFill>
        <p:spPr bwMode="auto">
          <a:xfrm>
            <a:off x="571500" y="846668"/>
            <a:ext cx="3581400" cy="3001432"/>
          </a:xfrm>
          <a:prstGeom prst="rect">
            <a:avLst/>
          </a:prstGeom>
          <a:noFill/>
          <a:ln w="9525">
            <a:noFill/>
            <a:miter lim="800000"/>
            <a:headEnd/>
            <a:tailEnd/>
          </a:ln>
          <a:effectLst/>
        </p:spPr>
      </p:pic>
      <p:sp>
        <p:nvSpPr>
          <p:cNvPr id="6146" name="Title 1"/>
          <p:cNvSpPr>
            <a:spLocks noGrp="1"/>
          </p:cNvSpPr>
          <p:nvPr>
            <p:ph type="title"/>
          </p:nvPr>
        </p:nvSpPr>
        <p:spPr>
          <a:xfrm>
            <a:off x="457200" y="122237"/>
            <a:ext cx="8229600" cy="563563"/>
          </a:xfrm>
        </p:spPr>
        <p:txBody>
          <a:bodyPr/>
          <a:lstStyle/>
          <a:p>
            <a:r>
              <a:rPr lang="en-US" sz="3200" dirty="0"/>
              <a:t>Example</a:t>
            </a:r>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88</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 name="TextBox 5"/>
          <p:cNvSpPr txBox="1"/>
          <p:nvPr/>
        </p:nvSpPr>
        <p:spPr>
          <a:xfrm>
            <a:off x="4533900" y="1104900"/>
            <a:ext cx="4572000" cy="1477328"/>
          </a:xfrm>
          <a:prstGeom prst="rect">
            <a:avLst/>
          </a:prstGeom>
          <a:noFill/>
        </p:spPr>
        <p:txBody>
          <a:bodyPr wrap="square" rtlCol="0">
            <a:spAutoFit/>
          </a:bodyPr>
          <a:lstStyle/>
          <a:p>
            <a:pPr marL="457200" indent="-457200"/>
            <a:r>
              <a:rPr lang="en-US" dirty="0"/>
              <a:t>Step 4: KCL (in terms of node voltages) per each </a:t>
            </a:r>
            <a:r>
              <a:rPr lang="en-US" dirty="0" err="1"/>
              <a:t>nonreference</a:t>
            </a:r>
            <a:r>
              <a:rPr lang="en-US" dirty="0"/>
              <a:t> node and each </a:t>
            </a:r>
            <a:r>
              <a:rPr lang="en-US" dirty="0" err="1"/>
              <a:t>supernode</a:t>
            </a:r>
            <a:r>
              <a:rPr lang="en-US" dirty="0"/>
              <a:t> that does not contain the reference node.</a:t>
            </a:r>
          </a:p>
          <a:p>
            <a:pPr marL="457200" indent="-457200"/>
            <a:endParaRPr lang="en-US" dirty="0"/>
          </a:p>
        </p:txBody>
      </p:sp>
      <p:sp>
        <p:nvSpPr>
          <p:cNvPr id="7" name="Oval 6"/>
          <p:cNvSpPr/>
          <p:nvPr/>
        </p:nvSpPr>
        <p:spPr>
          <a:xfrm>
            <a:off x="876300" y="1905000"/>
            <a:ext cx="609600" cy="1790700"/>
          </a:xfrm>
          <a:prstGeom prst="ellipse">
            <a:avLst/>
          </a:prstGeom>
          <a:no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1828800" y="2552700"/>
            <a:ext cx="1028700" cy="1409700"/>
          </a:xfrm>
          <a:prstGeom prst="ellipse">
            <a:avLst/>
          </a:prstGeom>
          <a:no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p:cNvSpPr txBox="1"/>
          <p:nvPr/>
        </p:nvSpPr>
        <p:spPr>
          <a:xfrm>
            <a:off x="1319212" y="4152900"/>
            <a:ext cx="992579" cy="369332"/>
          </a:xfrm>
          <a:prstGeom prst="rect">
            <a:avLst/>
          </a:prstGeom>
          <a:noFill/>
        </p:spPr>
        <p:txBody>
          <a:bodyPr wrap="none" rtlCol="0">
            <a:spAutoFit/>
          </a:bodyPr>
          <a:lstStyle/>
          <a:p>
            <a:r>
              <a:rPr lang="en-US" dirty="0"/>
              <a:t>Node 1:</a:t>
            </a:r>
          </a:p>
        </p:txBody>
      </p:sp>
      <p:graphicFrame>
        <p:nvGraphicFramePr>
          <p:cNvPr id="10" name="Object 2"/>
          <p:cNvGraphicFramePr>
            <a:graphicFrameLocks noChangeAspect="1"/>
          </p:cNvGraphicFramePr>
          <p:nvPr/>
        </p:nvGraphicFramePr>
        <p:xfrm>
          <a:off x="2392363" y="4162425"/>
          <a:ext cx="4351337" cy="350838"/>
        </p:xfrm>
        <a:graphic>
          <a:graphicData uri="http://schemas.openxmlformats.org/presentationml/2006/ole">
            <mc:AlternateContent xmlns:mc="http://schemas.openxmlformats.org/markup-compatibility/2006">
              <mc:Choice xmlns:v="urn:schemas-microsoft-com:vml" Requires="v">
                <p:oleObj name="Equation" r:id="rId4" imgW="2692080" imgH="215640" progId="Equation.3">
                  <p:embed/>
                </p:oleObj>
              </mc:Choice>
              <mc:Fallback>
                <p:oleObj name="Equation" r:id="rId4" imgW="2692080" imgH="2156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92363" y="4162425"/>
                        <a:ext cx="4351337" cy="350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Box 10"/>
          <p:cNvSpPr txBox="1"/>
          <p:nvPr/>
        </p:nvSpPr>
        <p:spPr>
          <a:xfrm>
            <a:off x="1319212" y="4507468"/>
            <a:ext cx="992579" cy="369332"/>
          </a:xfrm>
          <a:prstGeom prst="rect">
            <a:avLst/>
          </a:prstGeom>
          <a:noFill/>
        </p:spPr>
        <p:txBody>
          <a:bodyPr wrap="none" rtlCol="0">
            <a:spAutoFit/>
          </a:bodyPr>
          <a:lstStyle/>
          <a:p>
            <a:r>
              <a:rPr lang="en-US" dirty="0"/>
              <a:t>Node 2:</a:t>
            </a:r>
          </a:p>
        </p:txBody>
      </p:sp>
      <p:graphicFrame>
        <p:nvGraphicFramePr>
          <p:cNvPr id="12" name="Object 4"/>
          <p:cNvGraphicFramePr>
            <a:graphicFrameLocks noChangeAspect="1"/>
          </p:cNvGraphicFramePr>
          <p:nvPr/>
        </p:nvGraphicFramePr>
        <p:xfrm>
          <a:off x="2414588" y="4505325"/>
          <a:ext cx="6119812" cy="350838"/>
        </p:xfrm>
        <a:graphic>
          <a:graphicData uri="http://schemas.openxmlformats.org/presentationml/2006/ole">
            <mc:AlternateContent xmlns:mc="http://schemas.openxmlformats.org/markup-compatibility/2006">
              <mc:Choice xmlns:v="urn:schemas-microsoft-com:vml" Requires="v">
                <p:oleObj name="Equation" r:id="rId6" imgW="3784320" imgH="215640" progId="Equation.3">
                  <p:embed/>
                </p:oleObj>
              </mc:Choice>
              <mc:Fallback>
                <p:oleObj name="Equation" r:id="rId6" imgW="3784320" imgH="2156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14588" y="4505325"/>
                        <a:ext cx="6119812" cy="350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TextBox 14"/>
          <p:cNvSpPr txBox="1"/>
          <p:nvPr/>
        </p:nvSpPr>
        <p:spPr>
          <a:xfrm>
            <a:off x="914400" y="4888468"/>
            <a:ext cx="5583580" cy="369332"/>
          </a:xfrm>
          <a:prstGeom prst="rect">
            <a:avLst/>
          </a:prstGeom>
          <a:noFill/>
        </p:spPr>
        <p:txBody>
          <a:bodyPr wrap="none" rtlCol="0">
            <a:spAutoFit/>
          </a:bodyPr>
          <a:lstStyle/>
          <a:p>
            <a:r>
              <a:rPr lang="en-US" dirty="0"/>
              <a:t>3 unknowns &amp; 2 equations; need one more equation</a:t>
            </a:r>
          </a:p>
        </p:txBody>
      </p:sp>
      <p:sp>
        <p:nvSpPr>
          <p:cNvPr id="14" name="Oval 13"/>
          <p:cNvSpPr/>
          <p:nvPr/>
        </p:nvSpPr>
        <p:spPr>
          <a:xfrm>
            <a:off x="2400300" y="2324100"/>
            <a:ext cx="76200" cy="762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cxnSp>
        <p:nvCxnSpPr>
          <p:cNvPr id="16" name="Straight Arrow Connector 15"/>
          <p:cNvCxnSpPr/>
          <p:nvPr/>
        </p:nvCxnSpPr>
        <p:spPr>
          <a:xfrm>
            <a:off x="3048000" y="1028700"/>
            <a:ext cx="381000" cy="1588"/>
          </a:xfrm>
          <a:prstGeom prst="straightConnector1">
            <a:avLst/>
          </a:prstGeom>
          <a:ln w="28575">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2857500" y="762000"/>
            <a:ext cx="235962" cy="369332"/>
          </a:xfrm>
          <a:prstGeom prst="rect">
            <a:avLst/>
          </a:prstGeom>
          <a:noFill/>
        </p:spPr>
        <p:txBody>
          <a:bodyPr wrap="none" rtlCol="0">
            <a:spAutoFit/>
          </a:bodyPr>
          <a:lstStyle/>
          <a:p>
            <a:r>
              <a:rPr lang="en-US" dirty="0" err="1"/>
              <a:t>i</a:t>
            </a:r>
            <a:endParaRPr lang="tr-TR" dirty="0"/>
          </a:p>
        </p:txBody>
      </p:sp>
    </p:spTree>
    <p:extLst>
      <p:ext uri="{BB962C8B-B14F-4D97-AF65-F5344CB8AC3E}">
        <p14:creationId xmlns:p14="http://schemas.microsoft.com/office/powerpoint/2010/main" val="1748847574"/>
      </p:ext>
    </p:extLst>
  </p:cSld>
  <p:clrMapOvr>
    <a:masterClrMapping/>
  </p:clrMapOvr>
  <p:transition spd="me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6370" name="Picture 2"/>
          <p:cNvPicPr>
            <a:picLocks noChangeAspect="1" noChangeArrowheads="1"/>
          </p:cNvPicPr>
          <p:nvPr/>
        </p:nvPicPr>
        <p:blipFill>
          <a:blip r:embed="rId3" cstate="print"/>
          <a:srcRect/>
          <a:stretch>
            <a:fillRect/>
          </a:stretch>
        </p:blipFill>
        <p:spPr bwMode="auto">
          <a:xfrm>
            <a:off x="571500" y="846668"/>
            <a:ext cx="3581400" cy="3001432"/>
          </a:xfrm>
          <a:prstGeom prst="rect">
            <a:avLst/>
          </a:prstGeom>
          <a:noFill/>
          <a:ln w="9525">
            <a:noFill/>
            <a:miter lim="800000"/>
            <a:headEnd/>
            <a:tailEnd/>
          </a:ln>
          <a:effectLst/>
        </p:spPr>
      </p:pic>
      <p:sp>
        <p:nvSpPr>
          <p:cNvPr id="6146" name="Title 1"/>
          <p:cNvSpPr>
            <a:spLocks noGrp="1"/>
          </p:cNvSpPr>
          <p:nvPr>
            <p:ph type="title"/>
          </p:nvPr>
        </p:nvSpPr>
        <p:spPr>
          <a:xfrm>
            <a:off x="457200" y="122237"/>
            <a:ext cx="8229600" cy="563563"/>
          </a:xfrm>
        </p:spPr>
        <p:txBody>
          <a:bodyPr/>
          <a:lstStyle/>
          <a:p>
            <a:r>
              <a:rPr lang="en-US" sz="3200" dirty="0"/>
              <a:t>Example</a:t>
            </a:r>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89</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 name="TextBox 5"/>
          <p:cNvSpPr txBox="1"/>
          <p:nvPr/>
        </p:nvSpPr>
        <p:spPr>
          <a:xfrm>
            <a:off x="4533900" y="1104900"/>
            <a:ext cx="4571999" cy="2585323"/>
          </a:xfrm>
          <a:prstGeom prst="rect">
            <a:avLst/>
          </a:prstGeom>
          <a:noFill/>
        </p:spPr>
        <p:txBody>
          <a:bodyPr wrap="square" rtlCol="0">
            <a:spAutoFit/>
          </a:bodyPr>
          <a:lstStyle/>
          <a:p>
            <a:pPr marL="457200" indent="-457200"/>
            <a:r>
              <a:rPr lang="en-US" dirty="0"/>
              <a:t>Step 4: KCL (in terms of node voltages) per each </a:t>
            </a:r>
            <a:r>
              <a:rPr lang="en-US" dirty="0" err="1"/>
              <a:t>nonreference</a:t>
            </a:r>
            <a:r>
              <a:rPr lang="en-US" dirty="0"/>
              <a:t> node and each </a:t>
            </a:r>
            <a:r>
              <a:rPr lang="en-US" dirty="0" err="1"/>
              <a:t>supernode</a:t>
            </a:r>
            <a:r>
              <a:rPr lang="en-US" dirty="0"/>
              <a:t> that does not contain the reference node.</a:t>
            </a:r>
          </a:p>
          <a:p>
            <a:pPr marL="457200" indent="-457200"/>
            <a:endParaRPr lang="en-US" dirty="0"/>
          </a:p>
          <a:p>
            <a:pPr marL="457200" indent="-457200"/>
            <a:r>
              <a:rPr lang="en-US" dirty="0"/>
              <a:t>Step 5: Relate voltages across voltage sources and all other unknown variables to the node voltages.</a:t>
            </a:r>
          </a:p>
          <a:p>
            <a:pPr marL="457200" indent="-457200"/>
            <a:endParaRPr lang="en-US" dirty="0"/>
          </a:p>
        </p:txBody>
      </p:sp>
      <p:sp>
        <p:nvSpPr>
          <p:cNvPr id="7" name="Oval 6"/>
          <p:cNvSpPr/>
          <p:nvPr/>
        </p:nvSpPr>
        <p:spPr>
          <a:xfrm>
            <a:off x="876300" y="1905000"/>
            <a:ext cx="609600" cy="1790700"/>
          </a:xfrm>
          <a:prstGeom prst="ellipse">
            <a:avLst/>
          </a:prstGeom>
          <a:no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1828800" y="2552700"/>
            <a:ext cx="1028700" cy="1409700"/>
          </a:xfrm>
          <a:prstGeom prst="ellipse">
            <a:avLst/>
          </a:prstGeom>
          <a:no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p:cNvSpPr txBox="1"/>
          <p:nvPr/>
        </p:nvSpPr>
        <p:spPr>
          <a:xfrm>
            <a:off x="1319212" y="4152900"/>
            <a:ext cx="992579" cy="369332"/>
          </a:xfrm>
          <a:prstGeom prst="rect">
            <a:avLst/>
          </a:prstGeom>
          <a:noFill/>
        </p:spPr>
        <p:txBody>
          <a:bodyPr wrap="none" rtlCol="0">
            <a:spAutoFit/>
          </a:bodyPr>
          <a:lstStyle/>
          <a:p>
            <a:r>
              <a:rPr lang="en-US" dirty="0"/>
              <a:t>Node 1:</a:t>
            </a:r>
          </a:p>
        </p:txBody>
      </p:sp>
      <p:graphicFrame>
        <p:nvGraphicFramePr>
          <p:cNvPr id="10" name="Object 2"/>
          <p:cNvGraphicFramePr>
            <a:graphicFrameLocks noChangeAspect="1"/>
          </p:cNvGraphicFramePr>
          <p:nvPr/>
        </p:nvGraphicFramePr>
        <p:xfrm>
          <a:off x="2392363" y="4162425"/>
          <a:ext cx="4351337" cy="350838"/>
        </p:xfrm>
        <a:graphic>
          <a:graphicData uri="http://schemas.openxmlformats.org/presentationml/2006/ole">
            <mc:AlternateContent xmlns:mc="http://schemas.openxmlformats.org/markup-compatibility/2006">
              <mc:Choice xmlns:v="urn:schemas-microsoft-com:vml" Requires="v">
                <p:oleObj name="Equation" r:id="rId4" imgW="2692080" imgH="215640" progId="Equation.3">
                  <p:embed/>
                </p:oleObj>
              </mc:Choice>
              <mc:Fallback>
                <p:oleObj name="Equation" r:id="rId4" imgW="2692080" imgH="2156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92363" y="4162425"/>
                        <a:ext cx="4351337" cy="350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Box 10"/>
          <p:cNvSpPr txBox="1"/>
          <p:nvPr/>
        </p:nvSpPr>
        <p:spPr>
          <a:xfrm>
            <a:off x="1319212" y="4507468"/>
            <a:ext cx="992579" cy="369332"/>
          </a:xfrm>
          <a:prstGeom prst="rect">
            <a:avLst/>
          </a:prstGeom>
          <a:noFill/>
        </p:spPr>
        <p:txBody>
          <a:bodyPr wrap="none" rtlCol="0">
            <a:spAutoFit/>
          </a:bodyPr>
          <a:lstStyle/>
          <a:p>
            <a:r>
              <a:rPr lang="en-US" dirty="0"/>
              <a:t>Node 2:</a:t>
            </a:r>
          </a:p>
        </p:txBody>
      </p:sp>
      <p:graphicFrame>
        <p:nvGraphicFramePr>
          <p:cNvPr id="12" name="Object 4"/>
          <p:cNvGraphicFramePr>
            <a:graphicFrameLocks noChangeAspect="1"/>
          </p:cNvGraphicFramePr>
          <p:nvPr/>
        </p:nvGraphicFramePr>
        <p:xfrm>
          <a:off x="2414588" y="4505325"/>
          <a:ext cx="6119812" cy="350838"/>
        </p:xfrm>
        <a:graphic>
          <a:graphicData uri="http://schemas.openxmlformats.org/presentationml/2006/ole">
            <mc:AlternateContent xmlns:mc="http://schemas.openxmlformats.org/markup-compatibility/2006">
              <mc:Choice xmlns:v="urn:schemas-microsoft-com:vml" Requires="v">
                <p:oleObj name="Equation" r:id="rId6" imgW="3784320" imgH="215640" progId="Equation.3">
                  <p:embed/>
                </p:oleObj>
              </mc:Choice>
              <mc:Fallback>
                <p:oleObj name="Equation" r:id="rId6" imgW="3784320" imgH="2156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14588" y="4505325"/>
                        <a:ext cx="6119812" cy="350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TextBox 13"/>
          <p:cNvSpPr txBox="1"/>
          <p:nvPr/>
        </p:nvSpPr>
        <p:spPr>
          <a:xfrm>
            <a:off x="914400" y="4888468"/>
            <a:ext cx="5583580" cy="369332"/>
          </a:xfrm>
          <a:prstGeom prst="rect">
            <a:avLst/>
          </a:prstGeom>
          <a:noFill/>
        </p:spPr>
        <p:txBody>
          <a:bodyPr wrap="none" rtlCol="0">
            <a:spAutoFit/>
          </a:bodyPr>
          <a:lstStyle/>
          <a:p>
            <a:r>
              <a:rPr lang="en-US" dirty="0"/>
              <a:t>3 unknowns &amp; 2 equations; need one more equation:</a:t>
            </a:r>
          </a:p>
        </p:txBody>
      </p:sp>
      <p:graphicFrame>
        <p:nvGraphicFramePr>
          <p:cNvPr id="187396" name="Object 4"/>
          <p:cNvGraphicFramePr>
            <a:graphicFrameLocks noChangeAspect="1"/>
          </p:cNvGraphicFramePr>
          <p:nvPr/>
        </p:nvGraphicFramePr>
        <p:xfrm>
          <a:off x="1066800" y="5189538"/>
          <a:ext cx="2546350" cy="639762"/>
        </p:xfrm>
        <a:graphic>
          <a:graphicData uri="http://schemas.openxmlformats.org/presentationml/2006/ole">
            <mc:AlternateContent xmlns:mc="http://schemas.openxmlformats.org/markup-compatibility/2006">
              <mc:Choice xmlns:v="urn:schemas-microsoft-com:vml" Requires="v">
                <p:oleObj name="Equation" r:id="rId8" imgW="1574640" imgH="393480" progId="Equation.3">
                  <p:embed/>
                </p:oleObj>
              </mc:Choice>
              <mc:Fallback>
                <p:oleObj name="Equation" r:id="rId8" imgW="1574640" imgH="39348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66800" y="5189538"/>
                        <a:ext cx="2546350" cy="639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8421" name="Object 5"/>
          <p:cNvGraphicFramePr>
            <a:graphicFrameLocks noChangeAspect="1"/>
          </p:cNvGraphicFramePr>
          <p:nvPr/>
        </p:nvGraphicFramePr>
        <p:xfrm>
          <a:off x="4686300" y="5143500"/>
          <a:ext cx="3594100" cy="1444625"/>
        </p:xfrm>
        <a:graphic>
          <a:graphicData uri="http://schemas.openxmlformats.org/presentationml/2006/ole">
            <mc:AlternateContent xmlns:mc="http://schemas.openxmlformats.org/markup-compatibility/2006">
              <mc:Choice xmlns:v="urn:schemas-microsoft-com:vml" Requires="v">
                <p:oleObj name="Equation" r:id="rId10" imgW="2222280" imgH="888840" progId="Equation.3">
                  <p:embed/>
                </p:oleObj>
              </mc:Choice>
              <mc:Fallback>
                <p:oleObj name="Equation" r:id="rId10" imgW="2222280" imgH="88884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86300" y="5143500"/>
                        <a:ext cx="3594100" cy="1444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TextBox 15"/>
          <p:cNvSpPr txBox="1"/>
          <p:nvPr/>
        </p:nvSpPr>
        <p:spPr>
          <a:xfrm>
            <a:off x="3860433" y="5295900"/>
            <a:ext cx="825867" cy="369332"/>
          </a:xfrm>
          <a:prstGeom prst="rect">
            <a:avLst/>
          </a:prstGeom>
          <a:noFill/>
        </p:spPr>
        <p:txBody>
          <a:bodyPr wrap="none" rtlCol="0">
            <a:spAutoFit/>
          </a:bodyPr>
          <a:lstStyle/>
          <a:p>
            <a:r>
              <a:rPr lang="en-US" dirty="0"/>
              <a:t>Solve:</a:t>
            </a:r>
          </a:p>
        </p:txBody>
      </p:sp>
      <p:sp>
        <p:nvSpPr>
          <p:cNvPr id="17" name="Oval 16"/>
          <p:cNvSpPr/>
          <p:nvPr/>
        </p:nvSpPr>
        <p:spPr>
          <a:xfrm>
            <a:off x="2400300" y="2324100"/>
            <a:ext cx="76200" cy="762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cxnSp>
        <p:nvCxnSpPr>
          <p:cNvPr id="18" name="Straight Arrow Connector 17"/>
          <p:cNvCxnSpPr/>
          <p:nvPr/>
        </p:nvCxnSpPr>
        <p:spPr>
          <a:xfrm>
            <a:off x="3048000" y="1028700"/>
            <a:ext cx="381000" cy="1588"/>
          </a:xfrm>
          <a:prstGeom prst="straightConnector1">
            <a:avLst/>
          </a:prstGeom>
          <a:ln w="28575">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2857500" y="762000"/>
            <a:ext cx="235962" cy="369332"/>
          </a:xfrm>
          <a:prstGeom prst="rect">
            <a:avLst/>
          </a:prstGeom>
          <a:noFill/>
        </p:spPr>
        <p:txBody>
          <a:bodyPr wrap="none" rtlCol="0">
            <a:spAutoFit/>
          </a:bodyPr>
          <a:lstStyle/>
          <a:p>
            <a:r>
              <a:rPr lang="en-US" dirty="0" err="1"/>
              <a:t>i</a:t>
            </a:r>
            <a:endParaRPr lang="tr-TR" dirty="0"/>
          </a:p>
        </p:txBody>
      </p:sp>
    </p:spTree>
    <p:extLst>
      <p:ext uri="{BB962C8B-B14F-4D97-AF65-F5344CB8AC3E}">
        <p14:creationId xmlns:p14="http://schemas.microsoft.com/office/powerpoint/2010/main" val="1273005778"/>
      </p:ext>
    </p:extLst>
  </p:cSld>
  <p:clrMapOvr>
    <a:masterClrMapping/>
  </p:clrMapOvr>
  <p:transition spd="me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Mesh Analysis</a:t>
            </a:r>
          </a:p>
        </p:txBody>
      </p:sp>
      <p:sp>
        <p:nvSpPr>
          <p:cNvPr id="6147" name="Content Placeholder 2"/>
          <p:cNvSpPr>
            <a:spLocks noGrp="1"/>
          </p:cNvSpPr>
          <p:nvPr>
            <p:ph idx="1"/>
          </p:nvPr>
        </p:nvSpPr>
        <p:spPr>
          <a:xfrm>
            <a:off x="533400" y="838201"/>
            <a:ext cx="8229600" cy="5753099"/>
          </a:xfrm>
        </p:spPr>
        <p:txBody>
          <a:bodyPr/>
          <a:lstStyle/>
          <a:p>
            <a:r>
              <a:rPr lang="en-US" sz="2400" dirty="0"/>
              <a:t>Apply KVL around loops in the circuit to solve for currents first.</a:t>
            </a:r>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r>
              <a:rPr lang="en-US" sz="2400" dirty="0"/>
              <a:t>Note: Nodal analysis is applicable to general circuits with </a:t>
            </a:r>
            <a:r>
              <a:rPr lang="en-US" sz="2400" i="1" dirty="0" err="1"/>
              <a:t>nonplanar</a:t>
            </a:r>
            <a:r>
              <a:rPr lang="en-US" sz="2400" dirty="0"/>
              <a:t> structure. Mesh analysis only applies to </a:t>
            </a:r>
            <a:r>
              <a:rPr lang="en-US" sz="2400" b="1" i="1" dirty="0"/>
              <a:t>planar</a:t>
            </a:r>
            <a:r>
              <a:rPr lang="en-US" sz="2400" dirty="0"/>
              <a:t> circuits (no branch crosses another.)</a:t>
            </a:r>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90</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189444" name="Picture 4"/>
          <p:cNvPicPr>
            <a:picLocks noChangeAspect="1" noChangeArrowheads="1"/>
          </p:cNvPicPr>
          <p:nvPr/>
        </p:nvPicPr>
        <p:blipFill>
          <a:blip r:embed="rId2" cstate="print"/>
          <a:srcRect/>
          <a:stretch>
            <a:fillRect/>
          </a:stretch>
        </p:blipFill>
        <p:spPr bwMode="auto">
          <a:xfrm>
            <a:off x="571500" y="2019300"/>
            <a:ext cx="3486150" cy="2324100"/>
          </a:xfrm>
          <a:prstGeom prst="rect">
            <a:avLst/>
          </a:prstGeom>
          <a:noFill/>
          <a:ln w="9525">
            <a:noFill/>
            <a:miter lim="800000"/>
            <a:headEnd/>
            <a:tailEnd/>
          </a:ln>
          <a:effectLst/>
        </p:spPr>
      </p:pic>
      <p:sp>
        <p:nvSpPr>
          <p:cNvPr id="14" name="Freeform 13"/>
          <p:cNvSpPr/>
          <p:nvPr/>
        </p:nvSpPr>
        <p:spPr>
          <a:xfrm>
            <a:off x="3521529" y="1939471"/>
            <a:ext cx="1317171" cy="433615"/>
          </a:xfrm>
          <a:custGeom>
            <a:avLst/>
            <a:gdLst>
              <a:gd name="connsiteX0" fmla="*/ 0 w 1317171"/>
              <a:gd name="connsiteY0" fmla="*/ 433615 h 433615"/>
              <a:gd name="connsiteX1" fmla="*/ 413657 w 1317171"/>
              <a:gd name="connsiteY1" fmla="*/ 63500 h 433615"/>
              <a:gd name="connsiteX2" fmla="*/ 1317171 w 1317171"/>
              <a:gd name="connsiteY2" fmla="*/ 52615 h 433615"/>
            </a:gdLst>
            <a:ahLst/>
            <a:cxnLst>
              <a:cxn ang="0">
                <a:pos x="connsiteX0" y="connsiteY0"/>
              </a:cxn>
              <a:cxn ang="0">
                <a:pos x="connsiteX1" y="connsiteY1"/>
              </a:cxn>
              <a:cxn ang="0">
                <a:pos x="connsiteX2" y="connsiteY2"/>
              </a:cxn>
            </a:cxnLst>
            <a:rect l="l" t="t" r="r" b="b"/>
            <a:pathLst>
              <a:path w="1317171" h="433615">
                <a:moveTo>
                  <a:pt x="0" y="433615"/>
                </a:moveTo>
                <a:cubicBezTo>
                  <a:pt x="97064" y="280307"/>
                  <a:pt x="194129" y="127000"/>
                  <a:pt x="413657" y="63500"/>
                </a:cubicBezTo>
                <a:cubicBezTo>
                  <a:pt x="633185" y="0"/>
                  <a:pt x="975178" y="26307"/>
                  <a:pt x="1317171" y="52615"/>
                </a:cubicBezTo>
              </a:path>
            </a:pathLst>
          </a:custGeom>
          <a:ln w="1905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Freeform 15"/>
          <p:cNvSpPr/>
          <p:nvPr/>
        </p:nvSpPr>
        <p:spPr>
          <a:xfrm>
            <a:off x="3488871" y="2318657"/>
            <a:ext cx="1382486" cy="1121229"/>
          </a:xfrm>
          <a:custGeom>
            <a:avLst/>
            <a:gdLst>
              <a:gd name="connsiteX0" fmla="*/ 0 w 1382486"/>
              <a:gd name="connsiteY0" fmla="*/ 1121229 h 1121229"/>
              <a:gd name="connsiteX1" fmla="*/ 283029 w 1382486"/>
              <a:gd name="connsiteY1" fmla="*/ 957943 h 1121229"/>
              <a:gd name="connsiteX2" fmla="*/ 979715 w 1382486"/>
              <a:gd name="connsiteY2" fmla="*/ 228600 h 1121229"/>
              <a:gd name="connsiteX3" fmla="*/ 1382486 w 1382486"/>
              <a:gd name="connsiteY3" fmla="*/ 0 h 1121229"/>
            </a:gdLst>
            <a:ahLst/>
            <a:cxnLst>
              <a:cxn ang="0">
                <a:pos x="connsiteX0" y="connsiteY0"/>
              </a:cxn>
              <a:cxn ang="0">
                <a:pos x="connsiteX1" y="connsiteY1"/>
              </a:cxn>
              <a:cxn ang="0">
                <a:pos x="connsiteX2" y="connsiteY2"/>
              </a:cxn>
              <a:cxn ang="0">
                <a:pos x="connsiteX3" y="connsiteY3"/>
              </a:cxn>
            </a:cxnLst>
            <a:rect l="l" t="t" r="r" b="b"/>
            <a:pathLst>
              <a:path w="1382486" h="1121229">
                <a:moveTo>
                  <a:pt x="0" y="1121229"/>
                </a:moveTo>
                <a:cubicBezTo>
                  <a:pt x="59871" y="1113971"/>
                  <a:pt x="119743" y="1106714"/>
                  <a:pt x="283029" y="957943"/>
                </a:cubicBezTo>
                <a:cubicBezTo>
                  <a:pt x="446315" y="809172"/>
                  <a:pt x="796472" y="388257"/>
                  <a:pt x="979715" y="228600"/>
                </a:cubicBezTo>
                <a:cubicBezTo>
                  <a:pt x="1162958" y="68943"/>
                  <a:pt x="1272722" y="34471"/>
                  <a:pt x="1382486" y="0"/>
                </a:cubicBezTo>
              </a:path>
            </a:pathLst>
          </a:custGeom>
          <a:ln w="1905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p:cNvSpPr txBox="1"/>
          <p:nvPr/>
        </p:nvSpPr>
        <p:spPr>
          <a:xfrm>
            <a:off x="4991100" y="1905000"/>
            <a:ext cx="748923" cy="369332"/>
          </a:xfrm>
          <a:prstGeom prst="rect">
            <a:avLst/>
          </a:prstGeom>
          <a:noFill/>
        </p:spPr>
        <p:txBody>
          <a:bodyPr wrap="none" rtlCol="0">
            <a:spAutoFit/>
          </a:bodyPr>
          <a:lstStyle/>
          <a:p>
            <a:r>
              <a:rPr lang="en-US" dirty="0"/>
              <a:t>mesh</a:t>
            </a:r>
          </a:p>
        </p:txBody>
      </p:sp>
      <p:sp>
        <p:nvSpPr>
          <p:cNvPr id="18" name="TextBox 17"/>
          <p:cNvSpPr txBox="1"/>
          <p:nvPr/>
        </p:nvSpPr>
        <p:spPr>
          <a:xfrm>
            <a:off x="4953000" y="2514600"/>
            <a:ext cx="3924300" cy="1323439"/>
          </a:xfrm>
          <a:prstGeom prst="rect">
            <a:avLst/>
          </a:prstGeom>
          <a:noFill/>
        </p:spPr>
        <p:txBody>
          <a:bodyPr wrap="square" rtlCol="0">
            <a:spAutoFit/>
          </a:bodyPr>
          <a:lstStyle/>
          <a:p>
            <a:r>
              <a:rPr lang="en-US" sz="2000" dirty="0"/>
              <a:t>A mesh is a loop that contains</a:t>
            </a:r>
          </a:p>
          <a:p>
            <a:r>
              <a:rPr lang="en-US" sz="2000" dirty="0"/>
              <a:t>no elements within it. </a:t>
            </a:r>
          </a:p>
          <a:p>
            <a:r>
              <a:rPr lang="en-US" sz="2000" dirty="0"/>
              <a:t>[ A </a:t>
            </a:r>
            <a:r>
              <a:rPr lang="en-US" sz="2000" dirty="0" err="1"/>
              <a:t>supermesh</a:t>
            </a:r>
            <a:r>
              <a:rPr lang="en-US" sz="2000" dirty="0"/>
              <a:t> is an exception as will be covered later.]</a:t>
            </a:r>
          </a:p>
        </p:txBody>
      </p:sp>
      <p:sp>
        <p:nvSpPr>
          <p:cNvPr id="11" name="Oval 10"/>
          <p:cNvSpPr/>
          <p:nvPr/>
        </p:nvSpPr>
        <p:spPr>
          <a:xfrm>
            <a:off x="2286000" y="3086100"/>
            <a:ext cx="76200" cy="762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3495745348"/>
      </p:ext>
    </p:extLst>
  </p:cSld>
  <p:clrMapOvr>
    <a:masterClrMapping/>
  </p:clrMapOvr>
  <p:transition spd="me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Mesh Current</a:t>
            </a:r>
          </a:p>
        </p:txBody>
      </p:sp>
      <p:sp>
        <p:nvSpPr>
          <p:cNvPr id="6147" name="Content Placeholder 2"/>
          <p:cNvSpPr>
            <a:spLocks noGrp="1"/>
          </p:cNvSpPr>
          <p:nvPr>
            <p:ph idx="1"/>
          </p:nvPr>
        </p:nvSpPr>
        <p:spPr>
          <a:xfrm>
            <a:off x="533400" y="838201"/>
            <a:ext cx="8229600" cy="5753099"/>
          </a:xfrm>
        </p:spPr>
        <p:txBody>
          <a:bodyPr/>
          <a:lstStyle/>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pPr>
              <a:buNone/>
            </a:pPr>
            <a:r>
              <a:rPr lang="en-US" sz="2400" dirty="0"/>
              <a:t>2 independent equations and 2 unknowns can be solved easily:</a:t>
            </a:r>
          </a:p>
          <a:p>
            <a:pPr>
              <a:buNone/>
            </a:pPr>
            <a:endParaRPr lang="en-US" sz="2400" dirty="0"/>
          </a:p>
          <a:p>
            <a:pPr>
              <a:buNone/>
            </a:pPr>
            <a:endParaRPr lang="en-US" sz="2400" dirty="0"/>
          </a:p>
          <a:p>
            <a:r>
              <a:rPr lang="en-US" sz="2400" dirty="0"/>
              <a:t>If the circuit has M meshes, then need M independent equations to solve for M mesh currents.</a:t>
            </a:r>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91</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18" name="TextBox 17"/>
          <p:cNvSpPr txBox="1"/>
          <p:nvPr/>
        </p:nvSpPr>
        <p:spPr>
          <a:xfrm>
            <a:off x="5143500" y="1257300"/>
            <a:ext cx="3924300" cy="369332"/>
          </a:xfrm>
          <a:prstGeom prst="rect">
            <a:avLst/>
          </a:prstGeom>
          <a:noFill/>
        </p:spPr>
        <p:txBody>
          <a:bodyPr wrap="square" rtlCol="0">
            <a:spAutoFit/>
          </a:bodyPr>
          <a:lstStyle/>
          <a:p>
            <a:r>
              <a:rPr lang="en-US" dirty="0"/>
              <a:t>1. Apply KVL to the left hand mesh:</a:t>
            </a:r>
          </a:p>
        </p:txBody>
      </p:sp>
      <p:pic>
        <p:nvPicPr>
          <p:cNvPr id="190466" name="Picture 2"/>
          <p:cNvPicPr>
            <a:picLocks noChangeAspect="1" noChangeArrowheads="1"/>
          </p:cNvPicPr>
          <p:nvPr/>
        </p:nvPicPr>
        <p:blipFill>
          <a:blip r:embed="rId2" cstate="print"/>
          <a:srcRect/>
          <a:stretch>
            <a:fillRect/>
          </a:stretch>
        </p:blipFill>
        <p:spPr bwMode="auto">
          <a:xfrm>
            <a:off x="342900" y="838200"/>
            <a:ext cx="4714986" cy="2324100"/>
          </a:xfrm>
          <a:prstGeom prst="rect">
            <a:avLst/>
          </a:prstGeom>
          <a:noFill/>
          <a:ln w="9525">
            <a:noFill/>
            <a:miter lim="800000"/>
            <a:headEnd/>
            <a:tailEnd/>
          </a:ln>
          <a:effectLst/>
        </p:spPr>
      </p:pic>
      <p:sp>
        <p:nvSpPr>
          <p:cNvPr id="12" name="TextBox 11"/>
          <p:cNvSpPr txBox="1"/>
          <p:nvPr/>
        </p:nvSpPr>
        <p:spPr>
          <a:xfrm>
            <a:off x="5143500" y="2373868"/>
            <a:ext cx="3924300" cy="369332"/>
          </a:xfrm>
          <a:prstGeom prst="rect">
            <a:avLst/>
          </a:prstGeom>
          <a:noFill/>
        </p:spPr>
        <p:txBody>
          <a:bodyPr wrap="square" rtlCol="0">
            <a:spAutoFit/>
          </a:bodyPr>
          <a:lstStyle/>
          <a:p>
            <a:r>
              <a:rPr lang="en-US" dirty="0"/>
              <a:t>2. Apply KVL to the right hand mesh:</a:t>
            </a:r>
          </a:p>
        </p:txBody>
      </p:sp>
      <p:graphicFrame>
        <p:nvGraphicFramePr>
          <p:cNvPr id="190467" name="Object 3"/>
          <p:cNvGraphicFramePr>
            <a:graphicFrameLocks noChangeAspect="1"/>
          </p:cNvGraphicFramePr>
          <p:nvPr/>
        </p:nvGraphicFramePr>
        <p:xfrm>
          <a:off x="5715000" y="1619250"/>
          <a:ext cx="2320925" cy="742950"/>
        </p:xfrm>
        <a:graphic>
          <a:graphicData uri="http://schemas.openxmlformats.org/presentationml/2006/ole">
            <mc:AlternateContent xmlns:mc="http://schemas.openxmlformats.org/markup-compatibility/2006">
              <mc:Choice xmlns:v="urn:schemas-microsoft-com:vml" Requires="v">
                <p:oleObj name="Equation" r:id="rId3" imgW="1434960" imgH="457200" progId="Equation.3">
                  <p:embed/>
                </p:oleObj>
              </mc:Choice>
              <mc:Fallback>
                <p:oleObj name="Equation" r:id="rId3" imgW="1434960" imgH="457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0" y="1619250"/>
                        <a:ext cx="2320925" cy="742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0468" name="Object 4"/>
          <p:cNvGraphicFramePr>
            <a:graphicFrameLocks noChangeAspect="1"/>
          </p:cNvGraphicFramePr>
          <p:nvPr/>
        </p:nvGraphicFramePr>
        <p:xfrm>
          <a:off x="5718175" y="2724150"/>
          <a:ext cx="2320925" cy="742950"/>
        </p:xfrm>
        <a:graphic>
          <a:graphicData uri="http://schemas.openxmlformats.org/presentationml/2006/ole">
            <mc:AlternateContent xmlns:mc="http://schemas.openxmlformats.org/markup-compatibility/2006">
              <mc:Choice xmlns:v="urn:schemas-microsoft-com:vml" Requires="v">
                <p:oleObj name="Equation" r:id="rId5" imgW="1434960" imgH="457200" progId="Equation.3">
                  <p:embed/>
                </p:oleObj>
              </mc:Choice>
              <mc:Fallback>
                <p:oleObj name="Equation" r:id="rId5" imgW="1434960" imgH="457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18175" y="2724150"/>
                        <a:ext cx="2320925" cy="742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0469" name="Object 5"/>
          <p:cNvGraphicFramePr>
            <a:graphicFrameLocks noChangeAspect="1"/>
          </p:cNvGraphicFramePr>
          <p:nvPr/>
        </p:nvGraphicFramePr>
        <p:xfrm>
          <a:off x="1371600" y="4457700"/>
          <a:ext cx="4258953" cy="388938"/>
        </p:xfrm>
        <a:graphic>
          <a:graphicData uri="http://schemas.openxmlformats.org/presentationml/2006/ole">
            <mc:AlternateContent xmlns:mc="http://schemas.openxmlformats.org/markup-compatibility/2006">
              <mc:Choice xmlns:v="urn:schemas-microsoft-com:vml" Requires="v">
                <p:oleObj name="Equation" r:id="rId7" imgW="2374560" imgH="215640" progId="Equation.3">
                  <p:embed/>
                </p:oleObj>
              </mc:Choice>
              <mc:Fallback>
                <p:oleObj name="Equation" r:id="rId7" imgW="2374560" imgH="21564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71600" y="4457700"/>
                        <a:ext cx="4258953" cy="388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04014154"/>
      </p:ext>
    </p:extLst>
  </p:cSld>
  <p:clrMapOvr>
    <a:masterClrMapping/>
  </p:clrMapOvr>
  <p:transition spd="me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a:t>
            </a:r>
          </a:p>
        </p:txBody>
      </p:sp>
      <p:sp>
        <p:nvSpPr>
          <p:cNvPr id="6147" name="Content Placeholder 2"/>
          <p:cNvSpPr>
            <a:spLocks noGrp="1"/>
          </p:cNvSpPr>
          <p:nvPr>
            <p:ph idx="1"/>
          </p:nvPr>
        </p:nvSpPr>
        <p:spPr>
          <a:xfrm>
            <a:off x="533400" y="723901"/>
            <a:ext cx="8229600" cy="5867400"/>
          </a:xfrm>
        </p:spPr>
        <p:txBody>
          <a:bodyPr/>
          <a:lstStyle/>
          <a:p>
            <a:pPr>
              <a:buNone/>
            </a:pPr>
            <a:r>
              <a:rPr lang="en-US" sz="2400" dirty="0"/>
              <a:t>Use mesh analysis to determine the three mesh currents in the following circuit:</a:t>
            </a:r>
          </a:p>
          <a:p>
            <a:pPr>
              <a:buNone/>
            </a:pPr>
            <a:endParaRPr lang="en-US" sz="2400" dirty="0"/>
          </a:p>
          <a:p>
            <a:endParaRPr lang="en-US" sz="20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92</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191498" name="Picture 10"/>
          <p:cNvPicPr>
            <a:picLocks noChangeAspect="1" noChangeArrowheads="1"/>
          </p:cNvPicPr>
          <p:nvPr/>
        </p:nvPicPr>
        <p:blipFill>
          <a:blip r:embed="rId2" cstate="print"/>
          <a:srcRect/>
          <a:stretch>
            <a:fillRect/>
          </a:stretch>
        </p:blipFill>
        <p:spPr bwMode="auto">
          <a:xfrm>
            <a:off x="289315" y="1714500"/>
            <a:ext cx="3444485" cy="2247900"/>
          </a:xfrm>
          <a:prstGeom prst="rect">
            <a:avLst/>
          </a:prstGeom>
          <a:noFill/>
          <a:ln w="9525">
            <a:noFill/>
            <a:miter lim="800000"/>
            <a:headEnd/>
            <a:tailEnd/>
          </a:ln>
          <a:effectLst/>
        </p:spPr>
      </p:pic>
    </p:spTree>
    <p:extLst>
      <p:ext uri="{BB962C8B-B14F-4D97-AF65-F5344CB8AC3E}">
        <p14:creationId xmlns:p14="http://schemas.microsoft.com/office/powerpoint/2010/main" val="4144381543"/>
      </p:ext>
    </p:extLst>
  </p:cSld>
  <p:clrMapOvr>
    <a:masterClrMapping/>
  </p:clrMapOvr>
  <p:transition spd="me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a:t>
            </a:r>
          </a:p>
        </p:txBody>
      </p:sp>
      <p:sp>
        <p:nvSpPr>
          <p:cNvPr id="6147" name="Content Placeholder 2"/>
          <p:cNvSpPr>
            <a:spLocks noGrp="1"/>
          </p:cNvSpPr>
          <p:nvPr>
            <p:ph idx="1"/>
          </p:nvPr>
        </p:nvSpPr>
        <p:spPr>
          <a:xfrm>
            <a:off x="533400" y="723901"/>
            <a:ext cx="8229600" cy="5867400"/>
          </a:xfrm>
        </p:spPr>
        <p:txBody>
          <a:bodyPr/>
          <a:lstStyle/>
          <a:p>
            <a:pPr>
              <a:buNone/>
            </a:pPr>
            <a:r>
              <a:rPr lang="en-US" sz="2400" dirty="0"/>
              <a:t>Use mesh analysis to determine the three mesh currents in the following circuit:</a:t>
            </a:r>
          </a:p>
          <a:p>
            <a:pPr>
              <a:buNone/>
            </a:pPr>
            <a:endParaRPr lang="en-US" sz="2400" dirty="0"/>
          </a:p>
          <a:p>
            <a:endParaRPr lang="en-US" sz="20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93</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7" name="TextBox 6"/>
          <p:cNvSpPr txBox="1"/>
          <p:nvPr/>
        </p:nvSpPr>
        <p:spPr>
          <a:xfrm>
            <a:off x="3924300" y="1524000"/>
            <a:ext cx="1005403" cy="369332"/>
          </a:xfrm>
          <a:prstGeom prst="rect">
            <a:avLst/>
          </a:prstGeom>
          <a:noFill/>
        </p:spPr>
        <p:txBody>
          <a:bodyPr wrap="none" rtlCol="0">
            <a:spAutoFit/>
          </a:bodyPr>
          <a:lstStyle/>
          <a:p>
            <a:r>
              <a:rPr lang="en-US" dirty="0"/>
              <a:t>Mesh 1:</a:t>
            </a:r>
          </a:p>
        </p:txBody>
      </p:sp>
      <p:pic>
        <p:nvPicPr>
          <p:cNvPr id="191498" name="Picture 10"/>
          <p:cNvPicPr>
            <a:picLocks noChangeAspect="1" noChangeArrowheads="1"/>
          </p:cNvPicPr>
          <p:nvPr/>
        </p:nvPicPr>
        <p:blipFill>
          <a:blip r:embed="rId2" cstate="print"/>
          <a:srcRect/>
          <a:stretch>
            <a:fillRect/>
          </a:stretch>
        </p:blipFill>
        <p:spPr bwMode="auto">
          <a:xfrm>
            <a:off x="289315" y="1714500"/>
            <a:ext cx="3444485" cy="2247900"/>
          </a:xfrm>
          <a:prstGeom prst="rect">
            <a:avLst/>
          </a:prstGeom>
          <a:noFill/>
          <a:ln w="9525">
            <a:noFill/>
            <a:miter lim="800000"/>
            <a:headEnd/>
            <a:tailEnd/>
          </a:ln>
          <a:effectLst/>
        </p:spPr>
      </p:pic>
      <p:graphicFrame>
        <p:nvGraphicFramePr>
          <p:cNvPr id="191499" name="Object 11"/>
          <p:cNvGraphicFramePr>
            <a:graphicFrameLocks noChangeAspect="1"/>
          </p:cNvGraphicFramePr>
          <p:nvPr/>
        </p:nvGraphicFramePr>
        <p:xfrm>
          <a:off x="4884737" y="1543050"/>
          <a:ext cx="3040063" cy="742950"/>
        </p:xfrm>
        <a:graphic>
          <a:graphicData uri="http://schemas.openxmlformats.org/presentationml/2006/ole">
            <mc:AlternateContent xmlns:mc="http://schemas.openxmlformats.org/markup-compatibility/2006">
              <mc:Choice xmlns:v="urn:schemas-microsoft-com:vml" Requires="v">
                <p:oleObj name="Equation" r:id="rId3" imgW="1879560" imgH="457200" progId="Equation.3">
                  <p:embed/>
                </p:oleObj>
              </mc:Choice>
              <mc:Fallback>
                <p:oleObj name="Equation" r:id="rId3" imgW="1879560" imgH="457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84737" y="1543050"/>
                        <a:ext cx="3040063" cy="742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264771604"/>
      </p:ext>
    </p:extLst>
  </p:cSld>
  <p:clrMapOvr>
    <a:masterClrMapping/>
  </p:clrMapOvr>
  <p:transition spd="me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a:t>
            </a:r>
          </a:p>
        </p:txBody>
      </p:sp>
      <p:sp>
        <p:nvSpPr>
          <p:cNvPr id="6147" name="Content Placeholder 2"/>
          <p:cNvSpPr>
            <a:spLocks noGrp="1"/>
          </p:cNvSpPr>
          <p:nvPr>
            <p:ph idx="1"/>
          </p:nvPr>
        </p:nvSpPr>
        <p:spPr>
          <a:xfrm>
            <a:off x="533400" y="723901"/>
            <a:ext cx="8229600" cy="5867400"/>
          </a:xfrm>
        </p:spPr>
        <p:txBody>
          <a:bodyPr/>
          <a:lstStyle/>
          <a:p>
            <a:pPr>
              <a:buNone/>
            </a:pPr>
            <a:r>
              <a:rPr lang="en-US" sz="2400" dirty="0"/>
              <a:t>Use mesh analysis to determine the three mesh currents in the following circuit:</a:t>
            </a:r>
          </a:p>
          <a:p>
            <a:pPr>
              <a:buNone/>
            </a:pPr>
            <a:endParaRPr lang="en-US" sz="2400" dirty="0"/>
          </a:p>
          <a:p>
            <a:endParaRPr lang="en-US" sz="20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94</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7" name="TextBox 6"/>
          <p:cNvSpPr txBox="1"/>
          <p:nvPr/>
        </p:nvSpPr>
        <p:spPr>
          <a:xfrm>
            <a:off x="3924300" y="1524000"/>
            <a:ext cx="1005403" cy="369332"/>
          </a:xfrm>
          <a:prstGeom prst="rect">
            <a:avLst/>
          </a:prstGeom>
          <a:noFill/>
        </p:spPr>
        <p:txBody>
          <a:bodyPr wrap="none" rtlCol="0">
            <a:spAutoFit/>
          </a:bodyPr>
          <a:lstStyle/>
          <a:p>
            <a:r>
              <a:rPr lang="en-US" dirty="0"/>
              <a:t>Mesh 1:</a:t>
            </a:r>
          </a:p>
        </p:txBody>
      </p:sp>
      <p:pic>
        <p:nvPicPr>
          <p:cNvPr id="191498" name="Picture 10"/>
          <p:cNvPicPr>
            <a:picLocks noChangeAspect="1" noChangeArrowheads="1"/>
          </p:cNvPicPr>
          <p:nvPr/>
        </p:nvPicPr>
        <p:blipFill>
          <a:blip r:embed="rId2" cstate="print"/>
          <a:srcRect/>
          <a:stretch>
            <a:fillRect/>
          </a:stretch>
        </p:blipFill>
        <p:spPr bwMode="auto">
          <a:xfrm>
            <a:off x="289315" y="1714500"/>
            <a:ext cx="3444485" cy="2247900"/>
          </a:xfrm>
          <a:prstGeom prst="rect">
            <a:avLst/>
          </a:prstGeom>
          <a:noFill/>
          <a:ln w="9525">
            <a:noFill/>
            <a:miter lim="800000"/>
            <a:headEnd/>
            <a:tailEnd/>
          </a:ln>
          <a:effectLst/>
        </p:spPr>
      </p:pic>
      <p:graphicFrame>
        <p:nvGraphicFramePr>
          <p:cNvPr id="191499" name="Object 11"/>
          <p:cNvGraphicFramePr>
            <a:graphicFrameLocks noChangeAspect="1"/>
          </p:cNvGraphicFramePr>
          <p:nvPr/>
        </p:nvGraphicFramePr>
        <p:xfrm>
          <a:off x="4884737" y="1543050"/>
          <a:ext cx="3040063" cy="742950"/>
        </p:xfrm>
        <a:graphic>
          <a:graphicData uri="http://schemas.openxmlformats.org/presentationml/2006/ole">
            <mc:AlternateContent xmlns:mc="http://schemas.openxmlformats.org/markup-compatibility/2006">
              <mc:Choice xmlns:v="urn:schemas-microsoft-com:vml" Requires="v">
                <p:oleObj name="Equation" r:id="rId3" imgW="1879560" imgH="457200" progId="Equation.3">
                  <p:embed/>
                </p:oleObj>
              </mc:Choice>
              <mc:Fallback>
                <p:oleObj name="Equation" r:id="rId3" imgW="1879560" imgH="457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84737" y="1543050"/>
                        <a:ext cx="3040063" cy="742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TextBox 26"/>
          <p:cNvSpPr txBox="1"/>
          <p:nvPr/>
        </p:nvSpPr>
        <p:spPr>
          <a:xfrm>
            <a:off x="3924300" y="2628900"/>
            <a:ext cx="1005403" cy="369332"/>
          </a:xfrm>
          <a:prstGeom prst="rect">
            <a:avLst/>
          </a:prstGeom>
          <a:noFill/>
        </p:spPr>
        <p:txBody>
          <a:bodyPr wrap="none" rtlCol="0">
            <a:spAutoFit/>
          </a:bodyPr>
          <a:lstStyle/>
          <a:p>
            <a:r>
              <a:rPr lang="en-US" dirty="0"/>
              <a:t>Mesh 2:</a:t>
            </a:r>
          </a:p>
        </p:txBody>
      </p:sp>
      <p:graphicFrame>
        <p:nvGraphicFramePr>
          <p:cNvPr id="28" name="Object 11"/>
          <p:cNvGraphicFramePr>
            <a:graphicFrameLocks noChangeAspect="1"/>
          </p:cNvGraphicFramePr>
          <p:nvPr/>
        </p:nvGraphicFramePr>
        <p:xfrm>
          <a:off x="5257800" y="2647950"/>
          <a:ext cx="2690812" cy="742950"/>
        </p:xfrm>
        <a:graphic>
          <a:graphicData uri="http://schemas.openxmlformats.org/presentationml/2006/ole">
            <mc:AlternateContent xmlns:mc="http://schemas.openxmlformats.org/markup-compatibility/2006">
              <mc:Choice xmlns:v="urn:schemas-microsoft-com:vml" Requires="v">
                <p:oleObj name="Equation" r:id="rId5" imgW="1663560" imgH="457200" progId="Equation.3">
                  <p:embed/>
                </p:oleObj>
              </mc:Choice>
              <mc:Fallback>
                <p:oleObj name="Equation" r:id="rId5" imgW="1663560" imgH="457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57800" y="2647950"/>
                        <a:ext cx="2690812" cy="742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829298275"/>
      </p:ext>
    </p:extLst>
  </p:cSld>
  <p:clrMapOvr>
    <a:masterClrMapping/>
  </p:clrMapOvr>
  <p:transition spd="me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a:t>
            </a:r>
          </a:p>
        </p:txBody>
      </p:sp>
      <p:sp>
        <p:nvSpPr>
          <p:cNvPr id="6147" name="Content Placeholder 2"/>
          <p:cNvSpPr>
            <a:spLocks noGrp="1"/>
          </p:cNvSpPr>
          <p:nvPr>
            <p:ph idx="1"/>
          </p:nvPr>
        </p:nvSpPr>
        <p:spPr>
          <a:xfrm>
            <a:off x="533400" y="723901"/>
            <a:ext cx="8229600" cy="5867400"/>
          </a:xfrm>
        </p:spPr>
        <p:txBody>
          <a:bodyPr/>
          <a:lstStyle/>
          <a:p>
            <a:pPr>
              <a:buNone/>
            </a:pPr>
            <a:r>
              <a:rPr lang="en-US" sz="2400" dirty="0"/>
              <a:t>Use mesh analysis to determine the three mesh currents in the following circuit:</a:t>
            </a:r>
          </a:p>
          <a:p>
            <a:pPr>
              <a:buNone/>
            </a:pPr>
            <a:endParaRPr lang="en-US" sz="2400" dirty="0"/>
          </a:p>
          <a:p>
            <a:endParaRPr lang="en-US" sz="20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95</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7" name="TextBox 6"/>
          <p:cNvSpPr txBox="1"/>
          <p:nvPr/>
        </p:nvSpPr>
        <p:spPr>
          <a:xfrm>
            <a:off x="3924300" y="1524000"/>
            <a:ext cx="1005403" cy="369332"/>
          </a:xfrm>
          <a:prstGeom prst="rect">
            <a:avLst/>
          </a:prstGeom>
          <a:noFill/>
        </p:spPr>
        <p:txBody>
          <a:bodyPr wrap="none" rtlCol="0">
            <a:spAutoFit/>
          </a:bodyPr>
          <a:lstStyle/>
          <a:p>
            <a:r>
              <a:rPr lang="en-US" dirty="0"/>
              <a:t>Mesh 1:</a:t>
            </a:r>
          </a:p>
        </p:txBody>
      </p:sp>
      <p:pic>
        <p:nvPicPr>
          <p:cNvPr id="191498" name="Picture 10"/>
          <p:cNvPicPr>
            <a:picLocks noChangeAspect="1" noChangeArrowheads="1"/>
          </p:cNvPicPr>
          <p:nvPr/>
        </p:nvPicPr>
        <p:blipFill>
          <a:blip r:embed="rId2" cstate="print"/>
          <a:srcRect/>
          <a:stretch>
            <a:fillRect/>
          </a:stretch>
        </p:blipFill>
        <p:spPr bwMode="auto">
          <a:xfrm>
            <a:off x="289315" y="1714500"/>
            <a:ext cx="3444485" cy="2247900"/>
          </a:xfrm>
          <a:prstGeom prst="rect">
            <a:avLst/>
          </a:prstGeom>
          <a:noFill/>
          <a:ln w="9525">
            <a:noFill/>
            <a:miter lim="800000"/>
            <a:headEnd/>
            <a:tailEnd/>
          </a:ln>
          <a:effectLst/>
        </p:spPr>
      </p:pic>
      <p:graphicFrame>
        <p:nvGraphicFramePr>
          <p:cNvPr id="191499" name="Object 11"/>
          <p:cNvGraphicFramePr>
            <a:graphicFrameLocks noChangeAspect="1"/>
          </p:cNvGraphicFramePr>
          <p:nvPr/>
        </p:nvGraphicFramePr>
        <p:xfrm>
          <a:off x="4884737" y="1543050"/>
          <a:ext cx="3040063" cy="742950"/>
        </p:xfrm>
        <a:graphic>
          <a:graphicData uri="http://schemas.openxmlformats.org/presentationml/2006/ole">
            <mc:AlternateContent xmlns:mc="http://schemas.openxmlformats.org/markup-compatibility/2006">
              <mc:Choice xmlns:v="urn:schemas-microsoft-com:vml" Requires="v">
                <p:oleObj name="Equation" r:id="rId3" imgW="1879560" imgH="457200" progId="Equation.3">
                  <p:embed/>
                </p:oleObj>
              </mc:Choice>
              <mc:Fallback>
                <p:oleObj name="Equation" r:id="rId3" imgW="1879560" imgH="457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84737" y="1543050"/>
                        <a:ext cx="3040063" cy="742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TextBox 26"/>
          <p:cNvSpPr txBox="1"/>
          <p:nvPr/>
        </p:nvSpPr>
        <p:spPr>
          <a:xfrm>
            <a:off x="3924300" y="2628900"/>
            <a:ext cx="1005403" cy="369332"/>
          </a:xfrm>
          <a:prstGeom prst="rect">
            <a:avLst/>
          </a:prstGeom>
          <a:noFill/>
        </p:spPr>
        <p:txBody>
          <a:bodyPr wrap="none" rtlCol="0">
            <a:spAutoFit/>
          </a:bodyPr>
          <a:lstStyle/>
          <a:p>
            <a:r>
              <a:rPr lang="en-US" dirty="0"/>
              <a:t>Mesh 2:</a:t>
            </a:r>
          </a:p>
        </p:txBody>
      </p:sp>
      <p:graphicFrame>
        <p:nvGraphicFramePr>
          <p:cNvPr id="28" name="Object 11"/>
          <p:cNvGraphicFramePr>
            <a:graphicFrameLocks noChangeAspect="1"/>
          </p:cNvGraphicFramePr>
          <p:nvPr/>
        </p:nvGraphicFramePr>
        <p:xfrm>
          <a:off x="5257800" y="2647950"/>
          <a:ext cx="2690812" cy="742950"/>
        </p:xfrm>
        <a:graphic>
          <a:graphicData uri="http://schemas.openxmlformats.org/presentationml/2006/ole">
            <mc:AlternateContent xmlns:mc="http://schemas.openxmlformats.org/markup-compatibility/2006">
              <mc:Choice xmlns:v="urn:schemas-microsoft-com:vml" Requires="v">
                <p:oleObj name="Equation" r:id="rId5" imgW="1663560" imgH="457200" progId="Equation.3">
                  <p:embed/>
                </p:oleObj>
              </mc:Choice>
              <mc:Fallback>
                <p:oleObj name="Equation" r:id="rId5" imgW="1663560" imgH="457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57800" y="2647950"/>
                        <a:ext cx="2690812" cy="742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 name="TextBox 28"/>
          <p:cNvSpPr txBox="1"/>
          <p:nvPr/>
        </p:nvSpPr>
        <p:spPr>
          <a:xfrm>
            <a:off x="3924300" y="3810000"/>
            <a:ext cx="1005403" cy="369332"/>
          </a:xfrm>
          <a:prstGeom prst="rect">
            <a:avLst/>
          </a:prstGeom>
          <a:noFill/>
        </p:spPr>
        <p:txBody>
          <a:bodyPr wrap="none" rtlCol="0">
            <a:spAutoFit/>
          </a:bodyPr>
          <a:lstStyle/>
          <a:p>
            <a:r>
              <a:rPr lang="en-US" dirty="0"/>
              <a:t>Mesh 3:</a:t>
            </a:r>
          </a:p>
        </p:txBody>
      </p:sp>
      <p:graphicFrame>
        <p:nvGraphicFramePr>
          <p:cNvPr id="30" name="Object 11"/>
          <p:cNvGraphicFramePr>
            <a:graphicFrameLocks noChangeAspect="1"/>
          </p:cNvGraphicFramePr>
          <p:nvPr/>
        </p:nvGraphicFramePr>
        <p:xfrm>
          <a:off x="5029200" y="3829050"/>
          <a:ext cx="2938463" cy="742950"/>
        </p:xfrm>
        <a:graphic>
          <a:graphicData uri="http://schemas.openxmlformats.org/presentationml/2006/ole">
            <mc:AlternateContent xmlns:mc="http://schemas.openxmlformats.org/markup-compatibility/2006">
              <mc:Choice xmlns:v="urn:schemas-microsoft-com:vml" Requires="v">
                <p:oleObj name="Equation" r:id="rId7" imgW="1815840" imgH="457200" progId="Equation.3">
                  <p:embed/>
                </p:oleObj>
              </mc:Choice>
              <mc:Fallback>
                <p:oleObj name="Equation" r:id="rId7" imgW="1815840" imgH="4572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29200" y="3829050"/>
                        <a:ext cx="2938463" cy="742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 name="TextBox 30"/>
          <p:cNvSpPr txBox="1"/>
          <p:nvPr/>
        </p:nvSpPr>
        <p:spPr>
          <a:xfrm>
            <a:off x="952500" y="5029200"/>
            <a:ext cx="4480714" cy="369332"/>
          </a:xfrm>
          <a:prstGeom prst="rect">
            <a:avLst/>
          </a:prstGeom>
          <a:noFill/>
        </p:spPr>
        <p:txBody>
          <a:bodyPr wrap="none" rtlCol="0">
            <a:spAutoFit/>
          </a:bodyPr>
          <a:lstStyle/>
          <a:p>
            <a:r>
              <a:rPr lang="en-US" dirty="0"/>
              <a:t>Solving 3 equations with 3 unknowns, get:</a:t>
            </a:r>
          </a:p>
        </p:txBody>
      </p:sp>
      <p:graphicFrame>
        <p:nvGraphicFramePr>
          <p:cNvPr id="191502" name="Object 14"/>
          <p:cNvGraphicFramePr>
            <a:graphicFrameLocks noChangeAspect="1"/>
          </p:cNvGraphicFramePr>
          <p:nvPr/>
        </p:nvGraphicFramePr>
        <p:xfrm>
          <a:off x="1579563" y="5513388"/>
          <a:ext cx="3689350" cy="411162"/>
        </p:xfrm>
        <a:graphic>
          <a:graphicData uri="http://schemas.openxmlformats.org/presentationml/2006/ole">
            <mc:AlternateContent xmlns:mc="http://schemas.openxmlformats.org/markup-compatibility/2006">
              <mc:Choice xmlns:v="urn:schemas-microsoft-com:vml" Requires="v">
                <p:oleObj name="Equation" r:id="rId9" imgW="2057400" imgH="228600" progId="Equation.3">
                  <p:embed/>
                </p:oleObj>
              </mc:Choice>
              <mc:Fallback>
                <p:oleObj name="Equation" r:id="rId9" imgW="2057400" imgH="2286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79563" y="5513388"/>
                        <a:ext cx="3689350" cy="411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020462481"/>
      </p:ext>
    </p:extLst>
  </p:cSld>
  <p:clrMapOvr>
    <a:masterClrMapping/>
  </p:clrMapOvr>
  <p:transition spd="me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 w/ a dependent source</a:t>
            </a:r>
          </a:p>
        </p:txBody>
      </p:sp>
      <p:sp>
        <p:nvSpPr>
          <p:cNvPr id="6147" name="Content Placeholder 2"/>
          <p:cNvSpPr>
            <a:spLocks noGrp="1"/>
          </p:cNvSpPr>
          <p:nvPr>
            <p:ph idx="1"/>
          </p:nvPr>
        </p:nvSpPr>
        <p:spPr>
          <a:xfrm>
            <a:off x="533400" y="723901"/>
            <a:ext cx="8229600" cy="5867400"/>
          </a:xfrm>
        </p:spPr>
        <p:txBody>
          <a:bodyPr/>
          <a:lstStyle/>
          <a:p>
            <a:pPr>
              <a:buNone/>
            </a:pPr>
            <a:endParaRPr lang="en-US" sz="2400" dirty="0"/>
          </a:p>
          <a:p>
            <a:endParaRPr lang="en-US" sz="20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96</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7" name="TextBox 6"/>
          <p:cNvSpPr txBox="1"/>
          <p:nvPr/>
        </p:nvSpPr>
        <p:spPr>
          <a:xfrm>
            <a:off x="4833937" y="990600"/>
            <a:ext cx="2749471" cy="369332"/>
          </a:xfrm>
          <a:prstGeom prst="rect">
            <a:avLst/>
          </a:prstGeom>
          <a:noFill/>
        </p:spPr>
        <p:txBody>
          <a:bodyPr wrap="none" rtlCol="0">
            <a:spAutoFit/>
          </a:bodyPr>
          <a:lstStyle/>
          <a:p>
            <a:r>
              <a:rPr lang="en-US" dirty="0"/>
              <a:t>Mesh 1 (right-hand side):</a:t>
            </a:r>
          </a:p>
        </p:txBody>
      </p:sp>
      <p:graphicFrame>
        <p:nvGraphicFramePr>
          <p:cNvPr id="191499" name="Object 11"/>
          <p:cNvGraphicFramePr>
            <a:graphicFrameLocks noChangeAspect="1"/>
          </p:cNvGraphicFramePr>
          <p:nvPr/>
        </p:nvGraphicFramePr>
        <p:xfrm>
          <a:off x="5905500" y="1371600"/>
          <a:ext cx="2033588" cy="742950"/>
        </p:xfrm>
        <a:graphic>
          <a:graphicData uri="http://schemas.openxmlformats.org/presentationml/2006/ole">
            <mc:AlternateContent xmlns:mc="http://schemas.openxmlformats.org/markup-compatibility/2006">
              <mc:Choice xmlns:v="urn:schemas-microsoft-com:vml" Requires="v">
                <p:oleObj name="Equation" r:id="rId2" imgW="1257120" imgH="457200" progId="Equation.3">
                  <p:embed/>
                </p:oleObj>
              </mc:Choice>
              <mc:Fallback>
                <p:oleObj name="Equation" r:id="rId2" imgW="1257120" imgH="4572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05500" y="1371600"/>
                        <a:ext cx="2033588" cy="742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TextBox 26"/>
          <p:cNvSpPr txBox="1"/>
          <p:nvPr/>
        </p:nvSpPr>
        <p:spPr>
          <a:xfrm>
            <a:off x="4833937" y="2133600"/>
            <a:ext cx="2608406" cy="369332"/>
          </a:xfrm>
          <a:prstGeom prst="rect">
            <a:avLst/>
          </a:prstGeom>
          <a:noFill/>
        </p:spPr>
        <p:txBody>
          <a:bodyPr wrap="none" rtlCol="0">
            <a:spAutoFit/>
          </a:bodyPr>
          <a:lstStyle/>
          <a:p>
            <a:r>
              <a:rPr lang="en-US" dirty="0"/>
              <a:t>Mesh 2 (left-hand side):</a:t>
            </a:r>
          </a:p>
        </p:txBody>
      </p:sp>
      <p:pic>
        <p:nvPicPr>
          <p:cNvPr id="195590" name="Picture 6"/>
          <p:cNvPicPr>
            <a:picLocks noChangeAspect="1" noChangeArrowheads="1"/>
          </p:cNvPicPr>
          <p:nvPr/>
        </p:nvPicPr>
        <p:blipFill>
          <a:blip r:embed="rId4" cstate="print"/>
          <a:srcRect/>
          <a:stretch>
            <a:fillRect/>
          </a:stretch>
        </p:blipFill>
        <p:spPr bwMode="auto">
          <a:xfrm>
            <a:off x="342900" y="990600"/>
            <a:ext cx="4340477" cy="2247900"/>
          </a:xfrm>
          <a:prstGeom prst="rect">
            <a:avLst/>
          </a:prstGeom>
          <a:noFill/>
          <a:ln w="9525">
            <a:noFill/>
            <a:miter lim="800000"/>
            <a:headEnd/>
            <a:tailEnd/>
          </a:ln>
          <a:effectLst/>
        </p:spPr>
      </p:pic>
      <p:graphicFrame>
        <p:nvGraphicFramePr>
          <p:cNvPr id="195591" name="Object 7"/>
          <p:cNvGraphicFramePr>
            <a:graphicFrameLocks noChangeAspect="1"/>
          </p:cNvGraphicFramePr>
          <p:nvPr/>
        </p:nvGraphicFramePr>
        <p:xfrm>
          <a:off x="5219700" y="2514600"/>
          <a:ext cx="2773362" cy="742950"/>
        </p:xfrm>
        <a:graphic>
          <a:graphicData uri="http://schemas.openxmlformats.org/presentationml/2006/ole">
            <mc:AlternateContent xmlns:mc="http://schemas.openxmlformats.org/markup-compatibility/2006">
              <mc:Choice xmlns:v="urn:schemas-microsoft-com:vml" Requires="v">
                <p:oleObj name="Equation" r:id="rId5" imgW="1714320" imgH="457200" progId="Equation.3">
                  <p:embed/>
                </p:oleObj>
              </mc:Choice>
              <mc:Fallback>
                <p:oleObj name="Equation" r:id="rId5" imgW="1714320" imgH="457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19700" y="2514600"/>
                        <a:ext cx="2773362" cy="742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118896451"/>
      </p:ext>
    </p:extLst>
  </p:cSld>
  <p:clrMapOvr>
    <a:masterClrMapping/>
  </p:clrMapOvr>
  <p:transition spd="me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 w/ a dependent source</a:t>
            </a:r>
          </a:p>
        </p:txBody>
      </p:sp>
      <p:sp>
        <p:nvSpPr>
          <p:cNvPr id="6147" name="Content Placeholder 2"/>
          <p:cNvSpPr>
            <a:spLocks noGrp="1"/>
          </p:cNvSpPr>
          <p:nvPr>
            <p:ph idx="1"/>
          </p:nvPr>
        </p:nvSpPr>
        <p:spPr>
          <a:xfrm>
            <a:off x="533400" y="723901"/>
            <a:ext cx="8229600" cy="5867400"/>
          </a:xfrm>
        </p:spPr>
        <p:txBody>
          <a:bodyPr/>
          <a:lstStyle/>
          <a:p>
            <a:pPr>
              <a:buNone/>
            </a:pPr>
            <a:endParaRPr lang="en-US" sz="2400" dirty="0"/>
          </a:p>
          <a:p>
            <a:endParaRPr lang="en-US" sz="20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97</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7" name="TextBox 6"/>
          <p:cNvSpPr txBox="1"/>
          <p:nvPr/>
        </p:nvSpPr>
        <p:spPr>
          <a:xfrm>
            <a:off x="4833937" y="990600"/>
            <a:ext cx="2749471" cy="369332"/>
          </a:xfrm>
          <a:prstGeom prst="rect">
            <a:avLst/>
          </a:prstGeom>
          <a:noFill/>
        </p:spPr>
        <p:txBody>
          <a:bodyPr wrap="none" rtlCol="0">
            <a:spAutoFit/>
          </a:bodyPr>
          <a:lstStyle/>
          <a:p>
            <a:r>
              <a:rPr lang="en-US" dirty="0"/>
              <a:t>Mesh 1 (right-hand side):</a:t>
            </a:r>
          </a:p>
        </p:txBody>
      </p:sp>
      <p:graphicFrame>
        <p:nvGraphicFramePr>
          <p:cNvPr id="191499" name="Object 11"/>
          <p:cNvGraphicFramePr>
            <a:graphicFrameLocks noChangeAspect="1"/>
          </p:cNvGraphicFramePr>
          <p:nvPr/>
        </p:nvGraphicFramePr>
        <p:xfrm>
          <a:off x="5905500" y="1371600"/>
          <a:ext cx="2033588" cy="742950"/>
        </p:xfrm>
        <a:graphic>
          <a:graphicData uri="http://schemas.openxmlformats.org/presentationml/2006/ole">
            <mc:AlternateContent xmlns:mc="http://schemas.openxmlformats.org/markup-compatibility/2006">
              <mc:Choice xmlns:v="urn:schemas-microsoft-com:vml" Requires="v">
                <p:oleObj name="Equation" r:id="rId2" imgW="1257120" imgH="457200" progId="Equation.3">
                  <p:embed/>
                </p:oleObj>
              </mc:Choice>
              <mc:Fallback>
                <p:oleObj name="Equation" r:id="rId2" imgW="1257120" imgH="4572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05500" y="1371600"/>
                        <a:ext cx="2033588" cy="742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TextBox 26"/>
          <p:cNvSpPr txBox="1"/>
          <p:nvPr/>
        </p:nvSpPr>
        <p:spPr>
          <a:xfrm>
            <a:off x="4833937" y="2133600"/>
            <a:ext cx="2608406" cy="369332"/>
          </a:xfrm>
          <a:prstGeom prst="rect">
            <a:avLst/>
          </a:prstGeom>
          <a:noFill/>
        </p:spPr>
        <p:txBody>
          <a:bodyPr wrap="none" rtlCol="0">
            <a:spAutoFit/>
          </a:bodyPr>
          <a:lstStyle/>
          <a:p>
            <a:r>
              <a:rPr lang="en-US" dirty="0"/>
              <a:t>Mesh 2 (left-hand side):</a:t>
            </a:r>
          </a:p>
        </p:txBody>
      </p:sp>
      <p:sp>
        <p:nvSpPr>
          <p:cNvPr id="31" name="TextBox 30"/>
          <p:cNvSpPr txBox="1"/>
          <p:nvPr/>
        </p:nvSpPr>
        <p:spPr>
          <a:xfrm>
            <a:off x="723900" y="3467100"/>
            <a:ext cx="5173211" cy="369332"/>
          </a:xfrm>
          <a:prstGeom prst="rect">
            <a:avLst/>
          </a:prstGeom>
          <a:noFill/>
        </p:spPr>
        <p:txBody>
          <a:bodyPr wrap="none" rtlCol="0">
            <a:spAutoFit/>
          </a:bodyPr>
          <a:lstStyle/>
          <a:p>
            <a:r>
              <a:rPr lang="en-US" dirty="0"/>
              <a:t>2 equations, 3 unknowns; need 1 more equation:</a:t>
            </a:r>
          </a:p>
        </p:txBody>
      </p:sp>
      <p:pic>
        <p:nvPicPr>
          <p:cNvPr id="195590" name="Picture 6"/>
          <p:cNvPicPr>
            <a:picLocks noChangeAspect="1" noChangeArrowheads="1"/>
          </p:cNvPicPr>
          <p:nvPr/>
        </p:nvPicPr>
        <p:blipFill>
          <a:blip r:embed="rId4" cstate="print"/>
          <a:srcRect/>
          <a:stretch>
            <a:fillRect/>
          </a:stretch>
        </p:blipFill>
        <p:spPr bwMode="auto">
          <a:xfrm>
            <a:off x="342900" y="990600"/>
            <a:ext cx="4340477" cy="2247900"/>
          </a:xfrm>
          <a:prstGeom prst="rect">
            <a:avLst/>
          </a:prstGeom>
          <a:noFill/>
          <a:ln w="9525">
            <a:noFill/>
            <a:miter lim="800000"/>
            <a:headEnd/>
            <a:tailEnd/>
          </a:ln>
          <a:effectLst/>
        </p:spPr>
      </p:pic>
      <p:graphicFrame>
        <p:nvGraphicFramePr>
          <p:cNvPr id="195591" name="Object 7"/>
          <p:cNvGraphicFramePr>
            <a:graphicFrameLocks noChangeAspect="1"/>
          </p:cNvGraphicFramePr>
          <p:nvPr/>
        </p:nvGraphicFramePr>
        <p:xfrm>
          <a:off x="5219700" y="2514600"/>
          <a:ext cx="2773362" cy="742950"/>
        </p:xfrm>
        <a:graphic>
          <a:graphicData uri="http://schemas.openxmlformats.org/presentationml/2006/ole">
            <mc:AlternateContent xmlns:mc="http://schemas.openxmlformats.org/markup-compatibility/2006">
              <mc:Choice xmlns:v="urn:schemas-microsoft-com:vml" Requires="v">
                <p:oleObj name="Equation" r:id="rId5" imgW="1714320" imgH="457200" progId="Equation.3">
                  <p:embed/>
                </p:oleObj>
              </mc:Choice>
              <mc:Fallback>
                <p:oleObj name="Equation" r:id="rId5" imgW="1714320" imgH="457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19700" y="2514600"/>
                        <a:ext cx="2773362" cy="742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5592" name="Object 8"/>
          <p:cNvGraphicFramePr>
            <a:graphicFrameLocks noChangeAspect="1"/>
          </p:cNvGraphicFramePr>
          <p:nvPr/>
        </p:nvGraphicFramePr>
        <p:xfrm>
          <a:off x="5867400" y="3467100"/>
          <a:ext cx="1766887" cy="371475"/>
        </p:xfrm>
        <a:graphic>
          <a:graphicData uri="http://schemas.openxmlformats.org/presentationml/2006/ole">
            <mc:AlternateContent xmlns:mc="http://schemas.openxmlformats.org/markup-compatibility/2006">
              <mc:Choice xmlns:v="urn:schemas-microsoft-com:vml" Requires="v">
                <p:oleObj name="Equation" r:id="rId7" imgW="1091880" imgH="228600" progId="Equation.3">
                  <p:embed/>
                </p:oleObj>
              </mc:Choice>
              <mc:Fallback>
                <p:oleObj name="Equation" r:id="rId7" imgW="1091880" imgH="2286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67400" y="3467100"/>
                        <a:ext cx="1766887"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577925028"/>
      </p:ext>
    </p:extLst>
  </p:cSld>
  <p:clrMapOvr>
    <a:masterClrMapping/>
  </p:clrMapOvr>
  <p:transition spd="me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 w/ a dependent source</a:t>
            </a:r>
          </a:p>
        </p:txBody>
      </p:sp>
      <p:sp>
        <p:nvSpPr>
          <p:cNvPr id="6147" name="Content Placeholder 2"/>
          <p:cNvSpPr>
            <a:spLocks noGrp="1"/>
          </p:cNvSpPr>
          <p:nvPr>
            <p:ph idx="1"/>
          </p:nvPr>
        </p:nvSpPr>
        <p:spPr>
          <a:xfrm>
            <a:off x="533400" y="723901"/>
            <a:ext cx="8229600" cy="5867400"/>
          </a:xfrm>
        </p:spPr>
        <p:txBody>
          <a:bodyPr/>
          <a:lstStyle/>
          <a:p>
            <a:pPr>
              <a:buNone/>
            </a:pPr>
            <a:endParaRPr lang="en-US" sz="2400" dirty="0"/>
          </a:p>
          <a:p>
            <a:endParaRPr lang="en-US" sz="20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98</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7" name="TextBox 6"/>
          <p:cNvSpPr txBox="1"/>
          <p:nvPr/>
        </p:nvSpPr>
        <p:spPr>
          <a:xfrm>
            <a:off x="4833937" y="990600"/>
            <a:ext cx="2749471" cy="369332"/>
          </a:xfrm>
          <a:prstGeom prst="rect">
            <a:avLst/>
          </a:prstGeom>
          <a:noFill/>
        </p:spPr>
        <p:txBody>
          <a:bodyPr wrap="none" rtlCol="0">
            <a:spAutoFit/>
          </a:bodyPr>
          <a:lstStyle/>
          <a:p>
            <a:r>
              <a:rPr lang="en-US" dirty="0"/>
              <a:t>Mesh 1 (right-hand side):</a:t>
            </a:r>
          </a:p>
        </p:txBody>
      </p:sp>
      <p:graphicFrame>
        <p:nvGraphicFramePr>
          <p:cNvPr id="191499" name="Object 11"/>
          <p:cNvGraphicFramePr>
            <a:graphicFrameLocks noChangeAspect="1"/>
          </p:cNvGraphicFramePr>
          <p:nvPr/>
        </p:nvGraphicFramePr>
        <p:xfrm>
          <a:off x="5905500" y="1371600"/>
          <a:ext cx="2033588" cy="742950"/>
        </p:xfrm>
        <a:graphic>
          <a:graphicData uri="http://schemas.openxmlformats.org/presentationml/2006/ole">
            <mc:AlternateContent xmlns:mc="http://schemas.openxmlformats.org/markup-compatibility/2006">
              <mc:Choice xmlns:v="urn:schemas-microsoft-com:vml" Requires="v">
                <p:oleObj name="Equation" r:id="rId2" imgW="1257120" imgH="457200" progId="Equation.3">
                  <p:embed/>
                </p:oleObj>
              </mc:Choice>
              <mc:Fallback>
                <p:oleObj name="Equation" r:id="rId2" imgW="1257120" imgH="4572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05500" y="1371600"/>
                        <a:ext cx="2033588" cy="742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TextBox 26"/>
          <p:cNvSpPr txBox="1"/>
          <p:nvPr/>
        </p:nvSpPr>
        <p:spPr>
          <a:xfrm>
            <a:off x="4833937" y="2133600"/>
            <a:ext cx="2608406" cy="369332"/>
          </a:xfrm>
          <a:prstGeom prst="rect">
            <a:avLst/>
          </a:prstGeom>
          <a:noFill/>
        </p:spPr>
        <p:txBody>
          <a:bodyPr wrap="none" rtlCol="0">
            <a:spAutoFit/>
          </a:bodyPr>
          <a:lstStyle/>
          <a:p>
            <a:r>
              <a:rPr lang="en-US" dirty="0"/>
              <a:t>Mesh 2 (left-hand side):</a:t>
            </a:r>
          </a:p>
        </p:txBody>
      </p:sp>
      <p:sp>
        <p:nvSpPr>
          <p:cNvPr id="31" name="TextBox 30"/>
          <p:cNvSpPr txBox="1"/>
          <p:nvPr/>
        </p:nvSpPr>
        <p:spPr>
          <a:xfrm>
            <a:off x="723900" y="3467100"/>
            <a:ext cx="5173211" cy="369332"/>
          </a:xfrm>
          <a:prstGeom prst="rect">
            <a:avLst/>
          </a:prstGeom>
          <a:noFill/>
        </p:spPr>
        <p:txBody>
          <a:bodyPr wrap="none" rtlCol="0">
            <a:spAutoFit/>
          </a:bodyPr>
          <a:lstStyle/>
          <a:p>
            <a:r>
              <a:rPr lang="en-US" dirty="0"/>
              <a:t>2 equations, 3 unknowns; need 1 more equation:</a:t>
            </a:r>
          </a:p>
        </p:txBody>
      </p:sp>
      <p:pic>
        <p:nvPicPr>
          <p:cNvPr id="195590" name="Picture 6"/>
          <p:cNvPicPr>
            <a:picLocks noChangeAspect="1" noChangeArrowheads="1"/>
          </p:cNvPicPr>
          <p:nvPr/>
        </p:nvPicPr>
        <p:blipFill>
          <a:blip r:embed="rId4" cstate="print"/>
          <a:srcRect/>
          <a:stretch>
            <a:fillRect/>
          </a:stretch>
        </p:blipFill>
        <p:spPr bwMode="auto">
          <a:xfrm>
            <a:off x="342900" y="990600"/>
            <a:ext cx="4340477" cy="2247900"/>
          </a:xfrm>
          <a:prstGeom prst="rect">
            <a:avLst/>
          </a:prstGeom>
          <a:noFill/>
          <a:ln w="9525">
            <a:noFill/>
            <a:miter lim="800000"/>
            <a:headEnd/>
            <a:tailEnd/>
          </a:ln>
          <a:effectLst/>
        </p:spPr>
      </p:pic>
      <p:graphicFrame>
        <p:nvGraphicFramePr>
          <p:cNvPr id="195591" name="Object 7"/>
          <p:cNvGraphicFramePr>
            <a:graphicFrameLocks noChangeAspect="1"/>
          </p:cNvGraphicFramePr>
          <p:nvPr/>
        </p:nvGraphicFramePr>
        <p:xfrm>
          <a:off x="5219700" y="2514600"/>
          <a:ext cx="2773362" cy="742950"/>
        </p:xfrm>
        <a:graphic>
          <a:graphicData uri="http://schemas.openxmlformats.org/presentationml/2006/ole">
            <mc:AlternateContent xmlns:mc="http://schemas.openxmlformats.org/markup-compatibility/2006">
              <mc:Choice xmlns:v="urn:schemas-microsoft-com:vml" Requires="v">
                <p:oleObj name="Equation" r:id="rId5" imgW="1714320" imgH="457200" progId="Equation.3">
                  <p:embed/>
                </p:oleObj>
              </mc:Choice>
              <mc:Fallback>
                <p:oleObj name="Equation" r:id="rId5" imgW="1714320" imgH="457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19700" y="2514600"/>
                        <a:ext cx="2773362" cy="742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5592" name="Object 8"/>
          <p:cNvGraphicFramePr>
            <a:graphicFrameLocks noChangeAspect="1"/>
          </p:cNvGraphicFramePr>
          <p:nvPr/>
        </p:nvGraphicFramePr>
        <p:xfrm>
          <a:off x="5867400" y="3467100"/>
          <a:ext cx="1766887" cy="371475"/>
        </p:xfrm>
        <a:graphic>
          <a:graphicData uri="http://schemas.openxmlformats.org/presentationml/2006/ole">
            <mc:AlternateContent xmlns:mc="http://schemas.openxmlformats.org/markup-compatibility/2006">
              <mc:Choice xmlns:v="urn:schemas-microsoft-com:vml" Requires="v">
                <p:oleObj name="Equation" r:id="rId7" imgW="1091880" imgH="228600" progId="Equation.3">
                  <p:embed/>
                </p:oleObj>
              </mc:Choice>
              <mc:Fallback>
                <p:oleObj name="Equation" r:id="rId7" imgW="1091880" imgH="2286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67400" y="3467100"/>
                        <a:ext cx="1766887"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TextBox 17"/>
          <p:cNvSpPr txBox="1"/>
          <p:nvPr/>
        </p:nvSpPr>
        <p:spPr>
          <a:xfrm>
            <a:off x="723900" y="3897868"/>
            <a:ext cx="2685351" cy="369332"/>
          </a:xfrm>
          <a:prstGeom prst="rect">
            <a:avLst/>
          </a:prstGeom>
          <a:noFill/>
        </p:spPr>
        <p:txBody>
          <a:bodyPr wrap="none" rtlCol="0">
            <a:spAutoFit/>
          </a:bodyPr>
          <a:lstStyle/>
          <a:p>
            <a:r>
              <a:rPr lang="en-US" dirty="0"/>
              <a:t>Substitute for </a:t>
            </a:r>
            <a:r>
              <a:rPr lang="en-US" dirty="0" err="1"/>
              <a:t>v</a:t>
            </a:r>
            <a:r>
              <a:rPr lang="en-US" baseline="-25000" dirty="0" err="1"/>
              <a:t>x</a:t>
            </a:r>
            <a:r>
              <a:rPr lang="en-US" dirty="0"/>
              <a:t> into (2):</a:t>
            </a:r>
          </a:p>
        </p:txBody>
      </p:sp>
      <p:graphicFrame>
        <p:nvGraphicFramePr>
          <p:cNvPr id="195593" name="Object 9"/>
          <p:cNvGraphicFramePr>
            <a:graphicFrameLocks noChangeAspect="1"/>
          </p:cNvGraphicFramePr>
          <p:nvPr/>
        </p:nvGraphicFramePr>
        <p:xfrm>
          <a:off x="3463925" y="3924300"/>
          <a:ext cx="2403475" cy="784225"/>
        </p:xfrm>
        <a:graphic>
          <a:graphicData uri="http://schemas.openxmlformats.org/presentationml/2006/ole">
            <mc:AlternateContent xmlns:mc="http://schemas.openxmlformats.org/markup-compatibility/2006">
              <mc:Choice xmlns:v="urn:schemas-microsoft-com:vml" Requires="v">
                <p:oleObj name="Equation" r:id="rId9" imgW="1485720" imgH="482400" progId="Equation.3">
                  <p:embed/>
                </p:oleObj>
              </mc:Choice>
              <mc:Fallback>
                <p:oleObj name="Equation" r:id="rId9" imgW="1485720" imgH="4824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63925" y="3924300"/>
                        <a:ext cx="2403475" cy="784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extBox 19"/>
          <p:cNvSpPr txBox="1"/>
          <p:nvPr/>
        </p:nvSpPr>
        <p:spPr>
          <a:xfrm>
            <a:off x="2209800" y="4697968"/>
            <a:ext cx="1133644" cy="369332"/>
          </a:xfrm>
          <a:prstGeom prst="rect">
            <a:avLst/>
          </a:prstGeom>
          <a:noFill/>
        </p:spPr>
        <p:txBody>
          <a:bodyPr wrap="none" rtlCol="0">
            <a:spAutoFit/>
          </a:bodyPr>
          <a:lstStyle/>
          <a:p>
            <a:r>
              <a:rPr lang="en-US" dirty="0"/>
              <a:t>From (1):</a:t>
            </a:r>
          </a:p>
        </p:txBody>
      </p:sp>
      <p:graphicFrame>
        <p:nvGraphicFramePr>
          <p:cNvPr id="195594" name="Object 10"/>
          <p:cNvGraphicFramePr>
            <a:graphicFrameLocks noChangeAspect="1"/>
          </p:cNvGraphicFramePr>
          <p:nvPr/>
        </p:nvGraphicFramePr>
        <p:xfrm>
          <a:off x="3375025" y="4953000"/>
          <a:ext cx="2835275" cy="639762"/>
        </p:xfrm>
        <a:graphic>
          <a:graphicData uri="http://schemas.openxmlformats.org/presentationml/2006/ole">
            <mc:AlternateContent xmlns:mc="http://schemas.openxmlformats.org/markup-compatibility/2006">
              <mc:Choice xmlns:v="urn:schemas-microsoft-com:vml" Requires="v">
                <p:oleObj name="Equation" r:id="rId11" imgW="1752480" imgH="393480" progId="Equation.3">
                  <p:embed/>
                </p:oleObj>
              </mc:Choice>
              <mc:Fallback>
                <p:oleObj name="Equation" r:id="rId11" imgW="1752480" imgH="39348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75025" y="4953000"/>
                        <a:ext cx="2835275" cy="639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5595" name="Object 11"/>
          <p:cNvGraphicFramePr>
            <a:graphicFrameLocks noChangeAspect="1"/>
          </p:cNvGraphicFramePr>
          <p:nvPr/>
        </p:nvGraphicFramePr>
        <p:xfrm>
          <a:off x="3352800" y="5864225"/>
          <a:ext cx="2178050" cy="433388"/>
        </p:xfrm>
        <a:graphic>
          <a:graphicData uri="http://schemas.openxmlformats.org/presentationml/2006/ole">
            <mc:AlternateContent xmlns:mc="http://schemas.openxmlformats.org/markup-compatibility/2006">
              <mc:Choice xmlns:v="urn:schemas-microsoft-com:vml" Requires="v">
                <p:oleObj name="Equation" r:id="rId13" imgW="1346040" imgH="266400" progId="Equation.3">
                  <p:embed/>
                </p:oleObj>
              </mc:Choice>
              <mc:Fallback>
                <p:oleObj name="Equation" r:id="rId13" imgW="1346040" imgH="26640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352800" y="5864225"/>
                        <a:ext cx="2178050" cy="433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388355811"/>
      </p:ext>
    </p:extLst>
  </p:cSld>
  <p:clrMapOvr>
    <a:masterClrMapping/>
  </p:clrMapOvr>
  <p:transition spd="me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err="1"/>
              <a:t>Supermesh</a:t>
            </a:r>
            <a:endParaRPr lang="en-US" sz="32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99</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9" name="Content Placeholder 2"/>
          <p:cNvSpPr>
            <a:spLocks noGrp="1"/>
          </p:cNvSpPr>
          <p:nvPr>
            <p:ph idx="1"/>
          </p:nvPr>
        </p:nvSpPr>
        <p:spPr>
          <a:xfrm>
            <a:off x="190500" y="723901"/>
            <a:ext cx="8724900" cy="5867400"/>
          </a:xfrm>
        </p:spPr>
        <p:txBody>
          <a:bodyPr/>
          <a:lstStyle/>
          <a:p>
            <a:pPr>
              <a:buNone/>
            </a:pPr>
            <a:r>
              <a:rPr lang="en-US" sz="2400" dirty="0"/>
              <a:t>Create a </a:t>
            </a:r>
            <a:r>
              <a:rPr lang="en-US" sz="2400" b="1" i="1" dirty="0" err="1"/>
              <a:t>supermesh</a:t>
            </a:r>
            <a:r>
              <a:rPr lang="en-US" sz="2400" b="1" i="1" dirty="0"/>
              <a:t> </a:t>
            </a:r>
            <a:r>
              <a:rPr lang="en-US" sz="2400" dirty="0"/>
              <a:t>from two meshes that have a current source as a common element. This reduces the number of meshes by one for each current source. If the current source is in the perimeter of the circuit, then the mesh in which it is  located is ignored.</a:t>
            </a:r>
          </a:p>
          <a:p>
            <a:pPr>
              <a:buNone/>
            </a:pPr>
            <a:r>
              <a:rPr lang="en-US" sz="2400" dirty="0"/>
              <a:t>	</a:t>
            </a:r>
            <a:endParaRPr lang="en-US" sz="2400" u="sng" dirty="0"/>
          </a:p>
          <a:p>
            <a:pPr>
              <a:buNone/>
            </a:pPr>
            <a:endParaRPr lang="en-US" sz="2400" dirty="0"/>
          </a:p>
          <a:p>
            <a:endParaRPr lang="en-US" sz="2000" dirty="0"/>
          </a:p>
          <a:p>
            <a:pPr lvl="1">
              <a:buFont typeface="Arial" charset="0"/>
              <a:buNone/>
            </a:pPr>
            <a:endParaRPr lang="en-US" sz="2000" dirty="0"/>
          </a:p>
        </p:txBody>
      </p:sp>
    </p:spTree>
    <p:extLst>
      <p:ext uri="{BB962C8B-B14F-4D97-AF65-F5344CB8AC3E}">
        <p14:creationId xmlns:p14="http://schemas.microsoft.com/office/powerpoint/2010/main" val="2830856884"/>
      </p:ext>
    </p:extLst>
  </p:cSld>
  <p:clrMapOvr>
    <a:masterClrMapping/>
  </p:clrMapOvr>
  <p:transition spd="me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err="1"/>
              <a:t>Supermesh</a:t>
            </a:r>
            <a:endParaRPr lang="en-US" sz="32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100</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9" name="Content Placeholder 2"/>
          <p:cNvSpPr>
            <a:spLocks noGrp="1"/>
          </p:cNvSpPr>
          <p:nvPr>
            <p:ph idx="1"/>
          </p:nvPr>
        </p:nvSpPr>
        <p:spPr>
          <a:xfrm>
            <a:off x="190500" y="723901"/>
            <a:ext cx="8724900" cy="5867400"/>
          </a:xfrm>
        </p:spPr>
        <p:txBody>
          <a:bodyPr/>
          <a:lstStyle/>
          <a:p>
            <a:pPr>
              <a:buNone/>
            </a:pPr>
            <a:r>
              <a:rPr lang="en-US" sz="2400" dirty="0"/>
              <a:t>Create a </a:t>
            </a:r>
            <a:r>
              <a:rPr lang="en-US" sz="2400" b="1" i="1" dirty="0" err="1"/>
              <a:t>supermesh</a:t>
            </a:r>
            <a:r>
              <a:rPr lang="en-US" sz="2400" b="1" i="1" dirty="0"/>
              <a:t> </a:t>
            </a:r>
            <a:r>
              <a:rPr lang="en-US" sz="2400" dirty="0"/>
              <a:t>from two meshes that have a current source as a common element. This reduces the number of meshes by one for each current source. If the current source is in the perimeter of the circuit, then the mesh in which it is  located is ignored.</a:t>
            </a:r>
          </a:p>
          <a:p>
            <a:pPr>
              <a:buNone/>
            </a:pPr>
            <a:r>
              <a:rPr lang="en-US" sz="2400" dirty="0"/>
              <a:t>	</a:t>
            </a:r>
            <a:r>
              <a:rPr lang="en-US" sz="2400" u="sng" dirty="0"/>
              <a:t>Example:</a:t>
            </a:r>
          </a:p>
          <a:p>
            <a:pPr>
              <a:buNone/>
            </a:pPr>
            <a:endParaRPr lang="en-US" sz="2400" dirty="0"/>
          </a:p>
          <a:p>
            <a:endParaRPr lang="en-US" sz="2000" dirty="0"/>
          </a:p>
          <a:p>
            <a:pPr lvl="1">
              <a:buFont typeface="Arial" charset="0"/>
              <a:buNone/>
            </a:pPr>
            <a:endParaRPr lang="en-US" sz="2000" dirty="0"/>
          </a:p>
        </p:txBody>
      </p:sp>
      <p:pic>
        <p:nvPicPr>
          <p:cNvPr id="199685" name="Picture 5"/>
          <p:cNvPicPr>
            <a:picLocks noChangeAspect="1" noChangeArrowheads="1"/>
          </p:cNvPicPr>
          <p:nvPr/>
        </p:nvPicPr>
        <p:blipFill>
          <a:blip r:embed="rId2" cstate="print"/>
          <a:srcRect/>
          <a:stretch>
            <a:fillRect/>
          </a:stretch>
        </p:blipFill>
        <p:spPr bwMode="auto">
          <a:xfrm>
            <a:off x="304800" y="2781300"/>
            <a:ext cx="3094198" cy="2019300"/>
          </a:xfrm>
          <a:prstGeom prst="rect">
            <a:avLst/>
          </a:prstGeom>
          <a:noFill/>
          <a:ln w="9525">
            <a:noFill/>
            <a:miter lim="800000"/>
            <a:headEnd/>
            <a:tailEnd/>
          </a:ln>
          <a:effectLst/>
        </p:spPr>
      </p:pic>
    </p:spTree>
    <p:extLst>
      <p:ext uri="{BB962C8B-B14F-4D97-AF65-F5344CB8AC3E}">
        <p14:creationId xmlns:p14="http://schemas.microsoft.com/office/powerpoint/2010/main" val="1540722904"/>
      </p:ext>
    </p:extLst>
  </p:cSld>
  <p:clrMapOvr>
    <a:masterClrMapping/>
  </p:clrMapOvr>
  <p:transition spd="med"/>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err="1"/>
              <a:t>Supermesh</a:t>
            </a:r>
            <a:endParaRPr lang="en-US" sz="32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101</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9" name="Content Placeholder 2"/>
          <p:cNvSpPr>
            <a:spLocks noGrp="1"/>
          </p:cNvSpPr>
          <p:nvPr>
            <p:ph idx="1"/>
          </p:nvPr>
        </p:nvSpPr>
        <p:spPr>
          <a:xfrm>
            <a:off x="190500" y="723901"/>
            <a:ext cx="8724900" cy="5867400"/>
          </a:xfrm>
        </p:spPr>
        <p:txBody>
          <a:bodyPr/>
          <a:lstStyle/>
          <a:p>
            <a:pPr>
              <a:buNone/>
            </a:pPr>
            <a:r>
              <a:rPr lang="en-US" sz="2400" dirty="0"/>
              <a:t>Create a </a:t>
            </a:r>
            <a:r>
              <a:rPr lang="en-US" sz="2400" b="1" i="1" dirty="0" err="1"/>
              <a:t>supermesh</a:t>
            </a:r>
            <a:r>
              <a:rPr lang="en-US" sz="2400" b="1" i="1" dirty="0"/>
              <a:t> </a:t>
            </a:r>
            <a:r>
              <a:rPr lang="en-US" sz="2400" dirty="0"/>
              <a:t>from two meshes that have a current source as a common element. This reduces the number of meshes by one for each current source. If the current source is in the perimeter of the circuit, then the mesh in which it is  located is ignored.</a:t>
            </a:r>
          </a:p>
          <a:p>
            <a:pPr>
              <a:buNone/>
            </a:pPr>
            <a:r>
              <a:rPr lang="en-US" sz="2400" dirty="0"/>
              <a:t>	</a:t>
            </a:r>
            <a:r>
              <a:rPr lang="en-US" sz="2400" u="sng" dirty="0"/>
              <a:t>Example:</a:t>
            </a:r>
          </a:p>
          <a:p>
            <a:pPr>
              <a:buNone/>
            </a:pPr>
            <a:endParaRPr lang="en-US" sz="2400" dirty="0"/>
          </a:p>
          <a:p>
            <a:endParaRPr lang="en-US" sz="2000" dirty="0"/>
          </a:p>
          <a:p>
            <a:pPr lvl="1">
              <a:buFont typeface="Arial" charset="0"/>
              <a:buNone/>
            </a:pPr>
            <a:endParaRPr lang="en-US" sz="2000" dirty="0"/>
          </a:p>
        </p:txBody>
      </p:sp>
      <p:sp>
        <p:nvSpPr>
          <p:cNvPr id="9" name="TextBox 8"/>
          <p:cNvSpPr txBox="1"/>
          <p:nvPr/>
        </p:nvSpPr>
        <p:spPr>
          <a:xfrm>
            <a:off x="3810001" y="2514600"/>
            <a:ext cx="5029200" cy="646331"/>
          </a:xfrm>
          <a:prstGeom prst="rect">
            <a:avLst/>
          </a:prstGeom>
          <a:noFill/>
        </p:spPr>
        <p:txBody>
          <a:bodyPr wrap="square" rtlCol="0">
            <a:spAutoFit/>
          </a:bodyPr>
          <a:lstStyle/>
          <a:p>
            <a:r>
              <a:rPr lang="en-US" dirty="0"/>
              <a:t>Combine mesh 1 and 3 since there is a current source at their common boundary:</a:t>
            </a:r>
          </a:p>
        </p:txBody>
      </p:sp>
      <p:sp>
        <p:nvSpPr>
          <p:cNvPr id="16" name="TextBox 15"/>
          <p:cNvSpPr txBox="1"/>
          <p:nvPr/>
        </p:nvSpPr>
        <p:spPr>
          <a:xfrm>
            <a:off x="266700" y="4762500"/>
            <a:ext cx="1364476" cy="369332"/>
          </a:xfrm>
          <a:prstGeom prst="rect">
            <a:avLst/>
          </a:prstGeom>
          <a:noFill/>
        </p:spPr>
        <p:txBody>
          <a:bodyPr wrap="none" rtlCol="0">
            <a:spAutoFit/>
          </a:bodyPr>
          <a:lstStyle/>
          <a:p>
            <a:r>
              <a:rPr lang="en-US" dirty="0" err="1"/>
              <a:t>Supermesh</a:t>
            </a:r>
            <a:endParaRPr lang="en-US" dirty="0"/>
          </a:p>
        </p:txBody>
      </p:sp>
      <p:sp>
        <p:nvSpPr>
          <p:cNvPr id="12" name="TextBox 11"/>
          <p:cNvSpPr txBox="1"/>
          <p:nvPr/>
        </p:nvSpPr>
        <p:spPr>
          <a:xfrm>
            <a:off x="3848100" y="3250168"/>
            <a:ext cx="1268296" cy="369332"/>
          </a:xfrm>
          <a:prstGeom prst="rect">
            <a:avLst/>
          </a:prstGeom>
          <a:noFill/>
        </p:spPr>
        <p:txBody>
          <a:bodyPr wrap="none" rtlCol="0">
            <a:spAutoFit/>
          </a:bodyPr>
          <a:lstStyle/>
          <a:p>
            <a:r>
              <a:rPr lang="en-US" dirty="0"/>
              <a:t>Mesh 1+3:</a:t>
            </a:r>
          </a:p>
        </p:txBody>
      </p:sp>
      <p:pic>
        <p:nvPicPr>
          <p:cNvPr id="199685" name="Picture 5"/>
          <p:cNvPicPr>
            <a:picLocks noChangeAspect="1" noChangeArrowheads="1"/>
          </p:cNvPicPr>
          <p:nvPr/>
        </p:nvPicPr>
        <p:blipFill>
          <a:blip r:embed="rId2" cstate="print"/>
          <a:srcRect/>
          <a:stretch>
            <a:fillRect/>
          </a:stretch>
        </p:blipFill>
        <p:spPr bwMode="auto">
          <a:xfrm>
            <a:off x="304800" y="2781300"/>
            <a:ext cx="3094198" cy="2019300"/>
          </a:xfrm>
          <a:prstGeom prst="rect">
            <a:avLst/>
          </a:prstGeom>
          <a:noFill/>
          <a:ln w="9525">
            <a:noFill/>
            <a:miter lim="800000"/>
            <a:headEnd/>
            <a:tailEnd/>
          </a:ln>
          <a:effectLst/>
        </p:spPr>
      </p:pic>
      <p:cxnSp>
        <p:nvCxnSpPr>
          <p:cNvPr id="24" name="Straight Connector 23"/>
          <p:cNvCxnSpPr/>
          <p:nvPr/>
        </p:nvCxnSpPr>
        <p:spPr>
          <a:xfrm rot="5400000" flipH="1" flipV="1">
            <a:off x="-57150" y="3790950"/>
            <a:ext cx="1714500" cy="1588"/>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800100" y="2933700"/>
            <a:ext cx="762000" cy="1588"/>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rot="5400000" flipH="1" flipV="1">
            <a:off x="1239044" y="3256756"/>
            <a:ext cx="647700" cy="1588"/>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1562100" y="3581400"/>
            <a:ext cx="1371600" cy="1588"/>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rot="5400000" flipH="1" flipV="1">
            <a:off x="2401094" y="4114006"/>
            <a:ext cx="1066800" cy="1588"/>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800100" y="4648200"/>
            <a:ext cx="2133600" cy="1588"/>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rot="10800000" flipV="1">
            <a:off x="762001" y="4648200"/>
            <a:ext cx="266700" cy="228600"/>
          </a:xfrm>
          <a:prstGeom prst="line">
            <a:avLst/>
          </a:prstGeom>
          <a:ln w="1905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199686" name="Object 6"/>
          <p:cNvGraphicFramePr>
            <a:graphicFrameLocks noChangeAspect="1"/>
          </p:cNvGraphicFramePr>
          <p:nvPr/>
        </p:nvGraphicFramePr>
        <p:xfrm>
          <a:off x="5219700" y="3257550"/>
          <a:ext cx="3327400" cy="742950"/>
        </p:xfrm>
        <a:graphic>
          <a:graphicData uri="http://schemas.openxmlformats.org/presentationml/2006/ole">
            <mc:AlternateContent xmlns:mc="http://schemas.openxmlformats.org/markup-compatibility/2006">
              <mc:Choice xmlns:v="urn:schemas-microsoft-com:vml" Requires="v">
                <p:oleObj name="Equation" r:id="rId3" imgW="2057400" imgH="457200" progId="Equation.3">
                  <p:embed/>
                </p:oleObj>
              </mc:Choice>
              <mc:Fallback>
                <p:oleObj name="Equation" r:id="rId3" imgW="2057400" imgH="457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19700" y="3257550"/>
                        <a:ext cx="3327400" cy="742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424833664"/>
      </p:ext>
    </p:extLst>
  </p:cSld>
  <p:clrMapOvr>
    <a:masterClrMapping/>
  </p:clrMapOvr>
  <p:transition spd="me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err="1"/>
              <a:t>Supermesh</a:t>
            </a:r>
            <a:endParaRPr lang="en-US" sz="32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102</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9" name="Content Placeholder 2"/>
          <p:cNvSpPr>
            <a:spLocks noGrp="1"/>
          </p:cNvSpPr>
          <p:nvPr>
            <p:ph idx="1"/>
          </p:nvPr>
        </p:nvSpPr>
        <p:spPr>
          <a:xfrm>
            <a:off x="190500" y="723901"/>
            <a:ext cx="8724900" cy="5867400"/>
          </a:xfrm>
        </p:spPr>
        <p:txBody>
          <a:bodyPr/>
          <a:lstStyle/>
          <a:p>
            <a:pPr>
              <a:buNone/>
            </a:pPr>
            <a:r>
              <a:rPr lang="en-US" sz="2400" dirty="0"/>
              <a:t>Create a </a:t>
            </a:r>
            <a:r>
              <a:rPr lang="en-US" sz="2400" b="1" i="1" dirty="0" err="1"/>
              <a:t>supermesh</a:t>
            </a:r>
            <a:r>
              <a:rPr lang="en-US" sz="2400" b="1" i="1" dirty="0"/>
              <a:t> </a:t>
            </a:r>
            <a:r>
              <a:rPr lang="en-US" sz="2400" dirty="0"/>
              <a:t>from two meshes that have a current source as a common element. This reduces the number of meshes by one for each current source. If the current source is in the perimeter of the circuit, then the mesh in which it is  located is ignored.</a:t>
            </a:r>
          </a:p>
          <a:p>
            <a:pPr>
              <a:buNone/>
            </a:pPr>
            <a:r>
              <a:rPr lang="en-US" sz="2400" dirty="0"/>
              <a:t>	</a:t>
            </a:r>
            <a:r>
              <a:rPr lang="en-US" sz="2400" u="sng" dirty="0"/>
              <a:t>Example:</a:t>
            </a:r>
          </a:p>
          <a:p>
            <a:pPr>
              <a:buNone/>
            </a:pPr>
            <a:endParaRPr lang="en-US" sz="2400" dirty="0"/>
          </a:p>
          <a:p>
            <a:endParaRPr lang="en-US" sz="2000" dirty="0"/>
          </a:p>
          <a:p>
            <a:pPr lvl="1">
              <a:buFont typeface="Arial" charset="0"/>
              <a:buNone/>
            </a:pPr>
            <a:endParaRPr lang="en-US" sz="2000" dirty="0"/>
          </a:p>
        </p:txBody>
      </p:sp>
      <p:sp>
        <p:nvSpPr>
          <p:cNvPr id="9" name="TextBox 8"/>
          <p:cNvSpPr txBox="1"/>
          <p:nvPr/>
        </p:nvSpPr>
        <p:spPr>
          <a:xfrm>
            <a:off x="3810001" y="2514600"/>
            <a:ext cx="5029200" cy="646331"/>
          </a:xfrm>
          <a:prstGeom prst="rect">
            <a:avLst/>
          </a:prstGeom>
          <a:noFill/>
        </p:spPr>
        <p:txBody>
          <a:bodyPr wrap="square" rtlCol="0">
            <a:spAutoFit/>
          </a:bodyPr>
          <a:lstStyle/>
          <a:p>
            <a:r>
              <a:rPr lang="en-US" dirty="0"/>
              <a:t>Combine mesh 1 and 3 since there is a current source at their common boundary:</a:t>
            </a:r>
          </a:p>
        </p:txBody>
      </p:sp>
      <p:sp>
        <p:nvSpPr>
          <p:cNvPr id="16" name="TextBox 15"/>
          <p:cNvSpPr txBox="1"/>
          <p:nvPr/>
        </p:nvSpPr>
        <p:spPr>
          <a:xfrm>
            <a:off x="266700" y="4762500"/>
            <a:ext cx="1364476" cy="369332"/>
          </a:xfrm>
          <a:prstGeom prst="rect">
            <a:avLst/>
          </a:prstGeom>
          <a:noFill/>
        </p:spPr>
        <p:txBody>
          <a:bodyPr wrap="none" rtlCol="0">
            <a:spAutoFit/>
          </a:bodyPr>
          <a:lstStyle/>
          <a:p>
            <a:r>
              <a:rPr lang="en-US" dirty="0" err="1"/>
              <a:t>Supermesh</a:t>
            </a:r>
            <a:endParaRPr lang="en-US" dirty="0"/>
          </a:p>
        </p:txBody>
      </p:sp>
      <p:sp>
        <p:nvSpPr>
          <p:cNvPr id="12" name="TextBox 11"/>
          <p:cNvSpPr txBox="1"/>
          <p:nvPr/>
        </p:nvSpPr>
        <p:spPr>
          <a:xfrm>
            <a:off x="3848100" y="3250168"/>
            <a:ext cx="1268296" cy="369332"/>
          </a:xfrm>
          <a:prstGeom prst="rect">
            <a:avLst/>
          </a:prstGeom>
          <a:noFill/>
        </p:spPr>
        <p:txBody>
          <a:bodyPr wrap="none" rtlCol="0">
            <a:spAutoFit/>
          </a:bodyPr>
          <a:lstStyle/>
          <a:p>
            <a:r>
              <a:rPr lang="en-US" dirty="0"/>
              <a:t>Mesh 1+3:</a:t>
            </a:r>
          </a:p>
        </p:txBody>
      </p:sp>
      <p:pic>
        <p:nvPicPr>
          <p:cNvPr id="199685" name="Picture 5"/>
          <p:cNvPicPr>
            <a:picLocks noChangeAspect="1" noChangeArrowheads="1"/>
          </p:cNvPicPr>
          <p:nvPr/>
        </p:nvPicPr>
        <p:blipFill>
          <a:blip r:embed="rId2" cstate="print"/>
          <a:srcRect/>
          <a:stretch>
            <a:fillRect/>
          </a:stretch>
        </p:blipFill>
        <p:spPr bwMode="auto">
          <a:xfrm>
            <a:off x="304800" y="2781300"/>
            <a:ext cx="3094198" cy="2019300"/>
          </a:xfrm>
          <a:prstGeom prst="rect">
            <a:avLst/>
          </a:prstGeom>
          <a:noFill/>
          <a:ln w="9525">
            <a:noFill/>
            <a:miter lim="800000"/>
            <a:headEnd/>
            <a:tailEnd/>
          </a:ln>
          <a:effectLst/>
        </p:spPr>
      </p:pic>
      <p:cxnSp>
        <p:nvCxnSpPr>
          <p:cNvPr id="24" name="Straight Connector 23"/>
          <p:cNvCxnSpPr/>
          <p:nvPr/>
        </p:nvCxnSpPr>
        <p:spPr>
          <a:xfrm rot="5400000" flipH="1" flipV="1">
            <a:off x="-57150" y="3790950"/>
            <a:ext cx="1714500" cy="1588"/>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800100" y="2933700"/>
            <a:ext cx="762000" cy="1588"/>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rot="5400000" flipH="1" flipV="1">
            <a:off x="1239044" y="3256756"/>
            <a:ext cx="647700" cy="1588"/>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1562100" y="3581400"/>
            <a:ext cx="1371600" cy="1588"/>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rot="5400000" flipH="1" flipV="1">
            <a:off x="2401094" y="4114006"/>
            <a:ext cx="1066800" cy="1588"/>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800100" y="4648200"/>
            <a:ext cx="2133600" cy="1588"/>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rot="10800000" flipV="1">
            <a:off x="762001" y="4648200"/>
            <a:ext cx="266700" cy="228600"/>
          </a:xfrm>
          <a:prstGeom prst="line">
            <a:avLst/>
          </a:prstGeom>
          <a:ln w="1905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199686" name="Object 6"/>
          <p:cNvGraphicFramePr>
            <a:graphicFrameLocks noChangeAspect="1"/>
          </p:cNvGraphicFramePr>
          <p:nvPr/>
        </p:nvGraphicFramePr>
        <p:xfrm>
          <a:off x="5219700" y="3257550"/>
          <a:ext cx="3327400" cy="742950"/>
        </p:xfrm>
        <a:graphic>
          <a:graphicData uri="http://schemas.openxmlformats.org/presentationml/2006/ole">
            <mc:AlternateContent xmlns:mc="http://schemas.openxmlformats.org/markup-compatibility/2006">
              <mc:Choice xmlns:v="urn:schemas-microsoft-com:vml" Requires="v">
                <p:oleObj name="Equation" r:id="rId3" imgW="2057400" imgH="457200" progId="Equation.3">
                  <p:embed/>
                </p:oleObj>
              </mc:Choice>
              <mc:Fallback>
                <p:oleObj name="Equation" r:id="rId3" imgW="2057400" imgH="457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19700" y="3257550"/>
                        <a:ext cx="3327400" cy="742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 name="TextBox 42"/>
          <p:cNvSpPr txBox="1"/>
          <p:nvPr/>
        </p:nvSpPr>
        <p:spPr>
          <a:xfrm>
            <a:off x="4114800" y="4038600"/>
            <a:ext cx="1005403" cy="369332"/>
          </a:xfrm>
          <a:prstGeom prst="rect">
            <a:avLst/>
          </a:prstGeom>
          <a:noFill/>
        </p:spPr>
        <p:txBody>
          <a:bodyPr wrap="none" rtlCol="0">
            <a:spAutoFit/>
          </a:bodyPr>
          <a:lstStyle/>
          <a:p>
            <a:r>
              <a:rPr lang="en-US" dirty="0"/>
              <a:t>Mesh 2:</a:t>
            </a:r>
          </a:p>
        </p:txBody>
      </p:sp>
      <p:graphicFrame>
        <p:nvGraphicFramePr>
          <p:cNvPr id="199687" name="Object 7"/>
          <p:cNvGraphicFramePr>
            <a:graphicFrameLocks noChangeAspect="1"/>
          </p:cNvGraphicFramePr>
          <p:nvPr/>
        </p:nvGraphicFramePr>
        <p:xfrm>
          <a:off x="5295900" y="4057650"/>
          <a:ext cx="2689225" cy="742950"/>
        </p:xfrm>
        <a:graphic>
          <a:graphicData uri="http://schemas.openxmlformats.org/presentationml/2006/ole">
            <mc:AlternateContent xmlns:mc="http://schemas.openxmlformats.org/markup-compatibility/2006">
              <mc:Choice xmlns:v="urn:schemas-microsoft-com:vml" Requires="v">
                <p:oleObj name="Equation" r:id="rId5" imgW="1663560" imgH="457200" progId="Equation.3">
                  <p:embed/>
                </p:oleObj>
              </mc:Choice>
              <mc:Fallback>
                <p:oleObj name="Equation" r:id="rId5" imgW="1663560" imgH="457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95900" y="4057650"/>
                        <a:ext cx="2689225" cy="742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995868174"/>
      </p:ext>
    </p:extLst>
  </p:cSld>
  <p:clrMapOvr>
    <a:masterClrMapping/>
  </p:clrMapOvr>
  <p:transition spd="med"/>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err="1"/>
              <a:t>Supermesh</a:t>
            </a:r>
            <a:endParaRPr lang="en-US" sz="32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103</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9" name="Content Placeholder 2"/>
          <p:cNvSpPr>
            <a:spLocks noGrp="1"/>
          </p:cNvSpPr>
          <p:nvPr>
            <p:ph idx="1"/>
          </p:nvPr>
        </p:nvSpPr>
        <p:spPr>
          <a:xfrm>
            <a:off x="190500" y="723901"/>
            <a:ext cx="8724900" cy="5867400"/>
          </a:xfrm>
        </p:spPr>
        <p:txBody>
          <a:bodyPr/>
          <a:lstStyle/>
          <a:p>
            <a:pPr>
              <a:buNone/>
            </a:pPr>
            <a:r>
              <a:rPr lang="en-US" sz="2400" dirty="0"/>
              <a:t>Create a </a:t>
            </a:r>
            <a:r>
              <a:rPr lang="en-US" sz="2400" b="1" i="1" dirty="0" err="1"/>
              <a:t>supermesh</a:t>
            </a:r>
            <a:r>
              <a:rPr lang="en-US" sz="2400" b="1" i="1" dirty="0"/>
              <a:t> </a:t>
            </a:r>
            <a:r>
              <a:rPr lang="en-US" sz="2400" dirty="0"/>
              <a:t>from two meshes that have a current source as a common element. This reduces the number of meshes by one for each current source. If the current source is in the perimeter of the circuit, then the mesh in which it is  located is ignored.</a:t>
            </a:r>
          </a:p>
          <a:p>
            <a:pPr>
              <a:buNone/>
            </a:pPr>
            <a:r>
              <a:rPr lang="en-US" sz="2400" dirty="0"/>
              <a:t>	</a:t>
            </a:r>
            <a:r>
              <a:rPr lang="en-US" sz="2400" u="sng" dirty="0"/>
              <a:t>Example:</a:t>
            </a:r>
          </a:p>
          <a:p>
            <a:pPr>
              <a:buNone/>
            </a:pPr>
            <a:endParaRPr lang="en-US" sz="2400" dirty="0"/>
          </a:p>
          <a:p>
            <a:endParaRPr lang="en-US" sz="2000" dirty="0"/>
          </a:p>
          <a:p>
            <a:pPr lvl="1">
              <a:buFont typeface="Arial" charset="0"/>
              <a:buNone/>
            </a:pPr>
            <a:endParaRPr lang="en-US" sz="2000" dirty="0"/>
          </a:p>
        </p:txBody>
      </p:sp>
      <p:sp>
        <p:nvSpPr>
          <p:cNvPr id="9" name="TextBox 8"/>
          <p:cNvSpPr txBox="1"/>
          <p:nvPr/>
        </p:nvSpPr>
        <p:spPr>
          <a:xfrm>
            <a:off x="3810001" y="2514600"/>
            <a:ext cx="5029200" cy="646331"/>
          </a:xfrm>
          <a:prstGeom prst="rect">
            <a:avLst/>
          </a:prstGeom>
          <a:noFill/>
        </p:spPr>
        <p:txBody>
          <a:bodyPr wrap="square" rtlCol="0">
            <a:spAutoFit/>
          </a:bodyPr>
          <a:lstStyle/>
          <a:p>
            <a:r>
              <a:rPr lang="en-US" dirty="0"/>
              <a:t>Combine mesh 1 and 3 since there is a current source at their common boundary:</a:t>
            </a:r>
          </a:p>
        </p:txBody>
      </p:sp>
      <p:sp>
        <p:nvSpPr>
          <p:cNvPr id="16" name="TextBox 15"/>
          <p:cNvSpPr txBox="1"/>
          <p:nvPr/>
        </p:nvSpPr>
        <p:spPr>
          <a:xfrm>
            <a:off x="266700" y="4762500"/>
            <a:ext cx="1364476" cy="369332"/>
          </a:xfrm>
          <a:prstGeom prst="rect">
            <a:avLst/>
          </a:prstGeom>
          <a:noFill/>
        </p:spPr>
        <p:txBody>
          <a:bodyPr wrap="none" rtlCol="0">
            <a:spAutoFit/>
          </a:bodyPr>
          <a:lstStyle/>
          <a:p>
            <a:r>
              <a:rPr lang="en-US" dirty="0" err="1"/>
              <a:t>Supermesh</a:t>
            </a:r>
            <a:endParaRPr lang="en-US" dirty="0"/>
          </a:p>
        </p:txBody>
      </p:sp>
      <p:sp>
        <p:nvSpPr>
          <p:cNvPr id="12" name="TextBox 11"/>
          <p:cNvSpPr txBox="1"/>
          <p:nvPr/>
        </p:nvSpPr>
        <p:spPr>
          <a:xfrm>
            <a:off x="3848100" y="3250168"/>
            <a:ext cx="1268296" cy="369332"/>
          </a:xfrm>
          <a:prstGeom prst="rect">
            <a:avLst/>
          </a:prstGeom>
          <a:noFill/>
        </p:spPr>
        <p:txBody>
          <a:bodyPr wrap="none" rtlCol="0">
            <a:spAutoFit/>
          </a:bodyPr>
          <a:lstStyle/>
          <a:p>
            <a:r>
              <a:rPr lang="en-US" dirty="0"/>
              <a:t>Mesh 1+3:</a:t>
            </a:r>
          </a:p>
        </p:txBody>
      </p:sp>
      <p:pic>
        <p:nvPicPr>
          <p:cNvPr id="199685" name="Picture 5"/>
          <p:cNvPicPr>
            <a:picLocks noChangeAspect="1" noChangeArrowheads="1"/>
          </p:cNvPicPr>
          <p:nvPr/>
        </p:nvPicPr>
        <p:blipFill>
          <a:blip r:embed="rId2" cstate="print"/>
          <a:srcRect/>
          <a:stretch>
            <a:fillRect/>
          </a:stretch>
        </p:blipFill>
        <p:spPr bwMode="auto">
          <a:xfrm>
            <a:off x="304800" y="2781300"/>
            <a:ext cx="3094198" cy="2019300"/>
          </a:xfrm>
          <a:prstGeom prst="rect">
            <a:avLst/>
          </a:prstGeom>
          <a:noFill/>
          <a:ln w="9525">
            <a:noFill/>
            <a:miter lim="800000"/>
            <a:headEnd/>
            <a:tailEnd/>
          </a:ln>
          <a:effectLst/>
        </p:spPr>
      </p:pic>
      <p:cxnSp>
        <p:nvCxnSpPr>
          <p:cNvPr id="24" name="Straight Connector 23"/>
          <p:cNvCxnSpPr/>
          <p:nvPr/>
        </p:nvCxnSpPr>
        <p:spPr>
          <a:xfrm rot="5400000" flipH="1" flipV="1">
            <a:off x="-57150" y="3790950"/>
            <a:ext cx="1714500" cy="1588"/>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800100" y="2933700"/>
            <a:ext cx="762000" cy="1588"/>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rot="5400000" flipH="1" flipV="1">
            <a:off x="1239044" y="3256756"/>
            <a:ext cx="647700" cy="1588"/>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1562100" y="3581400"/>
            <a:ext cx="1371600" cy="1588"/>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rot="5400000" flipH="1" flipV="1">
            <a:off x="2401094" y="4114006"/>
            <a:ext cx="1066800" cy="1588"/>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800100" y="4648200"/>
            <a:ext cx="2133600" cy="1588"/>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rot="10800000" flipV="1">
            <a:off x="762001" y="4648200"/>
            <a:ext cx="266700" cy="228600"/>
          </a:xfrm>
          <a:prstGeom prst="line">
            <a:avLst/>
          </a:prstGeom>
          <a:ln w="1905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199686" name="Object 6"/>
          <p:cNvGraphicFramePr>
            <a:graphicFrameLocks noChangeAspect="1"/>
          </p:cNvGraphicFramePr>
          <p:nvPr/>
        </p:nvGraphicFramePr>
        <p:xfrm>
          <a:off x="5219700" y="3257550"/>
          <a:ext cx="3327400" cy="742950"/>
        </p:xfrm>
        <a:graphic>
          <a:graphicData uri="http://schemas.openxmlformats.org/presentationml/2006/ole">
            <mc:AlternateContent xmlns:mc="http://schemas.openxmlformats.org/markup-compatibility/2006">
              <mc:Choice xmlns:v="urn:schemas-microsoft-com:vml" Requires="v">
                <p:oleObj name="Equation" r:id="rId3" imgW="2057400" imgH="457200" progId="Equation.3">
                  <p:embed/>
                </p:oleObj>
              </mc:Choice>
              <mc:Fallback>
                <p:oleObj name="Equation" r:id="rId3" imgW="2057400" imgH="457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19700" y="3257550"/>
                        <a:ext cx="3327400" cy="742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 name="TextBox 42"/>
          <p:cNvSpPr txBox="1"/>
          <p:nvPr/>
        </p:nvSpPr>
        <p:spPr>
          <a:xfrm>
            <a:off x="4114800" y="4038600"/>
            <a:ext cx="1005403" cy="369332"/>
          </a:xfrm>
          <a:prstGeom prst="rect">
            <a:avLst/>
          </a:prstGeom>
          <a:noFill/>
        </p:spPr>
        <p:txBody>
          <a:bodyPr wrap="none" rtlCol="0">
            <a:spAutoFit/>
          </a:bodyPr>
          <a:lstStyle/>
          <a:p>
            <a:r>
              <a:rPr lang="en-US" dirty="0"/>
              <a:t>Mesh 2:</a:t>
            </a:r>
          </a:p>
        </p:txBody>
      </p:sp>
      <p:graphicFrame>
        <p:nvGraphicFramePr>
          <p:cNvPr id="199687" name="Object 7"/>
          <p:cNvGraphicFramePr>
            <a:graphicFrameLocks noChangeAspect="1"/>
          </p:cNvGraphicFramePr>
          <p:nvPr/>
        </p:nvGraphicFramePr>
        <p:xfrm>
          <a:off x="5295900" y="4057650"/>
          <a:ext cx="2689225" cy="742950"/>
        </p:xfrm>
        <a:graphic>
          <a:graphicData uri="http://schemas.openxmlformats.org/presentationml/2006/ole">
            <mc:AlternateContent xmlns:mc="http://schemas.openxmlformats.org/markup-compatibility/2006">
              <mc:Choice xmlns:v="urn:schemas-microsoft-com:vml" Requires="v">
                <p:oleObj name="Equation" r:id="rId5" imgW="1663560" imgH="457200" progId="Equation.3">
                  <p:embed/>
                </p:oleObj>
              </mc:Choice>
              <mc:Fallback>
                <p:oleObj name="Equation" r:id="rId5" imgW="1663560" imgH="457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95900" y="4057650"/>
                        <a:ext cx="2689225" cy="742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4" name="TextBox 43"/>
          <p:cNvSpPr txBox="1"/>
          <p:nvPr/>
        </p:nvSpPr>
        <p:spPr>
          <a:xfrm>
            <a:off x="3733800" y="4838700"/>
            <a:ext cx="5429692" cy="646331"/>
          </a:xfrm>
          <a:prstGeom prst="rect">
            <a:avLst/>
          </a:prstGeom>
          <a:noFill/>
        </p:spPr>
        <p:txBody>
          <a:bodyPr wrap="none" rtlCol="0">
            <a:spAutoFit/>
          </a:bodyPr>
          <a:lstStyle/>
          <a:p>
            <a:r>
              <a:rPr lang="en-US" dirty="0"/>
              <a:t>2 </a:t>
            </a:r>
            <a:r>
              <a:rPr lang="en-US" dirty="0" err="1"/>
              <a:t>equantions</a:t>
            </a:r>
            <a:r>
              <a:rPr lang="en-US" dirty="0"/>
              <a:t>, 3 unknowns; add an equation for the </a:t>
            </a:r>
          </a:p>
          <a:p>
            <a:r>
              <a:rPr lang="en-US" dirty="0"/>
              <a:t>independent source:</a:t>
            </a:r>
          </a:p>
        </p:txBody>
      </p:sp>
      <p:graphicFrame>
        <p:nvGraphicFramePr>
          <p:cNvPr id="199688" name="Object 8"/>
          <p:cNvGraphicFramePr>
            <a:graphicFrameLocks noChangeAspect="1"/>
          </p:cNvGraphicFramePr>
          <p:nvPr/>
        </p:nvGraphicFramePr>
        <p:xfrm>
          <a:off x="6019800" y="5381625"/>
          <a:ext cx="1397000" cy="371475"/>
        </p:xfrm>
        <a:graphic>
          <a:graphicData uri="http://schemas.openxmlformats.org/presentationml/2006/ole">
            <mc:AlternateContent xmlns:mc="http://schemas.openxmlformats.org/markup-compatibility/2006">
              <mc:Choice xmlns:v="urn:schemas-microsoft-com:vml" Requires="v">
                <p:oleObj name="Equation" r:id="rId7" imgW="863280" imgH="228600" progId="Equation.3">
                  <p:embed/>
                </p:oleObj>
              </mc:Choice>
              <mc:Fallback>
                <p:oleObj name="Equation" r:id="rId7" imgW="863280" imgH="2286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19800" y="5381625"/>
                        <a:ext cx="139700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041358558"/>
      </p:ext>
    </p:extLst>
  </p:cSld>
  <p:clrMapOvr>
    <a:masterClrMapping/>
  </p:clrMapOvr>
  <p:transition spd="med"/>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err="1"/>
              <a:t>Supermesh</a:t>
            </a:r>
            <a:endParaRPr lang="en-US" sz="32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104</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9" name="Content Placeholder 2"/>
          <p:cNvSpPr>
            <a:spLocks noGrp="1"/>
          </p:cNvSpPr>
          <p:nvPr>
            <p:ph idx="1"/>
          </p:nvPr>
        </p:nvSpPr>
        <p:spPr>
          <a:xfrm>
            <a:off x="190500" y="723901"/>
            <a:ext cx="8724900" cy="5867400"/>
          </a:xfrm>
        </p:spPr>
        <p:txBody>
          <a:bodyPr/>
          <a:lstStyle/>
          <a:p>
            <a:pPr>
              <a:buNone/>
            </a:pPr>
            <a:r>
              <a:rPr lang="en-US" sz="2400" dirty="0"/>
              <a:t>Create a </a:t>
            </a:r>
            <a:r>
              <a:rPr lang="en-US" sz="2400" b="1" i="1" dirty="0" err="1"/>
              <a:t>supermesh</a:t>
            </a:r>
            <a:r>
              <a:rPr lang="en-US" sz="2400" b="1" i="1" dirty="0"/>
              <a:t> </a:t>
            </a:r>
            <a:r>
              <a:rPr lang="en-US" sz="2400" dirty="0"/>
              <a:t>from two meshes that have a current source as a common element. This reduces the number of meshes by one for each current source. If the current source is in the perimeter of the circuit, then the mesh in which it is  located is ignored.</a:t>
            </a:r>
          </a:p>
          <a:p>
            <a:pPr>
              <a:buNone/>
            </a:pPr>
            <a:r>
              <a:rPr lang="en-US" sz="2400" dirty="0"/>
              <a:t>	</a:t>
            </a:r>
            <a:r>
              <a:rPr lang="en-US" sz="2400" u="sng" dirty="0"/>
              <a:t>Example:</a:t>
            </a:r>
          </a:p>
          <a:p>
            <a:pPr>
              <a:buNone/>
            </a:pPr>
            <a:endParaRPr lang="en-US" sz="2400" dirty="0"/>
          </a:p>
          <a:p>
            <a:endParaRPr lang="en-US" sz="2000" dirty="0"/>
          </a:p>
          <a:p>
            <a:pPr lvl="1">
              <a:buFont typeface="Arial" charset="0"/>
              <a:buNone/>
            </a:pPr>
            <a:endParaRPr lang="en-US" sz="2000" dirty="0"/>
          </a:p>
        </p:txBody>
      </p:sp>
      <p:sp>
        <p:nvSpPr>
          <p:cNvPr id="9" name="TextBox 8"/>
          <p:cNvSpPr txBox="1"/>
          <p:nvPr/>
        </p:nvSpPr>
        <p:spPr>
          <a:xfrm>
            <a:off x="3810001" y="2514600"/>
            <a:ext cx="5029200" cy="646331"/>
          </a:xfrm>
          <a:prstGeom prst="rect">
            <a:avLst/>
          </a:prstGeom>
          <a:noFill/>
        </p:spPr>
        <p:txBody>
          <a:bodyPr wrap="square" rtlCol="0">
            <a:spAutoFit/>
          </a:bodyPr>
          <a:lstStyle/>
          <a:p>
            <a:r>
              <a:rPr lang="en-US" dirty="0"/>
              <a:t>Combine mesh 1 and 3 since there is a current source at their common boundary:</a:t>
            </a:r>
          </a:p>
        </p:txBody>
      </p:sp>
      <p:sp>
        <p:nvSpPr>
          <p:cNvPr id="16" name="TextBox 15"/>
          <p:cNvSpPr txBox="1"/>
          <p:nvPr/>
        </p:nvSpPr>
        <p:spPr>
          <a:xfrm>
            <a:off x="266700" y="4762500"/>
            <a:ext cx="1364476" cy="369332"/>
          </a:xfrm>
          <a:prstGeom prst="rect">
            <a:avLst/>
          </a:prstGeom>
          <a:noFill/>
        </p:spPr>
        <p:txBody>
          <a:bodyPr wrap="none" rtlCol="0">
            <a:spAutoFit/>
          </a:bodyPr>
          <a:lstStyle/>
          <a:p>
            <a:r>
              <a:rPr lang="en-US" dirty="0" err="1"/>
              <a:t>Supermesh</a:t>
            </a:r>
            <a:endParaRPr lang="en-US" dirty="0"/>
          </a:p>
        </p:txBody>
      </p:sp>
      <p:sp>
        <p:nvSpPr>
          <p:cNvPr id="12" name="TextBox 11"/>
          <p:cNvSpPr txBox="1"/>
          <p:nvPr/>
        </p:nvSpPr>
        <p:spPr>
          <a:xfrm>
            <a:off x="3848100" y="3250168"/>
            <a:ext cx="1268296" cy="369332"/>
          </a:xfrm>
          <a:prstGeom prst="rect">
            <a:avLst/>
          </a:prstGeom>
          <a:noFill/>
        </p:spPr>
        <p:txBody>
          <a:bodyPr wrap="none" rtlCol="0">
            <a:spAutoFit/>
          </a:bodyPr>
          <a:lstStyle/>
          <a:p>
            <a:r>
              <a:rPr lang="en-US" dirty="0"/>
              <a:t>Mesh 1+3:</a:t>
            </a:r>
          </a:p>
        </p:txBody>
      </p:sp>
      <p:pic>
        <p:nvPicPr>
          <p:cNvPr id="199685" name="Picture 5"/>
          <p:cNvPicPr>
            <a:picLocks noChangeAspect="1" noChangeArrowheads="1"/>
          </p:cNvPicPr>
          <p:nvPr/>
        </p:nvPicPr>
        <p:blipFill>
          <a:blip r:embed="rId2" cstate="print"/>
          <a:srcRect/>
          <a:stretch>
            <a:fillRect/>
          </a:stretch>
        </p:blipFill>
        <p:spPr bwMode="auto">
          <a:xfrm>
            <a:off x="304800" y="2781300"/>
            <a:ext cx="3094198" cy="2019300"/>
          </a:xfrm>
          <a:prstGeom prst="rect">
            <a:avLst/>
          </a:prstGeom>
          <a:noFill/>
          <a:ln w="9525">
            <a:noFill/>
            <a:miter lim="800000"/>
            <a:headEnd/>
            <a:tailEnd/>
          </a:ln>
          <a:effectLst/>
        </p:spPr>
      </p:pic>
      <p:cxnSp>
        <p:nvCxnSpPr>
          <p:cNvPr id="24" name="Straight Connector 23"/>
          <p:cNvCxnSpPr/>
          <p:nvPr/>
        </p:nvCxnSpPr>
        <p:spPr>
          <a:xfrm rot="5400000" flipH="1" flipV="1">
            <a:off x="-57150" y="3790950"/>
            <a:ext cx="1714500" cy="1588"/>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800100" y="2933700"/>
            <a:ext cx="762000" cy="1588"/>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rot="5400000" flipH="1" flipV="1">
            <a:off x="1239044" y="3256756"/>
            <a:ext cx="647700" cy="1588"/>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1562100" y="3581400"/>
            <a:ext cx="1371600" cy="1588"/>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rot="5400000" flipH="1" flipV="1">
            <a:off x="2401094" y="4114006"/>
            <a:ext cx="1066800" cy="1588"/>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800100" y="4648200"/>
            <a:ext cx="2133600" cy="1588"/>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rot="10800000" flipV="1">
            <a:off x="762001" y="4648200"/>
            <a:ext cx="266700" cy="228600"/>
          </a:xfrm>
          <a:prstGeom prst="line">
            <a:avLst/>
          </a:prstGeom>
          <a:ln w="1905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199686" name="Object 6"/>
          <p:cNvGraphicFramePr>
            <a:graphicFrameLocks noChangeAspect="1"/>
          </p:cNvGraphicFramePr>
          <p:nvPr/>
        </p:nvGraphicFramePr>
        <p:xfrm>
          <a:off x="5219700" y="3257550"/>
          <a:ext cx="3327400" cy="742950"/>
        </p:xfrm>
        <a:graphic>
          <a:graphicData uri="http://schemas.openxmlformats.org/presentationml/2006/ole">
            <mc:AlternateContent xmlns:mc="http://schemas.openxmlformats.org/markup-compatibility/2006">
              <mc:Choice xmlns:v="urn:schemas-microsoft-com:vml" Requires="v">
                <p:oleObj name="Equation" r:id="rId3" imgW="2057400" imgH="457200" progId="Equation.3">
                  <p:embed/>
                </p:oleObj>
              </mc:Choice>
              <mc:Fallback>
                <p:oleObj name="Equation" r:id="rId3" imgW="2057400" imgH="457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19700" y="3257550"/>
                        <a:ext cx="3327400" cy="742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 name="TextBox 42"/>
          <p:cNvSpPr txBox="1"/>
          <p:nvPr/>
        </p:nvSpPr>
        <p:spPr>
          <a:xfrm>
            <a:off x="4114800" y="4038600"/>
            <a:ext cx="1005403" cy="369332"/>
          </a:xfrm>
          <a:prstGeom prst="rect">
            <a:avLst/>
          </a:prstGeom>
          <a:noFill/>
        </p:spPr>
        <p:txBody>
          <a:bodyPr wrap="none" rtlCol="0">
            <a:spAutoFit/>
          </a:bodyPr>
          <a:lstStyle/>
          <a:p>
            <a:r>
              <a:rPr lang="en-US" dirty="0"/>
              <a:t>Mesh 2:</a:t>
            </a:r>
          </a:p>
        </p:txBody>
      </p:sp>
      <p:graphicFrame>
        <p:nvGraphicFramePr>
          <p:cNvPr id="199687" name="Object 7"/>
          <p:cNvGraphicFramePr>
            <a:graphicFrameLocks noChangeAspect="1"/>
          </p:cNvGraphicFramePr>
          <p:nvPr/>
        </p:nvGraphicFramePr>
        <p:xfrm>
          <a:off x="5295900" y="4057650"/>
          <a:ext cx="2689225" cy="742950"/>
        </p:xfrm>
        <a:graphic>
          <a:graphicData uri="http://schemas.openxmlformats.org/presentationml/2006/ole">
            <mc:AlternateContent xmlns:mc="http://schemas.openxmlformats.org/markup-compatibility/2006">
              <mc:Choice xmlns:v="urn:schemas-microsoft-com:vml" Requires="v">
                <p:oleObj name="Equation" r:id="rId5" imgW="1663560" imgH="457200" progId="Equation.3">
                  <p:embed/>
                </p:oleObj>
              </mc:Choice>
              <mc:Fallback>
                <p:oleObj name="Equation" r:id="rId5" imgW="1663560" imgH="457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95900" y="4057650"/>
                        <a:ext cx="2689225" cy="742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4" name="TextBox 43"/>
          <p:cNvSpPr txBox="1"/>
          <p:nvPr/>
        </p:nvSpPr>
        <p:spPr>
          <a:xfrm>
            <a:off x="3733800" y="4838700"/>
            <a:ext cx="5429692" cy="646331"/>
          </a:xfrm>
          <a:prstGeom prst="rect">
            <a:avLst/>
          </a:prstGeom>
          <a:noFill/>
        </p:spPr>
        <p:txBody>
          <a:bodyPr wrap="none" rtlCol="0">
            <a:spAutoFit/>
          </a:bodyPr>
          <a:lstStyle/>
          <a:p>
            <a:r>
              <a:rPr lang="en-US" dirty="0"/>
              <a:t>2 </a:t>
            </a:r>
            <a:r>
              <a:rPr lang="en-US" dirty="0" err="1"/>
              <a:t>equantions</a:t>
            </a:r>
            <a:r>
              <a:rPr lang="en-US" dirty="0"/>
              <a:t>, 3 unknowns; add an equation for the </a:t>
            </a:r>
          </a:p>
          <a:p>
            <a:r>
              <a:rPr lang="en-US" dirty="0"/>
              <a:t>independent source:</a:t>
            </a:r>
          </a:p>
        </p:txBody>
      </p:sp>
      <p:graphicFrame>
        <p:nvGraphicFramePr>
          <p:cNvPr id="199688" name="Object 8"/>
          <p:cNvGraphicFramePr>
            <a:graphicFrameLocks noChangeAspect="1"/>
          </p:cNvGraphicFramePr>
          <p:nvPr/>
        </p:nvGraphicFramePr>
        <p:xfrm>
          <a:off x="6019800" y="5381625"/>
          <a:ext cx="1397000" cy="371475"/>
        </p:xfrm>
        <a:graphic>
          <a:graphicData uri="http://schemas.openxmlformats.org/presentationml/2006/ole">
            <mc:AlternateContent xmlns:mc="http://schemas.openxmlformats.org/markup-compatibility/2006">
              <mc:Choice xmlns:v="urn:schemas-microsoft-com:vml" Requires="v">
                <p:oleObj name="Equation" r:id="rId7" imgW="863280" imgH="228600" progId="Equation.3">
                  <p:embed/>
                </p:oleObj>
              </mc:Choice>
              <mc:Fallback>
                <p:oleObj name="Equation" r:id="rId7" imgW="863280" imgH="2286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19800" y="5381625"/>
                        <a:ext cx="139700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 name="TextBox 44"/>
          <p:cNvSpPr txBox="1"/>
          <p:nvPr/>
        </p:nvSpPr>
        <p:spPr>
          <a:xfrm>
            <a:off x="1333500" y="5848350"/>
            <a:ext cx="1454244" cy="369332"/>
          </a:xfrm>
          <a:prstGeom prst="rect">
            <a:avLst/>
          </a:prstGeom>
          <a:noFill/>
        </p:spPr>
        <p:txBody>
          <a:bodyPr wrap="none" rtlCol="0">
            <a:spAutoFit/>
          </a:bodyPr>
          <a:lstStyle/>
          <a:p>
            <a:r>
              <a:rPr lang="en-US" dirty="0"/>
              <a:t>Solving, get:</a:t>
            </a:r>
          </a:p>
        </p:txBody>
      </p:sp>
      <p:graphicFrame>
        <p:nvGraphicFramePr>
          <p:cNvPr id="46" name="Object 14"/>
          <p:cNvGraphicFramePr>
            <a:graphicFrameLocks noChangeAspect="1"/>
          </p:cNvGraphicFramePr>
          <p:nvPr/>
        </p:nvGraphicFramePr>
        <p:xfrm>
          <a:off x="2782888" y="6096000"/>
          <a:ext cx="3916362" cy="411163"/>
        </p:xfrm>
        <a:graphic>
          <a:graphicData uri="http://schemas.openxmlformats.org/presentationml/2006/ole">
            <mc:AlternateContent xmlns:mc="http://schemas.openxmlformats.org/markup-compatibility/2006">
              <mc:Choice xmlns:v="urn:schemas-microsoft-com:vml" Requires="v">
                <p:oleObj name="Equation" r:id="rId9" imgW="2184120" imgH="228600" progId="Equation.3">
                  <p:embed/>
                </p:oleObj>
              </mc:Choice>
              <mc:Fallback>
                <p:oleObj name="Equation" r:id="rId9" imgW="2184120" imgH="2286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82888" y="6096000"/>
                        <a:ext cx="3916362" cy="411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631082322"/>
      </p:ext>
    </p:extLst>
  </p:cSld>
  <p:clrMapOvr>
    <a:masterClrMapping/>
  </p:clrMapOvr>
  <p:transition spd="med"/>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a:t>
            </a:r>
          </a:p>
        </p:txBody>
      </p:sp>
      <p:sp>
        <p:nvSpPr>
          <p:cNvPr id="6147" name="Content Placeholder 2"/>
          <p:cNvSpPr>
            <a:spLocks noGrp="1"/>
          </p:cNvSpPr>
          <p:nvPr>
            <p:ph idx="1"/>
          </p:nvPr>
        </p:nvSpPr>
        <p:spPr>
          <a:xfrm>
            <a:off x="533400" y="723901"/>
            <a:ext cx="8229600" cy="5867400"/>
          </a:xfrm>
        </p:spPr>
        <p:txBody>
          <a:bodyPr/>
          <a:lstStyle/>
          <a:p>
            <a:pPr>
              <a:buNone/>
            </a:pPr>
            <a:r>
              <a:rPr lang="en-US" sz="2400" dirty="0"/>
              <a:t>Use mesh analysis to determine the three mesh currents in the following circuit:</a:t>
            </a:r>
          </a:p>
          <a:p>
            <a:pPr>
              <a:buNone/>
            </a:pPr>
            <a:endParaRPr lang="en-US" sz="2400" dirty="0"/>
          </a:p>
          <a:p>
            <a:endParaRPr lang="en-US" sz="20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105</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205830" name="Picture 6"/>
          <p:cNvPicPr>
            <a:picLocks noChangeAspect="1" noChangeArrowheads="1"/>
          </p:cNvPicPr>
          <p:nvPr/>
        </p:nvPicPr>
        <p:blipFill>
          <a:blip r:embed="rId2" cstate="print"/>
          <a:srcRect/>
          <a:stretch>
            <a:fillRect/>
          </a:stretch>
        </p:blipFill>
        <p:spPr bwMode="auto">
          <a:xfrm>
            <a:off x="304800" y="1600200"/>
            <a:ext cx="3719803" cy="2438400"/>
          </a:xfrm>
          <a:prstGeom prst="rect">
            <a:avLst/>
          </a:prstGeom>
          <a:noFill/>
          <a:ln w="9525">
            <a:noFill/>
            <a:miter lim="800000"/>
            <a:headEnd/>
            <a:tailEnd/>
          </a:ln>
          <a:effectLst/>
        </p:spPr>
      </p:pic>
    </p:spTree>
    <p:extLst>
      <p:ext uri="{BB962C8B-B14F-4D97-AF65-F5344CB8AC3E}">
        <p14:creationId xmlns:p14="http://schemas.microsoft.com/office/powerpoint/2010/main" val="1073360663"/>
      </p:ext>
    </p:extLst>
  </p:cSld>
  <p:clrMapOvr>
    <a:masterClrMapping/>
  </p:clrMapOvr>
  <p:transition spd="med"/>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a:t>
            </a:r>
          </a:p>
        </p:txBody>
      </p:sp>
      <p:sp>
        <p:nvSpPr>
          <p:cNvPr id="6147" name="Content Placeholder 2"/>
          <p:cNvSpPr>
            <a:spLocks noGrp="1"/>
          </p:cNvSpPr>
          <p:nvPr>
            <p:ph idx="1"/>
          </p:nvPr>
        </p:nvSpPr>
        <p:spPr>
          <a:xfrm>
            <a:off x="533400" y="723901"/>
            <a:ext cx="8229600" cy="5867400"/>
          </a:xfrm>
        </p:spPr>
        <p:txBody>
          <a:bodyPr/>
          <a:lstStyle/>
          <a:p>
            <a:pPr>
              <a:buNone/>
            </a:pPr>
            <a:r>
              <a:rPr lang="en-US" sz="2400" dirty="0"/>
              <a:t>Use mesh analysis to determine the three mesh currents in the following circuit:</a:t>
            </a:r>
          </a:p>
          <a:p>
            <a:pPr>
              <a:buNone/>
            </a:pPr>
            <a:endParaRPr lang="en-US" sz="2400" dirty="0"/>
          </a:p>
          <a:p>
            <a:endParaRPr lang="en-US" sz="20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106</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7" name="TextBox 26"/>
          <p:cNvSpPr txBox="1"/>
          <p:nvPr/>
        </p:nvSpPr>
        <p:spPr>
          <a:xfrm>
            <a:off x="4533900" y="3810000"/>
            <a:ext cx="2710999" cy="369332"/>
          </a:xfrm>
          <a:prstGeom prst="rect">
            <a:avLst/>
          </a:prstGeom>
          <a:noFill/>
        </p:spPr>
        <p:txBody>
          <a:bodyPr wrap="none" rtlCol="0">
            <a:spAutoFit/>
          </a:bodyPr>
          <a:lstStyle/>
          <a:p>
            <a:r>
              <a:rPr lang="en-US" dirty="0"/>
              <a:t>These equations lead to:</a:t>
            </a:r>
          </a:p>
        </p:txBody>
      </p:sp>
      <p:graphicFrame>
        <p:nvGraphicFramePr>
          <p:cNvPr id="28" name="Object 11"/>
          <p:cNvGraphicFramePr>
            <a:graphicFrameLocks noChangeAspect="1"/>
          </p:cNvGraphicFramePr>
          <p:nvPr/>
        </p:nvGraphicFramePr>
        <p:xfrm>
          <a:off x="4686300" y="3124200"/>
          <a:ext cx="1023937" cy="639763"/>
        </p:xfrm>
        <a:graphic>
          <a:graphicData uri="http://schemas.openxmlformats.org/presentationml/2006/ole">
            <mc:AlternateContent xmlns:mc="http://schemas.openxmlformats.org/markup-compatibility/2006">
              <mc:Choice xmlns:v="urn:schemas-microsoft-com:vml" Requires="v">
                <p:oleObj name="Equation" r:id="rId3" imgW="634680" imgH="393480" progId="Equation.3">
                  <p:embed/>
                </p:oleObj>
              </mc:Choice>
              <mc:Fallback>
                <p:oleObj name="Equation" r:id="rId3" imgW="634680" imgH="3934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6300" y="3124200"/>
                        <a:ext cx="1023937" cy="639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 name="TextBox 28"/>
          <p:cNvSpPr txBox="1"/>
          <p:nvPr/>
        </p:nvSpPr>
        <p:spPr>
          <a:xfrm>
            <a:off x="762000" y="4774168"/>
            <a:ext cx="2449132" cy="369332"/>
          </a:xfrm>
          <a:prstGeom prst="rect">
            <a:avLst/>
          </a:prstGeom>
          <a:noFill/>
        </p:spPr>
        <p:txBody>
          <a:bodyPr wrap="none" rtlCol="0">
            <a:spAutoFit/>
          </a:bodyPr>
          <a:lstStyle/>
          <a:p>
            <a:r>
              <a:rPr lang="en-US" dirty="0"/>
              <a:t>Then, KVL @ Mesh 2:</a:t>
            </a:r>
          </a:p>
        </p:txBody>
      </p:sp>
      <p:graphicFrame>
        <p:nvGraphicFramePr>
          <p:cNvPr id="30" name="Object 11"/>
          <p:cNvGraphicFramePr>
            <a:graphicFrameLocks noChangeAspect="1"/>
          </p:cNvGraphicFramePr>
          <p:nvPr/>
        </p:nvGraphicFramePr>
        <p:xfrm>
          <a:off x="3238500" y="4800600"/>
          <a:ext cx="4356100" cy="1114425"/>
        </p:xfrm>
        <a:graphic>
          <a:graphicData uri="http://schemas.openxmlformats.org/presentationml/2006/ole">
            <mc:AlternateContent xmlns:mc="http://schemas.openxmlformats.org/markup-compatibility/2006">
              <mc:Choice xmlns:v="urn:schemas-microsoft-com:vml" Requires="v">
                <p:oleObj name="Equation" r:id="rId5" imgW="2692080" imgH="685800" progId="Equation.3">
                  <p:embed/>
                </p:oleObj>
              </mc:Choice>
              <mc:Fallback>
                <p:oleObj name="Equation" r:id="rId5" imgW="2692080" imgH="6858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38500" y="4800600"/>
                        <a:ext cx="4356100" cy="1114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 name="TextBox 30"/>
          <p:cNvSpPr txBox="1"/>
          <p:nvPr/>
        </p:nvSpPr>
        <p:spPr>
          <a:xfrm>
            <a:off x="800100" y="6019800"/>
            <a:ext cx="2595582" cy="369332"/>
          </a:xfrm>
          <a:prstGeom prst="rect">
            <a:avLst/>
          </a:prstGeom>
          <a:noFill/>
        </p:spPr>
        <p:txBody>
          <a:bodyPr wrap="none" rtlCol="0">
            <a:spAutoFit/>
          </a:bodyPr>
          <a:lstStyle/>
          <a:p>
            <a:r>
              <a:rPr lang="en-US" dirty="0"/>
              <a:t>Solving (1) and (2), get:</a:t>
            </a:r>
          </a:p>
        </p:txBody>
      </p:sp>
      <p:graphicFrame>
        <p:nvGraphicFramePr>
          <p:cNvPr id="191502" name="Object 14"/>
          <p:cNvGraphicFramePr>
            <a:graphicFrameLocks noChangeAspect="1"/>
          </p:cNvGraphicFramePr>
          <p:nvPr/>
        </p:nvGraphicFramePr>
        <p:xfrm>
          <a:off x="3429000" y="6035773"/>
          <a:ext cx="2286000" cy="365027"/>
        </p:xfrm>
        <a:graphic>
          <a:graphicData uri="http://schemas.openxmlformats.org/presentationml/2006/ole">
            <mc:AlternateContent xmlns:mc="http://schemas.openxmlformats.org/markup-compatibility/2006">
              <mc:Choice xmlns:v="urn:schemas-microsoft-com:vml" Requires="v">
                <p:oleObj name="Equation" r:id="rId7" imgW="1434960" imgH="228600" progId="Equation.3">
                  <p:embed/>
                </p:oleObj>
              </mc:Choice>
              <mc:Fallback>
                <p:oleObj name="Equation" r:id="rId7" imgW="1434960" imgH="2286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29000" y="6035773"/>
                        <a:ext cx="2286000" cy="3650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05830" name="Picture 6"/>
          <p:cNvPicPr>
            <a:picLocks noChangeAspect="1" noChangeArrowheads="1"/>
          </p:cNvPicPr>
          <p:nvPr/>
        </p:nvPicPr>
        <p:blipFill>
          <a:blip r:embed="rId9" cstate="print"/>
          <a:srcRect/>
          <a:stretch>
            <a:fillRect/>
          </a:stretch>
        </p:blipFill>
        <p:spPr bwMode="auto">
          <a:xfrm>
            <a:off x="304800" y="1600200"/>
            <a:ext cx="3719803" cy="2438400"/>
          </a:xfrm>
          <a:prstGeom prst="rect">
            <a:avLst/>
          </a:prstGeom>
          <a:noFill/>
          <a:ln w="9525">
            <a:noFill/>
            <a:miter lim="800000"/>
            <a:headEnd/>
            <a:tailEnd/>
          </a:ln>
          <a:effectLst/>
        </p:spPr>
      </p:pic>
      <p:sp>
        <p:nvSpPr>
          <p:cNvPr id="16" name="TextBox 15"/>
          <p:cNvSpPr txBox="1"/>
          <p:nvPr/>
        </p:nvSpPr>
        <p:spPr>
          <a:xfrm>
            <a:off x="4343401" y="1485900"/>
            <a:ext cx="4572000" cy="923330"/>
          </a:xfrm>
          <a:prstGeom prst="rect">
            <a:avLst/>
          </a:prstGeom>
          <a:noFill/>
        </p:spPr>
        <p:txBody>
          <a:bodyPr wrap="square" rtlCol="0">
            <a:spAutoFit/>
          </a:bodyPr>
          <a:lstStyle/>
          <a:p>
            <a:r>
              <a:rPr lang="en-US" dirty="0"/>
              <a:t>Since 15 A source is on the perimeter of the circuit, eliminate mesh 1 from the consideration:  i</a:t>
            </a:r>
            <a:r>
              <a:rPr lang="en-US" baseline="-25000" dirty="0"/>
              <a:t>1</a:t>
            </a:r>
            <a:r>
              <a:rPr lang="en-US" dirty="0"/>
              <a:t> = 15 A</a:t>
            </a:r>
          </a:p>
        </p:txBody>
      </p:sp>
      <p:sp>
        <p:nvSpPr>
          <p:cNvPr id="17" name="TextBox 16"/>
          <p:cNvSpPr txBox="1"/>
          <p:nvPr/>
        </p:nvSpPr>
        <p:spPr>
          <a:xfrm>
            <a:off x="4381500" y="2467570"/>
            <a:ext cx="4572000" cy="646331"/>
          </a:xfrm>
          <a:prstGeom prst="rect">
            <a:avLst/>
          </a:prstGeom>
          <a:noFill/>
        </p:spPr>
        <p:txBody>
          <a:bodyPr wrap="square" rtlCol="0">
            <a:spAutoFit/>
          </a:bodyPr>
          <a:lstStyle/>
          <a:p>
            <a:r>
              <a:rPr lang="en-US" dirty="0"/>
              <a:t>Since i</a:t>
            </a:r>
            <a:r>
              <a:rPr lang="en-US" baseline="-25000" dirty="0"/>
              <a:t>1</a:t>
            </a:r>
            <a:r>
              <a:rPr lang="en-US" dirty="0"/>
              <a:t> is known, can write an equation for the dependent source as:</a:t>
            </a:r>
          </a:p>
        </p:txBody>
      </p:sp>
      <p:sp>
        <p:nvSpPr>
          <p:cNvPr id="18" name="TextBox 17"/>
          <p:cNvSpPr txBox="1"/>
          <p:nvPr/>
        </p:nvSpPr>
        <p:spPr>
          <a:xfrm>
            <a:off x="5791200" y="3250168"/>
            <a:ext cx="1616789" cy="369332"/>
          </a:xfrm>
          <a:prstGeom prst="rect">
            <a:avLst/>
          </a:prstGeom>
          <a:noFill/>
        </p:spPr>
        <p:txBody>
          <a:bodyPr wrap="none" rtlCol="0">
            <a:spAutoFit/>
          </a:bodyPr>
          <a:lstStyle/>
          <a:p>
            <a:r>
              <a:rPr lang="en-US" dirty="0"/>
              <a:t>&amp; Ohm’s Law:</a:t>
            </a:r>
          </a:p>
        </p:txBody>
      </p:sp>
      <p:graphicFrame>
        <p:nvGraphicFramePr>
          <p:cNvPr id="205831" name="Object 7"/>
          <p:cNvGraphicFramePr>
            <a:graphicFrameLocks noChangeAspect="1"/>
          </p:cNvGraphicFramePr>
          <p:nvPr/>
        </p:nvGraphicFramePr>
        <p:xfrm>
          <a:off x="7413625" y="3257550"/>
          <a:ext cx="1311275" cy="371475"/>
        </p:xfrm>
        <a:graphic>
          <a:graphicData uri="http://schemas.openxmlformats.org/presentationml/2006/ole">
            <mc:AlternateContent xmlns:mc="http://schemas.openxmlformats.org/markup-compatibility/2006">
              <mc:Choice xmlns:v="urn:schemas-microsoft-com:vml" Requires="v">
                <p:oleObj name="Equation" r:id="rId10" imgW="812520" imgH="228600" progId="Equation.3">
                  <p:embed/>
                </p:oleObj>
              </mc:Choice>
              <mc:Fallback>
                <p:oleObj name="Equation" r:id="rId10" imgW="812520" imgH="2286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413625" y="3257550"/>
                        <a:ext cx="1311275"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832" name="Object 8"/>
          <p:cNvGraphicFramePr>
            <a:graphicFrameLocks noChangeAspect="1"/>
          </p:cNvGraphicFramePr>
          <p:nvPr/>
        </p:nvGraphicFramePr>
        <p:xfrm>
          <a:off x="4462463" y="4160838"/>
          <a:ext cx="4591050" cy="639762"/>
        </p:xfrm>
        <a:graphic>
          <a:graphicData uri="http://schemas.openxmlformats.org/presentationml/2006/ole">
            <mc:AlternateContent xmlns:mc="http://schemas.openxmlformats.org/markup-compatibility/2006">
              <mc:Choice xmlns:v="urn:schemas-microsoft-com:vml" Requires="v">
                <p:oleObj name="Equation" r:id="rId12" imgW="2844720" imgH="393480" progId="Equation.3">
                  <p:embed/>
                </p:oleObj>
              </mc:Choice>
              <mc:Fallback>
                <p:oleObj name="Equation" r:id="rId12" imgW="2844720" imgH="39348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462463" y="4160838"/>
                        <a:ext cx="4591050" cy="639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00327308"/>
      </p:ext>
    </p:extLst>
  </p:cSld>
  <p:clrMapOvr>
    <a:masterClrMapping/>
  </p:clrMapOvr>
  <p:transition spd="med"/>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6819900" cy="563563"/>
          </a:xfrm>
        </p:spPr>
        <p:txBody>
          <a:bodyPr/>
          <a:lstStyle/>
          <a:p>
            <a:r>
              <a:rPr lang="en-US" sz="3200" dirty="0"/>
              <a:t>Summary of Mesh Analysis Procedure</a:t>
            </a:r>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107</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9" name="Content Placeholder 2"/>
          <p:cNvSpPr>
            <a:spLocks noGrp="1"/>
          </p:cNvSpPr>
          <p:nvPr>
            <p:ph idx="1"/>
          </p:nvPr>
        </p:nvSpPr>
        <p:spPr>
          <a:xfrm>
            <a:off x="533400" y="1028700"/>
            <a:ext cx="8229600" cy="4305300"/>
          </a:xfrm>
        </p:spPr>
        <p:txBody>
          <a:bodyPr/>
          <a:lstStyle/>
          <a:p>
            <a:pPr marL="457200" indent="-457200">
              <a:buFont typeface="+mj-lt"/>
              <a:buAutoNum type="arabicPeriod"/>
            </a:pPr>
            <a:r>
              <a:rPr lang="en-US" sz="2400" dirty="0"/>
              <a:t>Label M mesh currents (for M meshes) – clockwise convention</a:t>
            </a:r>
          </a:p>
          <a:p>
            <a:pPr marL="457200" indent="-457200">
              <a:buFont typeface="+mj-lt"/>
              <a:buAutoNum type="arabicPeriod"/>
            </a:pPr>
            <a:r>
              <a:rPr lang="en-US" sz="2400" dirty="0"/>
              <a:t>If the circuit has current sources shared by two meshes, form a </a:t>
            </a:r>
            <a:r>
              <a:rPr lang="en-US" sz="2400" dirty="0" err="1"/>
              <a:t>supermesh</a:t>
            </a:r>
            <a:endParaRPr lang="en-US" sz="2400" dirty="0"/>
          </a:p>
          <a:p>
            <a:pPr marL="457200" indent="-457200">
              <a:buFont typeface="+mj-lt"/>
              <a:buAutoNum type="arabicPeriod"/>
            </a:pPr>
            <a:r>
              <a:rPr lang="en-US" sz="2400" dirty="0"/>
              <a:t>Write KVL per mesh except if a current source is in the periphery of the mesh</a:t>
            </a:r>
          </a:p>
          <a:p>
            <a:pPr marL="457200" indent="-457200">
              <a:buFont typeface="+mj-lt"/>
              <a:buAutoNum type="arabicPeriod"/>
            </a:pPr>
            <a:r>
              <a:rPr lang="en-US" sz="2400" dirty="0"/>
              <a:t>Relate current sources to the mesh currents through KCL</a:t>
            </a:r>
          </a:p>
          <a:p>
            <a:pPr marL="457200" indent="-457200">
              <a:buFont typeface="+mj-lt"/>
              <a:buAutoNum type="arabicPeriod"/>
            </a:pPr>
            <a:r>
              <a:rPr lang="en-US" sz="2400" dirty="0"/>
              <a:t>Express all other unknown variables in terms of the mesh currents</a:t>
            </a:r>
          </a:p>
          <a:p>
            <a:endParaRPr lang="en-US" sz="2000" dirty="0"/>
          </a:p>
          <a:p>
            <a:pPr lvl="1">
              <a:buFont typeface="Arial" charset="0"/>
              <a:buNone/>
            </a:pPr>
            <a:endParaRPr lang="en-US" sz="2000" dirty="0"/>
          </a:p>
        </p:txBody>
      </p:sp>
    </p:spTree>
    <p:extLst>
      <p:ext uri="{BB962C8B-B14F-4D97-AF65-F5344CB8AC3E}">
        <p14:creationId xmlns:p14="http://schemas.microsoft.com/office/powerpoint/2010/main" val="2846989010"/>
      </p:ext>
    </p:extLst>
  </p:cSld>
  <p:clrMapOvr>
    <a:masterClrMapping/>
  </p:clrMapOvr>
  <p:transition spd="med"/>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a:t>
            </a:r>
          </a:p>
        </p:txBody>
      </p:sp>
      <p:sp>
        <p:nvSpPr>
          <p:cNvPr id="6147" name="Content Placeholder 2"/>
          <p:cNvSpPr>
            <a:spLocks noGrp="1"/>
          </p:cNvSpPr>
          <p:nvPr>
            <p:ph idx="1"/>
          </p:nvPr>
        </p:nvSpPr>
        <p:spPr>
          <a:xfrm>
            <a:off x="533400" y="723901"/>
            <a:ext cx="8229600" cy="5867400"/>
          </a:xfrm>
        </p:spPr>
        <p:txBody>
          <a:bodyPr/>
          <a:lstStyle/>
          <a:p>
            <a:pPr>
              <a:buNone/>
            </a:pPr>
            <a:r>
              <a:rPr lang="en-US" sz="2400" dirty="0"/>
              <a:t>Find </a:t>
            </a:r>
            <a:r>
              <a:rPr lang="en-US" sz="2400" dirty="0" err="1"/>
              <a:t>i</a:t>
            </a:r>
            <a:r>
              <a:rPr lang="en-US" sz="2400" dirty="0"/>
              <a:t> using mesh analysis:</a:t>
            </a:r>
          </a:p>
          <a:p>
            <a:pPr>
              <a:buNone/>
            </a:pPr>
            <a:endParaRPr lang="en-US" sz="2400" dirty="0"/>
          </a:p>
          <a:p>
            <a:endParaRPr lang="en-US" sz="20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108</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208903" name="Picture 7"/>
          <p:cNvPicPr>
            <a:picLocks noChangeAspect="1" noChangeArrowheads="1"/>
          </p:cNvPicPr>
          <p:nvPr/>
        </p:nvPicPr>
        <p:blipFill>
          <a:blip r:embed="rId3" cstate="print"/>
          <a:srcRect/>
          <a:stretch>
            <a:fillRect/>
          </a:stretch>
        </p:blipFill>
        <p:spPr bwMode="auto">
          <a:xfrm>
            <a:off x="152400" y="1562100"/>
            <a:ext cx="4176889" cy="1828800"/>
          </a:xfrm>
          <a:prstGeom prst="rect">
            <a:avLst/>
          </a:prstGeom>
          <a:noFill/>
          <a:ln w="9525">
            <a:noFill/>
            <a:miter lim="800000"/>
            <a:headEnd/>
            <a:tailEnd/>
          </a:ln>
          <a:effectLst/>
        </p:spPr>
      </p:pic>
    </p:spTree>
    <p:extLst>
      <p:ext uri="{BB962C8B-B14F-4D97-AF65-F5344CB8AC3E}">
        <p14:creationId xmlns:p14="http://schemas.microsoft.com/office/powerpoint/2010/main" val="2171400156"/>
      </p:ext>
    </p:extLst>
  </p:cSld>
  <p:clrMapOvr>
    <a:masterClrMapping/>
  </p:clrMapOvr>
  <p:transition spd="med"/>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922" name="Picture 2"/>
          <p:cNvPicPr>
            <a:picLocks noChangeAspect="1" noChangeArrowheads="1"/>
          </p:cNvPicPr>
          <p:nvPr/>
        </p:nvPicPr>
        <p:blipFill>
          <a:blip r:embed="rId3" cstate="print"/>
          <a:srcRect/>
          <a:stretch>
            <a:fillRect/>
          </a:stretch>
        </p:blipFill>
        <p:spPr bwMode="auto">
          <a:xfrm>
            <a:off x="152400" y="1562100"/>
            <a:ext cx="4191000" cy="1834978"/>
          </a:xfrm>
          <a:prstGeom prst="rect">
            <a:avLst/>
          </a:prstGeom>
          <a:noFill/>
          <a:ln w="9525">
            <a:noFill/>
            <a:miter lim="800000"/>
            <a:headEnd/>
            <a:tailEnd/>
          </a:ln>
          <a:effectLst/>
        </p:spPr>
      </p:pic>
      <p:sp>
        <p:nvSpPr>
          <p:cNvPr id="6146" name="Title 1"/>
          <p:cNvSpPr>
            <a:spLocks noGrp="1"/>
          </p:cNvSpPr>
          <p:nvPr>
            <p:ph type="title"/>
          </p:nvPr>
        </p:nvSpPr>
        <p:spPr>
          <a:xfrm>
            <a:off x="457200" y="122237"/>
            <a:ext cx="8229600" cy="563563"/>
          </a:xfrm>
        </p:spPr>
        <p:txBody>
          <a:bodyPr/>
          <a:lstStyle/>
          <a:p>
            <a:r>
              <a:rPr lang="en-US" sz="3200" dirty="0"/>
              <a:t>Example</a:t>
            </a:r>
          </a:p>
        </p:txBody>
      </p:sp>
      <p:sp>
        <p:nvSpPr>
          <p:cNvPr id="6147" name="Content Placeholder 2"/>
          <p:cNvSpPr>
            <a:spLocks noGrp="1"/>
          </p:cNvSpPr>
          <p:nvPr>
            <p:ph idx="1"/>
          </p:nvPr>
        </p:nvSpPr>
        <p:spPr>
          <a:xfrm>
            <a:off x="533400" y="723901"/>
            <a:ext cx="8229600" cy="5867400"/>
          </a:xfrm>
        </p:spPr>
        <p:txBody>
          <a:bodyPr/>
          <a:lstStyle/>
          <a:p>
            <a:pPr>
              <a:buNone/>
            </a:pPr>
            <a:r>
              <a:rPr lang="en-US" sz="2400" dirty="0"/>
              <a:t>Find </a:t>
            </a:r>
            <a:r>
              <a:rPr lang="en-US" sz="2400" dirty="0" err="1"/>
              <a:t>i</a:t>
            </a:r>
            <a:r>
              <a:rPr lang="en-US" sz="2400" dirty="0"/>
              <a:t> using mesh analysis:</a:t>
            </a:r>
          </a:p>
          <a:p>
            <a:pPr>
              <a:buNone/>
            </a:pPr>
            <a:endParaRPr lang="en-US" sz="2400" dirty="0"/>
          </a:p>
          <a:p>
            <a:endParaRPr lang="en-US" sz="20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109</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7" name="Rectangle 6"/>
          <p:cNvSpPr/>
          <p:nvPr/>
        </p:nvSpPr>
        <p:spPr>
          <a:xfrm>
            <a:off x="4267200" y="1562100"/>
            <a:ext cx="4572000" cy="646331"/>
          </a:xfrm>
          <a:prstGeom prst="rect">
            <a:avLst/>
          </a:prstGeom>
        </p:spPr>
        <p:txBody>
          <a:bodyPr>
            <a:spAutoFit/>
          </a:bodyPr>
          <a:lstStyle/>
          <a:p>
            <a:pPr marL="457200" indent="-457200">
              <a:buFont typeface="+mj-lt"/>
              <a:buAutoNum type="arabicPeriod"/>
            </a:pPr>
            <a:r>
              <a:rPr lang="en-US" dirty="0"/>
              <a:t>Label 3 mesh currents (for 3 meshes) – clockwise convention</a:t>
            </a:r>
          </a:p>
        </p:txBody>
      </p:sp>
    </p:spTree>
    <p:extLst>
      <p:ext uri="{BB962C8B-B14F-4D97-AF65-F5344CB8AC3E}">
        <p14:creationId xmlns:p14="http://schemas.microsoft.com/office/powerpoint/2010/main" val="2963035673"/>
      </p:ext>
    </p:extLst>
  </p:cSld>
  <p:clrMapOvr>
    <a:masterClrMapping/>
  </p:clrMapOvr>
  <p:transition spd="med"/>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922" name="Picture 2"/>
          <p:cNvPicPr>
            <a:picLocks noChangeAspect="1" noChangeArrowheads="1"/>
          </p:cNvPicPr>
          <p:nvPr/>
        </p:nvPicPr>
        <p:blipFill>
          <a:blip r:embed="rId3" cstate="print"/>
          <a:srcRect/>
          <a:stretch>
            <a:fillRect/>
          </a:stretch>
        </p:blipFill>
        <p:spPr bwMode="auto">
          <a:xfrm>
            <a:off x="152400" y="1562100"/>
            <a:ext cx="4191000" cy="1834978"/>
          </a:xfrm>
          <a:prstGeom prst="rect">
            <a:avLst/>
          </a:prstGeom>
          <a:noFill/>
          <a:ln w="9525">
            <a:noFill/>
            <a:miter lim="800000"/>
            <a:headEnd/>
            <a:tailEnd/>
          </a:ln>
          <a:effectLst/>
        </p:spPr>
      </p:pic>
      <p:sp>
        <p:nvSpPr>
          <p:cNvPr id="6146" name="Title 1"/>
          <p:cNvSpPr>
            <a:spLocks noGrp="1"/>
          </p:cNvSpPr>
          <p:nvPr>
            <p:ph type="title"/>
          </p:nvPr>
        </p:nvSpPr>
        <p:spPr>
          <a:xfrm>
            <a:off x="457200" y="122237"/>
            <a:ext cx="8229600" cy="563563"/>
          </a:xfrm>
        </p:spPr>
        <p:txBody>
          <a:bodyPr/>
          <a:lstStyle/>
          <a:p>
            <a:r>
              <a:rPr lang="en-US" sz="3200" dirty="0"/>
              <a:t>Example</a:t>
            </a:r>
          </a:p>
        </p:txBody>
      </p:sp>
      <p:sp>
        <p:nvSpPr>
          <p:cNvPr id="6147" name="Content Placeholder 2"/>
          <p:cNvSpPr>
            <a:spLocks noGrp="1"/>
          </p:cNvSpPr>
          <p:nvPr>
            <p:ph idx="1"/>
          </p:nvPr>
        </p:nvSpPr>
        <p:spPr>
          <a:xfrm>
            <a:off x="533400" y="723901"/>
            <a:ext cx="8229600" cy="5867400"/>
          </a:xfrm>
        </p:spPr>
        <p:txBody>
          <a:bodyPr/>
          <a:lstStyle/>
          <a:p>
            <a:pPr>
              <a:buNone/>
            </a:pPr>
            <a:r>
              <a:rPr lang="en-US" sz="2400" dirty="0"/>
              <a:t>Find </a:t>
            </a:r>
            <a:r>
              <a:rPr lang="en-US" sz="2400" dirty="0" err="1"/>
              <a:t>i</a:t>
            </a:r>
            <a:r>
              <a:rPr lang="en-US" sz="2400" dirty="0"/>
              <a:t> using mesh analysis:</a:t>
            </a:r>
          </a:p>
          <a:p>
            <a:pPr>
              <a:buNone/>
            </a:pPr>
            <a:endParaRPr lang="en-US" sz="2400" dirty="0"/>
          </a:p>
          <a:p>
            <a:endParaRPr lang="en-US" sz="20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110</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7" name="Rectangle 6"/>
          <p:cNvSpPr/>
          <p:nvPr/>
        </p:nvSpPr>
        <p:spPr>
          <a:xfrm>
            <a:off x="4267200" y="1562100"/>
            <a:ext cx="4572000" cy="646331"/>
          </a:xfrm>
          <a:prstGeom prst="rect">
            <a:avLst/>
          </a:prstGeom>
        </p:spPr>
        <p:txBody>
          <a:bodyPr>
            <a:spAutoFit/>
          </a:bodyPr>
          <a:lstStyle/>
          <a:p>
            <a:pPr marL="457200" indent="-457200">
              <a:buFont typeface="+mj-lt"/>
              <a:buAutoNum type="arabicPeriod"/>
            </a:pPr>
            <a:r>
              <a:rPr lang="en-US" dirty="0"/>
              <a:t>Label 3 mesh currents (for 3 meshes) – clockwise convention</a:t>
            </a:r>
          </a:p>
        </p:txBody>
      </p:sp>
      <p:sp>
        <p:nvSpPr>
          <p:cNvPr id="8" name="Rectangle 7"/>
          <p:cNvSpPr/>
          <p:nvPr/>
        </p:nvSpPr>
        <p:spPr>
          <a:xfrm>
            <a:off x="4305300" y="2171700"/>
            <a:ext cx="4648200" cy="923330"/>
          </a:xfrm>
          <a:prstGeom prst="rect">
            <a:avLst/>
          </a:prstGeom>
        </p:spPr>
        <p:txBody>
          <a:bodyPr wrap="square">
            <a:spAutoFit/>
          </a:bodyPr>
          <a:lstStyle/>
          <a:p>
            <a:pPr marL="457200" indent="-457200">
              <a:buFont typeface="+mj-lt"/>
              <a:buAutoNum type="arabicPeriod" startAt="2"/>
            </a:pPr>
            <a:r>
              <a:rPr lang="en-US" dirty="0"/>
              <a:t>If the circuit has current sources shared by two meshes, form a </a:t>
            </a:r>
            <a:r>
              <a:rPr lang="en-US" dirty="0" err="1"/>
              <a:t>supermesh</a:t>
            </a:r>
            <a:endParaRPr lang="en-US" dirty="0"/>
          </a:p>
          <a:p>
            <a:pPr marL="457200" indent="-457200"/>
            <a:r>
              <a:rPr lang="en-US" dirty="0"/>
              <a:t>	(none in this case)</a:t>
            </a:r>
          </a:p>
        </p:txBody>
      </p:sp>
    </p:spTree>
    <p:extLst>
      <p:ext uri="{BB962C8B-B14F-4D97-AF65-F5344CB8AC3E}">
        <p14:creationId xmlns:p14="http://schemas.microsoft.com/office/powerpoint/2010/main" val="3033909907"/>
      </p:ext>
    </p:extLst>
  </p:cSld>
  <p:clrMapOvr>
    <a:masterClrMapping/>
  </p:clrMapOvr>
  <p:transition spd="med"/>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922" name="Picture 2"/>
          <p:cNvPicPr>
            <a:picLocks noChangeAspect="1" noChangeArrowheads="1"/>
          </p:cNvPicPr>
          <p:nvPr/>
        </p:nvPicPr>
        <p:blipFill>
          <a:blip r:embed="rId3" cstate="print"/>
          <a:srcRect/>
          <a:stretch>
            <a:fillRect/>
          </a:stretch>
        </p:blipFill>
        <p:spPr bwMode="auto">
          <a:xfrm>
            <a:off x="152400" y="1562100"/>
            <a:ext cx="4191000" cy="1834978"/>
          </a:xfrm>
          <a:prstGeom prst="rect">
            <a:avLst/>
          </a:prstGeom>
          <a:noFill/>
          <a:ln w="9525">
            <a:noFill/>
            <a:miter lim="800000"/>
            <a:headEnd/>
            <a:tailEnd/>
          </a:ln>
          <a:effectLst/>
        </p:spPr>
      </p:pic>
      <p:sp>
        <p:nvSpPr>
          <p:cNvPr id="6146" name="Title 1"/>
          <p:cNvSpPr>
            <a:spLocks noGrp="1"/>
          </p:cNvSpPr>
          <p:nvPr>
            <p:ph type="title"/>
          </p:nvPr>
        </p:nvSpPr>
        <p:spPr>
          <a:xfrm>
            <a:off x="457200" y="122237"/>
            <a:ext cx="8229600" cy="563563"/>
          </a:xfrm>
        </p:spPr>
        <p:txBody>
          <a:bodyPr/>
          <a:lstStyle/>
          <a:p>
            <a:r>
              <a:rPr lang="en-US" sz="3200" dirty="0"/>
              <a:t>Example</a:t>
            </a:r>
          </a:p>
        </p:txBody>
      </p:sp>
      <p:sp>
        <p:nvSpPr>
          <p:cNvPr id="6147" name="Content Placeholder 2"/>
          <p:cNvSpPr>
            <a:spLocks noGrp="1"/>
          </p:cNvSpPr>
          <p:nvPr>
            <p:ph idx="1"/>
          </p:nvPr>
        </p:nvSpPr>
        <p:spPr>
          <a:xfrm>
            <a:off x="533400" y="723901"/>
            <a:ext cx="8229600" cy="5867400"/>
          </a:xfrm>
        </p:spPr>
        <p:txBody>
          <a:bodyPr/>
          <a:lstStyle/>
          <a:p>
            <a:pPr>
              <a:buNone/>
            </a:pPr>
            <a:r>
              <a:rPr lang="en-US" sz="2400" dirty="0"/>
              <a:t>Find </a:t>
            </a:r>
            <a:r>
              <a:rPr lang="en-US" sz="2400" dirty="0" err="1"/>
              <a:t>i</a:t>
            </a:r>
            <a:r>
              <a:rPr lang="en-US" sz="2400" dirty="0"/>
              <a:t> using mesh analysis:</a:t>
            </a:r>
          </a:p>
          <a:p>
            <a:pPr>
              <a:buNone/>
            </a:pPr>
            <a:endParaRPr lang="en-US" sz="2400" dirty="0"/>
          </a:p>
          <a:p>
            <a:endParaRPr lang="en-US" sz="20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111</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7" name="Rectangle 6"/>
          <p:cNvSpPr/>
          <p:nvPr/>
        </p:nvSpPr>
        <p:spPr>
          <a:xfrm>
            <a:off x="4267200" y="1562100"/>
            <a:ext cx="4572000" cy="646331"/>
          </a:xfrm>
          <a:prstGeom prst="rect">
            <a:avLst/>
          </a:prstGeom>
        </p:spPr>
        <p:txBody>
          <a:bodyPr>
            <a:spAutoFit/>
          </a:bodyPr>
          <a:lstStyle/>
          <a:p>
            <a:pPr marL="457200" indent="-457200">
              <a:buFont typeface="+mj-lt"/>
              <a:buAutoNum type="arabicPeriod"/>
            </a:pPr>
            <a:r>
              <a:rPr lang="en-US" dirty="0"/>
              <a:t>Label 3 mesh currents (for 3 meshes) – clockwise convention</a:t>
            </a:r>
          </a:p>
        </p:txBody>
      </p:sp>
      <p:sp>
        <p:nvSpPr>
          <p:cNvPr id="8" name="Rectangle 7"/>
          <p:cNvSpPr/>
          <p:nvPr/>
        </p:nvSpPr>
        <p:spPr>
          <a:xfrm>
            <a:off x="4305300" y="2171700"/>
            <a:ext cx="4648200" cy="923330"/>
          </a:xfrm>
          <a:prstGeom prst="rect">
            <a:avLst/>
          </a:prstGeom>
        </p:spPr>
        <p:txBody>
          <a:bodyPr wrap="square">
            <a:spAutoFit/>
          </a:bodyPr>
          <a:lstStyle/>
          <a:p>
            <a:pPr marL="457200" indent="-457200">
              <a:buFont typeface="+mj-lt"/>
              <a:buAutoNum type="arabicPeriod" startAt="2"/>
            </a:pPr>
            <a:r>
              <a:rPr lang="en-US" dirty="0"/>
              <a:t>If the circuit has current sources shared by two meshes, form a </a:t>
            </a:r>
            <a:r>
              <a:rPr lang="en-US" dirty="0" err="1"/>
              <a:t>supermesh</a:t>
            </a:r>
            <a:endParaRPr lang="en-US" dirty="0"/>
          </a:p>
          <a:p>
            <a:pPr marL="457200" indent="-457200"/>
            <a:r>
              <a:rPr lang="en-US" dirty="0"/>
              <a:t>	(none in this case)</a:t>
            </a:r>
          </a:p>
        </p:txBody>
      </p:sp>
      <p:sp>
        <p:nvSpPr>
          <p:cNvPr id="9" name="Rectangle 8"/>
          <p:cNvSpPr/>
          <p:nvPr/>
        </p:nvSpPr>
        <p:spPr>
          <a:xfrm>
            <a:off x="4343400" y="3048000"/>
            <a:ext cx="4572000" cy="646331"/>
          </a:xfrm>
          <a:prstGeom prst="rect">
            <a:avLst/>
          </a:prstGeom>
        </p:spPr>
        <p:txBody>
          <a:bodyPr>
            <a:spAutoFit/>
          </a:bodyPr>
          <a:lstStyle/>
          <a:p>
            <a:pPr marL="457200" indent="-457200">
              <a:buFont typeface="+mj-lt"/>
              <a:buAutoNum type="arabicPeriod" startAt="3"/>
            </a:pPr>
            <a:r>
              <a:rPr lang="en-US" dirty="0"/>
              <a:t>Write KVL per mesh except if a current source is in the periphery of the mesh</a:t>
            </a:r>
          </a:p>
        </p:txBody>
      </p:sp>
      <p:sp>
        <p:nvSpPr>
          <p:cNvPr id="10" name="TextBox 9"/>
          <p:cNvSpPr txBox="1"/>
          <p:nvPr/>
        </p:nvSpPr>
        <p:spPr>
          <a:xfrm>
            <a:off x="647700" y="3771900"/>
            <a:ext cx="7360733" cy="1200329"/>
          </a:xfrm>
          <a:prstGeom prst="rect">
            <a:avLst/>
          </a:prstGeom>
          <a:noFill/>
        </p:spPr>
        <p:txBody>
          <a:bodyPr wrap="none" rtlCol="0">
            <a:spAutoFit/>
          </a:bodyPr>
          <a:lstStyle/>
          <a:p>
            <a:r>
              <a:rPr lang="en-US" dirty="0"/>
              <a:t>KVL @ Mesh 2 (Mesh 1 and 3 have current sources at the periphery) :</a:t>
            </a:r>
          </a:p>
          <a:p>
            <a:endParaRPr lang="en-US" dirty="0"/>
          </a:p>
          <a:p>
            <a:endParaRPr lang="en-US" dirty="0"/>
          </a:p>
          <a:p>
            <a:endParaRPr lang="en-US" dirty="0"/>
          </a:p>
        </p:txBody>
      </p:sp>
      <p:graphicFrame>
        <p:nvGraphicFramePr>
          <p:cNvPr id="11" name="Object 11"/>
          <p:cNvGraphicFramePr>
            <a:graphicFrameLocks noChangeAspect="1"/>
          </p:cNvGraphicFramePr>
          <p:nvPr/>
        </p:nvGraphicFramePr>
        <p:xfrm>
          <a:off x="439738" y="4200525"/>
          <a:ext cx="8507412" cy="371475"/>
        </p:xfrm>
        <a:graphic>
          <a:graphicData uri="http://schemas.openxmlformats.org/presentationml/2006/ole">
            <mc:AlternateContent xmlns:mc="http://schemas.openxmlformats.org/markup-compatibility/2006">
              <mc:Choice xmlns:v="urn:schemas-microsoft-com:vml" Requires="v">
                <p:oleObj name="Equation" r:id="rId4" imgW="5257800" imgH="228600" progId="Equation.3">
                  <p:embed/>
                </p:oleObj>
              </mc:Choice>
              <mc:Fallback>
                <p:oleObj name="Equation" r:id="rId4" imgW="5257800" imgH="2286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9738" y="4200525"/>
                        <a:ext cx="8507412"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193376503"/>
      </p:ext>
    </p:extLst>
  </p:cSld>
  <p:clrMapOvr>
    <a:masterClrMapping/>
  </p:clrMapOvr>
  <p:transition spd="med"/>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922" name="Picture 2"/>
          <p:cNvPicPr>
            <a:picLocks noChangeAspect="1" noChangeArrowheads="1"/>
          </p:cNvPicPr>
          <p:nvPr/>
        </p:nvPicPr>
        <p:blipFill>
          <a:blip r:embed="rId3" cstate="print"/>
          <a:srcRect/>
          <a:stretch>
            <a:fillRect/>
          </a:stretch>
        </p:blipFill>
        <p:spPr bwMode="auto">
          <a:xfrm>
            <a:off x="152400" y="1562100"/>
            <a:ext cx="4191000" cy="1834978"/>
          </a:xfrm>
          <a:prstGeom prst="rect">
            <a:avLst/>
          </a:prstGeom>
          <a:noFill/>
          <a:ln w="9525">
            <a:noFill/>
            <a:miter lim="800000"/>
            <a:headEnd/>
            <a:tailEnd/>
          </a:ln>
          <a:effectLst/>
        </p:spPr>
      </p:pic>
      <p:sp>
        <p:nvSpPr>
          <p:cNvPr id="6146" name="Title 1"/>
          <p:cNvSpPr>
            <a:spLocks noGrp="1"/>
          </p:cNvSpPr>
          <p:nvPr>
            <p:ph type="title"/>
          </p:nvPr>
        </p:nvSpPr>
        <p:spPr>
          <a:xfrm>
            <a:off x="457200" y="122237"/>
            <a:ext cx="8229600" cy="563563"/>
          </a:xfrm>
        </p:spPr>
        <p:txBody>
          <a:bodyPr/>
          <a:lstStyle/>
          <a:p>
            <a:r>
              <a:rPr lang="en-US" sz="3200" dirty="0"/>
              <a:t>Example</a:t>
            </a:r>
          </a:p>
        </p:txBody>
      </p:sp>
      <p:sp>
        <p:nvSpPr>
          <p:cNvPr id="6147" name="Content Placeholder 2"/>
          <p:cNvSpPr>
            <a:spLocks noGrp="1"/>
          </p:cNvSpPr>
          <p:nvPr>
            <p:ph idx="1"/>
          </p:nvPr>
        </p:nvSpPr>
        <p:spPr>
          <a:xfrm>
            <a:off x="533400" y="723901"/>
            <a:ext cx="8229600" cy="5867400"/>
          </a:xfrm>
        </p:spPr>
        <p:txBody>
          <a:bodyPr/>
          <a:lstStyle/>
          <a:p>
            <a:pPr>
              <a:buNone/>
            </a:pPr>
            <a:r>
              <a:rPr lang="en-US" sz="2400" dirty="0"/>
              <a:t>Find </a:t>
            </a:r>
            <a:r>
              <a:rPr lang="en-US" sz="2400" dirty="0" err="1"/>
              <a:t>i</a:t>
            </a:r>
            <a:r>
              <a:rPr lang="en-US" sz="2400" dirty="0"/>
              <a:t> using mesh analysis:</a:t>
            </a:r>
          </a:p>
          <a:p>
            <a:pPr>
              <a:buNone/>
            </a:pPr>
            <a:endParaRPr lang="en-US" sz="2400" dirty="0"/>
          </a:p>
          <a:p>
            <a:endParaRPr lang="en-US" sz="20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112</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7" name="Rectangle 6"/>
          <p:cNvSpPr/>
          <p:nvPr/>
        </p:nvSpPr>
        <p:spPr>
          <a:xfrm>
            <a:off x="4267200" y="1562100"/>
            <a:ext cx="4572000" cy="646331"/>
          </a:xfrm>
          <a:prstGeom prst="rect">
            <a:avLst/>
          </a:prstGeom>
        </p:spPr>
        <p:txBody>
          <a:bodyPr>
            <a:spAutoFit/>
          </a:bodyPr>
          <a:lstStyle/>
          <a:p>
            <a:pPr marL="457200" indent="-457200">
              <a:buFont typeface="+mj-lt"/>
              <a:buAutoNum type="arabicPeriod"/>
            </a:pPr>
            <a:r>
              <a:rPr lang="en-US" dirty="0"/>
              <a:t>Label 3 mesh currents (for 3 meshes) – clockwise convention</a:t>
            </a:r>
          </a:p>
        </p:txBody>
      </p:sp>
      <p:sp>
        <p:nvSpPr>
          <p:cNvPr id="8" name="Rectangle 7"/>
          <p:cNvSpPr/>
          <p:nvPr/>
        </p:nvSpPr>
        <p:spPr>
          <a:xfrm>
            <a:off x="4305300" y="2171700"/>
            <a:ext cx="4648200" cy="923330"/>
          </a:xfrm>
          <a:prstGeom prst="rect">
            <a:avLst/>
          </a:prstGeom>
        </p:spPr>
        <p:txBody>
          <a:bodyPr wrap="square">
            <a:spAutoFit/>
          </a:bodyPr>
          <a:lstStyle/>
          <a:p>
            <a:pPr marL="457200" indent="-457200">
              <a:buFont typeface="+mj-lt"/>
              <a:buAutoNum type="arabicPeriod" startAt="2"/>
            </a:pPr>
            <a:r>
              <a:rPr lang="en-US" dirty="0"/>
              <a:t>If the circuit has current sources shared by two meshes, form a </a:t>
            </a:r>
            <a:r>
              <a:rPr lang="en-US" dirty="0" err="1"/>
              <a:t>supermesh</a:t>
            </a:r>
            <a:endParaRPr lang="en-US" dirty="0"/>
          </a:p>
          <a:p>
            <a:pPr marL="457200" indent="-457200"/>
            <a:r>
              <a:rPr lang="en-US" dirty="0"/>
              <a:t>	(none in this case)</a:t>
            </a:r>
          </a:p>
        </p:txBody>
      </p:sp>
      <p:sp>
        <p:nvSpPr>
          <p:cNvPr id="9" name="Rectangle 8"/>
          <p:cNvSpPr/>
          <p:nvPr/>
        </p:nvSpPr>
        <p:spPr>
          <a:xfrm>
            <a:off x="4343400" y="3048000"/>
            <a:ext cx="4572000" cy="646331"/>
          </a:xfrm>
          <a:prstGeom prst="rect">
            <a:avLst/>
          </a:prstGeom>
        </p:spPr>
        <p:txBody>
          <a:bodyPr>
            <a:spAutoFit/>
          </a:bodyPr>
          <a:lstStyle/>
          <a:p>
            <a:pPr marL="457200" indent="-457200">
              <a:buFont typeface="+mj-lt"/>
              <a:buAutoNum type="arabicPeriod" startAt="3"/>
            </a:pPr>
            <a:r>
              <a:rPr lang="en-US" dirty="0"/>
              <a:t>Write KVL per mesh except if a current source is in the periphery of the mesh</a:t>
            </a:r>
          </a:p>
        </p:txBody>
      </p:sp>
      <p:sp>
        <p:nvSpPr>
          <p:cNvPr id="10" name="TextBox 9"/>
          <p:cNvSpPr txBox="1"/>
          <p:nvPr/>
        </p:nvSpPr>
        <p:spPr>
          <a:xfrm>
            <a:off x="647700" y="3771900"/>
            <a:ext cx="7360733" cy="369332"/>
          </a:xfrm>
          <a:prstGeom prst="rect">
            <a:avLst/>
          </a:prstGeom>
          <a:noFill/>
        </p:spPr>
        <p:txBody>
          <a:bodyPr wrap="none" rtlCol="0">
            <a:spAutoFit/>
          </a:bodyPr>
          <a:lstStyle/>
          <a:p>
            <a:r>
              <a:rPr lang="en-US" dirty="0"/>
              <a:t>KVL @ Mesh 2 (Mesh 1 and 3 have current sources at the periphery) :</a:t>
            </a:r>
          </a:p>
        </p:txBody>
      </p:sp>
      <p:graphicFrame>
        <p:nvGraphicFramePr>
          <p:cNvPr id="210947" name="Object 3"/>
          <p:cNvGraphicFramePr>
            <a:graphicFrameLocks noChangeAspect="1"/>
          </p:cNvGraphicFramePr>
          <p:nvPr/>
        </p:nvGraphicFramePr>
        <p:xfrm>
          <a:off x="838200" y="5229225"/>
          <a:ext cx="6740525" cy="371475"/>
        </p:xfrm>
        <a:graphic>
          <a:graphicData uri="http://schemas.openxmlformats.org/presentationml/2006/ole">
            <mc:AlternateContent xmlns:mc="http://schemas.openxmlformats.org/markup-compatibility/2006">
              <mc:Choice xmlns:v="urn:schemas-microsoft-com:vml" Requires="v">
                <p:oleObj name="Equation" r:id="rId4" imgW="4178160" imgH="228600" progId="Equation.3">
                  <p:embed/>
                </p:oleObj>
              </mc:Choice>
              <mc:Fallback>
                <p:oleObj name="Equation" r:id="rId4" imgW="4178160" imgH="2286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5229225"/>
                        <a:ext cx="6740525"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Rectangle 13"/>
          <p:cNvSpPr/>
          <p:nvPr/>
        </p:nvSpPr>
        <p:spPr>
          <a:xfrm>
            <a:off x="647700" y="4762500"/>
            <a:ext cx="7581900" cy="369332"/>
          </a:xfrm>
          <a:prstGeom prst="rect">
            <a:avLst/>
          </a:prstGeom>
        </p:spPr>
        <p:txBody>
          <a:bodyPr wrap="square">
            <a:spAutoFit/>
          </a:bodyPr>
          <a:lstStyle/>
          <a:p>
            <a:pPr marL="457200" indent="-457200">
              <a:buFont typeface="+mj-lt"/>
              <a:buAutoNum type="arabicPeriod" startAt="4"/>
            </a:pPr>
            <a:r>
              <a:rPr lang="en-US" dirty="0"/>
              <a:t>Relate current sources to the mesh currents through KCL:</a:t>
            </a:r>
          </a:p>
        </p:txBody>
      </p:sp>
      <p:graphicFrame>
        <p:nvGraphicFramePr>
          <p:cNvPr id="211972" name="Object 4"/>
          <p:cNvGraphicFramePr>
            <a:graphicFrameLocks noChangeAspect="1"/>
          </p:cNvGraphicFramePr>
          <p:nvPr/>
        </p:nvGraphicFramePr>
        <p:xfrm>
          <a:off x="439738" y="4200525"/>
          <a:ext cx="8507412" cy="371475"/>
        </p:xfrm>
        <a:graphic>
          <a:graphicData uri="http://schemas.openxmlformats.org/presentationml/2006/ole">
            <mc:AlternateContent xmlns:mc="http://schemas.openxmlformats.org/markup-compatibility/2006">
              <mc:Choice xmlns:v="urn:schemas-microsoft-com:vml" Requires="v">
                <p:oleObj name="Equation" r:id="rId6" imgW="5257800" imgH="228600" progId="Equation.3">
                  <p:embed/>
                </p:oleObj>
              </mc:Choice>
              <mc:Fallback>
                <p:oleObj name="Equation" r:id="rId6" imgW="5257800" imgH="2286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9738" y="4200525"/>
                        <a:ext cx="8507412"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005417590"/>
      </p:ext>
    </p:extLst>
  </p:cSld>
  <p:clrMapOvr>
    <a:masterClrMapping/>
  </p:clrMapOvr>
  <p:transition spd="med"/>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922" name="Picture 2"/>
          <p:cNvPicPr>
            <a:picLocks noChangeAspect="1" noChangeArrowheads="1"/>
          </p:cNvPicPr>
          <p:nvPr/>
        </p:nvPicPr>
        <p:blipFill>
          <a:blip r:embed="rId3" cstate="print"/>
          <a:srcRect/>
          <a:stretch>
            <a:fillRect/>
          </a:stretch>
        </p:blipFill>
        <p:spPr bwMode="auto">
          <a:xfrm>
            <a:off x="152400" y="1562100"/>
            <a:ext cx="4191000" cy="1834978"/>
          </a:xfrm>
          <a:prstGeom prst="rect">
            <a:avLst/>
          </a:prstGeom>
          <a:noFill/>
          <a:ln w="9525">
            <a:noFill/>
            <a:miter lim="800000"/>
            <a:headEnd/>
            <a:tailEnd/>
          </a:ln>
          <a:effectLst/>
        </p:spPr>
      </p:pic>
      <p:sp>
        <p:nvSpPr>
          <p:cNvPr id="6146" name="Title 1"/>
          <p:cNvSpPr>
            <a:spLocks noGrp="1"/>
          </p:cNvSpPr>
          <p:nvPr>
            <p:ph type="title"/>
          </p:nvPr>
        </p:nvSpPr>
        <p:spPr>
          <a:xfrm>
            <a:off x="457200" y="122237"/>
            <a:ext cx="8229600" cy="563563"/>
          </a:xfrm>
        </p:spPr>
        <p:txBody>
          <a:bodyPr/>
          <a:lstStyle/>
          <a:p>
            <a:r>
              <a:rPr lang="en-US" sz="3200" dirty="0"/>
              <a:t>Example</a:t>
            </a:r>
          </a:p>
        </p:txBody>
      </p:sp>
      <p:sp>
        <p:nvSpPr>
          <p:cNvPr id="6147" name="Content Placeholder 2"/>
          <p:cNvSpPr>
            <a:spLocks noGrp="1"/>
          </p:cNvSpPr>
          <p:nvPr>
            <p:ph idx="1"/>
          </p:nvPr>
        </p:nvSpPr>
        <p:spPr>
          <a:xfrm>
            <a:off x="533400" y="723901"/>
            <a:ext cx="8229600" cy="5867400"/>
          </a:xfrm>
        </p:spPr>
        <p:txBody>
          <a:bodyPr/>
          <a:lstStyle/>
          <a:p>
            <a:pPr>
              <a:buNone/>
            </a:pPr>
            <a:r>
              <a:rPr lang="en-US" sz="2400" dirty="0"/>
              <a:t>Find </a:t>
            </a:r>
            <a:r>
              <a:rPr lang="en-US" sz="2400" dirty="0" err="1"/>
              <a:t>i</a:t>
            </a:r>
            <a:r>
              <a:rPr lang="en-US" sz="2400" dirty="0"/>
              <a:t> using mesh analysis:</a:t>
            </a:r>
          </a:p>
          <a:p>
            <a:pPr>
              <a:buNone/>
            </a:pPr>
            <a:endParaRPr lang="en-US" sz="2400" dirty="0"/>
          </a:p>
          <a:p>
            <a:endParaRPr lang="en-US" sz="20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113</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7" name="Rectangle 6"/>
          <p:cNvSpPr/>
          <p:nvPr/>
        </p:nvSpPr>
        <p:spPr>
          <a:xfrm>
            <a:off x="4267200" y="1562100"/>
            <a:ext cx="4572000" cy="646331"/>
          </a:xfrm>
          <a:prstGeom prst="rect">
            <a:avLst/>
          </a:prstGeom>
        </p:spPr>
        <p:txBody>
          <a:bodyPr>
            <a:spAutoFit/>
          </a:bodyPr>
          <a:lstStyle/>
          <a:p>
            <a:pPr marL="457200" indent="-457200">
              <a:buFont typeface="+mj-lt"/>
              <a:buAutoNum type="arabicPeriod"/>
            </a:pPr>
            <a:r>
              <a:rPr lang="en-US" dirty="0"/>
              <a:t>Label 3 mesh currents (for 3 meshes) – clockwise convention</a:t>
            </a:r>
          </a:p>
        </p:txBody>
      </p:sp>
      <p:sp>
        <p:nvSpPr>
          <p:cNvPr id="8" name="Rectangle 7"/>
          <p:cNvSpPr/>
          <p:nvPr/>
        </p:nvSpPr>
        <p:spPr>
          <a:xfrm>
            <a:off x="4305300" y="2171700"/>
            <a:ext cx="4648200" cy="923330"/>
          </a:xfrm>
          <a:prstGeom prst="rect">
            <a:avLst/>
          </a:prstGeom>
        </p:spPr>
        <p:txBody>
          <a:bodyPr wrap="square">
            <a:spAutoFit/>
          </a:bodyPr>
          <a:lstStyle/>
          <a:p>
            <a:pPr marL="457200" indent="-457200">
              <a:buFont typeface="+mj-lt"/>
              <a:buAutoNum type="arabicPeriod" startAt="2"/>
            </a:pPr>
            <a:r>
              <a:rPr lang="en-US" dirty="0"/>
              <a:t>If the circuit has current sources shared by two meshes, form a </a:t>
            </a:r>
            <a:r>
              <a:rPr lang="en-US" dirty="0" err="1"/>
              <a:t>supermesh</a:t>
            </a:r>
            <a:endParaRPr lang="en-US" dirty="0"/>
          </a:p>
          <a:p>
            <a:pPr marL="457200" indent="-457200"/>
            <a:r>
              <a:rPr lang="en-US" dirty="0"/>
              <a:t>	(none in this case)</a:t>
            </a:r>
          </a:p>
        </p:txBody>
      </p:sp>
      <p:sp>
        <p:nvSpPr>
          <p:cNvPr id="9" name="Rectangle 8"/>
          <p:cNvSpPr/>
          <p:nvPr/>
        </p:nvSpPr>
        <p:spPr>
          <a:xfrm>
            <a:off x="4343400" y="3048000"/>
            <a:ext cx="4572000" cy="646331"/>
          </a:xfrm>
          <a:prstGeom prst="rect">
            <a:avLst/>
          </a:prstGeom>
        </p:spPr>
        <p:txBody>
          <a:bodyPr>
            <a:spAutoFit/>
          </a:bodyPr>
          <a:lstStyle/>
          <a:p>
            <a:pPr marL="457200" indent="-457200">
              <a:buFont typeface="+mj-lt"/>
              <a:buAutoNum type="arabicPeriod" startAt="3"/>
            </a:pPr>
            <a:r>
              <a:rPr lang="en-US" dirty="0"/>
              <a:t>Write KVL per mesh except if a current source is in the periphery of the mesh</a:t>
            </a:r>
          </a:p>
        </p:txBody>
      </p:sp>
      <p:sp>
        <p:nvSpPr>
          <p:cNvPr id="10" name="TextBox 9"/>
          <p:cNvSpPr txBox="1"/>
          <p:nvPr/>
        </p:nvSpPr>
        <p:spPr>
          <a:xfrm>
            <a:off x="647700" y="3771900"/>
            <a:ext cx="7360733" cy="369332"/>
          </a:xfrm>
          <a:prstGeom prst="rect">
            <a:avLst/>
          </a:prstGeom>
          <a:noFill/>
        </p:spPr>
        <p:txBody>
          <a:bodyPr wrap="none" rtlCol="0">
            <a:spAutoFit/>
          </a:bodyPr>
          <a:lstStyle/>
          <a:p>
            <a:r>
              <a:rPr lang="en-US" dirty="0"/>
              <a:t>KVL @ Mesh 2 (Mesh 1 and 3 have current sources at the periphery) :</a:t>
            </a:r>
          </a:p>
        </p:txBody>
      </p:sp>
      <p:graphicFrame>
        <p:nvGraphicFramePr>
          <p:cNvPr id="210947" name="Object 3"/>
          <p:cNvGraphicFramePr>
            <a:graphicFrameLocks noChangeAspect="1"/>
          </p:cNvGraphicFramePr>
          <p:nvPr/>
        </p:nvGraphicFramePr>
        <p:xfrm>
          <a:off x="838200" y="5229225"/>
          <a:ext cx="6740525" cy="371475"/>
        </p:xfrm>
        <a:graphic>
          <a:graphicData uri="http://schemas.openxmlformats.org/presentationml/2006/ole">
            <mc:AlternateContent xmlns:mc="http://schemas.openxmlformats.org/markup-compatibility/2006">
              <mc:Choice xmlns:v="urn:schemas-microsoft-com:vml" Requires="v">
                <p:oleObj name="Equation" r:id="rId4" imgW="4178160" imgH="228600" progId="Equation.3">
                  <p:embed/>
                </p:oleObj>
              </mc:Choice>
              <mc:Fallback>
                <p:oleObj name="Equation" r:id="rId4" imgW="4178160" imgH="2286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5229225"/>
                        <a:ext cx="6740525"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Rectangle 13"/>
          <p:cNvSpPr/>
          <p:nvPr/>
        </p:nvSpPr>
        <p:spPr>
          <a:xfrm>
            <a:off x="647700" y="4762500"/>
            <a:ext cx="7581900" cy="369332"/>
          </a:xfrm>
          <a:prstGeom prst="rect">
            <a:avLst/>
          </a:prstGeom>
        </p:spPr>
        <p:txBody>
          <a:bodyPr wrap="square">
            <a:spAutoFit/>
          </a:bodyPr>
          <a:lstStyle/>
          <a:p>
            <a:pPr marL="457200" indent="-457200">
              <a:buFont typeface="+mj-lt"/>
              <a:buAutoNum type="arabicPeriod" startAt="4"/>
            </a:pPr>
            <a:r>
              <a:rPr lang="en-US" dirty="0"/>
              <a:t>Relate current sources to the mesh currents through KCL:</a:t>
            </a:r>
          </a:p>
        </p:txBody>
      </p:sp>
      <p:sp>
        <p:nvSpPr>
          <p:cNvPr id="15" name="Rectangle 14"/>
          <p:cNvSpPr/>
          <p:nvPr/>
        </p:nvSpPr>
        <p:spPr>
          <a:xfrm>
            <a:off x="685800" y="5753100"/>
            <a:ext cx="8001000" cy="646331"/>
          </a:xfrm>
          <a:prstGeom prst="rect">
            <a:avLst/>
          </a:prstGeom>
        </p:spPr>
        <p:txBody>
          <a:bodyPr wrap="square">
            <a:spAutoFit/>
          </a:bodyPr>
          <a:lstStyle/>
          <a:p>
            <a:pPr marL="457200" indent="-457200">
              <a:buFont typeface="+mj-lt"/>
              <a:buAutoNum type="arabicPeriod" startAt="5"/>
            </a:pPr>
            <a:r>
              <a:rPr lang="en-US" dirty="0"/>
              <a:t>Express all other unknown variables in terms of the mesh currents</a:t>
            </a:r>
          </a:p>
          <a:p>
            <a:pPr marL="457200" indent="-457200"/>
            <a:r>
              <a:rPr lang="en-US" dirty="0"/>
              <a:t>	(Not applicable in this case.)</a:t>
            </a:r>
          </a:p>
        </p:txBody>
      </p:sp>
      <p:graphicFrame>
        <p:nvGraphicFramePr>
          <p:cNvPr id="212996" name="Object 4"/>
          <p:cNvGraphicFramePr>
            <a:graphicFrameLocks noChangeAspect="1"/>
          </p:cNvGraphicFramePr>
          <p:nvPr/>
        </p:nvGraphicFramePr>
        <p:xfrm>
          <a:off x="439738" y="4200525"/>
          <a:ext cx="8507412" cy="371475"/>
        </p:xfrm>
        <a:graphic>
          <a:graphicData uri="http://schemas.openxmlformats.org/presentationml/2006/ole">
            <mc:AlternateContent xmlns:mc="http://schemas.openxmlformats.org/markup-compatibility/2006">
              <mc:Choice xmlns:v="urn:schemas-microsoft-com:vml" Requires="v">
                <p:oleObj name="Equation" r:id="rId6" imgW="5257800" imgH="228600" progId="Equation.3">
                  <p:embed/>
                </p:oleObj>
              </mc:Choice>
              <mc:Fallback>
                <p:oleObj name="Equation" r:id="rId6" imgW="5257800" imgH="2286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9738" y="4200525"/>
                        <a:ext cx="8507412"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083872655"/>
      </p:ext>
    </p:extLst>
  </p:cSld>
  <p:clrMapOvr>
    <a:masterClrMapping/>
  </p:clrMapOvr>
  <p:transition spd="med"/>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a:t>
            </a:r>
          </a:p>
        </p:txBody>
      </p:sp>
      <p:sp>
        <p:nvSpPr>
          <p:cNvPr id="6147" name="Content Placeholder 2"/>
          <p:cNvSpPr>
            <a:spLocks noGrp="1"/>
          </p:cNvSpPr>
          <p:nvPr>
            <p:ph idx="1"/>
          </p:nvPr>
        </p:nvSpPr>
        <p:spPr>
          <a:xfrm>
            <a:off x="533400" y="723901"/>
            <a:ext cx="8229600" cy="5867400"/>
          </a:xfrm>
        </p:spPr>
        <p:txBody>
          <a:bodyPr/>
          <a:lstStyle/>
          <a:p>
            <a:pPr>
              <a:buNone/>
            </a:pPr>
            <a:r>
              <a:rPr lang="en-US" sz="2400" dirty="0"/>
              <a:t>Apply mesh analysis to the following circuit:</a:t>
            </a:r>
          </a:p>
          <a:p>
            <a:pPr>
              <a:buNone/>
            </a:pPr>
            <a:endParaRPr lang="en-US" sz="2400" dirty="0"/>
          </a:p>
          <a:p>
            <a:endParaRPr lang="en-US" sz="20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114</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214018" name="Picture 2"/>
          <p:cNvPicPr>
            <a:picLocks noChangeAspect="1" noChangeArrowheads="1"/>
          </p:cNvPicPr>
          <p:nvPr/>
        </p:nvPicPr>
        <p:blipFill>
          <a:blip r:embed="rId3" cstate="print"/>
          <a:srcRect/>
          <a:stretch>
            <a:fillRect/>
          </a:stretch>
        </p:blipFill>
        <p:spPr bwMode="auto">
          <a:xfrm>
            <a:off x="228600" y="1143000"/>
            <a:ext cx="3633108" cy="2286000"/>
          </a:xfrm>
          <a:prstGeom prst="rect">
            <a:avLst/>
          </a:prstGeom>
          <a:noFill/>
          <a:ln w="9525">
            <a:noFill/>
            <a:miter lim="800000"/>
            <a:headEnd/>
            <a:tailEnd/>
          </a:ln>
          <a:effectLst/>
        </p:spPr>
      </p:pic>
    </p:spTree>
    <p:extLst>
      <p:ext uri="{BB962C8B-B14F-4D97-AF65-F5344CB8AC3E}">
        <p14:creationId xmlns:p14="http://schemas.microsoft.com/office/powerpoint/2010/main" val="2511953294"/>
      </p:ext>
    </p:extLst>
  </p:cSld>
  <p:clrMapOvr>
    <a:masterClrMapping/>
  </p:clrMapOvr>
  <p:transition spd="med"/>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42" name="Picture 2"/>
          <p:cNvPicPr>
            <a:picLocks noChangeAspect="1" noChangeArrowheads="1"/>
          </p:cNvPicPr>
          <p:nvPr/>
        </p:nvPicPr>
        <p:blipFill>
          <a:blip r:embed="rId3" cstate="print"/>
          <a:srcRect/>
          <a:stretch>
            <a:fillRect/>
          </a:stretch>
        </p:blipFill>
        <p:spPr bwMode="auto">
          <a:xfrm>
            <a:off x="228600" y="1143000"/>
            <a:ext cx="3619500" cy="2277439"/>
          </a:xfrm>
          <a:prstGeom prst="rect">
            <a:avLst/>
          </a:prstGeom>
          <a:noFill/>
          <a:ln w="9525">
            <a:noFill/>
            <a:miter lim="800000"/>
            <a:headEnd/>
            <a:tailEnd/>
          </a:ln>
          <a:effectLst/>
        </p:spPr>
      </p:pic>
      <p:sp>
        <p:nvSpPr>
          <p:cNvPr id="6146" name="Title 1"/>
          <p:cNvSpPr>
            <a:spLocks noGrp="1"/>
          </p:cNvSpPr>
          <p:nvPr>
            <p:ph type="title"/>
          </p:nvPr>
        </p:nvSpPr>
        <p:spPr>
          <a:xfrm>
            <a:off x="457200" y="122237"/>
            <a:ext cx="8229600" cy="563563"/>
          </a:xfrm>
        </p:spPr>
        <p:txBody>
          <a:bodyPr/>
          <a:lstStyle/>
          <a:p>
            <a:r>
              <a:rPr lang="en-US" sz="3200" dirty="0"/>
              <a:t>Example</a:t>
            </a:r>
          </a:p>
        </p:txBody>
      </p:sp>
      <p:sp>
        <p:nvSpPr>
          <p:cNvPr id="6147" name="Content Placeholder 2"/>
          <p:cNvSpPr>
            <a:spLocks noGrp="1"/>
          </p:cNvSpPr>
          <p:nvPr>
            <p:ph idx="1"/>
          </p:nvPr>
        </p:nvSpPr>
        <p:spPr>
          <a:xfrm>
            <a:off x="533400" y="723901"/>
            <a:ext cx="8229600" cy="5867400"/>
          </a:xfrm>
        </p:spPr>
        <p:txBody>
          <a:bodyPr/>
          <a:lstStyle/>
          <a:p>
            <a:pPr>
              <a:buNone/>
            </a:pPr>
            <a:r>
              <a:rPr lang="en-US" sz="2400" dirty="0"/>
              <a:t>Apply mesh analysis to the following circuit:</a:t>
            </a:r>
          </a:p>
          <a:p>
            <a:pPr>
              <a:buNone/>
            </a:pPr>
            <a:endParaRPr lang="en-US" sz="2400" dirty="0"/>
          </a:p>
          <a:p>
            <a:endParaRPr lang="en-US" sz="20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115</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8" name="TextBox 7"/>
          <p:cNvSpPr txBox="1"/>
          <p:nvPr/>
        </p:nvSpPr>
        <p:spPr>
          <a:xfrm>
            <a:off x="4152900" y="1257300"/>
            <a:ext cx="4152900" cy="369332"/>
          </a:xfrm>
          <a:prstGeom prst="rect">
            <a:avLst/>
          </a:prstGeom>
          <a:noFill/>
        </p:spPr>
        <p:txBody>
          <a:bodyPr wrap="square" rtlCol="0">
            <a:spAutoFit/>
          </a:bodyPr>
          <a:lstStyle/>
          <a:p>
            <a:r>
              <a:rPr lang="en-US" dirty="0"/>
              <a:t>KVL around </a:t>
            </a:r>
            <a:r>
              <a:rPr lang="en-US" dirty="0" err="1"/>
              <a:t>Supermesh</a:t>
            </a:r>
            <a:r>
              <a:rPr lang="en-US" dirty="0"/>
              <a:t> 1+3+4:</a:t>
            </a:r>
          </a:p>
        </p:txBody>
      </p:sp>
      <p:graphicFrame>
        <p:nvGraphicFramePr>
          <p:cNvPr id="215043" name="Object 3"/>
          <p:cNvGraphicFramePr>
            <a:graphicFrameLocks noChangeAspect="1"/>
          </p:cNvGraphicFramePr>
          <p:nvPr/>
        </p:nvGraphicFramePr>
        <p:xfrm>
          <a:off x="4298950" y="1638300"/>
          <a:ext cx="4273550" cy="784225"/>
        </p:xfrm>
        <a:graphic>
          <a:graphicData uri="http://schemas.openxmlformats.org/presentationml/2006/ole">
            <mc:AlternateContent xmlns:mc="http://schemas.openxmlformats.org/markup-compatibility/2006">
              <mc:Choice xmlns:v="urn:schemas-microsoft-com:vml" Requires="v">
                <p:oleObj name="Equation" r:id="rId4" imgW="2641320" imgH="482400" progId="Equation.3">
                  <p:embed/>
                </p:oleObj>
              </mc:Choice>
              <mc:Fallback>
                <p:oleObj name="Equation" r:id="rId4" imgW="2641320" imgH="4824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98950" y="1638300"/>
                        <a:ext cx="4273550" cy="784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566137004"/>
      </p:ext>
    </p:extLst>
  </p:cSld>
  <p:clrMapOvr>
    <a:masterClrMapping/>
  </p:clrMapOvr>
  <p:transition spd="med"/>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42" name="Picture 2"/>
          <p:cNvPicPr>
            <a:picLocks noChangeAspect="1" noChangeArrowheads="1"/>
          </p:cNvPicPr>
          <p:nvPr/>
        </p:nvPicPr>
        <p:blipFill>
          <a:blip r:embed="rId3" cstate="print"/>
          <a:srcRect/>
          <a:stretch>
            <a:fillRect/>
          </a:stretch>
        </p:blipFill>
        <p:spPr bwMode="auto">
          <a:xfrm>
            <a:off x="228600" y="1143000"/>
            <a:ext cx="3619500" cy="2277439"/>
          </a:xfrm>
          <a:prstGeom prst="rect">
            <a:avLst/>
          </a:prstGeom>
          <a:noFill/>
          <a:ln w="9525">
            <a:noFill/>
            <a:miter lim="800000"/>
            <a:headEnd/>
            <a:tailEnd/>
          </a:ln>
          <a:effectLst/>
        </p:spPr>
      </p:pic>
      <p:sp>
        <p:nvSpPr>
          <p:cNvPr id="6146" name="Title 1"/>
          <p:cNvSpPr>
            <a:spLocks noGrp="1"/>
          </p:cNvSpPr>
          <p:nvPr>
            <p:ph type="title"/>
          </p:nvPr>
        </p:nvSpPr>
        <p:spPr>
          <a:xfrm>
            <a:off x="457200" y="122237"/>
            <a:ext cx="8229600" cy="563563"/>
          </a:xfrm>
        </p:spPr>
        <p:txBody>
          <a:bodyPr/>
          <a:lstStyle/>
          <a:p>
            <a:r>
              <a:rPr lang="en-US" sz="3200" dirty="0"/>
              <a:t>Example</a:t>
            </a:r>
          </a:p>
        </p:txBody>
      </p:sp>
      <p:sp>
        <p:nvSpPr>
          <p:cNvPr id="6147" name="Content Placeholder 2"/>
          <p:cNvSpPr>
            <a:spLocks noGrp="1"/>
          </p:cNvSpPr>
          <p:nvPr>
            <p:ph idx="1"/>
          </p:nvPr>
        </p:nvSpPr>
        <p:spPr>
          <a:xfrm>
            <a:off x="533400" y="723901"/>
            <a:ext cx="8229600" cy="5867400"/>
          </a:xfrm>
        </p:spPr>
        <p:txBody>
          <a:bodyPr/>
          <a:lstStyle/>
          <a:p>
            <a:pPr>
              <a:buNone/>
            </a:pPr>
            <a:r>
              <a:rPr lang="en-US" sz="2400" dirty="0"/>
              <a:t>Apply mesh analysis to the following circuit:</a:t>
            </a:r>
          </a:p>
          <a:p>
            <a:pPr>
              <a:buNone/>
            </a:pPr>
            <a:endParaRPr lang="en-US" sz="2400" dirty="0"/>
          </a:p>
          <a:p>
            <a:endParaRPr lang="en-US" sz="20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116</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8" name="TextBox 7"/>
          <p:cNvSpPr txBox="1"/>
          <p:nvPr/>
        </p:nvSpPr>
        <p:spPr>
          <a:xfrm>
            <a:off x="4152900" y="1257300"/>
            <a:ext cx="4152900" cy="369332"/>
          </a:xfrm>
          <a:prstGeom prst="rect">
            <a:avLst/>
          </a:prstGeom>
          <a:noFill/>
        </p:spPr>
        <p:txBody>
          <a:bodyPr wrap="square" rtlCol="0">
            <a:spAutoFit/>
          </a:bodyPr>
          <a:lstStyle/>
          <a:p>
            <a:r>
              <a:rPr lang="en-US" dirty="0"/>
              <a:t>KVL around </a:t>
            </a:r>
            <a:r>
              <a:rPr lang="en-US" dirty="0" err="1"/>
              <a:t>Supermesh</a:t>
            </a:r>
            <a:r>
              <a:rPr lang="en-US" dirty="0"/>
              <a:t> 1+3+4:</a:t>
            </a:r>
          </a:p>
        </p:txBody>
      </p:sp>
      <p:graphicFrame>
        <p:nvGraphicFramePr>
          <p:cNvPr id="215043" name="Object 3"/>
          <p:cNvGraphicFramePr>
            <a:graphicFrameLocks noChangeAspect="1"/>
          </p:cNvGraphicFramePr>
          <p:nvPr/>
        </p:nvGraphicFramePr>
        <p:xfrm>
          <a:off x="4298950" y="1638300"/>
          <a:ext cx="4273550" cy="784225"/>
        </p:xfrm>
        <a:graphic>
          <a:graphicData uri="http://schemas.openxmlformats.org/presentationml/2006/ole">
            <mc:AlternateContent xmlns:mc="http://schemas.openxmlformats.org/markup-compatibility/2006">
              <mc:Choice xmlns:v="urn:schemas-microsoft-com:vml" Requires="v">
                <p:oleObj name="Equation" r:id="rId4" imgW="2641320" imgH="482400" progId="Equation.3">
                  <p:embed/>
                </p:oleObj>
              </mc:Choice>
              <mc:Fallback>
                <p:oleObj name="Equation" r:id="rId4" imgW="2641320" imgH="4824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98950" y="1638300"/>
                        <a:ext cx="4273550" cy="784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Box 8"/>
          <p:cNvSpPr txBox="1"/>
          <p:nvPr/>
        </p:nvSpPr>
        <p:spPr>
          <a:xfrm>
            <a:off x="4152900" y="2450068"/>
            <a:ext cx="4152900" cy="369332"/>
          </a:xfrm>
          <a:prstGeom prst="rect">
            <a:avLst/>
          </a:prstGeom>
          <a:noFill/>
        </p:spPr>
        <p:txBody>
          <a:bodyPr wrap="square" rtlCol="0">
            <a:spAutoFit/>
          </a:bodyPr>
          <a:lstStyle/>
          <a:p>
            <a:r>
              <a:rPr lang="en-US" dirty="0"/>
              <a:t>KVL around Mesh 2:</a:t>
            </a:r>
          </a:p>
        </p:txBody>
      </p:sp>
      <p:graphicFrame>
        <p:nvGraphicFramePr>
          <p:cNvPr id="216067" name="Object 3"/>
          <p:cNvGraphicFramePr>
            <a:graphicFrameLocks noChangeAspect="1"/>
          </p:cNvGraphicFramePr>
          <p:nvPr/>
        </p:nvGraphicFramePr>
        <p:xfrm>
          <a:off x="4392613" y="2797175"/>
          <a:ext cx="2998787" cy="784225"/>
        </p:xfrm>
        <a:graphic>
          <a:graphicData uri="http://schemas.openxmlformats.org/presentationml/2006/ole">
            <mc:AlternateContent xmlns:mc="http://schemas.openxmlformats.org/markup-compatibility/2006">
              <mc:Choice xmlns:v="urn:schemas-microsoft-com:vml" Requires="v">
                <p:oleObj name="Equation" r:id="rId6" imgW="1854000" imgH="482400" progId="Equation.3">
                  <p:embed/>
                </p:oleObj>
              </mc:Choice>
              <mc:Fallback>
                <p:oleObj name="Equation" r:id="rId6" imgW="1854000" imgH="4824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92613" y="2797175"/>
                        <a:ext cx="2998787" cy="784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188131538"/>
      </p:ext>
    </p:extLst>
  </p:cSld>
  <p:clrMapOvr>
    <a:masterClrMapping/>
  </p:clrMapOvr>
  <p:transition spd="med"/>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42" name="Picture 2"/>
          <p:cNvPicPr>
            <a:picLocks noChangeAspect="1" noChangeArrowheads="1"/>
          </p:cNvPicPr>
          <p:nvPr/>
        </p:nvPicPr>
        <p:blipFill>
          <a:blip r:embed="rId3" cstate="print"/>
          <a:srcRect/>
          <a:stretch>
            <a:fillRect/>
          </a:stretch>
        </p:blipFill>
        <p:spPr bwMode="auto">
          <a:xfrm>
            <a:off x="228600" y="1143000"/>
            <a:ext cx="3619500" cy="2277439"/>
          </a:xfrm>
          <a:prstGeom prst="rect">
            <a:avLst/>
          </a:prstGeom>
          <a:noFill/>
          <a:ln w="9525">
            <a:noFill/>
            <a:miter lim="800000"/>
            <a:headEnd/>
            <a:tailEnd/>
          </a:ln>
          <a:effectLst/>
        </p:spPr>
      </p:pic>
      <p:sp>
        <p:nvSpPr>
          <p:cNvPr id="6146" name="Title 1"/>
          <p:cNvSpPr>
            <a:spLocks noGrp="1"/>
          </p:cNvSpPr>
          <p:nvPr>
            <p:ph type="title"/>
          </p:nvPr>
        </p:nvSpPr>
        <p:spPr>
          <a:xfrm>
            <a:off x="457200" y="122237"/>
            <a:ext cx="8229600" cy="563563"/>
          </a:xfrm>
        </p:spPr>
        <p:txBody>
          <a:bodyPr/>
          <a:lstStyle/>
          <a:p>
            <a:r>
              <a:rPr lang="en-US" sz="3200" dirty="0"/>
              <a:t>Example</a:t>
            </a:r>
          </a:p>
        </p:txBody>
      </p:sp>
      <p:sp>
        <p:nvSpPr>
          <p:cNvPr id="6147" name="Content Placeholder 2"/>
          <p:cNvSpPr>
            <a:spLocks noGrp="1"/>
          </p:cNvSpPr>
          <p:nvPr>
            <p:ph idx="1"/>
          </p:nvPr>
        </p:nvSpPr>
        <p:spPr>
          <a:xfrm>
            <a:off x="533400" y="723901"/>
            <a:ext cx="8229600" cy="5867400"/>
          </a:xfrm>
        </p:spPr>
        <p:txBody>
          <a:bodyPr/>
          <a:lstStyle/>
          <a:p>
            <a:pPr>
              <a:buNone/>
            </a:pPr>
            <a:r>
              <a:rPr lang="en-US" sz="2400" dirty="0"/>
              <a:t>Apply mesh analysis to the following circuit:</a:t>
            </a:r>
          </a:p>
          <a:p>
            <a:pPr>
              <a:buNone/>
            </a:pPr>
            <a:endParaRPr lang="en-US" sz="2400" dirty="0"/>
          </a:p>
          <a:p>
            <a:endParaRPr lang="en-US" sz="20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117</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8" name="TextBox 7"/>
          <p:cNvSpPr txBox="1"/>
          <p:nvPr/>
        </p:nvSpPr>
        <p:spPr>
          <a:xfrm>
            <a:off x="4152900" y="1257300"/>
            <a:ext cx="4152900" cy="369332"/>
          </a:xfrm>
          <a:prstGeom prst="rect">
            <a:avLst/>
          </a:prstGeom>
          <a:noFill/>
        </p:spPr>
        <p:txBody>
          <a:bodyPr wrap="square" rtlCol="0">
            <a:spAutoFit/>
          </a:bodyPr>
          <a:lstStyle/>
          <a:p>
            <a:r>
              <a:rPr lang="en-US" dirty="0"/>
              <a:t>KVL around </a:t>
            </a:r>
            <a:r>
              <a:rPr lang="en-US" dirty="0" err="1"/>
              <a:t>Supermesh</a:t>
            </a:r>
            <a:r>
              <a:rPr lang="en-US" dirty="0"/>
              <a:t> 1+3+4:</a:t>
            </a:r>
          </a:p>
        </p:txBody>
      </p:sp>
      <p:graphicFrame>
        <p:nvGraphicFramePr>
          <p:cNvPr id="215043" name="Object 3"/>
          <p:cNvGraphicFramePr>
            <a:graphicFrameLocks noChangeAspect="1"/>
          </p:cNvGraphicFramePr>
          <p:nvPr/>
        </p:nvGraphicFramePr>
        <p:xfrm>
          <a:off x="4298950" y="1638300"/>
          <a:ext cx="4273550" cy="784225"/>
        </p:xfrm>
        <a:graphic>
          <a:graphicData uri="http://schemas.openxmlformats.org/presentationml/2006/ole">
            <mc:AlternateContent xmlns:mc="http://schemas.openxmlformats.org/markup-compatibility/2006">
              <mc:Choice xmlns:v="urn:schemas-microsoft-com:vml" Requires="v">
                <p:oleObj name="Equation" r:id="rId4" imgW="2641320" imgH="482400" progId="Equation.3">
                  <p:embed/>
                </p:oleObj>
              </mc:Choice>
              <mc:Fallback>
                <p:oleObj name="Equation" r:id="rId4" imgW="2641320" imgH="4824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98950" y="1638300"/>
                        <a:ext cx="4273550" cy="784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Box 8"/>
          <p:cNvSpPr txBox="1"/>
          <p:nvPr/>
        </p:nvSpPr>
        <p:spPr>
          <a:xfrm>
            <a:off x="4152900" y="2450068"/>
            <a:ext cx="4152900" cy="369332"/>
          </a:xfrm>
          <a:prstGeom prst="rect">
            <a:avLst/>
          </a:prstGeom>
          <a:noFill/>
        </p:spPr>
        <p:txBody>
          <a:bodyPr wrap="square" rtlCol="0">
            <a:spAutoFit/>
          </a:bodyPr>
          <a:lstStyle/>
          <a:p>
            <a:r>
              <a:rPr lang="en-US" dirty="0"/>
              <a:t>KVL around Mesh 2:</a:t>
            </a:r>
          </a:p>
        </p:txBody>
      </p:sp>
      <p:graphicFrame>
        <p:nvGraphicFramePr>
          <p:cNvPr id="216067" name="Object 3"/>
          <p:cNvGraphicFramePr>
            <a:graphicFrameLocks noChangeAspect="1"/>
          </p:cNvGraphicFramePr>
          <p:nvPr/>
        </p:nvGraphicFramePr>
        <p:xfrm>
          <a:off x="4392613" y="2797175"/>
          <a:ext cx="2998787" cy="784225"/>
        </p:xfrm>
        <a:graphic>
          <a:graphicData uri="http://schemas.openxmlformats.org/presentationml/2006/ole">
            <mc:AlternateContent xmlns:mc="http://schemas.openxmlformats.org/markup-compatibility/2006">
              <mc:Choice xmlns:v="urn:schemas-microsoft-com:vml" Requires="v">
                <p:oleObj name="Equation" r:id="rId6" imgW="1854000" imgH="482400" progId="Equation.3">
                  <p:embed/>
                </p:oleObj>
              </mc:Choice>
              <mc:Fallback>
                <p:oleObj name="Equation" r:id="rId6" imgW="1854000" imgH="4824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92613" y="2797175"/>
                        <a:ext cx="2998787" cy="784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Box 10"/>
          <p:cNvSpPr txBox="1"/>
          <p:nvPr/>
        </p:nvSpPr>
        <p:spPr>
          <a:xfrm>
            <a:off x="495300" y="3619500"/>
            <a:ext cx="8001000" cy="369332"/>
          </a:xfrm>
          <a:prstGeom prst="rect">
            <a:avLst/>
          </a:prstGeom>
          <a:noFill/>
        </p:spPr>
        <p:txBody>
          <a:bodyPr wrap="square" rtlCol="0">
            <a:spAutoFit/>
          </a:bodyPr>
          <a:lstStyle/>
          <a:p>
            <a:r>
              <a:rPr lang="en-US" dirty="0"/>
              <a:t>In addition the following relationships can be extracted from the circuit:</a:t>
            </a:r>
          </a:p>
        </p:txBody>
      </p:sp>
      <p:graphicFrame>
        <p:nvGraphicFramePr>
          <p:cNvPr id="216068" name="Object 4"/>
          <p:cNvGraphicFramePr>
            <a:graphicFrameLocks noChangeAspect="1"/>
          </p:cNvGraphicFramePr>
          <p:nvPr/>
        </p:nvGraphicFramePr>
        <p:xfrm>
          <a:off x="800100" y="3962400"/>
          <a:ext cx="1704975" cy="371475"/>
        </p:xfrm>
        <a:graphic>
          <a:graphicData uri="http://schemas.openxmlformats.org/presentationml/2006/ole">
            <mc:AlternateContent xmlns:mc="http://schemas.openxmlformats.org/markup-compatibility/2006">
              <mc:Choice xmlns:v="urn:schemas-microsoft-com:vml" Requires="v">
                <p:oleObj name="Equation" r:id="rId8" imgW="1054080" imgH="228600" progId="Equation.3">
                  <p:embed/>
                </p:oleObj>
              </mc:Choice>
              <mc:Fallback>
                <p:oleObj name="Equation" r:id="rId8" imgW="1054080" imgH="2286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00100" y="3962400"/>
                        <a:ext cx="1704975"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6069" name="Object 5"/>
          <p:cNvGraphicFramePr>
            <a:graphicFrameLocks noChangeAspect="1"/>
          </p:cNvGraphicFramePr>
          <p:nvPr/>
        </p:nvGraphicFramePr>
        <p:xfrm>
          <a:off x="3051175" y="3962400"/>
          <a:ext cx="1787525" cy="371475"/>
        </p:xfrm>
        <a:graphic>
          <a:graphicData uri="http://schemas.openxmlformats.org/presentationml/2006/ole">
            <mc:AlternateContent xmlns:mc="http://schemas.openxmlformats.org/markup-compatibility/2006">
              <mc:Choice xmlns:v="urn:schemas-microsoft-com:vml" Requires="v">
                <p:oleObj name="Equation" r:id="rId10" imgW="1104840" imgH="228600" progId="Equation.3">
                  <p:embed/>
                </p:oleObj>
              </mc:Choice>
              <mc:Fallback>
                <p:oleObj name="Equation" r:id="rId10" imgW="1104840" imgH="2286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51175" y="3962400"/>
                        <a:ext cx="1787525"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6070" name="Object 6"/>
          <p:cNvGraphicFramePr>
            <a:graphicFrameLocks noChangeAspect="1"/>
          </p:cNvGraphicFramePr>
          <p:nvPr/>
        </p:nvGraphicFramePr>
        <p:xfrm>
          <a:off x="5203825" y="3962400"/>
          <a:ext cx="1806575" cy="392113"/>
        </p:xfrm>
        <a:graphic>
          <a:graphicData uri="http://schemas.openxmlformats.org/presentationml/2006/ole">
            <mc:AlternateContent xmlns:mc="http://schemas.openxmlformats.org/markup-compatibility/2006">
              <mc:Choice xmlns:v="urn:schemas-microsoft-com:vml" Requires="v">
                <p:oleObj name="Equation" r:id="rId12" imgW="1117440" imgH="241200" progId="Equation.3">
                  <p:embed/>
                </p:oleObj>
              </mc:Choice>
              <mc:Fallback>
                <p:oleObj name="Equation" r:id="rId12" imgW="1117440" imgH="24120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203825" y="3962400"/>
                        <a:ext cx="1806575" cy="392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303618048"/>
      </p:ext>
    </p:extLst>
  </p:cSld>
  <p:clrMapOvr>
    <a:masterClrMapping/>
  </p:clrMapOvr>
  <p:transition spd="med"/>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42" name="Picture 2"/>
          <p:cNvPicPr>
            <a:picLocks noChangeAspect="1" noChangeArrowheads="1"/>
          </p:cNvPicPr>
          <p:nvPr/>
        </p:nvPicPr>
        <p:blipFill>
          <a:blip r:embed="rId3" cstate="print"/>
          <a:srcRect/>
          <a:stretch>
            <a:fillRect/>
          </a:stretch>
        </p:blipFill>
        <p:spPr bwMode="auto">
          <a:xfrm>
            <a:off x="228600" y="1143000"/>
            <a:ext cx="3619500" cy="2277439"/>
          </a:xfrm>
          <a:prstGeom prst="rect">
            <a:avLst/>
          </a:prstGeom>
          <a:noFill/>
          <a:ln w="9525">
            <a:noFill/>
            <a:miter lim="800000"/>
            <a:headEnd/>
            <a:tailEnd/>
          </a:ln>
          <a:effectLst/>
        </p:spPr>
      </p:pic>
      <p:sp>
        <p:nvSpPr>
          <p:cNvPr id="6146" name="Title 1"/>
          <p:cNvSpPr>
            <a:spLocks noGrp="1"/>
          </p:cNvSpPr>
          <p:nvPr>
            <p:ph type="title"/>
          </p:nvPr>
        </p:nvSpPr>
        <p:spPr>
          <a:xfrm>
            <a:off x="457200" y="122237"/>
            <a:ext cx="8229600" cy="563563"/>
          </a:xfrm>
        </p:spPr>
        <p:txBody>
          <a:bodyPr/>
          <a:lstStyle/>
          <a:p>
            <a:r>
              <a:rPr lang="en-US" sz="3200" dirty="0"/>
              <a:t>Example</a:t>
            </a:r>
          </a:p>
        </p:txBody>
      </p:sp>
      <p:sp>
        <p:nvSpPr>
          <p:cNvPr id="6147" name="Content Placeholder 2"/>
          <p:cNvSpPr>
            <a:spLocks noGrp="1"/>
          </p:cNvSpPr>
          <p:nvPr>
            <p:ph idx="1"/>
          </p:nvPr>
        </p:nvSpPr>
        <p:spPr>
          <a:xfrm>
            <a:off x="533400" y="723901"/>
            <a:ext cx="8229600" cy="5867400"/>
          </a:xfrm>
        </p:spPr>
        <p:txBody>
          <a:bodyPr/>
          <a:lstStyle/>
          <a:p>
            <a:pPr>
              <a:buNone/>
            </a:pPr>
            <a:r>
              <a:rPr lang="en-US" sz="2400" dirty="0"/>
              <a:t>Apply mesh analysis to the following circuit:</a:t>
            </a:r>
          </a:p>
          <a:p>
            <a:pPr>
              <a:buNone/>
            </a:pPr>
            <a:endParaRPr lang="en-US" sz="2400" dirty="0"/>
          </a:p>
          <a:p>
            <a:endParaRPr lang="en-US" sz="20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118</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8" name="TextBox 7"/>
          <p:cNvSpPr txBox="1"/>
          <p:nvPr/>
        </p:nvSpPr>
        <p:spPr>
          <a:xfrm>
            <a:off x="4152900" y="1257300"/>
            <a:ext cx="4152900" cy="369332"/>
          </a:xfrm>
          <a:prstGeom prst="rect">
            <a:avLst/>
          </a:prstGeom>
          <a:noFill/>
        </p:spPr>
        <p:txBody>
          <a:bodyPr wrap="square" rtlCol="0">
            <a:spAutoFit/>
          </a:bodyPr>
          <a:lstStyle/>
          <a:p>
            <a:r>
              <a:rPr lang="en-US" dirty="0"/>
              <a:t>KVL around </a:t>
            </a:r>
            <a:r>
              <a:rPr lang="en-US" dirty="0" err="1"/>
              <a:t>Supermesh</a:t>
            </a:r>
            <a:r>
              <a:rPr lang="en-US" dirty="0"/>
              <a:t> 1+3+4:</a:t>
            </a:r>
          </a:p>
        </p:txBody>
      </p:sp>
      <p:graphicFrame>
        <p:nvGraphicFramePr>
          <p:cNvPr id="215043" name="Object 3"/>
          <p:cNvGraphicFramePr>
            <a:graphicFrameLocks noChangeAspect="1"/>
          </p:cNvGraphicFramePr>
          <p:nvPr/>
        </p:nvGraphicFramePr>
        <p:xfrm>
          <a:off x="4298950" y="1638300"/>
          <a:ext cx="4273550" cy="784225"/>
        </p:xfrm>
        <a:graphic>
          <a:graphicData uri="http://schemas.openxmlformats.org/presentationml/2006/ole">
            <mc:AlternateContent xmlns:mc="http://schemas.openxmlformats.org/markup-compatibility/2006">
              <mc:Choice xmlns:v="urn:schemas-microsoft-com:vml" Requires="v">
                <p:oleObj name="Equation" r:id="rId4" imgW="2641320" imgH="482400" progId="Equation.3">
                  <p:embed/>
                </p:oleObj>
              </mc:Choice>
              <mc:Fallback>
                <p:oleObj name="Equation" r:id="rId4" imgW="2641320" imgH="4824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98950" y="1638300"/>
                        <a:ext cx="4273550" cy="784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Box 8"/>
          <p:cNvSpPr txBox="1"/>
          <p:nvPr/>
        </p:nvSpPr>
        <p:spPr>
          <a:xfrm>
            <a:off x="4152900" y="2450068"/>
            <a:ext cx="4152900" cy="369332"/>
          </a:xfrm>
          <a:prstGeom prst="rect">
            <a:avLst/>
          </a:prstGeom>
          <a:noFill/>
        </p:spPr>
        <p:txBody>
          <a:bodyPr wrap="square" rtlCol="0">
            <a:spAutoFit/>
          </a:bodyPr>
          <a:lstStyle/>
          <a:p>
            <a:r>
              <a:rPr lang="en-US" dirty="0"/>
              <a:t>KVL around Mesh 2:</a:t>
            </a:r>
          </a:p>
        </p:txBody>
      </p:sp>
      <p:graphicFrame>
        <p:nvGraphicFramePr>
          <p:cNvPr id="216067" name="Object 3"/>
          <p:cNvGraphicFramePr>
            <a:graphicFrameLocks noChangeAspect="1"/>
          </p:cNvGraphicFramePr>
          <p:nvPr/>
        </p:nvGraphicFramePr>
        <p:xfrm>
          <a:off x="4392613" y="2797175"/>
          <a:ext cx="2998787" cy="784225"/>
        </p:xfrm>
        <a:graphic>
          <a:graphicData uri="http://schemas.openxmlformats.org/presentationml/2006/ole">
            <mc:AlternateContent xmlns:mc="http://schemas.openxmlformats.org/markup-compatibility/2006">
              <mc:Choice xmlns:v="urn:schemas-microsoft-com:vml" Requires="v">
                <p:oleObj name="Equation" r:id="rId6" imgW="1854000" imgH="482400" progId="Equation.3">
                  <p:embed/>
                </p:oleObj>
              </mc:Choice>
              <mc:Fallback>
                <p:oleObj name="Equation" r:id="rId6" imgW="1854000" imgH="4824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92613" y="2797175"/>
                        <a:ext cx="2998787" cy="784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Box 10"/>
          <p:cNvSpPr txBox="1"/>
          <p:nvPr/>
        </p:nvSpPr>
        <p:spPr>
          <a:xfrm>
            <a:off x="495300" y="3619500"/>
            <a:ext cx="8001000" cy="369332"/>
          </a:xfrm>
          <a:prstGeom prst="rect">
            <a:avLst/>
          </a:prstGeom>
          <a:noFill/>
        </p:spPr>
        <p:txBody>
          <a:bodyPr wrap="square" rtlCol="0">
            <a:spAutoFit/>
          </a:bodyPr>
          <a:lstStyle/>
          <a:p>
            <a:r>
              <a:rPr lang="en-US" dirty="0"/>
              <a:t>In addition the following relationships can be extracted from the circuit:</a:t>
            </a:r>
          </a:p>
        </p:txBody>
      </p:sp>
      <p:graphicFrame>
        <p:nvGraphicFramePr>
          <p:cNvPr id="216068" name="Object 4"/>
          <p:cNvGraphicFramePr>
            <a:graphicFrameLocks noChangeAspect="1"/>
          </p:cNvGraphicFramePr>
          <p:nvPr/>
        </p:nvGraphicFramePr>
        <p:xfrm>
          <a:off x="800100" y="3962400"/>
          <a:ext cx="1704975" cy="371475"/>
        </p:xfrm>
        <a:graphic>
          <a:graphicData uri="http://schemas.openxmlformats.org/presentationml/2006/ole">
            <mc:AlternateContent xmlns:mc="http://schemas.openxmlformats.org/markup-compatibility/2006">
              <mc:Choice xmlns:v="urn:schemas-microsoft-com:vml" Requires="v">
                <p:oleObj name="Equation" r:id="rId8" imgW="1054080" imgH="228600" progId="Equation.3">
                  <p:embed/>
                </p:oleObj>
              </mc:Choice>
              <mc:Fallback>
                <p:oleObj name="Equation" r:id="rId8" imgW="1054080" imgH="2286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00100" y="3962400"/>
                        <a:ext cx="1704975"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6069" name="Object 5"/>
          <p:cNvGraphicFramePr>
            <a:graphicFrameLocks noChangeAspect="1"/>
          </p:cNvGraphicFramePr>
          <p:nvPr/>
        </p:nvGraphicFramePr>
        <p:xfrm>
          <a:off x="3051175" y="3962400"/>
          <a:ext cx="1787525" cy="371475"/>
        </p:xfrm>
        <a:graphic>
          <a:graphicData uri="http://schemas.openxmlformats.org/presentationml/2006/ole">
            <mc:AlternateContent xmlns:mc="http://schemas.openxmlformats.org/markup-compatibility/2006">
              <mc:Choice xmlns:v="urn:schemas-microsoft-com:vml" Requires="v">
                <p:oleObj name="Equation" r:id="rId10" imgW="1104840" imgH="228600" progId="Equation.3">
                  <p:embed/>
                </p:oleObj>
              </mc:Choice>
              <mc:Fallback>
                <p:oleObj name="Equation" r:id="rId10" imgW="1104840" imgH="2286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51175" y="3962400"/>
                        <a:ext cx="1787525"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6070" name="Object 6"/>
          <p:cNvGraphicFramePr>
            <a:graphicFrameLocks noChangeAspect="1"/>
          </p:cNvGraphicFramePr>
          <p:nvPr/>
        </p:nvGraphicFramePr>
        <p:xfrm>
          <a:off x="5203825" y="3962400"/>
          <a:ext cx="1806575" cy="392113"/>
        </p:xfrm>
        <a:graphic>
          <a:graphicData uri="http://schemas.openxmlformats.org/presentationml/2006/ole">
            <mc:AlternateContent xmlns:mc="http://schemas.openxmlformats.org/markup-compatibility/2006">
              <mc:Choice xmlns:v="urn:schemas-microsoft-com:vml" Requires="v">
                <p:oleObj name="Equation" r:id="rId12" imgW="1117440" imgH="241200" progId="Equation.3">
                  <p:embed/>
                </p:oleObj>
              </mc:Choice>
              <mc:Fallback>
                <p:oleObj name="Equation" r:id="rId12" imgW="1117440" imgH="24120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203825" y="3962400"/>
                        <a:ext cx="1806575" cy="392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TextBox 14"/>
          <p:cNvSpPr txBox="1"/>
          <p:nvPr/>
        </p:nvSpPr>
        <p:spPr>
          <a:xfrm>
            <a:off x="495300" y="4457700"/>
            <a:ext cx="8001000" cy="646331"/>
          </a:xfrm>
          <a:prstGeom prst="rect">
            <a:avLst/>
          </a:prstGeom>
          <a:noFill/>
        </p:spPr>
        <p:txBody>
          <a:bodyPr wrap="square" rtlCol="0">
            <a:spAutoFit/>
          </a:bodyPr>
          <a:lstStyle/>
          <a:p>
            <a:pPr marL="342900" indent="-342900">
              <a:buAutoNum type="arabicParenBoth"/>
            </a:pPr>
            <a:r>
              <a:rPr lang="en-US" dirty="0"/>
              <a:t>– (5) represent 5 simultaneous equations with 5 unknowns; therefore, the parameters of interest can be calculated as:</a:t>
            </a:r>
          </a:p>
        </p:txBody>
      </p:sp>
      <p:graphicFrame>
        <p:nvGraphicFramePr>
          <p:cNvPr id="218119" name="Object 7"/>
          <p:cNvGraphicFramePr>
            <a:graphicFrameLocks noChangeAspect="1"/>
          </p:cNvGraphicFramePr>
          <p:nvPr/>
        </p:nvGraphicFramePr>
        <p:xfrm>
          <a:off x="542924" y="5322888"/>
          <a:ext cx="8105776" cy="433387"/>
        </p:xfrm>
        <a:graphic>
          <a:graphicData uri="http://schemas.openxmlformats.org/presentationml/2006/ole">
            <mc:AlternateContent xmlns:mc="http://schemas.openxmlformats.org/markup-compatibility/2006">
              <mc:Choice xmlns:v="urn:schemas-microsoft-com:vml" Requires="v">
                <p:oleObj name="Equation" r:id="rId14" imgW="4520880" imgH="241200" progId="Equation.3">
                  <p:embed/>
                </p:oleObj>
              </mc:Choice>
              <mc:Fallback>
                <p:oleObj name="Equation" r:id="rId14" imgW="4520880" imgH="24120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42924" y="5322888"/>
                        <a:ext cx="8105776" cy="433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798570686"/>
      </p:ext>
    </p:extLst>
  </p:cSld>
  <p:clrMapOvr>
    <a:masterClrMapping/>
  </p:clrMapOvr>
  <p:transition spd="med"/>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Maximum Power Transfer</a:t>
            </a:r>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119</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9" name="Content Placeholder 2"/>
          <p:cNvSpPr>
            <a:spLocks noGrp="1"/>
          </p:cNvSpPr>
          <p:nvPr>
            <p:ph idx="1"/>
          </p:nvPr>
        </p:nvSpPr>
        <p:spPr>
          <a:xfrm>
            <a:off x="533400" y="838200"/>
            <a:ext cx="8229600" cy="4495800"/>
          </a:xfrm>
        </p:spPr>
        <p:txBody>
          <a:bodyPr/>
          <a:lstStyle/>
          <a:p>
            <a:pPr>
              <a:buNone/>
            </a:pPr>
            <a:r>
              <a:rPr lang="en-US" sz="2000" dirty="0"/>
              <a:t>Maximizing the amount of power transferred from a power source to a load is important, and is a major focus area in system design. The power not transferred to the load for useful work is “wasted”:</a:t>
            </a:r>
          </a:p>
          <a:p>
            <a:pPr>
              <a:buNone/>
            </a:pPr>
            <a:endParaRPr lang="en-US" sz="2000" dirty="0"/>
          </a:p>
          <a:p>
            <a:pPr>
              <a:buNone/>
            </a:pPr>
            <a:r>
              <a:rPr lang="en-US" sz="2000" dirty="0"/>
              <a:t>	-  Typically the wasted power goes to generating heat, in which case system cost may increase due to the addition of a cooling solution</a:t>
            </a:r>
          </a:p>
          <a:p>
            <a:pPr>
              <a:buNone/>
            </a:pPr>
            <a:endParaRPr lang="en-US" sz="2000" dirty="0"/>
          </a:p>
          <a:p>
            <a:pPr>
              <a:buNone/>
            </a:pPr>
            <a:r>
              <a:rPr lang="en-US" sz="2000" dirty="0"/>
              <a:t>	-  In mobile systems, battery gets depleted faster if excessive power is wasted</a:t>
            </a:r>
          </a:p>
          <a:p>
            <a:pPr>
              <a:buNone/>
            </a:pPr>
            <a:endParaRPr lang="en-US" sz="2000" dirty="0"/>
          </a:p>
          <a:p>
            <a:pPr>
              <a:buNone/>
            </a:pPr>
            <a:r>
              <a:rPr lang="en-US" sz="2000" dirty="0"/>
              <a:t>	- In communications, the load needs to receive some minimum amount of power before the link is healthy (voice/image quality)</a:t>
            </a:r>
          </a:p>
          <a:p>
            <a:pPr>
              <a:buNone/>
            </a:pPr>
            <a:endParaRPr lang="en-US" sz="2000" dirty="0"/>
          </a:p>
          <a:p>
            <a:pPr>
              <a:buNone/>
            </a:pPr>
            <a:r>
              <a:rPr lang="en-US" sz="2000" dirty="0"/>
              <a:t>	- In power utility systems, the electric power lost in generation, transmission, and distribution becomes very significant if efficiency is low due to large amounts of power</a:t>
            </a:r>
          </a:p>
          <a:p>
            <a:pPr>
              <a:buNone/>
            </a:pPr>
            <a:endParaRPr lang="en-US" sz="1800" dirty="0"/>
          </a:p>
          <a:p>
            <a:pPr lvl="1">
              <a:buFont typeface="Arial" charset="0"/>
              <a:buNone/>
            </a:pPr>
            <a:endParaRPr lang="en-US" sz="1800" dirty="0"/>
          </a:p>
        </p:txBody>
      </p:sp>
    </p:spTree>
    <p:extLst>
      <p:ext uri="{BB962C8B-B14F-4D97-AF65-F5344CB8AC3E}">
        <p14:creationId xmlns:p14="http://schemas.microsoft.com/office/powerpoint/2010/main" val="3619420437"/>
      </p:ext>
    </p:extLst>
  </p:cSld>
  <p:clrMapOvr>
    <a:masterClrMapping/>
  </p:clrMapOvr>
  <p:transition spd="med"/>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Maximizing Power Transfer</a:t>
            </a:r>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120</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9" name="Content Placeholder 2"/>
          <p:cNvSpPr>
            <a:spLocks noGrp="1"/>
          </p:cNvSpPr>
          <p:nvPr>
            <p:ph idx="1"/>
          </p:nvPr>
        </p:nvSpPr>
        <p:spPr>
          <a:xfrm>
            <a:off x="419100" y="838200"/>
            <a:ext cx="8343900" cy="5372100"/>
          </a:xfrm>
        </p:spPr>
        <p:txBody>
          <a:bodyPr/>
          <a:lstStyle/>
          <a:p>
            <a:pPr>
              <a:buNone/>
            </a:pPr>
            <a:r>
              <a:rPr lang="en-US" sz="2000" dirty="0"/>
              <a:t>Assume the below model, where the </a:t>
            </a:r>
            <a:r>
              <a:rPr lang="en-US" sz="2000" dirty="0" err="1"/>
              <a:t>Thevenin</a:t>
            </a:r>
            <a:r>
              <a:rPr lang="en-US" sz="2000" dirty="0"/>
              <a:t> voltage source and the resistor on the left is the equivalent of a more complex circuit delivering power to a resistive load represented by R</a:t>
            </a:r>
            <a:r>
              <a:rPr lang="en-US" sz="2000" baseline="-25000" dirty="0"/>
              <a:t>L</a:t>
            </a:r>
            <a:r>
              <a:rPr lang="en-US" sz="2000" dirty="0"/>
              <a:t>. How should we design the load (R</a:t>
            </a:r>
            <a:r>
              <a:rPr lang="en-US" sz="2000" baseline="-25000" dirty="0"/>
              <a:t>L</a:t>
            </a:r>
            <a:r>
              <a:rPr lang="en-US" sz="2000" dirty="0"/>
              <a:t>=?) in order to maximize the power delivered to it?</a:t>
            </a:r>
          </a:p>
          <a:p>
            <a:pPr>
              <a:buNone/>
            </a:pPr>
            <a:endParaRPr lang="en-US" sz="1800" dirty="0"/>
          </a:p>
          <a:p>
            <a:pPr lvl="1">
              <a:buFont typeface="Arial" charset="0"/>
              <a:buNone/>
            </a:pPr>
            <a:endParaRPr lang="en-US" sz="1800" dirty="0"/>
          </a:p>
        </p:txBody>
      </p:sp>
      <p:pic>
        <p:nvPicPr>
          <p:cNvPr id="239618" name="Picture 2"/>
          <p:cNvPicPr>
            <a:picLocks noChangeAspect="1" noChangeArrowheads="1"/>
          </p:cNvPicPr>
          <p:nvPr/>
        </p:nvPicPr>
        <p:blipFill>
          <a:blip r:embed="rId2" cstate="print"/>
          <a:srcRect/>
          <a:stretch>
            <a:fillRect/>
          </a:stretch>
        </p:blipFill>
        <p:spPr bwMode="auto">
          <a:xfrm>
            <a:off x="418261" y="2095500"/>
            <a:ext cx="2896439" cy="1714500"/>
          </a:xfrm>
          <a:prstGeom prst="rect">
            <a:avLst/>
          </a:prstGeom>
          <a:noFill/>
          <a:ln w="9525">
            <a:noFill/>
            <a:miter lim="800000"/>
            <a:headEnd/>
            <a:tailEnd/>
          </a:ln>
          <a:effectLst/>
        </p:spPr>
      </p:pic>
      <p:graphicFrame>
        <p:nvGraphicFramePr>
          <p:cNvPr id="7" name="Object 6"/>
          <p:cNvGraphicFramePr>
            <a:graphicFrameLocks noChangeAspect="1"/>
          </p:cNvGraphicFramePr>
          <p:nvPr/>
        </p:nvGraphicFramePr>
        <p:xfrm>
          <a:off x="4038600" y="2667000"/>
          <a:ext cx="2309341" cy="736600"/>
        </p:xfrm>
        <a:graphic>
          <a:graphicData uri="http://schemas.openxmlformats.org/presentationml/2006/ole">
            <mc:AlternateContent xmlns:mc="http://schemas.openxmlformats.org/markup-compatibility/2006">
              <mc:Choice xmlns:v="urn:schemas-microsoft-com:vml" Requires="v">
                <p:oleObj name="Equation" r:id="rId3" imgW="1473120" imgH="469800" progId="Equation.3">
                  <p:embed/>
                </p:oleObj>
              </mc:Choice>
              <mc:Fallback>
                <p:oleObj name="Equation" r:id="rId3" imgW="1473120" imgH="4698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8600" y="2667000"/>
                        <a:ext cx="2309341" cy="736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Box 7"/>
          <p:cNvSpPr txBox="1"/>
          <p:nvPr/>
        </p:nvSpPr>
        <p:spPr>
          <a:xfrm>
            <a:off x="381000" y="3886200"/>
            <a:ext cx="4856907" cy="369332"/>
          </a:xfrm>
          <a:prstGeom prst="rect">
            <a:avLst/>
          </a:prstGeom>
          <a:noFill/>
        </p:spPr>
        <p:txBody>
          <a:bodyPr wrap="none" rtlCol="0">
            <a:spAutoFit/>
          </a:bodyPr>
          <a:lstStyle/>
          <a:p>
            <a:r>
              <a:rPr lang="en-US" dirty="0"/>
              <a:t>To find the R</a:t>
            </a:r>
            <a:r>
              <a:rPr lang="en-US" baseline="-25000" dirty="0"/>
              <a:t>L</a:t>
            </a:r>
            <a:r>
              <a:rPr lang="en-US" dirty="0"/>
              <a:t> that gives the maximum power:</a:t>
            </a:r>
            <a:endParaRPr lang="tr-TR" dirty="0"/>
          </a:p>
        </p:txBody>
      </p:sp>
      <p:graphicFrame>
        <p:nvGraphicFramePr>
          <p:cNvPr id="239620" name="Object 4"/>
          <p:cNvGraphicFramePr>
            <a:graphicFrameLocks noChangeAspect="1"/>
          </p:cNvGraphicFramePr>
          <p:nvPr/>
        </p:nvGraphicFramePr>
        <p:xfrm>
          <a:off x="800100" y="4254500"/>
          <a:ext cx="5913438" cy="1193800"/>
        </p:xfrm>
        <a:graphic>
          <a:graphicData uri="http://schemas.openxmlformats.org/presentationml/2006/ole">
            <mc:AlternateContent xmlns:mc="http://schemas.openxmlformats.org/markup-compatibility/2006">
              <mc:Choice xmlns:v="urn:schemas-microsoft-com:vml" Requires="v">
                <p:oleObj name="Equation" r:id="rId5" imgW="3771720" imgH="761760" progId="Equation.3">
                  <p:embed/>
                </p:oleObj>
              </mc:Choice>
              <mc:Fallback>
                <p:oleObj name="Equation" r:id="rId5" imgW="3771720" imgH="76176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0100" y="4254500"/>
                        <a:ext cx="5913438" cy="1193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9621" name="Object 5"/>
          <p:cNvGraphicFramePr>
            <a:graphicFrameLocks noChangeAspect="1"/>
          </p:cNvGraphicFramePr>
          <p:nvPr/>
        </p:nvGraphicFramePr>
        <p:xfrm>
          <a:off x="723900" y="5930900"/>
          <a:ext cx="7862888" cy="736600"/>
        </p:xfrm>
        <a:graphic>
          <a:graphicData uri="http://schemas.openxmlformats.org/presentationml/2006/ole">
            <mc:AlternateContent xmlns:mc="http://schemas.openxmlformats.org/markup-compatibility/2006">
              <mc:Choice xmlns:v="urn:schemas-microsoft-com:vml" Requires="v">
                <p:oleObj name="Equation" r:id="rId7" imgW="5016240" imgH="469800" progId="Equation.3">
                  <p:embed/>
                </p:oleObj>
              </mc:Choice>
              <mc:Fallback>
                <p:oleObj name="Equation" r:id="rId7" imgW="5016240" imgH="4698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23900" y="5930900"/>
                        <a:ext cx="7862888" cy="736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Box 10"/>
          <p:cNvSpPr txBox="1"/>
          <p:nvPr/>
        </p:nvSpPr>
        <p:spPr>
          <a:xfrm>
            <a:off x="412729" y="5574268"/>
            <a:ext cx="5149871" cy="369332"/>
          </a:xfrm>
          <a:prstGeom prst="rect">
            <a:avLst/>
          </a:prstGeom>
          <a:noFill/>
        </p:spPr>
        <p:txBody>
          <a:bodyPr wrap="none" rtlCol="0">
            <a:spAutoFit/>
          </a:bodyPr>
          <a:lstStyle/>
          <a:p>
            <a:r>
              <a:rPr lang="en-US" dirty="0"/>
              <a:t>To confirm R</a:t>
            </a:r>
            <a:r>
              <a:rPr lang="en-US" baseline="-25000" dirty="0"/>
              <a:t>L</a:t>
            </a:r>
            <a:r>
              <a:rPr lang="en-US" dirty="0"/>
              <a:t>=</a:t>
            </a:r>
            <a:r>
              <a:rPr lang="en-US" dirty="0" err="1"/>
              <a:t>R</a:t>
            </a:r>
            <a:r>
              <a:rPr lang="en-US" baseline="-25000" dirty="0" err="1"/>
              <a:t>Th</a:t>
            </a:r>
            <a:r>
              <a:rPr lang="en-US" dirty="0"/>
              <a:t> corresponds to a maximum: </a:t>
            </a:r>
            <a:endParaRPr lang="tr-TR" dirty="0"/>
          </a:p>
        </p:txBody>
      </p:sp>
    </p:spTree>
    <p:extLst>
      <p:ext uri="{BB962C8B-B14F-4D97-AF65-F5344CB8AC3E}">
        <p14:creationId xmlns:p14="http://schemas.microsoft.com/office/powerpoint/2010/main" val="3972022480"/>
      </p:ext>
    </p:extLst>
  </p:cSld>
  <p:clrMapOvr>
    <a:masterClrMapping/>
  </p:clrMapOvr>
  <p:transition spd="med"/>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ounded Rectangle 11"/>
          <p:cNvSpPr/>
          <p:nvPr/>
        </p:nvSpPr>
        <p:spPr>
          <a:xfrm>
            <a:off x="4343400" y="2857500"/>
            <a:ext cx="1257300" cy="723900"/>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146" name="Title 1"/>
          <p:cNvSpPr>
            <a:spLocks noGrp="1"/>
          </p:cNvSpPr>
          <p:nvPr>
            <p:ph type="title"/>
          </p:nvPr>
        </p:nvSpPr>
        <p:spPr>
          <a:xfrm>
            <a:off x="457200" y="122237"/>
            <a:ext cx="8229600" cy="563563"/>
          </a:xfrm>
        </p:spPr>
        <p:txBody>
          <a:bodyPr/>
          <a:lstStyle/>
          <a:p>
            <a:r>
              <a:rPr lang="en-US" sz="3200" dirty="0"/>
              <a:t>Maximizing Power Transfer</a:t>
            </a:r>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121</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9" name="Content Placeholder 2"/>
          <p:cNvSpPr>
            <a:spLocks noGrp="1"/>
          </p:cNvSpPr>
          <p:nvPr>
            <p:ph idx="1"/>
          </p:nvPr>
        </p:nvSpPr>
        <p:spPr>
          <a:xfrm>
            <a:off x="419100" y="838200"/>
            <a:ext cx="8343900" cy="5372100"/>
          </a:xfrm>
        </p:spPr>
        <p:txBody>
          <a:bodyPr/>
          <a:lstStyle/>
          <a:p>
            <a:pPr>
              <a:buNone/>
            </a:pPr>
            <a:r>
              <a:rPr lang="en-US" sz="2000" dirty="0"/>
              <a:t>Assume the below model, where the </a:t>
            </a:r>
            <a:r>
              <a:rPr lang="en-US" sz="2000" dirty="0" err="1"/>
              <a:t>Thevenin</a:t>
            </a:r>
            <a:r>
              <a:rPr lang="en-US" sz="2000" dirty="0"/>
              <a:t> voltage source and the resistor on the left is the equivalent of a more complex circuit delivering power to a resistive load represented by R</a:t>
            </a:r>
            <a:r>
              <a:rPr lang="en-US" sz="2000" baseline="-25000" dirty="0"/>
              <a:t>L</a:t>
            </a:r>
            <a:r>
              <a:rPr lang="en-US" sz="2000" dirty="0"/>
              <a:t>. How should we design the load (R</a:t>
            </a:r>
            <a:r>
              <a:rPr lang="en-US" sz="2000" baseline="-25000" dirty="0"/>
              <a:t>L</a:t>
            </a:r>
            <a:r>
              <a:rPr lang="en-US" sz="2000" dirty="0"/>
              <a:t>=?) in order to maximize the power delivered to it?</a:t>
            </a:r>
          </a:p>
          <a:p>
            <a:pPr>
              <a:buNone/>
            </a:pPr>
            <a:endParaRPr lang="en-US" sz="2000" dirty="0"/>
          </a:p>
          <a:p>
            <a:pPr>
              <a:buNone/>
            </a:pPr>
            <a:endParaRPr lang="en-US" sz="2000" dirty="0"/>
          </a:p>
          <a:p>
            <a:pPr>
              <a:buNone/>
            </a:pPr>
            <a:endParaRPr lang="en-US" sz="2000" dirty="0"/>
          </a:p>
          <a:p>
            <a:pPr>
              <a:buNone/>
            </a:pPr>
            <a:endParaRPr lang="en-US" sz="2000" dirty="0"/>
          </a:p>
          <a:p>
            <a:pPr>
              <a:buNone/>
            </a:pPr>
            <a:endParaRPr lang="en-US" sz="2000" dirty="0"/>
          </a:p>
          <a:p>
            <a:pPr>
              <a:buNone/>
            </a:pPr>
            <a:endParaRPr lang="en-US" sz="2000" dirty="0"/>
          </a:p>
          <a:p>
            <a:pPr>
              <a:buNone/>
            </a:pPr>
            <a:r>
              <a:rPr lang="en-US" sz="2000" dirty="0"/>
              <a:t>This is a significant result:</a:t>
            </a:r>
          </a:p>
          <a:p>
            <a:pPr>
              <a:buNone/>
            </a:pPr>
            <a:r>
              <a:rPr lang="en-US" sz="2000" dirty="0"/>
              <a:t> </a:t>
            </a:r>
            <a:r>
              <a:rPr lang="en-US" sz="2000" b="1" i="1" u="sng" dirty="0"/>
              <a:t>To maximize power delivery, the load resistance needs to be matched to the effective source resistance.</a:t>
            </a:r>
          </a:p>
          <a:p>
            <a:pPr>
              <a:buNone/>
            </a:pPr>
            <a:endParaRPr lang="en-US" sz="1800" dirty="0"/>
          </a:p>
          <a:p>
            <a:pPr lvl="1">
              <a:buFont typeface="Arial" charset="0"/>
              <a:buNone/>
            </a:pPr>
            <a:endParaRPr lang="en-US" sz="1800" dirty="0"/>
          </a:p>
        </p:txBody>
      </p:sp>
      <p:pic>
        <p:nvPicPr>
          <p:cNvPr id="239618" name="Picture 2"/>
          <p:cNvPicPr>
            <a:picLocks noChangeAspect="1" noChangeArrowheads="1"/>
          </p:cNvPicPr>
          <p:nvPr/>
        </p:nvPicPr>
        <p:blipFill>
          <a:blip r:embed="rId2" cstate="print"/>
          <a:srcRect/>
          <a:stretch>
            <a:fillRect/>
          </a:stretch>
        </p:blipFill>
        <p:spPr bwMode="auto">
          <a:xfrm>
            <a:off x="418261" y="2095500"/>
            <a:ext cx="2896439" cy="1714500"/>
          </a:xfrm>
          <a:prstGeom prst="rect">
            <a:avLst/>
          </a:prstGeom>
          <a:noFill/>
          <a:ln w="9525">
            <a:noFill/>
            <a:miter lim="800000"/>
            <a:headEnd/>
            <a:tailEnd/>
          </a:ln>
          <a:effectLst/>
        </p:spPr>
      </p:pic>
      <p:graphicFrame>
        <p:nvGraphicFramePr>
          <p:cNvPr id="7" name="Object 6"/>
          <p:cNvGraphicFramePr>
            <a:graphicFrameLocks noChangeAspect="1"/>
          </p:cNvGraphicFramePr>
          <p:nvPr/>
        </p:nvGraphicFramePr>
        <p:xfrm>
          <a:off x="4610100" y="3009900"/>
          <a:ext cx="876300" cy="358775"/>
        </p:xfrm>
        <a:graphic>
          <a:graphicData uri="http://schemas.openxmlformats.org/presentationml/2006/ole">
            <mc:AlternateContent xmlns:mc="http://schemas.openxmlformats.org/markup-compatibility/2006">
              <mc:Choice xmlns:v="urn:schemas-microsoft-com:vml" Requires="v">
                <p:oleObj name="Equation" r:id="rId3" imgW="558720" imgH="228600" progId="Equation.3">
                  <p:embed/>
                </p:oleObj>
              </mc:Choice>
              <mc:Fallback>
                <p:oleObj name="Equation" r:id="rId3" imgW="558720" imgH="228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0100" y="3009900"/>
                        <a:ext cx="876300" cy="358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Box 7"/>
          <p:cNvSpPr txBox="1"/>
          <p:nvPr/>
        </p:nvSpPr>
        <p:spPr>
          <a:xfrm>
            <a:off x="3924300" y="2438400"/>
            <a:ext cx="3211135" cy="369332"/>
          </a:xfrm>
          <a:prstGeom prst="rect">
            <a:avLst/>
          </a:prstGeom>
          <a:noFill/>
        </p:spPr>
        <p:txBody>
          <a:bodyPr wrap="none" rtlCol="0">
            <a:spAutoFit/>
          </a:bodyPr>
          <a:lstStyle/>
          <a:p>
            <a:r>
              <a:rPr lang="en-US" dirty="0"/>
              <a:t>For maximum power delivery:</a:t>
            </a:r>
            <a:endParaRPr lang="tr-TR" dirty="0"/>
          </a:p>
        </p:txBody>
      </p:sp>
    </p:spTree>
    <p:extLst>
      <p:ext uri="{BB962C8B-B14F-4D97-AF65-F5344CB8AC3E}">
        <p14:creationId xmlns:p14="http://schemas.microsoft.com/office/powerpoint/2010/main" val="897403152"/>
      </p:ext>
    </p:extLst>
  </p:cSld>
  <p:clrMapOvr>
    <a:masterClrMapping/>
  </p:clrMapOvr>
  <p:transition spd="med"/>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 N &amp; R AP 4.21 &amp; 4.22</a:t>
            </a:r>
          </a:p>
        </p:txBody>
      </p:sp>
      <p:sp>
        <p:nvSpPr>
          <p:cNvPr id="6147" name="Content Placeholder 2"/>
          <p:cNvSpPr>
            <a:spLocks noGrp="1"/>
          </p:cNvSpPr>
          <p:nvPr>
            <p:ph idx="1"/>
          </p:nvPr>
        </p:nvSpPr>
        <p:spPr>
          <a:xfrm>
            <a:off x="533400" y="723901"/>
            <a:ext cx="8229600" cy="5867400"/>
          </a:xfrm>
        </p:spPr>
        <p:txBody>
          <a:bodyPr/>
          <a:lstStyle/>
          <a:p>
            <a:pPr marL="457200" indent="-457200">
              <a:buAutoNum type="alphaLcParenR"/>
            </a:pPr>
            <a:r>
              <a:rPr lang="en-US" sz="2400" dirty="0"/>
              <a:t>Find the value of R that enables the circuit shown to deliver maximum power to the terminals </a:t>
            </a:r>
            <a:r>
              <a:rPr lang="en-US" sz="2400" dirty="0" err="1"/>
              <a:t>a,b</a:t>
            </a:r>
            <a:r>
              <a:rPr lang="en-US" sz="2400" dirty="0"/>
              <a:t>.</a:t>
            </a:r>
          </a:p>
          <a:p>
            <a:pPr marL="457200" indent="-457200">
              <a:buAutoNum type="alphaLcParenR"/>
            </a:pPr>
            <a:r>
              <a:rPr lang="en-US" sz="2400" dirty="0"/>
              <a:t>Find the maximum power delivered to R.</a:t>
            </a:r>
          </a:p>
          <a:p>
            <a:pPr marL="457200" indent="-457200">
              <a:buAutoNum type="alphaLcParenR"/>
            </a:pPr>
            <a:r>
              <a:rPr lang="en-US" sz="2400" dirty="0"/>
              <a:t>How much power is the 100 V source delivering to the network under maximum power delivery conditions?</a:t>
            </a:r>
          </a:p>
          <a:p>
            <a:pPr marL="457200" indent="-457200">
              <a:buAutoNum type="alphaLcParenR"/>
            </a:pPr>
            <a:r>
              <a:rPr lang="en-US" sz="2400" dirty="0"/>
              <a:t>Repeat (c) for the dependent voltage source.</a:t>
            </a:r>
          </a:p>
          <a:p>
            <a:pPr marL="457200" indent="-457200">
              <a:buAutoNum type="alphaLcParenR"/>
            </a:pPr>
            <a:r>
              <a:rPr lang="en-US" sz="2400" dirty="0"/>
              <a:t>What percentage of the total power generated by these two sources is delivered to the load resistor R?</a:t>
            </a:r>
          </a:p>
          <a:p>
            <a:pPr>
              <a:buNone/>
            </a:pPr>
            <a:endParaRPr lang="en-US" sz="2400" dirty="0"/>
          </a:p>
          <a:p>
            <a:endParaRPr lang="en-US" sz="20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122</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219137" name="Picture 1"/>
          <p:cNvPicPr>
            <a:picLocks noChangeAspect="1" noChangeArrowheads="1"/>
          </p:cNvPicPr>
          <p:nvPr/>
        </p:nvPicPr>
        <p:blipFill>
          <a:blip r:embed="rId3" cstate="print"/>
          <a:srcRect/>
          <a:stretch>
            <a:fillRect/>
          </a:stretch>
        </p:blipFill>
        <p:spPr bwMode="auto">
          <a:xfrm>
            <a:off x="79699" y="4006850"/>
            <a:ext cx="3968001" cy="2546350"/>
          </a:xfrm>
          <a:prstGeom prst="rect">
            <a:avLst/>
          </a:prstGeom>
          <a:noFill/>
          <a:ln w="9525">
            <a:noFill/>
            <a:miter lim="800000"/>
            <a:headEnd/>
            <a:tailEnd/>
          </a:ln>
          <a:effectLst/>
        </p:spPr>
      </p:pic>
    </p:spTree>
    <p:extLst>
      <p:ext uri="{BB962C8B-B14F-4D97-AF65-F5344CB8AC3E}">
        <p14:creationId xmlns:p14="http://schemas.microsoft.com/office/powerpoint/2010/main" val="3463810172"/>
      </p:ext>
    </p:extLst>
  </p:cSld>
  <p:clrMapOvr>
    <a:masterClrMapping/>
  </p:clrMapOvr>
  <p:transition spd="med"/>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90500" y="122237"/>
            <a:ext cx="7277100" cy="563563"/>
          </a:xfrm>
        </p:spPr>
        <p:txBody>
          <a:bodyPr/>
          <a:lstStyle/>
          <a:p>
            <a:r>
              <a:rPr lang="en-US" sz="3200" dirty="0"/>
              <a:t>Example: N &amp; R AP 4.21 &amp; 4.22 - Solution</a:t>
            </a:r>
          </a:p>
        </p:txBody>
      </p:sp>
      <p:sp>
        <p:nvSpPr>
          <p:cNvPr id="6147" name="Content Placeholder 2"/>
          <p:cNvSpPr>
            <a:spLocks noGrp="1"/>
          </p:cNvSpPr>
          <p:nvPr>
            <p:ph idx="1"/>
          </p:nvPr>
        </p:nvSpPr>
        <p:spPr>
          <a:xfrm>
            <a:off x="533400" y="723901"/>
            <a:ext cx="8229600" cy="5867400"/>
          </a:xfrm>
        </p:spPr>
        <p:txBody>
          <a:bodyPr/>
          <a:lstStyle/>
          <a:p>
            <a:pPr marL="457200" indent="-457200">
              <a:buAutoNum type="alphaLcParenR"/>
            </a:pPr>
            <a:r>
              <a:rPr lang="en-US" sz="2400" dirty="0"/>
              <a:t>Find the value of R that enables the circuit shown to deliver maximum power to the terminals </a:t>
            </a:r>
            <a:r>
              <a:rPr lang="en-US" sz="2400" dirty="0" err="1"/>
              <a:t>a,b</a:t>
            </a:r>
            <a:r>
              <a:rPr lang="en-US" sz="2400" dirty="0"/>
              <a:t>.</a:t>
            </a:r>
          </a:p>
          <a:p>
            <a:pPr>
              <a:buNone/>
            </a:pPr>
            <a:endParaRPr lang="en-US" sz="2400" dirty="0"/>
          </a:p>
          <a:p>
            <a:endParaRPr lang="en-US" sz="20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123</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219137" name="Picture 1"/>
          <p:cNvPicPr>
            <a:picLocks noChangeAspect="1" noChangeArrowheads="1"/>
          </p:cNvPicPr>
          <p:nvPr/>
        </p:nvPicPr>
        <p:blipFill>
          <a:blip r:embed="rId3" cstate="print"/>
          <a:srcRect/>
          <a:stretch>
            <a:fillRect/>
          </a:stretch>
        </p:blipFill>
        <p:spPr bwMode="auto">
          <a:xfrm>
            <a:off x="79699" y="4006850"/>
            <a:ext cx="3968001" cy="2546350"/>
          </a:xfrm>
          <a:prstGeom prst="rect">
            <a:avLst/>
          </a:prstGeom>
          <a:noFill/>
          <a:ln w="9525">
            <a:noFill/>
            <a:miter lim="800000"/>
            <a:headEnd/>
            <a:tailEnd/>
          </a:ln>
          <a:effectLst/>
        </p:spPr>
      </p:pic>
      <p:sp>
        <p:nvSpPr>
          <p:cNvPr id="7" name="TextBox 6"/>
          <p:cNvSpPr txBox="1"/>
          <p:nvPr/>
        </p:nvSpPr>
        <p:spPr>
          <a:xfrm>
            <a:off x="457200" y="1600200"/>
            <a:ext cx="7053534" cy="646331"/>
          </a:xfrm>
          <a:prstGeom prst="rect">
            <a:avLst/>
          </a:prstGeom>
          <a:noFill/>
        </p:spPr>
        <p:txBody>
          <a:bodyPr wrap="none" rtlCol="0">
            <a:spAutoFit/>
          </a:bodyPr>
          <a:lstStyle/>
          <a:p>
            <a:r>
              <a:rPr lang="en-US" dirty="0"/>
              <a:t>First find the </a:t>
            </a:r>
            <a:r>
              <a:rPr lang="en-US" dirty="0" err="1"/>
              <a:t>Thevenin</a:t>
            </a:r>
            <a:r>
              <a:rPr lang="en-US" dirty="0"/>
              <a:t> equivalent of the circuit to the left of a-b.</a:t>
            </a:r>
          </a:p>
          <a:p>
            <a:r>
              <a:rPr lang="en-US" dirty="0"/>
              <a:t>Apply nodal analysis to find the </a:t>
            </a:r>
            <a:r>
              <a:rPr lang="en-US" dirty="0" err="1"/>
              <a:t>v</a:t>
            </a:r>
            <a:r>
              <a:rPr lang="en-US" baseline="-25000" dirty="0" err="1"/>
              <a:t>Th</a:t>
            </a:r>
            <a:r>
              <a:rPr lang="en-US" dirty="0"/>
              <a:t>=v</a:t>
            </a:r>
            <a:r>
              <a:rPr lang="en-US" baseline="-25000" dirty="0"/>
              <a:t>oc</a:t>
            </a:r>
            <a:r>
              <a:rPr lang="en-US" dirty="0"/>
              <a:t>=</a:t>
            </a:r>
            <a:r>
              <a:rPr lang="en-US" dirty="0" err="1"/>
              <a:t>v</a:t>
            </a:r>
            <a:r>
              <a:rPr lang="en-US" baseline="-25000" dirty="0" err="1"/>
              <a:t>a</a:t>
            </a:r>
            <a:r>
              <a:rPr lang="en-US" baseline="-25000" dirty="0"/>
              <a:t> </a:t>
            </a:r>
            <a:r>
              <a:rPr lang="en-US" dirty="0"/>
              <a:t> with a-b open-circuited:</a:t>
            </a:r>
            <a:endParaRPr lang="en-US" baseline="-25000" dirty="0"/>
          </a:p>
        </p:txBody>
      </p:sp>
      <p:graphicFrame>
        <p:nvGraphicFramePr>
          <p:cNvPr id="281602" name="Object 2"/>
          <p:cNvGraphicFramePr>
            <a:graphicFrameLocks noChangeAspect="1"/>
          </p:cNvGraphicFramePr>
          <p:nvPr/>
        </p:nvGraphicFramePr>
        <p:xfrm>
          <a:off x="1900238" y="2286000"/>
          <a:ext cx="7129462" cy="657225"/>
        </p:xfrm>
        <a:graphic>
          <a:graphicData uri="http://schemas.openxmlformats.org/presentationml/2006/ole">
            <mc:AlternateContent xmlns:mc="http://schemas.openxmlformats.org/markup-compatibility/2006">
              <mc:Choice xmlns:v="urn:schemas-microsoft-com:vml" Requires="v">
                <p:oleObj name="Equation" r:id="rId4" imgW="4546440" imgH="419040" progId="Equation.3">
                  <p:embed/>
                </p:oleObj>
              </mc:Choice>
              <mc:Fallback>
                <p:oleObj name="Equation" r:id="rId4" imgW="4546440" imgH="4190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0238" y="2286000"/>
                        <a:ext cx="7129462" cy="657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Box 9"/>
          <p:cNvSpPr txBox="1"/>
          <p:nvPr/>
        </p:nvSpPr>
        <p:spPr>
          <a:xfrm>
            <a:off x="76200" y="2400300"/>
            <a:ext cx="1795107" cy="369332"/>
          </a:xfrm>
          <a:prstGeom prst="rect">
            <a:avLst/>
          </a:prstGeom>
          <a:noFill/>
        </p:spPr>
        <p:txBody>
          <a:bodyPr wrap="none" rtlCol="0">
            <a:spAutoFit/>
          </a:bodyPr>
          <a:lstStyle/>
          <a:p>
            <a:r>
              <a:rPr lang="en-US" dirty="0"/>
              <a:t>KCL @ Node a:</a:t>
            </a:r>
            <a:endParaRPr lang="tr-TR" dirty="0"/>
          </a:p>
        </p:txBody>
      </p:sp>
      <p:cxnSp>
        <p:nvCxnSpPr>
          <p:cNvPr id="12" name="Straight Connector 11"/>
          <p:cNvCxnSpPr/>
          <p:nvPr/>
        </p:nvCxnSpPr>
        <p:spPr>
          <a:xfrm rot="5400000">
            <a:off x="2724150" y="6115050"/>
            <a:ext cx="190500" cy="158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Isosceles Triangle 13"/>
          <p:cNvSpPr/>
          <p:nvPr/>
        </p:nvSpPr>
        <p:spPr>
          <a:xfrm flipV="1">
            <a:off x="2743200" y="6210300"/>
            <a:ext cx="152400" cy="114300"/>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5" name="Rectangle 14"/>
          <p:cNvSpPr/>
          <p:nvPr/>
        </p:nvSpPr>
        <p:spPr>
          <a:xfrm>
            <a:off x="3352800" y="4838700"/>
            <a:ext cx="952500" cy="1257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6" name="TextBox 15"/>
          <p:cNvSpPr txBox="1"/>
          <p:nvPr/>
        </p:nvSpPr>
        <p:spPr>
          <a:xfrm>
            <a:off x="1676400" y="4495800"/>
            <a:ext cx="312906" cy="369332"/>
          </a:xfrm>
          <a:prstGeom prst="rect">
            <a:avLst/>
          </a:prstGeom>
          <a:noFill/>
        </p:spPr>
        <p:txBody>
          <a:bodyPr wrap="none" rtlCol="0">
            <a:spAutoFit/>
          </a:bodyPr>
          <a:lstStyle/>
          <a:p>
            <a:r>
              <a:rPr lang="en-US" dirty="0"/>
              <a:t>1</a:t>
            </a:r>
            <a:endParaRPr lang="tr-TR" dirty="0"/>
          </a:p>
        </p:txBody>
      </p:sp>
      <p:graphicFrame>
        <p:nvGraphicFramePr>
          <p:cNvPr id="17" name="Object 2"/>
          <p:cNvGraphicFramePr>
            <a:graphicFrameLocks noChangeAspect="1"/>
          </p:cNvGraphicFramePr>
          <p:nvPr/>
        </p:nvGraphicFramePr>
        <p:xfrm>
          <a:off x="1981200" y="3038475"/>
          <a:ext cx="5994400" cy="657225"/>
        </p:xfrm>
        <a:graphic>
          <a:graphicData uri="http://schemas.openxmlformats.org/presentationml/2006/ole">
            <mc:AlternateContent xmlns:mc="http://schemas.openxmlformats.org/markup-compatibility/2006">
              <mc:Choice xmlns:v="urn:schemas-microsoft-com:vml" Requires="v">
                <p:oleObj name="Equation" r:id="rId6" imgW="3822480" imgH="419040" progId="Equation.3">
                  <p:embed/>
                </p:oleObj>
              </mc:Choice>
              <mc:Fallback>
                <p:oleObj name="Equation" r:id="rId6" imgW="3822480" imgH="4190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81200" y="3038475"/>
                        <a:ext cx="5994400" cy="657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TextBox 17"/>
          <p:cNvSpPr txBox="1"/>
          <p:nvPr/>
        </p:nvSpPr>
        <p:spPr>
          <a:xfrm>
            <a:off x="76200" y="3152775"/>
            <a:ext cx="1795107" cy="369332"/>
          </a:xfrm>
          <a:prstGeom prst="rect">
            <a:avLst/>
          </a:prstGeom>
          <a:noFill/>
        </p:spPr>
        <p:txBody>
          <a:bodyPr wrap="none" rtlCol="0">
            <a:spAutoFit/>
          </a:bodyPr>
          <a:lstStyle/>
          <a:p>
            <a:r>
              <a:rPr lang="en-US" dirty="0"/>
              <a:t>KCL @ Node 1:</a:t>
            </a:r>
            <a:endParaRPr lang="tr-TR" dirty="0"/>
          </a:p>
        </p:txBody>
      </p:sp>
      <p:sp>
        <p:nvSpPr>
          <p:cNvPr id="19" name="TextBox 18"/>
          <p:cNvSpPr txBox="1"/>
          <p:nvPr/>
        </p:nvSpPr>
        <p:spPr>
          <a:xfrm>
            <a:off x="4648200" y="4152900"/>
            <a:ext cx="1928733" cy="369332"/>
          </a:xfrm>
          <a:prstGeom prst="rect">
            <a:avLst/>
          </a:prstGeom>
          <a:noFill/>
        </p:spPr>
        <p:txBody>
          <a:bodyPr wrap="none" rtlCol="0">
            <a:spAutoFit/>
          </a:bodyPr>
          <a:lstStyle/>
          <a:p>
            <a:r>
              <a:rPr lang="en-US" dirty="0"/>
              <a:t>From (1) and (2):</a:t>
            </a:r>
            <a:endParaRPr lang="tr-TR" dirty="0"/>
          </a:p>
        </p:txBody>
      </p:sp>
      <p:graphicFrame>
        <p:nvGraphicFramePr>
          <p:cNvPr id="281604" name="Object 4"/>
          <p:cNvGraphicFramePr>
            <a:graphicFrameLocks noChangeAspect="1"/>
          </p:cNvGraphicFramePr>
          <p:nvPr/>
        </p:nvGraphicFramePr>
        <p:xfrm>
          <a:off x="5105400" y="4724400"/>
          <a:ext cx="2012950" cy="357188"/>
        </p:xfrm>
        <a:graphic>
          <a:graphicData uri="http://schemas.openxmlformats.org/presentationml/2006/ole">
            <mc:AlternateContent xmlns:mc="http://schemas.openxmlformats.org/markup-compatibility/2006">
              <mc:Choice xmlns:v="urn:schemas-microsoft-com:vml" Requires="v">
                <p:oleObj name="Equation" r:id="rId8" imgW="1282680" imgH="228600" progId="Equation.3">
                  <p:embed/>
                </p:oleObj>
              </mc:Choice>
              <mc:Fallback>
                <p:oleObj name="Equation" r:id="rId8" imgW="1282680" imgH="2286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05400" y="4724400"/>
                        <a:ext cx="2012950" cy="357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211357259"/>
      </p:ext>
    </p:extLst>
  </p:cSld>
  <p:clrMapOvr>
    <a:masterClrMapping/>
  </p:clrMapOvr>
  <p:transition spd="med"/>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Content Placeholder 2"/>
          <p:cNvSpPr>
            <a:spLocks noGrp="1"/>
          </p:cNvSpPr>
          <p:nvPr>
            <p:ph idx="1"/>
          </p:nvPr>
        </p:nvSpPr>
        <p:spPr>
          <a:xfrm>
            <a:off x="533400" y="723901"/>
            <a:ext cx="8229600" cy="5867400"/>
          </a:xfrm>
        </p:spPr>
        <p:txBody>
          <a:bodyPr/>
          <a:lstStyle/>
          <a:p>
            <a:pPr marL="457200" indent="-457200">
              <a:buAutoNum type="alphaLcParenR"/>
            </a:pPr>
            <a:r>
              <a:rPr lang="en-US" sz="2400" dirty="0"/>
              <a:t>Find the value of R that enables the circuit shown to deliver maximum power to the terminals </a:t>
            </a:r>
            <a:r>
              <a:rPr lang="en-US" sz="2400" dirty="0" err="1"/>
              <a:t>a,b</a:t>
            </a:r>
            <a:r>
              <a:rPr lang="en-US" sz="2400" dirty="0"/>
              <a:t>.</a:t>
            </a:r>
          </a:p>
          <a:p>
            <a:pPr>
              <a:buNone/>
            </a:pPr>
            <a:endParaRPr lang="en-US" sz="2400" dirty="0"/>
          </a:p>
          <a:p>
            <a:endParaRPr lang="en-US" sz="20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124</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219137" name="Picture 1"/>
          <p:cNvPicPr>
            <a:picLocks noChangeAspect="1" noChangeArrowheads="1"/>
          </p:cNvPicPr>
          <p:nvPr/>
        </p:nvPicPr>
        <p:blipFill>
          <a:blip r:embed="rId3" cstate="print"/>
          <a:srcRect/>
          <a:stretch>
            <a:fillRect/>
          </a:stretch>
        </p:blipFill>
        <p:spPr bwMode="auto">
          <a:xfrm>
            <a:off x="79699" y="4006850"/>
            <a:ext cx="3968001" cy="2546350"/>
          </a:xfrm>
          <a:prstGeom prst="rect">
            <a:avLst/>
          </a:prstGeom>
          <a:noFill/>
          <a:ln w="9525">
            <a:noFill/>
            <a:miter lim="800000"/>
            <a:headEnd/>
            <a:tailEnd/>
          </a:ln>
          <a:effectLst/>
        </p:spPr>
      </p:pic>
      <p:sp>
        <p:nvSpPr>
          <p:cNvPr id="7" name="TextBox 6"/>
          <p:cNvSpPr txBox="1"/>
          <p:nvPr/>
        </p:nvSpPr>
        <p:spPr>
          <a:xfrm>
            <a:off x="457200" y="1600200"/>
            <a:ext cx="6618158" cy="646331"/>
          </a:xfrm>
          <a:prstGeom prst="rect">
            <a:avLst/>
          </a:prstGeom>
          <a:noFill/>
        </p:spPr>
        <p:txBody>
          <a:bodyPr wrap="none" rtlCol="0">
            <a:spAutoFit/>
          </a:bodyPr>
          <a:lstStyle/>
          <a:p>
            <a:r>
              <a:rPr lang="en-US" dirty="0"/>
              <a:t>First find the </a:t>
            </a:r>
            <a:r>
              <a:rPr lang="en-US" dirty="0" err="1"/>
              <a:t>Thevenin</a:t>
            </a:r>
            <a:r>
              <a:rPr lang="en-US" dirty="0"/>
              <a:t> equivalent of the circuit to the left of a-b.</a:t>
            </a:r>
          </a:p>
          <a:p>
            <a:r>
              <a:rPr lang="en-US" dirty="0"/>
              <a:t>Apply nodal analysis to find </a:t>
            </a:r>
            <a:r>
              <a:rPr lang="en-US" dirty="0" err="1"/>
              <a:t>i</a:t>
            </a:r>
            <a:r>
              <a:rPr lang="en-US" baseline="-25000" dirty="0" err="1"/>
              <a:t>sc</a:t>
            </a:r>
            <a:r>
              <a:rPr lang="en-US" dirty="0"/>
              <a:t>:</a:t>
            </a:r>
            <a:endParaRPr lang="en-US" baseline="-25000" dirty="0"/>
          </a:p>
        </p:txBody>
      </p:sp>
      <p:cxnSp>
        <p:nvCxnSpPr>
          <p:cNvPr id="17" name="Straight Connector 16"/>
          <p:cNvCxnSpPr/>
          <p:nvPr/>
        </p:nvCxnSpPr>
        <p:spPr>
          <a:xfrm rot="5400000">
            <a:off x="2743200" y="5448300"/>
            <a:ext cx="1143000" cy="1588"/>
          </a:xfrm>
          <a:prstGeom prst="line">
            <a:avLst/>
          </a:pr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2819400" y="5334000"/>
            <a:ext cx="389850" cy="369332"/>
          </a:xfrm>
          <a:prstGeom prst="rect">
            <a:avLst/>
          </a:prstGeom>
          <a:noFill/>
        </p:spPr>
        <p:txBody>
          <a:bodyPr wrap="none" rtlCol="0">
            <a:spAutoFit/>
          </a:bodyPr>
          <a:lstStyle/>
          <a:p>
            <a:r>
              <a:rPr lang="en-US" dirty="0" err="1"/>
              <a:t>i</a:t>
            </a:r>
            <a:r>
              <a:rPr lang="en-US" baseline="-25000" dirty="0" err="1"/>
              <a:t>sc</a:t>
            </a:r>
            <a:endParaRPr lang="tr-TR" dirty="0"/>
          </a:p>
        </p:txBody>
      </p:sp>
      <p:sp>
        <p:nvSpPr>
          <p:cNvPr id="22" name="TextBox 21"/>
          <p:cNvSpPr txBox="1"/>
          <p:nvPr/>
        </p:nvSpPr>
        <p:spPr>
          <a:xfrm>
            <a:off x="1676400" y="4495800"/>
            <a:ext cx="312906" cy="369332"/>
          </a:xfrm>
          <a:prstGeom prst="rect">
            <a:avLst/>
          </a:prstGeom>
          <a:noFill/>
        </p:spPr>
        <p:txBody>
          <a:bodyPr wrap="none" rtlCol="0">
            <a:spAutoFit/>
          </a:bodyPr>
          <a:lstStyle/>
          <a:p>
            <a:r>
              <a:rPr lang="en-US" dirty="0"/>
              <a:t>1</a:t>
            </a:r>
            <a:endParaRPr lang="tr-TR" dirty="0"/>
          </a:p>
        </p:txBody>
      </p:sp>
      <p:cxnSp>
        <p:nvCxnSpPr>
          <p:cNvPr id="27" name="Straight Connector 26"/>
          <p:cNvCxnSpPr/>
          <p:nvPr/>
        </p:nvCxnSpPr>
        <p:spPr>
          <a:xfrm rot="5400000">
            <a:off x="2724150" y="6115050"/>
            <a:ext cx="190500" cy="158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Isosceles Triangle 27"/>
          <p:cNvSpPr/>
          <p:nvPr/>
        </p:nvSpPr>
        <p:spPr>
          <a:xfrm flipV="1">
            <a:off x="2743200" y="6210300"/>
            <a:ext cx="152400" cy="114300"/>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cxnSp>
        <p:nvCxnSpPr>
          <p:cNvPr id="30" name="Straight Connector 29"/>
          <p:cNvCxnSpPr/>
          <p:nvPr/>
        </p:nvCxnSpPr>
        <p:spPr>
          <a:xfrm rot="5400000">
            <a:off x="3067844" y="5466556"/>
            <a:ext cx="266700" cy="1588"/>
          </a:xfrm>
          <a:prstGeom prst="line">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31" name="Object 2"/>
          <p:cNvGraphicFramePr>
            <a:graphicFrameLocks noChangeAspect="1"/>
          </p:cNvGraphicFramePr>
          <p:nvPr/>
        </p:nvGraphicFramePr>
        <p:xfrm>
          <a:off x="2478088" y="2247900"/>
          <a:ext cx="4379912" cy="657225"/>
        </p:xfrm>
        <a:graphic>
          <a:graphicData uri="http://schemas.openxmlformats.org/presentationml/2006/ole">
            <mc:AlternateContent xmlns:mc="http://schemas.openxmlformats.org/markup-compatibility/2006">
              <mc:Choice xmlns:v="urn:schemas-microsoft-com:vml" Requires="v">
                <p:oleObj name="Equation" r:id="rId4" imgW="2793960" imgH="419040" progId="Equation.3">
                  <p:embed/>
                </p:oleObj>
              </mc:Choice>
              <mc:Fallback>
                <p:oleObj name="Equation" r:id="rId4" imgW="2793960" imgH="4190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78088" y="2247900"/>
                        <a:ext cx="4379912" cy="657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 name="TextBox 31"/>
          <p:cNvSpPr txBox="1"/>
          <p:nvPr/>
        </p:nvSpPr>
        <p:spPr>
          <a:xfrm>
            <a:off x="534988" y="2400300"/>
            <a:ext cx="1795107" cy="369332"/>
          </a:xfrm>
          <a:prstGeom prst="rect">
            <a:avLst/>
          </a:prstGeom>
          <a:noFill/>
        </p:spPr>
        <p:txBody>
          <a:bodyPr wrap="none" rtlCol="0">
            <a:spAutoFit/>
          </a:bodyPr>
          <a:lstStyle/>
          <a:p>
            <a:r>
              <a:rPr lang="en-US" dirty="0"/>
              <a:t>KCL @ Node 1:</a:t>
            </a:r>
            <a:endParaRPr lang="tr-TR" dirty="0"/>
          </a:p>
        </p:txBody>
      </p:sp>
      <p:sp>
        <p:nvSpPr>
          <p:cNvPr id="33" name="Rectangle 32"/>
          <p:cNvSpPr/>
          <p:nvPr/>
        </p:nvSpPr>
        <p:spPr>
          <a:xfrm>
            <a:off x="3352800" y="4838700"/>
            <a:ext cx="952500" cy="1257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4" name="TextBox 33"/>
          <p:cNvSpPr txBox="1"/>
          <p:nvPr/>
        </p:nvSpPr>
        <p:spPr>
          <a:xfrm>
            <a:off x="534988" y="3126343"/>
            <a:ext cx="1795107" cy="369332"/>
          </a:xfrm>
          <a:prstGeom prst="rect">
            <a:avLst/>
          </a:prstGeom>
          <a:noFill/>
        </p:spPr>
        <p:txBody>
          <a:bodyPr wrap="none" rtlCol="0">
            <a:spAutoFit/>
          </a:bodyPr>
          <a:lstStyle/>
          <a:p>
            <a:r>
              <a:rPr lang="en-US" dirty="0"/>
              <a:t>KCL @ Node a:</a:t>
            </a:r>
            <a:endParaRPr lang="tr-TR" dirty="0"/>
          </a:p>
        </p:txBody>
      </p:sp>
      <p:graphicFrame>
        <p:nvGraphicFramePr>
          <p:cNvPr id="282630" name="Object 6"/>
          <p:cNvGraphicFramePr>
            <a:graphicFrameLocks noChangeAspect="1"/>
          </p:cNvGraphicFramePr>
          <p:nvPr/>
        </p:nvGraphicFramePr>
        <p:xfrm>
          <a:off x="2592388" y="2962275"/>
          <a:ext cx="3465512" cy="657225"/>
        </p:xfrm>
        <a:graphic>
          <a:graphicData uri="http://schemas.openxmlformats.org/presentationml/2006/ole">
            <mc:AlternateContent xmlns:mc="http://schemas.openxmlformats.org/markup-compatibility/2006">
              <mc:Choice xmlns:v="urn:schemas-microsoft-com:vml" Requires="v">
                <p:oleObj name="Equation" r:id="rId6" imgW="2209680" imgH="419040" progId="Equation.3">
                  <p:embed/>
                </p:oleObj>
              </mc:Choice>
              <mc:Fallback>
                <p:oleObj name="Equation" r:id="rId6" imgW="2209680" imgH="4190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92388" y="2962275"/>
                        <a:ext cx="3465512" cy="657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itle 1"/>
          <p:cNvSpPr>
            <a:spLocks noGrp="1"/>
          </p:cNvSpPr>
          <p:nvPr>
            <p:ph type="title"/>
          </p:nvPr>
        </p:nvSpPr>
        <p:spPr>
          <a:xfrm>
            <a:off x="190500" y="122237"/>
            <a:ext cx="7277100" cy="563563"/>
          </a:xfrm>
        </p:spPr>
        <p:txBody>
          <a:bodyPr/>
          <a:lstStyle/>
          <a:p>
            <a:r>
              <a:rPr lang="en-US" sz="3200" dirty="0"/>
              <a:t>Example: N &amp; R AP 4.21 &amp; 4.22 - Solution</a:t>
            </a:r>
          </a:p>
        </p:txBody>
      </p:sp>
    </p:spTree>
    <p:extLst>
      <p:ext uri="{BB962C8B-B14F-4D97-AF65-F5344CB8AC3E}">
        <p14:creationId xmlns:p14="http://schemas.microsoft.com/office/powerpoint/2010/main" val="2761080069"/>
      </p:ext>
    </p:extLst>
  </p:cSld>
  <p:clrMapOvr>
    <a:masterClrMapping/>
  </p:clrMapOvr>
  <p:transition spd="med"/>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Content Placeholder 2"/>
          <p:cNvSpPr>
            <a:spLocks noGrp="1"/>
          </p:cNvSpPr>
          <p:nvPr>
            <p:ph idx="1"/>
          </p:nvPr>
        </p:nvSpPr>
        <p:spPr>
          <a:xfrm>
            <a:off x="533400" y="723901"/>
            <a:ext cx="8229600" cy="5867400"/>
          </a:xfrm>
        </p:spPr>
        <p:txBody>
          <a:bodyPr/>
          <a:lstStyle/>
          <a:p>
            <a:pPr marL="457200" indent="-457200">
              <a:buAutoNum type="alphaLcParenR"/>
            </a:pPr>
            <a:r>
              <a:rPr lang="en-US" sz="2400" dirty="0"/>
              <a:t>Find the value of R that enables the circuit shown to deliver maximum power to the terminals </a:t>
            </a:r>
            <a:r>
              <a:rPr lang="en-US" sz="2400" dirty="0" err="1"/>
              <a:t>a,b</a:t>
            </a:r>
            <a:r>
              <a:rPr lang="en-US" sz="2400" dirty="0"/>
              <a:t>.</a:t>
            </a:r>
          </a:p>
          <a:p>
            <a:pPr marL="457200" indent="-457200">
              <a:buAutoNum type="alphaLcParenR"/>
            </a:pPr>
            <a:endParaRPr lang="en-US" sz="2400" dirty="0"/>
          </a:p>
          <a:p>
            <a:pPr marL="457200" indent="-457200">
              <a:buAutoNum type="alphaLcParenR"/>
            </a:pPr>
            <a:endParaRPr lang="en-US" sz="2400" dirty="0"/>
          </a:p>
          <a:p>
            <a:pPr marL="457200" indent="-457200">
              <a:buAutoNum type="alphaLcParenR"/>
            </a:pPr>
            <a:endParaRPr lang="en-US" sz="2400" dirty="0"/>
          </a:p>
          <a:p>
            <a:pPr marL="457200" indent="-457200">
              <a:buAutoNum type="alphaLcParenR"/>
            </a:pPr>
            <a:endParaRPr lang="en-US" sz="2400" dirty="0"/>
          </a:p>
          <a:p>
            <a:pPr marL="457200" indent="-457200">
              <a:buAutoNum type="alphaLcParenR"/>
            </a:pPr>
            <a:endParaRPr lang="en-US" sz="2400" dirty="0"/>
          </a:p>
          <a:p>
            <a:pPr marL="457200" indent="-457200">
              <a:buAutoNum type="alphaLcParenR"/>
            </a:pPr>
            <a:endParaRPr lang="en-US" sz="2400" dirty="0"/>
          </a:p>
          <a:p>
            <a:pPr marL="457200" indent="-457200">
              <a:buAutoNum type="alphaLcParenR"/>
            </a:pPr>
            <a:endParaRPr lang="en-US" sz="2400" dirty="0"/>
          </a:p>
          <a:p>
            <a:pPr marL="457200" indent="-457200">
              <a:buNone/>
            </a:pPr>
            <a:endParaRPr lang="en-US" sz="2400" dirty="0"/>
          </a:p>
          <a:p>
            <a:pPr>
              <a:buNone/>
            </a:pPr>
            <a:endParaRPr lang="en-US" sz="2400" dirty="0"/>
          </a:p>
          <a:p>
            <a:endParaRPr lang="en-US" sz="20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125</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7" name="TextBox 6"/>
          <p:cNvSpPr txBox="1"/>
          <p:nvPr/>
        </p:nvSpPr>
        <p:spPr>
          <a:xfrm>
            <a:off x="457200" y="1600200"/>
            <a:ext cx="6618158" cy="646331"/>
          </a:xfrm>
          <a:prstGeom prst="rect">
            <a:avLst/>
          </a:prstGeom>
          <a:noFill/>
        </p:spPr>
        <p:txBody>
          <a:bodyPr wrap="none" rtlCol="0">
            <a:spAutoFit/>
          </a:bodyPr>
          <a:lstStyle/>
          <a:p>
            <a:r>
              <a:rPr lang="en-US" dirty="0"/>
              <a:t>First find the </a:t>
            </a:r>
            <a:r>
              <a:rPr lang="en-US" dirty="0" err="1"/>
              <a:t>Thevenin</a:t>
            </a:r>
            <a:r>
              <a:rPr lang="en-US" dirty="0"/>
              <a:t> equivalent of the circuit to the left of a-b.</a:t>
            </a:r>
          </a:p>
          <a:p>
            <a:r>
              <a:rPr lang="en-US" dirty="0"/>
              <a:t>Therefore:</a:t>
            </a:r>
            <a:endParaRPr lang="en-US" baseline="-25000" dirty="0"/>
          </a:p>
        </p:txBody>
      </p:sp>
      <p:sp>
        <p:nvSpPr>
          <p:cNvPr id="19" name="TextBox 18"/>
          <p:cNvSpPr txBox="1"/>
          <p:nvPr/>
        </p:nvSpPr>
        <p:spPr>
          <a:xfrm>
            <a:off x="571500" y="2247900"/>
            <a:ext cx="4262705" cy="923330"/>
          </a:xfrm>
          <a:prstGeom prst="rect">
            <a:avLst/>
          </a:prstGeom>
          <a:noFill/>
        </p:spPr>
        <p:txBody>
          <a:bodyPr wrap="none" rtlCol="0">
            <a:spAutoFit/>
          </a:bodyPr>
          <a:lstStyle/>
          <a:p>
            <a:r>
              <a:rPr lang="en-US" dirty="0"/>
              <a:t>From (3) and (4):			and</a:t>
            </a:r>
          </a:p>
          <a:p>
            <a:endParaRPr lang="en-US" dirty="0"/>
          </a:p>
          <a:p>
            <a:r>
              <a:rPr lang="en-US" dirty="0"/>
              <a:t>Equivalent circuit:</a:t>
            </a:r>
            <a:endParaRPr lang="tr-TR" dirty="0"/>
          </a:p>
        </p:txBody>
      </p:sp>
      <p:graphicFrame>
        <p:nvGraphicFramePr>
          <p:cNvPr id="20" name="Object 4"/>
          <p:cNvGraphicFramePr>
            <a:graphicFrameLocks noChangeAspect="1"/>
          </p:cNvGraphicFramePr>
          <p:nvPr/>
        </p:nvGraphicFramePr>
        <p:xfrm>
          <a:off x="4926012" y="2144713"/>
          <a:ext cx="2351088" cy="674687"/>
        </p:xfrm>
        <a:graphic>
          <a:graphicData uri="http://schemas.openxmlformats.org/presentationml/2006/ole">
            <mc:AlternateContent xmlns:mc="http://schemas.openxmlformats.org/markup-compatibility/2006">
              <mc:Choice xmlns:v="urn:schemas-microsoft-com:vml" Requires="v">
                <p:oleObj name="Equation" r:id="rId3" imgW="1498320" imgH="431640" progId="Equation.3">
                  <p:embed/>
                </p:oleObj>
              </mc:Choice>
              <mc:Fallback>
                <p:oleObj name="Equation" r:id="rId3" imgW="1498320" imgH="431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6012" y="2144713"/>
                        <a:ext cx="2351088" cy="674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3653" name="Object 5"/>
          <p:cNvGraphicFramePr>
            <a:graphicFrameLocks noChangeAspect="1"/>
          </p:cNvGraphicFramePr>
          <p:nvPr/>
        </p:nvGraphicFramePr>
        <p:xfrm>
          <a:off x="2460625" y="2271712"/>
          <a:ext cx="1654175" cy="357188"/>
        </p:xfrm>
        <a:graphic>
          <a:graphicData uri="http://schemas.openxmlformats.org/presentationml/2006/ole">
            <mc:AlternateContent xmlns:mc="http://schemas.openxmlformats.org/markup-compatibility/2006">
              <mc:Choice xmlns:v="urn:schemas-microsoft-com:vml" Requires="v">
                <p:oleObj name="Equation" r:id="rId5" imgW="1054080" imgH="228600" progId="Equation.3">
                  <p:embed/>
                </p:oleObj>
              </mc:Choice>
              <mc:Fallback>
                <p:oleObj name="Equation" r:id="rId5" imgW="105408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60625" y="2271712"/>
                        <a:ext cx="1654175" cy="357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83655" name="Picture 7"/>
          <p:cNvPicPr>
            <a:picLocks noChangeAspect="1" noChangeArrowheads="1"/>
          </p:cNvPicPr>
          <p:nvPr/>
        </p:nvPicPr>
        <p:blipFill>
          <a:blip r:embed="rId7" cstate="print"/>
          <a:srcRect/>
          <a:stretch>
            <a:fillRect/>
          </a:stretch>
        </p:blipFill>
        <p:spPr bwMode="auto">
          <a:xfrm>
            <a:off x="419100" y="3162300"/>
            <a:ext cx="2793974" cy="1638300"/>
          </a:xfrm>
          <a:prstGeom prst="rect">
            <a:avLst/>
          </a:prstGeom>
          <a:noFill/>
          <a:ln w="9525">
            <a:noFill/>
            <a:miter lim="800000"/>
            <a:headEnd/>
            <a:tailEnd/>
          </a:ln>
          <a:effectLst/>
        </p:spPr>
      </p:pic>
      <p:sp>
        <p:nvSpPr>
          <p:cNvPr id="24" name="TextBox 23"/>
          <p:cNvSpPr txBox="1"/>
          <p:nvPr/>
        </p:nvSpPr>
        <p:spPr>
          <a:xfrm>
            <a:off x="3827463" y="3900487"/>
            <a:ext cx="2223750" cy="369332"/>
          </a:xfrm>
          <a:prstGeom prst="rect">
            <a:avLst/>
          </a:prstGeom>
          <a:noFill/>
        </p:spPr>
        <p:txBody>
          <a:bodyPr wrap="none" rtlCol="0">
            <a:spAutoFit/>
          </a:bodyPr>
          <a:lstStyle/>
          <a:p>
            <a:r>
              <a:rPr lang="en-US" dirty="0"/>
              <a:t>To maximize power:</a:t>
            </a:r>
            <a:endParaRPr lang="tr-TR" dirty="0"/>
          </a:p>
        </p:txBody>
      </p:sp>
      <p:graphicFrame>
        <p:nvGraphicFramePr>
          <p:cNvPr id="283656" name="Object 8"/>
          <p:cNvGraphicFramePr>
            <a:graphicFrameLocks noChangeAspect="1"/>
          </p:cNvGraphicFramePr>
          <p:nvPr/>
        </p:nvGraphicFramePr>
        <p:xfrm>
          <a:off x="6075363" y="3929062"/>
          <a:ext cx="1354137" cy="376238"/>
        </p:xfrm>
        <a:graphic>
          <a:graphicData uri="http://schemas.openxmlformats.org/presentationml/2006/ole">
            <mc:AlternateContent xmlns:mc="http://schemas.openxmlformats.org/markup-compatibility/2006">
              <mc:Choice xmlns:v="urn:schemas-microsoft-com:vml" Requires="v">
                <p:oleObj name="Equation" r:id="rId8" imgW="863280" imgH="241200" progId="Equation.3">
                  <p:embed/>
                </p:oleObj>
              </mc:Choice>
              <mc:Fallback>
                <p:oleObj name="Equation" r:id="rId8" imgW="863280" imgH="2412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75363" y="3929062"/>
                        <a:ext cx="1354137" cy="376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Title 1"/>
          <p:cNvSpPr>
            <a:spLocks noGrp="1"/>
          </p:cNvSpPr>
          <p:nvPr>
            <p:ph type="title"/>
          </p:nvPr>
        </p:nvSpPr>
        <p:spPr>
          <a:xfrm>
            <a:off x="190500" y="122237"/>
            <a:ext cx="7277100" cy="563563"/>
          </a:xfrm>
        </p:spPr>
        <p:txBody>
          <a:bodyPr/>
          <a:lstStyle/>
          <a:p>
            <a:r>
              <a:rPr lang="en-US" sz="3200" dirty="0"/>
              <a:t>Example: N &amp; R AP 4.21 &amp; 4.22 - Solution</a:t>
            </a:r>
          </a:p>
        </p:txBody>
      </p:sp>
    </p:spTree>
    <p:extLst>
      <p:ext uri="{BB962C8B-B14F-4D97-AF65-F5344CB8AC3E}">
        <p14:creationId xmlns:p14="http://schemas.microsoft.com/office/powerpoint/2010/main" val="1027762774"/>
      </p:ext>
    </p:extLst>
  </p:cSld>
  <p:clrMapOvr>
    <a:masterClrMapping/>
  </p:clrMapOvr>
  <p:transition spd="med"/>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Content Placeholder 2"/>
          <p:cNvSpPr>
            <a:spLocks noGrp="1"/>
          </p:cNvSpPr>
          <p:nvPr>
            <p:ph idx="1"/>
          </p:nvPr>
        </p:nvSpPr>
        <p:spPr>
          <a:xfrm>
            <a:off x="533400" y="723901"/>
            <a:ext cx="8229600" cy="5867400"/>
          </a:xfrm>
        </p:spPr>
        <p:txBody>
          <a:bodyPr/>
          <a:lstStyle/>
          <a:p>
            <a:pPr marL="457200" indent="-457200">
              <a:buAutoNum type="alphaLcParenR"/>
            </a:pPr>
            <a:r>
              <a:rPr lang="en-US" sz="2400" dirty="0"/>
              <a:t>Find the value of R that enables the circuit shown to deliver maximum power to the terminals </a:t>
            </a:r>
            <a:r>
              <a:rPr lang="en-US" sz="2400" dirty="0" err="1"/>
              <a:t>a,b</a:t>
            </a:r>
            <a:r>
              <a:rPr lang="en-US" sz="2400" dirty="0"/>
              <a:t>.</a:t>
            </a:r>
          </a:p>
          <a:p>
            <a:pPr marL="457200" indent="-457200">
              <a:buAutoNum type="alphaLcParenR"/>
            </a:pPr>
            <a:endParaRPr lang="en-US" sz="2400" dirty="0"/>
          </a:p>
          <a:p>
            <a:pPr marL="457200" indent="-457200">
              <a:buAutoNum type="alphaLcParenR"/>
            </a:pPr>
            <a:endParaRPr lang="en-US" sz="2400" dirty="0"/>
          </a:p>
          <a:p>
            <a:pPr marL="457200" indent="-457200">
              <a:buAutoNum type="alphaLcParenR"/>
            </a:pPr>
            <a:endParaRPr lang="en-US" sz="2400" dirty="0"/>
          </a:p>
          <a:p>
            <a:pPr marL="457200" indent="-457200">
              <a:buAutoNum type="alphaLcParenR"/>
            </a:pPr>
            <a:endParaRPr lang="en-US" sz="2400" dirty="0"/>
          </a:p>
          <a:p>
            <a:pPr marL="457200" indent="-457200">
              <a:buAutoNum type="alphaLcParenR"/>
            </a:pPr>
            <a:endParaRPr lang="en-US" sz="2400" dirty="0"/>
          </a:p>
          <a:p>
            <a:pPr marL="457200" indent="-457200">
              <a:buAutoNum type="alphaLcParenR"/>
            </a:pPr>
            <a:endParaRPr lang="en-US" sz="2400" dirty="0"/>
          </a:p>
          <a:p>
            <a:pPr marL="457200" indent="-457200">
              <a:buAutoNum type="alphaLcParenR"/>
            </a:pPr>
            <a:endParaRPr lang="en-US" sz="2400" dirty="0"/>
          </a:p>
          <a:p>
            <a:pPr marL="457200" indent="-457200">
              <a:buAutoNum type="alphaLcParenR"/>
            </a:pPr>
            <a:endParaRPr lang="en-US" sz="2400" dirty="0"/>
          </a:p>
          <a:p>
            <a:pPr marL="457200" indent="-457200">
              <a:buFont typeface="Arial" charset="0"/>
              <a:buAutoNum type="alphaLcParenR"/>
            </a:pPr>
            <a:r>
              <a:rPr lang="en-US" sz="2400" dirty="0"/>
              <a:t>Find the maximum power delivered to R.</a:t>
            </a:r>
          </a:p>
          <a:p>
            <a:pPr marL="457200" indent="-457200">
              <a:buNone/>
            </a:pPr>
            <a:endParaRPr lang="en-US" sz="2400" dirty="0"/>
          </a:p>
          <a:p>
            <a:pPr>
              <a:buNone/>
            </a:pPr>
            <a:endParaRPr lang="en-US" sz="2400" dirty="0"/>
          </a:p>
          <a:p>
            <a:endParaRPr lang="en-US" sz="20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126</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7" name="TextBox 6"/>
          <p:cNvSpPr txBox="1"/>
          <p:nvPr/>
        </p:nvSpPr>
        <p:spPr>
          <a:xfrm>
            <a:off x="457200" y="1600200"/>
            <a:ext cx="6618158" cy="646331"/>
          </a:xfrm>
          <a:prstGeom prst="rect">
            <a:avLst/>
          </a:prstGeom>
          <a:noFill/>
        </p:spPr>
        <p:txBody>
          <a:bodyPr wrap="none" rtlCol="0">
            <a:spAutoFit/>
          </a:bodyPr>
          <a:lstStyle/>
          <a:p>
            <a:r>
              <a:rPr lang="en-US" dirty="0"/>
              <a:t>First find the </a:t>
            </a:r>
            <a:r>
              <a:rPr lang="en-US" dirty="0" err="1"/>
              <a:t>Thevenin</a:t>
            </a:r>
            <a:r>
              <a:rPr lang="en-US" dirty="0"/>
              <a:t> equivalent of the circuit to the left of a-b.</a:t>
            </a:r>
          </a:p>
          <a:p>
            <a:r>
              <a:rPr lang="en-US" dirty="0"/>
              <a:t>Therefore:</a:t>
            </a:r>
            <a:endParaRPr lang="en-US" baseline="-25000" dirty="0"/>
          </a:p>
        </p:txBody>
      </p:sp>
      <p:sp>
        <p:nvSpPr>
          <p:cNvPr id="19" name="TextBox 18"/>
          <p:cNvSpPr txBox="1"/>
          <p:nvPr/>
        </p:nvSpPr>
        <p:spPr>
          <a:xfrm>
            <a:off x="571500" y="2247900"/>
            <a:ext cx="4262705" cy="923330"/>
          </a:xfrm>
          <a:prstGeom prst="rect">
            <a:avLst/>
          </a:prstGeom>
          <a:noFill/>
        </p:spPr>
        <p:txBody>
          <a:bodyPr wrap="none" rtlCol="0">
            <a:spAutoFit/>
          </a:bodyPr>
          <a:lstStyle/>
          <a:p>
            <a:r>
              <a:rPr lang="en-US" dirty="0"/>
              <a:t>From (3) and (4):			and</a:t>
            </a:r>
          </a:p>
          <a:p>
            <a:endParaRPr lang="en-US" dirty="0"/>
          </a:p>
          <a:p>
            <a:r>
              <a:rPr lang="en-US" dirty="0"/>
              <a:t>Equivalent circuit:</a:t>
            </a:r>
            <a:endParaRPr lang="tr-TR" dirty="0"/>
          </a:p>
        </p:txBody>
      </p:sp>
      <p:graphicFrame>
        <p:nvGraphicFramePr>
          <p:cNvPr id="20" name="Object 4"/>
          <p:cNvGraphicFramePr>
            <a:graphicFrameLocks noChangeAspect="1"/>
          </p:cNvGraphicFramePr>
          <p:nvPr/>
        </p:nvGraphicFramePr>
        <p:xfrm>
          <a:off x="4926012" y="2144713"/>
          <a:ext cx="2351088" cy="674687"/>
        </p:xfrm>
        <a:graphic>
          <a:graphicData uri="http://schemas.openxmlformats.org/presentationml/2006/ole">
            <mc:AlternateContent xmlns:mc="http://schemas.openxmlformats.org/markup-compatibility/2006">
              <mc:Choice xmlns:v="urn:schemas-microsoft-com:vml" Requires="v">
                <p:oleObj name="Equation" r:id="rId3" imgW="1498320" imgH="431640" progId="Equation.3">
                  <p:embed/>
                </p:oleObj>
              </mc:Choice>
              <mc:Fallback>
                <p:oleObj name="Equation" r:id="rId3" imgW="1498320" imgH="431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6012" y="2144713"/>
                        <a:ext cx="2351088" cy="674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3653" name="Object 5"/>
          <p:cNvGraphicFramePr>
            <a:graphicFrameLocks noChangeAspect="1"/>
          </p:cNvGraphicFramePr>
          <p:nvPr/>
        </p:nvGraphicFramePr>
        <p:xfrm>
          <a:off x="2460625" y="2271712"/>
          <a:ext cx="1654175" cy="357188"/>
        </p:xfrm>
        <a:graphic>
          <a:graphicData uri="http://schemas.openxmlformats.org/presentationml/2006/ole">
            <mc:AlternateContent xmlns:mc="http://schemas.openxmlformats.org/markup-compatibility/2006">
              <mc:Choice xmlns:v="urn:schemas-microsoft-com:vml" Requires="v">
                <p:oleObj name="Equation" r:id="rId5" imgW="1054080" imgH="228600" progId="Equation.3">
                  <p:embed/>
                </p:oleObj>
              </mc:Choice>
              <mc:Fallback>
                <p:oleObj name="Equation" r:id="rId5" imgW="105408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60625" y="2271712"/>
                        <a:ext cx="1654175" cy="357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83655" name="Picture 7"/>
          <p:cNvPicPr>
            <a:picLocks noChangeAspect="1" noChangeArrowheads="1"/>
          </p:cNvPicPr>
          <p:nvPr/>
        </p:nvPicPr>
        <p:blipFill>
          <a:blip r:embed="rId7" cstate="print"/>
          <a:srcRect/>
          <a:stretch>
            <a:fillRect/>
          </a:stretch>
        </p:blipFill>
        <p:spPr bwMode="auto">
          <a:xfrm>
            <a:off x="419100" y="3162300"/>
            <a:ext cx="2793974" cy="1638300"/>
          </a:xfrm>
          <a:prstGeom prst="rect">
            <a:avLst/>
          </a:prstGeom>
          <a:noFill/>
          <a:ln w="9525">
            <a:noFill/>
            <a:miter lim="800000"/>
            <a:headEnd/>
            <a:tailEnd/>
          </a:ln>
          <a:effectLst/>
        </p:spPr>
      </p:pic>
      <p:sp>
        <p:nvSpPr>
          <p:cNvPr id="24" name="TextBox 23"/>
          <p:cNvSpPr txBox="1"/>
          <p:nvPr/>
        </p:nvSpPr>
        <p:spPr>
          <a:xfrm>
            <a:off x="3827463" y="3900487"/>
            <a:ext cx="2223750" cy="369332"/>
          </a:xfrm>
          <a:prstGeom prst="rect">
            <a:avLst/>
          </a:prstGeom>
          <a:noFill/>
        </p:spPr>
        <p:txBody>
          <a:bodyPr wrap="none" rtlCol="0">
            <a:spAutoFit/>
          </a:bodyPr>
          <a:lstStyle/>
          <a:p>
            <a:r>
              <a:rPr lang="en-US" dirty="0"/>
              <a:t>To maximize power:</a:t>
            </a:r>
            <a:endParaRPr lang="tr-TR" dirty="0"/>
          </a:p>
        </p:txBody>
      </p:sp>
      <p:graphicFrame>
        <p:nvGraphicFramePr>
          <p:cNvPr id="283656" name="Object 8"/>
          <p:cNvGraphicFramePr>
            <a:graphicFrameLocks noChangeAspect="1"/>
          </p:cNvGraphicFramePr>
          <p:nvPr/>
        </p:nvGraphicFramePr>
        <p:xfrm>
          <a:off x="6075363" y="3929062"/>
          <a:ext cx="1354137" cy="376238"/>
        </p:xfrm>
        <a:graphic>
          <a:graphicData uri="http://schemas.openxmlformats.org/presentationml/2006/ole">
            <mc:AlternateContent xmlns:mc="http://schemas.openxmlformats.org/markup-compatibility/2006">
              <mc:Choice xmlns:v="urn:schemas-microsoft-com:vml" Requires="v">
                <p:oleObj name="Equation" r:id="rId8" imgW="863280" imgH="241200" progId="Equation.3">
                  <p:embed/>
                </p:oleObj>
              </mc:Choice>
              <mc:Fallback>
                <p:oleObj name="Equation" r:id="rId8" imgW="863280" imgH="2412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75363" y="3929062"/>
                        <a:ext cx="1354137" cy="376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TextBox 13"/>
          <p:cNvSpPr txBox="1"/>
          <p:nvPr/>
        </p:nvSpPr>
        <p:spPr>
          <a:xfrm>
            <a:off x="1066800" y="5676900"/>
            <a:ext cx="1967205" cy="369332"/>
          </a:xfrm>
          <a:prstGeom prst="rect">
            <a:avLst/>
          </a:prstGeom>
          <a:noFill/>
        </p:spPr>
        <p:txBody>
          <a:bodyPr wrap="none" rtlCol="0">
            <a:spAutoFit/>
          </a:bodyPr>
          <a:lstStyle/>
          <a:p>
            <a:r>
              <a:rPr lang="en-US" dirty="0"/>
              <a:t>Maximum Power:</a:t>
            </a:r>
            <a:endParaRPr lang="tr-TR" dirty="0"/>
          </a:p>
        </p:txBody>
      </p:sp>
      <p:graphicFrame>
        <p:nvGraphicFramePr>
          <p:cNvPr id="15" name="Object 8"/>
          <p:cNvGraphicFramePr>
            <a:graphicFrameLocks noChangeAspect="1"/>
          </p:cNvGraphicFramePr>
          <p:nvPr/>
        </p:nvGraphicFramePr>
        <p:xfrm>
          <a:off x="3048000" y="5478462"/>
          <a:ext cx="3983038" cy="731838"/>
        </p:xfrm>
        <a:graphic>
          <a:graphicData uri="http://schemas.openxmlformats.org/presentationml/2006/ole">
            <mc:AlternateContent xmlns:mc="http://schemas.openxmlformats.org/markup-compatibility/2006">
              <mc:Choice xmlns:v="urn:schemas-microsoft-com:vml" Requires="v">
                <p:oleObj name="Equation" r:id="rId10" imgW="2539800" imgH="469800" progId="Equation.3">
                  <p:embed/>
                </p:oleObj>
              </mc:Choice>
              <mc:Fallback>
                <p:oleObj name="Equation" r:id="rId10" imgW="2539800" imgH="4698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48000" y="5478462"/>
                        <a:ext cx="3983038" cy="731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Title 1"/>
          <p:cNvSpPr>
            <a:spLocks noGrp="1"/>
          </p:cNvSpPr>
          <p:nvPr>
            <p:ph type="title"/>
          </p:nvPr>
        </p:nvSpPr>
        <p:spPr>
          <a:xfrm>
            <a:off x="190500" y="122237"/>
            <a:ext cx="7277100" cy="563563"/>
          </a:xfrm>
        </p:spPr>
        <p:txBody>
          <a:bodyPr/>
          <a:lstStyle/>
          <a:p>
            <a:r>
              <a:rPr lang="en-US" sz="3200" dirty="0"/>
              <a:t>Example: N &amp; R AP 4.21 &amp; 4.22 - Solution</a:t>
            </a:r>
          </a:p>
        </p:txBody>
      </p:sp>
    </p:spTree>
    <p:extLst>
      <p:ext uri="{BB962C8B-B14F-4D97-AF65-F5344CB8AC3E}">
        <p14:creationId xmlns:p14="http://schemas.microsoft.com/office/powerpoint/2010/main" val="2819642793"/>
      </p:ext>
    </p:extLst>
  </p:cSld>
  <p:clrMapOvr>
    <a:masterClrMapping/>
  </p:clrMapOvr>
  <p:transition spd="med"/>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Picture 1"/>
          <p:cNvPicPr>
            <a:picLocks noChangeAspect="1" noChangeArrowheads="1"/>
          </p:cNvPicPr>
          <p:nvPr/>
        </p:nvPicPr>
        <p:blipFill>
          <a:blip r:embed="rId3" cstate="print"/>
          <a:srcRect/>
          <a:stretch>
            <a:fillRect/>
          </a:stretch>
        </p:blipFill>
        <p:spPr bwMode="auto">
          <a:xfrm>
            <a:off x="79699" y="4006850"/>
            <a:ext cx="3968001" cy="2546350"/>
          </a:xfrm>
          <a:prstGeom prst="rect">
            <a:avLst/>
          </a:prstGeom>
          <a:noFill/>
          <a:ln w="9525">
            <a:noFill/>
            <a:miter lim="800000"/>
            <a:headEnd/>
            <a:tailEnd/>
          </a:ln>
          <a:effectLst/>
        </p:spPr>
      </p:pic>
      <p:sp>
        <p:nvSpPr>
          <p:cNvPr id="6147" name="Content Placeholder 2"/>
          <p:cNvSpPr>
            <a:spLocks noGrp="1"/>
          </p:cNvSpPr>
          <p:nvPr>
            <p:ph idx="1"/>
          </p:nvPr>
        </p:nvSpPr>
        <p:spPr>
          <a:xfrm>
            <a:off x="533400" y="723901"/>
            <a:ext cx="8229600" cy="5867400"/>
          </a:xfrm>
        </p:spPr>
        <p:txBody>
          <a:bodyPr/>
          <a:lstStyle/>
          <a:p>
            <a:pPr marL="457200" indent="-457200">
              <a:buFont typeface="+mj-lt"/>
              <a:buAutoNum type="alphaLcParenR" startAt="3"/>
            </a:pPr>
            <a:r>
              <a:rPr lang="en-US" sz="2400" dirty="0"/>
              <a:t>How much power is the 100 V source delivering to the network under maximum power delivery conditions?</a:t>
            </a:r>
          </a:p>
          <a:p>
            <a:pPr>
              <a:buNone/>
            </a:pPr>
            <a:endParaRPr lang="en-US" sz="2400" dirty="0"/>
          </a:p>
          <a:p>
            <a:endParaRPr lang="en-US" sz="20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127</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0" name="TextBox 19"/>
          <p:cNvSpPr txBox="1"/>
          <p:nvPr/>
        </p:nvSpPr>
        <p:spPr>
          <a:xfrm>
            <a:off x="457200" y="1600200"/>
            <a:ext cx="4322017" cy="369332"/>
          </a:xfrm>
          <a:prstGeom prst="rect">
            <a:avLst/>
          </a:prstGeom>
          <a:noFill/>
        </p:spPr>
        <p:txBody>
          <a:bodyPr wrap="none" rtlCol="0">
            <a:spAutoFit/>
          </a:bodyPr>
          <a:lstStyle/>
          <a:p>
            <a:r>
              <a:rPr lang="en-US" dirty="0"/>
              <a:t>Apply nodal analysis to find i</a:t>
            </a:r>
            <a:r>
              <a:rPr lang="en-US" baseline="-25000" dirty="0"/>
              <a:t>100V </a:t>
            </a:r>
            <a:r>
              <a:rPr lang="en-US" dirty="0"/>
              <a:t>(R=3</a:t>
            </a:r>
            <a:r>
              <a:rPr lang="el-GR" dirty="0"/>
              <a:t>Ω</a:t>
            </a:r>
            <a:r>
              <a:rPr lang="en-US" dirty="0"/>
              <a:t>):</a:t>
            </a:r>
            <a:endParaRPr lang="en-US" baseline="-25000" dirty="0"/>
          </a:p>
        </p:txBody>
      </p:sp>
      <p:sp>
        <p:nvSpPr>
          <p:cNvPr id="23" name="TextBox 22"/>
          <p:cNvSpPr txBox="1"/>
          <p:nvPr/>
        </p:nvSpPr>
        <p:spPr>
          <a:xfrm>
            <a:off x="1676400" y="4495800"/>
            <a:ext cx="312906" cy="369332"/>
          </a:xfrm>
          <a:prstGeom prst="rect">
            <a:avLst/>
          </a:prstGeom>
          <a:noFill/>
        </p:spPr>
        <p:txBody>
          <a:bodyPr wrap="none" rtlCol="0">
            <a:spAutoFit/>
          </a:bodyPr>
          <a:lstStyle/>
          <a:p>
            <a:r>
              <a:rPr lang="en-US" dirty="0"/>
              <a:t>1</a:t>
            </a:r>
            <a:endParaRPr lang="tr-TR" dirty="0"/>
          </a:p>
        </p:txBody>
      </p:sp>
      <p:cxnSp>
        <p:nvCxnSpPr>
          <p:cNvPr id="24" name="Straight Connector 23"/>
          <p:cNvCxnSpPr/>
          <p:nvPr/>
        </p:nvCxnSpPr>
        <p:spPr>
          <a:xfrm rot="5400000">
            <a:off x="2724150" y="6115050"/>
            <a:ext cx="190500" cy="158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Isosceles Triangle 24"/>
          <p:cNvSpPr/>
          <p:nvPr/>
        </p:nvSpPr>
        <p:spPr>
          <a:xfrm flipV="1">
            <a:off x="2743200" y="6210300"/>
            <a:ext cx="152400" cy="114300"/>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aphicFrame>
        <p:nvGraphicFramePr>
          <p:cNvPr id="27" name="Object 2"/>
          <p:cNvGraphicFramePr>
            <a:graphicFrameLocks noChangeAspect="1"/>
          </p:cNvGraphicFramePr>
          <p:nvPr/>
        </p:nvGraphicFramePr>
        <p:xfrm>
          <a:off x="2381250" y="2095500"/>
          <a:ext cx="5694363" cy="657225"/>
        </p:xfrm>
        <a:graphic>
          <a:graphicData uri="http://schemas.openxmlformats.org/presentationml/2006/ole">
            <mc:AlternateContent xmlns:mc="http://schemas.openxmlformats.org/markup-compatibility/2006">
              <mc:Choice xmlns:v="urn:schemas-microsoft-com:vml" Requires="v">
                <p:oleObj name="Equation" r:id="rId4" imgW="3632040" imgH="419040" progId="Equation.3">
                  <p:embed/>
                </p:oleObj>
              </mc:Choice>
              <mc:Fallback>
                <p:oleObj name="Equation" r:id="rId4" imgW="3632040" imgH="4190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81250" y="2095500"/>
                        <a:ext cx="5694363" cy="657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 name="TextBox 27"/>
          <p:cNvSpPr txBox="1"/>
          <p:nvPr/>
        </p:nvSpPr>
        <p:spPr>
          <a:xfrm>
            <a:off x="534988" y="2247900"/>
            <a:ext cx="1795107" cy="369332"/>
          </a:xfrm>
          <a:prstGeom prst="rect">
            <a:avLst/>
          </a:prstGeom>
          <a:noFill/>
        </p:spPr>
        <p:txBody>
          <a:bodyPr wrap="none" rtlCol="0">
            <a:spAutoFit/>
          </a:bodyPr>
          <a:lstStyle/>
          <a:p>
            <a:r>
              <a:rPr lang="en-US" dirty="0"/>
              <a:t>KCL @ Node 1:</a:t>
            </a:r>
            <a:endParaRPr lang="tr-TR" dirty="0"/>
          </a:p>
        </p:txBody>
      </p:sp>
      <p:sp>
        <p:nvSpPr>
          <p:cNvPr id="30" name="TextBox 29"/>
          <p:cNvSpPr txBox="1"/>
          <p:nvPr/>
        </p:nvSpPr>
        <p:spPr>
          <a:xfrm>
            <a:off x="534988" y="2973943"/>
            <a:ext cx="1795107" cy="369332"/>
          </a:xfrm>
          <a:prstGeom prst="rect">
            <a:avLst/>
          </a:prstGeom>
          <a:noFill/>
        </p:spPr>
        <p:txBody>
          <a:bodyPr wrap="none" rtlCol="0">
            <a:spAutoFit/>
          </a:bodyPr>
          <a:lstStyle/>
          <a:p>
            <a:r>
              <a:rPr lang="en-US" dirty="0"/>
              <a:t>KCL @ Node a:</a:t>
            </a:r>
            <a:endParaRPr lang="tr-TR" dirty="0"/>
          </a:p>
        </p:txBody>
      </p:sp>
      <p:graphicFrame>
        <p:nvGraphicFramePr>
          <p:cNvPr id="285702" name="Object 6"/>
          <p:cNvGraphicFramePr>
            <a:graphicFrameLocks noChangeAspect="1"/>
          </p:cNvGraphicFramePr>
          <p:nvPr/>
        </p:nvGraphicFramePr>
        <p:xfrm>
          <a:off x="2416175" y="2847975"/>
          <a:ext cx="5992813" cy="657225"/>
        </p:xfrm>
        <a:graphic>
          <a:graphicData uri="http://schemas.openxmlformats.org/presentationml/2006/ole">
            <mc:AlternateContent xmlns:mc="http://schemas.openxmlformats.org/markup-compatibility/2006">
              <mc:Choice xmlns:v="urn:schemas-microsoft-com:vml" Requires="v">
                <p:oleObj name="Equation" r:id="rId6" imgW="3822480" imgH="419040" progId="Equation.3">
                  <p:embed/>
                </p:oleObj>
              </mc:Choice>
              <mc:Fallback>
                <p:oleObj name="Equation" r:id="rId6" imgW="3822480" imgH="4190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16175" y="2847975"/>
                        <a:ext cx="5992813" cy="657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 name="TextBox 32"/>
          <p:cNvSpPr txBox="1"/>
          <p:nvPr/>
        </p:nvSpPr>
        <p:spPr>
          <a:xfrm>
            <a:off x="4191000" y="3707368"/>
            <a:ext cx="1928733" cy="369332"/>
          </a:xfrm>
          <a:prstGeom prst="rect">
            <a:avLst/>
          </a:prstGeom>
          <a:noFill/>
        </p:spPr>
        <p:txBody>
          <a:bodyPr wrap="none" rtlCol="0">
            <a:spAutoFit/>
          </a:bodyPr>
          <a:lstStyle/>
          <a:p>
            <a:r>
              <a:rPr lang="en-US" dirty="0"/>
              <a:t>From (5) and (6):</a:t>
            </a:r>
            <a:endParaRPr lang="tr-TR" dirty="0"/>
          </a:p>
        </p:txBody>
      </p:sp>
      <p:graphicFrame>
        <p:nvGraphicFramePr>
          <p:cNvPr id="34" name="Object 4"/>
          <p:cNvGraphicFramePr>
            <a:graphicFrameLocks noChangeAspect="1"/>
          </p:cNvGraphicFramePr>
          <p:nvPr/>
        </p:nvGraphicFramePr>
        <p:xfrm>
          <a:off x="6172200" y="3733800"/>
          <a:ext cx="2452687" cy="376238"/>
        </p:xfrm>
        <a:graphic>
          <a:graphicData uri="http://schemas.openxmlformats.org/presentationml/2006/ole">
            <mc:AlternateContent xmlns:mc="http://schemas.openxmlformats.org/markup-compatibility/2006">
              <mc:Choice xmlns:v="urn:schemas-microsoft-com:vml" Requires="v">
                <p:oleObj name="Equation" r:id="rId8" imgW="1562040" imgH="241200" progId="Equation.3">
                  <p:embed/>
                </p:oleObj>
              </mc:Choice>
              <mc:Fallback>
                <p:oleObj name="Equation" r:id="rId8" imgW="1562040" imgH="2412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72200" y="3733800"/>
                        <a:ext cx="2452687" cy="376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 name="TextBox 34"/>
          <p:cNvSpPr txBox="1"/>
          <p:nvPr/>
        </p:nvSpPr>
        <p:spPr>
          <a:xfrm>
            <a:off x="487194" y="4659868"/>
            <a:ext cx="312906" cy="369332"/>
          </a:xfrm>
          <a:prstGeom prst="rect">
            <a:avLst/>
          </a:prstGeom>
          <a:noFill/>
        </p:spPr>
        <p:txBody>
          <a:bodyPr wrap="none" rtlCol="0">
            <a:spAutoFit/>
          </a:bodyPr>
          <a:lstStyle/>
          <a:p>
            <a:r>
              <a:rPr lang="en-US" dirty="0"/>
              <a:t>2</a:t>
            </a:r>
            <a:endParaRPr lang="tr-TR" dirty="0"/>
          </a:p>
        </p:txBody>
      </p:sp>
      <p:sp>
        <p:nvSpPr>
          <p:cNvPr id="36" name="TextBox 35"/>
          <p:cNvSpPr txBox="1"/>
          <p:nvPr/>
        </p:nvSpPr>
        <p:spPr>
          <a:xfrm>
            <a:off x="4229100" y="4355068"/>
            <a:ext cx="1795107" cy="369332"/>
          </a:xfrm>
          <a:prstGeom prst="rect">
            <a:avLst/>
          </a:prstGeom>
          <a:noFill/>
        </p:spPr>
        <p:txBody>
          <a:bodyPr wrap="none" rtlCol="0">
            <a:spAutoFit/>
          </a:bodyPr>
          <a:lstStyle/>
          <a:p>
            <a:r>
              <a:rPr lang="en-US" dirty="0"/>
              <a:t>KCL @ Node 2:</a:t>
            </a:r>
            <a:endParaRPr lang="tr-TR" dirty="0"/>
          </a:p>
        </p:txBody>
      </p:sp>
      <p:graphicFrame>
        <p:nvGraphicFramePr>
          <p:cNvPr id="285704" name="Object 8"/>
          <p:cNvGraphicFramePr>
            <a:graphicFrameLocks noChangeAspect="1"/>
          </p:cNvGraphicFramePr>
          <p:nvPr/>
        </p:nvGraphicFramePr>
        <p:xfrm>
          <a:off x="4686300" y="4792663"/>
          <a:ext cx="4038600" cy="1036637"/>
        </p:xfrm>
        <a:graphic>
          <a:graphicData uri="http://schemas.openxmlformats.org/presentationml/2006/ole">
            <mc:AlternateContent xmlns:mc="http://schemas.openxmlformats.org/markup-compatibility/2006">
              <mc:Choice xmlns:v="urn:schemas-microsoft-com:vml" Requires="v">
                <p:oleObj name="Equation" r:id="rId10" imgW="2577960" imgH="660240" progId="Equation.3">
                  <p:embed/>
                </p:oleObj>
              </mc:Choice>
              <mc:Fallback>
                <p:oleObj name="Equation" r:id="rId10" imgW="2577960" imgH="66024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86300" y="4792663"/>
                        <a:ext cx="4038600" cy="1036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 name="TextBox 38"/>
          <p:cNvSpPr txBox="1"/>
          <p:nvPr/>
        </p:nvSpPr>
        <p:spPr>
          <a:xfrm>
            <a:off x="206668" y="5715000"/>
            <a:ext cx="593432" cy="369332"/>
          </a:xfrm>
          <a:prstGeom prst="rect">
            <a:avLst/>
          </a:prstGeom>
          <a:noFill/>
        </p:spPr>
        <p:txBody>
          <a:bodyPr wrap="none" rtlCol="0">
            <a:spAutoFit/>
          </a:bodyPr>
          <a:lstStyle/>
          <a:p>
            <a:r>
              <a:rPr lang="en-US" dirty="0"/>
              <a:t>i</a:t>
            </a:r>
            <a:r>
              <a:rPr lang="en-US" baseline="-25000" dirty="0"/>
              <a:t>100V</a:t>
            </a:r>
            <a:endParaRPr lang="tr-TR" dirty="0"/>
          </a:p>
        </p:txBody>
      </p:sp>
      <p:cxnSp>
        <p:nvCxnSpPr>
          <p:cNvPr id="40" name="Straight Connector 39"/>
          <p:cNvCxnSpPr/>
          <p:nvPr/>
        </p:nvCxnSpPr>
        <p:spPr>
          <a:xfrm rot="16200000" flipV="1">
            <a:off x="591344" y="5885656"/>
            <a:ext cx="266700" cy="1588"/>
          </a:xfrm>
          <a:prstGeom prst="line">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6" name="Title 1"/>
          <p:cNvSpPr>
            <a:spLocks noGrp="1"/>
          </p:cNvSpPr>
          <p:nvPr>
            <p:ph type="title"/>
          </p:nvPr>
        </p:nvSpPr>
        <p:spPr>
          <a:xfrm>
            <a:off x="190500" y="122237"/>
            <a:ext cx="7277100" cy="563563"/>
          </a:xfrm>
        </p:spPr>
        <p:txBody>
          <a:bodyPr/>
          <a:lstStyle/>
          <a:p>
            <a:r>
              <a:rPr lang="en-US" sz="3200" dirty="0"/>
              <a:t>Example: N &amp; R AP 4.21 &amp; 4.22 - Solution</a:t>
            </a:r>
          </a:p>
        </p:txBody>
      </p:sp>
    </p:spTree>
    <p:extLst>
      <p:ext uri="{BB962C8B-B14F-4D97-AF65-F5344CB8AC3E}">
        <p14:creationId xmlns:p14="http://schemas.microsoft.com/office/powerpoint/2010/main" val="3516313267"/>
      </p:ext>
    </p:extLst>
  </p:cSld>
  <p:clrMapOvr>
    <a:masterClrMapping/>
  </p:clrMapOvr>
  <p:transition spd="med"/>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Picture 1"/>
          <p:cNvPicPr>
            <a:picLocks noChangeAspect="1" noChangeArrowheads="1"/>
          </p:cNvPicPr>
          <p:nvPr/>
        </p:nvPicPr>
        <p:blipFill>
          <a:blip r:embed="rId3" cstate="print"/>
          <a:srcRect/>
          <a:stretch>
            <a:fillRect/>
          </a:stretch>
        </p:blipFill>
        <p:spPr bwMode="auto">
          <a:xfrm>
            <a:off x="79699" y="4006850"/>
            <a:ext cx="3968001" cy="2546350"/>
          </a:xfrm>
          <a:prstGeom prst="rect">
            <a:avLst/>
          </a:prstGeom>
          <a:noFill/>
          <a:ln w="9525">
            <a:noFill/>
            <a:miter lim="800000"/>
            <a:headEnd/>
            <a:tailEnd/>
          </a:ln>
          <a:effectLst/>
        </p:spPr>
      </p:pic>
      <p:sp>
        <p:nvSpPr>
          <p:cNvPr id="6147" name="Content Placeholder 2"/>
          <p:cNvSpPr>
            <a:spLocks noGrp="1"/>
          </p:cNvSpPr>
          <p:nvPr>
            <p:ph idx="1"/>
          </p:nvPr>
        </p:nvSpPr>
        <p:spPr>
          <a:xfrm>
            <a:off x="533400" y="723901"/>
            <a:ext cx="8229600" cy="5867400"/>
          </a:xfrm>
        </p:spPr>
        <p:txBody>
          <a:bodyPr/>
          <a:lstStyle/>
          <a:p>
            <a:pPr marL="457200" indent="-457200">
              <a:buFont typeface="+mj-lt"/>
              <a:buAutoNum type="alphaLcParenR" startAt="4"/>
            </a:pPr>
            <a:r>
              <a:rPr lang="en-US" sz="2400" dirty="0"/>
              <a:t>Repeat (c) for the dependent voltage source.</a:t>
            </a:r>
          </a:p>
          <a:p>
            <a:pPr marL="457200" indent="-457200">
              <a:buFont typeface="+mj-lt"/>
              <a:buAutoNum type="alphaLcParenR" startAt="4"/>
            </a:pPr>
            <a:endParaRPr lang="en-US" sz="2400" dirty="0"/>
          </a:p>
          <a:p>
            <a:pPr marL="457200" indent="-457200">
              <a:buFont typeface="+mj-lt"/>
              <a:buAutoNum type="alphaLcParenR" startAt="4"/>
            </a:pPr>
            <a:endParaRPr lang="en-US" sz="2400" dirty="0"/>
          </a:p>
          <a:p>
            <a:pPr marL="457200" indent="-457200">
              <a:buFont typeface="+mj-lt"/>
              <a:buAutoNum type="alphaLcParenR" startAt="4"/>
            </a:pPr>
            <a:r>
              <a:rPr lang="en-US" sz="2400" dirty="0"/>
              <a:t>What percentage of the total power generated by these two sources is delivered to the load resistor R?</a:t>
            </a:r>
          </a:p>
          <a:p>
            <a:pPr>
              <a:buNone/>
            </a:pPr>
            <a:endParaRPr lang="en-US" sz="2400" dirty="0"/>
          </a:p>
          <a:p>
            <a:endParaRPr lang="en-US" sz="20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128</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3" name="TextBox 22"/>
          <p:cNvSpPr txBox="1"/>
          <p:nvPr/>
        </p:nvSpPr>
        <p:spPr>
          <a:xfrm>
            <a:off x="1676400" y="4495800"/>
            <a:ext cx="312906" cy="369332"/>
          </a:xfrm>
          <a:prstGeom prst="rect">
            <a:avLst/>
          </a:prstGeom>
          <a:noFill/>
        </p:spPr>
        <p:txBody>
          <a:bodyPr wrap="none" rtlCol="0">
            <a:spAutoFit/>
          </a:bodyPr>
          <a:lstStyle/>
          <a:p>
            <a:r>
              <a:rPr lang="en-US" dirty="0"/>
              <a:t>1</a:t>
            </a:r>
            <a:endParaRPr lang="tr-TR" dirty="0"/>
          </a:p>
        </p:txBody>
      </p:sp>
      <p:cxnSp>
        <p:nvCxnSpPr>
          <p:cNvPr id="24" name="Straight Connector 23"/>
          <p:cNvCxnSpPr/>
          <p:nvPr/>
        </p:nvCxnSpPr>
        <p:spPr>
          <a:xfrm rot="5400000">
            <a:off x="2724150" y="6115050"/>
            <a:ext cx="190500" cy="158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Isosceles Triangle 24"/>
          <p:cNvSpPr/>
          <p:nvPr/>
        </p:nvSpPr>
        <p:spPr>
          <a:xfrm flipV="1">
            <a:off x="2743200" y="6210300"/>
            <a:ext cx="152400" cy="114300"/>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5" name="TextBox 34"/>
          <p:cNvSpPr txBox="1"/>
          <p:nvPr/>
        </p:nvSpPr>
        <p:spPr>
          <a:xfrm>
            <a:off x="487194" y="4659868"/>
            <a:ext cx="312906" cy="369332"/>
          </a:xfrm>
          <a:prstGeom prst="rect">
            <a:avLst/>
          </a:prstGeom>
          <a:noFill/>
        </p:spPr>
        <p:txBody>
          <a:bodyPr wrap="none" rtlCol="0">
            <a:spAutoFit/>
          </a:bodyPr>
          <a:lstStyle/>
          <a:p>
            <a:r>
              <a:rPr lang="en-US" dirty="0"/>
              <a:t>2</a:t>
            </a:r>
            <a:endParaRPr lang="tr-TR" dirty="0"/>
          </a:p>
        </p:txBody>
      </p:sp>
      <p:graphicFrame>
        <p:nvGraphicFramePr>
          <p:cNvPr id="285704" name="Object 8"/>
          <p:cNvGraphicFramePr>
            <a:graphicFrameLocks noChangeAspect="1"/>
          </p:cNvGraphicFramePr>
          <p:nvPr/>
        </p:nvGraphicFramePr>
        <p:xfrm>
          <a:off x="800100" y="1257300"/>
          <a:ext cx="8140700" cy="657225"/>
        </p:xfrm>
        <a:graphic>
          <a:graphicData uri="http://schemas.openxmlformats.org/presentationml/2006/ole">
            <mc:AlternateContent xmlns:mc="http://schemas.openxmlformats.org/markup-compatibility/2006">
              <mc:Choice xmlns:v="urn:schemas-microsoft-com:vml" Requires="v">
                <p:oleObj name="Equation" r:id="rId4" imgW="5194080" imgH="419040" progId="Equation.3">
                  <p:embed/>
                </p:oleObj>
              </mc:Choice>
              <mc:Fallback>
                <p:oleObj name="Equation" r:id="rId4" imgW="5194080" imgH="4190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0100" y="1257300"/>
                        <a:ext cx="8140700" cy="657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 name="TextBox 38"/>
          <p:cNvSpPr txBox="1"/>
          <p:nvPr/>
        </p:nvSpPr>
        <p:spPr>
          <a:xfrm>
            <a:off x="206668" y="5715000"/>
            <a:ext cx="593432" cy="369332"/>
          </a:xfrm>
          <a:prstGeom prst="rect">
            <a:avLst/>
          </a:prstGeom>
          <a:noFill/>
        </p:spPr>
        <p:txBody>
          <a:bodyPr wrap="none" rtlCol="0">
            <a:spAutoFit/>
          </a:bodyPr>
          <a:lstStyle/>
          <a:p>
            <a:r>
              <a:rPr lang="en-US" dirty="0"/>
              <a:t>i</a:t>
            </a:r>
            <a:r>
              <a:rPr lang="en-US" baseline="-25000" dirty="0"/>
              <a:t>100V</a:t>
            </a:r>
            <a:endParaRPr lang="tr-TR" dirty="0"/>
          </a:p>
        </p:txBody>
      </p:sp>
      <p:cxnSp>
        <p:nvCxnSpPr>
          <p:cNvPr id="40" name="Straight Connector 39"/>
          <p:cNvCxnSpPr/>
          <p:nvPr/>
        </p:nvCxnSpPr>
        <p:spPr>
          <a:xfrm rot="16200000" flipV="1">
            <a:off x="591344" y="5885656"/>
            <a:ext cx="266700" cy="1588"/>
          </a:xfrm>
          <a:prstGeom prst="line">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286726" name="Object 6"/>
          <p:cNvGraphicFramePr>
            <a:graphicFrameLocks noChangeAspect="1"/>
          </p:cNvGraphicFramePr>
          <p:nvPr/>
        </p:nvGraphicFramePr>
        <p:xfrm>
          <a:off x="1152525" y="2962275"/>
          <a:ext cx="2428875" cy="657225"/>
        </p:xfrm>
        <a:graphic>
          <a:graphicData uri="http://schemas.openxmlformats.org/presentationml/2006/ole">
            <mc:AlternateContent xmlns:mc="http://schemas.openxmlformats.org/markup-compatibility/2006">
              <mc:Choice xmlns:v="urn:schemas-microsoft-com:vml" Requires="v">
                <p:oleObj name="Equation" r:id="rId6" imgW="1549080" imgH="419040" progId="Equation.3">
                  <p:embed/>
                </p:oleObj>
              </mc:Choice>
              <mc:Fallback>
                <p:oleObj name="Equation" r:id="rId6" imgW="1549080" imgH="4190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52525" y="2962275"/>
                        <a:ext cx="2428875" cy="657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727" name="Object 7"/>
          <p:cNvGraphicFramePr>
            <a:graphicFrameLocks noChangeAspect="1"/>
          </p:cNvGraphicFramePr>
          <p:nvPr/>
        </p:nvGraphicFramePr>
        <p:xfrm>
          <a:off x="4235450" y="3001962"/>
          <a:ext cx="3803650" cy="617538"/>
        </p:xfrm>
        <a:graphic>
          <a:graphicData uri="http://schemas.openxmlformats.org/presentationml/2006/ole">
            <mc:AlternateContent xmlns:mc="http://schemas.openxmlformats.org/markup-compatibility/2006">
              <mc:Choice xmlns:v="urn:schemas-microsoft-com:vml" Requires="v">
                <p:oleObj name="Equation" r:id="rId8" imgW="2425680" imgH="393480" progId="Equation.3">
                  <p:embed/>
                </p:oleObj>
              </mc:Choice>
              <mc:Fallback>
                <p:oleObj name="Equation" r:id="rId8" imgW="2425680" imgH="39348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35450" y="3001962"/>
                        <a:ext cx="3803650" cy="617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Title 1"/>
          <p:cNvSpPr>
            <a:spLocks noGrp="1"/>
          </p:cNvSpPr>
          <p:nvPr>
            <p:ph type="title"/>
          </p:nvPr>
        </p:nvSpPr>
        <p:spPr>
          <a:xfrm>
            <a:off x="190500" y="122237"/>
            <a:ext cx="7277100" cy="563563"/>
          </a:xfrm>
        </p:spPr>
        <p:txBody>
          <a:bodyPr/>
          <a:lstStyle/>
          <a:p>
            <a:r>
              <a:rPr lang="en-US" sz="3200" dirty="0"/>
              <a:t>Example: N &amp; R AP 4.21 &amp; 4.22 - Solution</a:t>
            </a:r>
          </a:p>
        </p:txBody>
      </p:sp>
    </p:spTree>
    <p:extLst>
      <p:ext uri="{BB962C8B-B14F-4D97-AF65-F5344CB8AC3E}">
        <p14:creationId xmlns:p14="http://schemas.microsoft.com/office/powerpoint/2010/main" val="3694107197"/>
      </p:ext>
    </p:extLst>
  </p:cSld>
  <p:clrMapOvr>
    <a:masterClrMapping/>
  </p:clrMapOvr>
  <p:transition spd="me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24842</TotalTime>
  <Words>7817</Words>
  <Application>Microsoft Office PowerPoint</Application>
  <PresentationFormat>On-screen Show (4:3)</PresentationFormat>
  <Paragraphs>1271</Paragraphs>
  <Slides>128</Slides>
  <Notes>28</Notes>
  <HiddenSlides>0</HiddenSlides>
  <MMClips>0</MMClips>
  <ScaleCrop>false</ScaleCrop>
  <HeadingPairs>
    <vt:vector size="8" baseType="variant">
      <vt:variant>
        <vt:lpstr>Fonts Used</vt:lpstr>
      </vt:variant>
      <vt:variant>
        <vt:i4>2</vt:i4>
      </vt:variant>
      <vt:variant>
        <vt:lpstr>Theme</vt:lpstr>
      </vt:variant>
      <vt:variant>
        <vt:i4>2</vt:i4>
      </vt:variant>
      <vt:variant>
        <vt:lpstr>Embedded OLE Servers</vt:lpstr>
      </vt:variant>
      <vt:variant>
        <vt:i4>1</vt:i4>
      </vt:variant>
      <vt:variant>
        <vt:lpstr>Slide Titles</vt:lpstr>
      </vt:variant>
      <vt:variant>
        <vt:i4>128</vt:i4>
      </vt:variant>
    </vt:vector>
  </HeadingPairs>
  <TitlesOfParts>
    <vt:vector size="133" baseType="lpstr">
      <vt:lpstr>Arial</vt:lpstr>
      <vt:lpstr>Calibri</vt:lpstr>
      <vt:lpstr>Office Theme</vt:lpstr>
      <vt:lpstr>1_Office Theme</vt:lpstr>
      <vt:lpstr>Equation</vt:lpstr>
      <vt:lpstr>PowerPoint Presentation</vt:lpstr>
      <vt:lpstr>Circuit Analysis Techniques  Weeks 6-9  Reading: Nilsson &amp; Riedel Chapter 4</vt:lpstr>
      <vt:lpstr>Analysis Methods</vt:lpstr>
      <vt:lpstr>Thevenin and Norton Equivalents</vt:lpstr>
      <vt:lpstr>Thevenin and Norton Equivalents</vt:lpstr>
      <vt:lpstr>Example (N &amp; R Problem 4.59a)</vt:lpstr>
      <vt:lpstr>Example (N &amp; R Problem 4.59a)</vt:lpstr>
      <vt:lpstr>Example (N &amp; R Problem 4.59a)</vt:lpstr>
      <vt:lpstr>Example (N &amp; R Problem 4.59a)</vt:lpstr>
      <vt:lpstr>Deriving Thevenin &amp; Norton Equivalent Circuits:</vt:lpstr>
      <vt:lpstr>Deriving Thevenin &amp; Norton Equivalent Circuits:</vt:lpstr>
      <vt:lpstr>PowerPoint Presentation</vt:lpstr>
      <vt:lpstr>Thevenin and Norton Equivalent Derivation:</vt:lpstr>
      <vt:lpstr>Thevenin and Norton Equivalent Derivation:</vt:lpstr>
      <vt:lpstr>Thevenin and Norton Equivalent Derivation:</vt:lpstr>
      <vt:lpstr>Thevenin and Norton Equivalent Derivation:</vt:lpstr>
      <vt:lpstr>Thevenin and Norton Equivalent Derivation:</vt:lpstr>
      <vt:lpstr>Thevenin and Norton Equivalent Derivation:</vt:lpstr>
      <vt:lpstr>Example 1</vt:lpstr>
      <vt:lpstr>Example 1</vt:lpstr>
      <vt:lpstr>Example 1</vt:lpstr>
      <vt:lpstr>Example 1</vt:lpstr>
      <vt:lpstr>Example 2 (Johnson &amp; Johnson Exercise 2.6 – Page 54)</vt:lpstr>
      <vt:lpstr>Example 2 (Johnson &amp; Johnson Exercise 2.6 – Page 54)</vt:lpstr>
      <vt:lpstr>Example 2 (Johnson &amp; Johnson Exercise 2.6 – Page 54)</vt:lpstr>
      <vt:lpstr>Example 2 (Johnson &amp; Johnson Exercise 2.6 – Page 54)</vt:lpstr>
      <vt:lpstr>Example 2 (Johnson &amp; Johnson Exercise 2.6 – Page 54)</vt:lpstr>
      <vt:lpstr>Example 2 (Johnson &amp; Johnson Exercise 2.6 – Page 54)</vt:lpstr>
      <vt:lpstr>Example 2 (Johnson &amp; Johnson Exercise 2.6 – Page 54)</vt:lpstr>
      <vt:lpstr>Example 2 (Johnson &amp; Johnson Exercise 2.6 – Page 54)</vt:lpstr>
      <vt:lpstr>Example 3 (Based on N &amp; R Problem 4.74)</vt:lpstr>
      <vt:lpstr>Example 3 (Based on N &amp; R Problem 4.74)</vt:lpstr>
      <vt:lpstr>Example 3 (Based on N &amp; R Problem 4.74)</vt:lpstr>
      <vt:lpstr>Example 3 (Based on N &amp; R Problem 4.74)</vt:lpstr>
      <vt:lpstr>Example 3 (Based on N &amp; R Problem 4.74)</vt:lpstr>
      <vt:lpstr>Example 3 (Based on N &amp; R Problem 4.74)</vt:lpstr>
      <vt:lpstr>Example 3 (Based on N &amp; R Problem 4.74)</vt:lpstr>
      <vt:lpstr>Example 3 (Based on N &amp; R Problem 4.74)</vt:lpstr>
      <vt:lpstr>Example 3 (Based on N &amp; R Problem 4.74)</vt:lpstr>
      <vt:lpstr>Example 3 (Based on N &amp; R Problem 4.74)</vt:lpstr>
      <vt:lpstr>Example 3 (Based on N &amp; R Problem 4.74)</vt:lpstr>
      <vt:lpstr>Theoretical Sources</vt:lpstr>
      <vt:lpstr>Practical Sources</vt:lpstr>
      <vt:lpstr>Example (2.7.3 Johnson &amp; Johnson P:61)</vt:lpstr>
      <vt:lpstr>Example (2.7.3 Johnson &amp; Johnson P:61)</vt:lpstr>
      <vt:lpstr>Example 2 (2.7.2 Johnson &amp; Johnson P:61)</vt:lpstr>
      <vt:lpstr>Example 2 (2.7.2 Johnson &amp; Johnson P:61)</vt:lpstr>
      <vt:lpstr>Superposition</vt:lpstr>
      <vt:lpstr>Example : Based on 4.3 (Johnson &amp; Johnson P:123)</vt:lpstr>
      <vt:lpstr>Example : Based on 4.3 (Johnson &amp; Johnson P:123)</vt:lpstr>
      <vt:lpstr>Example : Based on 4.3 (Johnson &amp; Johnson P:123)</vt:lpstr>
      <vt:lpstr>Example : Based on 4.3 (Johnson &amp; Johnson P:123)</vt:lpstr>
      <vt:lpstr>Superposition</vt:lpstr>
      <vt:lpstr>Example (4.5 Johnson &amp; Johnson P:126)</vt:lpstr>
      <vt:lpstr>Example (4.5 Johnson &amp; Johnson P:126)</vt:lpstr>
      <vt:lpstr>Example (4.5 Johnson &amp; Johnson P:126)</vt:lpstr>
      <vt:lpstr>Example (4.5 Johnson &amp; Johnson P:126)</vt:lpstr>
      <vt:lpstr>Example (4.5 Johnson &amp; Johnson P:126)</vt:lpstr>
      <vt:lpstr>Example (4.5 Johnson &amp; Johnson P:126)</vt:lpstr>
      <vt:lpstr>Example (4.2.3 Johnson &amp; Johnson P:127)</vt:lpstr>
      <vt:lpstr>Example (4.2.3 Johnson &amp; Johnson P:127)</vt:lpstr>
      <vt:lpstr>Example (4.2.3 Johnson &amp; Johnson P:127)</vt:lpstr>
      <vt:lpstr>Example (4.2.3 Johnson &amp; Johnson P:127)</vt:lpstr>
      <vt:lpstr>Nodal Analysis</vt:lpstr>
      <vt:lpstr>Circuits with Current Sources &amp; Resistances</vt:lpstr>
      <vt:lpstr>Example</vt:lpstr>
      <vt:lpstr>Example</vt:lpstr>
      <vt:lpstr>Example</vt:lpstr>
      <vt:lpstr>Example</vt:lpstr>
      <vt:lpstr>Example</vt:lpstr>
      <vt:lpstr>Example</vt:lpstr>
      <vt:lpstr>Example</vt:lpstr>
      <vt:lpstr>Example</vt:lpstr>
      <vt:lpstr>Example</vt:lpstr>
      <vt:lpstr>Example</vt:lpstr>
      <vt:lpstr>Example</vt:lpstr>
      <vt:lpstr>Example</vt:lpstr>
      <vt:lpstr>PowerPoint Presentation</vt:lpstr>
      <vt:lpstr>PowerPoint Presentation</vt:lpstr>
      <vt:lpstr>PowerPoint Presentation</vt:lpstr>
      <vt:lpstr>PowerPoint Presentation</vt:lpstr>
      <vt:lpstr>PowerPoint Presentation</vt:lpstr>
      <vt:lpstr>Summary of Nodal Analysis Procedure</vt:lpstr>
      <vt:lpstr>Example</vt:lpstr>
      <vt:lpstr>Example</vt:lpstr>
      <vt:lpstr>Example</vt:lpstr>
      <vt:lpstr>Example</vt:lpstr>
      <vt:lpstr>Example</vt:lpstr>
      <vt:lpstr>Example</vt:lpstr>
      <vt:lpstr>Mesh Analysis</vt:lpstr>
      <vt:lpstr>Mesh Current</vt:lpstr>
      <vt:lpstr>Example</vt:lpstr>
      <vt:lpstr>Example</vt:lpstr>
      <vt:lpstr>Example</vt:lpstr>
      <vt:lpstr>Example</vt:lpstr>
      <vt:lpstr>Example w/ a dependent source</vt:lpstr>
      <vt:lpstr>Example w/ a dependent source</vt:lpstr>
      <vt:lpstr>Example w/ a dependent source</vt:lpstr>
      <vt:lpstr>Supermesh</vt:lpstr>
      <vt:lpstr>Supermesh</vt:lpstr>
      <vt:lpstr>Supermesh</vt:lpstr>
      <vt:lpstr>Supermesh</vt:lpstr>
      <vt:lpstr>Supermesh</vt:lpstr>
      <vt:lpstr>Supermesh</vt:lpstr>
      <vt:lpstr>Example</vt:lpstr>
      <vt:lpstr>Example</vt:lpstr>
      <vt:lpstr>Summary of Mesh Analysis Procedure</vt:lpstr>
      <vt:lpstr>Example</vt:lpstr>
      <vt:lpstr>Example</vt:lpstr>
      <vt:lpstr>Example</vt:lpstr>
      <vt:lpstr>Example</vt:lpstr>
      <vt:lpstr>Example</vt:lpstr>
      <vt:lpstr>Example</vt:lpstr>
      <vt:lpstr>Example</vt:lpstr>
      <vt:lpstr>Example</vt:lpstr>
      <vt:lpstr>Example</vt:lpstr>
      <vt:lpstr>Example</vt:lpstr>
      <vt:lpstr>Example</vt:lpstr>
      <vt:lpstr>Maximum Power Transfer</vt:lpstr>
      <vt:lpstr>Maximizing Power Transfer</vt:lpstr>
      <vt:lpstr>Maximizing Power Transfer</vt:lpstr>
      <vt:lpstr>Example: N &amp; R AP 4.21 &amp; 4.22</vt:lpstr>
      <vt:lpstr>Example: N &amp; R AP 4.21 &amp; 4.22 - Solution</vt:lpstr>
      <vt:lpstr>Example: N &amp; R AP 4.21 &amp; 4.22 - Solution</vt:lpstr>
      <vt:lpstr>Example: N &amp; R AP 4.21 &amp; 4.22 - Solution</vt:lpstr>
      <vt:lpstr>Example: N &amp; R AP 4.21 &amp; 4.22 - Solution</vt:lpstr>
      <vt:lpstr>Example: N &amp; R AP 4.21 &amp; 4.22 - Solution</vt:lpstr>
      <vt:lpstr>Example: N &amp; R AP 4.21 &amp; 4.22 - Solution</vt:lpstr>
    </vt:vector>
  </TitlesOfParts>
  <Company>Muhtaroglu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Signals and Systems I EEE-301 Lecture Notes</dc:title>
  <dc:creator>Ali</dc:creator>
  <cp:lastModifiedBy>Yağmur CAN</cp:lastModifiedBy>
  <cp:revision>548</cp:revision>
  <dcterms:created xsi:type="dcterms:W3CDTF">2007-08-31T13:08:21Z</dcterms:created>
  <dcterms:modified xsi:type="dcterms:W3CDTF">2023-12-01T22:52:55Z</dcterms:modified>
</cp:coreProperties>
</file>