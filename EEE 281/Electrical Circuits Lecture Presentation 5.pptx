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modernComment_1E3_65B4A6CD.xml" ContentType="application/vnd.ms-powerpoint.comments+xml"/>
  <Override PartName="/ppt/comments/modernComment_1FE_75CDA2B8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4" r:id="rId2"/>
  </p:sldMasterIdLst>
  <p:notesMasterIdLst>
    <p:notesMasterId r:id="rId42"/>
  </p:notesMasterIdLst>
  <p:handoutMasterIdLst>
    <p:handoutMasterId r:id="rId43"/>
  </p:handoutMasterIdLst>
  <p:sldIdLst>
    <p:sldId id="464" r:id="rId3"/>
    <p:sldId id="291" r:id="rId4"/>
    <p:sldId id="465" r:id="rId5"/>
    <p:sldId id="466" r:id="rId6"/>
    <p:sldId id="467" r:id="rId7"/>
    <p:sldId id="468" r:id="rId8"/>
    <p:sldId id="469" r:id="rId9"/>
    <p:sldId id="470" r:id="rId10"/>
    <p:sldId id="471" r:id="rId11"/>
    <p:sldId id="495" r:id="rId12"/>
    <p:sldId id="472" r:id="rId13"/>
    <p:sldId id="473" r:id="rId14"/>
    <p:sldId id="496" r:id="rId15"/>
    <p:sldId id="474" r:id="rId16"/>
    <p:sldId id="497" r:id="rId17"/>
    <p:sldId id="475" r:id="rId18"/>
    <p:sldId id="498" r:id="rId19"/>
    <p:sldId id="476" r:id="rId20"/>
    <p:sldId id="499" r:id="rId21"/>
    <p:sldId id="500" r:id="rId22"/>
    <p:sldId id="477" r:id="rId23"/>
    <p:sldId id="478" r:id="rId24"/>
    <p:sldId id="501" r:id="rId25"/>
    <p:sldId id="479" r:id="rId26"/>
    <p:sldId id="480" r:id="rId27"/>
    <p:sldId id="481" r:id="rId28"/>
    <p:sldId id="482" r:id="rId29"/>
    <p:sldId id="483" r:id="rId30"/>
    <p:sldId id="484" r:id="rId31"/>
    <p:sldId id="485" r:id="rId32"/>
    <p:sldId id="502" r:id="rId33"/>
    <p:sldId id="503" r:id="rId34"/>
    <p:sldId id="504" r:id="rId35"/>
    <p:sldId id="505" r:id="rId36"/>
    <p:sldId id="506" r:id="rId37"/>
    <p:sldId id="507" r:id="rId38"/>
    <p:sldId id="508" r:id="rId39"/>
    <p:sldId id="509" r:id="rId40"/>
    <p:sldId id="510" r:id="rId41"/>
  </p:sldIdLst>
  <p:sldSz cx="9144000" cy="6858000" type="screen4x3"/>
  <p:notesSz cx="6791325" cy="992346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179FC9B-D91B-7163-829F-830A43F7DB53}" name="Yağmur CAN" initials="YC" userId="S::yagmur.can@metu.edu.tr::a72a0d38-c58c-469d-bbc7-21a460a3a21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2" autoAdjust="0"/>
    <p:restoredTop sz="94604" autoAdjust="0"/>
  </p:normalViewPr>
  <p:slideViewPr>
    <p:cSldViewPr>
      <p:cViewPr>
        <p:scale>
          <a:sx n="75" d="100"/>
          <a:sy n="75" d="100"/>
        </p:scale>
        <p:origin x="859" y="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6488"/>
    </p:cViewPr>
  </p:sorterViewPr>
  <p:notesViewPr>
    <p:cSldViewPr>
      <p:cViewPr varScale="1">
        <p:scale>
          <a:sx n="58" d="100"/>
          <a:sy n="58" d="100"/>
        </p:scale>
        <p:origin x="-1968" y="-86"/>
      </p:cViewPr>
      <p:guideLst>
        <p:guide orient="horz" pos="3126"/>
        <p:guide pos="2140"/>
      </p:guideLst>
    </p:cSldViewPr>
  </p:notesViewPr>
  <p:gridSpacing cx="38405" cy="384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handoutMaster" Target="handoutMasters/handoutMaster1.xml"/><Relationship Id="rId48" Type="http://schemas.microsoft.com/office/2018/10/relationships/authors" Target="author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comments/modernComment_1E3_65B4A6C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2FBDF96-49BF-49B5-AC97-581A00A00B2E}" authorId="{7179FC9B-D91B-7163-829F-830A43F7DB53}" created="2024-01-19T15:12:31.368">
    <pc:sldMkLst xmlns:pc="http://schemas.microsoft.com/office/powerpoint/2013/main/command">
      <pc:docMk/>
      <pc:sldMk cId="1706337997" sldId="483"/>
    </pc:sldMkLst>
    <p188:txBody>
      <a:bodyPr/>
      <a:lstStyle/>
      <a:p>
        <a:r>
          <a:rPr lang="en-US"/>
          <a:t>KCL at V+ kısmını anlamadım</a:t>
        </a:r>
      </a:p>
    </p188:txBody>
  </p188:cm>
</p188:cmLst>
</file>

<file path=ppt/comments/modernComment_1FE_75CDA2B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8D887DB-E44E-47A0-B69F-70A2DCDB7910}" authorId="{7179FC9B-D91B-7163-829F-830A43F7DB53}" created="2024-01-19T15:51:09.488">
    <pc:sldMkLst xmlns:pc="http://schemas.microsoft.com/office/powerpoint/2013/main/command">
      <pc:docMk/>
      <pc:sldMk cId="1976410808" sldId="510"/>
    </pc:sldMkLst>
    <p188:txBody>
      <a:bodyPr/>
      <a:lstStyle/>
      <a:p>
        <a:r>
          <a:rPr lang="en-US"/>
          <a:t>KVL yaptığımız kısımda I yerine Vin/10^6 yazınca aynı sonucu bulmuyorum ben, orayı anlamadım
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2907" cy="496173"/>
          </a:xfrm>
          <a:prstGeom prst="rect">
            <a:avLst/>
          </a:prstGeom>
        </p:spPr>
        <p:txBody>
          <a:bodyPr vert="horz" lIns="88720" tIns="44360" rIns="88720" bIns="44360" rtlCol="0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6846" y="1"/>
            <a:ext cx="2942907" cy="496173"/>
          </a:xfrm>
          <a:prstGeom prst="rect">
            <a:avLst/>
          </a:prstGeom>
        </p:spPr>
        <p:txBody>
          <a:bodyPr vert="horz" lIns="88720" tIns="44360" rIns="88720" bIns="44360" rtlCol="0"/>
          <a:lstStyle>
            <a:lvl1pPr algn="r">
              <a:defRPr sz="1100"/>
            </a:lvl1pPr>
          </a:lstStyle>
          <a:p>
            <a:fld id="{88317F73-780A-44BC-8CEB-6A904FAD50C3}" type="datetimeFigureOut">
              <a:rPr lang="en-US" smtClean="0"/>
              <a:pPr/>
              <a:t>1/19/2024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425567"/>
            <a:ext cx="2942907" cy="496173"/>
          </a:xfrm>
          <a:prstGeom prst="rect">
            <a:avLst/>
          </a:prstGeom>
        </p:spPr>
        <p:txBody>
          <a:bodyPr vert="horz" lIns="88720" tIns="44360" rIns="88720" bIns="44360" rtlCol="0" anchor="b"/>
          <a:lstStyle>
            <a:lvl1pPr algn="l">
              <a:defRPr sz="1100"/>
            </a:lvl1pPr>
          </a:lstStyle>
          <a:p>
            <a:r>
              <a:rPr lang="en-US" dirty="0"/>
              <a:t>Ali Muhtaroglu EEE-201 Fall 2008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6846" y="9425567"/>
            <a:ext cx="2942907" cy="496173"/>
          </a:xfrm>
          <a:prstGeom prst="rect">
            <a:avLst/>
          </a:prstGeom>
        </p:spPr>
        <p:txBody>
          <a:bodyPr vert="horz" lIns="88720" tIns="44360" rIns="88720" bIns="44360" rtlCol="0" anchor="b"/>
          <a:lstStyle>
            <a:lvl1pPr algn="r">
              <a:defRPr sz="1100"/>
            </a:lvl1pPr>
          </a:lstStyle>
          <a:p>
            <a:fld id="{14CCCDEF-E892-426B-951E-3DF22639A05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6248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2907" cy="496173"/>
          </a:xfrm>
          <a:prstGeom prst="rect">
            <a:avLst/>
          </a:prstGeom>
        </p:spPr>
        <p:txBody>
          <a:bodyPr vert="horz" lIns="88720" tIns="44360" rIns="88720" bIns="44360" rtlCol="0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6846" y="1"/>
            <a:ext cx="2942907" cy="496173"/>
          </a:xfrm>
          <a:prstGeom prst="rect">
            <a:avLst/>
          </a:prstGeom>
        </p:spPr>
        <p:txBody>
          <a:bodyPr vert="horz" lIns="88720" tIns="44360" rIns="88720" bIns="44360" rtlCol="0"/>
          <a:lstStyle>
            <a:lvl1pPr algn="r">
              <a:defRPr sz="1100"/>
            </a:lvl1pPr>
          </a:lstStyle>
          <a:p>
            <a:fld id="{FEE8148B-16E5-4DB6-B21A-06F7282DA7B2}" type="datetimeFigureOut">
              <a:rPr lang="en-US" smtClean="0"/>
              <a:pPr/>
              <a:t>1/19/2024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6125"/>
            <a:ext cx="4959350" cy="37195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720" tIns="44360" rIns="88720" bIns="4436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133" y="4713647"/>
            <a:ext cx="5433060" cy="4465558"/>
          </a:xfrm>
          <a:prstGeom prst="rect">
            <a:avLst/>
          </a:prstGeom>
        </p:spPr>
        <p:txBody>
          <a:bodyPr vert="horz" lIns="88720" tIns="44360" rIns="88720" bIns="4436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5567"/>
            <a:ext cx="2942907" cy="496173"/>
          </a:xfrm>
          <a:prstGeom prst="rect">
            <a:avLst/>
          </a:prstGeom>
        </p:spPr>
        <p:txBody>
          <a:bodyPr vert="horz" lIns="88720" tIns="44360" rIns="88720" bIns="44360" rtlCol="0" anchor="b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6846" y="9425567"/>
            <a:ext cx="2942907" cy="496173"/>
          </a:xfrm>
          <a:prstGeom prst="rect">
            <a:avLst/>
          </a:prstGeom>
        </p:spPr>
        <p:txBody>
          <a:bodyPr vert="horz" lIns="88720" tIns="44360" rIns="88720" bIns="44360" rtlCol="0" anchor="b"/>
          <a:lstStyle>
            <a:lvl1pPr algn="r">
              <a:defRPr sz="1100"/>
            </a:lvl1pPr>
          </a:lstStyle>
          <a:p>
            <a:fld id="{E15A28F2-8CAD-4F56-A39E-6A4BC47858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963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5A28F2-8CAD-4F56-A39E-6A4BC478584B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90488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C23D7C-1F40-4D2D-8403-7491B6F2B770}" type="slidenum">
              <a:rPr lang="tr-TR" smtClean="0"/>
              <a:pPr/>
              <a:t>10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519420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C23D7C-1F40-4D2D-8403-7491B6F2B770}" type="slidenum">
              <a:rPr lang="tr-TR" smtClean="0"/>
              <a:pPr/>
              <a:t>11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013656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C23D7C-1F40-4D2D-8403-7491B6F2B770}" type="slidenum">
              <a:rPr lang="tr-TR" smtClean="0"/>
              <a:pPr/>
              <a:t>12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452065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5A28F2-8CAD-4F56-A39E-6A4BC478584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188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085AD2-EAF9-44D4-9DC0-A904DACFF846}" type="datetimeFigureOut">
              <a:rPr lang="en-US"/>
              <a:pPr>
                <a:defRPr/>
              </a:pPr>
              <a:t>1/19/2024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03159B-6DED-40ED-899A-53891BB365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8" name="Picture 2" descr="C:\Users\ali\Documents\prj\metu\webpage\redar\metuncc_emblem_h500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24700" y="0"/>
            <a:ext cx="2019300" cy="782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8082" y="0"/>
            <a:ext cx="1615918" cy="70224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71111D4-87A2-4FF9-BF16-4D005677BA2C}" type="datetimeFigureOut">
              <a:rPr lang="en-US" smtClean="0"/>
              <a:pPr>
                <a:defRPr/>
              </a:pPr>
              <a:t>1/19/2024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6667500" y="6454776"/>
            <a:ext cx="2438400" cy="365125"/>
          </a:xfrm>
        </p:spPr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220A69-C4DD-4109-A3ED-37F087A1F132}" type="datetimeFigureOut">
              <a:rPr lang="en-US"/>
              <a:pPr>
                <a:defRPr/>
              </a:pPr>
              <a:t>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34C74F-BF3E-4F24-8B3C-16FB0EDD9D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2164C4-958C-45BC-BD54-965BB7070DEB}" type="datetimeFigureOut">
              <a:rPr lang="en-US"/>
              <a:pPr>
                <a:defRPr/>
              </a:pPr>
              <a:t>1/19/2024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9941DC-0B2E-48E2-A6F0-9636F82086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2E9F9-703D-4B2D-9EFE-5A284F223768}" type="datetimeFigureOut">
              <a:rPr lang="en-US"/>
              <a:pPr>
                <a:defRPr/>
              </a:pPr>
              <a:t>1/19/2024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915964-DF3F-4834-BE59-592FCDF52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ali\Documents\prj\metu\webpage\redar\metuncc_emblem_h500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24700" y="0"/>
            <a:ext cx="2019300" cy="782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66C235-395A-448E-84C7-3296EFFFA653}" type="datetimeFigureOut">
              <a:rPr lang="en-US"/>
              <a:pPr>
                <a:defRPr/>
              </a:pPr>
              <a:t>1/19/2024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A6C548-C3D6-438F-AF28-F918C44420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2A89FF-37F9-41AE-A1AE-9FE9D4F65210}" type="datetimeFigureOut">
              <a:rPr lang="en-US"/>
              <a:pPr>
                <a:defRPr/>
              </a:pPr>
              <a:t>1/19/2024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D3E618-5168-46D8-9093-4FFD328E4C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C32A4D-DBA8-4AC9-A112-BADF4813838F}" type="datetimeFigureOut">
              <a:rPr lang="en-US"/>
              <a:pPr>
                <a:defRPr/>
              </a:pPr>
              <a:t>1/19/2024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5CE29A-235E-4102-A7BB-AC1422769E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8830A5-9CDD-4A01-AE6C-B7F774C547D9}" type="datetimeFigureOut">
              <a:rPr lang="en-US"/>
              <a:pPr>
                <a:defRPr/>
              </a:pPr>
              <a:t>1/19/2024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5B51D7-DCE0-49C4-9B0B-0EC664849A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180D80-6114-402D-A1C1-7E7B8DEED232}" type="datetimeFigureOut">
              <a:rPr lang="en-US"/>
              <a:pPr>
                <a:defRPr/>
              </a:pPr>
              <a:t>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6750E7-EF53-4816-BA7D-520B91DC7E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AFF668-FF27-4A48-BBBC-72969536306B}" type="datetimeFigureOut">
              <a:rPr lang="en-US"/>
              <a:pPr>
                <a:defRPr/>
              </a:pPr>
              <a:t>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E57CBA-45D2-49F3-AE4F-4082575BC8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085AD2-EAF9-44D4-9DC0-A904DACFF846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03159B-6DED-40ED-899A-53891BB365C7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8082" y="0"/>
            <a:ext cx="1615918" cy="702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0885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8082" y="0"/>
            <a:ext cx="1615918" cy="70224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71111D4-87A2-4FF9-BF16-4D005677BA2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1/19/2024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6667500" y="6454776"/>
            <a:ext cx="2438400" cy="365125"/>
          </a:xfrm>
        </p:spPr>
        <p:txBody>
          <a:bodyPr/>
          <a:lstStyle/>
          <a:p>
            <a:pPr>
              <a:defRPr/>
            </a:pPr>
            <a:fld id="{A957CEED-90C7-4FD0-AB8C-14085BB9151E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69754078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220A69-C4DD-4109-A3ED-37F087A1F132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34C74F-BF3E-4F24-8B3C-16FB0EDD9D87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00163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2164C4-958C-45BC-BD54-965BB7070DEB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9941DC-0B2E-48E2-A6F0-9636F82086E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86224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2E9F9-703D-4B2D-9EFE-5A284F223768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915964-DF3F-4834-BE59-592FCDF52C0B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28427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66C235-395A-448E-84C7-3296EFFFA653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A6C548-C3D6-438F-AF28-F918C44420D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49446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2A89FF-37F9-41AE-A1AE-9FE9D4F6521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D3E618-5168-46D8-9093-4FFD328E4CA3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70412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C32A4D-DBA8-4AC9-A112-BADF4813838F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5CE29A-235E-4102-A7BB-AC1422769E12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88896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8830A5-9CDD-4A01-AE6C-B7F774C547D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5B51D7-DCE0-49C4-9B0B-0EC664849A65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48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180D80-6114-402D-A1C1-7E7B8DEED232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6750E7-EF53-4816-BA7D-520B91DC7E0B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28226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AFF668-FF27-4A48-BBBC-72969536306B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E57CBA-45D2-49F3-AE4F-4082575BC865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4826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1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571111D4-87A2-4FF9-BF16-4D005677BA2C}" type="datetimeFigureOut">
              <a:rPr lang="en-US"/>
              <a:pPr>
                <a:defRPr/>
              </a:pPr>
              <a:t>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A957CEED-90C7-4FD0-AB8C-14085BB9151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1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571111D4-87A2-4FF9-BF16-4D005677BA2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A957CEED-90C7-4FD0-AB8C-14085BB9151E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6350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3.wmf"/><Relationship Id="rId7" Type="http://schemas.openxmlformats.org/officeDocument/2006/relationships/image" Target="../media/image6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8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7" Type="http://schemas.openxmlformats.org/officeDocument/2006/relationships/image" Target="../media/image10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9.wmf"/><Relationship Id="rId4" Type="http://schemas.openxmlformats.org/officeDocument/2006/relationships/image" Target="../media/image7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12" Type="http://schemas.openxmlformats.org/officeDocument/2006/relationships/image" Target="../media/image5.png"/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wmf"/><Relationship Id="rId11" Type="http://schemas.openxmlformats.org/officeDocument/2006/relationships/image" Target="../media/image6.png"/><Relationship Id="rId5" Type="http://schemas.openxmlformats.org/officeDocument/2006/relationships/oleObject" Target="../embeddings/oleObject6.bin"/><Relationship Id="rId10" Type="http://schemas.openxmlformats.org/officeDocument/2006/relationships/image" Target="../media/image13.w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8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image" Target="../media/image13.wmf"/><Relationship Id="rId7" Type="http://schemas.openxmlformats.org/officeDocument/2006/relationships/image" Target="../media/image15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4.wmf"/><Relationship Id="rId4" Type="http://schemas.openxmlformats.org/officeDocument/2006/relationships/oleObject" Target="../embeddings/oleObject10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13" Type="http://schemas.openxmlformats.org/officeDocument/2006/relationships/image" Target="../media/image15.wmf"/><Relationship Id="rId3" Type="http://schemas.openxmlformats.org/officeDocument/2006/relationships/image" Target="../media/image17.wmf"/><Relationship Id="rId7" Type="http://schemas.openxmlformats.org/officeDocument/2006/relationships/image" Target="../media/image18.wmf"/><Relationship Id="rId12" Type="http://schemas.openxmlformats.org/officeDocument/2006/relationships/oleObject" Target="../embeddings/oleObject17.bin"/><Relationship Id="rId17" Type="http://schemas.openxmlformats.org/officeDocument/2006/relationships/image" Target="../media/image22.png"/><Relationship Id="rId2" Type="http://schemas.openxmlformats.org/officeDocument/2006/relationships/oleObject" Target="../embeddings/oleObject12.bin"/><Relationship Id="rId16" Type="http://schemas.openxmlformats.org/officeDocument/2006/relationships/image" Target="../media/image16.e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.bin"/><Relationship Id="rId11" Type="http://schemas.openxmlformats.org/officeDocument/2006/relationships/image" Target="../media/image14.wmf"/><Relationship Id="rId5" Type="http://schemas.openxmlformats.org/officeDocument/2006/relationships/image" Target="../media/image13.wmf"/><Relationship Id="rId15" Type="http://schemas.openxmlformats.org/officeDocument/2006/relationships/image" Target="../media/image21.png"/><Relationship Id="rId10" Type="http://schemas.openxmlformats.org/officeDocument/2006/relationships/oleObject" Target="../embeddings/oleObject16.bin"/><Relationship Id="rId4" Type="http://schemas.openxmlformats.org/officeDocument/2006/relationships/oleObject" Target="../embeddings/oleObject13.bin"/><Relationship Id="rId9" Type="http://schemas.openxmlformats.org/officeDocument/2006/relationships/image" Target="../media/image19.wmf"/><Relationship Id="rId1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image" Target="../media/image13.wmf"/><Relationship Id="rId7" Type="http://schemas.openxmlformats.org/officeDocument/2006/relationships/oleObject" Target="../embeddings/oleObject20.bin"/><Relationship Id="rId12" Type="http://schemas.openxmlformats.org/officeDocument/2006/relationships/image" Target="../media/image27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wmf"/><Relationship Id="rId11" Type="http://schemas.openxmlformats.org/officeDocument/2006/relationships/oleObject" Target="../embeddings/oleObject22.bin"/><Relationship Id="rId5" Type="http://schemas.openxmlformats.org/officeDocument/2006/relationships/oleObject" Target="../embeddings/oleObject19.bin"/><Relationship Id="rId10" Type="http://schemas.openxmlformats.org/officeDocument/2006/relationships/image" Target="../media/image26.wmf"/><Relationship Id="rId4" Type="http://schemas.openxmlformats.org/officeDocument/2006/relationships/image" Target="../media/image23.png"/><Relationship Id="rId9" Type="http://schemas.openxmlformats.org/officeDocument/2006/relationships/oleObject" Target="../embeddings/oleObject21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image" Target="../media/image23.png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27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wmf"/><Relationship Id="rId11" Type="http://schemas.openxmlformats.org/officeDocument/2006/relationships/oleObject" Target="../embeddings/oleObject26.bin"/><Relationship Id="rId5" Type="http://schemas.openxmlformats.org/officeDocument/2006/relationships/oleObject" Target="../embeddings/oleObject23.bin"/><Relationship Id="rId10" Type="http://schemas.openxmlformats.org/officeDocument/2006/relationships/image" Target="../media/image25.wmf"/><Relationship Id="rId4" Type="http://schemas.openxmlformats.org/officeDocument/2006/relationships/image" Target="../media/image28.png"/><Relationship Id="rId9" Type="http://schemas.openxmlformats.org/officeDocument/2006/relationships/oleObject" Target="../embeddings/oleObject25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13" Type="http://schemas.openxmlformats.org/officeDocument/2006/relationships/image" Target="../media/image32.wmf"/><Relationship Id="rId18" Type="http://schemas.openxmlformats.org/officeDocument/2006/relationships/oleObject" Target="../embeddings/oleObject34.bin"/><Relationship Id="rId3" Type="http://schemas.openxmlformats.org/officeDocument/2006/relationships/oleObject" Target="../embeddings/oleObject27.bin"/><Relationship Id="rId21" Type="http://schemas.openxmlformats.org/officeDocument/2006/relationships/image" Target="../media/image26.wmf"/><Relationship Id="rId7" Type="http://schemas.openxmlformats.org/officeDocument/2006/relationships/image" Target="../media/image29.wmf"/><Relationship Id="rId12" Type="http://schemas.openxmlformats.org/officeDocument/2006/relationships/oleObject" Target="../embeddings/oleObject32.bin"/><Relationship Id="rId17" Type="http://schemas.openxmlformats.org/officeDocument/2006/relationships/image" Target="../media/image28.png"/><Relationship Id="rId25" Type="http://schemas.openxmlformats.org/officeDocument/2006/relationships/image" Target="../media/image27.wmf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3.png"/><Relationship Id="rId20" Type="http://schemas.openxmlformats.org/officeDocument/2006/relationships/oleObject" Target="../embeddings/oleObject3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9.bin"/><Relationship Id="rId11" Type="http://schemas.openxmlformats.org/officeDocument/2006/relationships/image" Target="../media/image31.wmf"/><Relationship Id="rId24" Type="http://schemas.openxmlformats.org/officeDocument/2006/relationships/oleObject" Target="../embeddings/oleObject37.bin"/><Relationship Id="rId5" Type="http://schemas.openxmlformats.org/officeDocument/2006/relationships/oleObject" Target="../embeddings/oleObject28.bin"/><Relationship Id="rId15" Type="http://schemas.openxmlformats.org/officeDocument/2006/relationships/image" Target="../media/image33.wmf"/><Relationship Id="rId23" Type="http://schemas.openxmlformats.org/officeDocument/2006/relationships/image" Target="../media/image25.wmf"/><Relationship Id="rId10" Type="http://schemas.openxmlformats.org/officeDocument/2006/relationships/oleObject" Target="../embeddings/oleObject31.bin"/><Relationship Id="rId19" Type="http://schemas.openxmlformats.org/officeDocument/2006/relationships/image" Target="../media/image24.wmf"/><Relationship Id="rId4" Type="http://schemas.openxmlformats.org/officeDocument/2006/relationships/image" Target="../media/image13.wmf"/><Relationship Id="rId9" Type="http://schemas.openxmlformats.org/officeDocument/2006/relationships/image" Target="../media/image30.wmf"/><Relationship Id="rId14" Type="http://schemas.openxmlformats.org/officeDocument/2006/relationships/oleObject" Target="../embeddings/oleObject33.bin"/><Relationship Id="rId22" Type="http://schemas.openxmlformats.org/officeDocument/2006/relationships/oleObject" Target="../embeddings/oleObject36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.bin"/><Relationship Id="rId13" Type="http://schemas.openxmlformats.org/officeDocument/2006/relationships/image" Target="../media/image32.wmf"/><Relationship Id="rId18" Type="http://schemas.openxmlformats.org/officeDocument/2006/relationships/image" Target="../media/image34.wmf"/><Relationship Id="rId3" Type="http://schemas.openxmlformats.org/officeDocument/2006/relationships/oleObject" Target="../embeddings/oleObject38.bin"/><Relationship Id="rId7" Type="http://schemas.openxmlformats.org/officeDocument/2006/relationships/image" Target="../media/image29.wmf"/><Relationship Id="rId12" Type="http://schemas.openxmlformats.org/officeDocument/2006/relationships/oleObject" Target="../embeddings/oleObject43.bin"/><Relationship Id="rId17" Type="http://schemas.openxmlformats.org/officeDocument/2006/relationships/oleObject" Target="../embeddings/oleObject45.bin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8.png"/><Relationship Id="rId20" Type="http://schemas.openxmlformats.org/officeDocument/2006/relationships/image" Target="../media/image35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0.bin"/><Relationship Id="rId11" Type="http://schemas.openxmlformats.org/officeDocument/2006/relationships/image" Target="../media/image31.wmf"/><Relationship Id="rId5" Type="http://schemas.openxmlformats.org/officeDocument/2006/relationships/oleObject" Target="../embeddings/oleObject39.bin"/><Relationship Id="rId15" Type="http://schemas.openxmlformats.org/officeDocument/2006/relationships/image" Target="../media/image33.wmf"/><Relationship Id="rId10" Type="http://schemas.openxmlformats.org/officeDocument/2006/relationships/oleObject" Target="../embeddings/oleObject42.bin"/><Relationship Id="rId19" Type="http://schemas.openxmlformats.org/officeDocument/2006/relationships/oleObject" Target="../embeddings/oleObject46.bin"/><Relationship Id="rId4" Type="http://schemas.openxmlformats.org/officeDocument/2006/relationships/image" Target="../media/image13.wmf"/><Relationship Id="rId9" Type="http://schemas.openxmlformats.org/officeDocument/2006/relationships/image" Target="../media/image30.wmf"/><Relationship Id="rId14" Type="http://schemas.openxmlformats.org/officeDocument/2006/relationships/oleObject" Target="../embeddings/oleObject44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.bin"/><Relationship Id="rId3" Type="http://schemas.openxmlformats.org/officeDocument/2006/relationships/image" Target="../media/image37.wmf"/><Relationship Id="rId7" Type="http://schemas.openxmlformats.org/officeDocument/2006/relationships/image" Target="../media/image13.wmf"/><Relationship Id="rId12" Type="http://schemas.openxmlformats.org/officeDocument/2006/relationships/image" Target="../media/image36.wmf"/><Relationship Id="rId2" Type="http://schemas.openxmlformats.org/officeDocument/2006/relationships/oleObject" Target="../embeddings/oleObject4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9.bin"/><Relationship Id="rId11" Type="http://schemas.openxmlformats.org/officeDocument/2006/relationships/image" Target="../media/image40.wmf"/><Relationship Id="rId5" Type="http://schemas.openxmlformats.org/officeDocument/2006/relationships/image" Target="../media/image38.wmf"/><Relationship Id="rId10" Type="http://schemas.openxmlformats.org/officeDocument/2006/relationships/oleObject" Target="../embeddings/oleObject51.bin"/><Relationship Id="rId4" Type="http://schemas.openxmlformats.org/officeDocument/2006/relationships/oleObject" Target="../embeddings/oleObject48.bin"/><Relationship Id="rId9" Type="http://schemas.openxmlformats.org/officeDocument/2006/relationships/image" Target="../media/image39.w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w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5.bin"/><Relationship Id="rId3" Type="http://schemas.openxmlformats.org/officeDocument/2006/relationships/image" Target="../media/image42.wmf"/><Relationship Id="rId7" Type="http://schemas.openxmlformats.org/officeDocument/2006/relationships/image" Target="../media/image44.wmf"/><Relationship Id="rId12" Type="http://schemas.openxmlformats.org/officeDocument/2006/relationships/image" Target="../media/image41.wmf"/><Relationship Id="rId2" Type="http://schemas.openxmlformats.org/officeDocument/2006/relationships/oleObject" Target="../embeddings/oleObject5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4.bin"/><Relationship Id="rId11" Type="http://schemas.openxmlformats.org/officeDocument/2006/relationships/image" Target="../media/image46.wmf"/><Relationship Id="rId5" Type="http://schemas.openxmlformats.org/officeDocument/2006/relationships/image" Target="../media/image43.wmf"/><Relationship Id="rId10" Type="http://schemas.openxmlformats.org/officeDocument/2006/relationships/oleObject" Target="../embeddings/oleObject56.bin"/><Relationship Id="rId4" Type="http://schemas.openxmlformats.org/officeDocument/2006/relationships/oleObject" Target="../embeddings/oleObject53.bin"/><Relationship Id="rId9" Type="http://schemas.openxmlformats.org/officeDocument/2006/relationships/image" Target="../media/image45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7" Type="http://schemas.openxmlformats.org/officeDocument/2006/relationships/image" Target="../media/image49.wmf"/><Relationship Id="rId2" Type="http://schemas.openxmlformats.org/officeDocument/2006/relationships/oleObject" Target="../embeddings/oleObject5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9.bin"/><Relationship Id="rId5" Type="http://schemas.openxmlformats.org/officeDocument/2006/relationships/image" Target="../media/image48.wmf"/><Relationship Id="rId4" Type="http://schemas.openxmlformats.org/officeDocument/2006/relationships/oleObject" Target="../embeddings/oleObject58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3.bin"/><Relationship Id="rId3" Type="http://schemas.openxmlformats.org/officeDocument/2006/relationships/image" Target="../media/image47.wmf"/><Relationship Id="rId7" Type="http://schemas.openxmlformats.org/officeDocument/2006/relationships/image" Target="../media/image13.wmf"/><Relationship Id="rId12" Type="http://schemas.openxmlformats.org/officeDocument/2006/relationships/image" Target="../media/image50.wmf"/><Relationship Id="rId2" Type="http://schemas.openxmlformats.org/officeDocument/2006/relationships/oleObject" Target="../embeddings/oleObject6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2.bin"/><Relationship Id="rId11" Type="http://schemas.openxmlformats.org/officeDocument/2006/relationships/oleObject" Target="../embeddings/oleObject65.bin"/><Relationship Id="rId5" Type="http://schemas.openxmlformats.org/officeDocument/2006/relationships/image" Target="../media/image48.wmf"/><Relationship Id="rId10" Type="http://schemas.openxmlformats.org/officeDocument/2006/relationships/image" Target="../media/image49.wmf"/><Relationship Id="rId4" Type="http://schemas.openxmlformats.org/officeDocument/2006/relationships/oleObject" Target="../embeddings/oleObject61.bin"/><Relationship Id="rId9" Type="http://schemas.openxmlformats.org/officeDocument/2006/relationships/oleObject" Target="../embeddings/oleObject64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9.bin"/><Relationship Id="rId13" Type="http://schemas.openxmlformats.org/officeDocument/2006/relationships/oleObject" Target="../embeddings/oleObject72.bin"/><Relationship Id="rId3" Type="http://schemas.openxmlformats.org/officeDocument/2006/relationships/image" Target="../media/image47.wmf"/><Relationship Id="rId7" Type="http://schemas.openxmlformats.org/officeDocument/2006/relationships/image" Target="../media/image13.wmf"/><Relationship Id="rId12" Type="http://schemas.openxmlformats.org/officeDocument/2006/relationships/image" Target="../media/image52.wmf"/><Relationship Id="rId2" Type="http://schemas.openxmlformats.org/officeDocument/2006/relationships/oleObject" Target="../embeddings/oleObject66.bin"/><Relationship Id="rId16" Type="http://schemas.openxmlformats.org/officeDocument/2006/relationships/image" Target="../media/image50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8.bin"/><Relationship Id="rId11" Type="http://schemas.openxmlformats.org/officeDocument/2006/relationships/oleObject" Target="../embeddings/oleObject71.bin"/><Relationship Id="rId5" Type="http://schemas.openxmlformats.org/officeDocument/2006/relationships/image" Target="../media/image48.wmf"/><Relationship Id="rId15" Type="http://schemas.openxmlformats.org/officeDocument/2006/relationships/oleObject" Target="../embeddings/oleObject73.bin"/><Relationship Id="rId10" Type="http://schemas.openxmlformats.org/officeDocument/2006/relationships/oleObject" Target="../embeddings/oleObject70.bin"/><Relationship Id="rId4" Type="http://schemas.openxmlformats.org/officeDocument/2006/relationships/oleObject" Target="../embeddings/oleObject67.bin"/><Relationship Id="rId9" Type="http://schemas.openxmlformats.org/officeDocument/2006/relationships/image" Target="../media/image51.wmf"/><Relationship Id="rId14" Type="http://schemas.openxmlformats.org/officeDocument/2006/relationships/image" Target="../media/image49.w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w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7.bin"/><Relationship Id="rId3" Type="http://schemas.openxmlformats.org/officeDocument/2006/relationships/image" Target="../media/image54.wmf"/><Relationship Id="rId7" Type="http://schemas.openxmlformats.org/officeDocument/2006/relationships/image" Target="../media/image56.wmf"/><Relationship Id="rId12" Type="http://schemas.openxmlformats.org/officeDocument/2006/relationships/image" Target="../media/image53.wmf"/><Relationship Id="rId2" Type="http://schemas.openxmlformats.org/officeDocument/2006/relationships/oleObject" Target="../embeddings/oleObject7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6.bin"/><Relationship Id="rId11" Type="http://schemas.openxmlformats.org/officeDocument/2006/relationships/image" Target="../media/image58.wmf"/><Relationship Id="rId5" Type="http://schemas.openxmlformats.org/officeDocument/2006/relationships/image" Target="../media/image55.wmf"/><Relationship Id="rId10" Type="http://schemas.openxmlformats.org/officeDocument/2006/relationships/oleObject" Target="../embeddings/oleObject78.bin"/><Relationship Id="rId4" Type="http://schemas.openxmlformats.org/officeDocument/2006/relationships/oleObject" Target="../embeddings/oleObject75.bin"/><Relationship Id="rId9" Type="http://schemas.openxmlformats.org/officeDocument/2006/relationships/image" Target="../media/image57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2.bin"/><Relationship Id="rId3" Type="http://schemas.openxmlformats.org/officeDocument/2006/relationships/image" Target="../media/image59.wmf"/><Relationship Id="rId7" Type="http://schemas.openxmlformats.org/officeDocument/2006/relationships/image" Target="../media/image60.wmf"/><Relationship Id="rId2" Type="http://schemas.openxmlformats.org/officeDocument/2006/relationships/oleObject" Target="../embeddings/oleObject7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1.bin"/><Relationship Id="rId5" Type="http://schemas.openxmlformats.org/officeDocument/2006/relationships/image" Target="../media/image48.wmf"/><Relationship Id="rId4" Type="http://schemas.openxmlformats.org/officeDocument/2006/relationships/oleObject" Target="../embeddings/oleObject80.bin"/><Relationship Id="rId9" Type="http://schemas.openxmlformats.org/officeDocument/2006/relationships/image" Target="../media/image49.w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w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6.bin"/><Relationship Id="rId13" Type="http://schemas.openxmlformats.org/officeDocument/2006/relationships/image" Target="../media/image66.wmf"/><Relationship Id="rId3" Type="http://schemas.openxmlformats.org/officeDocument/2006/relationships/image" Target="../media/image54.wmf"/><Relationship Id="rId7" Type="http://schemas.openxmlformats.org/officeDocument/2006/relationships/image" Target="../media/image63.wmf"/><Relationship Id="rId12" Type="http://schemas.openxmlformats.org/officeDocument/2006/relationships/oleObject" Target="../embeddings/oleObject88.bin"/><Relationship Id="rId2" Type="http://schemas.openxmlformats.org/officeDocument/2006/relationships/oleObject" Target="../embeddings/oleObject83.bin"/><Relationship Id="rId16" Type="http://schemas.openxmlformats.org/officeDocument/2006/relationships/image" Target="../media/image61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5.bin"/><Relationship Id="rId11" Type="http://schemas.openxmlformats.org/officeDocument/2006/relationships/image" Target="../media/image65.wmf"/><Relationship Id="rId5" Type="http://schemas.openxmlformats.org/officeDocument/2006/relationships/image" Target="../media/image62.wmf"/><Relationship Id="rId15" Type="http://schemas.openxmlformats.org/officeDocument/2006/relationships/image" Target="../media/image67.wmf"/><Relationship Id="rId10" Type="http://schemas.openxmlformats.org/officeDocument/2006/relationships/oleObject" Target="../embeddings/oleObject87.bin"/><Relationship Id="rId4" Type="http://schemas.openxmlformats.org/officeDocument/2006/relationships/oleObject" Target="../embeddings/oleObject84.bin"/><Relationship Id="rId9" Type="http://schemas.openxmlformats.org/officeDocument/2006/relationships/image" Target="../media/image64.wmf"/><Relationship Id="rId14" Type="http://schemas.openxmlformats.org/officeDocument/2006/relationships/oleObject" Target="../embeddings/oleObject89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wmf"/><Relationship Id="rId13" Type="http://schemas.openxmlformats.org/officeDocument/2006/relationships/oleObject" Target="../embeddings/oleObject95.bin"/><Relationship Id="rId3" Type="http://schemas.openxmlformats.org/officeDocument/2006/relationships/oleObject" Target="../embeddings/oleObject90.bin"/><Relationship Id="rId7" Type="http://schemas.openxmlformats.org/officeDocument/2006/relationships/oleObject" Target="../embeddings/oleObject92.bin"/><Relationship Id="rId12" Type="http://schemas.openxmlformats.org/officeDocument/2006/relationships/image" Target="../media/image73.wmf"/><Relationship Id="rId2" Type="http://schemas.openxmlformats.org/officeDocument/2006/relationships/image" Target="../media/image6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wmf"/><Relationship Id="rId11" Type="http://schemas.openxmlformats.org/officeDocument/2006/relationships/oleObject" Target="../embeddings/oleObject94.bin"/><Relationship Id="rId5" Type="http://schemas.openxmlformats.org/officeDocument/2006/relationships/oleObject" Target="../embeddings/oleObject91.bin"/><Relationship Id="rId10" Type="http://schemas.openxmlformats.org/officeDocument/2006/relationships/image" Target="../media/image72.wmf"/><Relationship Id="rId4" Type="http://schemas.openxmlformats.org/officeDocument/2006/relationships/image" Target="../media/image69.wmf"/><Relationship Id="rId9" Type="http://schemas.openxmlformats.org/officeDocument/2006/relationships/oleObject" Target="../embeddings/oleObject93.bin"/><Relationship Id="rId14" Type="http://schemas.openxmlformats.org/officeDocument/2006/relationships/image" Target="../media/image74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wmf"/><Relationship Id="rId13" Type="http://schemas.openxmlformats.org/officeDocument/2006/relationships/oleObject" Target="../embeddings/oleObject101.bin"/><Relationship Id="rId18" Type="http://schemas.openxmlformats.org/officeDocument/2006/relationships/image" Target="../media/image76.wmf"/><Relationship Id="rId3" Type="http://schemas.openxmlformats.org/officeDocument/2006/relationships/oleObject" Target="../embeddings/oleObject96.bin"/><Relationship Id="rId21" Type="http://schemas.openxmlformats.org/officeDocument/2006/relationships/oleObject" Target="../embeddings/oleObject105.bin"/><Relationship Id="rId7" Type="http://schemas.openxmlformats.org/officeDocument/2006/relationships/oleObject" Target="../embeddings/oleObject98.bin"/><Relationship Id="rId12" Type="http://schemas.openxmlformats.org/officeDocument/2006/relationships/image" Target="../media/image72.wmf"/><Relationship Id="rId17" Type="http://schemas.openxmlformats.org/officeDocument/2006/relationships/oleObject" Target="../embeddings/oleObject103.bin"/><Relationship Id="rId2" Type="http://schemas.openxmlformats.org/officeDocument/2006/relationships/image" Target="../media/image68.emf"/><Relationship Id="rId16" Type="http://schemas.openxmlformats.org/officeDocument/2006/relationships/image" Target="../media/image75.wmf"/><Relationship Id="rId20" Type="http://schemas.openxmlformats.org/officeDocument/2006/relationships/image" Target="../media/image77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wmf"/><Relationship Id="rId11" Type="http://schemas.openxmlformats.org/officeDocument/2006/relationships/oleObject" Target="../embeddings/oleObject100.bin"/><Relationship Id="rId5" Type="http://schemas.openxmlformats.org/officeDocument/2006/relationships/oleObject" Target="../embeddings/oleObject97.bin"/><Relationship Id="rId15" Type="http://schemas.openxmlformats.org/officeDocument/2006/relationships/oleObject" Target="../embeddings/oleObject102.bin"/><Relationship Id="rId10" Type="http://schemas.openxmlformats.org/officeDocument/2006/relationships/image" Target="../media/image73.wmf"/><Relationship Id="rId19" Type="http://schemas.openxmlformats.org/officeDocument/2006/relationships/oleObject" Target="../embeddings/oleObject104.bin"/><Relationship Id="rId4" Type="http://schemas.openxmlformats.org/officeDocument/2006/relationships/image" Target="../media/image69.wmf"/><Relationship Id="rId9" Type="http://schemas.openxmlformats.org/officeDocument/2006/relationships/oleObject" Target="../embeddings/oleObject99.bin"/><Relationship Id="rId14" Type="http://schemas.openxmlformats.org/officeDocument/2006/relationships/image" Target="../media/image74.wmf"/><Relationship Id="rId22" Type="http://schemas.openxmlformats.org/officeDocument/2006/relationships/image" Target="../media/image78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8.bin"/><Relationship Id="rId13" Type="http://schemas.openxmlformats.org/officeDocument/2006/relationships/image" Target="../media/image75.wmf"/><Relationship Id="rId18" Type="http://schemas.openxmlformats.org/officeDocument/2006/relationships/oleObject" Target="../embeddings/oleObject113.bin"/><Relationship Id="rId26" Type="http://schemas.openxmlformats.org/officeDocument/2006/relationships/oleObject" Target="../embeddings/oleObject117.bin"/><Relationship Id="rId3" Type="http://schemas.openxmlformats.org/officeDocument/2006/relationships/image" Target="../media/image68.emf"/><Relationship Id="rId21" Type="http://schemas.openxmlformats.org/officeDocument/2006/relationships/image" Target="../media/image81.wmf"/><Relationship Id="rId7" Type="http://schemas.openxmlformats.org/officeDocument/2006/relationships/image" Target="../media/image70.wmf"/><Relationship Id="rId12" Type="http://schemas.openxmlformats.org/officeDocument/2006/relationships/oleObject" Target="../embeddings/oleObject110.bin"/><Relationship Id="rId17" Type="http://schemas.openxmlformats.org/officeDocument/2006/relationships/image" Target="../media/image79.wmf"/><Relationship Id="rId25" Type="http://schemas.openxmlformats.org/officeDocument/2006/relationships/image" Target="../media/image73.wmf"/><Relationship Id="rId2" Type="http://schemas.microsoft.com/office/2018/10/relationships/comments" Target="../comments/modernComment_1E3_65B4A6CD.xml"/><Relationship Id="rId16" Type="http://schemas.openxmlformats.org/officeDocument/2006/relationships/oleObject" Target="../embeddings/oleObject112.bin"/><Relationship Id="rId20" Type="http://schemas.openxmlformats.org/officeDocument/2006/relationships/oleObject" Target="../embeddings/oleObject114.bin"/><Relationship Id="rId29" Type="http://schemas.openxmlformats.org/officeDocument/2006/relationships/image" Target="../media/image78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7.bin"/><Relationship Id="rId11" Type="http://schemas.openxmlformats.org/officeDocument/2006/relationships/image" Target="../media/image74.wmf"/><Relationship Id="rId24" Type="http://schemas.openxmlformats.org/officeDocument/2006/relationships/oleObject" Target="../embeddings/oleObject116.bin"/><Relationship Id="rId5" Type="http://schemas.openxmlformats.org/officeDocument/2006/relationships/image" Target="../media/image69.wmf"/><Relationship Id="rId15" Type="http://schemas.openxmlformats.org/officeDocument/2006/relationships/image" Target="../media/image76.wmf"/><Relationship Id="rId23" Type="http://schemas.openxmlformats.org/officeDocument/2006/relationships/image" Target="../media/image77.wmf"/><Relationship Id="rId28" Type="http://schemas.openxmlformats.org/officeDocument/2006/relationships/oleObject" Target="../embeddings/oleObject118.bin"/><Relationship Id="rId10" Type="http://schemas.openxmlformats.org/officeDocument/2006/relationships/oleObject" Target="../embeddings/oleObject109.bin"/><Relationship Id="rId19" Type="http://schemas.openxmlformats.org/officeDocument/2006/relationships/image" Target="../media/image80.wmf"/><Relationship Id="rId4" Type="http://schemas.openxmlformats.org/officeDocument/2006/relationships/oleObject" Target="../embeddings/oleObject106.bin"/><Relationship Id="rId9" Type="http://schemas.openxmlformats.org/officeDocument/2006/relationships/image" Target="../media/image71.wmf"/><Relationship Id="rId14" Type="http://schemas.openxmlformats.org/officeDocument/2006/relationships/oleObject" Target="../embeddings/oleObject111.bin"/><Relationship Id="rId22" Type="http://schemas.openxmlformats.org/officeDocument/2006/relationships/oleObject" Target="../embeddings/oleObject115.bin"/><Relationship Id="rId27" Type="http://schemas.openxmlformats.org/officeDocument/2006/relationships/image" Target="../media/image72.wmf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24.bin"/><Relationship Id="rId18" Type="http://schemas.openxmlformats.org/officeDocument/2006/relationships/image" Target="../media/image79.wmf"/><Relationship Id="rId26" Type="http://schemas.openxmlformats.org/officeDocument/2006/relationships/image" Target="../media/image83.wmf"/><Relationship Id="rId3" Type="http://schemas.openxmlformats.org/officeDocument/2006/relationships/oleObject" Target="../embeddings/oleObject119.bin"/><Relationship Id="rId21" Type="http://schemas.openxmlformats.org/officeDocument/2006/relationships/oleObject" Target="../embeddings/oleObject128.bin"/><Relationship Id="rId34" Type="http://schemas.openxmlformats.org/officeDocument/2006/relationships/image" Target="../media/image78.wmf"/><Relationship Id="rId7" Type="http://schemas.openxmlformats.org/officeDocument/2006/relationships/oleObject" Target="../embeddings/oleObject121.bin"/><Relationship Id="rId12" Type="http://schemas.openxmlformats.org/officeDocument/2006/relationships/image" Target="../media/image13.wmf"/><Relationship Id="rId17" Type="http://schemas.openxmlformats.org/officeDocument/2006/relationships/oleObject" Target="../embeddings/oleObject126.bin"/><Relationship Id="rId25" Type="http://schemas.openxmlformats.org/officeDocument/2006/relationships/oleObject" Target="../embeddings/oleObject130.bin"/><Relationship Id="rId33" Type="http://schemas.openxmlformats.org/officeDocument/2006/relationships/oleObject" Target="../embeddings/oleObject134.bin"/><Relationship Id="rId2" Type="http://schemas.openxmlformats.org/officeDocument/2006/relationships/image" Target="../media/image68.emf"/><Relationship Id="rId16" Type="http://schemas.openxmlformats.org/officeDocument/2006/relationships/image" Target="../media/image76.wmf"/><Relationship Id="rId20" Type="http://schemas.openxmlformats.org/officeDocument/2006/relationships/image" Target="../media/image80.wmf"/><Relationship Id="rId29" Type="http://schemas.openxmlformats.org/officeDocument/2006/relationships/oleObject" Target="../embeddings/oleObject132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wmf"/><Relationship Id="rId11" Type="http://schemas.openxmlformats.org/officeDocument/2006/relationships/oleObject" Target="../embeddings/oleObject123.bin"/><Relationship Id="rId24" Type="http://schemas.openxmlformats.org/officeDocument/2006/relationships/image" Target="../media/image82.wmf"/><Relationship Id="rId32" Type="http://schemas.openxmlformats.org/officeDocument/2006/relationships/image" Target="../media/image72.wmf"/><Relationship Id="rId5" Type="http://schemas.openxmlformats.org/officeDocument/2006/relationships/oleObject" Target="../embeddings/oleObject120.bin"/><Relationship Id="rId15" Type="http://schemas.openxmlformats.org/officeDocument/2006/relationships/oleObject" Target="../embeddings/oleObject125.bin"/><Relationship Id="rId23" Type="http://schemas.openxmlformats.org/officeDocument/2006/relationships/oleObject" Target="../embeddings/oleObject129.bin"/><Relationship Id="rId28" Type="http://schemas.openxmlformats.org/officeDocument/2006/relationships/image" Target="../media/image77.wmf"/><Relationship Id="rId10" Type="http://schemas.openxmlformats.org/officeDocument/2006/relationships/image" Target="../media/image74.wmf"/><Relationship Id="rId19" Type="http://schemas.openxmlformats.org/officeDocument/2006/relationships/oleObject" Target="../embeddings/oleObject127.bin"/><Relationship Id="rId31" Type="http://schemas.openxmlformats.org/officeDocument/2006/relationships/oleObject" Target="../embeddings/oleObject133.bin"/><Relationship Id="rId4" Type="http://schemas.openxmlformats.org/officeDocument/2006/relationships/image" Target="../media/image69.wmf"/><Relationship Id="rId9" Type="http://schemas.openxmlformats.org/officeDocument/2006/relationships/oleObject" Target="../embeddings/oleObject122.bin"/><Relationship Id="rId14" Type="http://schemas.openxmlformats.org/officeDocument/2006/relationships/image" Target="../media/image75.wmf"/><Relationship Id="rId22" Type="http://schemas.openxmlformats.org/officeDocument/2006/relationships/image" Target="../media/image81.wmf"/><Relationship Id="rId27" Type="http://schemas.openxmlformats.org/officeDocument/2006/relationships/oleObject" Target="../embeddings/oleObject131.bin"/><Relationship Id="rId30" Type="http://schemas.openxmlformats.org/officeDocument/2006/relationships/image" Target="../media/image73.wmf"/><Relationship Id="rId8" Type="http://schemas.openxmlformats.org/officeDocument/2006/relationships/image" Target="../media/image71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emf"/><Relationship Id="rId7" Type="http://schemas.openxmlformats.org/officeDocument/2006/relationships/image" Target="../media/image86.wmf"/><Relationship Id="rId2" Type="http://schemas.openxmlformats.org/officeDocument/2006/relationships/image" Target="../media/image84.e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6.bin"/><Relationship Id="rId5" Type="http://schemas.openxmlformats.org/officeDocument/2006/relationships/image" Target="../media/image13.wmf"/><Relationship Id="rId4" Type="http://schemas.openxmlformats.org/officeDocument/2006/relationships/oleObject" Target="../embeddings/oleObject135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wmf"/><Relationship Id="rId13" Type="http://schemas.openxmlformats.org/officeDocument/2006/relationships/oleObject" Target="../embeddings/oleObject143.bin"/><Relationship Id="rId3" Type="http://schemas.openxmlformats.org/officeDocument/2006/relationships/image" Target="../media/image13.wmf"/><Relationship Id="rId7" Type="http://schemas.openxmlformats.org/officeDocument/2006/relationships/oleObject" Target="../embeddings/oleObject140.bin"/><Relationship Id="rId12" Type="http://schemas.openxmlformats.org/officeDocument/2006/relationships/image" Target="../media/image90.wmf"/><Relationship Id="rId2" Type="http://schemas.openxmlformats.org/officeDocument/2006/relationships/oleObject" Target="../embeddings/oleObject137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wmf"/><Relationship Id="rId11" Type="http://schemas.openxmlformats.org/officeDocument/2006/relationships/oleObject" Target="../embeddings/oleObject142.bin"/><Relationship Id="rId5" Type="http://schemas.openxmlformats.org/officeDocument/2006/relationships/oleObject" Target="../embeddings/oleObject139.bin"/><Relationship Id="rId15" Type="http://schemas.openxmlformats.org/officeDocument/2006/relationships/image" Target="../media/image92.emf"/><Relationship Id="rId10" Type="http://schemas.openxmlformats.org/officeDocument/2006/relationships/image" Target="../media/image89.wmf"/><Relationship Id="rId4" Type="http://schemas.openxmlformats.org/officeDocument/2006/relationships/oleObject" Target="../embeddings/oleObject138.bin"/><Relationship Id="rId9" Type="http://schemas.openxmlformats.org/officeDocument/2006/relationships/oleObject" Target="../embeddings/oleObject141.bin"/><Relationship Id="rId14" Type="http://schemas.openxmlformats.org/officeDocument/2006/relationships/image" Target="../media/image91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7.bin"/><Relationship Id="rId13" Type="http://schemas.openxmlformats.org/officeDocument/2006/relationships/image" Target="../media/image94.emf"/><Relationship Id="rId18" Type="http://schemas.openxmlformats.org/officeDocument/2006/relationships/oleObject" Target="../embeddings/oleObject151.bin"/><Relationship Id="rId3" Type="http://schemas.openxmlformats.org/officeDocument/2006/relationships/image" Target="../media/image89.wmf"/><Relationship Id="rId7" Type="http://schemas.openxmlformats.org/officeDocument/2006/relationships/image" Target="../media/image87.wmf"/><Relationship Id="rId12" Type="http://schemas.openxmlformats.org/officeDocument/2006/relationships/image" Target="../media/image92.emf"/><Relationship Id="rId17" Type="http://schemas.openxmlformats.org/officeDocument/2006/relationships/image" Target="../media/image90.wmf"/><Relationship Id="rId2" Type="http://schemas.openxmlformats.org/officeDocument/2006/relationships/oleObject" Target="../embeddings/oleObject144.bin"/><Relationship Id="rId16" Type="http://schemas.openxmlformats.org/officeDocument/2006/relationships/oleObject" Target="../embeddings/oleObject15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6.bin"/><Relationship Id="rId11" Type="http://schemas.openxmlformats.org/officeDocument/2006/relationships/oleObject" Target="../embeddings/oleObject148.bin"/><Relationship Id="rId5" Type="http://schemas.openxmlformats.org/officeDocument/2006/relationships/image" Target="../media/image88.wmf"/><Relationship Id="rId15" Type="http://schemas.openxmlformats.org/officeDocument/2006/relationships/oleObject" Target="../embeddings/oleObject149.bin"/><Relationship Id="rId10" Type="http://schemas.openxmlformats.org/officeDocument/2006/relationships/image" Target="../media/image93.emf"/><Relationship Id="rId19" Type="http://schemas.openxmlformats.org/officeDocument/2006/relationships/image" Target="../media/image91.wmf"/><Relationship Id="rId4" Type="http://schemas.openxmlformats.org/officeDocument/2006/relationships/oleObject" Target="../embeddings/oleObject145.bin"/><Relationship Id="rId9" Type="http://schemas.openxmlformats.org/officeDocument/2006/relationships/image" Target="../media/image13.wmf"/><Relationship Id="rId14" Type="http://schemas.openxmlformats.org/officeDocument/2006/relationships/image" Target="../media/image95.e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emf"/><Relationship Id="rId13" Type="http://schemas.openxmlformats.org/officeDocument/2006/relationships/image" Target="../media/image96.wmf"/><Relationship Id="rId3" Type="http://schemas.openxmlformats.org/officeDocument/2006/relationships/image" Target="../media/image89.wmf"/><Relationship Id="rId7" Type="http://schemas.openxmlformats.org/officeDocument/2006/relationships/image" Target="../media/image87.wmf"/><Relationship Id="rId12" Type="http://schemas.openxmlformats.org/officeDocument/2006/relationships/oleObject" Target="../embeddings/oleObject155.bin"/><Relationship Id="rId17" Type="http://schemas.openxmlformats.org/officeDocument/2006/relationships/image" Target="../media/image91.wmf"/><Relationship Id="rId2" Type="http://schemas.openxmlformats.org/officeDocument/2006/relationships/oleObject" Target="../embeddings/oleObject152.bin"/><Relationship Id="rId16" Type="http://schemas.openxmlformats.org/officeDocument/2006/relationships/oleObject" Target="../embeddings/oleObject15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54.bin"/><Relationship Id="rId11" Type="http://schemas.openxmlformats.org/officeDocument/2006/relationships/image" Target="../media/image95.emf"/><Relationship Id="rId5" Type="http://schemas.openxmlformats.org/officeDocument/2006/relationships/image" Target="../media/image88.wmf"/><Relationship Id="rId15" Type="http://schemas.openxmlformats.org/officeDocument/2006/relationships/image" Target="../media/image90.wmf"/><Relationship Id="rId10" Type="http://schemas.openxmlformats.org/officeDocument/2006/relationships/image" Target="../media/image94.emf"/><Relationship Id="rId4" Type="http://schemas.openxmlformats.org/officeDocument/2006/relationships/oleObject" Target="../embeddings/oleObject153.bin"/><Relationship Id="rId9" Type="http://schemas.openxmlformats.org/officeDocument/2006/relationships/image" Target="../media/image93.emf"/><Relationship Id="rId14" Type="http://schemas.openxmlformats.org/officeDocument/2006/relationships/oleObject" Target="../embeddings/oleObject156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emf"/><Relationship Id="rId13" Type="http://schemas.openxmlformats.org/officeDocument/2006/relationships/image" Target="../media/image96.wmf"/><Relationship Id="rId18" Type="http://schemas.openxmlformats.org/officeDocument/2006/relationships/oleObject" Target="../embeddings/oleObject164.bin"/><Relationship Id="rId3" Type="http://schemas.openxmlformats.org/officeDocument/2006/relationships/image" Target="../media/image89.wmf"/><Relationship Id="rId21" Type="http://schemas.openxmlformats.org/officeDocument/2006/relationships/image" Target="../media/image90.wmf"/><Relationship Id="rId7" Type="http://schemas.openxmlformats.org/officeDocument/2006/relationships/image" Target="../media/image87.wmf"/><Relationship Id="rId12" Type="http://schemas.openxmlformats.org/officeDocument/2006/relationships/oleObject" Target="../embeddings/oleObject161.bin"/><Relationship Id="rId17" Type="http://schemas.openxmlformats.org/officeDocument/2006/relationships/image" Target="../media/image13.wmf"/><Relationship Id="rId2" Type="http://schemas.openxmlformats.org/officeDocument/2006/relationships/oleObject" Target="../embeddings/oleObject158.bin"/><Relationship Id="rId16" Type="http://schemas.openxmlformats.org/officeDocument/2006/relationships/oleObject" Target="../embeddings/oleObject163.bin"/><Relationship Id="rId20" Type="http://schemas.openxmlformats.org/officeDocument/2006/relationships/oleObject" Target="../embeddings/oleObject16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0.bin"/><Relationship Id="rId11" Type="http://schemas.openxmlformats.org/officeDocument/2006/relationships/image" Target="../media/image95.emf"/><Relationship Id="rId5" Type="http://schemas.openxmlformats.org/officeDocument/2006/relationships/image" Target="../media/image88.wmf"/><Relationship Id="rId15" Type="http://schemas.openxmlformats.org/officeDocument/2006/relationships/image" Target="../media/image97.wmf"/><Relationship Id="rId23" Type="http://schemas.openxmlformats.org/officeDocument/2006/relationships/image" Target="../media/image91.wmf"/><Relationship Id="rId10" Type="http://schemas.openxmlformats.org/officeDocument/2006/relationships/image" Target="../media/image94.emf"/><Relationship Id="rId19" Type="http://schemas.openxmlformats.org/officeDocument/2006/relationships/image" Target="../media/image98.wmf"/><Relationship Id="rId4" Type="http://schemas.openxmlformats.org/officeDocument/2006/relationships/oleObject" Target="../embeddings/oleObject159.bin"/><Relationship Id="rId9" Type="http://schemas.openxmlformats.org/officeDocument/2006/relationships/image" Target="../media/image93.emf"/><Relationship Id="rId14" Type="http://schemas.openxmlformats.org/officeDocument/2006/relationships/oleObject" Target="../embeddings/oleObject162.bin"/><Relationship Id="rId22" Type="http://schemas.openxmlformats.org/officeDocument/2006/relationships/oleObject" Target="../embeddings/oleObject166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emf"/><Relationship Id="rId13" Type="http://schemas.openxmlformats.org/officeDocument/2006/relationships/image" Target="../media/image96.wmf"/><Relationship Id="rId18" Type="http://schemas.openxmlformats.org/officeDocument/2006/relationships/oleObject" Target="../embeddings/oleObject173.bin"/><Relationship Id="rId3" Type="http://schemas.openxmlformats.org/officeDocument/2006/relationships/image" Target="../media/image89.wmf"/><Relationship Id="rId21" Type="http://schemas.openxmlformats.org/officeDocument/2006/relationships/image" Target="../media/image91.wmf"/><Relationship Id="rId7" Type="http://schemas.openxmlformats.org/officeDocument/2006/relationships/image" Target="../media/image87.wmf"/><Relationship Id="rId12" Type="http://schemas.openxmlformats.org/officeDocument/2006/relationships/oleObject" Target="../embeddings/oleObject170.bin"/><Relationship Id="rId17" Type="http://schemas.openxmlformats.org/officeDocument/2006/relationships/image" Target="../media/image98.wmf"/><Relationship Id="rId2" Type="http://schemas.openxmlformats.org/officeDocument/2006/relationships/oleObject" Target="../embeddings/oleObject167.bin"/><Relationship Id="rId16" Type="http://schemas.openxmlformats.org/officeDocument/2006/relationships/oleObject" Target="../embeddings/oleObject172.bin"/><Relationship Id="rId20" Type="http://schemas.openxmlformats.org/officeDocument/2006/relationships/oleObject" Target="../embeddings/oleObject17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9.bin"/><Relationship Id="rId11" Type="http://schemas.openxmlformats.org/officeDocument/2006/relationships/image" Target="../media/image95.emf"/><Relationship Id="rId5" Type="http://schemas.openxmlformats.org/officeDocument/2006/relationships/image" Target="../media/image88.wmf"/><Relationship Id="rId15" Type="http://schemas.openxmlformats.org/officeDocument/2006/relationships/image" Target="../media/image97.wmf"/><Relationship Id="rId10" Type="http://schemas.openxmlformats.org/officeDocument/2006/relationships/image" Target="../media/image94.emf"/><Relationship Id="rId19" Type="http://schemas.openxmlformats.org/officeDocument/2006/relationships/image" Target="../media/image90.wmf"/><Relationship Id="rId4" Type="http://schemas.openxmlformats.org/officeDocument/2006/relationships/oleObject" Target="../embeddings/oleObject168.bin"/><Relationship Id="rId9" Type="http://schemas.openxmlformats.org/officeDocument/2006/relationships/image" Target="../media/image93.emf"/><Relationship Id="rId14" Type="http://schemas.openxmlformats.org/officeDocument/2006/relationships/oleObject" Target="../embeddings/oleObject171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wmf"/><Relationship Id="rId3" Type="http://schemas.openxmlformats.org/officeDocument/2006/relationships/oleObject" Target="../embeddings/oleObject175.bin"/><Relationship Id="rId7" Type="http://schemas.openxmlformats.org/officeDocument/2006/relationships/oleObject" Target="../embeddings/oleObject177.bin"/><Relationship Id="rId2" Type="http://schemas.openxmlformats.org/officeDocument/2006/relationships/image" Target="../media/image9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wmf"/><Relationship Id="rId5" Type="http://schemas.openxmlformats.org/officeDocument/2006/relationships/oleObject" Target="../embeddings/oleObject176.bin"/><Relationship Id="rId10" Type="http://schemas.openxmlformats.org/officeDocument/2006/relationships/image" Target="../media/image103.wmf"/><Relationship Id="rId4" Type="http://schemas.openxmlformats.org/officeDocument/2006/relationships/image" Target="../media/image100.wmf"/><Relationship Id="rId9" Type="http://schemas.openxmlformats.org/officeDocument/2006/relationships/oleObject" Target="../embeddings/oleObject178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2.bin"/><Relationship Id="rId3" Type="http://schemas.openxmlformats.org/officeDocument/2006/relationships/image" Target="../media/image103.wmf"/><Relationship Id="rId7" Type="http://schemas.openxmlformats.org/officeDocument/2006/relationships/image" Target="../media/image100.wmf"/><Relationship Id="rId2" Type="http://schemas.openxmlformats.org/officeDocument/2006/relationships/oleObject" Target="../embeddings/oleObject17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81.bin"/><Relationship Id="rId11" Type="http://schemas.openxmlformats.org/officeDocument/2006/relationships/image" Target="../media/image104.emf"/><Relationship Id="rId5" Type="http://schemas.openxmlformats.org/officeDocument/2006/relationships/image" Target="../media/image102.wmf"/><Relationship Id="rId10" Type="http://schemas.openxmlformats.org/officeDocument/2006/relationships/image" Target="../media/image99.emf"/><Relationship Id="rId4" Type="http://schemas.openxmlformats.org/officeDocument/2006/relationships/oleObject" Target="../embeddings/oleObject180.bin"/><Relationship Id="rId9" Type="http://schemas.openxmlformats.org/officeDocument/2006/relationships/image" Target="../media/image101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6.bin"/><Relationship Id="rId13" Type="http://schemas.openxmlformats.org/officeDocument/2006/relationships/image" Target="../media/image106.wmf"/><Relationship Id="rId3" Type="http://schemas.openxmlformats.org/officeDocument/2006/relationships/image" Target="../media/image103.wmf"/><Relationship Id="rId7" Type="http://schemas.openxmlformats.org/officeDocument/2006/relationships/image" Target="../media/image100.wmf"/><Relationship Id="rId12" Type="http://schemas.openxmlformats.org/officeDocument/2006/relationships/oleObject" Target="../embeddings/oleObject187.bin"/><Relationship Id="rId2" Type="http://schemas.openxmlformats.org/officeDocument/2006/relationships/oleObject" Target="../embeddings/oleObject18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85.bin"/><Relationship Id="rId11" Type="http://schemas.openxmlformats.org/officeDocument/2006/relationships/image" Target="../media/image105.emf"/><Relationship Id="rId5" Type="http://schemas.openxmlformats.org/officeDocument/2006/relationships/image" Target="../media/image102.wmf"/><Relationship Id="rId15" Type="http://schemas.openxmlformats.org/officeDocument/2006/relationships/image" Target="../media/image107.wmf"/><Relationship Id="rId10" Type="http://schemas.openxmlformats.org/officeDocument/2006/relationships/image" Target="../media/image99.emf"/><Relationship Id="rId4" Type="http://schemas.openxmlformats.org/officeDocument/2006/relationships/oleObject" Target="../embeddings/oleObject184.bin"/><Relationship Id="rId9" Type="http://schemas.openxmlformats.org/officeDocument/2006/relationships/image" Target="../media/image101.wmf"/><Relationship Id="rId14" Type="http://schemas.openxmlformats.org/officeDocument/2006/relationships/oleObject" Target="../embeddings/oleObject188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wmf"/><Relationship Id="rId13" Type="http://schemas.openxmlformats.org/officeDocument/2006/relationships/oleObject" Target="../embeddings/oleObject193.bin"/><Relationship Id="rId18" Type="http://schemas.openxmlformats.org/officeDocument/2006/relationships/image" Target="../media/image107.wmf"/><Relationship Id="rId3" Type="http://schemas.openxmlformats.org/officeDocument/2006/relationships/oleObject" Target="../embeddings/oleObject189.bin"/><Relationship Id="rId21" Type="http://schemas.openxmlformats.org/officeDocument/2006/relationships/image" Target="../media/image109.wmf"/><Relationship Id="rId7" Type="http://schemas.openxmlformats.org/officeDocument/2006/relationships/oleObject" Target="../embeddings/oleObject191.bin"/><Relationship Id="rId12" Type="http://schemas.openxmlformats.org/officeDocument/2006/relationships/image" Target="../media/image105.emf"/><Relationship Id="rId17" Type="http://schemas.openxmlformats.org/officeDocument/2006/relationships/oleObject" Target="../embeddings/oleObject195.bin"/><Relationship Id="rId25" Type="http://schemas.openxmlformats.org/officeDocument/2006/relationships/image" Target="../media/image111.wmf"/><Relationship Id="rId2" Type="http://schemas.microsoft.com/office/2018/10/relationships/comments" Target="../comments/modernComment_1FE_75CDA2B8.xml"/><Relationship Id="rId16" Type="http://schemas.openxmlformats.org/officeDocument/2006/relationships/image" Target="../media/image106.wmf"/><Relationship Id="rId20" Type="http://schemas.openxmlformats.org/officeDocument/2006/relationships/oleObject" Target="../embeddings/oleObject196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.wmf"/><Relationship Id="rId11" Type="http://schemas.openxmlformats.org/officeDocument/2006/relationships/image" Target="../media/image99.emf"/><Relationship Id="rId24" Type="http://schemas.openxmlformats.org/officeDocument/2006/relationships/oleObject" Target="../embeddings/oleObject198.bin"/><Relationship Id="rId5" Type="http://schemas.openxmlformats.org/officeDocument/2006/relationships/oleObject" Target="../embeddings/oleObject190.bin"/><Relationship Id="rId15" Type="http://schemas.openxmlformats.org/officeDocument/2006/relationships/oleObject" Target="../embeddings/oleObject194.bin"/><Relationship Id="rId23" Type="http://schemas.openxmlformats.org/officeDocument/2006/relationships/image" Target="../media/image110.wmf"/><Relationship Id="rId10" Type="http://schemas.openxmlformats.org/officeDocument/2006/relationships/image" Target="../media/image101.wmf"/><Relationship Id="rId19" Type="http://schemas.openxmlformats.org/officeDocument/2006/relationships/image" Target="../media/image108.emf"/><Relationship Id="rId4" Type="http://schemas.openxmlformats.org/officeDocument/2006/relationships/image" Target="../media/image103.wmf"/><Relationship Id="rId9" Type="http://schemas.openxmlformats.org/officeDocument/2006/relationships/oleObject" Target="../embeddings/oleObject192.bin"/><Relationship Id="rId14" Type="http://schemas.openxmlformats.org/officeDocument/2006/relationships/image" Target="../media/image13.wmf"/><Relationship Id="rId22" Type="http://schemas.openxmlformats.org/officeDocument/2006/relationships/oleObject" Target="../embeddings/oleObject19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Subtitle 2"/>
          <p:cNvSpPr>
            <a:spLocks noGrp="1"/>
          </p:cNvSpPr>
          <p:nvPr>
            <p:ph type="subTitle" idx="1"/>
          </p:nvPr>
        </p:nvSpPr>
        <p:spPr>
          <a:xfrm>
            <a:off x="1371600" y="2590800"/>
            <a:ext cx="6400800" cy="2209800"/>
          </a:xfrm>
        </p:spPr>
        <p:txBody>
          <a:bodyPr/>
          <a:lstStyle/>
          <a:p>
            <a:r>
              <a:rPr lang="tr-TR" sz="2000" dirty="0">
                <a:solidFill>
                  <a:schemeClr val="tx1"/>
                </a:solidFill>
              </a:rPr>
              <a:t>Dr. </a:t>
            </a:r>
            <a:r>
              <a:rPr lang="en-US" sz="2000" dirty="0">
                <a:solidFill>
                  <a:schemeClr val="tx1"/>
                </a:solidFill>
              </a:rPr>
              <a:t>Özçel </a:t>
            </a:r>
            <a:r>
              <a:rPr lang="en-US" sz="2000" dirty="0" err="1">
                <a:solidFill>
                  <a:schemeClr val="tx1"/>
                </a:solidFill>
              </a:rPr>
              <a:t>Cangül</a:t>
            </a:r>
            <a:endParaRPr lang="tr-TR" sz="2000" dirty="0">
              <a:solidFill>
                <a:schemeClr val="tx1"/>
              </a:solidFill>
            </a:endParaRPr>
          </a:p>
          <a:p>
            <a:r>
              <a:rPr lang="tr-TR" sz="2000" dirty="0">
                <a:solidFill>
                  <a:schemeClr val="tx1"/>
                </a:solidFill>
              </a:rPr>
              <a:t>Lecture Notes by: </a:t>
            </a:r>
            <a:r>
              <a:rPr lang="en-US" sz="2000" dirty="0">
                <a:solidFill>
                  <a:schemeClr val="tx1"/>
                </a:solidFill>
              </a:rPr>
              <a:t>Dr. Ali </a:t>
            </a:r>
            <a:r>
              <a:rPr lang="en-US" sz="2000" dirty="0" err="1">
                <a:solidFill>
                  <a:schemeClr val="tx1"/>
                </a:solidFill>
              </a:rPr>
              <a:t>Muhtaroğlu</a:t>
            </a:r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Fall 2023</a:t>
            </a:r>
            <a:endParaRPr lang="tr-TR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METU Northern Cyprus Campus</a:t>
            </a:r>
          </a:p>
        </p:txBody>
      </p:sp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1691625" y="4734461"/>
            <a:ext cx="6183206" cy="13542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600" u="sng" dirty="0">
                <a:solidFill>
                  <a:prstClr val="black"/>
                </a:solidFill>
                <a:latin typeface="Calibri" pitchFamily="34" charset="0"/>
              </a:rPr>
              <a:t>References:</a:t>
            </a:r>
          </a:p>
          <a:p>
            <a:r>
              <a:rPr lang="en-US" sz="1600" dirty="0">
                <a:solidFill>
                  <a:prstClr val="black"/>
                </a:solidFill>
                <a:latin typeface="Calibri"/>
              </a:rPr>
              <a:t>Electric Circuits 10</a:t>
            </a:r>
            <a:r>
              <a:rPr lang="en-US" sz="1600" baseline="30000" dirty="0">
                <a:solidFill>
                  <a:prstClr val="black"/>
                </a:solidFill>
                <a:latin typeface="Calibri"/>
              </a:rPr>
              <a:t>th</a:t>
            </a:r>
            <a:r>
              <a:rPr lang="en-US" sz="1600" dirty="0">
                <a:solidFill>
                  <a:prstClr val="black"/>
                </a:solidFill>
                <a:latin typeface="Calibri"/>
              </a:rPr>
              <a:t> Ed. by </a:t>
            </a:r>
            <a:r>
              <a:rPr lang="tr-TR" sz="1600" dirty="0">
                <a:solidFill>
                  <a:prstClr val="black"/>
                </a:solidFill>
                <a:latin typeface="Calibri"/>
              </a:rPr>
              <a:t>Nilsson &amp; Riedel</a:t>
            </a:r>
            <a:endParaRPr lang="en-US" sz="1600" dirty="0">
              <a:solidFill>
                <a:prstClr val="black"/>
              </a:solidFill>
              <a:latin typeface="Calibri"/>
            </a:endParaRPr>
          </a:p>
          <a:p>
            <a:r>
              <a:rPr lang="en-US" sz="1600" dirty="0">
                <a:solidFill>
                  <a:prstClr val="black"/>
                </a:solidFill>
                <a:latin typeface="Calibri"/>
              </a:rPr>
              <a:t>Electrical Circuit Analysis 3</a:t>
            </a:r>
            <a:r>
              <a:rPr lang="en-US" sz="1600" baseline="30000" dirty="0">
                <a:solidFill>
                  <a:prstClr val="black"/>
                </a:solidFill>
                <a:latin typeface="Calibri"/>
              </a:rPr>
              <a:t>rd</a:t>
            </a:r>
            <a:r>
              <a:rPr lang="en-US" sz="1600" dirty="0">
                <a:solidFill>
                  <a:prstClr val="black"/>
                </a:solidFill>
                <a:latin typeface="Calibri"/>
              </a:rPr>
              <a:t> Ed. </a:t>
            </a:r>
            <a:r>
              <a:rPr lang="en-US" sz="1600" i="1" dirty="0">
                <a:solidFill>
                  <a:prstClr val="black"/>
                </a:solidFill>
                <a:latin typeface="Calibri"/>
              </a:rPr>
              <a:t>by Johnson, Johnson, </a:t>
            </a:r>
            <a:r>
              <a:rPr lang="en-US" sz="1600" i="1" dirty="0" err="1">
                <a:solidFill>
                  <a:prstClr val="black"/>
                </a:solidFill>
                <a:latin typeface="Calibri"/>
              </a:rPr>
              <a:t>Hilburn</a:t>
            </a:r>
            <a:r>
              <a:rPr lang="en-US" sz="1600" i="1" dirty="0">
                <a:solidFill>
                  <a:prstClr val="black"/>
                </a:solidFill>
                <a:latin typeface="Calibri"/>
              </a:rPr>
              <a:t>, and Scott</a:t>
            </a:r>
          </a:p>
          <a:p>
            <a:r>
              <a:rPr lang="en-US" sz="1600" dirty="0">
                <a:solidFill>
                  <a:prstClr val="black"/>
                </a:solidFill>
                <a:latin typeface="Calibri"/>
              </a:rPr>
              <a:t>Engineering Circuit Analysis 7</a:t>
            </a:r>
            <a:r>
              <a:rPr lang="en-US" sz="1600" baseline="30000" dirty="0">
                <a:solidFill>
                  <a:prstClr val="black"/>
                </a:solidFill>
                <a:latin typeface="Calibri"/>
              </a:rPr>
              <a:t>th</a:t>
            </a:r>
            <a:r>
              <a:rPr lang="en-US" sz="1600" dirty="0">
                <a:solidFill>
                  <a:prstClr val="black"/>
                </a:solidFill>
                <a:latin typeface="Calibri"/>
              </a:rPr>
              <a:t> Ed. </a:t>
            </a:r>
            <a:r>
              <a:rPr lang="en-US" sz="1600" i="1" dirty="0">
                <a:solidFill>
                  <a:prstClr val="black"/>
                </a:solidFill>
                <a:latin typeface="Calibri"/>
              </a:rPr>
              <a:t>by </a:t>
            </a:r>
            <a:r>
              <a:rPr lang="en-US" sz="1600" i="1" dirty="0" err="1">
                <a:solidFill>
                  <a:prstClr val="black"/>
                </a:solidFill>
                <a:latin typeface="Calibri"/>
              </a:rPr>
              <a:t>Hayt</a:t>
            </a:r>
            <a:r>
              <a:rPr lang="en-US" sz="1600" i="1" dirty="0">
                <a:solidFill>
                  <a:prstClr val="black"/>
                </a:solidFill>
                <a:latin typeface="Calibri"/>
              </a:rPr>
              <a:t>, </a:t>
            </a:r>
            <a:r>
              <a:rPr lang="en-US" sz="1600" i="1" dirty="0" err="1">
                <a:solidFill>
                  <a:prstClr val="black"/>
                </a:solidFill>
                <a:latin typeface="Calibri"/>
              </a:rPr>
              <a:t>Kemmerly</a:t>
            </a:r>
            <a:r>
              <a:rPr lang="en-US" sz="1600" i="1" dirty="0">
                <a:solidFill>
                  <a:prstClr val="black"/>
                </a:solidFill>
                <a:latin typeface="Calibri"/>
              </a:rPr>
              <a:t>, and Durbin</a:t>
            </a:r>
          </a:p>
          <a:p>
            <a:r>
              <a:rPr lang="en-US" sz="1600" dirty="0">
                <a:solidFill>
                  <a:prstClr val="black"/>
                </a:solidFill>
                <a:latin typeface="Calibri"/>
              </a:rPr>
              <a:t>Fundamentals of Electric Circuits </a:t>
            </a:r>
            <a:r>
              <a:rPr lang="en-US" sz="1600" i="1" dirty="0">
                <a:solidFill>
                  <a:prstClr val="black"/>
                </a:solidFill>
                <a:latin typeface="Calibri"/>
              </a:rPr>
              <a:t>3</a:t>
            </a:r>
            <a:r>
              <a:rPr lang="en-US" sz="1600" baseline="30000" dirty="0">
                <a:solidFill>
                  <a:prstClr val="black"/>
                </a:solidFill>
                <a:latin typeface="Calibri"/>
              </a:rPr>
              <a:t>rd</a:t>
            </a:r>
            <a:r>
              <a:rPr lang="en-US" sz="1600" dirty="0">
                <a:solidFill>
                  <a:prstClr val="black"/>
                </a:solidFill>
                <a:latin typeface="Calibri"/>
              </a:rPr>
              <a:t> Ed. </a:t>
            </a:r>
            <a:r>
              <a:rPr lang="en-US" sz="1600" i="1" dirty="0">
                <a:solidFill>
                  <a:prstClr val="black"/>
                </a:solidFill>
                <a:latin typeface="Calibri"/>
              </a:rPr>
              <a:t>by Alexander, and </a:t>
            </a:r>
            <a:r>
              <a:rPr lang="en-US" sz="1600" i="1" dirty="0" err="1">
                <a:solidFill>
                  <a:prstClr val="black"/>
                </a:solidFill>
                <a:latin typeface="Calibri"/>
              </a:rPr>
              <a:t>Sadiku</a:t>
            </a:r>
            <a:endParaRPr lang="en-US" sz="1600" i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685800" y="381000"/>
            <a:ext cx="77724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tr-TR" sz="3200"/>
              <a:t>Electrical Circuits</a:t>
            </a:r>
            <a:br>
              <a:rPr lang="en-US" sz="3200"/>
            </a:br>
            <a:r>
              <a:rPr lang="en-US" sz="3200"/>
              <a:t>EEE-2</a:t>
            </a:r>
            <a:r>
              <a:rPr lang="tr-TR" sz="3200"/>
              <a:t>8</a:t>
            </a:r>
            <a:r>
              <a:rPr lang="en-US" sz="3200"/>
              <a:t>1 Lecture Notes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416453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419100" y="1790700"/>
            <a:ext cx="8229600" cy="2819400"/>
          </a:xfrm>
        </p:spPr>
        <p:txBody>
          <a:bodyPr/>
          <a:lstStyle/>
          <a:p>
            <a:r>
              <a:rPr lang="tr-TR" sz="3600" dirty="0" err="1"/>
              <a:t>Operational</a:t>
            </a:r>
            <a:r>
              <a:rPr lang="tr-TR" sz="3600" dirty="0"/>
              <a:t> </a:t>
            </a:r>
            <a:r>
              <a:rPr lang="tr-TR" sz="3600" dirty="0" err="1"/>
              <a:t>Amplifiers</a:t>
            </a:r>
            <a:br>
              <a:rPr lang="en-US" sz="3600" dirty="0"/>
            </a:br>
            <a:br>
              <a:rPr lang="en-US" sz="3600" dirty="0"/>
            </a:br>
            <a:r>
              <a:rPr lang="en-US" sz="3600" i="1" dirty="0"/>
              <a:t>Week 10</a:t>
            </a:r>
            <a:br>
              <a:rPr lang="tr-TR" sz="3600" i="1" dirty="0"/>
            </a:br>
            <a:br>
              <a:rPr lang="tr-TR" sz="3600" i="1" dirty="0"/>
            </a:br>
            <a:r>
              <a:rPr lang="tr-TR" sz="3600" i="1" dirty="0">
                <a:solidFill>
                  <a:srgbClr val="0000FF"/>
                </a:solidFill>
              </a:rPr>
              <a:t>Reading: </a:t>
            </a:r>
            <a:r>
              <a:rPr lang="tr-TR" sz="3600" i="1" dirty="0" err="1">
                <a:solidFill>
                  <a:srgbClr val="0000FF"/>
                </a:solidFill>
              </a:rPr>
              <a:t>Nilsson</a:t>
            </a:r>
            <a:r>
              <a:rPr lang="tr-TR" sz="3600" i="1" dirty="0">
                <a:solidFill>
                  <a:srgbClr val="0000FF"/>
                </a:solidFill>
              </a:rPr>
              <a:t> &amp; </a:t>
            </a:r>
            <a:r>
              <a:rPr lang="tr-TR" sz="3600" i="1" dirty="0" err="1">
                <a:solidFill>
                  <a:srgbClr val="0000FF"/>
                </a:solidFill>
              </a:rPr>
              <a:t>Riedel</a:t>
            </a:r>
            <a:r>
              <a:rPr lang="tr-TR" sz="3600" i="1" dirty="0">
                <a:solidFill>
                  <a:srgbClr val="0000FF"/>
                </a:solidFill>
              </a:rPr>
              <a:t> </a:t>
            </a:r>
            <a:r>
              <a:rPr lang="tr-TR" sz="3600" i="1" dirty="0" err="1">
                <a:solidFill>
                  <a:srgbClr val="0000FF"/>
                </a:solidFill>
              </a:rPr>
              <a:t>Chapter</a:t>
            </a:r>
            <a:r>
              <a:rPr lang="tr-TR" sz="3600" i="1" dirty="0">
                <a:solidFill>
                  <a:srgbClr val="0000FF"/>
                </a:solidFill>
              </a:rPr>
              <a:t> 5</a:t>
            </a:r>
            <a:endParaRPr lang="en-US" sz="360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500034" y="142852"/>
            <a:ext cx="8229600" cy="1143000"/>
          </a:xfrm>
        </p:spPr>
        <p:txBody>
          <a:bodyPr>
            <a:normAutofit/>
          </a:bodyPr>
          <a:lstStyle/>
          <a:p>
            <a:r>
              <a:rPr lang="tr-TR" sz="3600" dirty="0" err="1"/>
              <a:t>Operational</a:t>
            </a:r>
            <a:r>
              <a:rPr lang="tr-TR" sz="3600" dirty="0"/>
              <a:t> </a:t>
            </a:r>
            <a:r>
              <a:rPr lang="tr-TR" sz="3600" dirty="0" err="1"/>
              <a:t>Amplifiers</a:t>
            </a:r>
            <a:endParaRPr lang="tr-TR" sz="36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214282" y="1214422"/>
            <a:ext cx="8786874" cy="5643578"/>
          </a:xfrm>
        </p:spPr>
        <p:txBody>
          <a:bodyPr>
            <a:normAutofit/>
          </a:bodyPr>
          <a:lstStyle/>
          <a:p>
            <a:r>
              <a:rPr lang="en-US" sz="2000" dirty="0"/>
              <a:t>Operational Amplifier (Op-Amp) is an electronic device that</a:t>
            </a:r>
            <a:r>
              <a:rPr lang="tr-TR" sz="2000" dirty="0"/>
              <a:t> </a:t>
            </a:r>
            <a:r>
              <a:rPr lang="en-US" sz="2000" dirty="0"/>
              <a:t>under proper circumstances behaves like a voltage-controlled</a:t>
            </a:r>
            <a:r>
              <a:rPr lang="tr-TR" sz="2000" dirty="0"/>
              <a:t> </a:t>
            </a:r>
            <a:r>
              <a:rPr lang="en-US" sz="2000" dirty="0"/>
              <a:t>voltage source (</a:t>
            </a:r>
            <a:r>
              <a:rPr lang="en-US" sz="2000" b="1" dirty="0"/>
              <a:t>VCVS</a:t>
            </a:r>
            <a:r>
              <a:rPr lang="en-US" sz="2000" dirty="0"/>
              <a:t>) with very high gain</a:t>
            </a:r>
            <a:r>
              <a:rPr lang="tr-TR" sz="2000" dirty="0"/>
              <a:t>.                                                       </a:t>
            </a:r>
          </a:p>
          <a:p>
            <a:pPr>
              <a:buNone/>
            </a:pPr>
            <a:r>
              <a:rPr lang="tr-TR" sz="2000" dirty="0"/>
              <a:t>                                                                       </a:t>
            </a:r>
            <a:r>
              <a:rPr lang="tr-TR" sz="2000" u="sng" dirty="0"/>
              <a:t>Symbol:</a:t>
            </a:r>
            <a:endParaRPr lang="tr-TR" sz="2000" dirty="0"/>
          </a:p>
          <a:p>
            <a:pPr>
              <a:buNone/>
            </a:pPr>
            <a:endParaRPr lang="tr-TR" sz="2000" dirty="0"/>
          </a:p>
          <a:p>
            <a:pPr>
              <a:buNone/>
            </a:pPr>
            <a:r>
              <a:rPr lang="tr-TR" sz="2000" dirty="0"/>
              <a:t>                                                                        + : </a:t>
            </a:r>
            <a:r>
              <a:rPr lang="tr-TR" sz="1800" dirty="0"/>
              <a:t>Non-inverting Input</a:t>
            </a:r>
            <a:endParaRPr lang="tr-TR" sz="2000" dirty="0"/>
          </a:p>
          <a:p>
            <a:pPr>
              <a:buNone/>
            </a:pPr>
            <a:r>
              <a:rPr lang="tr-TR" sz="2000" dirty="0"/>
              <a:t>                                                                         - : </a:t>
            </a:r>
            <a:r>
              <a:rPr lang="tr-TR" sz="1800" dirty="0"/>
              <a:t>Inverting Input</a:t>
            </a:r>
            <a:endParaRPr lang="tr-TR" sz="2000" dirty="0"/>
          </a:p>
          <a:p>
            <a:pPr algn="ctr">
              <a:buNone/>
            </a:pPr>
            <a:r>
              <a:rPr lang="tr-TR" sz="1800" dirty="0"/>
              <a:t>	</a:t>
            </a:r>
            <a:endParaRPr lang="en-US" sz="2000" dirty="0"/>
          </a:p>
          <a:p>
            <a:pPr>
              <a:buNone/>
            </a:pPr>
            <a:r>
              <a:rPr lang="en-US" sz="2000" dirty="0"/>
              <a:t>					   	+/– </a:t>
            </a:r>
            <a:r>
              <a:rPr lang="en-US" sz="2000" dirty="0" err="1"/>
              <a:t>Vcc</a:t>
            </a:r>
            <a:r>
              <a:rPr lang="en-US" sz="2000" dirty="0"/>
              <a:t> power supply often not shown</a:t>
            </a:r>
          </a:p>
          <a:p>
            <a:pPr algn="ctr">
              <a:buNone/>
            </a:pPr>
            <a:endParaRPr lang="tr-TR" sz="1200" u="sng" dirty="0"/>
          </a:p>
          <a:p>
            <a:pPr algn="ctr">
              <a:buNone/>
            </a:pPr>
            <a:r>
              <a:rPr lang="da-DK" sz="2000" u="sng" dirty="0"/>
              <a:t>Op-Amp Ideal Voltage Amplifier Model</a:t>
            </a:r>
            <a:endParaRPr lang="tr-TR" sz="2000" u="sng" dirty="0"/>
          </a:p>
          <a:p>
            <a:pPr algn="ctr">
              <a:buNone/>
            </a:pPr>
            <a:endParaRPr lang="tr-TR" sz="2000" u="sng" dirty="0"/>
          </a:p>
          <a:p>
            <a:pPr algn="ctr">
              <a:buNone/>
            </a:pPr>
            <a:r>
              <a:rPr lang="tr-TR" sz="2000" dirty="0"/>
              <a:t>                                   </a:t>
            </a:r>
            <a:r>
              <a:rPr lang="tr-TR" sz="2000" dirty="0" err="1"/>
              <a:t>Open</a:t>
            </a:r>
            <a:r>
              <a:rPr lang="tr-TR" sz="2000" dirty="0"/>
              <a:t> </a:t>
            </a:r>
            <a:r>
              <a:rPr lang="tr-TR" sz="2000" dirty="0" err="1"/>
              <a:t>Loop</a:t>
            </a:r>
            <a:r>
              <a:rPr lang="tr-TR" sz="2000" dirty="0"/>
              <a:t> </a:t>
            </a:r>
            <a:r>
              <a:rPr lang="tr-TR" sz="2000" dirty="0" err="1"/>
              <a:t>Gain</a:t>
            </a:r>
            <a:r>
              <a:rPr lang="tr-TR" sz="2000" dirty="0"/>
              <a:t> : </a:t>
            </a:r>
          </a:p>
          <a:p>
            <a:pPr>
              <a:buNone/>
            </a:pPr>
            <a:endParaRPr lang="tr-TR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buNone/>
            </a:pPr>
            <a:endParaRPr lang="tr-TR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buNone/>
            </a:pPr>
            <a:endParaRPr lang="tr-TR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>
              <a:buNone/>
            </a:pPr>
            <a:endParaRPr lang="tr-TR" sz="2000" dirty="0"/>
          </a:p>
          <a:p>
            <a:pPr algn="ctr">
              <a:buNone/>
            </a:pPr>
            <a:endParaRPr lang="tr-TR" sz="2000" dirty="0"/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3078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3080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3082" name="Rectangle 10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3083" name="Rectangle 11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 </a:t>
            </a:r>
            <a:endParaRPr kumimoji="0" lang="tr-T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085" name="Rectangle 1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3086" name="Rectangle 14"/>
          <p:cNvSpPr>
            <a:spLocks noChangeArrowheads="1"/>
          </p:cNvSpPr>
          <p:nvPr/>
        </p:nvSpPr>
        <p:spPr bwMode="auto">
          <a:xfrm>
            <a:off x="0" y="1028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 </a:t>
            </a:r>
            <a:endParaRPr kumimoji="0" lang="tr-T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088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graphicFrame>
        <p:nvGraphicFramePr>
          <p:cNvPr id="3091" name="Object 19"/>
          <p:cNvGraphicFramePr>
            <a:graphicFrameLocks noChangeAspect="1"/>
          </p:cNvGraphicFramePr>
          <p:nvPr/>
        </p:nvGraphicFramePr>
        <p:xfrm>
          <a:off x="6572264" y="5143512"/>
          <a:ext cx="1000132" cy="894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enklem" r:id="rId2" imgW="482400" imgH="431640" progId="Equation.3">
                  <p:embed/>
                </p:oleObj>
              </mc:Choice>
              <mc:Fallback>
                <p:oleObj name="Denklem" r:id="rId2" imgW="4824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2264" y="5143512"/>
                        <a:ext cx="1000132" cy="8948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92" name="Object 20"/>
          <p:cNvGraphicFramePr>
            <a:graphicFrameLocks noChangeAspect="1"/>
          </p:cNvGraphicFramePr>
          <p:nvPr/>
        </p:nvGraphicFramePr>
        <p:xfrm>
          <a:off x="642910" y="3929066"/>
          <a:ext cx="1643074" cy="4286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enklem" r:id="rId4" imgW="825480" imgH="215640" progId="Equation.3">
                  <p:embed/>
                </p:oleObj>
              </mc:Choice>
              <mc:Fallback>
                <p:oleObj name="Denklem" r:id="rId4" imgW="8254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10" y="3929066"/>
                        <a:ext cx="1643074" cy="4286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123" name="Picture 51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571736" y="5000636"/>
            <a:ext cx="1609725" cy="140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26" name="Picture 54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71472" y="5072074"/>
            <a:ext cx="8001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95" name="Picture 23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42910" y="2357430"/>
            <a:ext cx="2828647" cy="1643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96" name="Picture 24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572264" y="1785926"/>
            <a:ext cx="2071702" cy="1756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E67AD-EE34-4E0A-BCCB-0D14F4380E44}" type="slidenum">
              <a:rPr lang="tr-TR" smtClean="0"/>
              <a:pPr/>
              <a:t>3</a:t>
            </a:fld>
            <a:endParaRPr lang="tr-TR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Ali Muhtaroglu</a:t>
            </a:r>
          </a:p>
        </p:txBody>
      </p:sp>
    </p:spTree>
    <p:extLst>
      <p:ext uri="{BB962C8B-B14F-4D97-AF65-F5344CB8AC3E}">
        <p14:creationId xmlns:p14="http://schemas.microsoft.com/office/powerpoint/2010/main" val="67508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500034" y="142852"/>
            <a:ext cx="8229600" cy="1143000"/>
          </a:xfrm>
        </p:spPr>
        <p:txBody>
          <a:bodyPr>
            <a:normAutofit/>
          </a:bodyPr>
          <a:lstStyle/>
          <a:p>
            <a:r>
              <a:rPr lang="tr-TR" sz="3600" dirty="0" err="1"/>
              <a:t>Operational</a:t>
            </a:r>
            <a:r>
              <a:rPr lang="tr-TR" sz="3600" dirty="0"/>
              <a:t> </a:t>
            </a:r>
            <a:r>
              <a:rPr lang="tr-TR" sz="3600" dirty="0" err="1"/>
              <a:t>Amplifiers</a:t>
            </a:r>
            <a:endParaRPr lang="tr-TR" sz="36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214282" y="1214422"/>
            <a:ext cx="8786874" cy="5643578"/>
          </a:xfrm>
        </p:spPr>
        <p:txBody>
          <a:bodyPr>
            <a:normAutofit/>
          </a:bodyPr>
          <a:lstStyle/>
          <a:p>
            <a:r>
              <a:rPr lang="en-US" sz="2000" dirty="0"/>
              <a:t>Operational Amplifier (Op-Amp) is an electronic device that</a:t>
            </a:r>
            <a:r>
              <a:rPr lang="tr-TR" sz="2000" dirty="0"/>
              <a:t> </a:t>
            </a:r>
            <a:r>
              <a:rPr lang="en-US" sz="2000" dirty="0"/>
              <a:t>under proper circumstances behaves like a voltage-controlled</a:t>
            </a:r>
            <a:r>
              <a:rPr lang="tr-TR" sz="2000" dirty="0"/>
              <a:t> </a:t>
            </a:r>
            <a:r>
              <a:rPr lang="en-US" sz="2000" dirty="0"/>
              <a:t>voltage source (</a:t>
            </a:r>
            <a:r>
              <a:rPr lang="en-US" sz="2000" b="1" dirty="0"/>
              <a:t>VCVS</a:t>
            </a:r>
            <a:r>
              <a:rPr lang="en-US" sz="2000" dirty="0"/>
              <a:t>) with very high gain</a:t>
            </a:r>
            <a:r>
              <a:rPr lang="tr-TR" sz="2000" dirty="0"/>
              <a:t>.                                                       </a:t>
            </a:r>
          </a:p>
          <a:p>
            <a:pPr>
              <a:buNone/>
            </a:pPr>
            <a:r>
              <a:rPr lang="tr-TR" sz="2000" dirty="0"/>
              <a:t>                                                                       </a:t>
            </a:r>
          </a:p>
          <a:p>
            <a:pPr>
              <a:buNone/>
            </a:pPr>
            <a:endParaRPr lang="tr-TR" sz="2000" dirty="0"/>
          </a:p>
          <a:p>
            <a:pPr>
              <a:buNone/>
            </a:pPr>
            <a:r>
              <a:rPr lang="tr-TR" sz="2000" dirty="0"/>
              <a:t>                                                                        </a:t>
            </a:r>
          </a:p>
          <a:p>
            <a:pPr>
              <a:buNone/>
            </a:pPr>
            <a:r>
              <a:rPr lang="tr-TR" sz="2000" dirty="0"/>
              <a:t>                                                                         </a:t>
            </a:r>
          </a:p>
          <a:p>
            <a:pPr algn="ctr">
              <a:buNone/>
            </a:pPr>
            <a:r>
              <a:rPr lang="tr-TR" sz="1800" dirty="0"/>
              <a:t>	</a:t>
            </a:r>
            <a:endParaRPr lang="en-US" sz="2000" dirty="0"/>
          </a:p>
          <a:p>
            <a:pPr>
              <a:buNone/>
            </a:pPr>
            <a:r>
              <a:rPr lang="en-US" sz="2000" dirty="0"/>
              <a:t>					</a:t>
            </a:r>
          </a:p>
          <a:p>
            <a:pPr algn="ctr">
              <a:buNone/>
            </a:pPr>
            <a:endParaRPr lang="tr-TR" sz="1200" u="sng" dirty="0"/>
          </a:p>
          <a:p>
            <a:pPr algn="ctr">
              <a:buNone/>
            </a:pPr>
            <a:endParaRPr lang="tr-TR" sz="2000" u="sng" dirty="0"/>
          </a:p>
          <a:p>
            <a:pPr algn="ctr">
              <a:buNone/>
            </a:pPr>
            <a:r>
              <a:rPr lang="tr-TR" sz="2000" dirty="0"/>
              <a:t>                                   </a:t>
            </a:r>
          </a:p>
          <a:p>
            <a:pPr>
              <a:buNone/>
            </a:pPr>
            <a:endParaRPr lang="tr-TR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buNone/>
            </a:pPr>
            <a:endParaRPr lang="tr-TR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buNone/>
            </a:pPr>
            <a:endParaRPr lang="tr-TR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>
              <a:buNone/>
            </a:pPr>
            <a:endParaRPr lang="tr-TR" sz="2000" dirty="0"/>
          </a:p>
          <a:p>
            <a:pPr algn="ctr">
              <a:buNone/>
            </a:pPr>
            <a:endParaRPr lang="tr-TR" sz="2000" dirty="0"/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3078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3080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3082" name="Rectangle 10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3083" name="Rectangle 11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 </a:t>
            </a:r>
            <a:endParaRPr kumimoji="0" lang="tr-T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085" name="Rectangle 1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3086" name="Rectangle 14"/>
          <p:cNvSpPr>
            <a:spLocks noChangeArrowheads="1"/>
          </p:cNvSpPr>
          <p:nvPr/>
        </p:nvSpPr>
        <p:spPr bwMode="auto">
          <a:xfrm>
            <a:off x="0" y="1028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 </a:t>
            </a:r>
            <a:endParaRPr kumimoji="0" lang="tr-T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088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graphicFrame>
        <p:nvGraphicFramePr>
          <p:cNvPr id="3092" name="Object 20"/>
          <p:cNvGraphicFramePr>
            <a:graphicFrameLocks noChangeAspect="1"/>
          </p:cNvGraphicFramePr>
          <p:nvPr/>
        </p:nvGraphicFramePr>
        <p:xfrm>
          <a:off x="642910" y="3929066"/>
          <a:ext cx="1643074" cy="4286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enklem" r:id="rId2" imgW="825480" imgH="215640" progId="Equation.3">
                  <p:embed/>
                </p:oleObj>
              </mc:Choice>
              <mc:Fallback>
                <p:oleObj name="Denklem" r:id="rId2" imgW="8254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10" y="3929066"/>
                        <a:ext cx="1643074" cy="4286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095" name="Picture 2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2910" y="2357430"/>
            <a:ext cx="2828647" cy="1643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0" name="TextBox 19"/>
          <p:cNvSpPr txBox="1"/>
          <p:nvPr/>
        </p:nvSpPr>
        <p:spPr>
          <a:xfrm>
            <a:off x="3929058" y="2071678"/>
            <a:ext cx="2144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Actual characteristic:</a:t>
            </a:r>
            <a:endParaRPr lang="tr-TR" u="sng" dirty="0"/>
          </a:p>
        </p:txBody>
      </p:sp>
      <p:pic>
        <p:nvPicPr>
          <p:cNvPr id="56324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357686" y="2571744"/>
            <a:ext cx="3643338" cy="21888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4" name="TextBox 33"/>
          <p:cNvSpPr txBox="1"/>
          <p:nvPr/>
        </p:nvSpPr>
        <p:spPr>
          <a:xfrm>
            <a:off x="6643702" y="3000372"/>
            <a:ext cx="1917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Positive saturation</a:t>
            </a:r>
            <a:endParaRPr lang="tr-TR" dirty="0"/>
          </a:p>
        </p:txBody>
      </p:sp>
      <p:sp>
        <p:nvSpPr>
          <p:cNvPr id="35" name="TextBox 34"/>
          <p:cNvSpPr txBox="1"/>
          <p:nvPr/>
        </p:nvSpPr>
        <p:spPr>
          <a:xfrm>
            <a:off x="3714744" y="4357694"/>
            <a:ext cx="2016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Negative saturation</a:t>
            </a:r>
            <a:endParaRPr lang="tr-TR" dirty="0"/>
          </a:p>
        </p:txBody>
      </p:sp>
      <p:sp>
        <p:nvSpPr>
          <p:cNvPr id="36" name="Freeform 35"/>
          <p:cNvSpPr/>
          <p:nvPr/>
        </p:nvSpPr>
        <p:spPr>
          <a:xfrm>
            <a:off x="6400800" y="3500438"/>
            <a:ext cx="671530" cy="132703"/>
          </a:xfrm>
          <a:custGeom>
            <a:avLst/>
            <a:gdLst>
              <a:gd name="connsiteX0" fmla="*/ 0 w 891822"/>
              <a:gd name="connsiteY0" fmla="*/ 71497 h 126059"/>
              <a:gd name="connsiteX1" fmla="*/ 485422 w 891822"/>
              <a:gd name="connsiteY1" fmla="*/ 116652 h 126059"/>
              <a:gd name="connsiteX2" fmla="*/ 733778 w 891822"/>
              <a:gd name="connsiteY2" fmla="*/ 15052 h 126059"/>
              <a:gd name="connsiteX3" fmla="*/ 891822 w 891822"/>
              <a:gd name="connsiteY3" fmla="*/ 26341 h 126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91822" h="126059">
                <a:moveTo>
                  <a:pt x="0" y="71497"/>
                </a:moveTo>
                <a:cubicBezTo>
                  <a:pt x="181563" y="98778"/>
                  <a:pt x="363126" y="126059"/>
                  <a:pt x="485422" y="116652"/>
                </a:cubicBezTo>
                <a:cubicBezTo>
                  <a:pt x="607718" y="107245"/>
                  <a:pt x="666045" y="30104"/>
                  <a:pt x="733778" y="15052"/>
                </a:cubicBezTo>
                <a:cubicBezTo>
                  <a:pt x="801511" y="0"/>
                  <a:pt x="846666" y="13170"/>
                  <a:pt x="891822" y="26341"/>
                </a:cubicBez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7" name="TextBox 36"/>
          <p:cNvSpPr txBox="1"/>
          <p:nvPr/>
        </p:nvSpPr>
        <p:spPr>
          <a:xfrm>
            <a:off x="7000892" y="3357562"/>
            <a:ext cx="20970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Linear (VCVS) region</a:t>
            </a:r>
            <a:endParaRPr lang="tr-TR" dirty="0"/>
          </a:p>
        </p:txBody>
      </p:sp>
      <p:graphicFrame>
        <p:nvGraphicFramePr>
          <p:cNvPr id="38" name="Object 37"/>
          <p:cNvGraphicFramePr>
            <a:graphicFrameLocks noChangeAspect="1"/>
          </p:cNvGraphicFramePr>
          <p:nvPr/>
        </p:nvGraphicFramePr>
        <p:xfrm>
          <a:off x="3194050" y="5143500"/>
          <a:ext cx="5616575" cy="1214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288960" imgH="711000" progId="Equation.3">
                  <p:embed/>
                </p:oleObj>
              </mc:Choice>
              <mc:Fallback>
                <p:oleObj name="Equation" r:id="rId6" imgW="3288960" imgH="71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4050" y="5143500"/>
                        <a:ext cx="5616575" cy="1214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E67AD-EE34-4E0A-BCCB-0D14F4380E44}" type="slidenum">
              <a:rPr lang="tr-TR" smtClean="0"/>
              <a:pPr/>
              <a:t>4</a:t>
            </a:fld>
            <a:endParaRPr lang="tr-TR" dirty="0"/>
          </a:p>
        </p:txBody>
      </p:sp>
      <p:sp>
        <p:nvSpPr>
          <p:cNvPr id="25" name="Footer Placeholder 2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Ali Muhtaroglu</a:t>
            </a:r>
          </a:p>
        </p:txBody>
      </p:sp>
    </p:spTree>
    <p:extLst>
      <p:ext uri="{BB962C8B-B14F-4D97-AF65-F5344CB8AC3E}">
        <p14:creationId xmlns:p14="http://schemas.microsoft.com/office/powerpoint/2010/main" val="3389285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214282" y="1214422"/>
            <a:ext cx="8786874" cy="5643578"/>
          </a:xfrm>
        </p:spPr>
        <p:txBody>
          <a:bodyPr>
            <a:normAutofit/>
          </a:bodyPr>
          <a:lstStyle/>
          <a:p>
            <a:r>
              <a:rPr lang="en-US" sz="2000" dirty="0"/>
              <a:t>Operational Amplifier (Op-Amp) is an electronic device that</a:t>
            </a:r>
            <a:r>
              <a:rPr lang="tr-TR" sz="2000" dirty="0"/>
              <a:t> </a:t>
            </a:r>
            <a:r>
              <a:rPr lang="en-US" sz="2000" dirty="0"/>
              <a:t>under proper circumstances behaves like a voltage-controlled</a:t>
            </a:r>
            <a:r>
              <a:rPr lang="tr-TR" sz="2000" dirty="0"/>
              <a:t> </a:t>
            </a:r>
            <a:r>
              <a:rPr lang="en-US" sz="2000" dirty="0"/>
              <a:t>voltage source (VCVS) with very high gain</a:t>
            </a:r>
            <a:r>
              <a:rPr lang="tr-TR" sz="2000" dirty="0"/>
              <a:t>.                                                       </a:t>
            </a:r>
            <a:endParaRPr lang="tr-TR" sz="1000" dirty="0"/>
          </a:p>
          <a:p>
            <a:pPr marL="457200" indent="-457200">
              <a:buNone/>
            </a:pPr>
            <a:r>
              <a:rPr lang="tr-TR" sz="2000" dirty="0"/>
              <a:t>					      </a:t>
            </a:r>
            <a:r>
              <a:rPr lang="tr-TR" sz="2000" b="1" u="sng" dirty="0" err="1"/>
              <a:t>Ideal</a:t>
            </a:r>
            <a:r>
              <a:rPr lang="tr-TR" sz="2000" b="1" u="sng" dirty="0"/>
              <a:t> Op-</a:t>
            </a:r>
            <a:r>
              <a:rPr lang="tr-TR" sz="2000" b="1" u="sng" dirty="0" err="1"/>
              <a:t>Amp</a:t>
            </a:r>
            <a:r>
              <a:rPr lang="tr-TR" sz="2000" b="1" u="sng" dirty="0"/>
              <a:t> </a:t>
            </a:r>
            <a:r>
              <a:rPr lang="tr-TR" sz="2000" b="1" u="sng" dirty="0" err="1"/>
              <a:t>Approximations</a:t>
            </a:r>
            <a:r>
              <a:rPr lang="tr-TR" sz="2000" b="1" u="sng" dirty="0"/>
              <a:t> : </a:t>
            </a:r>
          </a:p>
          <a:p>
            <a:pPr marL="4000500" lvl="8" indent="-457200">
              <a:buNone/>
            </a:pPr>
            <a:r>
              <a:rPr lang="tr-TR" b="1" dirty="0"/>
              <a:t>      1.</a:t>
            </a:r>
            <a:r>
              <a:rPr lang="en-US" b="1" dirty="0"/>
              <a:t>No current ever flows into either</a:t>
            </a:r>
            <a:r>
              <a:rPr lang="tr-TR" b="1" dirty="0"/>
              <a:t> </a:t>
            </a:r>
            <a:r>
              <a:rPr lang="tr-TR" b="1" dirty="0" err="1"/>
              <a:t>input</a:t>
            </a:r>
            <a:r>
              <a:rPr lang="tr-TR" b="1" dirty="0"/>
              <a:t> terminal : 		</a:t>
            </a:r>
          </a:p>
          <a:p>
            <a:pPr marL="4000500" lvl="8" indent="-457200">
              <a:buNone/>
            </a:pPr>
            <a:r>
              <a:rPr lang="tr-TR" b="1" dirty="0"/>
              <a:t>      </a:t>
            </a:r>
            <a:endParaRPr lang="en-US" b="1" dirty="0"/>
          </a:p>
          <a:p>
            <a:pPr marL="4000500" lvl="8" indent="-457200">
              <a:buNone/>
            </a:pPr>
            <a:endParaRPr lang="en-US" sz="400" u="sng" dirty="0"/>
          </a:p>
          <a:p>
            <a:pPr marL="4000500" lvl="8" indent="-457200">
              <a:buNone/>
            </a:pPr>
            <a:endParaRPr lang="en-US" sz="400" u="sng" dirty="0"/>
          </a:p>
          <a:p>
            <a:pPr marL="4000500" lvl="8" indent="-457200">
              <a:buNone/>
            </a:pPr>
            <a:endParaRPr lang="en-US" sz="400" u="sng" dirty="0"/>
          </a:p>
          <a:p>
            <a:pPr marL="4000500" lvl="8" indent="-457200">
              <a:buNone/>
            </a:pPr>
            <a:endParaRPr lang="en-US" sz="400" u="sng" dirty="0"/>
          </a:p>
          <a:p>
            <a:pPr marL="4000500" lvl="8" indent="-457200">
              <a:buNone/>
            </a:pPr>
            <a:endParaRPr lang="en-US" sz="400" u="sng" dirty="0"/>
          </a:p>
          <a:p>
            <a:pPr marL="4000500" lvl="8" indent="-457200">
              <a:buNone/>
            </a:pPr>
            <a:endParaRPr lang="en-US" sz="400" u="sng" dirty="0"/>
          </a:p>
          <a:p>
            <a:pPr marL="4000500" lvl="8" indent="-457200">
              <a:buNone/>
            </a:pPr>
            <a:endParaRPr lang="en-US" sz="400" u="sng" dirty="0"/>
          </a:p>
          <a:p>
            <a:pPr marL="4000500" lvl="8" indent="-457200">
              <a:buNone/>
            </a:pPr>
            <a:endParaRPr lang="en-US" sz="400" u="sng" dirty="0"/>
          </a:p>
          <a:p>
            <a:pPr marL="4000500" lvl="8" indent="-457200">
              <a:buNone/>
            </a:pPr>
            <a:endParaRPr lang="en-US" sz="400" u="sng" dirty="0"/>
          </a:p>
          <a:p>
            <a:pPr marL="4000500" lvl="8" indent="-457200">
              <a:buNone/>
            </a:pPr>
            <a:endParaRPr lang="tr-TR" sz="400" u="sng" dirty="0"/>
          </a:p>
          <a:p>
            <a:pPr algn="ctr">
              <a:buNone/>
            </a:pPr>
            <a:r>
              <a:rPr lang="da-DK" sz="2000" u="sng" dirty="0"/>
              <a:t>Op-Amp Ideal Voltage Amplifier Model</a:t>
            </a:r>
            <a:endParaRPr lang="tr-TR" sz="2000" u="sng" dirty="0"/>
          </a:p>
          <a:p>
            <a:pPr algn="ctr">
              <a:buNone/>
            </a:pPr>
            <a:endParaRPr lang="tr-TR" sz="2000" u="sng" dirty="0"/>
          </a:p>
          <a:p>
            <a:pPr algn="ctr">
              <a:buNone/>
            </a:pPr>
            <a:r>
              <a:rPr lang="tr-TR" sz="2000" dirty="0"/>
              <a:t>                                   </a:t>
            </a:r>
            <a:r>
              <a:rPr lang="tr-TR" sz="2000" dirty="0" err="1"/>
              <a:t>Open</a:t>
            </a:r>
            <a:r>
              <a:rPr lang="tr-TR" sz="2000" dirty="0"/>
              <a:t> </a:t>
            </a:r>
            <a:r>
              <a:rPr lang="tr-TR" sz="2000" dirty="0" err="1"/>
              <a:t>Loop</a:t>
            </a:r>
            <a:r>
              <a:rPr lang="tr-TR" sz="2000" dirty="0"/>
              <a:t> </a:t>
            </a:r>
            <a:r>
              <a:rPr lang="tr-TR" sz="2000" dirty="0" err="1"/>
              <a:t>Gain</a:t>
            </a:r>
            <a:r>
              <a:rPr lang="tr-TR" sz="2000" dirty="0"/>
              <a:t> : </a:t>
            </a:r>
          </a:p>
          <a:p>
            <a:pPr>
              <a:buNone/>
            </a:pPr>
            <a:endParaRPr lang="tr-TR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buNone/>
            </a:pPr>
            <a:endParaRPr lang="tr-TR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buNone/>
            </a:pPr>
            <a:endParaRPr lang="tr-TR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>
              <a:buNone/>
            </a:pPr>
            <a:endParaRPr lang="tr-TR" sz="2000" dirty="0"/>
          </a:p>
          <a:p>
            <a:pPr algn="ctr">
              <a:buNone/>
            </a:pPr>
            <a:endParaRPr lang="tr-TR" sz="2000" dirty="0"/>
          </a:p>
        </p:txBody>
      </p:sp>
      <p:pic>
        <p:nvPicPr>
          <p:cNvPr id="24608" name="Picture 3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2071678"/>
            <a:ext cx="2807785" cy="1928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500034" y="142852"/>
            <a:ext cx="8229600" cy="1143000"/>
          </a:xfrm>
        </p:spPr>
        <p:txBody>
          <a:bodyPr>
            <a:normAutofit/>
          </a:bodyPr>
          <a:lstStyle/>
          <a:p>
            <a:r>
              <a:rPr lang="tr-TR" sz="3600" dirty="0" err="1"/>
              <a:t>Operational</a:t>
            </a:r>
            <a:r>
              <a:rPr lang="tr-TR" sz="3600" dirty="0"/>
              <a:t> </a:t>
            </a:r>
            <a:r>
              <a:rPr lang="tr-TR" sz="3600" dirty="0" err="1"/>
              <a:t>Amplifiers</a:t>
            </a:r>
            <a:endParaRPr lang="tr-TR" sz="3600" dirty="0"/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3078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3080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3082" name="Rectangle 10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3083" name="Rectangle 11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 </a:t>
            </a:r>
            <a:endParaRPr kumimoji="0" lang="tr-T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085" name="Rectangle 1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3086" name="Rectangle 14"/>
          <p:cNvSpPr>
            <a:spLocks noChangeArrowheads="1"/>
          </p:cNvSpPr>
          <p:nvPr/>
        </p:nvSpPr>
        <p:spPr bwMode="auto">
          <a:xfrm>
            <a:off x="0" y="1028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 </a:t>
            </a:r>
            <a:endParaRPr kumimoji="0" lang="tr-T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088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graphicFrame>
        <p:nvGraphicFramePr>
          <p:cNvPr id="3091" name="Object 19"/>
          <p:cNvGraphicFramePr>
            <a:graphicFrameLocks noChangeAspect="1"/>
          </p:cNvGraphicFramePr>
          <p:nvPr/>
        </p:nvGraphicFramePr>
        <p:xfrm>
          <a:off x="6572264" y="5143512"/>
          <a:ext cx="1000132" cy="894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enklem" r:id="rId3" imgW="482400" imgH="431640" progId="Equation.3">
                  <p:embed/>
                </p:oleObj>
              </mc:Choice>
              <mc:Fallback>
                <p:oleObj name="Denklem" r:id="rId3" imgW="4824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2264" y="5143512"/>
                        <a:ext cx="1000132" cy="8948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92" name="Object 20"/>
          <p:cNvGraphicFramePr>
            <a:graphicFrameLocks noChangeAspect="1"/>
          </p:cNvGraphicFramePr>
          <p:nvPr/>
        </p:nvGraphicFramePr>
        <p:xfrm>
          <a:off x="642910" y="3929066"/>
          <a:ext cx="1643074" cy="4286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enklem" r:id="rId5" imgW="825480" imgH="215640" progId="Equation.3">
                  <p:embed/>
                </p:oleObj>
              </mc:Choice>
              <mc:Fallback>
                <p:oleObj name="Denklem" r:id="rId5" imgW="8254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10" y="3929066"/>
                        <a:ext cx="1643074" cy="4286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2" name="Object 6"/>
          <p:cNvGraphicFramePr>
            <a:graphicFrameLocks noChangeAspect="1"/>
          </p:cNvGraphicFramePr>
          <p:nvPr/>
        </p:nvGraphicFramePr>
        <p:xfrm>
          <a:off x="5416550" y="2928938"/>
          <a:ext cx="1239838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47640" imgH="215640" progId="Equation.3">
                  <p:embed/>
                </p:oleObj>
              </mc:Choice>
              <mc:Fallback>
                <p:oleObj name="Equation" r:id="rId7" imgW="64764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6550" y="2928938"/>
                        <a:ext cx="1239838" cy="35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40 Nesne"/>
          <p:cNvGraphicFramePr>
            <a:graphicFrameLocks noChangeAspect="1"/>
          </p:cNvGraphicFramePr>
          <p:nvPr/>
        </p:nvGraphicFramePr>
        <p:xfrm>
          <a:off x="4114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914400" imgH="215640" progId="Equation.3">
                  <p:embed/>
                </p:oleObj>
              </mc:Choice>
              <mc:Fallback>
                <p:oleObj name="Equation" r:id="rId9" imgW="9144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321050"/>
                        <a:ext cx="9144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6" name="Picture 54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571472" y="5072074"/>
            <a:ext cx="8001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7" name="Picture 51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2571736" y="5000636"/>
            <a:ext cx="1609725" cy="140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E67AD-EE34-4E0A-BCCB-0D14F4380E44}" type="slidenum">
              <a:rPr lang="tr-TR" smtClean="0"/>
              <a:pPr/>
              <a:t>5</a:t>
            </a:fld>
            <a:endParaRPr lang="tr-TR" dirty="0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Ali Muhtaroglu</a:t>
            </a:r>
          </a:p>
        </p:txBody>
      </p:sp>
    </p:spTree>
    <p:extLst>
      <p:ext uri="{BB962C8B-B14F-4D97-AF65-F5344CB8AC3E}">
        <p14:creationId xmlns:p14="http://schemas.microsoft.com/office/powerpoint/2010/main" val="1188440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500034" y="142852"/>
            <a:ext cx="8229600" cy="785818"/>
          </a:xfrm>
        </p:spPr>
        <p:txBody>
          <a:bodyPr>
            <a:normAutofit/>
          </a:bodyPr>
          <a:lstStyle/>
          <a:p>
            <a:r>
              <a:rPr lang="tr-TR" sz="3600" dirty="0" err="1"/>
              <a:t>Example</a:t>
            </a:r>
            <a:r>
              <a:rPr lang="tr-TR" sz="3600" dirty="0"/>
              <a:t> 1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142844" y="1071546"/>
            <a:ext cx="8686800" cy="557216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tr-TR" sz="2400" dirty="0" err="1"/>
              <a:t>Determine</a:t>
            </a:r>
            <a:r>
              <a:rPr lang="tr-TR" sz="2400" dirty="0"/>
              <a:t> </a:t>
            </a:r>
            <a:r>
              <a:rPr lang="tr-TR" sz="2400" dirty="0" err="1"/>
              <a:t>voltages</a:t>
            </a:r>
            <a:r>
              <a:rPr lang="tr-TR" sz="2400" dirty="0"/>
              <a:t>      </a:t>
            </a:r>
            <a:r>
              <a:rPr lang="tr-TR" sz="2400" dirty="0" err="1"/>
              <a:t>and</a:t>
            </a:r>
            <a:r>
              <a:rPr lang="tr-TR" sz="2400" dirty="0"/>
              <a:t>     . </a:t>
            </a:r>
            <a:r>
              <a:rPr lang="tr-TR" sz="2400" dirty="0" err="1"/>
              <a:t>Use</a:t>
            </a:r>
            <a:r>
              <a:rPr lang="tr-TR" sz="2400" dirty="0"/>
              <a:t> ideal op-</a:t>
            </a:r>
            <a:r>
              <a:rPr lang="tr-TR" sz="2400" dirty="0" err="1"/>
              <a:t>amp</a:t>
            </a:r>
            <a:r>
              <a:rPr lang="tr-TR" sz="2400" dirty="0"/>
              <a:t> model. A=100000.</a:t>
            </a:r>
          </a:p>
          <a:p>
            <a:pPr>
              <a:buNone/>
            </a:pPr>
            <a:endParaRPr lang="tr-TR" sz="2400" dirty="0"/>
          </a:p>
          <a:p>
            <a:pPr>
              <a:buNone/>
            </a:pPr>
            <a:endParaRPr lang="tr-TR" sz="2400" dirty="0"/>
          </a:p>
          <a:p>
            <a:pPr>
              <a:buNone/>
            </a:pPr>
            <a:endParaRPr lang="tr-TR" sz="2400" dirty="0"/>
          </a:p>
          <a:p>
            <a:pPr>
              <a:buNone/>
            </a:pPr>
            <a:endParaRPr lang="tr-TR" sz="2400" dirty="0"/>
          </a:p>
          <a:p>
            <a:pPr>
              <a:buNone/>
            </a:pPr>
            <a:endParaRPr lang="tr-TR" sz="2400" dirty="0"/>
          </a:p>
          <a:p>
            <a:pPr>
              <a:buNone/>
            </a:pPr>
            <a:endParaRPr lang="tr-TR" sz="2400" dirty="0"/>
          </a:p>
          <a:p>
            <a:pPr>
              <a:buNone/>
            </a:pPr>
            <a:endParaRPr lang="tr-TR" sz="2400" dirty="0"/>
          </a:p>
          <a:p>
            <a:pPr>
              <a:buNone/>
            </a:pPr>
            <a:endParaRPr lang="tr-TR" sz="2400" dirty="0"/>
          </a:p>
          <a:p>
            <a:pPr>
              <a:buNone/>
            </a:pPr>
            <a:endParaRPr lang="tr-TR" sz="2400" dirty="0"/>
          </a:p>
          <a:p>
            <a:pPr>
              <a:buNone/>
            </a:pPr>
            <a:endParaRPr lang="tr-TR" sz="2400" dirty="0"/>
          </a:p>
          <a:p>
            <a:pPr>
              <a:buNone/>
            </a:pPr>
            <a:endParaRPr lang="tr-TR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2048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20488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20489" name="Rectangle 9"/>
          <p:cNvSpPr>
            <a:spLocks noChangeArrowheads="1"/>
          </p:cNvSpPr>
          <p:nvPr/>
        </p:nvSpPr>
        <p:spPr bwMode="auto">
          <a:xfrm>
            <a:off x="0" y="8763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0491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20492" name="Rectangle 12"/>
          <p:cNvSpPr>
            <a:spLocks noChangeArrowheads="1"/>
          </p:cNvSpPr>
          <p:nvPr/>
        </p:nvSpPr>
        <p:spPr bwMode="auto">
          <a:xfrm>
            <a:off x="0" y="12954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0494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20496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20499" name="Rectangle 19"/>
          <p:cNvSpPr>
            <a:spLocks noChangeArrowheads="1"/>
          </p:cNvSpPr>
          <p:nvPr/>
        </p:nvSpPr>
        <p:spPr bwMode="auto">
          <a:xfrm>
            <a:off x="0" y="12001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26" name="25 Nesne"/>
          <p:cNvGraphicFramePr>
            <a:graphicFrameLocks noChangeAspect="1"/>
          </p:cNvGraphicFramePr>
          <p:nvPr/>
        </p:nvGraphicFramePr>
        <p:xfrm>
          <a:off x="4114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enklem" r:id="rId2" imgW="914400" imgH="215640" progId="Equation.3">
                  <p:embed/>
                </p:oleObj>
              </mc:Choice>
              <mc:Fallback>
                <p:oleObj name="Denklem" r:id="rId2" imgW="9144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321050"/>
                        <a:ext cx="9144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07" name="Object 27"/>
          <p:cNvGraphicFramePr>
            <a:graphicFrameLocks noChangeAspect="1"/>
          </p:cNvGraphicFramePr>
          <p:nvPr/>
        </p:nvGraphicFramePr>
        <p:xfrm>
          <a:off x="2714612" y="1071546"/>
          <a:ext cx="285752" cy="5000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enklem" r:id="rId4" imgW="177480" imgH="228600" progId="Equation.3">
                  <p:embed/>
                </p:oleObj>
              </mc:Choice>
              <mc:Fallback>
                <p:oleObj name="Denklem" r:id="rId4" imgW="1774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4612" y="1071546"/>
                        <a:ext cx="285752" cy="5000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08" name="Object 28"/>
          <p:cNvGraphicFramePr>
            <a:graphicFrameLocks noChangeAspect="1"/>
          </p:cNvGraphicFramePr>
          <p:nvPr/>
        </p:nvGraphicFramePr>
        <p:xfrm>
          <a:off x="3500430" y="1071546"/>
          <a:ext cx="357190" cy="471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enklem" r:id="rId6" imgW="177480" imgH="228600" progId="Equation.3">
                  <p:embed/>
                </p:oleObj>
              </mc:Choice>
              <mc:Fallback>
                <p:oleObj name="Denklem" r:id="rId6" imgW="1774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0430" y="1071546"/>
                        <a:ext cx="357190" cy="4714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" name="Picture 10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0" y="1428736"/>
            <a:ext cx="5572132" cy="2016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E67AD-EE34-4E0A-BCCB-0D14F4380E44}" type="slidenum">
              <a:rPr lang="tr-TR" smtClean="0"/>
              <a:pPr/>
              <a:t>6</a:t>
            </a:fld>
            <a:endParaRPr lang="tr-TR" dirty="0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Ali Muhtaroglu</a:t>
            </a:r>
          </a:p>
        </p:txBody>
      </p:sp>
    </p:spTree>
    <p:extLst>
      <p:ext uri="{BB962C8B-B14F-4D97-AF65-F5344CB8AC3E}">
        <p14:creationId xmlns:p14="http://schemas.microsoft.com/office/powerpoint/2010/main" val="3369337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142844" y="1071546"/>
            <a:ext cx="8686800" cy="557216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tr-TR" sz="2400" dirty="0" err="1"/>
              <a:t>Determine</a:t>
            </a:r>
            <a:r>
              <a:rPr lang="tr-TR" sz="2400" dirty="0"/>
              <a:t> </a:t>
            </a:r>
            <a:r>
              <a:rPr lang="tr-TR" sz="2400" dirty="0" err="1"/>
              <a:t>voltages</a:t>
            </a:r>
            <a:r>
              <a:rPr lang="tr-TR" sz="2400" dirty="0"/>
              <a:t>      </a:t>
            </a:r>
            <a:r>
              <a:rPr lang="tr-TR" sz="2400" dirty="0" err="1"/>
              <a:t>and</a:t>
            </a:r>
            <a:r>
              <a:rPr lang="tr-TR" sz="2400" dirty="0"/>
              <a:t>     . </a:t>
            </a:r>
            <a:r>
              <a:rPr lang="tr-TR" sz="2400" dirty="0" err="1"/>
              <a:t>Use</a:t>
            </a:r>
            <a:r>
              <a:rPr lang="tr-TR" sz="2400" dirty="0"/>
              <a:t> ideal op-</a:t>
            </a:r>
            <a:r>
              <a:rPr lang="tr-TR" sz="2400" dirty="0" err="1"/>
              <a:t>amp</a:t>
            </a:r>
            <a:r>
              <a:rPr lang="tr-TR" sz="2400" dirty="0"/>
              <a:t> model. A=100000.</a:t>
            </a:r>
          </a:p>
          <a:p>
            <a:pPr>
              <a:buNone/>
            </a:pPr>
            <a:endParaRPr lang="tr-TR" sz="2400" dirty="0"/>
          </a:p>
          <a:p>
            <a:pPr>
              <a:buNone/>
            </a:pPr>
            <a:endParaRPr lang="tr-TR" sz="2400" dirty="0"/>
          </a:p>
          <a:p>
            <a:pPr>
              <a:buNone/>
            </a:pPr>
            <a:endParaRPr lang="tr-TR" sz="2400" dirty="0"/>
          </a:p>
          <a:p>
            <a:pPr>
              <a:buNone/>
            </a:pPr>
            <a:endParaRPr lang="tr-TR" sz="2400" dirty="0"/>
          </a:p>
          <a:p>
            <a:pPr>
              <a:buNone/>
            </a:pPr>
            <a:endParaRPr lang="tr-TR" sz="1000" dirty="0"/>
          </a:p>
          <a:p>
            <a:pPr>
              <a:buNone/>
            </a:pPr>
            <a:endParaRPr lang="tr-TR" sz="1000" dirty="0"/>
          </a:p>
          <a:p>
            <a:pPr>
              <a:buNone/>
            </a:pPr>
            <a:r>
              <a:rPr lang="tr-TR" sz="2400" u="sng" dirty="0" err="1"/>
              <a:t>Ideal</a:t>
            </a:r>
            <a:r>
              <a:rPr lang="tr-TR" sz="2400" u="sng" dirty="0"/>
              <a:t> Model :</a:t>
            </a:r>
          </a:p>
          <a:p>
            <a:pPr>
              <a:buNone/>
            </a:pPr>
            <a:endParaRPr lang="tr-TR" sz="2400" dirty="0"/>
          </a:p>
          <a:p>
            <a:pPr>
              <a:buNone/>
            </a:pPr>
            <a:endParaRPr lang="tr-TR" sz="2400" dirty="0"/>
          </a:p>
          <a:p>
            <a:pPr>
              <a:buNone/>
            </a:pPr>
            <a:endParaRPr lang="tr-TR" sz="2400" dirty="0"/>
          </a:p>
          <a:p>
            <a:pPr>
              <a:buNone/>
            </a:pPr>
            <a:endParaRPr lang="tr-TR" sz="2400" dirty="0"/>
          </a:p>
          <a:p>
            <a:pPr>
              <a:buNone/>
            </a:pPr>
            <a:endParaRPr lang="tr-TR" sz="2400" dirty="0"/>
          </a:p>
          <a:p>
            <a:pPr>
              <a:buNone/>
            </a:pPr>
            <a:endParaRPr lang="tr-TR" sz="2400" dirty="0"/>
          </a:p>
          <a:p>
            <a:pPr>
              <a:buNone/>
            </a:pPr>
            <a:endParaRPr lang="tr-TR" sz="2400" dirty="0"/>
          </a:p>
          <a:p>
            <a:pPr>
              <a:buNone/>
            </a:pPr>
            <a:endParaRPr lang="tr-TR" sz="2400" dirty="0"/>
          </a:p>
          <a:p>
            <a:pPr>
              <a:buNone/>
            </a:pPr>
            <a:endParaRPr lang="tr-TR" sz="2400" dirty="0"/>
          </a:p>
          <a:p>
            <a:pPr>
              <a:buNone/>
            </a:pPr>
            <a:endParaRPr lang="tr-TR" sz="2400" dirty="0"/>
          </a:p>
          <a:p>
            <a:pPr>
              <a:buNone/>
            </a:pPr>
            <a:endParaRPr lang="tr-TR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2048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20488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20489" name="Rectangle 9"/>
          <p:cNvSpPr>
            <a:spLocks noChangeArrowheads="1"/>
          </p:cNvSpPr>
          <p:nvPr/>
        </p:nvSpPr>
        <p:spPr bwMode="auto">
          <a:xfrm>
            <a:off x="0" y="8763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0491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20492" name="Rectangle 12"/>
          <p:cNvSpPr>
            <a:spLocks noChangeArrowheads="1"/>
          </p:cNvSpPr>
          <p:nvPr/>
        </p:nvSpPr>
        <p:spPr bwMode="auto">
          <a:xfrm>
            <a:off x="0" y="12954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0494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20496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20499" name="Rectangle 19"/>
          <p:cNvSpPr>
            <a:spLocks noChangeArrowheads="1"/>
          </p:cNvSpPr>
          <p:nvPr/>
        </p:nvSpPr>
        <p:spPr bwMode="auto">
          <a:xfrm>
            <a:off x="0" y="12001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20503" name="Object 23"/>
          <p:cNvGraphicFramePr>
            <a:graphicFrameLocks noChangeAspect="1"/>
          </p:cNvGraphicFramePr>
          <p:nvPr/>
        </p:nvGraphicFramePr>
        <p:xfrm>
          <a:off x="214282" y="5643578"/>
          <a:ext cx="3500462" cy="4556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enklem" r:id="rId2" imgW="1981080" imgH="241200" progId="Equation.3">
                  <p:embed/>
                </p:oleObj>
              </mc:Choice>
              <mc:Fallback>
                <p:oleObj name="Denklem" r:id="rId2" imgW="198108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282" y="5643578"/>
                        <a:ext cx="3500462" cy="4556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25 Nesne"/>
          <p:cNvGraphicFramePr>
            <a:graphicFrameLocks noChangeAspect="1"/>
          </p:cNvGraphicFramePr>
          <p:nvPr/>
        </p:nvGraphicFramePr>
        <p:xfrm>
          <a:off x="4114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enklem" r:id="rId4" imgW="914400" imgH="215640" progId="Equation.3">
                  <p:embed/>
                </p:oleObj>
              </mc:Choice>
              <mc:Fallback>
                <p:oleObj name="Denklem" r:id="rId4" imgW="9144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321050"/>
                        <a:ext cx="9144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05" name="Object 25"/>
          <p:cNvGraphicFramePr>
            <a:graphicFrameLocks noChangeAspect="1"/>
          </p:cNvGraphicFramePr>
          <p:nvPr/>
        </p:nvGraphicFramePr>
        <p:xfrm>
          <a:off x="214282" y="6072206"/>
          <a:ext cx="5214974" cy="4286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enklem" r:id="rId6" imgW="2527200" imgH="241200" progId="Equation.3">
                  <p:embed/>
                </p:oleObj>
              </mc:Choice>
              <mc:Fallback>
                <p:oleObj name="Denklem" r:id="rId6" imgW="252720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282" y="6072206"/>
                        <a:ext cx="5214974" cy="4286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06" name="Object 26"/>
          <p:cNvGraphicFramePr>
            <a:graphicFrameLocks noChangeAspect="1"/>
          </p:cNvGraphicFramePr>
          <p:nvPr/>
        </p:nvGraphicFramePr>
        <p:xfrm>
          <a:off x="5072066" y="5500702"/>
          <a:ext cx="3786214" cy="7508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enklem" r:id="rId8" imgW="2082600" imgH="393480" progId="Equation.3">
                  <p:embed/>
                </p:oleObj>
              </mc:Choice>
              <mc:Fallback>
                <p:oleObj name="Denklem" r:id="rId8" imgW="20826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2066" y="5500702"/>
                        <a:ext cx="3786214" cy="7508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07" name="Object 27"/>
          <p:cNvGraphicFramePr>
            <a:graphicFrameLocks noChangeAspect="1"/>
          </p:cNvGraphicFramePr>
          <p:nvPr/>
        </p:nvGraphicFramePr>
        <p:xfrm>
          <a:off x="2714612" y="1071546"/>
          <a:ext cx="285752" cy="5000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enklem" r:id="rId10" imgW="177480" imgH="228600" progId="Equation.3">
                  <p:embed/>
                </p:oleObj>
              </mc:Choice>
              <mc:Fallback>
                <p:oleObj name="Denklem" r:id="rId10" imgW="1774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4612" y="1071546"/>
                        <a:ext cx="285752" cy="5000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08" name="Object 28"/>
          <p:cNvGraphicFramePr>
            <a:graphicFrameLocks noChangeAspect="1"/>
          </p:cNvGraphicFramePr>
          <p:nvPr/>
        </p:nvGraphicFramePr>
        <p:xfrm>
          <a:off x="3500430" y="1071546"/>
          <a:ext cx="357190" cy="471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enklem" r:id="rId12" imgW="177480" imgH="228600" progId="Equation.3">
                  <p:embed/>
                </p:oleObj>
              </mc:Choice>
              <mc:Fallback>
                <p:oleObj name="Denklem" r:id="rId12" imgW="1774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0430" y="1071546"/>
                        <a:ext cx="357190" cy="4714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6657" name="Picture 33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642910" y="4071942"/>
            <a:ext cx="1714512" cy="15052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659" name="Picture 35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5715008" y="4000504"/>
            <a:ext cx="1785950" cy="1584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634" name="Picture 10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0" y="1428736"/>
            <a:ext cx="5572132" cy="2016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8" name="1 Başlık"/>
          <p:cNvSpPr>
            <a:spLocks noGrp="1"/>
          </p:cNvSpPr>
          <p:nvPr>
            <p:ph type="title"/>
          </p:nvPr>
        </p:nvSpPr>
        <p:spPr>
          <a:xfrm>
            <a:off x="500034" y="142852"/>
            <a:ext cx="8229600" cy="785818"/>
          </a:xfrm>
        </p:spPr>
        <p:txBody>
          <a:bodyPr>
            <a:normAutofit/>
          </a:bodyPr>
          <a:lstStyle/>
          <a:p>
            <a:r>
              <a:rPr lang="tr-TR" sz="3600" dirty="0" err="1"/>
              <a:t>Example</a:t>
            </a:r>
            <a:r>
              <a:rPr lang="tr-TR" sz="3600" dirty="0"/>
              <a:t> 1</a:t>
            </a:r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E67AD-EE34-4E0A-BCCB-0D14F4380E44}" type="slidenum">
              <a:rPr lang="tr-TR" smtClean="0"/>
              <a:pPr/>
              <a:t>7</a:t>
            </a:fld>
            <a:endParaRPr lang="tr-TR" dirty="0"/>
          </a:p>
        </p:txBody>
      </p:sp>
      <p:sp>
        <p:nvSpPr>
          <p:cNvPr id="27" name="Footer Placeholder 2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Ali Muhtaroglu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578890" y="4002892"/>
            <a:ext cx="2914650" cy="17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601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500034" y="142852"/>
            <a:ext cx="8229600" cy="857256"/>
          </a:xfrm>
        </p:spPr>
        <p:txBody>
          <a:bodyPr>
            <a:normAutofit/>
          </a:bodyPr>
          <a:lstStyle/>
          <a:p>
            <a:r>
              <a:rPr lang="tr-TR" sz="3600" dirty="0" err="1"/>
              <a:t>Negative</a:t>
            </a:r>
            <a:r>
              <a:rPr lang="tr-TR" sz="3600" dirty="0"/>
              <a:t> </a:t>
            </a:r>
            <a:r>
              <a:rPr lang="tr-TR" sz="3600" dirty="0" err="1"/>
              <a:t>Feedback</a:t>
            </a:r>
            <a:endParaRPr lang="tr-TR" sz="36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158" y="1285860"/>
            <a:ext cx="8229600" cy="5383219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dirty="0"/>
              <a:t>Op-Amp gain (A) varies due to many factors:</a:t>
            </a:r>
            <a:endParaRPr lang="tr-TR" dirty="0"/>
          </a:p>
          <a:p>
            <a:pPr>
              <a:buNone/>
            </a:pPr>
            <a:r>
              <a:rPr lang="tr-TR" dirty="0"/>
              <a:t>• </a:t>
            </a:r>
            <a:r>
              <a:rPr lang="tr-TR" dirty="0" err="1"/>
              <a:t>Manufacturing</a:t>
            </a:r>
            <a:r>
              <a:rPr lang="tr-TR" dirty="0"/>
              <a:t> </a:t>
            </a:r>
            <a:r>
              <a:rPr lang="tr-TR" dirty="0" err="1"/>
              <a:t>process</a:t>
            </a:r>
            <a:r>
              <a:rPr lang="tr-TR" dirty="0"/>
              <a:t> </a:t>
            </a:r>
            <a:r>
              <a:rPr lang="tr-TR" dirty="0" err="1"/>
              <a:t>variations</a:t>
            </a:r>
            <a:endParaRPr lang="tr-TR" dirty="0"/>
          </a:p>
          <a:p>
            <a:pPr>
              <a:buNone/>
            </a:pPr>
            <a:r>
              <a:rPr lang="tr-TR" dirty="0"/>
              <a:t>• </a:t>
            </a:r>
            <a:r>
              <a:rPr lang="tr-TR" dirty="0" err="1"/>
              <a:t>Temperature</a:t>
            </a:r>
            <a:r>
              <a:rPr lang="tr-TR" dirty="0"/>
              <a:t> </a:t>
            </a:r>
            <a:r>
              <a:rPr lang="tr-TR" dirty="0" err="1"/>
              <a:t>variations</a:t>
            </a:r>
            <a:endParaRPr lang="tr-TR" dirty="0"/>
          </a:p>
          <a:p>
            <a:pPr>
              <a:buNone/>
            </a:pPr>
            <a:r>
              <a:rPr lang="en-US" dirty="0"/>
              <a:t>• Voltage fluctuations due to activity/noise</a:t>
            </a:r>
          </a:p>
          <a:p>
            <a:pPr>
              <a:buNone/>
            </a:pPr>
            <a:r>
              <a:rPr lang="tr-TR" dirty="0"/>
              <a:t>• </a:t>
            </a:r>
            <a:r>
              <a:rPr lang="tr-TR" dirty="0" err="1"/>
              <a:t>Material</a:t>
            </a:r>
            <a:r>
              <a:rPr lang="tr-TR" dirty="0"/>
              <a:t> </a:t>
            </a:r>
            <a:r>
              <a:rPr lang="tr-TR" dirty="0" err="1"/>
              <a:t>aging</a:t>
            </a:r>
            <a:endParaRPr lang="tr-TR" dirty="0"/>
          </a:p>
          <a:p>
            <a:pPr>
              <a:buNone/>
            </a:pPr>
            <a:endParaRPr lang="tr-TR" dirty="0"/>
          </a:p>
          <a:p>
            <a:pPr>
              <a:buNone/>
            </a:pPr>
            <a:r>
              <a:rPr lang="en-US" dirty="0"/>
              <a:t>Negative feedback topology helps compensate for most of these</a:t>
            </a:r>
            <a:r>
              <a:rPr lang="tr-TR" dirty="0"/>
              <a:t> </a:t>
            </a:r>
            <a:r>
              <a:rPr lang="en-US" dirty="0"/>
              <a:t>variations and increases the overall accuracy of the output by</a:t>
            </a:r>
            <a:r>
              <a:rPr lang="tr-TR" dirty="0"/>
              <a:t> </a:t>
            </a:r>
            <a:r>
              <a:rPr lang="en-US" dirty="0"/>
              <a:t>making the circuit more immune to such variations.</a:t>
            </a:r>
            <a:endParaRPr lang="tr-TR" dirty="0"/>
          </a:p>
          <a:p>
            <a:pPr>
              <a:buNone/>
            </a:pPr>
            <a:endParaRPr lang="tr-TR" dirty="0"/>
          </a:p>
          <a:p>
            <a:pPr>
              <a:buNone/>
            </a:pPr>
            <a:endParaRPr lang="tr-TR" dirty="0"/>
          </a:p>
          <a:p>
            <a:pPr>
              <a:buNone/>
            </a:pPr>
            <a:r>
              <a:rPr lang="tr-TR" dirty="0"/>
              <a:t>  </a:t>
            </a:r>
          </a:p>
          <a:p>
            <a:pPr>
              <a:buNone/>
            </a:pPr>
            <a:endParaRPr lang="tr-TR" dirty="0"/>
          </a:p>
          <a:p>
            <a:pPr>
              <a:buNone/>
            </a:pPr>
            <a:endParaRPr lang="tr-TR" dirty="0"/>
          </a:p>
          <a:p>
            <a:pPr>
              <a:buNone/>
            </a:pPr>
            <a:r>
              <a:rPr lang="tr-TR" dirty="0"/>
              <a:t>   </a:t>
            </a:r>
          </a:p>
          <a:p>
            <a:pPr>
              <a:buNone/>
            </a:pPr>
            <a:endParaRPr lang="tr-TR" dirty="0"/>
          </a:p>
          <a:p>
            <a:pPr>
              <a:buNone/>
            </a:pPr>
            <a:endParaRPr lang="tr-TR" dirty="0"/>
          </a:p>
          <a:p>
            <a:pPr>
              <a:buNone/>
            </a:pPr>
            <a:endParaRPr lang="tr-TR" sz="1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buNone/>
            </a:pPr>
            <a:endParaRPr lang="tr-TR" sz="1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buNone/>
            </a:pPr>
            <a:endParaRPr lang="tr-TR" sz="1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buNone/>
            </a:pPr>
            <a:endParaRPr lang="tr-TR" sz="1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buNone/>
            </a:pPr>
            <a:endParaRPr lang="tr-TR" sz="1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buNone/>
            </a:pPr>
            <a:endParaRPr lang="tr-TR" sz="1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buNone/>
            </a:pPr>
            <a:endParaRPr lang="tr-TR" sz="1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E67AD-EE34-4E0A-BCCB-0D14F4380E44}" type="slidenum">
              <a:rPr lang="tr-TR" smtClean="0"/>
              <a:pPr/>
              <a:t>8</a:t>
            </a:fld>
            <a:endParaRPr lang="tr-TR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Ali Muhtaroglu</a:t>
            </a:r>
          </a:p>
        </p:txBody>
      </p:sp>
    </p:spTree>
    <p:extLst>
      <p:ext uri="{BB962C8B-B14F-4D97-AF65-F5344CB8AC3E}">
        <p14:creationId xmlns:p14="http://schemas.microsoft.com/office/powerpoint/2010/main" val="300138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5" name="Rectangle 7"/>
          <p:cNvSpPr>
            <a:spLocks noChangeArrowheads="1"/>
          </p:cNvSpPr>
          <p:nvPr/>
        </p:nvSpPr>
        <p:spPr bwMode="auto">
          <a:xfrm>
            <a:off x="0" y="9715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538" name="Rectangle 10"/>
          <p:cNvSpPr>
            <a:spLocks noChangeArrowheads="1"/>
          </p:cNvSpPr>
          <p:nvPr/>
        </p:nvSpPr>
        <p:spPr bwMode="auto">
          <a:xfrm>
            <a:off x="0" y="9810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541" name="Rectangle 13"/>
          <p:cNvSpPr>
            <a:spLocks noChangeArrowheads="1"/>
          </p:cNvSpPr>
          <p:nvPr/>
        </p:nvSpPr>
        <p:spPr bwMode="auto">
          <a:xfrm>
            <a:off x="0" y="9715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9" name="18 Nesne"/>
          <p:cNvGraphicFramePr>
            <a:graphicFrameLocks noChangeAspect="1"/>
          </p:cNvGraphicFramePr>
          <p:nvPr/>
        </p:nvGraphicFramePr>
        <p:xfrm>
          <a:off x="4114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enklem" r:id="rId2" imgW="914400" imgH="215640" progId="Equation.3">
                  <p:embed/>
                </p:oleObj>
              </mc:Choice>
              <mc:Fallback>
                <p:oleObj name="Denklem" r:id="rId2" imgW="9144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321050"/>
                        <a:ext cx="9144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5" name="Picture 2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7158" y="1357298"/>
            <a:ext cx="3143272" cy="152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1" name="1 Başlık"/>
          <p:cNvSpPr>
            <a:spLocks noGrp="1"/>
          </p:cNvSpPr>
          <p:nvPr>
            <p:ph type="title"/>
          </p:nvPr>
        </p:nvSpPr>
        <p:spPr>
          <a:xfrm>
            <a:off x="500034" y="142852"/>
            <a:ext cx="8229600" cy="857256"/>
          </a:xfrm>
        </p:spPr>
        <p:txBody>
          <a:bodyPr>
            <a:normAutofit/>
          </a:bodyPr>
          <a:lstStyle/>
          <a:p>
            <a:r>
              <a:rPr lang="tr-TR" sz="3600" dirty="0" err="1"/>
              <a:t>Negative</a:t>
            </a:r>
            <a:r>
              <a:rPr lang="tr-TR" sz="3600" dirty="0"/>
              <a:t> </a:t>
            </a:r>
            <a:r>
              <a:rPr lang="tr-TR" sz="3600" dirty="0" err="1"/>
              <a:t>Feedback</a:t>
            </a:r>
            <a:endParaRPr lang="tr-TR" sz="3600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E67AD-EE34-4E0A-BCCB-0D14F4380E44}" type="slidenum">
              <a:rPr lang="tr-TR" smtClean="0"/>
              <a:pPr/>
              <a:t>9</a:t>
            </a:fld>
            <a:endParaRPr lang="tr-TR" dirty="0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Ali Muhtaroglu</a:t>
            </a:r>
          </a:p>
        </p:txBody>
      </p:sp>
      <p:sp>
        <p:nvSpPr>
          <p:cNvPr id="24" name="2 İçerik Yer Tutucusu"/>
          <p:cNvSpPr>
            <a:spLocks noGrp="1"/>
          </p:cNvSpPr>
          <p:nvPr>
            <p:ph idx="1"/>
          </p:nvPr>
        </p:nvSpPr>
        <p:spPr>
          <a:xfrm>
            <a:off x="0" y="917715"/>
            <a:ext cx="9144000" cy="592933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600" dirty="0"/>
              <a:t>A simple Op-Amp circuit </a:t>
            </a:r>
            <a:r>
              <a:rPr lang="en-US" sz="2600" u="sng" dirty="0"/>
              <a:t>without</a:t>
            </a:r>
            <a:r>
              <a:rPr lang="en-US" sz="2600" dirty="0"/>
              <a:t> negative feedback:</a:t>
            </a:r>
            <a:endParaRPr lang="tr-TR" sz="2600" dirty="0"/>
          </a:p>
          <a:p>
            <a:pPr>
              <a:buNone/>
            </a:pPr>
            <a:endParaRPr lang="tr-TR" sz="2600" dirty="0"/>
          </a:p>
          <a:p>
            <a:pPr>
              <a:buNone/>
            </a:pPr>
            <a:endParaRPr lang="tr-TR" sz="2600" dirty="0"/>
          </a:p>
          <a:p>
            <a:pPr>
              <a:buNone/>
            </a:pPr>
            <a:endParaRPr lang="tr-TR" sz="2600" dirty="0"/>
          </a:p>
          <a:p>
            <a:pPr>
              <a:buNone/>
            </a:pPr>
            <a:endParaRPr lang="tr-TR" sz="800" dirty="0"/>
          </a:p>
          <a:p>
            <a:pPr>
              <a:buNone/>
            </a:pPr>
            <a:r>
              <a:rPr lang="en-US" sz="2600" dirty="0">
                <a:solidFill>
                  <a:schemeClr val="bg1"/>
                </a:solidFill>
              </a:rPr>
              <a:t>A simple Op-Amp circuit </a:t>
            </a:r>
            <a:r>
              <a:rPr lang="en-US" sz="2600" u="sng" dirty="0">
                <a:solidFill>
                  <a:schemeClr val="bg1"/>
                </a:solidFill>
              </a:rPr>
              <a:t>with</a:t>
            </a:r>
            <a:r>
              <a:rPr lang="en-US" sz="2600" dirty="0">
                <a:solidFill>
                  <a:schemeClr val="bg1"/>
                </a:solidFill>
              </a:rPr>
              <a:t> negative feedback:</a:t>
            </a:r>
            <a:endParaRPr lang="tr-TR" sz="2600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tr-TR" sz="2600" dirty="0">
                <a:solidFill>
                  <a:schemeClr val="bg1"/>
                </a:solidFill>
              </a:rPr>
              <a:t> 								           </a:t>
            </a:r>
            <a:r>
              <a:rPr lang="tr-TR" sz="2000" dirty="0">
                <a:solidFill>
                  <a:schemeClr val="bg1"/>
                </a:solidFill>
              </a:rPr>
              <a:t>but</a:t>
            </a:r>
          </a:p>
          <a:p>
            <a:pPr>
              <a:buNone/>
            </a:pPr>
            <a:r>
              <a:rPr lang="tr-TR" sz="2000" dirty="0">
                <a:solidFill>
                  <a:schemeClr val="bg1"/>
                </a:solidFill>
              </a:rPr>
              <a:t>					             </a:t>
            </a:r>
          </a:p>
          <a:p>
            <a:pPr>
              <a:buNone/>
            </a:pPr>
            <a:r>
              <a:rPr lang="tr-TR" sz="2600" dirty="0">
                <a:solidFill>
                  <a:schemeClr val="bg1"/>
                </a:solidFill>
              </a:rPr>
              <a:t> 		  				</a:t>
            </a:r>
          </a:p>
          <a:p>
            <a:pPr>
              <a:buNone/>
            </a:pPr>
            <a:r>
              <a:rPr lang="tr-TR" sz="2600" dirty="0">
                <a:solidFill>
                  <a:schemeClr val="bg1"/>
                </a:solidFill>
              </a:rPr>
              <a:t>					</a:t>
            </a:r>
            <a:r>
              <a:rPr lang="tr-TR" sz="2000" dirty="0">
                <a:solidFill>
                  <a:schemeClr val="bg1"/>
                </a:solidFill>
              </a:rPr>
              <a:t>          </a:t>
            </a:r>
            <a:r>
              <a:rPr lang="en-US" sz="2000" dirty="0">
                <a:solidFill>
                  <a:schemeClr val="bg1"/>
                </a:solidFill>
              </a:rPr>
              <a:t>For +/- 5% variation in </a:t>
            </a:r>
            <a:r>
              <a:rPr lang="en-US" sz="2000" i="1" dirty="0">
                <a:solidFill>
                  <a:schemeClr val="bg1"/>
                </a:solidFill>
              </a:rPr>
              <a:t>A:</a:t>
            </a:r>
            <a:endParaRPr lang="tr-TR" sz="2000" i="1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tr-TR" sz="2000" i="1" dirty="0">
                <a:solidFill>
                  <a:schemeClr val="bg1"/>
                </a:solidFill>
              </a:rPr>
              <a:t>									                       </a:t>
            </a:r>
          </a:p>
          <a:p>
            <a:pPr>
              <a:buNone/>
            </a:pPr>
            <a:endParaRPr lang="tr-TR" sz="2000" i="1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tr-TR" sz="2000" i="1" dirty="0">
                <a:solidFill>
                  <a:schemeClr val="bg1"/>
                </a:solidFill>
              </a:rPr>
              <a:t>       </a:t>
            </a:r>
            <a:r>
              <a:rPr lang="en-US" sz="2000" dirty="0">
                <a:solidFill>
                  <a:schemeClr val="bg1"/>
                </a:solidFill>
              </a:rPr>
              <a:t>The effective error in A’ is reduced from 5% to +/-0.0005% !</a:t>
            </a:r>
            <a:r>
              <a:rPr lang="tr-TR" sz="2000" dirty="0">
                <a:solidFill>
                  <a:schemeClr val="bg1"/>
                </a:solidFill>
              </a:rPr>
              <a:t> </a:t>
            </a:r>
          </a:p>
          <a:p>
            <a:pPr algn="just">
              <a:buNone/>
            </a:pPr>
            <a:r>
              <a:rPr lang="en-US" sz="2000" dirty="0">
                <a:solidFill>
                  <a:schemeClr val="bg1"/>
                </a:solidFill>
              </a:rPr>
              <a:t>	 It is important to realize there is an increased cost associated with this benefit: With</a:t>
            </a:r>
            <a:r>
              <a:rPr lang="tr-TR" sz="2000" dirty="0">
                <a:solidFill>
                  <a:schemeClr val="bg1"/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negative feedback, the effective gain (A’) reduces in magnitude, which</a:t>
            </a:r>
            <a:r>
              <a:rPr lang="tr-TR" sz="2000" dirty="0">
                <a:solidFill>
                  <a:schemeClr val="bg1"/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means other components (</a:t>
            </a:r>
            <a:r>
              <a:rPr lang="en-US" sz="2000" dirty="0" err="1">
                <a:solidFill>
                  <a:schemeClr val="bg1"/>
                </a:solidFill>
              </a:rPr>
              <a:t>e.g.resistors</a:t>
            </a:r>
            <a:r>
              <a:rPr lang="en-US" sz="2000" dirty="0">
                <a:solidFill>
                  <a:schemeClr val="bg1"/>
                </a:solidFill>
              </a:rPr>
              <a:t>) will need to be added to boost up gain.</a:t>
            </a:r>
            <a:endParaRPr lang="tr-TR" sz="2000" dirty="0">
              <a:solidFill>
                <a:schemeClr val="bg1"/>
              </a:solidFill>
            </a:endParaRPr>
          </a:p>
        </p:txBody>
      </p:sp>
      <p:sp>
        <p:nvSpPr>
          <p:cNvPr id="30" name="9 Dikdörtgen"/>
          <p:cNvSpPr/>
          <p:nvPr/>
        </p:nvSpPr>
        <p:spPr>
          <a:xfrm>
            <a:off x="4214810" y="1714488"/>
            <a:ext cx="4725333" cy="6771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900" dirty="0"/>
              <a:t>Assume +/- 5% variation in </a:t>
            </a:r>
            <a:r>
              <a:rPr lang="en-US" sz="1900" dirty="0" err="1"/>
              <a:t>opamp</a:t>
            </a:r>
            <a:r>
              <a:rPr lang="en-US" sz="1900" dirty="0"/>
              <a:t> gain </a:t>
            </a:r>
            <a:r>
              <a:rPr lang="tr-TR" sz="1900" dirty="0"/>
              <a:t>A</a:t>
            </a:r>
            <a:r>
              <a:rPr lang="en-US" sz="1900" i="1" dirty="0"/>
              <a:t>.</a:t>
            </a:r>
          </a:p>
          <a:p>
            <a:r>
              <a:rPr lang="en-US" sz="1900" dirty="0"/>
              <a:t>If               , </a:t>
            </a:r>
            <a:r>
              <a:rPr lang="tr-TR" sz="1900" dirty="0"/>
              <a:t>  </a:t>
            </a:r>
            <a:r>
              <a:rPr lang="en-US" sz="1900" dirty="0"/>
              <a:t>then</a:t>
            </a:r>
            <a:endParaRPr lang="tr-TR" sz="1900" dirty="0"/>
          </a:p>
        </p:txBody>
      </p:sp>
      <p:sp>
        <p:nvSpPr>
          <p:cNvPr id="31" name="16 Dikdörtgen"/>
          <p:cNvSpPr/>
          <p:nvPr/>
        </p:nvSpPr>
        <p:spPr>
          <a:xfrm>
            <a:off x="4214810" y="2357430"/>
            <a:ext cx="48577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where </a:t>
            </a:r>
            <a:r>
              <a:rPr lang="en-US" i="1" dirty="0"/>
              <a:t>:                  : circuit gain including variations</a:t>
            </a:r>
            <a:endParaRPr lang="tr-TR" dirty="0"/>
          </a:p>
        </p:txBody>
      </p:sp>
      <p:graphicFrame>
        <p:nvGraphicFramePr>
          <p:cNvPr id="32" name="Object 16"/>
          <p:cNvGraphicFramePr>
            <a:graphicFrameLocks noChangeAspect="1"/>
          </p:cNvGraphicFramePr>
          <p:nvPr/>
        </p:nvGraphicFramePr>
        <p:xfrm>
          <a:off x="4286248" y="1285860"/>
          <a:ext cx="2357454" cy="4000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enklem" r:id="rId5" imgW="1168200" imgH="228600" progId="Equation.3">
                  <p:embed/>
                </p:oleObj>
              </mc:Choice>
              <mc:Fallback>
                <p:oleObj name="Denklem" r:id="rId5" imgW="11682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248" y="1285860"/>
                        <a:ext cx="2357454" cy="4000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8383994"/>
              </p:ext>
            </p:extLst>
          </p:nvPr>
        </p:nvGraphicFramePr>
        <p:xfrm>
          <a:off x="6492250" y="2030405"/>
          <a:ext cx="2117725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55600" imgH="203040" progId="Equation.3">
                  <p:embed/>
                </p:oleObj>
              </mc:Choice>
              <mc:Fallback>
                <p:oleObj name="Equation" r:id="rId7" imgW="115560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2250" y="2030405"/>
                        <a:ext cx="2117725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19"/>
          <p:cNvGraphicFramePr>
            <a:graphicFrameLocks noChangeAspect="1"/>
          </p:cNvGraphicFramePr>
          <p:nvPr/>
        </p:nvGraphicFramePr>
        <p:xfrm>
          <a:off x="4572000" y="2000240"/>
          <a:ext cx="857256" cy="329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enklem" r:id="rId9" imgW="495000" imgH="203040" progId="Equation.3">
                  <p:embed/>
                </p:oleObj>
              </mc:Choice>
              <mc:Fallback>
                <p:oleObj name="Denklem" r:id="rId9" imgW="49500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000240"/>
                        <a:ext cx="857256" cy="3297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0990897"/>
              </p:ext>
            </p:extLst>
          </p:nvPr>
        </p:nvGraphicFramePr>
        <p:xfrm>
          <a:off x="5127291" y="2214554"/>
          <a:ext cx="827289" cy="7212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95000" imgH="431640" progId="Equation.3">
                  <p:embed/>
                </p:oleObj>
              </mc:Choice>
              <mc:Fallback>
                <p:oleObj name="Equation" r:id="rId11" imgW="4950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7291" y="2214554"/>
                        <a:ext cx="827289" cy="7212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05049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0" y="894270"/>
            <a:ext cx="914400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600" dirty="0"/>
              <a:t>A simple Op-Amp circuit </a:t>
            </a:r>
            <a:r>
              <a:rPr lang="en-US" sz="2600" u="sng" dirty="0"/>
              <a:t>without</a:t>
            </a:r>
            <a:r>
              <a:rPr lang="en-US" sz="2600" dirty="0"/>
              <a:t> negative feedback:</a:t>
            </a:r>
            <a:endParaRPr lang="tr-TR" sz="2600" dirty="0"/>
          </a:p>
          <a:p>
            <a:pPr>
              <a:buNone/>
            </a:pPr>
            <a:endParaRPr lang="tr-TR" sz="2600" dirty="0"/>
          </a:p>
          <a:p>
            <a:pPr>
              <a:buNone/>
            </a:pPr>
            <a:endParaRPr lang="tr-TR" sz="2600" dirty="0"/>
          </a:p>
          <a:p>
            <a:pPr>
              <a:buNone/>
            </a:pPr>
            <a:endParaRPr lang="tr-TR" sz="2600" dirty="0"/>
          </a:p>
          <a:p>
            <a:pPr>
              <a:buNone/>
            </a:pPr>
            <a:endParaRPr lang="tr-TR" sz="1050" dirty="0"/>
          </a:p>
          <a:p>
            <a:pPr>
              <a:buNone/>
            </a:pPr>
            <a:r>
              <a:rPr lang="en-US" sz="2600" dirty="0"/>
              <a:t>A simple Op-Amp circuit </a:t>
            </a:r>
            <a:r>
              <a:rPr lang="en-US" sz="2600" u="sng" dirty="0"/>
              <a:t>with</a:t>
            </a:r>
            <a:r>
              <a:rPr lang="en-US" sz="2600" dirty="0"/>
              <a:t> negative feedback:</a:t>
            </a:r>
            <a:endParaRPr lang="tr-TR" sz="2600" dirty="0"/>
          </a:p>
          <a:p>
            <a:pPr>
              <a:buNone/>
            </a:pPr>
            <a:r>
              <a:rPr lang="tr-TR" sz="2600" dirty="0"/>
              <a:t> 								          </a:t>
            </a:r>
            <a:endParaRPr lang="tr-TR" sz="2000" dirty="0"/>
          </a:p>
          <a:p>
            <a:pPr>
              <a:buNone/>
            </a:pPr>
            <a:r>
              <a:rPr lang="tr-TR" sz="2000" dirty="0"/>
              <a:t>					             </a:t>
            </a:r>
          </a:p>
          <a:p>
            <a:pPr>
              <a:buNone/>
            </a:pPr>
            <a:r>
              <a:rPr lang="tr-TR" sz="2600" dirty="0"/>
              <a:t> 		  				</a:t>
            </a:r>
          </a:p>
          <a:p>
            <a:pPr>
              <a:buNone/>
            </a:pPr>
            <a:r>
              <a:rPr lang="tr-TR" sz="2600" dirty="0"/>
              <a:t>					</a:t>
            </a:r>
            <a:r>
              <a:rPr lang="tr-TR" sz="2000" dirty="0"/>
              <a:t>          </a:t>
            </a:r>
            <a:r>
              <a:rPr lang="tr-TR" sz="2000" i="1" dirty="0"/>
              <a:t>									                       </a:t>
            </a:r>
          </a:p>
          <a:p>
            <a:pPr>
              <a:buNone/>
            </a:pPr>
            <a:endParaRPr lang="tr-TR" sz="2000" i="1" dirty="0"/>
          </a:p>
          <a:p>
            <a:pPr>
              <a:buNone/>
            </a:pPr>
            <a:endParaRPr lang="tr-TR" sz="2000" dirty="0"/>
          </a:p>
        </p:txBody>
      </p:sp>
      <p:sp>
        <p:nvSpPr>
          <p:cNvPr id="22535" name="Rectangle 7"/>
          <p:cNvSpPr>
            <a:spLocks noChangeArrowheads="1"/>
          </p:cNvSpPr>
          <p:nvPr/>
        </p:nvSpPr>
        <p:spPr bwMode="auto">
          <a:xfrm>
            <a:off x="0" y="9715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538" name="Rectangle 10"/>
          <p:cNvSpPr>
            <a:spLocks noChangeArrowheads="1"/>
          </p:cNvSpPr>
          <p:nvPr/>
        </p:nvSpPr>
        <p:spPr bwMode="auto">
          <a:xfrm>
            <a:off x="0" y="9810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541" name="Rectangle 13"/>
          <p:cNvSpPr>
            <a:spLocks noChangeArrowheads="1"/>
          </p:cNvSpPr>
          <p:nvPr/>
        </p:nvSpPr>
        <p:spPr bwMode="auto">
          <a:xfrm>
            <a:off x="0" y="9715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25" name="Picture 2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7158" y="1357298"/>
            <a:ext cx="3143272" cy="152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5616" name="Picture 1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5720" y="3429000"/>
            <a:ext cx="3523868" cy="171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9" name="1 Başlık"/>
          <p:cNvSpPr>
            <a:spLocks noGrp="1"/>
          </p:cNvSpPr>
          <p:nvPr>
            <p:ph type="title"/>
          </p:nvPr>
        </p:nvSpPr>
        <p:spPr>
          <a:xfrm>
            <a:off x="500034" y="142852"/>
            <a:ext cx="8229600" cy="857256"/>
          </a:xfrm>
        </p:spPr>
        <p:txBody>
          <a:bodyPr>
            <a:normAutofit/>
          </a:bodyPr>
          <a:lstStyle/>
          <a:p>
            <a:r>
              <a:rPr lang="tr-TR" sz="3600" dirty="0" err="1"/>
              <a:t>Negative</a:t>
            </a:r>
            <a:r>
              <a:rPr lang="tr-TR" sz="3600" dirty="0"/>
              <a:t> </a:t>
            </a:r>
            <a:r>
              <a:rPr lang="tr-TR" sz="3600" dirty="0" err="1"/>
              <a:t>Feedback</a:t>
            </a:r>
            <a:endParaRPr lang="tr-TR" sz="3600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E67AD-EE34-4E0A-BCCB-0D14F4380E44}" type="slidenum">
              <a:rPr lang="tr-TR" smtClean="0"/>
              <a:pPr/>
              <a:t>10</a:t>
            </a:fld>
            <a:endParaRPr lang="tr-TR" dirty="0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Ali Muhtaroglu</a:t>
            </a:r>
          </a:p>
        </p:txBody>
      </p:sp>
      <p:sp>
        <p:nvSpPr>
          <p:cNvPr id="24" name="9 Dikdörtgen"/>
          <p:cNvSpPr/>
          <p:nvPr/>
        </p:nvSpPr>
        <p:spPr>
          <a:xfrm>
            <a:off x="4214810" y="1714488"/>
            <a:ext cx="4725333" cy="6771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900" dirty="0"/>
              <a:t>Assume +/- 5% variation in </a:t>
            </a:r>
            <a:r>
              <a:rPr lang="en-US" sz="1900" dirty="0" err="1"/>
              <a:t>opamp</a:t>
            </a:r>
            <a:r>
              <a:rPr lang="en-US" sz="1900" dirty="0"/>
              <a:t> gain </a:t>
            </a:r>
            <a:r>
              <a:rPr lang="tr-TR" sz="1900" dirty="0"/>
              <a:t>A</a:t>
            </a:r>
            <a:r>
              <a:rPr lang="en-US" sz="1900" i="1" dirty="0"/>
              <a:t>.</a:t>
            </a:r>
          </a:p>
          <a:p>
            <a:r>
              <a:rPr lang="en-US" sz="1900" dirty="0"/>
              <a:t>If               , </a:t>
            </a:r>
            <a:r>
              <a:rPr lang="tr-TR" sz="1900" dirty="0"/>
              <a:t>  </a:t>
            </a:r>
            <a:r>
              <a:rPr lang="en-US" sz="1900" dirty="0"/>
              <a:t>then</a:t>
            </a:r>
            <a:endParaRPr lang="tr-TR" sz="1900" dirty="0"/>
          </a:p>
        </p:txBody>
      </p:sp>
      <p:sp>
        <p:nvSpPr>
          <p:cNvPr id="26" name="16 Dikdörtgen"/>
          <p:cNvSpPr/>
          <p:nvPr/>
        </p:nvSpPr>
        <p:spPr>
          <a:xfrm>
            <a:off x="4214810" y="2357430"/>
            <a:ext cx="48577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where </a:t>
            </a:r>
            <a:r>
              <a:rPr lang="en-US" i="1" dirty="0"/>
              <a:t>:                  : circuit gain including variations</a:t>
            </a:r>
            <a:endParaRPr lang="tr-TR" dirty="0"/>
          </a:p>
        </p:txBody>
      </p:sp>
      <p:graphicFrame>
        <p:nvGraphicFramePr>
          <p:cNvPr id="27" name="Object 16"/>
          <p:cNvGraphicFramePr>
            <a:graphicFrameLocks noChangeAspect="1"/>
          </p:cNvGraphicFramePr>
          <p:nvPr/>
        </p:nvGraphicFramePr>
        <p:xfrm>
          <a:off x="4286248" y="1285860"/>
          <a:ext cx="2357454" cy="4000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enklem" r:id="rId5" imgW="1168200" imgH="228600" progId="Equation.3">
                  <p:embed/>
                </p:oleObj>
              </mc:Choice>
              <mc:Fallback>
                <p:oleObj name="Denklem" r:id="rId5" imgW="11682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248" y="1285860"/>
                        <a:ext cx="2357454" cy="4000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19"/>
          <p:cNvGraphicFramePr>
            <a:graphicFrameLocks noChangeAspect="1"/>
          </p:cNvGraphicFramePr>
          <p:nvPr/>
        </p:nvGraphicFramePr>
        <p:xfrm>
          <a:off x="4572000" y="2000240"/>
          <a:ext cx="857256" cy="329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enklem" r:id="rId7" imgW="495000" imgH="203040" progId="Equation.3">
                  <p:embed/>
                </p:oleObj>
              </mc:Choice>
              <mc:Fallback>
                <p:oleObj name="Denklem" r:id="rId7" imgW="49500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000240"/>
                        <a:ext cx="857256" cy="3297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18"/>
          <p:cNvGraphicFramePr>
            <a:graphicFrameLocks noChangeAspect="1"/>
          </p:cNvGraphicFramePr>
          <p:nvPr/>
        </p:nvGraphicFramePr>
        <p:xfrm>
          <a:off x="6492250" y="2030405"/>
          <a:ext cx="2117725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155600" imgH="203040" progId="Equation.3">
                  <p:embed/>
                </p:oleObj>
              </mc:Choice>
              <mc:Fallback>
                <p:oleObj name="Equation" r:id="rId9" imgW="115560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2250" y="2030405"/>
                        <a:ext cx="2117725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16"/>
          <p:cNvGraphicFramePr>
            <a:graphicFrameLocks noChangeAspect="1"/>
          </p:cNvGraphicFramePr>
          <p:nvPr/>
        </p:nvGraphicFramePr>
        <p:xfrm>
          <a:off x="5127291" y="2214554"/>
          <a:ext cx="827289" cy="7212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95000" imgH="431640" progId="Equation.3">
                  <p:embed/>
                </p:oleObj>
              </mc:Choice>
              <mc:Fallback>
                <p:oleObj name="Equation" r:id="rId11" imgW="4950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7291" y="2214554"/>
                        <a:ext cx="827289" cy="7212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12955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600" dirty="0"/>
              <a:t>A simple Op-Amp circuit </a:t>
            </a:r>
            <a:r>
              <a:rPr lang="en-US" sz="2600" u="sng" dirty="0"/>
              <a:t>without</a:t>
            </a:r>
            <a:r>
              <a:rPr lang="en-US" sz="2600" dirty="0"/>
              <a:t> negative feedback:</a:t>
            </a:r>
            <a:endParaRPr lang="tr-TR" sz="2600" dirty="0"/>
          </a:p>
          <a:p>
            <a:pPr>
              <a:buNone/>
            </a:pPr>
            <a:endParaRPr lang="tr-TR" sz="2600" dirty="0"/>
          </a:p>
          <a:p>
            <a:pPr>
              <a:buNone/>
            </a:pPr>
            <a:endParaRPr lang="tr-TR" sz="2600" dirty="0"/>
          </a:p>
          <a:p>
            <a:pPr>
              <a:buNone/>
            </a:pPr>
            <a:endParaRPr lang="tr-TR" sz="2600" dirty="0"/>
          </a:p>
          <a:p>
            <a:pPr>
              <a:buNone/>
            </a:pPr>
            <a:endParaRPr lang="tr-TR" sz="1200" dirty="0"/>
          </a:p>
          <a:p>
            <a:pPr>
              <a:buNone/>
            </a:pPr>
            <a:r>
              <a:rPr lang="en-US" sz="2600" dirty="0"/>
              <a:t>A simple Op-Amp circuit </a:t>
            </a:r>
            <a:r>
              <a:rPr lang="en-US" sz="2600" u="sng" dirty="0"/>
              <a:t>with</a:t>
            </a:r>
            <a:r>
              <a:rPr lang="en-US" sz="2600" dirty="0"/>
              <a:t> negative feedback:</a:t>
            </a:r>
            <a:endParaRPr lang="tr-TR" sz="2600" dirty="0"/>
          </a:p>
          <a:p>
            <a:pPr>
              <a:buNone/>
            </a:pPr>
            <a:r>
              <a:rPr lang="tr-TR" sz="2600" dirty="0"/>
              <a:t> 								           </a:t>
            </a:r>
            <a:r>
              <a:rPr lang="tr-TR" sz="2000" dirty="0"/>
              <a:t>but</a:t>
            </a:r>
          </a:p>
          <a:p>
            <a:pPr>
              <a:buNone/>
            </a:pPr>
            <a:r>
              <a:rPr lang="tr-TR" sz="2000" dirty="0"/>
              <a:t>					             </a:t>
            </a:r>
          </a:p>
          <a:p>
            <a:pPr>
              <a:buNone/>
            </a:pPr>
            <a:r>
              <a:rPr lang="tr-TR" sz="2600" dirty="0"/>
              <a:t> 		  				</a:t>
            </a:r>
          </a:p>
          <a:p>
            <a:pPr>
              <a:buNone/>
            </a:pPr>
            <a:r>
              <a:rPr lang="tr-TR" sz="2600" dirty="0"/>
              <a:t>					</a:t>
            </a:r>
            <a:r>
              <a:rPr lang="tr-TR" sz="2000" dirty="0"/>
              <a:t>          </a:t>
            </a:r>
            <a:r>
              <a:rPr lang="en-US" sz="2000" dirty="0"/>
              <a:t>For +/- 5% variation in </a:t>
            </a:r>
            <a:r>
              <a:rPr lang="en-US" sz="2000" i="1" dirty="0"/>
              <a:t>A:</a:t>
            </a:r>
            <a:endParaRPr lang="tr-TR" sz="2000" i="1" dirty="0"/>
          </a:p>
          <a:p>
            <a:pPr>
              <a:buNone/>
            </a:pPr>
            <a:r>
              <a:rPr lang="tr-TR" sz="2000" i="1" dirty="0"/>
              <a:t>									                       </a:t>
            </a:r>
          </a:p>
          <a:p>
            <a:pPr>
              <a:buNone/>
            </a:pPr>
            <a:endParaRPr lang="tr-TR" sz="2000" i="1" dirty="0"/>
          </a:p>
          <a:p>
            <a:pPr>
              <a:buNone/>
            </a:pPr>
            <a:r>
              <a:rPr lang="tr-TR" sz="2000" i="1" dirty="0"/>
              <a:t>       </a:t>
            </a:r>
            <a:r>
              <a:rPr lang="en-US" sz="2000" dirty="0"/>
              <a:t>The effective error in A’ is reduced from 5% to +/-0.0005% !</a:t>
            </a:r>
            <a:r>
              <a:rPr lang="tr-TR" sz="2000" dirty="0"/>
              <a:t> </a:t>
            </a:r>
          </a:p>
          <a:p>
            <a:pPr algn="just">
              <a:buNone/>
            </a:pPr>
            <a:r>
              <a:rPr lang="en-US" sz="2000" dirty="0"/>
              <a:t>	 It is important to realize there is an increased cost associated with this benefit: With</a:t>
            </a:r>
            <a:r>
              <a:rPr lang="tr-TR" sz="2000" dirty="0"/>
              <a:t> </a:t>
            </a:r>
            <a:r>
              <a:rPr lang="en-US" sz="2000" dirty="0"/>
              <a:t>negative feedback, the effective gain (A’) reduces in magnitude, which</a:t>
            </a:r>
            <a:r>
              <a:rPr lang="tr-TR" sz="2000" dirty="0"/>
              <a:t> </a:t>
            </a:r>
            <a:r>
              <a:rPr lang="en-US" sz="2000" dirty="0"/>
              <a:t>means other components (e.g.</a:t>
            </a:r>
            <a:r>
              <a:rPr lang="tr-TR" sz="2000" dirty="0"/>
              <a:t> </a:t>
            </a:r>
            <a:r>
              <a:rPr lang="en-US" sz="2000" dirty="0"/>
              <a:t>resistors) will need to be added to boost up circuit gain.</a:t>
            </a:r>
            <a:endParaRPr lang="tr-TR" sz="2000" dirty="0"/>
          </a:p>
        </p:txBody>
      </p:sp>
      <p:sp>
        <p:nvSpPr>
          <p:cNvPr id="22535" name="Rectangle 7"/>
          <p:cNvSpPr>
            <a:spLocks noChangeArrowheads="1"/>
          </p:cNvSpPr>
          <p:nvPr/>
        </p:nvSpPr>
        <p:spPr bwMode="auto">
          <a:xfrm>
            <a:off x="0" y="9715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538" name="Rectangle 10"/>
          <p:cNvSpPr>
            <a:spLocks noChangeArrowheads="1"/>
          </p:cNvSpPr>
          <p:nvPr/>
        </p:nvSpPr>
        <p:spPr bwMode="auto">
          <a:xfrm>
            <a:off x="0" y="9810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541" name="Rectangle 13"/>
          <p:cNvSpPr>
            <a:spLocks noChangeArrowheads="1"/>
          </p:cNvSpPr>
          <p:nvPr/>
        </p:nvSpPr>
        <p:spPr bwMode="auto">
          <a:xfrm>
            <a:off x="0" y="9715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9" name="18 Nesne"/>
          <p:cNvGraphicFramePr>
            <a:graphicFrameLocks noChangeAspect="1"/>
          </p:cNvGraphicFramePr>
          <p:nvPr/>
        </p:nvGraphicFramePr>
        <p:xfrm>
          <a:off x="4114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enklem" r:id="rId3" imgW="914400" imgH="215640" progId="Equation.3">
                  <p:embed/>
                </p:oleObj>
              </mc:Choice>
              <mc:Fallback>
                <p:oleObj name="Denklem" r:id="rId3" imgW="9144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321050"/>
                        <a:ext cx="9144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17 Nesne"/>
          <p:cNvGraphicFramePr>
            <a:graphicFrameLocks noChangeAspect="1"/>
          </p:cNvGraphicFramePr>
          <p:nvPr/>
        </p:nvGraphicFramePr>
        <p:xfrm>
          <a:off x="4114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enklem" r:id="rId5" imgW="914400" imgH="215640" progId="Equation.3">
                  <p:embed/>
                </p:oleObj>
              </mc:Choice>
              <mc:Fallback>
                <p:oleObj name="Denklem" r:id="rId5" imgW="9144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321050"/>
                        <a:ext cx="9144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8" name="Object 8"/>
          <p:cNvGraphicFramePr>
            <a:graphicFrameLocks noChangeAspect="1"/>
          </p:cNvGraphicFramePr>
          <p:nvPr/>
        </p:nvGraphicFramePr>
        <p:xfrm>
          <a:off x="4286248" y="3286124"/>
          <a:ext cx="2714644" cy="4286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enklem" r:id="rId6" imgW="1485720" imgH="228600" progId="Equation.3">
                  <p:embed/>
                </p:oleObj>
              </mc:Choice>
              <mc:Fallback>
                <p:oleObj name="Denklem" r:id="rId6" imgW="148572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248" y="3286124"/>
                        <a:ext cx="2714644" cy="4286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0" name="Object 10"/>
          <p:cNvGraphicFramePr>
            <a:graphicFrameLocks noChangeAspect="1"/>
          </p:cNvGraphicFramePr>
          <p:nvPr/>
        </p:nvGraphicFramePr>
        <p:xfrm>
          <a:off x="7786710" y="3143248"/>
          <a:ext cx="857256" cy="71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enklem" r:id="rId8" imgW="545760" imgH="393480" progId="Equation.3">
                  <p:embed/>
                </p:oleObj>
              </mc:Choice>
              <mc:Fallback>
                <p:oleObj name="Denklem" r:id="rId8" imgW="5457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86710" y="3143248"/>
                        <a:ext cx="857256" cy="7143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2" name="Object 12"/>
          <p:cNvGraphicFramePr>
            <a:graphicFrameLocks noChangeAspect="1"/>
          </p:cNvGraphicFramePr>
          <p:nvPr/>
        </p:nvGraphicFramePr>
        <p:xfrm>
          <a:off x="4000496" y="3714752"/>
          <a:ext cx="1643074" cy="6429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enklem" r:id="rId10" imgW="1206360" imgH="393480" progId="Equation.3">
                  <p:embed/>
                </p:oleObj>
              </mc:Choice>
              <mc:Fallback>
                <p:oleObj name="Denklem" r:id="rId10" imgW="12063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0496" y="3714752"/>
                        <a:ext cx="1643074" cy="6429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4" name="Object 14"/>
          <p:cNvGraphicFramePr>
            <a:graphicFrameLocks noChangeAspect="1"/>
          </p:cNvGraphicFramePr>
          <p:nvPr/>
        </p:nvGraphicFramePr>
        <p:xfrm>
          <a:off x="5857875" y="3643313"/>
          <a:ext cx="3214688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019240" imgH="457200" progId="Equation.3">
                  <p:embed/>
                </p:oleObj>
              </mc:Choice>
              <mc:Fallback>
                <p:oleObj name="Equation" r:id="rId12" imgW="201924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7875" y="3643313"/>
                        <a:ext cx="3214688" cy="785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5" name="Object 15"/>
          <p:cNvGraphicFramePr>
            <a:graphicFrameLocks noChangeAspect="1"/>
          </p:cNvGraphicFramePr>
          <p:nvPr/>
        </p:nvGraphicFramePr>
        <p:xfrm>
          <a:off x="5500694" y="4857760"/>
          <a:ext cx="2786082" cy="6429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enklem" r:id="rId14" imgW="1549080" imgH="393480" progId="Equation.3">
                  <p:embed/>
                </p:oleObj>
              </mc:Choice>
              <mc:Fallback>
                <p:oleObj name="Denklem" r:id="rId14" imgW="15490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0694" y="4857760"/>
                        <a:ext cx="2786082" cy="6429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5" name="Picture 25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57158" y="1357298"/>
            <a:ext cx="3143272" cy="152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5616" name="Picture 16"/>
          <p:cNvPicPr>
            <a:picLocks noChangeAspect="1"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285720" y="3429000"/>
            <a:ext cx="3523868" cy="171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9" name="1 Başlık"/>
          <p:cNvSpPr>
            <a:spLocks noGrp="1"/>
          </p:cNvSpPr>
          <p:nvPr>
            <p:ph type="title"/>
          </p:nvPr>
        </p:nvSpPr>
        <p:spPr>
          <a:xfrm>
            <a:off x="500034" y="142852"/>
            <a:ext cx="8229600" cy="857256"/>
          </a:xfrm>
        </p:spPr>
        <p:txBody>
          <a:bodyPr>
            <a:normAutofit/>
          </a:bodyPr>
          <a:lstStyle/>
          <a:p>
            <a:r>
              <a:rPr lang="tr-TR" sz="3600" dirty="0" err="1"/>
              <a:t>Negative</a:t>
            </a:r>
            <a:r>
              <a:rPr lang="tr-TR" sz="3600" dirty="0"/>
              <a:t> </a:t>
            </a:r>
            <a:r>
              <a:rPr lang="tr-TR" sz="3600" dirty="0" err="1"/>
              <a:t>Feedback</a:t>
            </a:r>
            <a:endParaRPr lang="tr-TR" sz="3600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E67AD-EE34-4E0A-BCCB-0D14F4380E44}" type="slidenum">
              <a:rPr lang="tr-TR" smtClean="0"/>
              <a:pPr/>
              <a:t>11</a:t>
            </a:fld>
            <a:endParaRPr lang="tr-TR" dirty="0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Ali Muhtaroglu</a:t>
            </a:r>
          </a:p>
        </p:txBody>
      </p:sp>
      <p:sp>
        <p:nvSpPr>
          <p:cNvPr id="24" name="9 Dikdörtgen"/>
          <p:cNvSpPr/>
          <p:nvPr/>
        </p:nvSpPr>
        <p:spPr>
          <a:xfrm>
            <a:off x="4214810" y="1714488"/>
            <a:ext cx="4725333" cy="6771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900" dirty="0"/>
              <a:t>Assume +/- 5% variation in </a:t>
            </a:r>
            <a:r>
              <a:rPr lang="en-US" sz="1900" dirty="0" err="1"/>
              <a:t>opamp</a:t>
            </a:r>
            <a:r>
              <a:rPr lang="en-US" sz="1900" dirty="0"/>
              <a:t> gain </a:t>
            </a:r>
            <a:r>
              <a:rPr lang="tr-TR" sz="1900" dirty="0"/>
              <a:t>A</a:t>
            </a:r>
            <a:r>
              <a:rPr lang="en-US" sz="1900" i="1" dirty="0"/>
              <a:t>.</a:t>
            </a:r>
          </a:p>
          <a:p>
            <a:r>
              <a:rPr lang="en-US" sz="1900" dirty="0"/>
              <a:t>If               , </a:t>
            </a:r>
            <a:r>
              <a:rPr lang="tr-TR" sz="1900" dirty="0"/>
              <a:t>  </a:t>
            </a:r>
            <a:r>
              <a:rPr lang="en-US" sz="1900" dirty="0"/>
              <a:t>then</a:t>
            </a:r>
            <a:endParaRPr lang="tr-TR" sz="1900" dirty="0"/>
          </a:p>
        </p:txBody>
      </p:sp>
      <p:sp>
        <p:nvSpPr>
          <p:cNvPr id="26" name="16 Dikdörtgen"/>
          <p:cNvSpPr/>
          <p:nvPr/>
        </p:nvSpPr>
        <p:spPr>
          <a:xfrm>
            <a:off x="4214810" y="2357430"/>
            <a:ext cx="48577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where </a:t>
            </a:r>
            <a:r>
              <a:rPr lang="en-US" i="1" dirty="0"/>
              <a:t>:                  : circuit gain including variations</a:t>
            </a:r>
            <a:endParaRPr lang="tr-TR" dirty="0"/>
          </a:p>
        </p:txBody>
      </p:sp>
      <p:graphicFrame>
        <p:nvGraphicFramePr>
          <p:cNvPr id="27" name="Object 16"/>
          <p:cNvGraphicFramePr>
            <a:graphicFrameLocks noChangeAspect="1"/>
          </p:cNvGraphicFramePr>
          <p:nvPr/>
        </p:nvGraphicFramePr>
        <p:xfrm>
          <a:off x="4286248" y="1285860"/>
          <a:ext cx="2357454" cy="4000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enklem" r:id="rId18" imgW="1168200" imgH="228600" progId="Equation.3">
                  <p:embed/>
                </p:oleObj>
              </mc:Choice>
              <mc:Fallback>
                <p:oleObj name="Denklem" r:id="rId18" imgW="11682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248" y="1285860"/>
                        <a:ext cx="2357454" cy="4000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19"/>
          <p:cNvGraphicFramePr>
            <a:graphicFrameLocks noChangeAspect="1"/>
          </p:cNvGraphicFramePr>
          <p:nvPr/>
        </p:nvGraphicFramePr>
        <p:xfrm>
          <a:off x="4572000" y="2000240"/>
          <a:ext cx="857256" cy="329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enklem" r:id="rId20" imgW="495000" imgH="203040" progId="Equation.3">
                  <p:embed/>
                </p:oleObj>
              </mc:Choice>
              <mc:Fallback>
                <p:oleObj name="Denklem" r:id="rId20" imgW="49500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000240"/>
                        <a:ext cx="857256" cy="3297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3671811"/>
              </p:ext>
            </p:extLst>
          </p:nvPr>
        </p:nvGraphicFramePr>
        <p:xfrm>
          <a:off x="6492250" y="2030405"/>
          <a:ext cx="2117725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155600" imgH="203040" progId="Equation.3">
                  <p:embed/>
                </p:oleObj>
              </mc:Choice>
              <mc:Fallback>
                <p:oleObj name="Equation" r:id="rId22" imgW="115560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2250" y="2030405"/>
                        <a:ext cx="2117725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8356134"/>
              </p:ext>
            </p:extLst>
          </p:nvPr>
        </p:nvGraphicFramePr>
        <p:xfrm>
          <a:off x="5127291" y="2214554"/>
          <a:ext cx="827289" cy="7212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495000" imgH="431640" progId="Equation.3">
                  <p:embed/>
                </p:oleObj>
              </mc:Choice>
              <mc:Fallback>
                <p:oleObj name="Equation" r:id="rId24" imgW="4950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7291" y="2214554"/>
                        <a:ext cx="827289" cy="7212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693567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600" dirty="0"/>
              <a:t>Back to </a:t>
            </a:r>
            <a:r>
              <a:rPr lang="en-US" sz="2600" b="1" u="sng" dirty="0"/>
              <a:t>Ideal Op-Amp Approximations</a:t>
            </a:r>
            <a:r>
              <a:rPr lang="en-US" sz="2600" dirty="0"/>
              <a:t>:</a:t>
            </a:r>
            <a:endParaRPr lang="tr-TR" sz="2600" dirty="0"/>
          </a:p>
          <a:p>
            <a:pPr>
              <a:buNone/>
            </a:pPr>
            <a:endParaRPr lang="tr-TR" sz="2600" dirty="0"/>
          </a:p>
          <a:p>
            <a:pPr>
              <a:buNone/>
            </a:pPr>
            <a:endParaRPr lang="tr-TR" sz="2600" dirty="0"/>
          </a:p>
          <a:p>
            <a:pPr>
              <a:buNone/>
            </a:pPr>
            <a:endParaRPr lang="tr-TR" sz="2600" dirty="0"/>
          </a:p>
          <a:p>
            <a:pPr>
              <a:buNone/>
            </a:pPr>
            <a:endParaRPr lang="tr-TR" sz="1000" dirty="0"/>
          </a:p>
          <a:p>
            <a:pPr>
              <a:buNone/>
            </a:pPr>
            <a:r>
              <a:rPr lang="en-US" sz="2600" dirty="0"/>
              <a:t>A simple Op-Amp circuit </a:t>
            </a:r>
            <a:r>
              <a:rPr lang="en-US" sz="2600" u="sng" dirty="0"/>
              <a:t>with</a:t>
            </a:r>
            <a:r>
              <a:rPr lang="en-US" sz="2600" dirty="0"/>
              <a:t> negative feedback:</a:t>
            </a:r>
            <a:endParaRPr lang="tr-TR" sz="2600" dirty="0"/>
          </a:p>
          <a:p>
            <a:pPr>
              <a:buNone/>
            </a:pPr>
            <a:r>
              <a:rPr lang="tr-TR" sz="2600" dirty="0"/>
              <a:t> 								           </a:t>
            </a:r>
            <a:r>
              <a:rPr lang="tr-TR" sz="2000" dirty="0"/>
              <a:t>but</a:t>
            </a:r>
          </a:p>
          <a:p>
            <a:pPr>
              <a:buNone/>
            </a:pPr>
            <a:r>
              <a:rPr lang="tr-TR" sz="2000" dirty="0"/>
              <a:t>					             </a:t>
            </a:r>
          </a:p>
          <a:p>
            <a:pPr>
              <a:buNone/>
            </a:pPr>
            <a:r>
              <a:rPr lang="tr-TR" sz="2600" dirty="0"/>
              <a:t> 		  				</a:t>
            </a:r>
          </a:p>
          <a:p>
            <a:pPr>
              <a:buNone/>
            </a:pPr>
            <a:r>
              <a:rPr lang="tr-TR" sz="2600" dirty="0"/>
              <a:t>					</a:t>
            </a:r>
            <a:r>
              <a:rPr lang="tr-TR" sz="2000" dirty="0"/>
              <a:t>          </a:t>
            </a:r>
            <a:r>
              <a:rPr lang="en-US" sz="2000" dirty="0"/>
              <a:t>For +/- 5% variation in </a:t>
            </a:r>
            <a:r>
              <a:rPr lang="en-US" sz="2000" i="1" dirty="0"/>
              <a:t>A:</a:t>
            </a:r>
            <a:endParaRPr lang="tr-TR" sz="2000" i="1" dirty="0"/>
          </a:p>
          <a:p>
            <a:pPr>
              <a:buNone/>
            </a:pPr>
            <a:r>
              <a:rPr lang="tr-TR" sz="2000" i="1" dirty="0"/>
              <a:t>									                       </a:t>
            </a:r>
          </a:p>
          <a:p>
            <a:pPr>
              <a:buNone/>
            </a:pPr>
            <a:endParaRPr lang="tr-TR" sz="2000" i="1" dirty="0"/>
          </a:p>
          <a:p>
            <a:pPr>
              <a:buNone/>
            </a:pPr>
            <a:r>
              <a:rPr lang="tr-TR" sz="2000" i="1" dirty="0"/>
              <a:t>       </a:t>
            </a:r>
            <a:r>
              <a:rPr lang="en-US" sz="2000" dirty="0"/>
              <a:t>The effective error in A’ is reduced from 5% to +/-0.0005% !</a:t>
            </a:r>
            <a:r>
              <a:rPr lang="tr-TR" sz="2000" dirty="0"/>
              <a:t> </a:t>
            </a:r>
          </a:p>
          <a:p>
            <a:pPr algn="just">
              <a:buNone/>
            </a:pPr>
            <a:r>
              <a:rPr lang="en-US" sz="2000" dirty="0"/>
              <a:t>	 It is important to realize there is an increased cost associated with this benefit: With</a:t>
            </a:r>
            <a:r>
              <a:rPr lang="tr-TR" sz="2000" dirty="0"/>
              <a:t> </a:t>
            </a:r>
            <a:r>
              <a:rPr lang="en-US" sz="2000" dirty="0"/>
              <a:t>negative feedback, the effective gain (A’) reduces in magnitude, which</a:t>
            </a:r>
            <a:r>
              <a:rPr lang="tr-TR" sz="2000" dirty="0"/>
              <a:t> </a:t>
            </a:r>
            <a:r>
              <a:rPr lang="en-US" sz="2000" dirty="0"/>
              <a:t>means other components (e.g.</a:t>
            </a:r>
            <a:r>
              <a:rPr lang="tr-TR" sz="2000" dirty="0"/>
              <a:t> </a:t>
            </a:r>
            <a:r>
              <a:rPr lang="en-US" sz="2000" dirty="0"/>
              <a:t>resistors) will need to be added to boost up circuit gain.</a:t>
            </a:r>
            <a:endParaRPr lang="tr-TR" sz="2000" dirty="0"/>
          </a:p>
        </p:txBody>
      </p:sp>
      <p:sp>
        <p:nvSpPr>
          <p:cNvPr id="22535" name="Rectangle 7"/>
          <p:cNvSpPr>
            <a:spLocks noChangeArrowheads="1"/>
          </p:cNvSpPr>
          <p:nvPr/>
        </p:nvSpPr>
        <p:spPr bwMode="auto">
          <a:xfrm>
            <a:off x="0" y="9715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538" name="Rectangle 10"/>
          <p:cNvSpPr>
            <a:spLocks noChangeArrowheads="1"/>
          </p:cNvSpPr>
          <p:nvPr/>
        </p:nvSpPr>
        <p:spPr bwMode="auto">
          <a:xfrm>
            <a:off x="0" y="9810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541" name="Rectangle 13"/>
          <p:cNvSpPr>
            <a:spLocks noChangeArrowheads="1"/>
          </p:cNvSpPr>
          <p:nvPr/>
        </p:nvSpPr>
        <p:spPr bwMode="auto">
          <a:xfrm>
            <a:off x="0" y="9715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9" name="18 Nesne"/>
          <p:cNvGraphicFramePr>
            <a:graphicFrameLocks noChangeAspect="1"/>
          </p:cNvGraphicFramePr>
          <p:nvPr/>
        </p:nvGraphicFramePr>
        <p:xfrm>
          <a:off x="4114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enklem" r:id="rId3" imgW="914400" imgH="215640" progId="Equation.3">
                  <p:embed/>
                </p:oleObj>
              </mc:Choice>
              <mc:Fallback>
                <p:oleObj name="Denklem" r:id="rId3" imgW="9144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321050"/>
                        <a:ext cx="9144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17 Nesne"/>
          <p:cNvGraphicFramePr>
            <a:graphicFrameLocks noChangeAspect="1"/>
          </p:cNvGraphicFramePr>
          <p:nvPr/>
        </p:nvGraphicFramePr>
        <p:xfrm>
          <a:off x="4114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enklem" r:id="rId5" imgW="914400" imgH="215640" progId="Equation.3">
                  <p:embed/>
                </p:oleObj>
              </mc:Choice>
              <mc:Fallback>
                <p:oleObj name="Denklem" r:id="rId5" imgW="9144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321050"/>
                        <a:ext cx="9144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8" name="Object 8"/>
          <p:cNvGraphicFramePr>
            <a:graphicFrameLocks noChangeAspect="1"/>
          </p:cNvGraphicFramePr>
          <p:nvPr/>
        </p:nvGraphicFramePr>
        <p:xfrm>
          <a:off x="4286248" y="3286124"/>
          <a:ext cx="2714644" cy="4286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enklem" r:id="rId6" imgW="1485720" imgH="228600" progId="Equation.3">
                  <p:embed/>
                </p:oleObj>
              </mc:Choice>
              <mc:Fallback>
                <p:oleObj name="Denklem" r:id="rId6" imgW="148572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248" y="3286124"/>
                        <a:ext cx="2714644" cy="4286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0" name="Object 10"/>
          <p:cNvGraphicFramePr>
            <a:graphicFrameLocks noChangeAspect="1"/>
          </p:cNvGraphicFramePr>
          <p:nvPr/>
        </p:nvGraphicFramePr>
        <p:xfrm>
          <a:off x="7786710" y="3143248"/>
          <a:ext cx="857256" cy="71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enklem" r:id="rId8" imgW="545760" imgH="393480" progId="Equation.3">
                  <p:embed/>
                </p:oleObj>
              </mc:Choice>
              <mc:Fallback>
                <p:oleObj name="Denklem" r:id="rId8" imgW="5457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86710" y="3143248"/>
                        <a:ext cx="857256" cy="7143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2" name="Object 12"/>
          <p:cNvGraphicFramePr>
            <a:graphicFrameLocks noChangeAspect="1"/>
          </p:cNvGraphicFramePr>
          <p:nvPr/>
        </p:nvGraphicFramePr>
        <p:xfrm>
          <a:off x="4000496" y="3714752"/>
          <a:ext cx="1643074" cy="6429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enklem" r:id="rId10" imgW="1206360" imgH="393480" progId="Equation.3">
                  <p:embed/>
                </p:oleObj>
              </mc:Choice>
              <mc:Fallback>
                <p:oleObj name="Denklem" r:id="rId10" imgW="12063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0496" y="3714752"/>
                        <a:ext cx="1643074" cy="6429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4" name="Object 14"/>
          <p:cNvGraphicFramePr>
            <a:graphicFrameLocks noChangeAspect="1"/>
          </p:cNvGraphicFramePr>
          <p:nvPr/>
        </p:nvGraphicFramePr>
        <p:xfrm>
          <a:off x="5857884" y="3643314"/>
          <a:ext cx="3214678" cy="7858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enklem" r:id="rId12" imgW="2019240" imgH="457200" progId="Equation.3">
                  <p:embed/>
                </p:oleObj>
              </mc:Choice>
              <mc:Fallback>
                <p:oleObj name="Denklem" r:id="rId12" imgW="201924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7884" y="3643314"/>
                        <a:ext cx="3214678" cy="7858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5" name="Object 15"/>
          <p:cNvGraphicFramePr>
            <a:graphicFrameLocks noChangeAspect="1"/>
          </p:cNvGraphicFramePr>
          <p:nvPr/>
        </p:nvGraphicFramePr>
        <p:xfrm>
          <a:off x="5500694" y="4857760"/>
          <a:ext cx="2786082" cy="6429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enklem" r:id="rId14" imgW="1549080" imgH="393480" progId="Equation.3">
                  <p:embed/>
                </p:oleObj>
              </mc:Choice>
              <mc:Fallback>
                <p:oleObj name="Denklem" r:id="rId14" imgW="15490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0694" y="4857760"/>
                        <a:ext cx="2786082" cy="6429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5616" name="Picture 16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285720" y="3429000"/>
            <a:ext cx="3523868" cy="171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9" name="1 Başlık"/>
          <p:cNvSpPr>
            <a:spLocks noGrp="1"/>
          </p:cNvSpPr>
          <p:nvPr>
            <p:ph type="title"/>
          </p:nvPr>
        </p:nvSpPr>
        <p:spPr>
          <a:xfrm>
            <a:off x="500034" y="142852"/>
            <a:ext cx="8229600" cy="857256"/>
          </a:xfrm>
        </p:spPr>
        <p:txBody>
          <a:bodyPr>
            <a:normAutofit/>
          </a:bodyPr>
          <a:lstStyle/>
          <a:p>
            <a:r>
              <a:rPr lang="tr-TR" sz="3600" dirty="0" err="1"/>
              <a:t>Negative</a:t>
            </a:r>
            <a:r>
              <a:rPr lang="tr-TR" sz="3600" dirty="0"/>
              <a:t> </a:t>
            </a:r>
            <a:r>
              <a:rPr lang="tr-TR" sz="3600" dirty="0" err="1"/>
              <a:t>Feedback</a:t>
            </a:r>
            <a:endParaRPr lang="tr-TR" sz="3600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E67AD-EE34-4E0A-BCCB-0D14F4380E44}" type="slidenum">
              <a:rPr lang="tr-TR" smtClean="0"/>
              <a:pPr/>
              <a:t>12</a:t>
            </a:fld>
            <a:endParaRPr lang="tr-TR" dirty="0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Ali Muhtaroglu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5720" y="1357298"/>
            <a:ext cx="850112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None/>
            </a:pPr>
            <a:r>
              <a:rPr lang="tr-TR" sz="2000" dirty="0"/>
              <a:t>1.</a:t>
            </a:r>
            <a:r>
              <a:rPr lang="en-US" sz="2000" dirty="0"/>
              <a:t> No current ever flows into either</a:t>
            </a:r>
            <a:r>
              <a:rPr lang="tr-TR" sz="2000" dirty="0"/>
              <a:t> input terminal </a:t>
            </a:r>
            <a:r>
              <a:rPr lang="en-US" sz="2000" dirty="0"/>
              <a:t>(for any ideal op-amp)</a:t>
            </a:r>
            <a:r>
              <a:rPr lang="tr-TR" sz="2000" dirty="0"/>
              <a:t> </a:t>
            </a:r>
            <a:r>
              <a:rPr lang="tr-TR" sz="2000" b="1" dirty="0"/>
              <a:t>	</a:t>
            </a:r>
          </a:p>
          <a:p>
            <a:pPr marL="114300" indent="-114300"/>
            <a:r>
              <a:rPr lang="tr-TR" sz="2000" b="1" dirty="0"/>
              <a:t>2.</a:t>
            </a:r>
            <a:r>
              <a:rPr lang="en-US" sz="2000" b="1" dirty="0"/>
              <a:t> </a:t>
            </a:r>
            <a:r>
              <a:rPr lang="tr-TR" sz="2000" b="1" dirty="0"/>
              <a:t>There is no voltage difference between the two input terminals</a:t>
            </a:r>
            <a:r>
              <a:rPr lang="en-US" sz="2000" b="1" dirty="0"/>
              <a:t>: </a:t>
            </a:r>
          </a:p>
          <a:p>
            <a:pPr marL="360363" indent="-360363"/>
            <a:r>
              <a:rPr lang="en-US" sz="2000" b="1" dirty="0"/>
              <a:t>      (for </a:t>
            </a:r>
            <a:r>
              <a:rPr lang="en-US" sz="2000" b="1" u="sng" dirty="0"/>
              <a:t>any ideal op-amp in negative feedback topology, and operating in linear region</a:t>
            </a:r>
            <a:r>
              <a:rPr lang="en-US" sz="2000" b="1" dirty="0"/>
              <a:t>.)</a:t>
            </a:r>
          </a:p>
        </p:txBody>
      </p:sp>
      <p:graphicFrame>
        <p:nvGraphicFramePr>
          <p:cNvPr id="6042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477625"/>
              </p:ext>
            </p:extLst>
          </p:nvPr>
        </p:nvGraphicFramePr>
        <p:xfrm>
          <a:off x="4536281" y="2465401"/>
          <a:ext cx="1214437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enklem" r:id="rId17" imgW="634680" imgH="215640" progId="Equation.3">
                  <p:embed/>
                </p:oleObj>
              </mc:Choice>
              <mc:Fallback>
                <p:oleObj name="Denklem" r:id="rId17" imgW="6346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6281" y="2465401"/>
                        <a:ext cx="1214437" cy="35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9624550"/>
              </p:ext>
            </p:extLst>
          </p:nvPr>
        </p:nvGraphicFramePr>
        <p:xfrm>
          <a:off x="6507559" y="2444215"/>
          <a:ext cx="939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457200" imgH="215640" progId="Equation.3">
                  <p:embed/>
                </p:oleObj>
              </mc:Choice>
              <mc:Fallback>
                <p:oleObj name="Equation" r:id="rId19" imgW="4572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7559" y="2444215"/>
                        <a:ext cx="9398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232333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500034" y="142852"/>
            <a:ext cx="8229600" cy="857256"/>
          </a:xfrm>
        </p:spPr>
        <p:txBody>
          <a:bodyPr>
            <a:normAutofit/>
          </a:bodyPr>
          <a:lstStyle/>
          <a:p>
            <a:r>
              <a:rPr lang="tr-TR" sz="3600" dirty="0" err="1"/>
              <a:t>Example</a:t>
            </a:r>
            <a:r>
              <a:rPr lang="tr-TR" sz="3600" dirty="0"/>
              <a:t> 2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500034" y="1071546"/>
            <a:ext cx="8229600" cy="542928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/>
              <a:t>Find </a:t>
            </a:r>
            <a:r>
              <a:rPr lang="en-US" sz="2400" b="1" i="1" dirty="0"/>
              <a:t>v</a:t>
            </a:r>
            <a:r>
              <a:rPr lang="en-US" sz="2400" dirty="0"/>
              <a:t> in the below circuit (assume Ideal Op-Amp model):</a:t>
            </a:r>
            <a:endParaRPr lang="tr-TR" sz="2400" dirty="0"/>
          </a:p>
          <a:p>
            <a:pPr>
              <a:buNone/>
            </a:pPr>
            <a:r>
              <a:rPr lang="tr-TR" sz="2400" dirty="0"/>
              <a:t>					</a:t>
            </a:r>
            <a:endParaRPr lang="tr-TR" sz="2000" dirty="0"/>
          </a:p>
        </p:txBody>
      </p:sp>
      <p:pic>
        <p:nvPicPr>
          <p:cNvPr id="28682" name="Picture 1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6" y="1643050"/>
            <a:ext cx="3357586" cy="2064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E67AD-EE34-4E0A-BCCB-0D14F4380E44}" type="slidenum">
              <a:rPr lang="tr-TR" smtClean="0"/>
              <a:pPr/>
              <a:t>13</a:t>
            </a:fld>
            <a:endParaRPr lang="tr-TR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Ali Muhtaroglu</a:t>
            </a:r>
          </a:p>
        </p:txBody>
      </p:sp>
    </p:spTree>
    <p:extLst>
      <p:ext uri="{BB962C8B-B14F-4D97-AF65-F5344CB8AC3E}">
        <p14:creationId xmlns:p14="http://schemas.microsoft.com/office/powerpoint/2010/main" val="42257277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500034" y="142852"/>
            <a:ext cx="8229600" cy="857256"/>
          </a:xfrm>
        </p:spPr>
        <p:txBody>
          <a:bodyPr>
            <a:normAutofit/>
          </a:bodyPr>
          <a:lstStyle/>
          <a:p>
            <a:r>
              <a:rPr lang="tr-TR" sz="3600" dirty="0" err="1"/>
              <a:t>Example</a:t>
            </a:r>
            <a:r>
              <a:rPr lang="tr-TR" sz="3600" dirty="0"/>
              <a:t> 2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500034" y="1071546"/>
            <a:ext cx="8229600" cy="542928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/>
              <a:t>Find </a:t>
            </a:r>
            <a:r>
              <a:rPr lang="en-US" sz="2400" b="1" i="1" dirty="0"/>
              <a:t>v</a:t>
            </a:r>
            <a:r>
              <a:rPr lang="en-US" sz="2400" dirty="0"/>
              <a:t> in the below circuit (assume Ideal Op-Amp model):</a:t>
            </a:r>
            <a:endParaRPr lang="tr-TR" sz="2400" dirty="0"/>
          </a:p>
          <a:p>
            <a:pPr>
              <a:buNone/>
            </a:pPr>
            <a:r>
              <a:rPr lang="tr-TR" sz="2400" dirty="0"/>
              <a:t>					  </a:t>
            </a:r>
            <a:r>
              <a:rPr lang="tr-TR" sz="2000" dirty="0" err="1"/>
              <a:t>Voltage</a:t>
            </a:r>
            <a:r>
              <a:rPr lang="tr-TR" sz="2000" dirty="0"/>
              <a:t> </a:t>
            </a:r>
            <a:r>
              <a:rPr lang="tr-TR" sz="2000" dirty="0" err="1"/>
              <a:t>division</a:t>
            </a:r>
            <a:r>
              <a:rPr lang="tr-TR" sz="2000" dirty="0"/>
              <a:t>:</a:t>
            </a:r>
          </a:p>
          <a:p>
            <a:pPr>
              <a:buNone/>
            </a:pPr>
            <a:r>
              <a:rPr lang="tr-TR" sz="2000" dirty="0"/>
              <a:t>							</a:t>
            </a:r>
          </a:p>
          <a:p>
            <a:pPr>
              <a:buNone/>
            </a:pPr>
            <a:endParaRPr lang="tr-TR" sz="2000" dirty="0"/>
          </a:p>
          <a:p>
            <a:pPr>
              <a:buNone/>
            </a:pPr>
            <a:r>
              <a:rPr lang="tr-TR" sz="2000" dirty="0"/>
              <a:t>					  (</a:t>
            </a:r>
            <a:r>
              <a:rPr lang="tr-TR" sz="2000" dirty="0" err="1"/>
              <a:t>remember</a:t>
            </a:r>
            <a:r>
              <a:rPr lang="tr-TR" sz="2000" dirty="0"/>
              <a:t> 	        </a:t>
            </a:r>
            <a:r>
              <a:rPr lang="en-US" sz="2000" dirty="0"/>
              <a:t>due to the 1st ideal </a:t>
            </a:r>
            <a:r>
              <a:rPr lang="tr-TR" sz="2000" dirty="0"/>
              <a:t>                				   </a:t>
            </a:r>
            <a:r>
              <a:rPr lang="en-US" sz="2000" dirty="0"/>
              <a:t>op-amp</a:t>
            </a:r>
            <a:r>
              <a:rPr lang="tr-TR" sz="2000" dirty="0"/>
              <a:t> </a:t>
            </a:r>
            <a:r>
              <a:rPr lang="tr-TR" sz="2000" dirty="0" err="1"/>
              <a:t>rule</a:t>
            </a:r>
            <a:r>
              <a:rPr lang="tr-TR" sz="2000" dirty="0"/>
              <a:t>)</a:t>
            </a:r>
          </a:p>
          <a:p>
            <a:pPr>
              <a:buNone/>
            </a:pPr>
            <a:endParaRPr lang="tr-TR" sz="2000" dirty="0"/>
          </a:p>
          <a:p>
            <a:pPr>
              <a:buNone/>
            </a:pPr>
            <a:r>
              <a:rPr lang="en-US" sz="2000" dirty="0"/>
              <a:t>Using the 2nd ideal op-amp rule:</a:t>
            </a:r>
            <a:endParaRPr lang="tr-TR" sz="2000" dirty="0"/>
          </a:p>
          <a:p>
            <a:pPr>
              <a:buNone/>
            </a:pPr>
            <a:endParaRPr lang="tr-TR" sz="2000" dirty="0"/>
          </a:p>
          <a:p>
            <a:pPr>
              <a:buNone/>
            </a:pPr>
            <a:r>
              <a:rPr lang="tr-TR" sz="2000" dirty="0" err="1"/>
              <a:t>Voltage</a:t>
            </a:r>
            <a:r>
              <a:rPr lang="tr-TR" sz="2000" dirty="0"/>
              <a:t> </a:t>
            </a:r>
            <a:r>
              <a:rPr lang="tr-TR" sz="2000" dirty="0" err="1"/>
              <a:t>division</a:t>
            </a:r>
            <a:r>
              <a:rPr lang="tr-TR" sz="2000" dirty="0"/>
              <a:t>:</a:t>
            </a:r>
          </a:p>
          <a:p>
            <a:pPr>
              <a:buNone/>
            </a:pPr>
            <a:endParaRPr lang="tr-TR" sz="2000" dirty="0"/>
          </a:p>
          <a:p>
            <a:pPr>
              <a:buNone/>
            </a:pPr>
            <a:endParaRPr lang="tr-TR" sz="2000" dirty="0"/>
          </a:p>
          <a:p>
            <a:pPr>
              <a:buNone/>
            </a:pPr>
            <a:r>
              <a:rPr lang="en-US" sz="2000" dirty="0"/>
              <a:t>Next, will look at some well-known Op-Amp building block circuits</a:t>
            </a:r>
          </a:p>
          <a:p>
            <a:pPr>
              <a:buNone/>
            </a:pPr>
            <a:r>
              <a:rPr lang="tr-TR" sz="2000" dirty="0" err="1"/>
              <a:t>with</a:t>
            </a:r>
            <a:r>
              <a:rPr lang="tr-TR" sz="2000" dirty="0"/>
              <a:t> </a:t>
            </a:r>
            <a:r>
              <a:rPr lang="tr-TR" sz="2000" dirty="0" err="1"/>
              <a:t>negative</a:t>
            </a:r>
            <a:r>
              <a:rPr lang="tr-TR" sz="2000" dirty="0"/>
              <a:t> </a:t>
            </a:r>
            <a:r>
              <a:rPr lang="tr-TR" sz="2000" dirty="0" err="1"/>
              <a:t>feedback</a:t>
            </a:r>
            <a:r>
              <a:rPr lang="tr-TR" sz="2000" dirty="0"/>
              <a:t>…</a:t>
            </a:r>
          </a:p>
        </p:txBody>
      </p:sp>
      <p:graphicFrame>
        <p:nvGraphicFramePr>
          <p:cNvPr id="28675" name="Object 3"/>
          <p:cNvGraphicFramePr>
            <a:graphicFrameLocks noChangeAspect="1"/>
          </p:cNvGraphicFramePr>
          <p:nvPr/>
        </p:nvGraphicFramePr>
        <p:xfrm>
          <a:off x="4429124" y="1928802"/>
          <a:ext cx="2571768" cy="71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82680" imgH="393480" progId="Equation.3">
                  <p:embed/>
                </p:oleObj>
              </mc:Choice>
              <mc:Fallback>
                <p:oleObj name="Equation" r:id="rId2" imgW="12826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9124" y="1928802"/>
                        <a:ext cx="2571768" cy="7143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7" name="Object 5"/>
          <p:cNvGraphicFramePr>
            <a:graphicFrameLocks noChangeAspect="1"/>
          </p:cNvGraphicFramePr>
          <p:nvPr/>
        </p:nvGraphicFramePr>
        <p:xfrm>
          <a:off x="5572132" y="2714620"/>
          <a:ext cx="928694" cy="3587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34680" imgH="215640" progId="Equation.3">
                  <p:embed/>
                </p:oleObj>
              </mc:Choice>
              <mc:Fallback>
                <p:oleObj name="Equation" r:id="rId4" imgW="6346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2132" y="2714620"/>
                        <a:ext cx="928694" cy="3587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9 Nesne"/>
          <p:cNvGraphicFramePr>
            <a:graphicFrameLocks noChangeAspect="1"/>
          </p:cNvGraphicFramePr>
          <p:nvPr/>
        </p:nvGraphicFramePr>
        <p:xfrm>
          <a:off x="4114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14400" imgH="215640" progId="Equation.3">
                  <p:embed/>
                </p:oleObj>
              </mc:Choice>
              <mc:Fallback>
                <p:oleObj name="Equation" r:id="rId6" imgW="9144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321050"/>
                        <a:ext cx="9144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9" name="Object 7"/>
          <p:cNvGraphicFramePr>
            <a:graphicFrameLocks noChangeAspect="1"/>
          </p:cNvGraphicFramePr>
          <p:nvPr/>
        </p:nvGraphicFramePr>
        <p:xfrm>
          <a:off x="4000496" y="3714752"/>
          <a:ext cx="1428760" cy="357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50680" imgH="215640" progId="Equation.3">
                  <p:embed/>
                </p:oleObj>
              </mc:Choice>
              <mc:Fallback>
                <p:oleObj name="Equation" r:id="rId8" imgW="8506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0496" y="3714752"/>
                        <a:ext cx="1428760" cy="357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9"/>
          <p:cNvGraphicFramePr>
            <a:graphicFrameLocks noChangeAspect="1"/>
          </p:cNvGraphicFramePr>
          <p:nvPr/>
        </p:nvGraphicFramePr>
        <p:xfrm>
          <a:off x="2571736" y="4500570"/>
          <a:ext cx="2329848" cy="7683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93760" imgH="393480" progId="Equation.3">
                  <p:embed/>
                </p:oleObj>
              </mc:Choice>
              <mc:Fallback>
                <p:oleObj name="Equation" r:id="rId10" imgW="11937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736" y="4500570"/>
                        <a:ext cx="2329848" cy="7683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8682" name="Picture 10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428596" y="1643050"/>
            <a:ext cx="3357586" cy="2064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E67AD-EE34-4E0A-BCCB-0D14F4380E44}" type="slidenum">
              <a:rPr lang="tr-TR" smtClean="0"/>
              <a:pPr/>
              <a:t>14</a:t>
            </a:fld>
            <a:endParaRPr lang="tr-TR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Ali Muhtaroglu</a:t>
            </a:r>
          </a:p>
        </p:txBody>
      </p:sp>
    </p:spTree>
    <p:extLst>
      <p:ext uri="{BB962C8B-B14F-4D97-AF65-F5344CB8AC3E}">
        <p14:creationId xmlns:p14="http://schemas.microsoft.com/office/powerpoint/2010/main" val="3958381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500034" y="142852"/>
            <a:ext cx="8229600" cy="714380"/>
          </a:xfrm>
        </p:spPr>
        <p:txBody>
          <a:bodyPr>
            <a:normAutofit/>
          </a:bodyPr>
          <a:lstStyle/>
          <a:p>
            <a:r>
              <a:rPr lang="tr-TR" sz="3600" dirty="0" err="1"/>
              <a:t>Inverting</a:t>
            </a:r>
            <a:r>
              <a:rPr lang="tr-TR" sz="3600" dirty="0"/>
              <a:t> </a:t>
            </a:r>
            <a:r>
              <a:rPr lang="tr-TR" sz="3600" dirty="0" err="1"/>
              <a:t>Amplifier</a:t>
            </a:r>
            <a:endParaRPr lang="tr-TR" sz="36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428596" y="1142984"/>
            <a:ext cx="8429684" cy="557216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tr-TR" sz="2400" dirty="0"/>
              <a:t>					</a:t>
            </a:r>
            <a:r>
              <a:rPr lang="en-US" sz="1800" dirty="0"/>
              <a:t>Nodal analysis method is </a:t>
            </a:r>
            <a:r>
              <a:rPr lang="en-US" sz="1800" dirty="0" err="1"/>
              <a:t>typicall</a:t>
            </a:r>
            <a:r>
              <a:rPr lang="tr-TR" sz="1800" dirty="0"/>
              <a:t>y </a:t>
            </a:r>
            <a:r>
              <a:rPr lang="en-US" sz="1800" dirty="0"/>
              <a:t>appropriate</a:t>
            </a:r>
            <a:r>
              <a:rPr lang="tr-TR" sz="1800" dirty="0"/>
              <a:t> 				</a:t>
            </a:r>
            <a:r>
              <a:rPr lang="en-US" sz="1800" dirty="0"/>
              <a:t>	</a:t>
            </a:r>
            <a:r>
              <a:rPr lang="tr-TR" sz="1800" dirty="0"/>
              <a:t>for </a:t>
            </a:r>
            <a:r>
              <a:rPr lang="tr-TR" sz="1800" dirty="0" err="1"/>
              <a:t>amplifier</a:t>
            </a:r>
            <a:r>
              <a:rPr lang="tr-TR" sz="1800" dirty="0"/>
              <a:t> </a:t>
            </a:r>
            <a:r>
              <a:rPr lang="tr-TR" sz="1800" dirty="0" err="1"/>
              <a:t>circuits</a:t>
            </a:r>
            <a:endParaRPr lang="tr-TR" sz="1800" dirty="0"/>
          </a:p>
        </p:txBody>
      </p:sp>
      <p:pic>
        <p:nvPicPr>
          <p:cNvPr id="29710" name="Picture 1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34" y="1142984"/>
            <a:ext cx="3246982" cy="3071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E67AD-EE34-4E0A-BCCB-0D14F4380E44}" type="slidenum">
              <a:rPr lang="tr-TR" smtClean="0"/>
              <a:pPr/>
              <a:t>15</a:t>
            </a:fld>
            <a:endParaRPr lang="tr-TR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Ali Muhtaroglu</a:t>
            </a:r>
          </a:p>
        </p:txBody>
      </p:sp>
    </p:spTree>
    <p:extLst>
      <p:ext uri="{BB962C8B-B14F-4D97-AF65-F5344CB8AC3E}">
        <p14:creationId xmlns:p14="http://schemas.microsoft.com/office/powerpoint/2010/main" val="28490295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500034" y="142852"/>
            <a:ext cx="8229600" cy="714380"/>
          </a:xfrm>
        </p:spPr>
        <p:txBody>
          <a:bodyPr>
            <a:normAutofit/>
          </a:bodyPr>
          <a:lstStyle/>
          <a:p>
            <a:r>
              <a:rPr lang="tr-TR" sz="3600" dirty="0" err="1"/>
              <a:t>Inverting</a:t>
            </a:r>
            <a:r>
              <a:rPr lang="tr-TR" sz="3600" dirty="0"/>
              <a:t> </a:t>
            </a:r>
            <a:r>
              <a:rPr lang="tr-TR" sz="3600" dirty="0" err="1"/>
              <a:t>Amplifier</a:t>
            </a:r>
            <a:endParaRPr lang="tr-TR" sz="36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428596" y="1142984"/>
            <a:ext cx="8429684" cy="557216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tr-TR" sz="2400" dirty="0"/>
              <a:t>					</a:t>
            </a:r>
            <a:r>
              <a:rPr lang="en-US" sz="1800" dirty="0"/>
              <a:t>Nodal analysis method is </a:t>
            </a:r>
            <a:r>
              <a:rPr lang="en-US" sz="1800" dirty="0" err="1"/>
              <a:t>typicall</a:t>
            </a:r>
            <a:r>
              <a:rPr lang="tr-TR" sz="1800" dirty="0"/>
              <a:t>y </a:t>
            </a:r>
            <a:r>
              <a:rPr lang="en-US" sz="1800" dirty="0"/>
              <a:t>appropriate</a:t>
            </a:r>
            <a:r>
              <a:rPr lang="tr-TR" sz="1800" dirty="0"/>
              <a:t> 				</a:t>
            </a:r>
            <a:r>
              <a:rPr lang="en-US" sz="1800" dirty="0"/>
              <a:t>	</a:t>
            </a:r>
            <a:r>
              <a:rPr lang="tr-TR" sz="1800" dirty="0"/>
              <a:t>for amplifier circuits:</a:t>
            </a:r>
          </a:p>
          <a:p>
            <a:pPr>
              <a:buNone/>
            </a:pPr>
            <a:r>
              <a:rPr lang="tr-TR" sz="1800" dirty="0"/>
              <a:t>						</a:t>
            </a:r>
          </a:p>
          <a:p>
            <a:pPr>
              <a:buNone/>
            </a:pPr>
            <a:r>
              <a:rPr lang="tr-TR" sz="1800" dirty="0"/>
              <a:t>					</a:t>
            </a:r>
            <a:r>
              <a:rPr lang="en-US" sz="1800" dirty="0"/>
              <a:t>Rule 1: No current flows into the inputs of the</a:t>
            </a:r>
            <a:r>
              <a:rPr lang="tr-TR" sz="1800" dirty="0"/>
              <a:t> 				</a:t>
            </a:r>
            <a:r>
              <a:rPr lang="en-US" sz="1800" dirty="0"/>
              <a:t>	</a:t>
            </a:r>
            <a:r>
              <a:rPr lang="tr-TR" sz="1800" dirty="0"/>
              <a:t>Op-amp.</a:t>
            </a:r>
          </a:p>
          <a:p>
            <a:pPr>
              <a:buNone/>
            </a:pPr>
            <a:endParaRPr lang="tr-TR" sz="1800" dirty="0"/>
          </a:p>
          <a:p>
            <a:pPr>
              <a:buNone/>
            </a:pPr>
            <a:r>
              <a:rPr lang="tr-TR" sz="1800" dirty="0"/>
              <a:t>					</a:t>
            </a:r>
            <a:r>
              <a:rPr lang="en-US" sz="1800" dirty="0"/>
              <a:t>Therefore writing KCL equations at node</a:t>
            </a:r>
            <a:r>
              <a:rPr lang="tr-TR" sz="1800" dirty="0"/>
              <a:t>       :</a:t>
            </a:r>
          </a:p>
          <a:p>
            <a:pPr>
              <a:buNone/>
            </a:pPr>
            <a:endParaRPr lang="tr-TR" sz="1800" dirty="0"/>
          </a:p>
          <a:p>
            <a:pPr>
              <a:buNone/>
            </a:pPr>
            <a:endParaRPr lang="tr-TR" sz="1800" dirty="0"/>
          </a:p>
          <a:p>
            <a:pPr>
              <a:buNone/>
            </a:pPr>
            <a:endParaRPr lang="tr-TR" sz="1800" dirty="0"/>
          </a:p>
          <a:p>
            <a:pPr>
              <a:buNone/>
            </a:pPr>
            <a:endParaRPr lang="tr-TR" sz="1800" dirty="0"/>
          </a:p>
          <a:p>
            <a:pPr>
              <a:buNone/>
            </a:pPr>
            <a:endParaRPr lang="tr-TR" sz="1800" dirty="0"/>
          </a:p>
          <a:p>
            <a:pPr>
              <a:buNone/>
            </a:pPr>
            <a:r>
              <a:rPr lang="en-US" sz="1800" dirty="0"/>
              <a:t>Rule 2: The input </a:t>
            </a:r>
            <a:r>
              <a:rPr lang="en-US" sz="1800" dirty="0" err="1"/>
              <a:t>volages</a:t>
            </a:r>
            <a:r>
              <a:rPr lang="en-US" sz="1800" dirty="0"/>
              <a:t> are ~the same for the op-amp, since negative feedback exists</a:t>
            </a:r>
            <a:endParaRPr lang="tr-TR" sz="1800" dirty="0"/>
          </a:p>
          <a:p>
            <a:pPr>
              <a:buNone/>
            </a:pPr>
            <a:r>
              <a:rPr lang="tr-TR" sz="1800" dirty="0" err="1"/>
              <a:t>So</a:t>
            </a:r>
            <a:r>
              <a:rPr lang="tr-TR" sz="1800" dirty="0"/>
              <a:t>; </a:t>
            </a:r>
          </a:p>
          <a:p>
            <a:pPr>
              <a:buNone/>
            </a:pPr>
            <a:r>
              <a:rPr lang="en-US" sz="1800" dirty="0"/>
              <a:t>Therefore, the equation (1) becomes:</a:t>
            </a:r>
            <a:r>
              <a:rPr lang="tr-TR" sz="1800" dirty="0"/>
              <a:t> 		          : </a:t>
            </a:r>
            <a:r>
              <a:rPr lang="tr-TR" sz="1800" dirty="0" err="1"/>
              <a:t>Inverting</a:t>
            </a:r>
            <a:r>
              <a:rPr lang="tr-TR" sz="1800" dirty="0"/>
              <a:t> </a:t>
            </a:r>
            <a:r>
              <a:rPr lang="tr-TR" sz="1800" dirty="0" err="1"/>
              <a:t>Amplifier</a:t>
            </a:r>
            <a:r>
              <a:rPr lang="tr-TR" sz="1800" dirty="0"/>
              <a:t> </a:t>
            </a:r>
            <a:r>
              <a:rPr lang="tr-TR" sz="1800" dirty="0" err="1"/>
              <a:t>Gain</a:t>
            </a:r>
            <a:endParaRPr lang="tr-TR" sz="1800" dirty="0"/>
          </a:p>
          <a:p>
            <a:pPr>
              <a:buNone/>
            </a:pPr>
            <a:r>
              <a:rPr lang="tr-TR" sz="1800" dirty="0"/>
              <a:t>					</a:t>
            </a:r>
          </a:p>
        </p:txBody>
      </p:sp>
      <p:graphicFrame>
        <p:nvGraphicFramePr>
          <p:cNvPr id="29699" name="Object 3"/>
          <p:cNvGraphicFramePr>
            <a:graphicFrameLocks noChangeAspect="1"/>
          </p:cNvGraphicFramePr>
          <p:nvPr/>
        </p:nvGraphicFramePr>
        <p:xfrm>
          <a:off x="7929586" y="3071810"/>
          <a:ext cx="309564" cy="3937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0440" imgH="215640" progId="Equation.3">
                  <p:embed/>
                </p:oleObj>
              </mc:Choice>
              <mc:Fallback>
                <p:oleObj name="Equation" r:id="rId2" imgW="19044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9586" y="3071810"/>
                        <a:ext cx="309564" cy="3937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1" name="Object 5"/>
          <p:cNvGraphicFramePr>
            <a:graphicFrameLocks noChangeAspect="1"/>
          </p:cNvGraphicFramePr>
          <p:nvPr/>
        </p:nvGraphicFramePr>
        <p:xfrm>
          <a:off x="4214810" y="3500438"/>
          <a:ext cx="2428892" cy="71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34960" imgH="431640" progId="Equation.3">
                  <p:embed/>
                </p:oleObj>
              </mc:Choice>
              <mc:Fallback>
                <p:oleObj name="Equation" r:id="rId4" imgW="14349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4810" y="3500438"/>
                        <a:ext cx="2428892" cy="7143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3" name="Object 7"/>
          <p:cNvGraphicFramePr>
            <a:graphicFrameLocks noChangeAspect="1"/>
          </p:cNvGraphicFramePr>
          <p:nvPr/>
        </p:nvGraphicFramePr>
        <p:xfrm>
          <a:off x="4214810" y="4143380"/>
          <a:ext cx="4286280" cy="8572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86000" imgH="482400" progId="Equation.3">
                  <p:embed/>
                </p:oleObj>
              </mc:Choice>
              <mc:Fallback>
                <p:oleObj name="Equation" r:id="rId6" imgW="228600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4810" y="4143380"/>
                        <a:ext cx="4286280" cy="8572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5" name="Object 9"/>
          <p:cNvGraphicFramePr>
            <a:graphicFrameLocks noChangeAspect="1"/>
          </p:cNvGraphicFramePr>
          <p:nvPr/>
        </p:nvGraphicFramePr>
        <p:xfrm>
          <a:off x="928662" y="5429264"/>
          <a:ext cx="1357322" cy="3587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50680" imgH="215640" progId="Equation.3">
                  <p:embed/>
                </p:oleObj>
              </mc:Choice>
              <mc:Fallback>
                <p:oleObj name="Equation" r:id="rId8" imgW="8506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62" y="5429264"/>
                        <a:ext cx="1357322" cy="3587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7" name="Object 11"/>
          <p:cNvGraphicFramePr>
            <a:graphicFrameLocks noChangeAspect="1"/>
          </p:cNvGraphicFramePr>
          <p:nvPr/>
        </p:nvGraphicFramePr>
        <p:xfrm>
          <a:off x="4071934" y="5572140"/>
          <a:ext cx="1428760" cy="7175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49160" imgH="431640" progId="Equation.3">
                  <p:embed/>
                </p:oleObj>
              </mc:Choice>
              <mc:Fallback>
                <p:oleObj name="Equation" r:id="rId10" imgW="7491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1934" y="5572140"/>
                        <a:ext cx="1428760" cy="7175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9710" name="Picture 14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500034" y="1142984"/>
            <a:ext cx="3246982" cy="3071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E67AD-EE34-4E0A-BCCB-0D14F4380E44}" type="slidenum">
              <a:rPr lang="tr-TR" smtClean="0"/>
              <a:pPr/>
              <a:t>16</a:t>
            </a:fld>
            <a:endParaRPr lang="tr-TR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Ali Muhtaroglu</a:t>
            </a:r>
          </a:p>
        </p:txBody>
      </p:sp>
    </p:spTree>
    <p:extLst>
      <p:ext uri="{BB962C8B-B14F-4D97-AF65-F5344CB8AC3E}">
        <p14:creationId xmlns:p14="http://schemas.microsoft.com/office/powerpoint/2010/main" val="17913030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500034" y="142852"/>
            <a:ext cx="6715172" cy="642942"/>
          </a:xfrm>
        </p:spPr>
        <p:txBody>
          <a:bodyPr>
            <a:normAutofit/>
          </a:bodyPr>
          <a:lstStyle/>
          <a:p>
            <a:r>
              <a:rPr lang="tr-TR" sz="3600" dirty="0" err="1"/>
              <a:t>Inverting</a:t>
            </a:r>
            <a:r>
              <a:rPr lang="tr-TR" sz="3600" dirty="0"/>
              <a:t> </a:t>
            </a:r>
            <a:r>
              <a:rPr lang="tr-TR" sz="3600" dirty="0" err="1"/>
              <a:t>Amplifier</a:t>
            </a:r>
            <a:r>
              <a:rPr lang="tr-TR" sz="3600" dirty="0"/>
              <a:t> (</a:t>
            </a:r>
            <a:r>
              <a:rPr lang="tr-TR" sz="3600" dirty="0" err="1"/>
              <a:t>example</a:t>
            </a:r>
            <a:r>
              <a:rPr lang="tr-TR" sz="3600" dirty="0"/>
              <a:t>)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0" y="1071546"/>
            <a:ext cx="8658196" cy="542928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tr-TR" sz="2400" dirty="0"/>
              <a:t>	</a:t>
            </a:r>
            <a:r>
              <a:rPr lang="tr-TR" sz="2400" dirty="0" err="1"/>
              <a:t>Using</a:t>
            </a:r>
            <a:r>
              <a:rPr lang="tr-TR" sz="2400" dirty="0"/>
              <a:t> </a:t>
            </a:r>
            <a:r>
              <a:rPr lang="tr-TR" sz="2400" dirty="0" err="1"/>
              <a:t>values</a:t>
            </a:r>
            <a:r>
              <a:rPr lang="tr-TR" sz="2400" dirty="0"/>
              <a:t>:</a:t>
            </a:r>
          </a:p>
          <a:p>
            <a:pPr>
              <a:buNone/>
            </a:pPr>
            <a:r>
              <a:rPr lang="tr-TR" sz="2400" dirty="0"/>
              <a:t>				     </a:t>
            </a:r>
            <a:r>
              <a:rPr lang="tr-TR" sz="2300" i="1" dirty="0"/>
              <a:t>		</a:t>
            </a:r>
          </a:p>
          <a:p>
            <a:pPr>
              <a:buNone/>
            </a:pPr>
            <a:r>
              <a:rPr lang="tr-TR" sz="2300" i="1" dirty="0"/>
              <a:t>								</a:t>
            </a:r>
            <a:endParaRPr lang="tr-TR" sz="1000" i="1" dirty="0"/>
          </a:p>
          <a:p>
            <a:pPr>
              <a:buNone/>
            </a:pPr>
            <a:r>
              <a:rPr lang="tr-TR" sz="1000" i="1" dirty="0"/>
              <a:t>			</a:t>
            </a:r>
            <a:endParaRPr lang="tr-TR" sz="2200" i="1" dirty="0"/>
          </a:p>
        </p:txBody>
      </p:sp>
      <p:graphicFrame>
        <p:nvGraphicFramePr>
          <p:cNvPr id="30725" name="Object 5"/>
          <p:cNvGraphicFramePr>
            <a:graphicFrameLocks noChangeAspect="1"/>
          </p:cNvGraphicFramePr>
          <p:nvPr/>
        </p:nvGraphicFramePr>
        <p:xfrm>
          <a:off x="4214810" y="1500174"/>
          <a:ext cx="1643074" cy="4286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49160" imgH="215640" progId="Equation.3">
                  <p:embed/>
                </p:oleObj>
              </mc:Choice>
              <mc:Fallback>
                <p:oleObj name="Equation" r:id="rId2" imgW="7491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4810" y="1500174"/>
                        <a:ext cx="1643074" cy="4286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7" name="Object 7"/>
          <p:cNvGraphicFramePr>
            <a:graphicFrameLocks noChangeAspect="1"/>
          </p:cNvGraphicFramePr>
          <p:nvPr/>
        </p:nvGraphicFramePr>
        <p:xfrm>
          <a:off x="6143636" y="1500174"/>
          <a:ext cx="1571636" cy="4302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23600" imgH="215640" progId="Equation.3">
                  <p:embed/>
                </p:oleObj>
              </mc:Choice>
              <mc:Fallback>
                <p:oleObj name="Equation" r:id="rId4" imgW="7236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3636" y="1500174"/>
                        <a:ext cx="1571636" cy="4302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4" name="Object 14"/>
          <p:cNvGraphicFramePr>
            <a:graphicFrameLocks noChangeAspect="1"/>
          </p:cNvGraphicFramePr>
          <p:nvPr/>
        </p:nvGraphicFramePr>
        <p:xfrm>
          <a:off x="1428750" y="1500188"/>
          <a:ext cx="2189163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15920" imgH="215640" progId="Equation.3">
                  <p:embed/>
                </p:oleObj>
              </mc:Choice>
              <mc:Fallback>
                <p:oleObj name="Equation" r:id="rId6" imgW="101592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0" y="1500188"/>
                        <a:ext cx="2189163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E67AD-EE34-4E0A-BCCB-0D14F4380E44}" type="slidenum">
              <a:rPr lang="tr-TR" smtClean="0"/>
              <a:pPr/>
              <a:t>17</a:t>
            </a:fld>
            <a:endParaRPr lang="tr-TR" dirty="0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Ali Muhtaroglu</a:t>
            </a:r>
          </a:p>
        </p:txBody>
      </p:sp>
    </p:spTree>
    <p:extLst>
      <p:ext uri="{BB962C8B-B14F-4D97-AF65-F5344CB8AC3E}">
        <p14:creationId xmlns:p14="http://schemas.microsoft.com/office/powerpoint/2010/main" val="22643225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500034" y="142852"/>
            <a:ext cx="6715172" cy="642942"/>
          </a:xfrm>
        </p:spPr>
        <p:txBody>
          <a:bodyPr>
            <a:normAutofit/>
          </a:bodyPr>
          <a:lstStyle/>
          <a:p>
            <a:r>
              <a:rPr lang="tr-TR" sz="3600" dirty="0" err="1"/>
              <a:t>Inverting</a:t>
            </a:r>
            <a:r>
              <a:rPr lang="tr-TR" sz="3600" dirty="0"/>
              <a:t> </a:t>
            </a:r>
            <a:r>
              <a:rPr lang="tr-TR" sz="3600" dirty="0" err="1"/>
              <a:t>Amplifier</a:t>
            </a:r>
            <a:r>
              <a:rPr lang="tr-TR" sz="3600" dirty="0"/>
              <a:t> (</a:t>
            </a:r>
            <a:r>
              <a:rPr lang="tr-TR" sz="3600" dirty="0" err="1"/>
              <a:t>example</a:t>
            </a:r>
            <a:r>
              <a:rPr lang="tr-TR" sz="3600" dirty="0"/>
              <a:t>)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0" y="1071546"/>
            <a:ext cx="8658196" cy="542928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tr-TR" sz="2400" dirty="0"/>
              <a:t>	</a:t>
            </a:r>
            <a:r>
              <a:rPr lang="tr-TR" sz="2400" dirty="0" err="1"/>
              <a:t>Using</a:t>
            </a:r>
            <a:r>
              <a:rPr lang="tr-TR" sz="2400" dirty="0"/>
              <a:t> </a:t>
            </a:r>
            <a:r>
              <a:rPr lang="tr-TR" sz="2400" dirty="0" err="1"/>
              <a:t>values</a:t>
            </a:r>
            <a:r>
              <a:rPr lang="tr-TR" sz="2400" dirty="0"/>
              <a:t>:</a:t>
            </a:r>
          </a:p>
          <a:p>
            <a:pPr>
              <a:buNone/>
            </a:pPr>
            <a:r>
              <a:rPr lang="tr-TR" sz="2400" dirty="0"/>
              <a:t>				     </a:t>
            </a:r>
            <a:r>
              <a:rPr lang="tr-TR" sz="2300" i="1" dirty="0"/>
              <a:t>		</a:t>
            </a:r>
          </a:p>
          <a:p>
            <a:pPr>
              <a:buNone/>
            </a:pPr>
            <a:r>
              <a:rPr lang="tr-TR" sz="2300" i="1" dirty="0"/>
              <a:t>								</a:t>
            </a:r>
            <a:endParaRPr lang="tr-TR" sz="1000" i="1" dirty="0"/>
          </a:p>
          <a:p>
            <a:pPr>
              <a:buNone/>
            </a:pPr>
            <a:r>
              <a:rPr lang="tr-TR" sz="1000" i="1" dirty="0"/>
              <a:t>							                     </a:t>
            </a:r>
            <a:endParaRPr lang="tr-TR" sz="2300" i="1" dirty="0"/>
          </a:p>
          <a:p>
            <a:pPr>
              <a:buNone/>
            </a:pPr>
            <a:endParaRPr lang="tr-TR" sz="2300" i="1" dirty="0"/>
          </a:p>
          <a:p>
            <a:pPr>
              <a:buNone/>
            </a:pPr>
            <a:endParaRPr lang="tr-TR" sz="2300" i="1" dirty="0"/>
          </a:p>
          <a:p>
            <a:pPr>
              <a:buNone/>
            </a:pPr>
            <a:endParaRPr lang="tr-TR" sz="2300" i="1" dirty="0"/>
          </a:p>
          <a:p>
            <a:pPr>
              <a:buNone/>
            </a:pPr>
            <a:endParaRPr lang="tr-TR" sz="2300" i="1" dirty="0"/>
          </a:p>
          <a:p>
            <a:pPr>
              <a:buNone/>
            </a:pPr>
            <a:r>
              <a:rPr lang="en-US" sz="2300" i="1" dirty="0"/>
              <a:t>	</a:t>
            </a:r>
            <a:endParaRPr lang="tr-TR" sz="2200" i="1" dirty="0"/>
          </a:p>
        </p:txBody>
      </p:sp>
      <p:graphicFrame>
        <p:nvGraphicFramePr>
          <p:cNvPr id="30725" name="Object 5"/>
          <p:cNvGraphicFramePr>
            <a:graphicFrameLocks noChangeAspect="1"/>
          </p:cNvGraphicFramePr>
          <p:nvPr/>
        </p:nvGraphicFramePr>
        <p:xfrm>
          <a:off x="4214810" y="1500174"/>
          <a:ext cx="1643074" cy="4286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49160" imgH="215640" progId="Equation.3">
                  <p:embed/>
                </p:oleObj>
              </mc:Choice>
              <mc:Fallback>
                <p:oleObj name="Equation" r:id="rId2" imgW="7491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4810" y="1500174"/>
                        <a:ext cx="1643074" cy="4286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7" name="Object 7"/>
          <p:cNvGraphicFramePr>
            <a:graphicFrameLocks noChangeAspect="1"/>
          </p:cNvGraphicFramePr>
          <p:nvPr/>
        </p:nvGraphicFramePr>
        <p:xfrm>
          <a:off x="6143636" y="1500174"/>
          <a:ext cx="1571636" cy="4302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23600" imgH="215640" progId="Equation.3">
                  <p:embed/>
                </p:oleObj>
              </mc:Choice>
              <mc:Fallback>
                <p:oleObj name="Equation" r:id="rId4" imgW="7236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3636" y="1500174"/>
                        <a:ext cx="1571636" cy="4302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12 Nesne"/>
          <p:cNvGraphicFramePr>
            <a:graphicFrameLocks noChangeAspect="1"/>
          </p:cNvGraphicFramePr>
          <p:nvPr/>
        </p:nvGraphicFramePr>
        <p:xfrm>
          <a:off x="4114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14400" imgH="215640" progId="Equation.3">
                  <p:embed/>
                </p:oleObj>
              </mc:Choice>
              <mc:Fallback>
                <p:oleObj name="Equation" r:id="rId6" imgW="9144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321050"/>
                        <a:ext cx="9144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14 Nesne"/>
          <p:cNvGraphicFramePr>
            <a:graphicFrameLocks noChangeAspect="1"/>
          </p:cNvGraphicFramePr>
          <p:nvPr/>
        </p:nvGraphicFramePr>
        <p:xfrm>
          <a:off x="4114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14400" imgH="215640" progId="Equation.3">
                  <p:embed/>
                </p:oleObj>
              </mc:Choice>
              <mc:Fallback>
                <p:oleObj name="Equation" r:id="rId8" imgW="9144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321050"/>
                        <a:ext cx="9144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4" name="Object 14"/>
          <p:cNvGraphicFramePr>
            <a:graphicFrameLocks noChangeAspect="1"/>
          </p:cNvGraphicFramePr>
          <p:nvPr/>
        </p:nvGraphicFramePr>
        <p:xfrm>
          <a:off x="1428750" y="1500188"/>
          <a:ext cx="2189163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015920" imgH="215640" progId="Equation.3">
                  <p:embed/>
                </p:oleObj>
              </mc:Choice>
              <mc:Fallback>
                <p:oleObj name="Equation" r:id="rId9" imgW="101592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0" y="1500188"/>
                        <a:ext cx="2189163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8" name="Object 18"/>
          <p:cNvGraphicFramePr>
            <a:graphicFrameLocks noChangeAspect="1"/>
          </p:cNvGraphicFramePr>
          <p:nvPr/>
        </p:nvGraphicFramePr>
        <p:xfrm>
          <a:off x="1428728" y="2214563"/>
          <a:ext cx="5364163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577960" imgH="393480" progId="Equation.3">
                  <p:embed/>
                </p:oleObj>
              </mc:Choice>
              <mc:Fallback>
                <p:oleObj name="Equation" r:id="rId11" imgW="25779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28" y="2214563"/>
                        <a:ext cx="5364163" cy="81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Freeform 13"/>
          <p:cNvSpPr/>
          <p:nvPr/>
        </p:nvSpPr>
        <p:spPr>
          <a:xfrm>
            <a:off x="4899378" y="2799644"/>
            <a:ext cx="259644" cy="666045"/>
          </a:xfrm>
          <a:custGeom>
            <a:avLst/>
            <a:gdLst>
              <a:gd name="connsiteX0" fmla="*/ 0 w 259644"/>
              <a:gd name="connsiteY0" fmla="*/ 0 h 666045"/>
              <a:gd name="connsiteX1" fmla="*/ 248355 w 259644"/>
              <a:gd name="connsiteY1" fmla="*/ 282223 h 666045"/>
              <a:gd name="connsiteX2" fmla="*/ 67733 w 259644"/>
              <a:gd name="connsiteY2" fmla="*/ 282223 h 666045"/>
              <a:gd name="connsiteX3" fmla="*/ 237066 w 259644"/>
              <a:gd name="connsiteY3" fmla="*/ 666045 h 666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644" h="666045">
                <a:moveTo>
                  <a:pt x="0" y="0"/>
                </a:moveTo>
                <a:cubicBezTo>
                  <a:pt x="118533" y="117593"/>
                  <a:pt x="237066" y="235186"/>
                  <a:pt x="248355" y="282223"/>
                </a:cubicBezTo>
                <a:cubicBezTo>
                  <a:pt x="259644" y="329260"/>
                  <a:pt x="69615" y="218253"/>
                  <a:pt x="67733" y="282223"/>
                </a:cubicBezTo>
                <a:cubicBezTo>
                  <a:pt x="65852" y="346193"/>
                  <a:pt x="151459" y="506119"/>
                  <a:pt x="237066" y="666045"/>
                </a:cubicBezTo>
              </a:path>
            </a:pathLst>
          </a:cu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6" name="TextBox 15"/>
          <p:cNvSpPr txBox="1"/>
          <p:nvPr/>
        </p:nvSpPr>
        <p:spPr>
          <a:xfrm>
            <a:off x="5000628" y="3500438"/>
            <a:ext cx="1913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Inverting amplifier</a:t>
            </a:r>
            <a:endParaRPr lang="tr-TR" dirty="0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E67AD-EE34-4E0A-BCCB-0D14F4380E44}" type="slidenum">
              <a:rPr lang="tr-TR" smtClean="0"/>
              <a:pPr/>
              <a:t>18</a:t>
            </a:fld>
            <a:endParaRPr lang="tr-TR" dirty="0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Ali Muhtaroglu</a:t>
            </a:r>
          </a:p>
        </p:txBody>
      </p:sp>
    </p:spTree>
    <p:extLst>
      <p:ext uri="{BB962C8B-B14F-4D97-AF65-F5344CB8AC3E}">
        <p14:creationId xmlns:p14="http://schemas.microsoft.com/office/powerpoint/2010/main" val="15466664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500034" y="142852"/>
            <a:ext cx="6715172" cy="642942"/>
          </a:xfrm>
        </p:spPr>
        <p:txBody>
          <a:bodyPr>
            <a:normAutofit/>
          </a:bodyPr>
          <a:lstStyle/>
          <a:p>
            <a:r>
              <a:rPr lang="tr-TR" sz="3600" dirty="0" err="1"/>
              <a:t>Inverting</a:t>
            </a:r>
            <a:r>
              <a:rPr lang="tr-TR" sz="3600" dirty="0"/>
              <a:t> </a:t>
            </a:r>
            <a:r>
              <a:rPr lang="tr-TR" sz="3600" dirty="0" err="1"/>
              <a:t>Amplifier</a:t>
            </a:r>
            <a:r>
              <a:rPr lang="tr-TR" sz="3600" dirty="0"/>
              <a:t> (</a:t>
            </a:r>
            <a:r>
              <a:rPr lang="tr-TR" sz="3600" dirty="0" err="1"/>
              <a:t>example</a:t>
            </a:r>
            <a:r>
              <a:rPr lang="tr-TR" sz="3600" dirty="0"/>
              <a:t>)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0" y="1071546"/>
            <a:ext cx="8658196" cy="542928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tr-TR" sz="2400" dirty="0"/>
              <a:t>	</a:t>
            </a:r>
            <a:r>
              <a:rPr lang="tr-TR" sz="2400" dirty="0" err="1"/>
              <a:t>Using</a:t>
            </a:r>
            <a:r>
              <a:rPr lang="tr-TR" sz="2400" dirty="0"/>
              <a:t> </a:t>
            </a:r>
            <a:r>
              <a:rPr lang="tr-TR" sz="2400" dirty="0" err="1"/>
              <a:t>values</a:t>
            </a:r>
            <a:r>
              <a:rPr lang="tr-TR" sz="2400" dirty="0"/>
              <a:t>:</a:t>
            </a:r>
          </a:p>
          <a:p>
            <a:pPr>
              <a:buNone/>
            </a:pPr>
            <a:r>
              <a:rPr lang="tr-TR" sz="2400" dirty="0"/>
              <a:t>				     </a:t>
            </a:r>
            <a:r>
              <a:rPr lang="tr-TR" sz="2300" i="1" dirty="0"/>
              <a:t>		</a:t>
            </a:r>
          </a:p>
          <a:p>
            <a:pPr>
              <a:buNone/>
            </a:pPr>
            <a:r>
              <a:rPr lang="tr-TR" sz="2300" i="1" dirty="0"/>
              <a:t>								</a:t>
            </a:r>
            <a:endParaRPr lang="tr-TR" sz="1000" i="1" dirty="0"/>
          </a:p>
          <a:p>
            <a:pPr>
              <a:buNone/>
            </a:pPr>
            <a:r>
              <a:rPr lang="tr-TR" sz="1000" i="1" dirty="0"/>
              <a:t>							                     </a:t>
            </a:r>
            <a:endParaRPr lang="tr-TR" sz="2300" i="1" dirty="0"/>
          </a:p>
          <a:p>
            <a:pPr>
              <a:buNone/>
            </a:pPr>
            <a:endParaRPr lang="tr-TR" sz="2300" i="1" dirty="0"/>
          </a:p>
          <a:p>
            <a:pPr>
              <a:buNone/>
            </a:pPr>
            <a:endParaRPr lang="tr-TR" sz="2300" i="1" dirty="0"/>
          </a:p>
          <a:p>
            <a:pPr>
              <a:buNone/>
            </a:pPr>
            <a:endParaRPr lang="tr-TR" sz="2300" i="1" dirty="0"/>
          </a:p>
          <a:p>
            <a:pPr>
              <a:buNone/>
            </a:pPr>
            <a:endParaRPr lang="tr-TR" sz="2300" i="1" dirty="0"/>
          </a:p>
          <a:p>
            <a:pPr>
              <a:buNone/>
            </a:pPr>
            <a:r>
              <a:rPr lang="en-US" sz="2300" i="1" dirty="0"/>
              <a:t>	</a:t>
            </a:r>
            <a:r>
              <a:rPr lang="tr-TR" sz="2400" dirty="0"/>
              <a:t>Note:</a:t>
            </a:r>
          </a:p>
          <a:p>
            <a:pPr>
              <a:buNone/>
            </a:pPr>
            <a:r>
              <a:rPr lang="tr-TR" sz="2200" dirty="0"/>
              <a:t>                   </a:t>
            </a:r>
            <a:r>
              <a:rPr lang="tr-TR" sz="2200" dirty="0" err="1"/>
              <a:t>If</a:t>
            </a:r>
            <a:r>
              <a:rPr lang="tr-TR" sz="2200" i="1" dirty="0"/>
              <a:t>      	          </a:t>
            </a:r>
            <a:r>
              <a:rPr lang="en-US" sz="2200" dirty="0"/>
              <a:t>, then get negative amplification of the input voltage</a:t>
            </a:r>
            <a:endParaRPr lang="tr-TR" sz="2200" dirty="0"/>
          </a:p>
          <a:p>
            <a:pPr>
              <a:buNone/>
            </a:pPr>
            <a:r>
              <a:rPr lang="tr-TR" sz="2200" i="1" dirty="0"/>
              <a:t>		     </a:t>
            </a:r>
            <a:r>
              <a:rPr lang="tr-TR" sz="2200" dirty="0" err="1"/>
              <a:t>If</a:t>
            </a:r>
            <a:r>
              <a:rPr lang="tr-TR" sz="2200" dirty="0"/>
              <a:t>	          </a:t>
            </a:r>
            <a:r>
              <a:rPr lang="en-US" sz="2200" dirty="0"/>
              <a:t>, then get attenuation of the input voltage</a:t>
            </a:r>
            <a:endParaRPr lang="tr-TR" sz="2200" i="1" dirty="0"/>
          </a:p>
        </p:txBody>
      </p:sp>
      <p:graphicFrame>
        <p:nvGraphicFramePr>
          <p:cNvPr id="30725" name="Object 5"/>
          <p:cNvGraphicFramePr>
            <a:graphicFrameLocks noChangeAspect="1"/>
          </p:cNvGraphicFramePr>
          <p:nvPr/>
        </p:nvGraphicFramePr>
        <p:xfrm>
          <a:off x="4214810" y="1500174"/>
          <a:ext cx="1643074" cy="4286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49160" imgH="215640" progId="Equation.3">
                  <p:embed/>
                </p:oleObj>
              </mc:Choice>
              <mc:Fallback>
                <p:oleObj name="Equation" r:id="rId2" imgW="7491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4810" y="1500174"/>
                        <a:ext cx="1643074" cy="4286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7" name="Object 7"/>
          <p:cNvGraphicFramePr>
            <a:graphicFrameLocks noChangeAspect="1"/>
          </p:cNvGraphicFramePr>
          <p:nvPr/>
        </p:nvGraphicFramePr>
        <p:xfrm>
          <a:off x="6143636" y="1500174"/>
          <a:ext cx="1571636" cy="4302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23600" imgH="215640" progId="Equation.3">
                  <p:embed/>
                </p:oleObj>
              </mc:Choice>
              <mc:Fallback>
                <p:oleObj name="Equation" r:id="rId4" imgW="7236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3636" y="1500174"/>
                        <a:ext cx="1571636" cy="4302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12 Nesne"/>
          <p:cNvGraphicFramePr>
            <a:graphicFrameLocks noChangeAspect="1"/>
          </p:cNvGraphicFramePr>
          <p:nvPr/>
        </p:nvGraphicFramePr>
        <p:xfrm>
          <a:off x="4114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14400" imgH="215640" progId="Equation.3">
                  <p:embed/>
                </p:oleObj>
              </mc:Choice>
              <mc:Fallback>
                <p:oleObj name="Equation" r:id="rId6" imgW="9144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321050"/>
                        <a:ext cx="9144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0" name="Object 10"/>
          <p:cNvGraphicFramePr>
            <a:graphicFrameLocks noChangeAspect="1"/>
          </p:cNvGraphicFramePr>
          <p:nvPr/>
        </p:nvGraphicFramePr>
        <p:xfrm>
          <a:off x="1571604" y="4714884"/>
          <a:ext cx="857256" cy="3587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20560" imgH="215640" progId="Equation.3">
                  <p:embed/>
                </p:oleObj>
              </mc:Choice>
              <mc:Fallback>
                <p:oleObj name="Equation" r:id="rId8" imgW="5205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604" y="4714884"/>
                        <a:ext cx="857256" cy="3587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14 Nesne"/>
          <p:cNvGraphicFramePr>
            <a:graphicFrameLocks noChangeAspect="1"/>
          </p:cNvGraphicFramePr>
          <p:nvPr/>
        </p:nvGraphicFramePr>
        <p:xfrm>
          <a:off x="4114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14400" imgH="215640" progId="Equation.3">
                  <p:embed/>
                </p:oleObj>
              </mc:Choice>
              <mc:Fallback>
                <p:oleObj name="Equation" r:id="rId10" imgW="9144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321050"/>
                        <a:ext cx="9144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2" name="Object 12"/>
          <p:cNvGraphicFramePr>
            <a:graphicFrameLocks noChangeAspect="1"/>
          </p:cNvGraphicFramePr>
          <p:nvPr/>
        </p:nvGraphicFramePr>
        <p:xfrm>
          <a:off x="1571604" y="5072074"/>
          <a:ext cx="785818" cy="3587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520560" imgH="215640" progId="Equation.3">
                  <p:embed/>
                </p:oleObj>
              </mc:Choice>
              <mc:Fallback>
                <p:oleObj name="Equation" r:id="rId11" imgW="5205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604" y="5072074"/>
                        <a:ext cx="785818" cy="3587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4" name="Object 14"/>
          <p:cNvGraphicFramePr>
            <a:graphicFrameLocks noChangeAspect="1"/>
          </p:cNvGraphicFramePr>
          <p:nvPr/>
        </p:nvGraphicFramePr>
        <p:xfrm>
          <a:off x="1428750" y="1500188"/>
          <a:ext cx="2189163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015920" imgH="215640" progId="Equation.3">
                  <p:embed/>
                </p:oleObj>
              </mc:Choice>
              <mc:Fallback>
                <p:oleObj name="Equation" r:id="rId13" imgW="101592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0" y="1500188"/>
                        <a:ext cx="2189163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8" name="Object 18"/>
          <p:cNvGraphicFramePr>
            <a:graphicFrameLocks noChangeAspect="1"/>
          </p:cNvGraphicFramePr>
          <p:nvPr/>
        </p:nvGraphicFramePr>
        <p:xfrm>
          <a:off x="1428728" y="2214563"/>
          <a:ext cx="5364163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577960" imgH="393480" progId="Equation.3">
                  <p:embed/>
                </p:oleObj>
              </mc:Choice>
              <mc:Fallback>
                <p:oleObj name="Equation" r:id="rId15" imgW="25779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28" y="2214563"/>
                        <a:ext cx="5364163" cy="81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Freeform 13"/>
          <p:cNvSpPr/>
          <p:nvPr/>
        </p:nvSpPr>
        <p:spPr>
          <a:xfrm>
            <a:off x="4899378" y="2799644"/>
            <a:ext cx="259644" cy="666045"/>
          </a:xfrm>
          <a:custGeom>
            <a:avLst/>
            <a:gdLst>
              <a:gd name="connsiteX0" fmla="*/ 0 w 259644"/>
              <a:gd name="connsiteY0" fmla="*/ 0 h 666045"/>
              <a:gd name="connsiteX1" fmla="*/ 248355 w 259644"/>
              <a:gd name="connsiteY1" fmla="*/ 282223 h 666045"/>
              <a:gd name="connsiteX2" fmla="*/ 67733 w 259644"/>
              <a:gd name="connsiteY2" fmla="*/ 282223 h 666045"/>
              <a:gd name="connsiteX3" fmla="*/ 237066 w 259644"/>
              <a:gd name="connsiteY3" fmla="*/ 666045 h 666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644" h="666045">
                <a:moveTo>
                  <a:pt x="0" y="0"/>
                </a:moveTo>
                <a:cubicBezTo>
                  <a:pt x="118533" y="117593"/>
                  <a:pt x="237066" y="235186"/>
                  <a:pt x="248355" y="282223"/>
                </a:cubicBezTo>
                <a:cubicBezTo>
                  <a:pt x="259644" y="329260"/>
                  <a:pt x="69615" y="218253"/>
                  <a:pt x="67733" y="282223"/>
                </a:cubicBezTo>
                <a:cubicBezTo>
                  <a:pt x="65852" y="346193"/>
                  <a:pt x="151459" y="506119"/>
                  <a:pt x="237066" y="666045"/>
                </a:cubicBezTo>
              </a:path>
            </a:pathLst>
          </a:cu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6" name="TextBox 15"/>
          <p:cNvSpPr txBox="1"/>
          <p:nvPr/>
        </p:nvSpPr>
        <p:spPr>
          <a:xfrm>
            <a:off x="5000628" y="3500438"/>
            <a:ext cx="1913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Inverting amplifier</a:t>
            </a:r>
            <a:endParaRPr lang="tr-TR" dirty="0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E67AD-EE34-4E0A-BCCB-0D14F4380E44}" type="slidenum">
              <a:rPr lang="tr-TR" smtClean="0"/>
              <a:pPr/>
              <a:t>19</a:t>
            </a:fld>
            <a:endParaRPr lang="tr-TR" dirty="0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Ali Muhtaroglu</a:t>
            </a:r>
          </a:p>
        </p:txBody>
      </p:sp>
    </p:spTree>
    <p:extLst>
      <p:ext uri="{BB962C8B-B14F-4D97-AF65-F5344CB8AC3E}">
        <p14:creationId xmlns:p14="http://schemas.microsoft.com/office/powerpoint/2010/main" val="16477813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500034" y="142852"/>
            <a:ext cx="6572296" cy="642942"/>
          </a:xfrm>
        </p:spPr>
        <p:txBody>
          <a:bodyPr>
            <a:normAutofit/>
          </a:bodyPr>
          <a:lstStyle/>
          <a:p>
            <a:r>
              <a:rPr lang="tr-TR" sz="3600" dirty="0" err="1"/>
              <a:t>Noninverting</a:t>
            </a:r>
            <a:r>
              <a:rPr lang="tr-TR" sz="3600" dirty="0"/>
              <a:t> </a:t>
            </a:r>
            <a:r>
              <a:rPr lang="tr-TR" sz="3600" dirty="0" err="1"/>
              <a:t>Amplifier</a:t>
            </a:r>
            <a:endParaRPr lang="tr-TR" sz="3600" dirty="0"/>
          </a:p>
        </p:txBody>
      </p:sp>
      <p:pic>
        <p:nvPicPr>
          <p:cNvPr id="32780" name="Picture 1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785794"/>
            <a:ext cx="2571768" cy="2714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E67AD-EE34-4E0A-BCCB-0D14F4380E44}" type="slidenum">
              <a:rPr lang="tr-TR" smtClean="0"/>
              <a:pPr/>
              <a:t>20</a:t>
            </a:fld>
            <a:endParaRPr lang="tr-TR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Ali Muhtaroglu</a:t>
            </a:r>
          </a:p>
        </p:txBody>
      </p:sp>
    </p:spTree>
    <p:extLst>
      <p:ext uri="{BB962C8B-B14F-4D97-AF65-F5344CB8AC3E}">
        <p14:creationId xmlns:p14="http://schemas.microsoft.com/office/powerpoint/2010/main" val="31345837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500034" y="142852"/>
            <a:ext cx="6572296" cy="642942"/>
          </a:xfrm>
        </p:spPr>
        <p:txBody>
          <a:bodyPr>
            <a:normAutofit/>
          </a:bodyPr>
          <a:lstStyle/>
          <a:p>
            <a:r>
              <a:rPr lang="tr-TR" sz="3600" dirty="0" err="1"/>
              <a:t>Noninverting</a:t>
            </a:r>
            <a:r>
              <a:rPr lang="tr-TR" sz="3600" dirty="0"/>
              <a:t> </a:t>
            </a:r>
            <a:r>
              <a:rPr lang="tr-TR" sz="3600" dirty="0" err="1"/>
              <a:t>Amplifier</a:t>
            </a:r>
            <a:endParaRPr lang="tr-TR" sz="3600" dirty="0"/>
          </a:p>
        </p:txBody>
      </p:sp>
      <p:sp>
        <p:nvSpPr>
          <p:cNvPr id="6" name="5 Dikdörtgen"/>
          <p:cNvSpPr/>
          <p:nvPr/>
        </p:nvSpPr>
        <p:spPr>
          <a:xfrm>
            <a:off x="3957520" y="1214422"/>
            <a:ext cx="497216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 err="1">
                <a:latin typeface="+mn-lt"/>
              </a:rPr>
              <a:t>Using</a:t>
            </a:r>
            <a:r>
              <a:rPr lang="tr-TR" dirty="0">
                <a:latin typeface="+mn-lt"/>
              </a:rPr>
              <a:t> </a:t>
            </a:r>
            <a:r>
              <a:rPr lang="tr-TR" dirty="0" err="1">
                <a:latin typeface="+mn-lt"/>
              </a:rPr>
              <a:t>nodal</a:t>
            </a:r>
            <a:r>
              <a:rPr lang="tr-TR" dirty="0">
                <a:latin typeface="+mn-lt"/>
              </a:rPr>
              <a:t> </a:t>
            </a:r>
            <a:r>
              <a:rPr lang="tr-TR" dirty="0" err="1">
                <a:latin typeface="+mn-lt"/>
              </a:rPr>
              <a:t>analysis</a:t>
            </a:r>
            <a:r>
              <a:rPr lang="tr-TR" dirty="0">
                <a:latin typeface="+mn-lt"/>
              </a:rPr>
              <a:t> </a:t>
            </a:r>
            <a:r>
              <a:rPr lang="tr-TR" dirty="0" err="1">
                <a:latin typeface="+mn-lt"/>
              </a:rPr>
              <a:t>again</a:t>
            </a:r>
            <a:r>
              <a:rPr lang="tr-TR" dirty="0">
                <a:latin typeface="+mn-lt"/>
              </a:rPr>
              <a:t>:</a:t>
            </a:r>
          </a:p>
          <a:p>
            <a:r>
              <a:rPr lang="en-US" dirty="0">
                <a:latin typeface="+mn-lt"/>
              </a:rPr>
              <a:t>Rule 1: No current flows into the inputs of the</a:t>
            </a:r>
          </a:p>
          <a:p>
            <a:r>
              <a:rPr lang="tr-TR" dirty="0">
                <a:latin typeface="+mn-lt"/>
              </a:rPr>
              <a:t>Op-</a:t>
            </a:r>
            <a:r>
              <a:rPr lang="tr-TR" dirty="0" err="1">
                <a:latin typeface="+mn-lt"/>
              </a:rPr>
              <a:t>amp</a:t>
            </a:r>
            <a:r>
              <a:rPr lang="tr-TR" dirty="0">
                <a:latin typeface="+mn-lt"/>
              </a:rPr>
              <a:t>.</a:t>
            </a:r>
          </a:p>
          <a:p>
            <a:r>
              <a:rPr lang="en-US" dirty="0">
                <a:latin typeface="+mn-lt"/>
              </a:rPr>
              <a:t>Therefore writing KCL equations at node</a:t>
            </a:r>
            <a:r>
              <a:rPr lang="tr-TR" dirty="0">
                <a:latin typeface="+mn-lt"/>
              </a:rPr>
              <a:t>       :</a:t>
            </a:r>
          </a:p>
        </p:txBody>
      </p:sp>
      <p:graphicFrame>
        <p:nvGraphicFramePr>
          <p:cNvPr id="3277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0480648"/>
              </p:ext>
            </p:extLst>
          </p:nvPr>
        </p:nvGraphicFramePr>
        <p:xfrm>
          <a:off x="7836425" y="2054457"/>
          <a:ext cx="309564" cy="3508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0440" imgH="215640" progId="Equation.3">
                  <p:embed/>
                </p:oleObj>
              </mc:Choice>
              <mc:Fallback>
                <p:oleObj name="Equation" r:id="rId2" imgW="19044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36425" y="2054457"/>
                        <a:ext cx="309564" cy="3508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7903982"/>
              </p:ext>
            </p:extLst>
          </p:nvPr>
        </p:nvGraphicFramePr>
        <p:xfrm>
          <a:off x="4994455" y="2524272"/>
          <a:ext cx="2428892" cy="8096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33440" imgH="444240" progId="Equation.3">
                  <p:embed/>
                </p:oleObj>
              </mc:Choice>
              <mc:Fallback>
                <p:oleObj name="Equation" r:id="rId4" imgW="133344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4455" y="2524272"/>
                        <a:ext cx="2428892" cy="8096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14 Dikdörtgen"/>
          <p:cNvSpPr/>
          <p:nvPr/>
        </p:nvSpPr>
        <p:spPr>
          <a:xfrm>
            <a:off x="214282" y="3571876"/>
            <a:ext cx="65722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+mn-lt"/>
              </a:rPr>
              <a:t>Rule 2: The input </a:t>
            </a:r>
            <a:r>
              <a:rPr lang="en-US" dirty="0" err="1">
                <a:latin typeface="+mn-lt"/>
              </a:rPr>
              <a:t>volages</a:t>
            </a:r>
            <a:r>
              <a:rPr lang="en-US" dirty="0">
                <a:latin typeface="+mn-lt"/>
              </a:rPr>
              <a:t> are ~the same for the Op-amp</a:t>
            </a:r>
            <a:endParaRPr lang="tr-TR" dirty="0">
              <a:latin typeface="+mn-lt"/>
            </a:endParaRPr>
          </a:p>
          <a:p>
            <a:r>
              <a:rPr lang="tr-TR" dirty="0" err="1">
                <a:latin typeface="+mn-lt"/>
              </a:rPr>
              <a:t>So</a:t>
            </a:r>
            <a:r>
              <a:rPr lang="tr-TR" dirty="0">
                <a:latin typeface="+mn-lt"/>
              </a:rPr>
              <a:t>;  </a:t>
            </a:r>
          </a:p>
        </p:txBody>
      </p:sp>
      <p:graphicFrame>
        <p:nvGraphicFramePr>
          <p:cNvPr id="32776" name="Object 8"/>
          <p:cNvGraphicFramePr>
            <a:graphicFrameLocks noChangeAspect="1"/>
          </p:cNvGraphicFramePr>
          <p:nvPr/>
        </p:nvGraphicFramePr>
        <p:xfrm>
          <a:off x="928662" y="3857628"/>
          <a:ext cx="1505332" cy="3937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25480" imgH="215640" progId="Equation.3">
                  <p:embed/>
                </p:oleObj>
              </mc:Choice>
              <mc:Fallback>
                <p:oleObj name="Equation" r:id="rId6" imgW="8254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62" y="3857628"/>
                        <a:ext cx="1505332" cy="3937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17 Dikdörtgen"/>
          <p:cNvSpPr/>
          <p:nvPr/>
        </p:nvSpPr>
        <p:spPr>
          <a:xfrm>
            <a:off x="214282" y="4286256"/>
            <a:ext cx="36942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n-lt"/>
              </a:rPr>
              <a:t>Therefore, the equation (1) becomes:</a:t>
            </a:r>
            <a:endParaRPr lang="tr-TR" dirty="0">
              <a:latin typeface="+mn-lt"/>
            </a:endParaRPr>
          </a:p>
        </p:txBody>
      </p:sp>
      <p:graphicFrame>
        <p:nvGraphicFramePr>
          <p:cNvPr id="3277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6895386"/>
              </p:ext>
            </p:extLst>
          </p:nvPr>
        </p:nvGraphicFramePr>
        <p:xfrm>
          <a:off x="1998865" y="4690514"/>
          <a:ext cx="2125900" cy="865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91880" imgH="444240" progId="Equation.3">
                  <p:embed/>
                </p:oleObj>
              </mc:Choice>
              <mc:Fallback>
                <p:oleObj name="Equation" r:id="rId8" imgW="109188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8865" y="4690514"/>
                        <a:ext cx="2125900" cy="8651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8" name="Object 10"/>
          <p:cNvGraphicFramePr>
            <a:graphicFrameLocks noChangeAspect="1"/>
          </p:cNvGraphicFramePr>
          <p:nvPr/>
        </p:nvGraphicFramePr>
        <p:xfrm>
          <a:off x="1714480" y="5500702"/>
          <a:ext cx="2012170" cy="9286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90360" imgH="457200" progId="Equation.3">
                  <p:embed/>
                </p:oleObj>
              </mc:Choice>
              <mc:Fallback>
                <p:oleObj name="Equation" r:id="rId10" imgW="99036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480" y="5500702"/>
                        <a:ext cx="2012170" cy="9286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20 Dikdörtgen"/>
          <p:cNvSpPr/>
          <p:nvPr/>
        </p:nvSpPr>
        <p:spPr>
          <a:xfrm>
            <a:off x="3857620" y="5715016"/>
            <a:ext cx="307183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>
                <a:latin typeface="+mn-lt"/>
              </a:rPr>
              <a:t>: </a:t>
            </a:r>
            <a:r>
              <a:rPr lang="tr-TR" dirty="0" err="1">
                <a:latin typeface="+mn-lt"/>
              </a:rPr>
              <a:t>Noninverting</a:t>
            </a:r>
            <a:r>
              <a:rPr lang="tr-TR" dirty="0">
                <a:latin typeface="+mn-lt"/>
              </a:rPr>
              <a:t> </a:t>
            </a:r>
            <a:r>
              <a:rPr lang="tr-TR" dirty="0" err="1">
                <a:latin typeface="+mn-lt"/>
              </a:rPr>
              <a:t>Amplifier</a:t>
            </a:r>
            <a:r>
              <a:rPr lang="tr-TR" dirty="0">
                <a:latin typeface="+mn-lt"/>
              </a:rPr>
              <a:t> </a:t>
            </a:r>
            <a:r>
              <a:rPr lang="tr-TR" dirty="0" err="1">
                <a:latin typeface="+mn-lt"/>
              </a:rPr>
              <a:t>Gain</a:t>
            </a:r>
            <a:endParaRPr lang="tr-TR" dirty="0">
              <a:latin typeface="+mn-lt"/>
            </a:endParaRPr>
          </a:p>
        </p:txBody>
      </p:sp>
      <p:pic>
        <p:nvPicPr>
          <p:cNvPr id="32780" name="Picture 12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642910" y="785794"/>
            <a:ext cx="2571768" cy="2714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E67AD-EE34-4E0A-BCCB-0D14F4380E44}" type="slidenum">
              <a:rPr lang="tr-TR" smtClean="0"/>
              <a:pPr/>
              <a:t>21</a:t>
            </a:fld>
            <a:endParaRPr lang="tr-TR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Ali Muhtaroglu</a:t>
            </a:r>
          </a:p>
        </p:txBody>
      </p:sp>
    </p:spTree>
    <p:extLst>
      <p:ext uri="{BB962C8B-B14F-4D97-AF65-F5344CB8AC3E}">
        <p14:creationId xmlns:p14="http://schemas.microsoft.com/office/powerpoint/2010/main" val="13497429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500034" y="142852"/>
            <a:ext cx="6357982" cy="642942"/>
          </a:xfrm>
        </p:spPr>
        <p:txBody>
          <a:bodyPr>
            <a:normAutofit/>
          </a:bodyPr>
          <a:lstStyle/>
          <a:p>
            <a:r>
              <a:rPr lang="tr-TR" sz="3600" dirty="0" err="1"/>
              <a:t>Noninverting</a:t>
            </a:r>
            <a:r>
              <a:rPr lang="tr-TR" sz="3600" dirty="0"/>
              <a:t> </a:t>
            </a:r>
            <a:r>
              <a:rPr lang="tr-TR" sz="3600" dirty="0" err="1"/>
              <a:t>Amplifier</a:t>
            </a:r>
            <a:r>
              <a:rPr lang="tr-TR" sz="3600" dirty="0"/>
              <a:t>(</a:t>
            </a:r>
            <a:r>
              <a:rPr lang="tr-TR" sz="3600" dirty="0" err="1"/>
              <a:t>Example</a:t>
            </a:r>
            <a:r>
              <a:rPr lang="tr-TR" sz="3600" dirty="0"/>
              <a:t>)</a:t>
            </a:r>
          </a:p>
        </p:txBody>
      </p:sp>
      <p:graphicFrame>
        <p:nvGraphicFramePr>
          <p:cNvPr id="33795" name="Object 3"/>
          <p:cNvGraphicFramePr>
            <a:graphicFrameLocks noChangeAspect="1"/>
          </p:cNvGraphicFramePr>
          <p:nvPr/>
        </p:nvGraphicFramePr>
        <p:xfrm>
          <a:off x="4071938" y="1500188"/>
          <a:ext cx="1643062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49160" imgH="215640" progId="Equation.3">
                  <p:embed/>
                </p:oleObj>
              </mc:Choice>
              <mc:Fallback>
                <p:oleObj name="Equation" r:id="rId2" imgW="7491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1938" y="1500188"/>
                        <a:ext cx="1643062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6" name="Object 4"/>
          <p:cNvGraphicFramePr>
            <a:graphicFrameLocks noChangeAspect="1"/>
          </p:cNvGraphicFramePr>
          <p:nvPr/>
        </p:nvGraphicFramePr>
        <p:xfrm>
          <a:off x="6143625" y="1500188"/>
          <a:ext cx="1571625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23600" imgH="215640" progId="Equation.3">
                  <p:embed/>
                </p:oleObj>
              </mc:Choice>
              <mc:Fallback>
                <p:oleObj name="Equation" r:id="rId4" imgW="7236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3625" y="1500188"/>
                        <a:ext cx="1571625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7" name="Object 5"/>
          <p:cNvGraphicFramePr>
            <a:graphicFrameLocks noChangeAspect="1"/>
          </p:cNvGraphicFramePr>
          <p:nvPr/>
        </p:nvGraphicFramePr>
        <p:xfrm>
          <a:off x="1428728" y="2214554"/>
          <a:ext cx="5786479" cy="8983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81000" imgH="431640" progId="Equation.3">
                  <p:embed/>
                </p:oleObj>
              </mc:Choice>
              <mc:Fallback>
                <p:oleObj name="Equation" r:id="rId6" imgW="27810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28" y="2214554"/>
                        <a:ext cx="5786479" cy="8983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8" name="Object 6"/>
          <p:cNvGraphicFramePr>
            <a:graphicFrameLocks noChangeAspect="1"/>
          </p:cNvGraphicFramePr>
          <p:nvPr/>
        </p:nvGraphicFramePr>
        <p:xfrm>
          <a:off x="1428728" y="1500174"/>
          <a:ext cx="2188894" cy="465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15920" imgH="215640" progId="Equation.3">
                  <p:embed/>
                </p:oleObj>
              </mc:Choice>
              <mc:Fallback>
                <p:oleObj name="Equation" r:id="rId8" imgW="101592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28" y="1500174"/>
                        <a:ext cx="2188894" cy="4651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Freeform 8"/>
          <p:cNvSpPr/>
          <p:nvPr/>
        </p:nvSpPr>
        <p:spPr>
          <a:xfrm>
            <a:off x="5357818" y="2857496"/>
            <a:ext cx="259644" cy="666045"/>
          </a:xfrm>
          <a:custGeom>
            <a:avLst/>
            <a:gdLst>
              <a:gd name="connsiteX0" fmla="*/ 0 w 259644"/>
              <a:gd name="connsiteY0" fmla="*/ 0 h 666045"/>
              <a:gd name="connsiteX1" fmla="*/ 248355 w 259644"/>
              <a:gd name="connsiteY1" fmla="*/ 282223 h 666045"/>
              <a:gd name="connsiteX2" fmla="*/ 67733 w 259644"/>
              <a:gd name="connsiteY2" fmla="*/ 282223 h 666045"/>
              <a:gd name="connsiteX3" fmla="*/ 237066 w 259644"/>
              <a:gd name="connsiteY3" fmla="*/ 666045 h 666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644" h="666045">
                <a:moveTo>
                  <a:pt x="0" y="0"/>
                </a:moveTo>
                <a:cubicBezTo>
                  <a:pt x="118533" y="117593"/>
                  <a:pt x="237066" y="235186"/>
                  <a:pt x="248355" y="282223"/>
                </a:cubicBezTo>
                <a:cubicBezTo>
                  <a:pt x="259644" y="329260"/>
                  <a:pt x="69615" y="218253"/>
                  <a:pt x="67733" y="282223"/>
                </a:cubicBezTo>
                <a:cubicBezTo>
                  <a:pt x="65852" y="346193"/>
                  <a:pt x="151459" y="506119"/>
                  <a:pt x="237066" y="666045"/>
                </a:cubicBezTo>
              </a:path>
            </a:pathLst>
          </a:cu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0" name="TextBox 9"/>
          <p:cNvSpPr txBox="1"/>
          <p:nvPr/>
        </p:nvSpPr>
        <p:spPr>
          <a:xfrm>
            <a:off x="5459068" y="3558290"/>
            <a:ext cx="2300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Noninverting</a:t>
            </a:r>
            <a:r>
              <a:rPr lang="en-US" dirty="0"/>
              <a:t> amplifier</a:t>
            </a:r>
            <a:endParaRPr lang="tr-TR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E67AD-EE34-4E0A-BCCB-0D14F4380E44}" type="slidenum">
              <a:rPr lang="tr-TR" smtClean="0"/>
              <a:pPr/>
              <a:t>22</a:t>
            </a:fld>
            <a:endParaRPr lang="tr-TR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Ali Muhtaroglu</a:t>
            </a:r>
          </a:p>
        </p:txBody>
      </p:sp>
    </p:spTree>
    <p:extLst>
      <p:ext uri="{BB962C8B-B14F-4D97-AF65-F5344CB8AC3E}">
        <p14:creationId xmlns:p14="http://schemas.microsoft.com/office/powerpoint/2010/main" val="8307498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500034" y="142852"/>
            <a:ext cx="6858048" cy="642942"/>
          </a:xfrm>
        </p:spPr>
        <p:txBody>
          <a:bodyPr>
            <a:normAutofit/>
          </a:bodyPr>
          <a:lstStyle/>
          <a:p>
            <a:r>
              <a:rPr lang="tr-TR" sz="3600" dirty="0" err="1"/>
              <a:t>Difference</a:t>
            </a:r>
            <a:r>
              <a:rPr lang="tr-TR" sz="3600" dirty="0"/>
              <a:t> </a:t>
            </a:r>
            <a:r>
              <a:rPr lang="tr-TR" sz="3600" dirty="0" err="1"/>
              <a:t>Amplifier</a:t>
            </a:r>
            <a:endParaRPr lang="tr-TR" sz="3600" dirty="0"/>
          </a:p>
        </p:txBody>
      </p:sp>
      <p:pic>
        <p:nvPicPr>
          <p:cNvPr id="3" name="Picture 1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5" y="1142984"/>
            <a:ext cx="4002939" cy="24288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E67AD-EE34-4E0A-BCCB-0D14F4380E44}" type="slidenum">
              <a:rPr lang="tr-TR" smtClean="0"/>
              <a:pPr/>
              <a:t>23</a:t>
            </a:fld>
            <a:endParaRPr lang="tr-TR" dirty="0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Ali Muhtaroglu</a:t>
            </a:r>
          </a:p>
        </p:txBody>
      </p:sp>
    </p:spTree>
    <p:extLst>
      <p:ext uri="{BB962C8B-B14F-4D97-AF65-F5344CB8AC3E}">
        <p14:creationId xmlns:p14="http://schemas.microsoft.com/office/powerpoint/2010/main" val="35326944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500034" y="142852"/>
            <a:ext cx="6858048" cy="642942"/>
          </a:xfrm>
        </p:spPr>
        <p:txBody>
          <a:bodyPr>
            <a:normAutofit/>
          </a:bodyPr>
          <a:lstStyle/>
          <a:p>
            <a:r>
              <a:rPr lang="tr-TR" sz="3600" dirty="0" err="1"/>
              <a:t>Difference</a:t>
            </a:r>
            <a:r>
              <a:rPr lang="tr-TR" sz="3600" dirty="0"/>
              <a:t> </a:t>
            </a:r>
            <a:r>
              <a:rPr lang="tr-TR" sz="3600" dirty="0" err="1"/>
              <a:t>Amplifier</a:t>
            </a:r>
            <a:endParaRPr lang="tr-TR" sz="3600" dirty="0"/>
          </a:p>
        </p:txBody>
      </p:sp>
      <p:sp>
        <p:nvSpPr>
          <p:cNvPr id="8" name="7 Dikdörtgen"/>
          <p:cNvSpPr/>
          <p:nvPr/>
        </p:nvSpPr>
        <p:spPr>
          <a:xfrm>
            <a:off x="4643438" y="1500174"/>
            <a:ext cx="2661754" cy="4462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300" dirty="0" err="1">
                <a:latin typeface="+mn-lt"/>
              </a:rPr>
              <a:t>Using</a:t>
            </a:r>
            <a:r>
              <a:rPr lang="tr-TR" sz="2300" dirty="0">
                <a:latin typeface="+mn-lt"/>
              </a:rPr>
              <a:t> </a:t>
            </a:r>
            <a:r>
              <a:rPr lang="tr-TR" sz="2300" dirty="0" err="1">
                <a:latin typeface="+mn-lt"/>
              </a:rPr>
              <a:t>nodal</a:t>
            </a:r>
            <a:r>
              <a:rPr lang="tr-TR" sz="2300" dirty="0">
                <a:latin typeface="+mn-lt"/>
              </a:rPr>
              <a:t> </a:t>
            </a:r>
            <a:r>
              <a:rPr lang="tr-TR" sz="2300" dirty="0" err="1">
                <a:latin typeface="+mn-lt"/>
              </a:rPr>
              <a:t>analysis</a:t>
            </a:r>
            <a:r>
              <a:rPr lang="tr-TR" sz="2300" dirty="0">
                <a:latin typeface="+mn-lt"/>
              </a:rPr>
              <a:t> </a:t>
            </a:r>
          </a:p>
        </p:txBody>
      </p:sp>
      <p:sp>
        <p:nvSpPr>
          <p:cNvPr id="9" name="8 Dikdörtgen"/>
          <p:cNvSpPr/>
          <p:nvPr/>
        </p:nvSpPr>
        <p:spPr>
          <a:xfrm>
            <a:off x="4643438" y="2000240"/>
            <a:ext cx="4354334" cy="4462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300" dirty="0">
                <a:latin typeface="+mn-lt"/>
              </a:rPr>
              <a:t>W</a:t>
            </a:r>
            <a:r>
              <a:rPr lang="en-US" sz="2300" dirty="0" err="1">
                <a:latin typeface="+mn-lt"/>
              </a:rPr>
              <a:t>riting</a:t>
            </a:r>
            <a:r>
              <a:rPr lang="en-US" sz="2300" dirty="0">
                <a:latin typeface="+mn-lt"/>
              </a:rPr>
              <a:t> KCL equations at node</a:t>
            </a:r>
            <a:r>
              <a:rPr lang="tr-TR" sz="2300" dirty="0">
                <a:latin typeface="+mn-lt"/>
              </a:rPr>
              <a:t>       :</a:t>
            </a:r>
          </a:p>
        </p:txBody>
      </p:sp>
      <p:graphicFrame>
        <p:nvGraphicFramePr>
          <p:cNvPr id="348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2576276"/>
              </p:ext>
            </p:extLst>
          </p:nvPr>
        </p:nvGraphicFramePr>
        <p:xfrm>
          <a:off x="8448583" y="2047959"/>
          <a:ext cx="309562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0440" imgH="215640" progId="Equation.3">
                  <p:embed/>
                </p:oleObj>
              </mc:Choice>
              <mc:Fallback>
                <p:oleObj name="Equation" r:id="rId2" imgW="19044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8583" y="2047959"/>
                        <a:ext cx="309562" cy="35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5234828"/>
              </p:ext>
            </p:extLst>
          </p:nvPr>
        </p:nvGraphicFramePr>
        <p:xfrm>
          <a:off x="4714876" y="2428868"/>
          <a:ext cx="2549538" cy="7250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84200" imgH="393480" progId="Equation.3">
                  <p:embed/>
                </p:oleObj>
              </mc:Choice>
              <mc:Fallback>
                <p:oleObj name="Equation" r:id="rId4" imgW="13842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4876" y="2428868"/>
                        <a:ext cx="2549538" cy="7250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4341462"/>
              </p:ext>
            </p:extLst>
          </p:nvPr>
        </p:nvGraphicFramePr>
        <p:xfrm>
          <a:off x="4714876" y="3143248"/>
          <a:ext cx="2742297" cy="71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11280" imgH="393480" progId="Equation.3">
                  <p:embed/>
                </p:oleObj>
              </mc:Choice>
              <mc:Fallback>
                <p:oleObj name="Equation" r:id="rId6" imgW="15112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4876" y="3143248"/>
                        <a:ext cx="2742297" cy="7143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16 Dikdörtgen"/>
          <p:cNvSpPr/>
          <p:nvPr/>
        </p:nvSpPr>
        <p:spPr>
          <a:xfrm>
            <a:off x="214282" y="3929066"/>
            <a:ext cx="4354334" cy="4462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300" dirty="0">
                <a:latin typeface="+mn-lt"/>
              </a:rPr>
              <a:t>W</a:t>
            </a:r>
            <a:r>
              <a:rPr lang="en-US" sz="2300" dirty="0" err="1">
                <a:latin typeface="+mn-lt"/>
              </a:rPr>
              <a:t>riting</a:t>
            </a:r>
            <a:r>
              <a:rPr lang="en-US" sz="2300" dirty="0">
                <a:latin typeface="+mn-lt"/>
              </a:rPr>
              <a:t> KCL equations at node</a:t>
            </a:r>
            <a:r>
              <a:rPr lang="tr-TR" sz="2300" dirty="0">
                <a:latin typeface="+mn-lt"/>
              </a:rPr>
              <a:t>       :</a:t>
            </a:r>
          </a:p>
        </p:txBody>
      </p:sp>
      <p:graphicFrame>
        <p:nvGraphicFramePr>
          <p:cNvPr id="3482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9055107"/>
              </p:ext>
            </p:extLst>
          </p:nvPr>
        </p:nvGraphicFramePr>
        <p:xfrm>
          <a:off x="4034330" y="4000504"/>
          <a:ext cx="284351" cy="3222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0440" imgH="215640" progId="Equation.3">
                  <p:embed/>
                </p:oleObj>
              </mc:Choice>
              <mc:Fallback>
                <p:oleObj name="Equation" r:id="rId8" imgW="19044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4330" y="4000504"/>
                        <a:ext cx="284351" cy="3222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2917058"/>
              </p:ext>
            </p:extLst>
          </p:nvPr>
        </p:nvGraphicFramePr>
        <p:xfrm>
          <a:off x="3071802" y="4357694"/>
          <a:ext cx="4878412" cy="6969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755800" imgH="393480" progId="Equation.3">
                  <p:embed/>
                </p:oleObj>
              </mc:Choice>
              <mc:Fallback>
                <p:oleObj name="Equation" r:id="rId10" imgW="27558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02" y="4357694"/>
                        <a:ext cx="4878412" cy="6969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20 Dikdörtgen"/>
          <p:cNvSpPr/>
          <p:nvPr/>
        </p:nvSpPr>
        <p:spPr>
          <a:xfrm>
            <a:off x="214282" y="5214950"/>
            <a:ext cx="2895664" cy="4462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300" dirty="0" err="1">
                <a:latin typeface="+mn-lt"/>
              </a:rPr>
              <a:t>By</a:t>
            </a:r>
            <a:r>
              <a:rPr lang="tr-TR" sz="2300" dirty="0">
                <a:latin typeface="+mn-lt"/>
              </a:rPr>
              <a:t> ideal Op-</a:t>
            </a:r>
            <a:r>
              <a:rPr lang="tr-TR" sz="2300" dirty="0" err="1">
                <a:latin typeface="+mn-lt"/>
              </a:rPr>
              <a:t>amp</a:t>
            </a:r>
            <a:r>
              <a:rPr lang="tr-TR" sz="2300" dirty="0">
                <a:latin typeface="+mn-lt"/>
              </a:rPr>
              <a:t> </a:t>
            </a:r>
            <a:r>
              <a:rPr lang="tr-TR" sz="2300" dirty="0" err="1">
                <a:latin typeface="+mn-lt"/>
              </a:rPr>
              <a:t>rules</a:t>
            </a:r>
            <a:r>
              <a:rPr lang="tr-TR" sz="2300" dirty="0">
                <a:latin typeface="+mn-lt"/>
              </a:rPr>
              <a:t>:</a:t>
            </a:r>
          </a:p>
        </p:txBody>
      </p:sp>
      <p:graphicFrame>
        <p:nvGraphicFramePr>
          <p:cNvPr id="3483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7519769"/>
              </p:ext>
            </p:extLst>
          </p:nvPr>
        </p:nvGraphicFramePr>
        <p:xfrm>
          <a:off x="3071802" y="5143512"/>
          <a:ext cx="1520938" cy="71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38080" imgH="393480" progId="Equation.3">
                  <p:embed/>
                </p:oleObj>
              </mc:Choice>
              <mc:Fallback>
                <p:oleObj name="Equation" r:id="rId12" imgW="8380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02" y="5143512"/>
                        <a:ext cx="1520938" cy="7143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22 Dikdörtgen"/>
          <p:cNvSpPr/>
          <p:nvPr/>
        </p:nvSpPr>
        <p:spPr>
          <a:xfrm>
            <a:off x="285720" y="5929330"/>
            <a:ext cx="1929567" cy="4462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300" dirty="0" err="1">
                <a:latin typeface="+mn-lt"/>
              </a:rPr>
              <a:t>Subst</a:t>
            </a:r>
            <a:r>
              <a:rPr lang="tr-TR" sz="2300" dirty="0">
                <a:latin typeface="+mn-lt"/>
              </a:rPr>
              <a:t>. </a:t>
            </a:r>
            <a:r>
              <a:rPr lang="tr-TR" sz="2300" dirty="0" err="1">
                <a:latin typeface="+mn-lt"/>
              </a:rPr>
              <a:t>into</a:t>
            </a:r>
            <a:r>
              <a:rPr lang="tr-TR" sz="2300" dirty="0">
                <a:latin typeface="+mn-lt"/>
              </a:rPr>
              <a:t> (1):</a:t>
            </a:r>
          </a:p>
        </p:txBody>
      </p:sp>
      <p:graphicFrame>
        <p:nvGraphicFramePr>
          <p:cNvPr id="3483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4124656"/>
              </p:ext>
            </p:extLst>
          </p:nvPr>
        </p:nvGraphicFramePr>
        <p:xfrm>
          <a:off x="2143108" y="5786454"/>
          <a:ext cx="3940612" cy="71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171520" imgH="393480" progId="Equation.3">
                  <p:embed/>
                </p:oleObj>
              </mc:Choice>
              <mc:Fallback>
                <p:oleObj name="Equation" r:id="rId14" imgW="21715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108" y="5786454"/>
                        <a:ext cx="3940612" cy="7143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24 Dikdörtgen"/>
          <p:cNvSpPr/>
          <p:nvPr/>
        </p:nvSpPr>
        <p:spPr>
          <a:xfrm>
            <a:off x="5214942" y="6273225"/>
            <a:ext cx="371477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+mn-lt"/>
              </a:rPr>
              <a:t>i.e. this amplifier computes the</a:t>
            </a:r>
          </a:p>
          <a:p>
            <a:r>
              <a:rPr lang="en-US" sz="1600" dirty="0">
                <a:latin typeface="+mn-lt"/>
              </a:rPr>
              <a:t>difference between the two voltages</a:t>
            </a:r>
            <a:endParaRPr lang="tr-TR" sz="1600" dirty="0">
              <a:latin typeface="+mn-lt"/>
            </a:endParaRPr>
          </a:p>
        </p:txBody>
      </p:sp>
      <p:pic>
        <p:nvPicPr>
          <p:cNvPr id="3" name="Picture 17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428595" y="1142984"/>
            <a:ext cx="4002939" cy="24288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E67AD-EE34-4E0A-BCCB-0D14F4380E44}" type="slidenum">
              <a:rPr lang="tr-TR" smtClean="0"/>
              <a:pPr/>
              <a:t>24</a:t>
            </a:fld>
            <a:endParaRPr lang="tr-TR" dirty="0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Ali Muhtaroglu</a:t>
            </a:r>
          </a:p>
        </p:txBody>
      </p:sp>
    </p:spTree>
    <p:extLst>
      <p:ext uri="{BB962C8B-B14F-4D97-AF65-F5344CB8AC3E}">
        <p14:creationId xmlns:p14="http://schemas.microsoft.com/office/powerpoint/2010/main" val="20275757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214282" y="71422"/>
            <a:ext cx="8229600" cy="928686"/>
          </a:xfrm>
        </p:spPr>
        <p:txBody>
          <a:bodyPr>
            <a:normAutofit/>
          </a:bodyPr>
          <a:lstStyle/>
          <a:p>
            <a:pPr algn="l"/>
            <a:r>
              <a:rPr lang="tr-TR" sz="3200" dirty="0"/>
              <a:t>    </a:t>
            </a:r>
            <a:r>
              <a:rPr lang="tr-TR" sz="3200" dirty="0" err="1"/>
              <a:t>Example</a:t>
            </a:r>
            <a:r>
              <a:rPr lang="tr-TR" sz="3200" dirty="0"/>
              <a:t> 3 (Johnson &amp; Johnson P:99)</a:t>
            </a:r>
          </a:p>
        </p:txBody>
      </p:sp>
      <p:sp>
        <p:nvSpPr>
          <p:cNvPr id="6" name="5 Dikdörtgen"/>
          <p:cNvSpPr/>
          <p:nvPr/>
        </p:nvSpPr>
        <p:spPr>
          <a:xfrm>
            <a:off x="571472" y="1000108"/>
            <a:ext cx="664371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Find the voltage transfer equation for the below circuit. Use the</a:t>
            </a:r>
          </a:p>
          <a:p>
            <a:r>
              <a:rPr lang="tr-TR" dirty="0"/>
              <a:t>ideal </a:t>
            </a:r>
            <a:r>
              <a:rPr lang="tr-TR" dirty="0" err="1"/>
              <a:t>voltage</a:t>
            </a:r>
            <a:r>
              <a:rPr lang="tr-TR" dirty="0"/>
              <a:t> </a:t>
            </a:r>
            <a:r>
              <a:rPr lang="tr-TR" dirty="0" err="1"/>
              <a:t>amplifier</a:t>
            </a:r>
            <a:r>
              <a:rPr lang="tr-TR" dirty="0"/>
              <a:t> model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op </a:t>
            </a:r>
            <a:r>
              <a:rPr lang="tr-TR" dirty="0" err="1"/>
              <a:t>amps</a:t>
            </a:r>
            <a:r>
              <a:rPr lang="tr-TR" dirty="0"/>
              <a:t>.</a:t>
            </a:r>
          </a:p>
        </p:txBody>
      </p:sp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28661" y="2000240"/>
            <a:ext cx="4286281" cy="171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E67AD-EE34-4E0A-BCCB-0D14F4380E44}" type="slidenum">
              <a:rPr lang="tr-TR" smtClean="0"/>
              <a:pPr/>
              <a:t>25</a:t>
            </a:fld>
            <a:endParaRPr lang="tr-T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Ali Muhtaroglu</a:t>
            </a:r>
          </a:p>
        </p:txBody>
      </p:sp>
    </p:spTree>
    <p:extLst>
      <p:ext uri="{BB962C8B-B14F-4D97-AF65-F5344CB8AC3E}">
        <p14:creationId xmlns:p14="http://schemas.microsoft.com/office/powerpoint/2010/main" val="13377912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12 Dikdörtgen"/>
          <p:cNvSpPr/>
          <p:nvPr/>
        </p:nvSpPr>
        <p:spPr>
          <a:xfrm>
            <a:off x="5214942" y="3143248"/>
            <a:ext cx="392905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+mn-lt"/>
              </a:rPr>
              <a:t>But </a:t>
            </a:r>
            <a:r>
              <a:rPr lang="tr-TR" dirty="0">
                <a:latin typeface="+mn-lt"/>
              </a:rPr>
              <a:t>                  </a:t>
            </a:r>
            <a:r>
              <a:rPr lang="en-US" dirty="0">
                <a:latin typeface="+mn-lt"/>
              </a:rPr>
              <a:t>by 2nd ideal op-amp rule.</a:t>
            </a:r>
          </a:p>
          <a:p>
            <a:r>
              <a:rPr lang="tr-TR" dirty="0" err="1">
                <a:latin typeface="+mn-lt"/>
              </a:rPr>
              <a:t>Thus</a:t>
            </a:r>
            <a:r>
              <a:rPr lang="tr-TR" dirty="0">
                <a:latin typeface="+mn-lt"/>
              </a:rPr>
              <a:t>, </a:t>
            </a: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28661" y="2000240"/>
            <a:ext cx="4286281" cy="171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8 Dikdörtgen"/>
          <p:cNvSpPr/>
          <p:nvPr/>
        </p:nvSpPr>
        <p:spPr>
          <a:xfrm>
            <a:off x="5286380" y="1857364"/>
            <a:ext cx="364333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+mn-lt"/>
              </a:rPr>
              <a:t>KCL at </a:t>
            </a:r>
            <a:r>
              <a:rPr lang="tr-TR" dirty="0">
                <a:latin typeface="+mn-lt"/>
              </a:rPr>
              <a:t>   </a:t>
            </a:r>
            <a:r>
              <a:rPr lang="en-US" dirty="0">
                <a:latin typeface="+mn-lt"/>
              </a:rPr>
              <a:t> </a:t>
            </a:r>
            <a:r>
              <a:rPr lang="tr-TR" dirty="0">
                <a:latin typeface="+mn-lt"/>
              </a:rPr>
              <a:t>  </a:t>
            </a:r>
            <a:r>
              <a:rPr lang="en-US" dirty="0">
                <a:latin typeface="+mn-lt"/>
              </a:rPr>
              <a:t>input of the left hand</a:t>
            </a:r>
          </a:p>
          <a:p>
            <a:r>
              <a:rPr lang="tr-TR" dirty="0" err="1">
                <a:latin typeface="+mn-lt"/>
              </a:rPr>
              <a:t>amplifier</a:t>
            </a:r>
            <a:r>
              <a:rPr lang="tr-TR" dirty="0">
                <a:latin typeface="+mn-lt"/>
              </a:rPr>
              <a:t>           : </a:t>
            </a:r>
          </a:p>
        </p:txBody>
      </p:sp>
      <p:graphicFrame>
        <p:nvGraphicFramePr>
          <p:cNvPr id="3686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9343083"/>
              </p:ext>
            </p:extLst>
          </p:nvPr>
        </p:nvGraphicFramePr>
        <p:xfrm>
          <a:off x="6000750" y="1857375"/>
          <a:ext cx="315913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0440" imgH="215640" progId="Equation.3">
                  <p:embed/>
                </p:oleObj>
              </mc:Choice>
              <mc:Fallback>
                <p:oleObj name="Equation" r:id="rId3" imgW="19044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0750" y="1857375"/>
                        <a:ext cx="315913" cy="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4043507"/>
              </p:ext>
            </p:extLst>
          </p:nvPr>
        </p:nvGraphicFramePr>
        <p:xfrm>
          <a:off x="6286500" y="2143125"/>
          <a:ext cx="492125" cy="32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30120" imgH="215640" progId="Equation.3">
                  <p:embed/>
                </p:oleObj>
              </mc:Choice>
              <mc:Fallback>
                <p:oleObj name="Equation" r:id="rId5" imgW="33012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500" y="2143125"/>
                        <a:ext cx="492125" cy="322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5847648"/>
              </p:ext>
            </p:extLst>
          </p:nvPr>
        </p:nvGraphicFramePr>
        <p:xfrm>
          <a:off x="5286375" y="2500313"/>
          <a:ext cx="2786063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38000" imgH="393480" progId="Equation.3">
                  <p:embed/>
                </p:oleObj>
              </mc:Choice>
              <mc:Fallback>
                <p:oleObj name="Equation" r:id="rId7" imgW="16380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6375" y="2500313"/>
                        <a:ext cx="2786063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0494743"/>
              </p:ext>
            </p:extLst>
          </p:nvPr>
        </p:nvGraphicFramePr>
        <p:xfrm>
          <a:off x="5929313" y="3429000"/>
          <a:ext cx="1303337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87320" imgH="215640" progId="Equation.3">
                  <p:embed/>
                </p:oleObj>
              </mc:Choice>
              <mc:Fallback>
                <p:oleObj name="Equation" r:id="rId9" imgW="78732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9313" y="3429000"/>
                        <a:ext cx="1303337" cy="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1326432"/>
              </p:ext>
            </p:extLst>
          </p:nvPr>
        </p:nvGraphicFramePr>
        <p:xfrm>
          <a:off x="5643570" y="3143250"/>
          <a:ext cx="915987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545760" imgH="215640" progId="Equation.3">
                  <p:embed/>
                </p:oleObj>
              </mc:Choice>
              <mc:Fallback>
                <p:oleObj name="Equation" r:id="rId11" imgW="5457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3570" y="3143250"/>
                        <a:ext cx="915987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15 Dikdörtgen"/>
          <p:cNvSpPr/>
          <p:nvPr/>
        </p:nvSpPr>
        <p:spPr>
          <a:xfrm>
            <a:off x="857224" y="3929066"/>
            <a:ext cx="14026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n-lt"/>
              </a:rPr>
              <a:t>(</a:t>
            </a:r>
            <a:r>
              <a:rPr lang="tr-TR" dirty="0">
                <a:latin typeface="+mn-lt"/>
              </a:rPr>
              <a:t>1) becomes:</a:t>
            </a:r>
          </a:p>
        </p:txBody>
      </p:sp>
      <p:graphicFrame>
        <p:nvGraphicFramePr>
          <p:cNvPr id="3687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5649735"/>
              </p:ext>
            </p:extLst>
          </p:nvPr>
        </p:nvGraphicFramePr>
        <p:xfrm>
          <a:off x="2286000" y="3786188"/>
          <a:ext cx="3422650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095200" imgH="393480" progId="Equation.3">
                  <p:embed/>
                </p:oleObj>
              </mc:Choice>
              <mc:Fallback>
                <p:oleObj name="Equation" r:id="rId13" imgW="20952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786188"/>
                        <a:ext cx="3422650" cy="64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5 Dikdörtgen"/>
          <p:cNvSpPr/>
          <p:nvPr/>
        </p:nvSpPr>
        <p:spPr>
          <a:xfrm>
            <a:off x="571472" y="1000108"/>
            <a:ext cx="664371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Find the voltage transfer equation for the below circuit. Use the</a:t>
            </a:r>
          </a:p>
          <a:p>
            <a:r>
              <a:rPr lang="tr-TR" dirty="0"/>
              <a:t>ideal </a:t>
            </a:r>
            <a:r>
              <a:rPr lang="tr-TR" dirty="0" err="1"/>
              <a:t>voltage</a:t>
            </a:r>
            <a:r>
              <a:rPr lang="tr-TR" dirty="0"/>
              <a:t> </a:t>
            </a:r>
            <a:r>
              <a:rPr lang="tr-TR" dirty="0" err="1"/>
              <a:t>amplifier</a:t>
            </a:r>
            <a:r>
              <a:rPr lang="tr-TR" dirty="0"/>
              <a:t> model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op </a:t>
            </a:r>
            <a:r>
              <a:rPr lang="tr-TR" dirty="0" err="1"/>
              <a:t>amps</a:t>
            </a:r>
            <a:r>
              <a:rPr lang="tr-TR" dirty="0"/>
              <a:t>.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E67AD-EE34-4E0A-BCCB-0D14F4380E44}" type="slidenum">
              <a:rPr lang="tr-TR" smtClean="0"/>
              <a:pPr/>
              <a:t>26</a:t>
            </a:fld>
            <a:endParaRPr lang="tr-TR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Ali Muhtaroglu</a:t>
            </a:r>
          </a:p>
        </p:txBody>
      </p:sp>
      <p:sp>
        <p:nvSpPr>
          <p:cNvPr id="20" name="1 Başlık"/>
          <p:cNvSpPr>
            <a:spLocks noGrp="1"/>
          </p:cNvSpPr>
          <p:nvPr>
            <p:ph type="title"/>
          </p:nvPr>
        </p:nvSpPr>
        <p:spPr>
          <a:xfrm>
            <a:off x="214282" y="71422"/>
            <a:ext cx="8229600" cy="928686"/>
          </a:xfrm>
        </p:spPr>
        <p:txBody>
          <a:bodyPr>
            <a:normAutofit/>
          </a:bodyPr>
          <a:lstStyle/>
          <a:p>
            <a:pPr algn="l"/>
            <a:r>
              <a:rPr lang="tr-TR" sz="3200" dirty="0"/>
              <a:t>    </a:t>
            </a:r>
            <a:r>
              <a:rPr lang="tr-TR" sz="3200" dirty="0" err="1"/>
              <a:t>Example</a:t>
            </a:r>
            <a:r>
              <a:rPr lang="tr-TR" sz="3200" dirty="0"/>
              <a:t> 3 (Johnson &amp; Johnson P:99)</a:t>
            </a:r>
          </a:p>
        </p:txBody>
      </p:sp>
    </p:spTree>
    <p:extLst>
      <p:ext uri="{BB962C8B-B14F-4D97-AF65-F5344CB8AC3E}">
        <p14:creationId xmlns:p14="http://schemas.microsoft.com/office/powerpoint/2010/main" val="34353779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28661" y="2000240"/>
            <a:ext cx="4286281" cy="171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8 Dikdörtgen"/>
          <p:cNvSpPr/>
          <p:nvPr/>
        </p:nvSpPr>
        <p:spPr>
          <a:xfrm>
            <a:off x="5286380" y="1857364"/>
            <a:ext cx="364333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+mn-lt"/>
              </a:rPr>
              <a:t>KCL at </a:t>
            </a:r>
            <a:r>
              <a:rPr lang="tr-TR" dirty="0">
                <a:latin typeface="+mn-lt"/>
              </a:rPr>
              <a:t>   </a:t>
            </a:r>
            <a:r>
              <a:rPr lang="en-US" dirty="0">
                <a:latin typeface="+mn-lt"/>
              </a:rPr>
              <a:t> </a:t>
            </a:r>
            <a:r>
              <a:rPr lang="tr-TR" dirty="0">
                <a:latin typeface="+mn-lt"/>
              </a:rPr>
              <a:t>  </a:t>
            </a:r>
            <a:r>
              <a:rPr lang="en-US" dirty="0">
                <a:latin typeface="+mn-lt"/>
              </a:rPr>
              <a:t>input of the left hand</a:t>
            </a:r>
          </a:p>
          <a:p>
            <a:r>
              <a:rPr lang="tr-TR" dirty="0" err="1">
                <a:latin typeface="+mn-lt"/>
              </a:rPr>
              <a:t>amplifier</a:t>
            </a:r>
            <a:r>
              <a:rPr lang="tr-TR" dirty="0">
                <a:latin typeface="+mn-lt"/>
              </a:rPr>
              <a:t>           : </a:t>
            </a:r>
          </a:p>
        </p:txBody>
      </p:sp>
      <p:graphicFrame>
        <p:nvGraphicFramePr>
          <p:cNvPr id="3789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37310"/>
              </p:ext>
            </p:extLst>
          </p:nvPr>
        </p:nvGraphicFramePr>
        <p:xfrm>
          <a:off x="6000750" y="1857375"/>
          <a:ext cx="315913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0440" imgH="215640" progId="Equation.3">
                  <p:embed/>
                </p:oleObj>
              </mc:Choice>
              <mc:Fallback>
                <p:oleObj name="Equation" r:id="rId3" imgW="19044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0750" y="1857375"/>
                        <a:ext cx="315913" cy="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2486268"/>
              </p:ext>
            </p:extLst>
          </p:nvPr>
        </p:nvGraphicFramePr>
        <p:xfrm>
          <a:off x="6286500" y="2143125"/>
          <a:ext cx="492125" cy="32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30120" imgH="215640" progId="Equation.3">
                  <p:embed/>
                </p:oleObj>
              </mc:Choice>
              <mc:Fallback>
                <p:oleObj name="Equation" r:id="rId5" imgW="33012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500" y="2143125"/>
                        <a:ext cx="492125" cy="322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3917677"/>
              </p:ext>
            </p:extLst>
          </p:nvPr>
        </p:nvGraphicFramePr>
        <p:xfrm>
          <a:off x="5286375" y="2500313"/>
          <a:ext cx="2786063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38000" imgH="393480" progId="Equation.3">
                  <p:embed/>
                </p:oleObj>
              </mc:Choice>
              <mc:Fallback>
                <p:oleObj name="Equation" r:id="rId7" imgW="16380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6375" y="2500313"/>
                        <a:ext cx="2786063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12 Dikdörtgen"/>
          <p:cNvSpPr/>
          <p:nvPr/>
        </p:nvSpPr>
        <p:spPr>
          <a:xfrm>
            <a:off x="5214942" y="3143248"/>
            <a:ext cx="392905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+mn-lt"/>
              </a:rPr>
              <a:t>But </a:t>
            </a:r>
            <a:r>
              <a:rPr lang="tr-TR" dirty="0">
                <a:latin typeface="+mn-lt"/>
              </a:rPr>
              <a:t>                  </a:t>
            </a:r>
            <a:r>
              <a:rPr lang="en-US" dirty="0">
                <a:latin typeface="+mn-lt"/>
              </a:rPr>
              <a:t>by 2nd ideal op-amp rule.</a:t>
            </a:r>
          </a:p>
          <a:p>
            <a:r>
              <a:rPr lang="tr-TR" dirty="0" err="1">
                <a:latin typeface="+mn-lt"/>
              </a:rPr>
              <a:t>Thus</a:t>
            </a:r>
            <a:r>
              <a:rPr lang="tr-TR" dirty="0">
                <a:latin typeface="+mn-lt"/>
              </a:rPr>
              <a:t>, </a:t>
            </a:r>
          </a:p>
        </p:txBody>
      </p:sp>
      <p:graphicFrame>
        <p:nvGraphicFramePr>
          <p:cNvPr id="3789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2505894"/>
              </p:ext>
            </p:extLst>
          </p:nvPr>
        </p:nvGraphicFramePr>
        <p:xfrm>
          <a:off x="5643570" y="3143250"/>
          <a:ext cx="915987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545760" imgH="215640" progId="Equation.3">
                  <p:embed/>
                </p:oleObj>
              </mc:Choice>
              <mc:Fallback>
                <p:oleObj name="Equation" r:id="rId9" imgW="5457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3570" y="3143250"/>
                        <a:ext cx="915987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9526322"/>
              </p:ext>
            </p:extLst>
          </p:nvPr>
        </p:nvGraphicFramePr>
        <p:xfrm>
          <a:off x="5929313" y="3429000"/>
          <a:ext cx="1303337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787320" imgH="215640" progId="Equation.3">
                  <p:embed/>
                </p:oleObj>
              </mc:Choice>
              <mc:Fallback>
                <p:oleObj name="Equation" r:id="rId11" imgW="78732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9313" y="3429000"/>
                        <a:ext cx="1303337" cy="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2700754"/>
              </p:ext>
            </p:extLst>
          </p:nvPr>
        </p:nvGraphicFramePr>
        <p:xfrm>
          <a:off x="2286000" y="3786188"/>
          <a:ext cx="3422650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095200" imgH="393480" progId="Equation.3">
                  <p:embed/>
                </p:oleObj>
              </mc:Choice>
              <mc:Fallback>
                <p:oleObj name="Equation" r:id="rId13" imgW="20952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786188"/>
                        <a:ext cx="3422650" cy="64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17 Dikdörtgen"/>
          <p:cNvSpPr/>
          <p:nvPr/>
        </p:nvSpPr>
        <p:spPr>
          <a:xfrm>
            <a:off x="1000100" y="4500570"/>
            <a:ext cx="80010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+mn-lt"/>
              </a:rPr>
              <a:t>KCL at </a:t>
            </a:r>
            <a:r>
              <a:rPr lang="tr-TR" dirty="0">
                <a:latin typeface="+mn-lt"/>
              </a:rPr>
              <a:t>  </a:t>
            </a:r>
            <a:r>
              <a:rPr lang="en-US" dirty="0">
                <a:latin typeface="+mn-lt"/>
              </a:rPr>
              <a:t> </a:t>
            </a:r>
            <a:r>
              <a:rPr lang="tr-TR" dirty="0">
                <a:latin typeface="+mn-lt"/>
              </a:rPr>
              <a:t>   </a:t>
            </a:r>
            <a:r>
              <a:rPr lang="en-US" dirty="0">
                <a:latin typeface="+mn-lt"/>
              </a:rPr>
              <a:t>input of the right hand amplifier </a:t>
            </a:r>
            <a:r>
              <a:rPr lang="tr-TR" dirty="0">
                <a:latin typeface="+mn-lt"/>
              </a:rPr>
              <a:t>           </a:t>
            </a:r>
            <a:r>
              <a:rPr lang="en-US" dirty="0">
                <a:latin typeface="+mn-lt"/>
              </a:rPr>
              <a:t> &amp; substituting for </a:t>
            </a:r>
            <a:r>
              <a:rPr lang="tr-TR" dirty="0">
                <a:latin typeface="+mn-lt"/>
              </a:rPr>
              <a:t>      </a:t>
            </a:r>
            <a:r>
              <a:rPr lang="en-US" dirty="0">
                <a:latin typeface="+mn-lt"/>
              </a:rPr>
              <a:t>from (1):</a:t>
            </a:r>
            <a:endParaRPr lang="tr-TR" dirty="0">
              <a:latin typeface="+mn-lt"/>
            </a:endParaRPr>
          </a:p>
        </p:txBody>
      </p:sp>
      <p:graphicFrame>
        <p:nvGraphicFramePr>
          <p:cNvPr id="3789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0877761"/>
              </p:ext>
            </p:extLst>
          </p:nvPr>
        </p:nvGraphicFramePr>
        <p:xfrm>
          <a:off x="1714500" y="4500563"/>
          <a:ext cx="315913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90440" imgH="215640" progId="Equation.3">
                  <p:embed/>
                </p:oleObj>
              </mc:Choice>
              <mc:Fallback>
                <p:oleObj name="Equation" r:id="rId15" imgW="19044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500" y="4500563"/>
                        <a:ext cx="315913" cy="35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0639387"/>
              </p:ext>
            </p:extLst>
          </p:nvPr>
        </p:nvGraphicFramePr>
        <p:xfrm>
          <a:off x="5072063" y="4500563"/>
          <a:ext cx="571500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42720" imgH="215640" progId="Equation.3">
                  <p:embed/>
                </p:oleObj>
              </mc:Choice>
              <mc:Fallback>
                <p:oleObj name="Equation" r:id="rId17" imgW="34272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2063" y="4500563"/>
                        <a:ext cx="571500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8960082"/>
              </p:ext>
            </p:extLst>
          </p:nvPr>
        </p:nvGraphicFramePr>
        <p:xfrm>
          <a:off x="7381897" y="4500573"/>
          <a:ext cx="33337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77480" imgH="228600" progId="Equation.3">
                  <p:embed/>
                </p:oleObj>
              </mc:Choice>
              <mc:Fallback>
                <p:oleObj name="Equation" r:id="rId19" imgW="1774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1897" y="4500573"/>
                        <a:ext cx="33337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5018480"/>
              </p:ext>
            </p:extLst>
          </p:nvPr>
        </p:nvGraphicFramePr>
        <p:xfrm>
          <a:off x="1035050" y="4786313"/>
          <a:ext cx="635952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4381200" imgH="393480" progId="Equation.3">
                  <p:embed/>
                </p:oleObj>
              </mc:Choice>
              <mc:Fallback>
                <p:oleObj name="Equation" r:id="rId21" imgW="43812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5050" y="4786313"/>
                        <a:ext cx="6359525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15 Dikdörtgen"/>
          <p:cNvSpPr/>
          <p:nvPr/>
        </p:nvSpPr>
        <p:spPr>
          <a:xfrm>
            <a:off x="857224" y="3929066"/>
            <a:ext cx="14026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n-lt"/>
              </a:rPr>
              <a:t>(</a:t>
            </a:r>
            <a:r>
              <a:rPr lang="tr-TR" dirty="0">
                <a:latin typeface="+mn-lt"/>
              </a:rPr>
              <a:t>1) becomes:</a:t>
            </a:r>
          </a:p>
        </p:txBody>
      </p:sp>
      <p:sp>
        <p:nvSpPr>
          <p:cNvPr id="22" name="5 Dikdörtgen"/>
          <p:cNvSpPr/>
          <p:nvPr/>
        </p:nvSpPr>
        <p:spPr>
          <a:xfrm>
            <a:off x="571472" y="1000108"/>
            <a:ext cx="664371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Find the voltage transfer equation for the below circuit. Use the</a:t>
            </a:r>
          </a:p>
          <a:p>
            <a:r>
              <a:rPr lang="tr-TR" dirty="0"/>
              <a:t>ideal </a:t>
            </a:r>
            <a:r>
              <a:rPr lang="tr-TR" dirty="0" err="1"/>
              <a:t>voltage</a:t>
            </a:r>
            <a:r>
              <a:rPr lang="tr-TR" dirty="0"/>
              <a:t> </a:t>
            </a:r>
            <a:r>
              <a:rPr lang="tr-TR" dirty="0" err="1"/>
              <a:t>amplifier</a:t>
            </a:r>
            <a:r>
              <a:rPr lang="tr-TR" dirty="0"/>
              <a:t> model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op </a:t>
            </a:r>
            <a:r>
              <a:rPr lang="tr-TR" dirty="0" err="1"/>
              <a:t>amps</a:t>
            </a:r>
            <a:r>
              <a:rPr lang="tr-TR" dirty="0"/>
              <a:t>.</a:t>
            </a: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E67AD-EE34-4E0A-BCCB-0D14F4380E44}" type="slidenum">
              <a:rPr lang="tr-TR" smtClean="0"/>
              <a:pPr/>
              <a:t>27</a:t>
            </a:fld>
            <a:endParaRPr lang="tr-TR" dirty="0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Ali Muhtaroglu</a:t>
            </a:r>
          </a:p>
        </p:txBody>
      </p:sp>
      <p:sp>
        <p:nvSpPr>
          <p:cNvPr id="25" name="1 Başlık"/>
          <p:cNvSpPr>
            <a:spLocks noGrp="1"/>
          </p:cNvSpPr>
          <p:nvPr>
            <p:ph type="title"/>
          </p:nvPr>
        </p:nvSpPr>
        <p:spPr>
          <a:xfrm>
            <a:off x="214282" y="71422"/>
            <a:ext cx="8229600" cy="928686"/>
          </a:xfrm>
        </p:spPr>
        <p:txBody>
          <a:bodyPr>
            <a:normAutofit/>
          </a:bodyPr>
          <a:lstStyle/>
          <a:p>
            <a:pPr algn="l"/>
            <a:r>
              <a:rPr lang="tr-TR" sz="3200" dirty="0"/>
              <a:t>    </a:t>
            </a:r>
            <a:r>
              <a:rPr lang="tr-TR" sz="3200" dirty="0" err="1"/>
              <a:t>Example</a:t>
            </a:r>
            <a:r>
              <a:rPr lang="tr-TR" sz="3200" dirty="0"/>
              <a:t> 3 (Johnson &amp; Johnson P:99)</a:t>
            </a:r>
          </a:p>
        </p:txBody>
      </p:sp>
    </p:spTree>
    <p:extLst>
      <p:ext uri="{BB962C8B-B14F-4D97-AF65-F5344CB8AC3E}">
        <p14:creationId xmlns:p14="http://schemas.microsoft.com/office/powerpoint/2010/main" val="39856885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28661" y="2000240"/>
            <a:ext cx="4286281" cy="171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8 Dikdörtgen"/>
          <p:cNvSpPr/>
          <p:nvPr/>
        </p:nvSpPr>
        <p:spPr>
          <a:xfrm>
            <a:off x="5286380" y="1857364"/>
            <a:ext cx="364333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+mn-lt"/>
              </a:rPr>
              <a:t>KCL at </a:t>
            </a:r>
            <a:r>
              <a:rPr lang="tr-TR" dirty="0">
                <a:latin typeface="+mn-lt"/>
              </a:rPr>
              <a:t>   </a:t>
            </a:r>
            <a:r>
              <a:rPr lang="en-US" dirty="0">
                <a:latin typeface="+mn-lt"/>
              </a:rPr>
              <a:t> </a:t>
            </a:r>
            <a:r>
              <a:rPr lang="tr-TR" dirty="0">
                <a:latin typeface="+mn-lt"/>
              </a:rPr>
              <a:t>  </a:t>
            </a:r>
            <a:r>
              <a:rPr lang="en-US" dirty="0">
                <a:latin typeface="+mn-lt"/>
              </a:rPr>
              <a:t>input of the left hand</a:t>
            </a:r>
          </a:p>
          <a:p>
            <a:r>
              <a:rPr lang="tr-TR" dirty="0" err="1">
                <a:latin typeface="+mn-lt"/>
              </a:rPr>
              <a:t>amplifier</a:t>
            </a:r>
            <a:r>
              <a:rPr lang="tr-TR" dirty="0">
                <a:latin typeface="+mn-lt"/>
              </a:rPr>
              <a:t>           : </a:t>
            </a:r>
          </a:p>
        </p:txBody>
      </p:sp>
      <p:graphicFrame>
        <p:nvGraphicFramePr>
          <p:cNvPr id="3891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1994665"/>
              </p:ext>
            </p:extLst>
          </p:nvPr>
        </p:nvGraphicFramePr>
        <p:xfrm>
          <a:off x="6000750" y="1857375"/>
          <a:ext cx="315913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0440" imgH="215640" progId="Equation.3">
                  <p:embed/>
                </p:oleObj>
              </mc:Choice>
              <mc:Fallback>
                <p:oleObj name="Equation" r:id="rId4" imgW="19044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0750" y="1857375"/>
                        <a:ext cx="315913" cy="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118271"/>
              </p:ext>
            </p:extLst>
          </p:nvPr>
        </p:nvGraphicFramePr>
        <p:xfrm>
          <a:off x="6286500" y="2143125"/>
          <a:ext cx="492125" cy="32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30120" imgH="215640" progId="Equation.3">
                  <p:embed/>
                </p:oleObj>
              </mc:Choice>
              <mc:Fallback>
                <p:oleObj name="Equation" r:id="rId6" imgW="33012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500" y="2143125"/>
                        <a:ext cx="492125" cy="322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4249084"/>
              </p:ext>
            </p:extLst>
          </p:nvPr>
        </p:nvGraphicFramePr>
        <p:xfrm>
          <a:off x="5286375" y="2500313"/>
          <a:ext cx="2786063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38000" imgH="393480" progId="Equation.3">
                  <p:embed/>
                </p:oleObj>
              </mc:Choice>
              <mc:Fallback>
                <p:oleObj name="Equation" r:id="rId8" imgW="16380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6375" y="2500313"/>
                        <a:ext cx="2786063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7200464"/>
              </p:ext>
            </p:extLst>
          </p:nvPr>
        </p:nvGraphicFramePr>
        <p:xfrm>
          <a:off x="2286000" y="3786188"/>
          <a:ext cx="3422650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95200" imgH="393480" progId="Equation.3">
                  <p:embed/>
                </p:oleObj>
              </mc:Choice>
              <mc:Fallback>
                <p:oleObj name="Equation" r:id="rId10" imgW="20952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786188"/>
                        <a:ext cx="3422650" cy="64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9055965"/>
              </p:ext>
            </p:extLst>
          </p:nvPr>
        </p:nvGraphicFramePr>
        <p:xfrm>
          <a:off x="1714500" y="4500563"/>
          <a:ext cx="315913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90440" imgH="215640" progId="Equation.3">
                  <p:embed/>
                </p:oleObj>
              </mc:Choice>
              <mc:Fallback>
                <p:oleObj name="Equation" r:id="rId12" imgW="19044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500" y="4500563"/>
                        <a:ext cx="315913" cy="35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2741243"/>
              </p:ext>
            </p:extLst>
          </p:nvPr>
        </p:nvGraphicFramePr>
        <p:xfrm>
          <a:off x="5072063" y="4500563"/>
          <a:ext cx="571500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42720" imgH="215640" progId="Equation.3">
                  <p:embed/>
                </p:oleObj>
              </mc:Choice>
              <mc:Fallback>
                <p:oleObj name="Equation" r:id="rId14" imgW="34272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2063" y="4500563"/>
                        <a:ext cx="571500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22 Dikdörtgen"/>
          <p:cNvSpPr/>
          <p:nvPr/>
        </p:nvSpPr>
        <p:spPr>
          <a:xfrm>
            <a:off x="1000100" y="5286388"/>
            <a:ext cx="67866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+mn-lt"/>
              </a:rPr>
              <a:t>Voltage division for the </a:t>
            </a:r>
            <a:r>
              <a:rPr lang="tr-TR" dirty="0">
                <a:latin typeface="+mn-lt"/>
              </a:rPr>
              <a:t>    </a:t>
            </a:r>
            <a:r>
              <a:rPr lang="en-US" dirty="0">
                <a:latin typeface="+mn-lt"/>
              </a:rPr>
              <a:t> </a:t>
            </a:r>
            <a:r>
              <a:rPr lang="tr-TR" dirty="0">
                <a:latin typeface="+mn-lt"/>
              </a:rPr>
              <a:t> </a:t>
            </a:r>
            <a:r>
              <a:rPr lang="en-US" dirty="0">
                <a:latin typeface="+mn-lt"/>
              </a:rPr>
              <a:t>input of the right hand amplifier </a:t>
            </a:r>
            <a:r>
              <a:rPr lang="tr-TR" dirty="0">
                <a:latin typeface="+mn-lt"/>
              </a:rPr>
              <a:t>           </a:t>
            </a:r>
            <a:r>
              <a:rPr lang="en-US" dirty="0">
                <a:latin typeface="+mn-lt"/>
              </a:rPr>
              <a:t>:</a:t>
            </a:r>
            <a:endParaRPr lang="tr-TR" dirty="0">
              <a:latin typeface="+mn-lt"/>
            </a:endParaRPr>
          </a:p>
        </p:txBody>
      </p:sp>
      <p:graphicFrame>
        <p:nvGraphicFramePr>
          <p:cNvPr id="3892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8679419"/>
              </p:ext>
            </p:extLst>
          </p:nvPr>
        </p:nvGraphicFramePr>
        <p:xfrm>
          <a:off x="3286116" y="5286388"/>
          <a:ext cx="309564" cy="3508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90440" imgH="215640" progId="Equation.3">
                  <p:embed/>
                </p:oleObj>
              </mc:Choice>
              <mc:Fallback>
                <p:oleObj name="Equation" r:id="rId16" imgW="19044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6116" y="5286388"/>
                        <a:ext cx="309564" cy="3508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9921400"/>
              </p:ext>
            </p:extLst>
          </p:nvPr>
        </p:nvGraphicFramePr>
        <p:xfrm>
          <a:off x="6643702" y="5286388"/>
          <a:ext cx="571504" cy="3598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42720" imgH="215640" progId="Equation.3">
                  <p:embed/>
                </p:oleObj>
              </mc:Choice>
              <mc:Fallback>
                <p:oleObj name="Equation" r:id="rId18" imgW="34272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3702" y="5286388"/>
                        <a:ext cx="571504" cy="3598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7007845"/>
              </p:ext>
            </p:extLst>
          </p:nvPr>
        </p:nvGraphicFramePr>
        <p:xfrm>
          <a:off x="1071538" y="5500702"/>
          <a:ext cx="3392152" cy="5715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336760" imgH="393480" progId="Equation.3">
                  <p:embed/>
                </p:oleObj>
              </mc:Choice>
              <mc:Fallback>
                <p:oleObj name="Equation" r:id="rId20" imgW="23367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38" y="5500702"/>
                        <a:ext cx="3392152" cy="5715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17 Dikdörtgen"/>
          <p:cNvSpPr/>
          <p:nvPr/>
        </p:nvSpPr>
        <p:spPr>
          <a:xfrm>
            <a:off x="1000100" y="4500570"/>
            <a:ext cx="80010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+mn-lt"/>
              </a:rPr>
              <a:t>KCL at </a:t>
            </a:r>
            <a:r>
              <a:rPr lang="tr-TR" dirty="0">
                <a:latin typeface="+mn-lt"/>
              </a:rPr>
              <a:t>  </a:t>
            </a:r>
            <a:r>
              <a:rPr lang="en-US" dirty="0">
                <a:latin typeface="+mn-lt"/>
              </a:rPr>
              <a:t> </a:t>
            </a:r>
            <a:r>
              <a:rPr lang="tr-TR" dirty="0">
                <a:latin typeface="+mn-lt"/>
              </a:rPr>
              <a:t>   </a:t>
            </a:r>
            <a:r>
              <a:rPr lang="en-US" dirty="0">
                <a:latin typeface="+mn-lt"/>
              </a:rPr>
              <a:t>input of the right hand amplifier </a:t>
            </a:r>
            <a:r>
              <a:rPr lang="tr-TR" dirty="0">
                <a:latin typeface="+mn-lt"/>
              </a:rPr>
              <a:t>           </a:t>
            </a:r>
            <a:r>
              <a:rPr lang="en-US" dirty="0">
                <a:latin typeface="+mn-lt"/>
              </a:rPr>
              <a:t> &amp; substituting for </a:t>
            </a:r>
            <a:r>
              <a:rPr lang="tr-TR" dirty="0">
                <a:latin typeface="+mn-lt"/>
              </a:rPr>
              <a:t>      </a:t>
            </a:r>
            <a:r>
              <a:rPr lang="en-US" dirty="0">
                <a:latin typeface="+mn-lt"/>
              </a:rPr>
              <a:t>from (1):</a:t>
            </a:r>
            <a:endParaRPr lang="tr-TR" dirty="0">
              <a:latin typeface="+mn-lt"/>
            </a:endParaRPr>
          </a:p>
        </p:txBody>
      </p:sp>
      <p:graphicFrame>
        <p:nvGraphicFramePr>
          <p:cNvPr id="2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7205646"/>
              </p:ext>
            </p:extLst>
          </p:nvPr>
        </p:nvGraphicFramePr>
        <p:xfrm>
          <a:off x="7381897" y="4500573"/>
          <a:ext cx="33337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77480" imgH="228600" progId="Equation.3">
                  <p:embed/>
                </p:oleObj>
              </mc:Choice>
              <mc:Fallback>
                <p:oleObj name="Equation" r:id="rId22" imgW="1774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1897" y="4500573"/>
                        <a:ext cx="33337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15 Dikdörtgen"/>
          <p:cNvSpPr/>
          <p:nvPr/>
        </p:nvSpPr>
        <p:spPr>
          <a:xfrm>
            <a:off x="857224" y="3929066"/>
            <a:ext cx="14026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n-lt"/>
              </a:rPr>
              <a:t>(</a:t>
            </a:r>
            <a:r>
              <a:rPr lang="tr-TR" dirty="0">
                <a:latin typeface="+mn-lt"/>
              </a:rPr>
              <a:t>1) becomes:</a:t>
            </a:r>
          </a:p>
        </p:txBody>
      </p:sp>
      <p:sp>
        <p:nvSpPr>
          <p:cNvPr id="28" name="5 Dikdörtgen"/>
          <p:cNvSpPr/>
          <p:nvPr/>
        </p:nvSpPr>
        <p:spPr>
          <a:xfrm>
            <a:off x="571472" y="1000108"/>
            <a:ext cx="664371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Find the voltage transfer equation for the below circuit. Use the</a:t>
            </a:r>
          </a:p>
          <a:p>
            <a:r>
              <a:rPr lang="tr-TR" dirty="0"/>
              <a:t>ideal </a:t>
            </a:r>
            <a:r>
              <a:rPr lang="tr-TR" dirty="0" err="1"/>
              <a:t>voltage</a:t>
            </a:r>
            <a:r>
              <a:rPr lang="tr-TR" dirty="0"/>
              <a:t> </a:t>
            </a:r>
            <a:r>
              <a:rPr lang="tr-TR" dirty="0" err="1"/>
              <a:t>amplifier</a:t>
            </a:r>
            <a:r>
              <a:rPr lang="tr-TR" dirty="0"/>
              <a:t> model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op </a:t>
            </a:r>
            <a:r>
              <a:rPr lang="tr-TR" dirty="0" err="1"/>
              <a:t>amps</a:t>
            </a:r>
            <a:r>
              <a:rPr lang="tr-TR" dirty="0"/>
              <a:t>.</a:t>
            </a: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E67AD-EE34-4E0A-BCCB-0D14F4380E44}" type="slidenum">
              <a:rPr lang="tr-TR" smtClean="0"/>
              <a:pPr/>
              <a:t>28</a:t>
            </a:fld>
            <a:endParaRPr lang="tr-TR" dirty="0"/>
          </a:p>
        </p:txBody>
      </p:sp>
      <p:sp>
        <p:nvSpPr>
          <p:cNvPr id="30" name="Footer Placeholder 2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Ali Muhtaroglu</a:t>
            </a:r>
          </a:p>
        </p:txBody>
      </p:sp>
      <p:sp>
        <p:nvSpPr>
          <p:cNvPr id="31" name="1 Başlık"/>
          <p:cNvSpPr>
            <a:spLocks noGrp="1"/>
          </p:cNvSpPr>
          <p:nvPr>
            <p:ph type="title"/>
          </p:nvPr>
        </p:nvSpPr>
        <p:spPr>
          <a:xfrm>
            <a:off x="214282" y="71422"/>
            <a:ext cx="8229600" cy="928686"/>
          </a:xfrm>
        </p:spPr>
        <p:txBody>
          <a:bodyPr>
            <a:normAutofit/>
          </a:bodyPr>
          <a:lstStyle/>
          <a:p>
            <a:pPr algn="l"/>
            <a:r>
              <a:rPr lang="tr-TR" sz="3200" dirty="0"/>
              <a:t>    </a:t>
            </a:r>
            <a:r>
              <a:rPr lang="tr-TR" sz="3200" dirty="0" err="1"/>
              <a:t>Example</a:t>
            </a:r>
            <a:r>
              <a:rPr lang="tr-TR" sz="3200" dirty="0"/>
              <a:t> 3 (Johnson &amp; Johnson P:99)</a:t>
            </a:r>
          </a:p>
        </p:txBody>
      </p:sp>
      <p:sp>
        <p:nvSpPr>
          <p:cNvPr id="32" name="12 Dikdörtgen"/>
          <p:cNvSpPr/>
          <p:nvPr/>
        </p:nvSpPr>
        <p:spPr>
          <a:xfrm>
            <a:off x="5214942" y="3143248"/>
            <a:ext cx="392905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+mn-lt"/>
              </a:rPr>
              <a:t>But </a:t>
            </a:r>
            <a:r>
              <a:rPr lang="tr-TR" dirty="0">
                <a:latin typeface="+mn-lt"/>
              </a:rPr>
              <a:t>                  </a:t>
            </a:r>
            <a:r>
              <a:rPr lang="en-US" dirty="0">
                <a:latin typeface="+mn-lt"/>
              </a:rPr>
              <a:t>by 2nd ideal op-amp rule.</a:t>
            </a:r>
          </a:p>
          <a:p>
            <a:r>
              <a:rPr lang="tr-TR" dirty="0" err="1">
                <a:latin typeface="+mn-lt"/>
              </a:rPr>
              <a:t>Thus</a:t>
            </a:r>
            <a:r>
              <a:rPr lang="tr-TR" dirty="0">
                <a:latin typeface="+mn-lt"/>
              </a:rPr>
              <a:t>, </a:t>
            </a:r>
          </a:p>
        </p:txBody>
      </p:sp>
      <p:graphicFrame>
        <p:nvGraphicFramePr>
          <p:cNvPr id="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4374150"/>
              </p:ext>
            </p:extLst>
          </p:nvPr>
        </p:nvGraphicFramePr>
        <p:xfrm>
          <a:off x="5643570" y="3143250"/>
          <a:ext cx="915987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545760" imgH="215640" progId="Equation.3">
                  <p:embed/>
                </p:oleObj>
              </mc:Choice>
              <mc:Fallback>
                <p:oleObj name="Equation" r:id="rId24" imgW="5457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3570" y="3143250"/>
                        <a:ext cx="915987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6914948"/>
              </p:ext>
            </p:extLst>
          </p:nvPr>
        </p:nvGraphicFramePr>
        <p:xfrm>
          <a:off x="5929313" y="3429000"/>
          <a:ext cx="1303337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787320" imgH="215640" progId="Equation.3">
                  <p:embed/>
                </p:oleObj>
              </mc:Choice>
              <mc:Fallback>
                <p:oleObj name="Equation" r:id="rId26" imgW="78732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9313" y="3429000"/>
                        <a:ext cx="1303337" cy="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3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4323475"/>
              </p:ext>
            </p:extLst>
          </p:nvPr>
        </p:nvGraphicFramePr>
        <p:xfrm>
          <a:off x="1035050" y="4786313"/>
          <a:ext cx="635952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4381200" imgH="393480" progId="Equation.3">
                  <p:embed/>
                </p:oleObj>
              </mc:Choice>
              <mc:Fallback>
                <p:oleObj name="Equation" r:id="rId28" imgW="43812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5050" y="4786313"/>
                        <a:ext cx="6359525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0633799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28661" y="2000240"/>
            <a:ext cx="4286281" cy="171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8 Dikdörtgen"/>
          <p:cNvSpPr/>
          <p:nvPr/>
        </p:nvSpPr>
        <p:spPr>
          <a:xfrm>
            <a:off x="5286380" y="1857364"/>
            <a:ext cx="364333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+mn-lt"/>
              </a:rPr>
              <a:t>KCL at </a:t>
            </a:r>
            <a:r>
              <a:rPr lang="tr-TR" dirty="0">
                <a:latin typeface="+mn-lt"/>
              </a:rPr>
              <a:t>   </a:t>
            </a:r>
            <a:r>
              <a:rPr lang="en-US" dirty="0">
                <a:latin typeface="+mn-lt"/>
              </a:rPr>
              <a:t> </a:t>
            </a:r>
            <a:r>
              <a:rPr lang="tr-TR" dirty="0">
                <a:latin typeface="+mn-lt"/>
              </a:rPr>
              <a:t>  </a:t>
            </a:r>
            <a:r>
              <a:rPr lang="en-US" dirty="0">
                <a:latin typeface="+mn-lt"/>
              </a:rPr>
              <a:t>input of the left hand</a:t>
            </a:r>
          </a:p>
          <a:p>
            <a:r>
              <a:rPr lang="tr-TR" dirty="0" err="1">
                <a:latin typeface="+mn-lt"/>
              </a:rPr>
              <a:t>amplifier</a:t>
            </a:r>
            <a:r>
              <a:rPr lang="tr-TR" dirty="0">
                <a:latin typeface="+mn-lt"/>
              </a:rPr>
              <a:t>           : </a:t>
            </a:r>
          </a:p>
        </p:txBody>
      </p:sp>
      <p:graphicFrame>
        <p:nvGraphicFramePr>
          <p:cNvPr id="3993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6607282"/>
              </p:ext>
            </p:extLst>
          </p:nvPr>
        </p:nvGraphicFramePr>
        <p:xfrm>
          <a:off x="6000750" y="1857375"/>
          <a:ext cx="315913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0440" imgH="215640" progId="Equation.3">
                  <p:embed/>
                </p:oleObj>
              </mc:Choice>
              <mc:Fallback>
                <p:oleObj name="Equation" r:id="rId3" imgW="19044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0750" y="1857375"/>
                        <a:ext cx="315913" cy="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3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5421966"/>
              </p:ext>
            </p:extLst>
          </p:nvPr>
        </p:nvGraphicFramePr>
        <p:xfrm>
          <a:off x="6286500" y="2143125"/>
          <a:ext cx="492125" cy="32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30120" imgH="215640" progId="Equation.3">
                  <p:embed/>
                </p:oleObj>
              </mc:Choice>
              <mc:Fallback>
                <p:oleObj name="Equation" r:id="rId5" imgW="33012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500" y="2143125"/>
                        <a:ext cx="492125" cy="322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9375125"/>
              </p:ext>
            </p:extLst>
          </p:nvPr>
        </p:nvGraphicFramePr>
        <p:xfrm>
          <a:off x="5286375" y="2500313"/>
          <a:ext cx="2786063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38000" imgH="393480" progId="Equation.3">
                  <p:embed/>
                </p:oleObj>
              </mc:Choice>
              <mc:Fallback>
                <p:oleObj name="Equation" r:id="rId7" imgW="16380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6375" y="2500313"/>
                        <a:ext cx="2786063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6409016"/>
              </p:ext>
            </p:extLst>
          </p:nvPr>
        </p:nvGraphicFramePr>
        <p:xfrm>
          <a:off x="2286000" y="3786188"/>
          <a:ext cx="3422650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095200" imgH="393480" progId="Equation.3">
                  <p:embed/>
                </p:oleObj>
              </mc:Choice>
              <mc:Fallback>
                <p:oleObj name="Equation" r:id="rId9" imgW="20952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786188"/>
                        <a:ext cx="3422650" cy="64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18 Nesne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7651207"/>
              </p:ext>
            </p:extLst>
          </p:nvPr>
        </p:nvGraphicFramePr>
        <p:xfrm>
          <a:off x="4114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914400" imgH="215640" progId="Equation.3">
                  <p:embed/>
                </p:oleObj>
              </mc:Choice>
              <mc:Fallback>
                <p:oleObj name="Equation" r:id="rId11" imgW="9144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321050"/>
                        <a:ext cx="9144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1583380"/>
              </p:ext>
            </p:extLst>
          </p:nvPr>
        </p:nvGraphicFramePr>
        <p:xfrm>
          <a:off x="1714480" y="4500570"/>
          <a:ext cx="315168" cy="357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90440" imgH="215640" progId="Equation.3">
                  <p:embed/>
                </p:oleObj>
              </mc:Choice>
              <mc:Fallback>
                <p:oleObj name="Equation" r:id="rId13" imgW="19044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480" y="4500570"/>
                        <a:ext cx="315168" cy="357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9337854"/>
              </p:ext>
            </p:extLst>
          </p:nvPr>
        </p:nvGraphicFramePr>
        <p:xfrm>
          <a:off x="5072066" y="4500570"/>
          <a:ext cx="571504" cy="3598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42720" imgH="215640" progId="Equation.3">
                  <p:embed/>
                </p:oleObj>
              </mc:Choice>
              <mc:Fallback>
                <p:oleObj name="Equation" r:id="rId15" imgW="34272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2066" y="4500570"/>
                        <a:ext cx="571504" cy="3598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24 Dikdörtgen"/>
          <p:cNvSpPr/>
          <p:nvPr/>
        </p:nvSpPr>
        <p:spPr>
          <a:xfrm>
            <a:off x="1000100" y="5286388"/>
            <a:ext cx="67866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+mn-lt"/>
              </a:rPr>
              <a:t>Voltage division for the </a:t>
            </a:r>
            <a:r>
              <a:rPr lang="tr-TR" dirty="0">
                <a:latin typeface="+mn-lt"/>
              </a:rPr>
              <a:t>    </a:t>
            </a:r>
            <a:r>
              <a:rPr lang="en-US" dirty="0">
                <a:latin typeface="+mn-lt"/>
              </a:rPr>
              <a:t> </a:t>
            </a:r>
            <a:r>
              <a:rPr lang="tr-TR" dirty="0">
                <a:latin typeface="+mn-lt"/>
              </a:rPr>
              <a:t> </a:t>
            </a:r>
            <a:r>
              <a:rPr lang="en-US" dirty="0">
                <a:latin typeface="+mn-lt"/>
              </a:rPr>
              <a:t>input of the right hand amplifier </a:t>
            </a:r>
            <a:r>
              <a:rPr lang="tr-TR" dirty="0">
                <a:latin typeface="+mn-lt"/>
              </a:rPr>
              <a:t>           </a:t>
            </a:r>
            <a:r>
              <a:rPr lang="en-US" dirty="0">
                <a:latin typeface="+mn-lt"/>
              </a:rPr>
              <a:t>:</a:t>
            </a:r>
            <a:endParaRPr lang="tr-TR" dirty="0">
              <a:latin typeface="+mn-lt"/>
            </a:endParaRPr>
          </a:p>
        </p:txBody>
      </p:sp>
      <p:graphicFrame>
        <p:nvGraphicFramePr>
          <p:cNvPr id="3995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0549244"/>
              </p:ext>
            </p:extLst>
          </p:nvPr>
        </p:nvGraphicFramePr>
        <p:xfrm>
          <a:off x="3286125" y="5286375"/>
          <a:ext cx="309563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90440" imgH="215640" progId="Equation.3">
                  <p:embed/>
                </p:oleObj>
              </mc:Choice>
              <mc:Fallback>
                <p:oleObj name="Equation" r:id="rId17" imgW="19044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6125" y="5286375"/>
                        <a:ext cx="309563" cy="350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0094119"/>
              </p:ext>
            </p:extLst>
          </p:nvPr>
        </p:nvGraphicFramePr>
        <p:xfrm>
          <a:off x="6643688" y="5286375"/>
          <a:ext cx="571500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342720" imgH="215640" progId="Equation.3">
                  <p:embed/>
                </p:oleObj>
              </mc:Choice>
              <mc:Fallback>
                <p:oleObj name="Equation" r:id="rId19" imgW="34272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3688" y="5286375"/>
                        <a:ext cx="571500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6303278"/>
              </p:ext>
            </p:extLst>
          </p:nvPr>
        </p:nvGraphicFramePr>
        <p:xfrm>
          <a:off x="1071563" y="5500688"/>
          <a:ext cx="3392487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336760" imgH="393480" progId="Equation.3">
                  <p:embed/>
                </p:oleObj>
              </mc:Choice>
              <mc:Fallback>
                <p:oleObj name="Equation" r:id="rId21" imgW="23367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63" y="5500688"/>
                        <a:ext cx="3392487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29 Dikdörtgen"/>
          <p:cNvSpPr/>
          <p:nvPr/>
        </p:nvSpPr>
        <p:spPr>
          <a:xfrm>
            <a:off x="1000100" y="6072206"/>
            <a:ext cx="30181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n-lt"/>
              </a:rPr>
              <a:t>But </a:t>
            </a:r>
            <a:r>
              <a:rPr lang="tr-TR" dirty="0">
                <a:latin typeface="+mn-lt"/>
              </a:rPr>
              <a:t>                 </a:t>
            </a:r>
            <a:r>
              <a:rPr lang="en-US" dirty="0">
                <a:latin typeface="+mn-lt"/>
              </a:rPr>
              <a:t>so, set (2) = (3) :</a:t>
            </a:r>
            <a:endParaRPr lang="tr-TR" dirty="0">
              <a:latin typeface="+mn-lt"/>
            </a:endParaRPr>
          </a:p>
        </p:txBody>
      </p:sp>
      <p:graphicFrame>
        <p:nvGraphicFramePr>
          <p:cNvPr id="3995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2508891"/>
              </p:ext>
            </p:extLst>
          </p:nvPr>
        </p:nvGraphicFramePr>
        <p:xfrm>
          <a:off x="1428750" y="6072188"/>
          <a:ext cx="890588" cy="322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596880" imgH="215640" progId="Equation.3">
                  <p:embed/>
                </p:oleObj>
              </mc:Choice>
              <mc:Fallback>
                <p:oleObj name="Equation" r:id="rId23" imgW="5968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0" y="6072188"/>
                        <a:ext cx="890588" cy="322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0673731"/>
              </p:ext>
            </p:extLst>
          </p:nvPr>
        </p:nvGraphicFramePr>
        <p:xfrm>
          <a:off x="4214813" y="5929313"/>
          <a:ext cx="3732212" cy="69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108160" imgH="393480" progId="Equation.3">
                  <p:embed/>
                </p:oleObj>
              </mc:Choice>
              <mc:Fallback>
                <p:oleObj name="Equation" r:id="rId25" imgW="21081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4813" y="5929313"/>
                        <a:ext cx="3732212" cy="696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17 Dikdörtgen"/>
          <p:cNvSpPr/>
          <p:nvPr/>
        </p:nvSpPr>
        <p:spPr>
          <a:xfrm>
            <a:off x="1000100" y="4500570"/>
            <a:ext cx="80010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+mn-lt"/>
              </a:rPr>
              <a:t>KCL at </a:t>
            </a:r>
            <a:r>
              <a:rPr lang="tr-TR" dirty="0">
                <a:latin typeface="+mn-lt"/>
              </a:rPr>
              <a:t>  </a:t>
            </a:r>
            <a:r>
              <a:rPr lang="en-US" dirty="0">
                <a:latin typeface="+mn-lt"/>
              </a:rPr>
              <a:t> </a:t>
            </a:r>
            <a:r>
              <a:rPr lang="tr-TR" dirty="0">
                <a:latin typeface="+mn-lt"/>
              </a:rPr>
              <a:t>   </a:t>
            </a:r>
            <a:r>
              <a:rPr lang="en-US" dirty="0">
                <a:latin typeface="+mn-lt"/>
              </a:rPr>
              <a:t>input of the right hand amplifier </a:t>
            </a:r>
            <a:r>
              <a:rPr lang="tr-TR" dirty="0">
                <a:latin typeface="+mn-lt"/>
              </a:rPr>
              <a:t>           </a:t>
            </a:r>
            <a:r>
              <a:rPr lang="en-US" dirty="0">
                <a:latin typeface="+mn-lt"/>
              </a:rPr>
              <a:t> &amp; substituting for </a:t>
            </a:r>
            <a:r>
              <a:rPr lang="tr-TR" dirty="0">
                <a:latin typeface="+mn-lt"/>
              </a:rPr>
              <a:t>      </a:t>
            </a:r>
            <a:r>
              <a:rPr lang="en-US" dirty="0">
                <a:latin typeface="+mn-lt"/>
              </a:rPr>
              <a:t>from (1):</a:t>
            </a:r>
            <a:endParaRPr lang="tr-TR" dirty="0">
              <a:latin typeface="+mn-lt"/>
            </a:endParaRPr>
          </a:p>
        </p:txBody>
      </p:sp>
      <p:graphicFrame>
        <p:nvGraphicFramePr>
          <p:cNvPr id="3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934091"/>
              </p:ext>
            </p:extLst>
          </p:nvPr>
        </p:nvGraphicFramePr>
        <p:xfrm>
          <a:off x="7381897" y="4500573"/>
          <a:ext cx="33337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77480" imgH="228600" progId="Equation.3">
                  <p:embed/>
                </p:oleObj>
              </mc:Choice>
              <mc:Fallback>
                <p:oleObj name="Equation" r:id="rId27" imgW="1774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1897" y="4500573"/>
                        <a:ext cx="33337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15 Dikdörtgen"/>
          <p:cNvSpPr/>
          <p:nvPr/>
        </p:nvSpPr>
        <p:spPr>
          <a:xfrm>
            <a:off x="857224" y="3929066"/>
            <a:ext cx="14026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n-lt"/>
              </a:rPr>
              <a:t>(</a:t>
            </a:r>
            <a:r>
              <a:rPr lang="tr-TR" dirty="0">
                <a:latin typeface="+mn-lt"/>
              </a:rPr>
              <a:t>1) becomes:</a:t>
            </a:r>
          </a:p>
        </p:txBody>
      </p:sp>
      <p:sp>
        <p:nvSpPr>
          <p:cNvPr id="33" name="5 Dikdörtgen"/>
          <p:cNvSpPr/>
          <p:nvPr/>
        </p:nvSpPr>
        <p:spPr>
          <a:xfrm>
            <a:off x="571472" y="1000108"/>
            <a:ext cx="664371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Find the voltage transfer equation for the below circuit. Use the</a:t>
            </a:r>
          </a:p>
          <a:p>
            <a:r>
              <a:rPr lang="tr-TR" dirty="0"/>
              <a:t>ideal </a:t>
            </a:r>
            <a:r>
              <a:rPr lang="tr-TR" dirty="0" err="1"/>
              <a:t>voltage</a:t>
            </a:r>
            <a:r>
              <a:rPr lang="tr-TR" dirty="0"/>
              <a:t> </a:t>
            </a:r>
            <a:r>
              <a:rPr lang="tr-TR" dirty="0" err="1"/>
              <a:t>amplifier</a:t>
            </a:r>
            <a:r>
              <a:rPr lang="tr-TR" dirty="0"/>
              <a:t> model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op </a:t>
            </a:r>
            <a:r>
              <a:rPr lang="tr-TR" dirty="0" err="1"/>
              <a:t>amps</a:t>
            </a:r>
            <a:r>
              <a:rPr lang="tr-TR" dirty="0"/>
              <a:t>.</a:t>
            </a:r>
          </a:p>
        </p:txBody>
      </p:sp>
      <p:sp>
        <p:nvSpPr>
          <p:cNvPr id="34" name="Slide Number Placeholder 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E67AD-EE34-4E0A-BCCB-0D14F4380E44}" type="slidenum">
              <a:rPr lang="tr-TR" smtClean="0"/>
              <a:pPr/>
              <a:t>29</a:t>
            </a:fld>
            <a:endParaRPr lang="tr-TR" dirty="0"/>
          </a:p>
        </p:txBody>
      </p:sp>
      <p:sp>
        <p:nvSpPr>
          <p:cNvPr id="35" name="Footer Placeholder 3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Ali Muhtaroglu</a:t>
            </a:r>
          </a:p>
        </p:txBody>
      </p:sp>
      <p:sp>
        <p:nvSpPr>
          <p:cNvPr id="36" name="1 Başlık"/>
          <p:cNvSpPr>
            <a:spLocks noGrp="1"/>
          </p:cNvSpPr>
          <p:nvPr>
            <p:ph type="title"/>
          </p:nvPr>
        </p:nvSpPr>
        <p:spPr>
          <a:xfrm>
            <a:off x="214282" y="71422"/>
            <a:ext cx="8229600" cy="928686"/>
          </a:xfrm>
        </p:spPr>
        <p:txBody>
          <a:bodyPr>
            <a:normAutofit/>
          </a:bodyPr>
          <a:lstStyle/>
          <a:p>
            <a:pPr algn="l"/>
            <a:r>
              <a:rPr lang="tr-TR" sz="3200" dirty="0"/>
              <a:t>    </a:t>
            </a:r>
            <a:r>
              <a:rPr lang="tr-TR" sz="3200" dirty="0" err="1"/>
              <a:t>Example</a:t>
            </a:r>
            <a:r>
              <a:rPr lang="tr-TR" sz="3200" dirty="0"/>
              <a:t> 3 (Johnson &amp; Johnson P:99)</a:t>
            </a:r>
          </a:p>
        </p:txBody>
      </p:sp>
      <p:sp>
        <p:nvSpPr>
          <p:cNvPr id="37" name="12 Dikdörtgen"/>
          <p:cNvSpPr/>
          <p:nvPr/>
        </p:nvSpPr>
        <p:spPr>
          <a:xfrm>
            <a:off x="5214942" y="3143248"/>
            <a:ext cx="392905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+mn-lt"/>
              </a:rPr>
              <a:t>But </a:t>
            </a:r>
            <a:r>
              <a:rPr lang="tr-TR" dirty="0">
                <a:latin typeface="+mn-lt"/>
              </a:rPr>
              <a:t>                  </a:t>
            </a:r>
            <a:r>
              <a:rPr lang="en-US" dirty="0">
                <a:latin typeface="+mn-lt"/>
              </a:rPr>
              <a:t>by 2nd ideal op-amp rule.</a:t>
            </a:r>
          </a:p>
          <a:p>
            <a:r>
              <a:rPr lang="tr-TR" dirty="0" err="1">
                <a:latin typeface="+mn-lt"/>
              </a:rPr>
              <a:t>Thus</a:t>
            </a:r>
            <a:r>
              <a:rPr lang="tr-TR" dirty="0">
                <a:latin typeface="+mn-lt"/>
              </a:rPr>
              <a:t>, </a:t>
            </a:r>
          </a:p>
        </p:txBody>
      </p:sp>
      <p:graphicFrame>
        <p:nvGraphicFramePr>
          <p:cNvPr id="3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7025882"/>
              </p:ext>
            </p:extLst>
          </p:nvPr>
        </p:nvGraphicFramePr>
        <p:xfrm>
          <a:off x="5643570" y="3143250"/>
          <a:ext cx="915987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545760" imgH="215640" progId="Equation.3">
                  <p:embed/>
                </p:oleObj>
              </mc:Choice>
              <mc:Fallback>
                <p:oleObj name="Equation" r:id="rId29" imgW="5457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3570" y="3143250"/>
                        <a:ext cx="915987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9867853"/>
              </p:ext>
            </p:extLst>
          </p:nvPr>
        </p:nvGraphicFramePr>
        <p:xfrm>
          <a:off x="5929313" y="3429000"/>
          <a:ext cx="1303337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787320" imgH="215640" progId="Equation.3">
                  <p:embed/>
                </p:oleObj>
              </mc:Choice>
              <mc:Fallback>
                <p:oleObj name="Equation" r:id="rId31" imgW="78732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9313" y="3429000"/>
                        <a:ext cx="1303337" cy="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9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0374918"/>
              </p:ext>
            </p:extLst>
          </p:nvPr>
        </p:nvGraphicFramePr>
        <p:xfrm>
          <a:off x="1035050" y="4786313"/>
          <a:ext cx="635952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4381200" imgH="393480" progId="Equation.3">
                  <p:embed/>
                </p:oleObj>
              </mc:Choice>
              <mc:Fallback>
                <p:oleObj name="Equation" r:id="rId33" imgW="43812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5050" y="4786313"/>
                        <a:ext cx="6359525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700080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500034" y="214290"/>
            <a:ext cx="7143800" cy="571504"/>
          </a:xfrm>
        </p:spPr>
        <p:txBody>
          <a:bodyPr>
            <a:normAutofit fontScale="90000"/>
          </a:bodyPr>
          <a:lstStyle/>
          <a:p>
            <a:r>
              <a:rPr lang="tr-TR" sz="3600" dirty="0" err="1"/>
              <a:t>Improved</a:t>
            </a:r>
            <a:r>
              <a:rPr lang="tr-TR" sz="3600" dirty="0"/>
              <a:t> Op-</a:t>
            </a:r>
            <a:r>
              <a:rPr lang="tr-TR" sz="3600" dirty="0" err="1"/>
              <a:t>Amp</a:t>
            </a:r>
            <a:r>
              <a:rPr lang="tr-TR" sz="3600" dirty="0"/>
              <a:t> Model</a:t>
            </a:r>
          </a:p>
        </p:txBody>
      </p:sp>
      <p:sp>
        <p:nvSpPr>
          <p:cNvPr id="6" name="5 Dikdörtgen"/>
          <p:cNvSpPr/>
          <p:nvPr/>
        </p:nvSpPr>
        <p:spPr>
          <a:xfrm>
            <a:off x="885120" y="1142984"/>
            <a:ext cx="775884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8925" indent="-288925" algn="just"/>
            <a:r>
              <a:rPr lang="en-US" sz="2000" dirty="0">
                <a:latin typeface="+mn-lt"/>
              </a:rPr>
              <a:t>•  The ideal model projects no current draw from the input</a:t>
            </a:r>
            <a:r>
              <a:rPr lang="tr-TR" sz="2000" dirty="0">
                <a:latin typeface="+mn-lt"/>
              </a:rPr>
              <a:t> </a:t>
            </a:r>
            <a:r>
              <a:rPr lang="en-US" sz="2000" dirty="0">
                <a:latin typeface="+mn-lt"/>
              </a:rPr>
              <a:t>source, and the power delivered to the load at the output may</a:t>
            </a:r>
            <a:r>
              <a:rPr lang="tr-TR" sz="2000" dirty="0">
                <a:latin typeface="+mn-lt"/>
              </a:rPr>
              <a:t> </a:t>
            </a:r>
            <a:r>
              <a:rPr lang="en-US" sz="2000" dirty="0">
                <a:latin typeface="+mn-lt"/>
              </a:rPr>
              <a:t>be infinitely large if load resistance is small</a:t>
            </a:r>
            <a:r>
              <a:rPr lang="tr-TR" sz="2000" dirty="0">
                <a:latin typeface="+mn-lt"/>
              </a:rPr>
              <a:t> (v²/R).</a:t>
            </a:r>
            <a:endParaRPr lang="en-US" sz="2000" dirty="0">
              <a:latin typeface="+mn-lt"/>
            </a:endParaRPr>
          </a:p>
          <a:p>
            <a:pPr marL="288925" indent="-288925" algn="just"/>
            <a:endParaRPr lang="en-US" sz="2000" dirty="0">
              <a:latin typeface="+mn-lt"/>
            </a:endParaRPr>
          </a:p>
          <a:p>
            <a:pPr marL="288925" indent="-288925" algn="just"/>
            <a:r>
              <a:rPr lang="en-US" sz="2000" dirty="0">
                <a:latin typeface="+mn-lt"/>
              </a:rPr>
              <a:t>•  In reality there is always some current draw at the inputs,</a:t>
            </a:r>
            <a:r>
              <a:rPr lang="tr-TR" sz="2000" dirty="0">
                <a:latin typeface="+mn-lt"/>
              </a:rPr>
              <a:t> </a:t>
            </a:r>
            <a:r>
              <a:rPr lang="en-US" sz="2000" dirty="0">
                <a:latin typeface="+mn-lt"/>
              </a:rPr>
              <a:t>however small, and there is a finite output resistance, as shown</a:t>
            </a:r>
            <a:r>
              <a:rPr lang="tr-TR" sz="2000" dirty="0">
                <a:latin typeface="+mn-lt"/>
              </a:rPr>
              <a:t> </a:t>
            </a:r>
            <a:r>
              <a:rPr lang="en-US" sz="2000" dirty="0">
                <a:latin typeface="+mn-lt"/>
              </a:rPr>
              <a:t>in the below improved model.</a:t>
            </a:r>
            <a:endParaRPr lang="tr-TR" sz="2000" dirty="0">
              <a:latin typeface="+mn-lt"/>
            </a:endParaRPr>
          </a:p>
        </p:txBody>
      </p:sp>
      <p:pic>
        <p:nvPicPr>
          <p:cNvPr id="41990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85852" y="3714752"/>
            <a:ext cx="1465271" cy="19992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991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86116" y="3714752"/>
            <a:ext cx="2286016" cy="20153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7 Metin kutusu"/>
          <p:cNvSpPr txBox="1"/>
          <p:nvPr/>
        </p:nvSpPr>
        <p:spPr>
          <a:xfrm>
            <a:off x="5715008" y="4143380"/>
            <a:ext cx="30003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>
                <a:latin typeface="+mn-lt"/>
              </a:rPr>
              <a:t>Typical</a:t>
            </a:r>
            <a:r>
              <a:rPr lang="tr-TR" dirty="0">
                <a:latin typeface="+mn-lt"/>
              </a:rPr>
              <a:t> </a:t>
            </a:r>
            <a:r>
              <a:rPr lang="tr-TR" dirty="0" err="1">
                <a:latin typeface="+mn-lt"/>
              </a:rPr>
              <a:t>values</a:t>
            </a:r>
            <a:r>
              <a:rPr lang="tr-TR" dirty="0">
                <a:latin typeface="+mn-lt"/>
              </a:rPr>
              <a:t> </a:t>
            </a:r>
            <a:r>
              <a:rPr lang="tr-TR" dirty="0" err="1">
                <a:latin typeface="+mn-lt"/>
              </a:rPr>
              <a:t>for</a:t>
            </a:r>
            <a:r>
              <a:rPr lang="tr-TR" dirty="0">
                <a:latin typeface="+mn-lt"/>
              </a:rPr>
              <a:t> </a:t>
            </a:r>
            <a:r>
              <a:rPr lang="tr-TR" dirty="0" err="1">
                <a:latin typeface="+mn-lt"/>
              </a:rPr>
              <a:t>common</a:t>
            </a:r>
            <a:r>
              <a:rPr lang="tr-TR" dirty="0">
                <a:latin typeface="+mn-lt"/>
              </a:rPr>
              <a:t> op-</a:t>
            </a:r>
            <a:r>
              <a:rPr lang="tr-TR" dirty="0" err="1">
                <a:latin typeface="+mn-lt"/>
              </a:rPr>
              <a:t>amps</a:t>
            </a:r>
            <a:r>
              <a:rPr lang="tr-TR" dirty="0">
                <a:latin typeface="+mn-lt"/>
              </a:rPr>
              <a:t> </a:t>
            </a:r>
            <a:r>
              <a:rPr lang="tr-TR" dirty="0" err="1">
                <a:latin typeface="+mn-lt"/>
              </a:rPr>
              <a:t>are</a:t>
            </a:r>
            <a:r>
              <a:rPr lang="tr-TR" dirty="0">
                <a:latin typeface="+mn-lt"/>
              </a:rPr>
              <a:t>:</a:t>
            </a:r>
          </a:p>
        </p:txBody>
      </p:sp>
      <p:graphicFrame>
        <p:nvGraphicFramePr>
          <p:cNvPr id="10" name="9 Nesne"/>
          <p:cNvGraphicFramePr>
            <a:graphicFrameLocks noChangeAspect="1"/>
          </p:cNvGraphicFramePr>
          <p:nvPr/>
        </p:nvGraphicFramePr>
        <p:xfrm>
          <a:off x="4114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14400" imgH="215640" progId="Equation.3">
                  <p:embed/>
                </p:oleObj>
              </mc:Choice>
              <mc:Fallback>
                <p:oleObj name="Equation" r:id="rId4" imgW="9144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321050"/>
                        <a:ext cx="9144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2" name="Object 4"/>
          <p:cNvGraphicFramePr>
            <a:graphicFrameLocks noChangeAspect="1"/>
          </p:cNvGraphicFramePr>
          <p:nvPr/>
        </p:nvGraphicFramePr>
        <p:xfrm>
          <a:off x="5929322" y="4857760"/>
          <a:ext cx="2714644" cy="4038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36480" imgH="228600" progId="Equation.3">
                  <p:embed/>
                </p:oleObj>
              </mc:Choice>
              <mc:Fallback>
                <p:oleObj name="Equation" r:id="rId6" imgW="15364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9322" y="4857760"/>
                        <a:ext cx="2714644" cy="4038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E67AD-EE34-4E0A-BCCB-0D14F4380E44}" type="slidenum">
              <a:rPr lang="tr-TR" smtClean="0"/>
              <a:pPr/>
              <a:t>30</a:t>
            </a:fld>
            <a:endParaRPr lang="tr-TR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Ali Muhtaroglu</a:t>
            </a:r>
          </a:p>
        </p:txBody>
      </p:sp>
    </p:spTree>
    <p:extLst>
      <p:ext uri="{BB962C8B-B14F-4D97-AF65-F5344CB8AC3E}">
        <p14:creationId xmlns:p14="http://schemas.microsoft.com/office/powerpoint/2010/main" val="39914877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28596" y="214290"/>
            <a:ext cx="7143800" cy="428628"/>
          </a:xfrm>
        </p:spPr>
        <p:txBody>
          <a:bodyPr>
            <a:normAutofit fontScale="90000"/>
          </a:bodyPr>
          <a:lstStyle/>
          <a:p>
            <a:pPr algn="l"/>
            <a:r>
              <a:rPr lang="tr-TR" sz="3200" dirty="0" err="1"/>
              <a:t>Example</a:t>
            </a:r>
            <a:r>
              <a:rPr lang="tr-TR" sz="3200" dirty="0"/>
              <a:t> 1 </a:t>
            </a:r>
            <a:r>
              <a:rPr lang="tr-TR" sz="3200" dirty="0" err="1"/>
              <a:t>repeated</a:t>
            </a:r>
            <a:r>
              <a:rPr lang="tr-TR" sz="3200" dirty="0"/>
              <a:t> w/ </a:t>
            </a:r>
            <a:r>
              <a:rPr lang="tr-TR" sz="3200" dirty="0" err="1"/>
              <a:t>improved</a:t>
            </a:r>
            <a:r>
              <a:rPr lang="tr-TR" sz="3200" dirty="0"/>
              <a:t> model</a:t>
            </a:r>
          </a:p>
        </p:txBody>
      </p:sp>
      <p:graphicFrame>
        <p:nvGraphicFramePr>
          <p:cNvPr id="7" name="6 Nesne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4557405"/>
              </p:ext>
            </p:extLst>
          </p:nvPr>
        </p:nvGraphicFramePr>
        <p:xfrm>
          <a:off x="4114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14400" imgH="215640" progId="Equation.3">
                  <p:embed/>
                </p:oleObj>
              </mc:Choice>
              <mc:Fallback>
                <p:oleObj name="Equation" r:id="rId2" imgW="9144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321050"/>
                        <a:ext cx="9144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11 Nesne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944924"/>
              </p:ext>
            </p:extLst>
          </p:nvPr>
        </p:nvGraphicFramePr>
        <p:xfrm>
          <a:off x="4114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14400" imgH="215640" progId="Equation.3">
                  <p:embed/>
                </p:oleObj>
              </mc:Choice>
              <mc:Fallback>
                <p:oleObj name="Equation" r:id="rId4" imgW="9144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321050"/>
                        <a:ext cx="9144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9463974"/>
              </p:ext>
            </p:extLst>
          </p:nvPr>
        </p:nvGraphicFramePr>
        <p:xfrm>
          <a:off x="500063" y="2286000"/>
          <a:ext cx="11779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72840" imgH="228600" progId="Equation.3">
                  <p:embed/>
                </p:oleObj>
              </mc:Choice>
              <mc:Fallback>
                <p:oleObj name="Equation" r:id="rId5" imgW="6728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3" y="2286000"/>
                        <a:ext cx="1177925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8135559"/>
              </p:ext>
            </p:extLst>
          </p:nvPr>
        </p:nvGraphicFramePr>
        <p:xfrm>
          <a:off x="500063" y="1928813"/>
          <a:ext cx="1135062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85800" imgH="215640" progId="Equation.3">
                  <p:embed/>
                </p:oleObj>
              </mc:Choice>
              <mc:Fallback>
                <p:oleObj name="Equation" r:id="rId7" imgW="6858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3" y="1928813"/>
                        <a:ext cx="1135062" cy="35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6439088"/>
              </p:ext>
            </p:extLst>
          </p:nvPr>
        </p:nvGraphicFramePr>
        <p:xfrm>
          <a:off x="500063" y="1643063"/>
          <a:ext cx="1277937" cy="30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49160" imgH="177480" progId="Equation.3">
                  <p:embed/>
                </p:oleObj>
              </mc:Choice>
              <mc:Fallback>
                <p:oleObj name="Equation" r:id="rId9" imgW="74916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3" y="1643063"/>
                        <a:ext cx="1277937" cy="303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21 Metin kutusu"/>
          <p:cNvSpPr txBox="1"/>
          <p:nvPr/>
        </p:nvSpPr>
        <p:spPr>
          <a:xfrm>
            <a:off x="500034" y="928670"/>
            <a:ext cx="8001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dirty="0" err="1">
                <a:latin typeface="+mn-lt"/>
              </a:rPr>
              <a:t>Determine</a:t>
            </a:r>
            <a:r>
              <a:rPr lang="tr-TR" sz="2000" dirty="0">
                <a:latin typeface="+mn-lt"/>
              </a:rPr>
              <a:t> </a:t>
            </a:r>
            <a:r>
              <a:rPr lang="tr-TR" sz="2000" dirty="0" err="1">
                <a:latin typeface="+mn-lt"/>
              </a:rPr>
              <a:t>voltages</a:t>
            </a:r>
            <a:r>
              <a:rPr lang="tr-TR" sz="2000" dirty="0">
                <a:latin typeface="+mn-lt"/>
              </a:rPr>
              <a:t>       </a:t>
            </a:r>
            <a:r>
              <a:rPr lang="tr-TR" sz="2000" dirty="0" err="1">
                <a:latin typeface="+mn-lt"/>
              </a:rPr>
              <a:t>and</a:t>
            </a:r>
            <a:r>
              <a:rPr lang="tr-TR" sz="2000" dirty="0">
                <a:latin typeface="+mn-lt"/>
              </a:rPr>
              <a:t>       . </a:t>
            </a:r>
            <a:r>
              <a:rPr lang="tr-TR" sz="2000" dirty="0" err="1">
                <a:latin typeface="+mn-lt"/>
              </a:rPr>
              <a:t>Use</a:t>
            </a:r>
            <a:r>
              <a:rPr lang="tr-TR" sz="2000" dirty="0">
                <a:latin typeface="+mn-lt"/>
              </a:rPr>
              <a:t> </a:t>
            </a:r>
            <a:r>
              <a:rPr lang="tr-TR" sz="2000" dirty="0" err="1">
                <a:latin typeface="+mn-lt"/>
              </a:rPr>
              <a:t>improved</a:t>
            </a:r>
            <a:r>
              <a:rPr lang="tr-TR" sz="2000" dirty="0">
                <a:latin typeface="+mn-lt"/>
              </a:rPr>
              <a:t> op-</a:t>
            </a:r>
            <a:r>
              <a:rPr lang="tr-TR" sz="2000" dirty="0" err="1">
                <a:latin typeface="+mn-lt"/>
              </a:rPr>
              <a:t>amp</a:t>
            </a:r>
            <a:r>
              <a:rPr lang="tr-TR" sz="2000" dirty="0">
                <a:latin typeface="+mn-lt"/>
              </a:rPr>
              <a:t> model.</a:t>
            </a:r>
          </a:p>
        </p:txBody>
      </p:sp>
      <p:graphicFrame>
        <p:nvGraphicFramePr>
          <p:cNvPr id="4916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777537"/>
              </p:ext>
            </p:extLst>
          </p:nvPr>
        </p:nvGraphicFramePr>
        <p:xfrm>
          <a:off x="2643188" y="928670"/>
          <a:ext cx="33337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77480" imgH="228600" progId="Equation.3">
                  <p:embed/>
                </p:oleObj>
              </mc:Choice>
              <mc:Fallback>
                <p:oleObj name="Equation" r:id="rId11" imgW="1774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3188" y="928670"/>
                        <a:ext cx="33337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1404595"/>
              </p:ext>
            </p:extLst>
          </p:nvPr>
        </p:nvGraphicFramePr>
        <p:xfrm>
          <a:off x="3429000" y="928670"/>
          <a:ext cx="33337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77480" imgH="228600" progId="Equation.3">
                  <p:embed/>
                </p:oleObj>
              </mc:Choice>
              <mc:Fallback>
                <p:oleObj name="Equation" r:id="rId13" imgW="1774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928670"/>
                        <a:ext cx="33337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9170" name="Picture 18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428860" y="1428736"/>
            <a:ext cx="5643602" cy="1982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E67AD-EE34-4E0A-BCCB-0D14F4380E44}" type="slidenum">
              <a:rPr lang="tr-TR" smtClean="0"/>
              <a:pPr/>
              <a:t>31</a:t>
            </a:fld>
            <a:endParaRPr lang="tr-TR" dirty="0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Ali Muhtaroglu</a:t>
            </a:r>
          </a:p>
        </p:txBody>
      </p:sp>
    </p:spTree>
    <p:extLst>
      <p:ext uri="{BB962C8B-B14F-4D97-AF65-F5344CB8AC3E}">
        <p14:creationId xmlns:p14="http://schemas.microsoft.com/office/powerpoint/2010/main" val="3080425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18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2003822"/>
              </p:ext>
            </p:extLst>
          </p:nvPr>
        </p:nvGraphicFramePr>
        <p:xfrm>
          <a:off x="500063" y="1643063"/>
          <a:ext cx="1277937" cy="30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49160" imgH="177480" progId="Equation.3">
                  <p:embed/>
                </p:oleObj>
              </mc:Choice>
              <mc:Fallback>
                <p:oleObj name="Equation" r:id="rId2" imgW="74916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3" y="1643063"/>
                        <a:ext cx="1277937" cy="303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6679052"/>
              </p:ext>
            </p:extLst>
          </p:nvPr>
        </p:nvGraphicFramePr>
        <p:xfrm>
          <a:off x="500063" y="1928813"/>
          <a:ext cx="1135062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85800" imgH="215640" progId="Equation.3">
                  <p:embed/>
                </p:oleObj>
              </mc:Choice>
              <mc:Fallback>
                <p:oleObj name="Equation" r:id="rId4" imgW="6858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3" y="1928813"/>
                        <a:ext cx="1135062" cy="35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6494528"/>
              </p:ext>
            </p:extLst>
          </p:nvPr>
        </p:nvGraphicFramePr>
        <p:xfrm>
          <a:off x="500063" y="2286000"/>
          <a:ext cx="11779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40" imgH="228600" progId="Equation.3">
                  <p:embed/>
                </p:oleObj>
              </mc:Choice>
              <mc:Fallback>
                <p:oleObj name="Equation" r:id="rId6" imgW="6728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3" y="2286000"/>
                        <a:ext cx="1177925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13 Metin kutusu"/>
          <p:cNvSpPr txBox="1"/>
          <p:nvPr/>
        </p:nvSpPr>
        <p:spPr>
          <a:xfrm>
            <a:off x="500034" y="3286124"/>
            <a:ext cx="2428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u="sng" dirty="0" err="1">
                <a:latin typeface="+mn-lt"/>
              </a:rPr>
              <a:t>Improved</a:t>
            </a:r>
            <a:r>
              <a:rPr lang="tr-TR" u="sng" dirty="0">
                <a:latin typeface="+mn-lt"/>
              </a:rPr>
              <a:t> Model:</a:t>
            </a:r>
          </a:p>
        </p:txBody>
      </p:sp>
      <p:graphicFrame>
        <p:nvGraphicFramePr>
          <p:cNvPr id="15" name="14 Nesne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1697290"/>
              </p:ext>
            </p:extLst>
          </p:nvPr>
        </p:nvGraphicFramePr>
        <p:xfrm>
          <a:off x="4114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14400" imgH="215640" progId="Equation.3">
                  <p:embed/>
                </p:oleObj>
              </mc:Choice>
              <mc:Fallback>
                <p:oleObj name="Equation" r:id="rId8" imgW="9144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321050"/>
                        <a:ext cx="9144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0184" name="Picture 8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500034" y="3643314"/>
            <a:ext cx="1625267" cy="1285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7" name="16 Nesne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837552"/>
              </p:ext>
            </p:extLst>
          </p:nvPr>
        </p:nvGraphicFramePr>
        <p:xfrm>
          <a:off x="4114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914400" imgH="215640" progId="Equation.3">
                  <p:embed/>
                </p:oleObj>
              </mc:Choice>
              <mc:Fallback>
                <p:oleObj name="Equation" r:id="rId11" imgW="9144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321050"/>
                        <a:ext cx="9144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" name="Picture 18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2428860" y="1428736"/>
            <a:ext cx="5643602" cy="1982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0189" name="Picture 13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2357422" y="3429000"/>
            <a:ext cx="3214710" cy="162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0190" name="Picture 14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715008" y="3429000"/>
            <a:ext cx="1214446" cy="1566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25" name="24 Nesne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5834857"/>
              </p:ext>
            </p:extLst>
          </p:nvPr>
        </p:nvGraphicFramePr>
        <p:xfrm>
          <a:off x="4114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914400" imgH="215640" progId="Equation.3">
                  <p:embed/>
                </p:oleObj>
              </mc:Choice>
              <mc:Fallback>
                <p:oleObj name="Equation" r:id="rId15" imgW="9144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321050"/>
                        <a:ext cx="9144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21 Metin kutusu"/>
          <p:cNvSpPr txBox="1"/>
          <p:nvPr/>
        </p:nvSpPr>
        <p:spPr>
          <a:xfrm>
            <a:off x="500034" y="928670"/>
            <a:ext cx="8001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dirty="0" err="1">
                <a:latin typeface="+mn-lt"/>
              </a:rPr>
              <a:t>Determine</a:t>
            </a:r>
            <a:r>
              <a:rPr lang="tr-TR" sz="2000" dirty="0">
                <a:latin typeface="+mn-lt"/>
              </a:rPr>
              <a:t> </a:t>
            </a:r>
            <a:r>
              <a:rPr lang="tr-TR" sz="2000" dirty="0" err="1">
                <a:latin typeface="+mn-lt"/>
              </a:rPr>
              <a:t>voltages</a:t>
            </a:r>
            <a:r>
              <a:rPr lang="tr-TR" sz="2000" dirty="0">
                <a:latin typeface="+mn-lt"/>
              </a:rPr>
              <a:t>       </a:t>
            </a:r>
            <a:r>
              <a:rPr lang="tr-TR" sz="2000" dirty="0" err="1">
                <a:latin typeface="+mn-lt"/>
              </a:rPr>
              <a:t>and</a:t>
            </a:r>
            <a:r>
              <a:rPr lang="tr-TR" sz="2000" dirty="0">
                <a:latin typeface="+mn-lt"/>
              </a:rPr>
              <a:t>       . </a:t>
            </a:r>
            <a:r>
              <a:rPr lang="tr-TR" sz="2000" dirty="0" err="1">
                <a:latin typeface="+mn-lt"/>
              </a:rPr>
              <a:t>Use</a:t>
            </a:r>
            <a:r>
              <a:rPr lang="tr-TR" sz="2000" dirty="0">
                <a:latin typeface="+mn-lt"/>
              </a:rPr>
              <a:t> </a:t>
            </a:r>
            <a:r>
              <a:rPr lang="tr-TR" sz="2000" dirty="0" err="1">
                <a:latin typeface="+mn-lt"/>
              </a:rPr>
              <a:t>improved</a:t>
            </a:r>
            <a:r>
              <a:rPr lang="tr-TR" sz="2000" dirty="0">
                <a:latin typeface="+mn-lt"/>
              </a:rPr>
              <a:t> op-</a:t>
            </a:r>
            <a:r>
              <a:rPr lang="tr-TR" sz="2000" dirty="0" err="1">
                <a:latin typeface="+mn-lt"/>
              </a:rPr>
              <a:t>amp</a:t>
            </a:r>
            <a:r>
              <a:rPr lang="tr-TR" sz="2000" dirty="0">
                <a:latin typeface="+mn-lt"/>
              </a:rPr>
              <a:t> model.</a:t>
            </a:r>
          </a:p>
        </p:txBody>
      </p:sp>
      <p:graphicFrame>
        <p:nvGraphicFramePr>
          <p:cNvPr id="21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0439885"/>
              </p:ext>
            </p:extLst>
          </p:nvPr>
        </p:nvGraphicFramePr>
        <p:xfrm>
          <a:off x="2643188" y="928670"/>
          <a:ext cx="33337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77480" imgH="228600" progId="Equation.3">
                  <p:embed/>
                </p:oleObj>
              </mc:Choice>
              <mc:Fallback>
                <p:oleObj name="Equation" r:id="rId16" imgW="1774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3188" y="928670"/>
                        <a:ext cx="33337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8803095"/>
              </p:ext>
            </p:extLst>
          </p:nvPr>
        </p:nvGraphicFramePr>
        <p:xfrm>
          <a:off x="3429000" y="928670"/>
          <a:ext cx="33337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77480" imgH="228600" progId="Equation.3">
                  <p:embed/>
                </p:oleObj>
              </mc:Choice>
              <mc:Fallback>
                <p:oleObj name="Equation" r:id="rId18" imgW="1774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928670"/>
                        <a:ext cx="33337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E67AD-EE34-4E0A-BCCB-0D14F4380E44}" type="slidenum">
              <a:rPr lang="tr-TR" smtClean="0"/>
              <a:pPr/>
              <a:t>32</a:t>
            </a:fld>
            <a:endParaRPr lang="tr-TR" dirty="0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Ali Muhtaroglu</a:t>
            </a:r>
          </a:p>
        </p:txBody>
      </p:sp>
      <p:sp>
        <p:nvSpPr>
          <p:cNvPr id="27" name="1 Başlık"/>
          <p:cNvSpPr>
            <a:spLocks noGrp="1"/>
          </p:cNvSpPr>
          <p:nvPr>
            <p:ph type="title"/>
          </p:nvPr>
        </p:nvSpPr>
        <p:spPr>
          <a:xfrm>
            <a:off x="428596" y="214290"/>
            <a:ext cx="7143800" cy="428628"/>
          </a:xfrm>
        </p:spPr>
        <p:txBody>
          <a:bodyPr>
            <a:normAutofit fontScale="90000"/>
          </a:bodyPr>
          <a:lstStyle/>
          <a:p>
            <a:pPr algn="l"/>
            <a:r>
              <a:rPr lang="tr-TR" sz="3200" dirty="0" err="1"/>
              <a:t>Example</a:t>
            </a:r>
            <a:r>
              <a:rPr lang="tr-TR" sz="3200" dirty="0"/>
              <a:t> 1 </a:t>
            </a:r>
            <a:r>
              <a:rPr lang="tr-TR" sz="3200" dirty="0" err="1"/>
              <a:t>repeated</a:t>
            </a:r>
            <a:r>
              <a:rPr lang="tr-TR" sz="3200" dirty="0"/>
              <a:t> w/ </a:t>
            </a:r>
            <a:r>
              <a:rPr lang="tr-TR" sz="3200" dirty="0" err="1"/>
              <a:t>improved</a:t>
            </a:r>
            <a:r>
              <a:rPr lang="tr-TR" sz="3200" dirty="0"/>
              <a:t> model</a:t>
            </a:r>
          </a:p>
        </p:txBody>
      </p:sp>
    </p:spTree>
    <p:extLst>
      <p:ext uri="{BB962C8B-B14F-4D97-AF65-F5344CB8AC3E}">
        <p14:creationId xmlns:p14="http://schemas.microsoft.com/office/powerpoint/2010/main" val="32909583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0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0122544"/>
              </p:ext>
            </p:extLst>
          </p:nvPr>
        </p:nvGraphicFramePr>
        <p:xfrm>
          <a:off x="500063" y="1643063"/>
          <a:ext cx="1277937" cy="30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49160" imgH="177480" progId="Equation.3">
                  <p:embed/>
                </p:oleObj>
              </mc:Choice>
              <mc:Fallback>
                <p:oleObj name="Equation" r:id="rId2" imgW="74916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3" y="1643063"/>
                        <a:ext cx="1277937" cy="303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4035101"/>
              </p:ext>
            </p:extLst>
          </p:nvPr>
        </p:nvGraphicFramePr>
        <p:xfrm>
          <a:off x="500063" y="1928813"/>
          <a:ext cx="1135062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85800" imgH="215640" progId="Equation.3">
                  <p:embed/>
                </p:oleObj>
              </mc:Choice>
              <mc:Fallback>
                <p:oleObj name="Equation" r:id="rId4" imgW="6858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3" y="1928813"/>
                        <a:ext cx="1135062" cy="35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8270988"/>
              </p:ext>
            </p:extLst>
          </p:nvPr>
        </p:nvGraphicFramePr>
        <p:xfrm>
          <a:off x="500063" y="2286000"/>
          <a:ext cx="11779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40" imgH="228600" progId="Equation.3">
                  <p:embed/>
                </p:oleObj>
              </mc:Choice>
              <mc:Fallback>
                <p:oleObj name="Equation" r:id="rId6" imgW="6728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3" y="2286000"/>
                        <a:ext cx="1177925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8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428860" y="1428736"/>
            <a:ext cx="5643602" cy="1982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13 Metin kutusu"/>
          <p:cNvSpPr txBox="1"/>
          <p:nvPr/>
        </p:nvSpPr>
        <p:spPr>
          <a:xfrm>
            <a:off x="500034" y="3286124"/>
            <a:ext cx="2428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u="sng" dirty="0" err="1">
                <a:latin typeface="+mn-lt"/>
              </a:rPr>
              <a:t>Improved</a:t>
            </a:r>
            <a:r>
              <a:rPr lang="tr-TR" u="sng" dirty="0">
                <a:latin typeface="+mn-lt"/>
              </a:rPr>
              <a:t> Model:</a:t>
            </a:r>
          </a:p>
        </p:txBody>
      </p:sp>
      <p:pic>
        <p:nvPicPr>
          <p:cNvPr id="15" name="Picture 8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00034" y="3643314"/>
            <a:ext cx="1625267" cy="1285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" name="Picture 13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2357422" y="3429000"/>
            <a:ext cx="3214710" cy="162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" name="Picture 14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5715008" y="3429000"/>
            <a:ext cx="1214446" cy="1566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17 Metin kutusu"/>
          <p:cNvSpPr txBox="1"/>
          <p:nvPr/>
        </p:nvSpPr>
        <p:spPr>
          <a:xfrm>
            <a:off x="7143768" y="3643314"/>
            <a:ext cx="1428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>
                <a:latin typeface="+mn-lt"/>
              </a:rPr>
              <a:t>By</a:t>
            </a:r>
            <a:r>
              <a:rPr lang="tr-TR" dirty="0">
                <a:latin typeface="+mn-lt"/>
              </a:rPr>
              <a:t> KVL :</a:t>
            </a:r>
          </a:p>
        </p:txBody>
      </p:sp>
      <p:graphicFrame>
        <p:nvGraphicFramePr>
          <p:cNvPr id="5120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8131191"/>
              </p:ext>
            </p:extLst>
          </p:nvPr>
        </p:nvGraphicFramePr>
        <p:xfrm>
          <a:off x="7215188" y="4071938"/>
          <a:ext cx="127317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98400" imgH="215640" progId="Equation.3">
                  <p:embed/>
                </p:oleObj>
              </mc:Choice>
              <mc:Fallback>
                <p:oleObj name="Equation" r:id="rId12" imgW="6984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5188" y="4071938"/>
                        <a:ext cx="1273175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21 Metin kutusu"/>
          <p:cNvSpPr txBox="1"/>
          <p:nvPr/>
        </p:nvSpPr>
        <p:spPr>
          <a:xfrm>
            <a:off x="500034" y="928670"/>
            <a:ext cx="8001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dirty="0" err="1">
                <a:latin typeface="+mn-lt"/>
              </a:rPr>
              <a:t>Determine</a:t>
            </a:r>
            <a:r>
              <a:rPr lang="tr-TR" sz="2000" dirty="0">
                <a:latin typeface="+mn-lt"/>
              </a:rPr>
              <a:t> </a:t>
            </a:r>
            <a:r>
              <a:rPr lang="tr-TR" sz="2000" dirty="0" err="1">
                <a:latin typeface="+mn-lt"/>
              </a:rPr>
              <a:t>voltages</a:t>
            </a:r>
            <a:r>
              <a:rPr lang="tr-TR" sz="2000" dirty="0">
                <a:latin typeface="+mn-lt"/>
              </a:rPr>
              <a:t>       </a:t>
            </a:r>
            <a:r>
              <a:rPr lang="tr-TR" sz="2000" dirty="0" err="1">
                <a:latin typeface="+mn-lt"/>
              </a:rPr>
              <a:t>and</a:t>
            </a:r>
            <a:r>
              <a:rPr lang="tr-TR" sz="2000" dirty="0">
                <a:latin typeface="+mn-lt"/>
              </a:rPr>
              <a:t>       . </a:t>
            </a:r>
            <a:r>
              <a:rPr lang="tr-TR" sz="2000" dirty="0" err="1">
                <a:latin typeface="+mn-lt"/>
              </a:rPr>
              <a:t>Use</a:t>
            </a:r>
            <a:r>
              <a:rPr lang="tr-TR" sz="2000" dirty="0">
                <a:latin typeface="+mn-lt"/>
              </a:rPr>
              <a:t> </a:t>
            </a:r>
            <a:r>
              <a:rPr lang="tr-TR" sz="2000" dirty="0" err="1">
                <a:latin typeface="+mn-lt"/>
              </a:rPr>
              <a:t>improved</a:t>
            </a:r>
            <a:r>
              <a:rPr lang="tr-TR" sz="2000" dirty="0">
                <a:latin typeface="+mn-lt"/>
              </a:rPr>
              <a:t> op-</a:t>
            </a:r>
            <a:r>
              <a:rPr lang="tr-TR" sz="2000" dirty="0" err="1">
                <a:latin typeface="+mn-lt"/>
              </a:rPr>
              <a:t>amp</a:t>
            </a:r>
            <a:r>
              <a:rPr lang="tr-TR" sz="2000" dirty="0">
                <a:latin typeface="+mn-lt"/>
              </a:rPr>
              <a:t> model.</a:t>
            </a:r>
          </a:p>
        </p:txBody>
      </p:sp>
      <p:graphicFrame>
        <p:nvGraphicFramePr>
          <p:cNvPr id="21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1994836"/>
              </p:ext>
            </p:extLst>
          </p:nvPr>
        </p:nvGraphicFramePr>
        <p:xfrm>
          <a:off x="2643188" y="928670"/>
          <a:ext cx="33337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7480" imgH="228600" progId="Equation.3">
                  <p:embed/>
                </p:oleObj>
              </mc:Choice>
              <mc:Fallback>
                <p:oleObj name="Equation" r:id="rId14" imgW="1774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3188" y="928670"/>
                        <a:ext cx="33337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3790926"/>
              </p:ext>
            </p:extLst>
          </p:nvPr>
        </p:nvGraphicFramePr>
        <p:xfrm>
          <a:off x="3429000" y="928670"/>
          <a:ext cx="33337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77480" imgH="228600" progId="Equation.3">
                  <p:embed/>
                </p:oleObj>
              </mc:Choice>
              <mc:Fallback>
                <p:oleObj name="Equation" r:id="rId16" imgW="1774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928670"/>
                        <a:ext cx="33337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E67AD-EE34-4E0A-BCCB-0D14F4380E44}" type="slidenum">
              <a:rPr lang="tr-TR" smtClean="0"/>
              <a:pPr/>
              <a:t>33</a:t>
            </a:fld>
            <a:endParaRPr lang="tr-TR" dirty="0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Ali Muhtaroglu</a:t>
            </a:r>
          </a:p>
        </p:txBody>
      </p:sp>
      <p:sp>
        <p:nvSpPr>
          <p:cNvPr id="26" name="1 Başlık"/>
          <p:cNvSpPr>
            <a:spLocks noGrp="1"/>
          </p:cNvSpPr>
          <p:nvPr>
            <p:ph type="title"/>
          </p:nvPr>
        </p:nvSpPr>
        <p:spPr>
          <a:xfrm>
            <a:off x="428596" y="214290"/>
            <a:ext cx="7143800" cy="428628"/>
          </a:xfrm>
        </p:spPr>
        <p:txBody>
          <a:bodyPr>
            <a:normAutofit fontScale="90000"/>
          </a:bodyPr>
          <a:lstStyle/>
          <a:p>
            <a:pPr algn="l"/>
            <a:r>
              <a:rPr lang="tr-TR" sz="3200" dirty="0" err="1"/>
              <a:t>Example</a:t>
            </a:r>
            <a:r>
              <a:rPr lang="tr-TR" sz="3200" dirty="0"/>
              <a:t> 1 </a:t>
            </a:r>
            <a:r>
              <a:rPr lang="tr-TR" sz="3200" dirty="0" err="1"/>
              <a:t>repeated</a:t>
            </a:r>
            <a:r>
              <a:rPr lang="tr-TR" sz="3200" dirty="0"/>
              <a:t> w/ </a:t>
            </a:r>
            <a:r>
              <a:rPr lang="tr-TR" sz="3200" dirty="0" err="1"/>
              <a:t>improved</a:t>
            </a:r>
            <a:r>
              <a:rPr lang="tr-TR" sz="3200" dirty="0"/>
              <a:t> model</a:t>
            </a:r>
          </a:p>
        </p:txBody>
      </p:sp>
    </p:spTree>
    <p:extLst>
      <p:ext uri="{BB962C8B-B14F-4D97-AF65-F5344CB8AC3E}">
        <p14:creationId xmlns:p14="http://schemas.microsoft.com/office/powerpoint/2010/main" val="7279313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03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0523164"/>
              </p:ext>
            </p:extLst>
          </p:nvPr>
        </p:nvGraphicFramePr>
        <p:xfrm>
          <a:off x="500063" y="1643063"/>
          <a:ext cx="1277937" cy="30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49160" imgH="177480" progId="Equation.3">
                  <p:embed/>
                </p:oleObj>
              </mc:Choice>
              <mc:Fallback>
                <p:oleObj name="Equation" r:id="rId2" imgW="74916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3" y="1643063"/>
                        <a:ext cx="1277937" cy="303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5441975"/>
              </p:ext>
            </p:extLst>
          </p:nvPr>
        </p:nvGraphicFramePr>
        <p:xfrm>
          <a:off x="500063" y="1928813"/>
          <a:ext cx="1135062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85800" imgH="215640" progId="Equation.3">
                  <p:embed/>
                </p:oleObj>
              </mc:Choice>
              <mc:Fallback>
                <p:oleObj name="Equation" r:id="rId4" imgW="6858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3" y="1928813"/>
                        <a:ext cx="1135062" cy="35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1457032"/>
              </p:ext>
            </p:extLst>
          </p:nvPr>
        </p:nvGraphicFramePr>
        <p:xfrm>
          <a:off x="500063" y="2286000"/>
          <a:ext cx="11779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40" imgH="228600" progId="Equation.3">
                  <p:embed/>
                </p:oleObj>
              </mc:Choice>
              <mc:Fallback>
                <p:oleObj name="Equation" r:id="rId6" imgW="6728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3" y="2286000"/>
                        <a:ext cx="1177925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8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428860" y="1428736"/>
            <a:ext cx="5643602" cy="1982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13 Metin kutusu"/>
          <p:cNvSpPr txBox="1"/>
          <p:nvPr/>
        </p:nvSpPr>
        <p:spPr>
          <a:xfrm>
            <a:off x="500034" y="3286124"/>
            <a:ext cx="2428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u="sng" dirty="0" err="1">
                <a:latin typeface="+mn-lt"/>
              </a:rPr>
              <a:t>Improved</a:t>
            </a:r>
            <a:r>
              <a:rPr lang="tr-TR" u="sng" dirty="0">
                <a:latin typeface="+mn-lt"/>
              </a:rPr>
              <a:t> Model:</a:t>
            </a:r>
          </a:p>
        </p:txBody>
      </p:sp>
      <p:pic>
        <p:nvPicPr>
          <p:cNvPr id="15" name="Picture 8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00034" y="3643314"/>
            <a:ext cx="1625267" cy="1285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" name="Picture 13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2357422" y="3429000"/>
            <a:ext cx="3214710" cy="162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" name="Picture 14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5715008" y="3429000"/>
            <a:ext cx="1214446" cy="1566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17 Metin kutusu"/>
          <p:cNvSpPr txBox="1"/>
          <p:nvPr/>
        </p:nvSpPr>
        <p:spPr>
          <a:xfrm>
            <a:off x="7143768" y="3643314"/>
            <a:ext cx="1428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>
                <a:latin typeface="+mn-lt"/>
              </a:rPr>
              <a:t>By</a:t>
            </a:r>
            <a:r>
              <a:rPr lang="tr-TR" dirty="0">
                <a:latin typeface="+mn-lt"/>
              </a:rPr>
              <a:t> KVL :</a:t>
            </a:r>
          </a:p>
        </p:txBody>
      </p:sp>
      <p:graphicFrame>
        <p:nvGraphicFramePr>
          <p:cNvPr id="4403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897878"/>
              </p:ext>
            </p:extLst>
          </p:nvPr>
        </p:nvGraphicFramePr>
        <p:xfrm>
          <a:off x="7215188" y="4071938"/>
          <a:ext cx="127317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98400" imgH="215640" progId="Equation.3">
                  <p:embed/>
                </p:oleObj>
              </mc:Choice>
              <mc:Fallback>
                <p:oleObj name="Equation" r:id="rId12" imgW="6984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5188" y="4071938"/>
                        <a:ext cx="1273175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19 Metin kutusu"/>
          <p:cNvSpPr txBox="1"/>
          <p:nvPr/>
        </p:nvSpPr>
        <p:spPr>
          <a:xfrm>
            <a:off x="500034" y="4929198"/>
            <a:ext cx="214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>
                <a:latin typeface="+mn-lt"/>
              </a:rPr>
              <a:t>By</a:t>
            </a:r>
            <a:r>
              <a:rPr lang="tr-TR" dirty="0">
                <a:latin typeface="+mn-lt"/>
              </a:rPr>
              <a:t> </a:t>
            </a:r>
            <a:r>
              <a:rPr lang="tr-TR" dirty="0" err="1">
                <a:latin typeface="+mn-lt"/>
              </a:rPr>
              <a:t>voltage</a:t>
            </a:r>
            <a:r>
              <a:rPr lang="tr-TR" dirty="0">
                <a:latin typeface="+mn-lt"/>
              </a:rPr>
              <a:t> </a:t>
            </a:r>
            <a:r>
              <a:rPr lang="tr-TR" dirty="0" err="1">
                <a:latin typeface="+mn-lt"/>
              </a:rPr>
              <a:t>division</a:t>
            </a:r>
            <a:r>
              <a:rPr lang="tr-TR" dirty="0">
                <a:latin typeface="+mn-lt"/>
              </a:rPr>
              <a:t>:</a:t>
            </a:r>
          </a:p>
        </p:txBody>
      </p:sp>
      <p:graphicFrame>
        <p:nvGraphicFramePr>
          <p:cNvPr id="4404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3751448"/>
              </p:ext>
            </p:extLst>
          </p:nvPr>
        </p:nvGraphicFramePr>
        <p:xfrm>
          <a:off x="357158" y="5214950"/>
          <a:ext cx="8560313" cy="5715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918040" imgH="444240" progId="Equation.3">
                  <p:embed/>
                </p:oleObj>
              </mc:Choice>
              <mc:Fallback>
                <p:oleObj name="Equation" r:id="rId14" imgW="591804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58" y="5214950"/>
                        <a:ext cx="8560313" cy="5715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25 Nesne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4732056"/>
              </p:ext>
            </p:extLst>
          </p:nvPr>
        </p:nvGraphicFramePr>
        <p:xfrm>
          <a:off x="4114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914400" imgH="215640" progId="Equation.3">
                  <p:embed/>
                </p:oleObj>
              </mc:Choice>
              <mc:Fallback>
                <p:oleObj name="Equation" r:id="rId16" imgW="9144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321050"/>
                        <a:ext cx="9144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1494515"/>
              </p:ext>
            </p:extLst>
          </p:nvPr>
        </p:nvGraphicFramePr>
        <p:xfrm>
          <a:off x="357158" y="5715016"/>
          <a:ext cx="5929354" cy="5156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216320" imgH="419040" progId="Equation.3">
                  <p:embed/>
                </p:oleObj>
              </mc:Choice>
              <mc:Fallback>
                <p:oleObj name="Equation" r:id="rId18" imgW="421632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58" y="5715016"/>
                        <a:ext cx="5929354" cy="5156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21 Metin kutusu"/>
          <p:cNvSpPr txBox="1"/>
          <p:nvPr/>
        </p:nvSpPr>
        <p:spPr>
          <a:xfrm>
            <a:off x="500034" y="928670"/>
            <a:ext cx="8001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dirty="0" err="1">
                <a:latin typeface="+mn-lt"/>
              </a:rPr>
              <a:t>Determine</a:t>
            </a:r>
            <a:r>
              <a:rPr lang="tr-TR" sz="2000" dirty="0">
                <a:latin typeface="+mn-lt"/>
              </a:rPr>
              <a:t> </a:t>
            </a:r>
            <a:r>
              <a:rPr lang="tr-TR" sz="2000" dirty="0" err="1">
                <a:latin typeface="+mn-lt"/>
              </a:rPr>
              <a:t>voltages</a:t>
            </a:r>
            <a:r>
              <a:rPr lang="tr-TR" sz="2000" dirty="0">
                <a:latin typeface="+mn-lt"/>
              </a:rPr>
              <a:t>       </a:t>
            </a:r>
            <a:r>
              <a:rPr lang="tr-TR" sz="2000" dirty="0" err="1">
                <a:latin typeface="+mn-lt"/>
              </a:rPr>
              <a:t>and</a:t>
            </a:r>
            <a:r>
              <a:rPr lang="tr-TR" sz="2000" dirty="0">
                <a:latin typeface="+mn-lt"/>
              </a:rPr>
              <a:t>       . </a:t>
            </a:r>
            <a:r>
              <a:rPr lang="tr-TR" sz="2000" dirty="0" err="1">
                <a:latin typeface="+mn-lt"/>
              </a:rPr>
              <a:t>Use</a:t>
            </a:r>
            <a:r>
              <a:rPr lang="tr-TR" sz="2000" dirty="0">
                <a:latin typeface="+mn-lt"/>
              </a:rPr>
              <a:t> </a:t>
            </a:r>
            <a:r>
              <a:rPr lang="tr-TR" sz="2000" dirty="0" err="1">
                <a:latin typeface="+mn-lt"/>
              </a:rPr>
              <a:t>improved</a:t>
            </a:r>
            <a:r>
              <a:rPr lang="tr-TR" sz="2000" dirty="0">
                <a:latin typeface="+mn-lt"/>
              </a:rPr>
              <a:t> op-</a:t>
            </a:r>
            <a:r>
              <a:rPr lang="tr-TR" sz="2000" dirty="0" err="1">
                <a:latin typeface="+mn-lt"/>
              </a:rPr>
              <a:t>amp</a:t>
            </a:r>
            <a:r>
              <a:rPr lang="tr-TR" sz="2000" dirty="0">
                <a:latin typeface="+mn-lt"/>
              </a:rPr>
              <a:t> model.</a:t>
            </a:r>
          </a:p>
        </p:txBody>
      </p:sp>
      <p:graphicFrame>
        <p:nvGraphicFramePr>
          <p:cNvPr id="2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5176959"/>
              </p:ext>
            </p:extLst>
          </p:nvPr>
        </p:nvGraphicFramePr>
        <p:xfrm>
          <a:off x="2643188" y="928670"/>
          <a:ext cx="33337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77480" imgH="228600" progId="Equation.3">
                  <p:embed/>
                </p:oleObj>
              </mc:Choice>
              <mc:Fallback>
                <p:oleObj name="Equation" r:id="rId20" imgW="1774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3188" y="928670"/>
                        <a:ext cx="33337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3591447"/>
              </p:ext>
            </p:extLst>
          </p:nvPr>
        </p:nvGraphicFramePr>
        <p:xfrm>
          <a:off x="3429000" y="928670"/>
          <a:ext cx="33337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77480" imgH="228600" progId="Equation.3">
                  <p:embed/>
                </p:oleObj>
              </mc:Choice>
              <mc:Fallback>
                <p:oleObj name="Equation" r:id="rId22" imgW="1774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928670"/>
                        <a:ext cx="33337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E67AD-EE34-4E0A-BCCB-0D14F4380E44}" type="slidenum">
              <a:rPr lang="tr-TR" smtClean="0"/>
              <a:pPr/>
              <a:t>34</a:t>
            </a:fld>
            <a:endParaRPr lang="tr-TR" dirty="0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Ali Muhtaroglu</a:t>
            </a:r>
          </a:p>
        </p:txBody>
      </p:sp>
      <p:sp>
        <p:nvSpPr>
          <p:cNvPr id="30" name="1 Başlık"/>
          <p:cNvSpPr>
            <a:spLocks noGrp="1"/>
          </p:cNvSpPr>
          <p:nvPr>
            <p:ph type="title"/>
          </p:nvPr>
        </p:nvSpPr>
        <p:spPr>
          <a:xfrm>
            <a:off x="428596" y="214290"/>
            <a:ext cx="7143800" cy="428628"/>
          </a:xfrm>
        </p:spPr>
        <p:txBody>
          <a:bodyPr>
            <a:normAutofit fontScale="90000"/>
          </a:bodyPr>
          <a:lstStyle/>
          <a:p>
            <a:pPr algn="l"/>
            <a:r>
              <a:rPr lang="tr-TR" sz="3200" dirty="0" err="1"/>
              <a:t>Example</a:t>
            </a:r>
            <a:r>
              <a:rPr lang="tr-TR" sz="3200" dirty="0"/>
              <a:t> 1 </a:t>
            </a:r>
            <a:r>
              <a:rPr lang="tr-TR" sz="3200" dirty="0" err="1"/>
              <a:t>repeated</a:t>
            </a:r>
            <a:r>
              <a:rPr lang="tr-TR" sz="3200" dirty="0"/>
              <a:t> w/ </a:t>
            </a:r>
            <a:r>
              <a:rPr lang="tr-TR" sz="3200" dirty="0" err="1"/>
              <a:t>improved</a:t>
            </a:r>
            <a:r>
              <a:rPr lang="tr-TR" sz="3200" dirty="0"/>
              <a:t> model</a:t>
            </a:r>
          </a:p>
        </p:txBody>
      </p:sp>
    </p:spTree>
    <p:extLst>
      <p:ext uri="{BB962C8B-B14F-4D97-AF65-F5344CB8AC3E}">
        <p14:creationId xmlns:p14="http://schemas.microsoft.com/office/powerpoint/2010/main" val="40206700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0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9635721"/>
              </p:ext>
            </p:extLst>
          </p:nvPr>
        </p:nvGraphicFramePr>
        <p:xfrm>
          <a:off x="500063" y="1643063"/>
          <a:ext cx="1277937" cy="30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49160" imgH="177480" progId="Equation.3">
                  <p:embed/>
                </p:oleObj>
              </mc:Choice>
              <mc:Fallback>
                <p:oleObj name="Equation" r:id="rId2" imgW="74916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3" y="1643063"/>
                        <a:ext cx="1277937" cy="303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8848592"/>
              </p:ext>
            </p:extLst>
          </p:nvPr>
        </p:nvGraphicFramePr>
        <p:xfrm>
          <a:off x="500063" y="1928813"/>
          <a:ext cx="1135062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85800" imgH="215640" progId="Equation.3">
                  <p:embed/>
                </p:oleObj>
              </mc:Choice>
              <mc:Fallback>
                <p:oleObj name="Equation" r:id="rId4" imgW="6858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3" y="1928813"/>
                        <a:ext cx="1135062" cy="35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6981842"/>
              </p:ext>
            </p:extLst>
          </p:nvPr>
        </p:nvGraphicFramePr>
        <p:xfrm>
          <a:off x="500063" y="2286000"/>
          <a:ext cx="11779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40" imgH="228600" progId="Equation.3">
                  <p:embed/>
                </p:oleObj>
              </mc:Choice>
              <mc:Fallback>
                <p:oleObj name="Equation" r:id="rId6" imgW="6728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3" y="2286000"/>
                        <a:ext cx="1177925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8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428860" y="1428736"/>
            <a:ext cx="5643602" cy="1982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13 Metin kutusu"/>
          <p:cNvSpPr txBox="1"/>
          <p:nvPr/>
        </p:nvSpPr>
        <p:spPr>
          <a:xfrm>
            <a:off x="500034" y="3286124"/>
            <a:ext cx="2428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u="sng" dirty="0" err="1">
                <a:latin typeface="+mn-lt"/>
              </a:rPr>
              <a:t>Improved</a:t>
            </a:r>
            <a:r>
              <a:rPr lang="tr-TR" u="sng" dirty="0">
                <a:latin typeface="+mn-lt"/>
              </a:rPr>
              <a:t> Model:</a:t>
            </a:r>
          </a:p>
        </p:txBody>
      </p:sp>
      <p:pic>
        <p:nvPicPr>
          <p:cNvPr id="15" name="Picture 8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00034" y="3643314"/>
            <a:ext cx="1625267" cy="1285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" name="Picture 13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2357422" y="3429000"/>
            <a:ext cx="3214710" cy="162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" name="Picture 14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5715008" y="3429000"/>
            <a:ext cx="1214446" cy="1566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17 Metin kutusu"/>
          <p:cNvSpPr txBox="1"/>
          <p:nvPr/>
        </p:nvSpPr>
        <p:spPr>
          <a:xfrm>
            <a:off x="7143768" y="3643314"/>
            <a:ext cx="1428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>
                <a:latin typeface="+mn-lt"/>
              </a:rPr>
              <a:t>By</a:t>
            </a:r>
            <a:r>
              <a:rPr lang="tr-TR" dirty="0">
                <a:latin typeface="+mn-lt"/>
              </a:rPr>
              <a:t> KVL :</a:t>
            </a:r>
          </a:p>
        </p:txBody>
      </p:sp>
      <p:graphicFrame>
        <p:nvGraphicFramePr>
          <p:cNvPr id="4301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0908116"/>
              </p:ext>
            </p:extLst>
          </p:nvPr>
        </p:nvGraphicFramePr>
        <p:xfrm>
          <a:off x="7215188" y="4071938"/>
          <a:ext cx="127317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98400" imgH="215640" progId="Equation.3">
                  <p:embed/>
                </p:oleObj>
              </mc:Choice>
              <mc:Fallback>
                <p:oleObj name="Equation" r:id="rId12" imgW="6984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5188" y="4071938"/>
                        <a:ext cx="1273175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19 Metin kutusu"/>
          <p:cNvSpPr txBox="1"/>
          <p:nvPr/>
        </p:nvSpPr>
        <p:spPr>
          <a:xfrm>
            <a:off x="500034" y="4929198"/>
            <a:ext cx="214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>
                <a:latin typeface="+mn-lt"/>
              </a:rPr>
              <a:t>By</a:t>
            </a:r>
            <a:r>
              <a:rPr lang="tr-TR" dirty="0">
                <a:latin typeface="+mn-lt"/>
              </a:rPr>
              <a:t> </a:t>
            </a:r>
            <a:r>
              <a:rPr lang="tr-TR" dirty="0" err="1">
                <a:latin typeface="+mn-lt"/>
              </a:rPr>
              <a:t>voltage</a:t>
            </a:r>
            <a:r>
              <a:rPr lang="tr-TR" dirty="0">
                <a:latin typeface="+mn-lt"/>
              </a:rPr>
              <a:t> </a:t>
            </a:r>
            <a:r>
              <a:rPr lang="tr-TR" dirty="0" err="1">
                <a:latin typeface="+mn-lt"/>
              </a:rPr>
              <a:t>division</a:t>
            </a:r>
            <a:r>
              <a:rPr lang="tr-TR" dirty="0">
                <a:latin typeface="+mn-lt"/>
              </a:rPr>
              <a:t>:</a:t>
            </a:r>
          </a:p>
        </p:txBody>
      </p:sp>
      <p:graphicFrame>
        <p:nvGraphicFramePr>
          <p:cNvPr id="4301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5698855"/>
              </p:ext>
            </p:extLst>
          </p:nvPr>
        </p:nvGraphicFramePr>
        <p:xfrm>
          <a:off x="357188" y="5214938"/>
          <a:ext cx="85598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918040" imgH="444240" progId="Equation.3">
                  <p:embed/>
                </p:oleObj>
              </mc:Choice>
              <mc:Fallback>
                <p:oleObj name="Equation" r:id="rId14" imgW="591804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8" y="5214938"/>
                        <a:ext cx="85598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2215156"/>
              </p:ext>
            </p:extLst>
          </p:nvPr>
        </p:nvGraphicFramePr>
        <p:xfrm>
          <a:off x="357188" y="5715000"/>
          <a:ext cx="5929312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216320" imgH="419040" progId="Equation.3">
                  <p:embed/>
                </p:oleObj>
              </mc:Choice>
              <mc:Fallback>
                <p:oleObj name="Equation" r:id="rId16" imgW="421632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8" y="5715000"/>
                        <a:ext cx="5929312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22 Metin kutusu"/>
          <p:cNvSpPr txBox="1"/>
          <p:nvPr/>
        </p:nvSpPr>
        <p:spPr>
          <a:xfrm>
            <a:off x="1714480" y="6211669"/>
            <a:ext cx="72866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>
                <a:latin typeface="+mn-lt"/>
              </a:rPr>
              <a:t>Comparing</a:t>
            </a:r>
            <a:r>
              <a:rPr lang="tr-TR" dirty="0">
                <a:latin typeface="+mn-lt"/>
              </a:rPr>
              <a:t> w/ ideal model </a:t>
            </a:r>
            <a:r>
              <a:rPr lang="tr-TR" dirty="0" err="1">
                <a:latin typeface="+mn-lt"/>
              </a:rPr>
              <a:t>solution</a:t>
            </a:r>
            <a:r>
              <a:rPr lang="tr-TR" dirty="0">
                <a:latin typeface="+mn-lt"/>
              </a:rPr>
              <a:t>(</a:t>
            </a:r>
            <a:r>
              <a:rPr lang="tr-TR" dirty="0" err="1">
                <a:latin typeface="+mn-lt"/>
              </a:rPr>
              <a:t>Page</a:t>
            </a:r>
            <a:r>
              <a:rPr lang="tr-TR" dirty="0">
                <a:latin typeface="+mn-lt"/>
              </a:rPr>
              <a:t> 6), </a:t>
            </a:r>
            <a:r>
              <a:rPr lang="tr-TR" dirty="0" err="1">
                <a:latin typeface="+mn-lt"/>
              </a:rPr>
              <a:t>the</a:t>
            </a:r>
            <a:r>
              <a:rPr lang="tr-TR" dirty="0">
                <a:latin typeface="+mn-lt"/>
              </a:rPr>
              <a:t> </a:t>
            </a:r>
            <a:r>
              <a:rPr lang="tr-TR" dirty="0" err="1">
                <a:latin typeface="+mn-lt"/>
              </a:rPr>
              <a:t>difference</a:t>
            </a:r>
            <a:r>
              <a:rPr lang="tr-TR" dirty="0">
                <a:latin typeface="+mn-lt"/>
              </a:rPr>
              <a:t> is </a:t>
            </a:r>
            <a:r>
              <a:rPr lang="tr-TR" dirty="0" err="1">
                <a:latin typeface="+mn-lt"/>
              </a:rPr>
              <a:t>small</a:t>
            </a:r>
            <a:r>
              <a:rPr lang="tr-TR" dirty="0">
                <a:latin typeface="+mn-lt"/>
              </a:rPr>
              <a:t>. </a:t>
            </a:r>
            <a:r>
              <a:rPr lang="tr-TR" dirty="0" err="1">
                <a:latin typeface="+mn-lt"/>
              </a:rPr>
              <a:t>This</a:t>
            </a:r>
            <a:r>
              <a:rPr lang="tr-TR" dirty="0">
                <a:latin typeface="+mn-lt"/>
              </a:rPr>
              <a:t> is </a:t>
            </a:r>
            <a:r>
              <a:rPr lang="tr-TR" dirty="0" err="1">
                <a:latin typeface="+mn-lt"/>
              </a:rPr>
              <a:t>due</a:t>
            </a:r>
            <a:r>
              <a:rPr lang="tr-TR" dirty="0">
                <a:latin typeface="+mn-lt"/>
              </a:rPr>
              <a:t> </a:t>
            </a:r>
            <a:r>
              <a:rPr lang="tr-TR" dirty="0" err="1">
                <a:latin typeface="+mn-lt"/>
              </a:rPr>
              <a:t>to</a:t>
            </a:r>
            <a:r>
              <a:rPr lang="tr-TR" dirty="0">
                <a:latin typeface="+mn-lt"/>
              </a:rPr>
              <a:t> </a:t>
            </a:r>
            <a:r>
              <a:rPr lang="tr-TR" dirty="0" err="1">
                <a:latin typeface="+mn-lt"/>
              </a:rPr>
              <a:t>the</a:t>
            </a:r>
            <a:r>
              <a:rPr lang="tr-TR" dirty="0">
                <a:latin typeface="+mn-lt"/>
              </a:rPr>
              <a:t> </a:t>
            </a:r>
            <a:r>
              <a:rPr lang="tr-TR" dirty="0" err="1">
                <a:latin typeface="+mn-lt"/>
              </a:rPr>
              <a:t>design</a:t>
            </a:r>
            <a:r>
              <a:rPr lang="tr-TR" dirty="0">
                <a:latin typeface="+mn-lt"/>
              </a:rPr>
              <a:t> of </a:t>
            </a:r>
            <a:r>
              <a:rPr lang="tr-TR" dirty="0" err="1">
                <a:latin typeface="+mn-lt"/>
              </a:rPr>
              <a:t>the</a:t>
            </a:r>
            <a:r>
              <a:rPr lang="tr-TR" dirty="0">
                <a:latin typeface="+mn-lt"/>
              </a:rPr>
              <a:t> </a:t>
            </a:r>
            <a:r>
              <a:rPr lang="tr-TR" dirty="0" err="1">
                <a:latin typeface="+mn-lt"/>
              </a:rPr>
              <a:t>circuit</a:t>
            </a:r>
            <a:r>
              <a:rPr lang="tr-TR" dirty="0">
                <a:latin typeface="+mn-lt"/>
              </a:rPr>
              <a:t> </a:t>
            </a:r>
            <a:r>
              <a:rPr lang="tr-TR" dirty="0" err="1">
                <a:latin typeface="+mn-lt"/>
              </a:rPr>
              <a:t>and</a:t>
            </a:r>
            <a:r>
              <a:rPr lang="tr-TR" dirty="0">
                <a:latin typeface="+mn-lt"/>
              </a:rPr>
              <a:t> </a:t>
            </a:r>
            <a:r>
              <a:rPr lang="tr-TR" dirty="0" err="1">
                <a:latin typeface="+mn-lt"/>
              </a:rPr>
              <a:t>the</a:t>
            </a:r>
            <a:r>
              <a:rPr lang="tr-TR" dirty="0">
                <a:latin typeface="+mn-lt"/>
              </a:rPr>
              <a:t> </a:t>
            </a:r>
            <a:r>
              <a:rPr lang="tr-TR" dirty="0" err="1">
                <a:latin typeface="+mn-lt"/>
              </a:rPr>
              <a:t>value</a:t>
            </a:r>
            <a:r>
              <a:rPr lang="tr-TR" dirty="0">
                <a:latin typeface="+mn-lt"/>
              </a:rPr>
              <a:t> of </a:t>
            </a:r>
            <a:r>
              <a:rPr lang="tr-TR" dirty="0" err="1">
                <a:latin typeface="+mn-lt"/>
              </a:rPr>
              <a:t>the</a:t>
            </a:r>
            <a:r>
              <a:rPr lang="tr-TR" dirty="0">
                <a:latin typeface="+mn-lt"/>
              </a:rPr>
              <a:t> </a:t>
            </a:r>
            <a:r>
              <a:rPr lang="tr-TR" dirty="0" err="1">
                <a:latin typeface="+mn-lt"/>
              </a:rPr>
              <a:t>resistors</a:t>
            </a:r>
            <a:r>
              <a:rPr lang="tr-TR" dirty="0">
                <a:latin typeface="+mn-lt"/>
              </a:rPr>
              <a:t> </a:t>
            </a:r>
            <a:r>
              <a:rPr lang="tr-TR" dirty="0" err="1">
                <a:latin typeface="+mn-lt"/>
              </a:rPr>
              <a:t>chosen</a:t>
            </a:r>
            <a:r>
              <a:rPr lang="tr-TR" dirty="0">
                <a:latin typeface="+mn-lt"/>
              </a:rPr>
              <a:t>.</a:t>
            </a:r>
          </a:p>
        </p:txBody>
      </p:sp>
      <p:sp>
        <p:nvSpPr>
          <p:cNvPr id="24" name="21 Metin kutusu"/>
          <p:cNvSpPr txBox="1"/>
          <p:nvPr/>
        </p:nvSpPr>
        <p:spPr>
          <a:xfrm>
            <a:off x="500034" y="928670"/>
            <a:ext cx="8001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dirty="0" err="1">
                <a:latin typeface="+mn-lt"/>
              </a:rPr>
              <a:t>Determine</a:t>
            </a:r>
            <a:r>
              <a:rPr lang="tr-TR" sz="2000" dirty="0">
                <a:latin typeface="+mn-lt"/>
              </a:rPr>
              <a:t> </a:t>
            </a:r>
            <a:r>
              <a:rPr lang="tr-TR" sz="2000" dirty="0" err="1">
                <a:latin typeface="+mn-lt"/>
              </a:rPr>
              <a:t>voltages</a:t>
            </a:r>
            <a:r>
              <a:rPr lang="tr-TR" sz="2000" dirty="0">
                <a:latin typeface="+mn-lt"/>
              </a:rPr>
              <a:t>       </a:t>
            </a:r>
            <a:r>
              <a:rPr lang="tr-TR" sz="2000" dirty="0" err="1">
                <a:latin typeface="+mn-lt"/>
              </a:rPr>
              <a:t>and</a:t>
            </a:r>
            <a:r>
              <a:rPr lang="tr-TR" sz="2000" dirty="0">
                <a:latin typeface="+mn-lt"/>
              </a:rPr>
              <a:t>       . </a:t>
            </a:r>
            <a:r>
              <a:rPr lang="tr-TR" sz="2000" dirty="0" err="1">
                <a:latin typeface="+mn-lt"/>
              </a:rPr>
              <a:t>Use</a:t>
            </a:r>
            <a:r>
              <a:rPr lang="tr-TR" sz="2000" dirty="0">
                <a:latin typeface="+mn-lt"/>
              </a:rPr>
              <a:t> </a:t>
            </a:r>
            <a:r>
              <a:rPr lang="tr-TR" sz="2000" dirty="0" err="1">
                <a:latin typeface="+mn-lt"/>
              </a:rPr>
              <a:t>improved</a:t>
            </a:r>
            <a:r>
              <a:rPr lang="tr-TR" sz="2000" dirty="0">
                <a:latin typeface="+mn-lt"/>
              </a:rPr>
              <a:t> op-</a:t>
            </a:r>
            <a:r>
              <a:rPr lang="tr-TR" sz="2000" dirty="0" err="1">
                <a:latin typeface="+mn-lt"/>
              </a:rPr>
              <a:t>amp</a:t>
            </a:r>
            <a:r>
              <a:rPr lang="tr-TR" sz="2000" dirty="0">
                <a:latin typeface="+mn-lt"/>
              </a:rPr>
              <a:t> model.</a:t>
            </a:r>
          </a:p>
        </p:txBody>
      </p:sp>
      <p:graphicFrame>
        <p:nvGraphicFramePr>
          <p:cNvPr id="2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9567287"/>
              </p:ext>
            </p:extLst>
          </p:nvPr>
        </p:nvGraphicFramePr>
        <p:xfrm>
          <a:off x="2643188" y="928670"/>
          <a:ext cx="33337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77480" imgH="228600" progId="Equation.3">
                  <p:embed/>
                </p:oleObj>
              </mc:Choice>
              <mc:Fallback>
                <p:oleObj name="Equation" r:id="rId18" imgW="1774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3188" y="928670"/>
                        <a:ext cx="33337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7863568"/>
              </p:ext>
            </p:extLst>
          </p:nvPr>
        </p:nvGraphicFramePr>
        <p:xfrm>
          <a:off x="3429000" y="928670"/>
          <a:ext cx="33337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77480" imgH="228600" progId="Equation.3">
                  <p:embed/>
                </p:oleObj>
              </mc:Choice>
              <mc:Fallback>
                <p:oleObj name="Equation" r:id="rId20" imgW="1774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928670"/>
                        <a:ext cx="33337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E67AD-EE34-4E0A-BCCB-0D14F4380E44}" type="slidenum">
              <a:rPr lang="tr-TR" smtClean="0"/>
              <a:pPr/>
              <a:t>35</a:t>
            </a:fld>
            <a:endParaRPr lang="tr-TR" dirty="0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Ali Muhtaroglu</a:t>
            </a:r>
          </a:p>
        </p:txBody>
      </p:sp>
      <p:sp>
        <p:nvSpPr>
          <p:cNvPr id="30" name="1 Başlık"/>
          <p:cNvSpPr>
            <a:spLocks noGrp="1"/>
          </p:cNvSpPr>
          <p:nvPr>
            <p:ph type="title"/>
          </p:nvPr>
        </p:nvSpPr>
        <p:spPr>
          <a:xfrm>
            <a:off x="428596" y="214290"/>
            <a:ext cx="7143800" cy="428628"/>
          </a:xfrm>
        </p:spPr>
        <p:txBody>
          <a:bodyPr>
            <a:normAutofit fontScale="90000"/>
          </a:bodyPr>
          <a:lstStyle/>
          <a:p>
            <a:pPr algn="l"/>
            <a:r>
              <a:rPr lang="tr-TR" sz="3200" dirty="0" err="1"/>
              <a:t>Example</a:t>
            </a:r>
            <a:r>
              <a:rPr lang="tr-TR" sz="3200" dirty="0"/>
              <a:t> 1 </a:t>
            </a:r>
            <a:r>
              <a:rPr lang="tr-TR" sz="3200" dirty="0" err="1"/>
              <a:t>repeated</a:t>
            </a:r>
            <a:r>
              <a:rPr lang="tr-TR" sz="3200" dirty="0"/>
              <a:t> w/ </a:t>
            </a:r>
            <a:r>
              <a:rPr lang="tr-TR" sz="3200" dirty="0" err="1"/>
              <a:t>improved</a:t>
            </a:r>
            <a:r>
              <a:rPr lang="tr-TR" sz="3200" dirty="0"/>
              <a:t> model</a:t>
            </a:r>
          </a:p>
        </p:txBody>
      </p:sp>
    </p:spTree>
    <p:extLst>
      <p:ext uri="{BB962C8B-B14F-4D97-AF65-F5344CB8AC3E}">
        <p14:creationId xmlns:p14="http://schemas.microsoft.com/office/powerpoint/2010/main" val="24673383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500034" y="214290"/>
            <a:ext cx="8229600" cy="642942"/>
          </a:xfrm>
        </p:spPr>
        <p:txBody>
          <a:bodyPr>
            <a:normAutofit/>
          </a:bodyPr>
          <a:lstStyle/>
          <a:p>
            <a:r>
              <a:rPr lang="tr-TR" sz="3600" dirty="0" err="1"/>
              <a:t>Example</a:t>
            </a:r>
            <a:r>
              <a:rPr lang="tr-TR" sz="3600" dirty="0"/>
              <a:t> 4</a:t>
            </a:r>
          </a:p>
        </p:txBody>
      </p:sp>
      <p:pic>
        <p:nvPicPr>
          <p:cNvPr id="17" name="Picture 1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57422" y="1357298"/>
            <a:ext cx="4158738" cy="1928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17 Metin kutusu"/>
          <p:cNvSpPr txBox="1"/>
          <p:nvPr/>
        </p:nvSpPr>
        <p:spPr>
          <a:xfrm>
            <a:off x="428596" y="1071546"/>
            <a:ext cx="85011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dirty="0" err="1">
                <a:latin typeface="+mn-lt"/>
              </a:rPr>
              <a:t>Assume</a:t>
            </a:r>
            <a:r>
              <a:rPr lang="tr-TR" sz="2000" dirty="0">
                <a:latin typeface="+mn-lt"/>
              </a:rPr>
              <a:t> </a:t>
            </a:r>
            <a:r>
              <a:rPr lang="tr-TR" sz="2000" dirty="0" err="1">
                <a:latin typeface="+mn-lt"/>
              </a:rPr>
              <a:t>for</a:t>
            </a:r>
            <a:r>
              <a:rPr lang="tr-TR" sz="2000" dirty="0">
                <a:latin typeface="+mn-lt"/>
              </a:rPr>
              <a:t> </a:t>
            </a:r>
            <a:r>
              <a:rPr lang="tr-TR" sz="2000" dirty="0" err="1">
                <a:latin typeface="+mn-lt"/>
              </a:rPr>
              <a:t>the</a:t>
            </a:r>
            <a:r>
              <a:rPr lang="tr-TR" sz="2000" dirty="0">
                <a:latin typeface="+mn-lt"/>
              </a:rPr>
              <a:t> Op-</a:t>
            </a:r>
            <a:r>
              <a:rPr lang="tr-TR" sz="2000" dirty="0" err="1">
                <a:latin typeface="+mn-lt"/>
              </a:rPr>
              <a:t>Amp</a:t>
            </a:r>
            <a:r>
              <a:rPr lang="tr-TR" sz="2000" dirty="0">
                <a:latin typeface="+mn-lt"/>
              </a:rPr>
              <a:t>:               ,                      ,                    . </a:t>
            </a:r>
            <a:r>
              <a:rPr lang="tr-TR" sz="2000" dirty="0" err="1">
                <a:latin typeface="+mn-lt"/>
              </a:rPr>
              <a:t>Determine</a:t>
            </a:r>
            <a:r>
              <a:rPr lang="tr-TR" sz="2000" dirty="0">
                <a:latin typeface="+mn-lt"/>
              </a:rPr>
              <a:t>        .</a:t>
            </a:r>
          </a:p>
        </p:txBody>
      </p:sp>
      <p:graphicFrame>
        <p:nvGraphicFramePr>
          <p:cNvPr id="5223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5773147"/>
              </p:ext>
            </p:extLst>
          </p:nvPr>
        </p:nvGraphicFramePr>
        <p:xfrm>
          <a:off x="5286375" y="1071563"/>
          <a:ext cx="1214438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72840" imgH="228600" progId="Equation.3">
                  <p:embed/>
                </p:oleObj>
              </mc:Choice>
              <mc:Fallback>
                <p:oleObj name="Equation" r:id="rId3" imgW="6728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6375" y="1071563"/>
                        <a:ext cx="1214438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4283630"/>
              </p:ext>
            </p:extLst>
          </p:nvPr>
        </p:nvGraphicFramePr>
        <p:xfrm>
          <a:off x="7715250" y="1071563"/>
          <a:ext cx="357188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7480" imgH="215640" progId="Equation.3">
                  <p:embed/>
                </p:oleObj>
              </mc:Choice>
              <mc:Fallback>
                <p:oleObj name="Equation" r:id="rId5" imgW="1774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5250" y="1071563"/>
                        <a:ext cx="357188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6220817"/>
              </p:ext>
            </p:extLst>
          </p:nvPr>
        </p:nvGraphicFramePr>
        <p:xfrm>
          <a:off x="4000500" y="1071563"/>
          <a:ext cx="125095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85800" imgH="215640" progId="Equation.3">
                  <p:embed/>
                </p:oleObj>
              </mc:Choice>
              <mc:Fallback>
                <p:oleObj name="Equation" r:id="rId7" imgW="6858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0500" y="1071563"/>
                        <a:ext cx="125095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7016632"/>
              </p:ext>
            </p:extLst>
          </p:nvPr>
        </p:nvGraphicFramePr>
        <p:xfrm>
          <a:off x="3071813" y="1071563"/>
          <a:ext cx="869950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95000" imgH="203040" progId="Equation.3">
                  <p:embed/>
                </p:oleObj>
              </mc:Choice>
              <mc:Fallback>
                <p:oleObj name="Equation" r:id="rId9" imgW="49500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3" y="1071563"/>
                        <a:ext cx="869950" cy="35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E67AD-EE34-4E0A-BCCB-0D14F4380E44}" type="slidenum">
              <a:rPr lang="tr-TR" smtClean="0"/>
              <a:pPr/>
              <a:t>36</a:t>
            </a:fld>
            <a:endParaRPr lang="tr-TR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Ali Muhtaroglu</a:t>
            </a:r>
          </a:p>
        </p:txBody>
      </p:sp>
    </p:spTree>
    <p:extLst>
      <p:ext uri="{BB962C8B-B14F-4D97-AF65-F5344CB8AC3E}">
        <p14:creationId xmlns:p14="http://schemas.microsoft.com/office/powerpoint/2010/main" val="15856124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25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0056646"/>
              </p:ext>
            </p:extLst>
          </p:nvPr>
        </p:nvGraphicFramePr>
        <p:xfrm>
          <a:off x="3071802" y="1071546"/>
          <a:ext cx="869950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95000" imgH="203040" progId="Equation.3">
                  <p:embed/>
                </p:oleObj>
              </mc:Choice>
              <mc:Fallback>
                <p:oleObj name="Equation" r:id="rId2" imgW="49500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02" y="1071546"/>
                        <a:ext cx="869950" cy="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2942698"/>
              </p:ext>
            </p:extLst>
          </p:nvPr>
        </p:nvGraphicFramePr>
        <p:xfrm>
          <a:off x="4000496" y="1071546"/>
          <a:ext cx="125095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85800" imgH="215640" progId="Equation.3">
                  <p:embed/>
                </p:oleObj>
              </mc:Choice>
              <mc:Fallback>
                <p:oleObj name="Equation" r:id="rId4" imgW="6858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0496" y="1071546"/>
                        <a:ext cx="125095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4474713"/>
              </p:ext>
            </p:extLst>
          </p:nvPr>
        </p:nvGraphicFramePr>
        <p:xfrm>
          <a:off x="5286380" y="1071546"/>
          <a:ext cx="1214438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40" imgH="228600" progId="Equation.3">
                  <p:embed/>
                </p:oleObj>
              </mc:Choice>
              <mc:Fallback>
                <p:oleObj name="Equation" r:id="rId6" imgW="6728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6380" y="1071546"/>
                        <a:ext cx="1214438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7856519"/>
              </p:ext>
            </p:extLst>
          </p:nvPr>
        </p:nvGraphicFramePr>
        <p:xfrm>
          <a:off x="7715272" y="1071546"/>
          <a:ext cx="357188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7480" imgH="215640" progId="Equation.3">
                  <p:embed/>
                </p:oleObj>
              </mc:Choice>
              <mc:Fallback>
                <p:oleObj name="Equation" r:id="rId8" imgW="1774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5272" y="1071546"/>
                        <a:ext cx="357188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Picture 11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2357422" y="1357298"/>
            <a:ext cx="4158738" cy="1928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14 Metin kutusu"/>
          <p:cNvSpPr txBox="1"/>
          <p:nvPr/>
        </p:nvSpPr>
        <p:spPr>
          <a:xfrm>
            <a:off x="428596" y="3214686"/>
            <a:ext cx="500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u="sng" dirty="0" err="1">
                <a:latin typeface="+mn-lt"/>
              </a:rPr>
              <a:t>Replace</a:t>
            </a:r>
            <a:r>
              <a:rPr lang="tr-TR" u="sng" dirty="0">
                <a:latin typeface="+mn-lt"/>
              </a:rPr>
              <a:t> Op-</a:t>
            </a:r>
            <a:r>
              <a:rPr lang="tr-TR" u="sng" dirty="0" err="1">
                <a:latin typeface="+mn-lt"/>
              </a:rPr>
              <a:t>Amp</a:t>
            </a:r>
            <a:r>
              <a:rPr lang="tr-TR" u="sng" dirty="0">
                <a:latin typeface="+mn-lt"/>
              </a:rPr>
              <a:t> </a:t>
            </a:r>
            <a:r>
              <a:rPr lang="tr-TR" u="sng" dirty="0" err="1">
                <a:latin typeface="+mn-lt"/>
              </a:rPr>
              <a:t>by</a:t>
            </a:r>
            <a:r>
              <a:rPr lang="tr-TR" u="sng" dirty="0">
                <a:latin typeface="+mn-lt"/>
              </a:rPr>
              <a:t> </a:t>
            </a:r>
            <a:r>
              <a:rPr lang="tr-TR" u="sng" dirty="0" err="1">
                <a:latin typeface="+mn-lt"/>
              </a:rPr>
              <a:t>the</a:t>
            </a:r>
            <a:r>
              <a:rPr lang="tr-TR" u="sng" dirty="0">
                <a:latin typeface="+mn-lt"/>
              </a:rPr>
              <a:t> </a:t>
            </a:r>
            <a:r>
              <a:rPr lang="tr-TR" u="sng" dirty="0" err="1">
                <a:latin typeface="+mn-lt"/>
              </a:rPr>
              <a:t>Improved</a:t>
            </a:r>
            <a:r>
              <a:rPr lang="tr-TR" u="sng" dirty="0">
                <a:latin typeface="+mn-lt"/>
              </a:rPr>
              <a:t> Model:</a:t>
            </a:r>
          </a:p>
        </p:txBody>
      </p:sp>
      <p:pic>
        <p:nvPicPr>
          <p:cNvPr id="53257" name="Picture 9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357158" y="3571876"/>
            <a:ext cx="3805469" cy="1500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1" name="20 Metin kutusu"/>
          <p:cNvSpPr txBox="1"/>
          <p:nvPr/>
        </p:nvSpPr>
        <p:spPr>
          <a:xfrm>
            <a:off x="428596" y="1071546"/>
            <a:ext cx="85011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dirty="0" err="1">
                <a:latin typeface="+mn-lt"/>
              </a:rPr>
              <a:t>Assume</a:t>
            </a:r>
            <a:r>
              <a:rPr lang="tr-TR" sz="2000" dirty="0">
                <a:latin typeface="+mn-lt"/>
              </a:rPr>
              <a:t> </a:t>
            </a:r>
            <a:r>
              <a:rPr lang="tr-TR" sz="2000" dirty="0" err="1">
                <a:latin typeface="+mn-lt"/>
              </a:rPr>
              <a:t>for</a:t>
            </a:r>
            <a:r>
              <a:rPr lang="tr-TR" sz="2000" dirty="0">
                <a:latin typeface="+mn-lt"/>
              </a:rPr>
              <a:t> </a:t>
            </a:r>
            <a:r>
              <a:rPr lang="tr-TR" sz="2000" dirty="0" err="1">
                <a:latin typeface="+mn-lt"/>
              </a:rPr>
              <a:t>the</a:t>
            </a:r>
            <a:r>
              <a:rPr lang="tr-TR" sz="2000" dirty="0">
                <a:latin typeface="+mn-lt"/>
              </a:rPr>
              <a:t> Op-</a:t>
            </a:r>
            <a:r>
              <a:rPr lang="tr-TR" sz="2000" dirty="0" err="1">
                <a:latin typeface="+mn-lt"/>
              </a:rPr>
              <a:t>Amp</a:t>
            </a:r>
            <a:r>
              <a:rPr lang="tr-TR" sz="2000" dirty="0">
                <a:latin typeface="+mn-lt"/>
              </a:rPr>
              <a:t>:               ,                      ,                    . </a:t>
            </a:r>
            <a:r>
              <a:rPr lang="tr-TR" sz="2000" dirty="0" err="1">
                <a:latin typeface="+mn-lt"/>
              </a:rPr>
              <a:t>Determine</a:t>
            </a:r>
            <a:r>
              <a:rPr lang="tr-TR" sz="2000" dirty="0">
                <a:latin typeface="+mn-lt"/>
              </a:rPr>
              <a:t>        .</a:t>
            </a:r>
          </a:p>
        </p:txBody>
      </p:sp>
      <p:sp>
        <p:nvSpPr>
          <p:cNvPr id="16" name="1 Başlık"/>
          <p:cNvSpPr>
            <a:spLocks noGrp="1"/>
          </p:cNvSpPr>
          <p:nvPr>
            <p:ph type="title"/>
          </p:nvPr>
        </p:nvSpPr>
        <p:spPr>
          <a:xfrm>
            <a:off x="500034" y="214290"/>
            <a:ext cx="8229600" cy="642942"/>
          </a:xfrm>
        </p:spPr>
        <p:txBody>
          <a:bodyPr>
            <a:normAutofit/>
          </a:bodyPr>
          <a:lstStyle/>
          <a:p>
            <a:r>
              <a:rPr lang="tr-TR" sz="3600" dirty="0" err="1"/>
              <a:t>Example</a:t>
            </a:r>
            <a:r>
              <a:rPr lang="tr-TR" sz="3600" dirty="0"/>
              <a:t> 4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E67AD-EE34-4E0A-BCCB-0D14F4380E44}" type="slidenum">
              <a:rPr lang="tr-TR" smtClean="0"/>
              <a:pPr/>
              <a:t>37</a:t>
            </a:fld>
            <a:endParaRPr lang="tr-TR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Ali Muhtaroglu</a:t>
            </a:r>
          </a:p>
        </p:txBody>
      </p:sp>
    </p:spTree>
    <p:extLst>
      <p:ext uri="{BB962C8B-B14F-4D97-AF65-F5344CB8AC3E}">
        <p14:creationId xmlns:p14="http://schemas.microsoft.com/office/powerpoint/2010/main" val="18863735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Metin kutusu"/>
          <p:cNvSpPr txBox="1"/>
          <p:nvPr/>
        </p:nvSpPr>
        <p:spPr>
          <a:xfrm>
            <a:off x="428596" y="1071546"/>
            <a:ext cx="85011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dirty="0" err="1">
                <a:latin typeface="+mn-lt"/>
              </a:rPr>
              <a:t>Assume</a:t>
            </a:r>
            <a:r>
              <a:rPr lang="tr-TR" sz="2000" dirty="0">
                <a:latin typeface="+mn-lt"/>
              </a:rPr>
              <a:t> </a:t>
            </a:r>
            <a:r>
              <a:rPr lang="tr-TR" sz="2000" dirty="0" err="1">
                <a:latin typeface="+mn-lt"/>
              </a:rPr>
              <a:t>for</a:t>
            </a:r>
            <a:r>
              <a:rPr lang="tr-TR" sz="2000" dirty="0">
                <a:latin typeface="+mn-lt"/>
              </a:rPr>
              <a:t> </a:t>
            </a:r>
            <a:r>
              <a:rPr lang="tr-TR" sz="2000" dirty="0" err="1">
                <a:latin typeface="+mn-lt"/>
              </a:rPr>
              <a:t>the</a:t>
            </a:r>
            <a:r>
              <a:rPr lang="tr-TR" sz="2000" dirty="0">
                <a:latin typeface="+mn-lt"/>
              </a:rPr>
              <a:t> Op-</a:t>
            </a:r>
            <a:r>
              <a:rPr lang="tr-TR" sz="2000" dirty="0" err="1">
                <a:latin typeface="+mn-lt"/>
              </a:rPr>
              <a:t>Amp</a:t>
            </a:r>
            <a:r>
              <a:rPr lang="tr-TR" sz="2000" dirty="0">
                <a:latin typeface="+mn-lt"/>
              </a:rPr>
              <a:t>:               ,                      ,                    . </a:t>
            </a:r>
            <a:r>
              <a:rPr lang="tr-TR" sz="2000" dirty="0" err="1">
                <a:latin typeface="+mn-lt"/>
              </a:rPr>
              <a:t>Determine</a:t>
            </a:r>
            <a:r>
              <a:rPr lang="tr-TR" sz="2000" dirty="0">
                <a:latin typeface="+mn-lt"/>
              </a:rPr>
              <a:t>        .</a:t>
            </a:r>
          </a:p>
        </p:txBody>
      </p:sp>
      <p:graphicFrame>
        <p:nvGraphicFramePr>
          <p:cNvPr id="5427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0388578"/>
              </p:ext>
            </p:extLst>
          </p:nvPr>
        </p:nvGraphicFramePr>
        <p:xfrm>
          <a:off x="3071813" y="1071563"/>
          <a:ext cx="869950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95000" imgH="203040" progId="Equation.3">
                  <p:embed/>
                </p:oleObj>
              </mc:Choice>
              <mc:Fallback>
                <p:oleObj name="Equation" r:id="rId2" imgW="49500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3" y="1071563"/>
                        <a:ext cx="869950" cy="35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7531684"/>
              </p:ext>
            </p:extLst>
          </p:nvPr>
        </p:nvGraphicFramePr>
        <p:xfrm>
          <a:off x="4000500" y="1071563"/>
          <a:ext cx="125095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85800" imgH="215640" progId="Equation.3">
                  <p:embed/>
                </p:oleObj>
              </mc:Choice>
              <mc:Fallback>
                <p:oleObj name="Equation" r:id="rId4" imgW="6858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0500" y="1071563"/>
                        <a:ext cx="125095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416263"/>
              </p:ext>
            </p:extLst>
          </p:nvPr>
        </p:nvGraphicFramePr>
        <p:xfrm>
          <a:off x="5286375" y="1071563"/>
          <a:ext cx="1214438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40" imgH="228600" progId="Equation.3">
                  <p:embed/>
                </p:oleObj>
              </mc:Choice>
              <mc:Fallback>
                <p:oleObj name="Equation" r:id="rId6" imgW="6728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6375" y="1071563"/>
                        <a:ext cx="1214438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7858971"/>
              </p:ext>
            </p:extLst>
          </p:nvPr>
        </p:nvGraphicFramePr>
        <p:xfrm>
          <a:off x="7715250" y="1071563"/>
          <a:ext cx="357188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7480" imgH="215640" progId="Equation.3">
                  <p:embed/>
                </p:oleObj>
              </mc:Choice>
              <mc:Fallback>
                <p:oleObj name="Equation" r:id="rId8" imgW="1774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5250" y="1071563"/>
                        <a:ext cx="357188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2357422" y="1357298"/>
            <a:ext cx="4158738" cy="1928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12 Metin kutusu"/>
          <p:cNvSpPr txBox="1"/>
          <p:nvPr/>
        </p:nvSpPr>
        <p:spPr>
          <a:xfrm>
            <a:off x="428596" y="3214686"/>
            <a:ext cx="500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u="sng" dirty="0" err="1">
                <a:latin typeface="+mn-lt"/>
              </a:rPr>
              <a:t>Replace</a:t>
            </a:r>
            <a:r>
              <a:rPr lang="tr-TR" u="sng" dirty="0">
                <a:latin typeface="+mn-lt"/>
              </a:rPr>
              <a:t> Op-</a:t>
            </a:r>
            <a:r>
              <a:rPr lang="tr-TR" u="sng" dirty="0" err="1">
                <a:latin typeface="+mn-lt"/>
              </a:rPr>
              <a:t>Amp</a:t>
            </a:r>
            <a:r>
              <a:rPr lang="tr-TR" u="sng" dirty="0">
                <a:latin typeface="+mn-lt"/>
              </a:rPr>
              <a:t> </a:t>
            </a:r>
            <a:r>
              <a:rPr lang="tr-TR" u="sng" dirty="0" err="1">
                <a:latin typeface="+mn-lt"/>
              </a:rPr>
              <a:t>by</a:t>
            </a:r>
            <a:r>
              <a:rPr lang="tr-TR" u="sng" dirty="0">
                <a:latin typeface="+mn-lt"/>
              </a:rPr>
              <a:t> </a:t>
            </a:r>
            <a:r>
              <a:rPr lang="tr-TR" u="sng" dirty="0" err="1">
                <a:latin typeface="+mn-lt"/>
              </a:rPr>
              <a:t>the</a:t>
            </a:r>
            <a:r>
              <a:rPr lang="tr-TR" u="sng" dirty="0">
                <a:latin typeface="+mn-lt"/>
              </a:rPr>
              <a:t> </a:t>
            </a:r>
            <a:r>
              <a:rPr lang="tr-TR" u="sng" dirty="0" err="1">
                <a:latin typeface="+mn-lt"/>
              </a:rPr>
              <a:t>Improved</a:t>
            </a:r>
            <a:r>
              <a:rPr lang="tr-TR" u="sng" dirty="0">
                <a:latin typeface="+mn-lt"/>
              </a:rPr>
              <a:t> Model:</a:t>
            </a:r>
          </a:p>
        </p:txBody>
      </p:sp>
      <p:sp>
        <p:nvSpPr>
          <p:cNvPr id="15" name="14 Metin kutusu"/>
          <p:cNvSpPr txBox="1"/>
          <p:nvPr/>
        </p:nvSpPr>
        <p:spPr>
          <a:xfrm>
            <a:off x="4714876" y="3500438"/>
            <a:ext cx="3214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>
                <a:latin typeface="+mn-lt"/>
              </a:rPr>
              <a:t>Thevenin</a:t>
            </a:r>
            <a:r>
              <a:rPr lang="tr-TR" dirty="0">
                <a:latin typeface="+mn-lt"/>
              </a:rPr>
              <a:t> </a:t>
            </a:r>
            <a:r>
              <a:rPr lang="tr-TR" dirty="0" err="1">
                <a:latin typeface="+mn-lt"/>
              </a:rPr>
              <a:t>to</a:t>
            </a:r>
            <a:r>
              <a:rPr lang="tr-TR" dirty="0">
                <a:latin typeface="+mn-lt"/>
              </a:rPr>
              <a:t> </a:t>
            </a:r>
            <a:r>
              <a:rPr lang="tr-TR" dirty="0" err="1">
                <a:latin typeface="+mn-lt"/>
              </a:rPr>
              <a:t>the</a:t>
            </a:r>
            <a:r>
              <a:rPr lang="tr-TR" dirty="0">
                <a:latin typeface="+mn-lt"/>
              </a:rPr>
              <a:t> </a:t>
            </a:r>
            <a:r>
              <a:rPr lang="tr-TR" dirty="0" err="1">
                <a:latin typeface="+mn-lt"/>
              </a:rPr>
              <a:t>left</a:t>
            </a:r>
            <a:r>
              <a:rPr lang="tr-TR" dirty="0">
                <a:latin typeface="+mn-lt"/>
              </a:rPr>
              <a:t> of a-b: </a:t>
            </a:r>
          </a:p>
        </p:txBody>
      </p:sp>
      <p:pic>
        <p:nvPicPr>
          <p:cNvPr id="54278" name="Picture 6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357158" y="3429000"/>
            <a:ext cx="3857652" cy="1970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5428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824725"/>
              </p:ext>
            </p:extLst>
          </p:nvPr>
        </p:nvGraphicFramePr>
        <p:xfrm>
          <a:off x="4786313" y="3786190"/>
          <a:ext cx="2341323" cy="5715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12800" imgH="393480" progId="Equation.3">
                  <p:embed/>
                </p:oleObj>
              </mc:Choice>
              <mc:Fallback>
                <p:oleObj name="Equation" r:id="rId12" imgW="16128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6313" y="3786190"/>
                        <a:ext cx="2341323" cy="5715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5991142"/>
              </p:ext>
            </p:extLst>
          </p:nvPr>
        </p:nvGraphicFramePr>
        <p:xfrm>
          <a:off x="4786314" y="4429132"/>
          <a:ext cx="3060312" cy="5715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108160" imgH="393480" progId="Equation.3">
                  <p:embed/>
                </p:oleObj>
              </mc:Choice>
              <mc:Fallback>
                <p:oleObj name="Equation" r:id="rId14" imgW="21081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6314" y="4429132"/>
                        <a:ext cx="3060312" cy="5715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1 Başlık"/>
          <p:cNvSpPr>
            <a:spLocks noGrp="1"/>
          </p:cNvSpPr>
          <p:nvPr>
            <p:ph type="title"/>
          </p:nvPr>
        </p:nvSpPr>
        <p:spPr>
          <a:xfrm>
            <a:off x="500034" y="214290"/>
            <a:ext cx="8229600" cy="642942"/>
          </a:xfrm>
        </p:spPr>
        <p:txBody>
          <a:bodyPr>
            <a:normAutofit/>
          </a:bodyPr>
          <a:lstStyle/>
          <a:p>
            <a:r>
              <a:rPr lang="tr-TR" sz="3600" dirty="0" err="1"/>
              <a:t>Example</a:t>
            </a:r>
            <a:r>
              <a:rPr lang="tr-TR" sz="3600" dirty="0"/>
              <a:t> 4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E67AD-EE34-4E0A-BCCB-0D14F4380E44}" type="slidenum">
              <a:rPr lang="tr-TR" smtClean="0"/>
              <a:pPr/>
              <a:t>38</a:t>
            </a:fld>
            <a:endParaRPr lang="tr-TR" dirty="0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Ali Muhtaroglu</a:t>
            </a:r>
          </a:p>
        </p:txBody>
      </p:sp>
    </p:spTree>
    <p:extLst>
      <p:ext uri="{BB962C8B-B14F-4D97-AF65-F5344CB8AC3E}">
        <p14:creationId xmlns:p14="http://schemas.microsoft.com/office/powerpoint/2010/main" val="30483706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Metin kutusu"/>
          <p:cNvSpPr txBox="1"/>
          <p:nvPr/>
        </p:nvSpPr>
        <p:spPr>
          <a:xfrm>
            <a:off x="428596" y="1071546"/>
            <a:ext cx="85011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dirty="0" err="1">
                <a:latin typeface="+mn-lt"/>
              </a:rPr>
              <a:t>Assume</a:t>
            </a:r>
            <a:r>
              <a:rPr lang="tr-TR" sz="2000" dirty="0">
                <a:latin typeface="+mn-lt"/>
              </a:rPr>
              <a:t> </a:t>
            </a:r>
            <a:r>
              <a:rPr lang="tr-TR" sz="2000" dirty="0" err="1">
                <a:latin typeface="+mn-lt"/>
              </a:rPr>
              <a:t>for</a:t>
            </a:r>
            <a:r>
              <a:rPr lang="tr-TR" sz="2000" dirty="0">
                <a:latin typeface="+mn-lt"/>
              </a:rPr>
              <a:t> </a:t>
            </a:r>
            <a:r>
              <a:rPr lang="tr-TR" sz="2000" dirty="0" err="1">
                <a:latin typeface="+mn-lt"/>
              </a:rPr>
              <a:t>the</a:t>
            </a:r>
            <a:r>
              <a:rPr lang="tr-TR" sz="2000" dirty="0">
                <a:latin typeface="+mn-lt"/>
              </a:rPr>
              <a:t> Op-</a:t>
            </a:r>
            <a:r>
              <a:rPr lang="tr-TR" sz="2000" dirty="0" err="1">
                <a:latin typeface="+mn-lt"/>
              </a:rPr>
              <a:t>Amp</a:t>
            </a:r>
            <a:r>
              <a:rPr lang="tr-TR" sz="2000" dirty="0">
                <a:latin typeface="+mn-lt"/>
              </a:rPr>
              <a:t>:               ,                      ,                    . </a:t>
            </a:r>
            <a:r>
              <a:rPr lang="tr-TR" sz="2000" dirty="0" err="1">
                <a:latin typeface="+mn-lt"/>
              </a:rPr>
              <a:t>Determine</a:t>
            </a:r>
            <a:r>
              <a:rPr lang="tr-TR" sz="2000" dirty="0">
                <a:latin typeface="+mn-lt"/>
              </a:rPr>
              <a:t>        .</a:t>
            </a:r>
          </a:p>
        </p:txBody>
      </p:sp>
      <p:graphicFrame>
        <p:nvGraphicFramePr>
          <p:cNvPr id="5427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1464407"/>
              </p:ext>
            </p:extLst>
          </p:nvPr>
        </p:nvGraphicFramePr>
        <p:xfrm>
          <a:off x="3071813" y="1071563"/>
          <a:ext cx="869950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95000" imgH="203040" progId="Equation.3">
                  <p:embed/>
                </p:oleObj>
              </mc:Choice>
              <mc:Fallback>
                <p:oleObj name="Equation" r:id="rId3" imgW="49500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3" y="1071563"/>
                        <a:ext cx="869950" cy="35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7040239"/>
              </p:ext>
            </p:extLst>
          </p:nvPr>
        </p:nvGraphicFramePr>
        <p:xfrm>
          <a:off x="4000500" y="1071563"/>
          <a:ext cx="125095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85800" imgH="215640" progId="Equation.3">
                  <p:embed/>
                </p:oleObj>
              </mc:Choice>
              <mc:Fallback>
                <p:oleObj name="Equation" r:id="rId5" imgW="6858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0500" y="1071563"/>
                        <a:ext cx="125095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7419338"/>
              </p:ext>
            </p:extLst>
          </p:nvPr>
        </p:nvGraphicFramePr>
        <p:xfrm>
          <a:off x="5286375" y="1071563"/>
          <a:ext cx="1214438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72840" imgH="228600" progId="Equation.3">
                  <p:embed/>
                </p:oleObj>
              </mc:Choice>
              <mc:Fallback>
                <p:oleObj name="Equation" r:id="rId7" imgW="6728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6375" y="1071563"/>
                        <a:ext cx="1214438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7753508"/>
              </p:ext>
            </p:extLst>
          </p:nvPr>
        </p:nvGraphicFramePr>
        <p:xfrm>
          <a:off x="7715250" y="1071563"/>
          <a:ext cx="357188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77480" imgH="215640" progId="Equation.3">
                  <p:embed/>
                </p:oleObj>
              </mc:Choice>
              <mc:Fallback>
                <p:oleObj name="Equation" r:id="rId9" imgW="1774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5250" y="1071563"/>
                        <a:ext cx="357188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2357422" y="1357298"/>
            <a:ext cx="4158738" cy="1928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12 Metin kutusu"/>
          <p:cNvSpPr txBox="1"/>
          <p:nvPr/>
        </p:nvSpPr>
        <p:spPr>
          <a:xfrm>
            <a:off x="428596" y="3214686"/>
            <a:ext cx="500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u="sng" dirty="0" err="1">
                <a:latin typeface="+mn-lt"/>
              </a:rPr>
              <a:t>Replace</a:t>
            </a:r>
            <a:r>
              <a:rPr lang="tr-TR" u="sng" dirty="0">
                <a:latin typeface="+mn-lt"/>
              </a:rPr>
              <a:t> Op-</a:t>
            </a:r>
            <a:r>
              <a:rPr lang="tr-TR" u="sng" dirty="0" err="1">
                <a:latin typeface="+mn-lt"/>
              </a:rPr>
              <a:t>Amp</a:t>
            </a:r>
            <a:r>
              <a:rPr lang="tr-TR" u="sng" dirty="0">
                <a:latin typeface="+mn-lt"/>
              </a:rPr>
              <a:t> </a:t>
            </a:r>
            <a:r>
              <a:rPr lang="tr-TR" u="sng" dirty="0" err="1">
                <a:latin typeface="+mn-lt"/>
              </a:rPr>
              <a:t>by</a:t>
            </a:r>
            <a:r>
              <a:rPr lang="tr-TR" u="sng" dirty="0">
                <a:latin typeface="+mn-lt"/>
              </a:rPr>
              <a:t> </a:t>
            </a:r>
            <a:r>
              <a:rPr lang="tr-TR" u="sng" dirty="0" err="1">
                <a:latin typeface="+mn-lt"/>
              </a:rPr>
              <a:t>the</a:t>
            </a:r>
            <a:r>
              <a:rPr lang="tr-TR" u="sng" dirty="0">
                <a:latin typeface="+mn-lt"/>
              </a:rPr>
              <a:t> </a:t>
            </a:r>
            <a:r>
              <a:rPr lang="tr-TR" u="sng" dirty="0" err="1">
                <a:latin typeface="+mn-lt"/>
              </a:rPr>
              <a:t>Improved</a:t>
            </a:r>
            <a:r>
              <a:rPr lang="tr-TR" u="sng" dirty="0">
                <a:latin typeface="+mn-lt"/>
              </a:rPr>
              <a:t> Model:</a:t>
            </a:r>
          </a:p>
        </p:txBody>
      </p:sp>
      <p:sp>
        <p:nvSpPr>
          <p:cNvPr id="15" name="14 Metin kutusu"/>
          <p:cNvSpPr txBox="1"/>
          <p:nvPr/>
        </p:nvSpPr>
        <p:spPr>
          <a:xfrm>
            <a:off x="4714876" y="3500438"/>
            <a:ext cx="3214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>
                <a:latin typeface="+mn-lt"/>
              </a:rPr>
              <a:t>Thevenin</a:t>
            </a:r>
            <a:r>
              <a:rPr lang="tr-TR" dirty="0">
                <a:latin typeface="+mn-lt"/>
              </a:rPr>
              <a:t> </a:t>
            </a:r>
            <a:r>
              <a:rPr lang="tr-TR" dirty="0" err="1">
                <a:latin typeface="+mn-lt"/>
              </a:rPr>
              <a:t>to</a:t>
            </a:r>
            <a:r>
              <a:rPr lang="tr-TR" dirty="0">
                <a:latin typeface="+mn-lt"/>
              </a:rPr>
              <a:t> </a:t>
            </a:r>
            <a:r>
              <a:rPr lang="tr-TR" dirty="0" err="1">
                <a:latin typeface="+mn-lt"/>
              </a:rPr>
              <a:t>the</a:t>
            </a:r>
            <a:r>
              <a:rPr lang="tr-TR" dirty="0">
                <a:latin typeface="+mn-lt"/>
              </a:rPr>
              <a:t> </a:t>
            </a:r>
            <a:r>
              <a:rPr lang="tr-TR" dirty="0" err="1">
                <a:latin typeface="+mn-lt"/>
              </a:rPr>
              <a:t>left</a:t>
            </a:r>
            <a:r>
              <a:rPr lang="tr-TR" dirty="0">
                <a:latin typeface="+mn-lt"/>
              </a:rPr>
              <a:t> of a-b: </a:t>
            </a:r>
          </a:p>
        </p:txBody>
      </p:sp>
      <p:pic>
        <p:nvPicPr>
          <p:cNvPr id="54278" name="Picture 6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357158" y="3429000"/>
            <a:ext cx="3857652" cy="1970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7" name="16 Nesne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7647330"/>
              </p:ext>
            </p:extLst>
          </p:nvPr>
        </p:nvGraphicFramePr>
        <p:xfrm>
          <a:off x="4114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914400" imgH="215640" progId="Equation.3">
                  <p:embed/>
                </p:oleObj>
              </mc:Choice>
              <mc:Fallback>
                <p:oleObj name="Equation" r:id="rId13" imgW="9144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321050"/>
                        <a:ext cx="9144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5424564"/>
              </p:ext>
            </p:extLst>
          </p:nvPr>
        </p:nvGraphicFramePr>
        <p:xfrm>
          <a:off x="4786313" y="3786190"/>
          <a:ext cx="2341323" cy="5715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612800" imgH="393480" progId="Equation.3">
                  <p:embed/>
                </p:oleObj>
              </mc:Choice>
              <mc:Fallback>
                <p:oleObj name="Equation" r:id="rId15" imgW="16128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6313" y="3786190"/>
                        <a:ext cx="2341323" cy="5715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1410969"/>
              </p:ext>
            </p:extLst>
          </p:nvPr>
        </p:nvGraphicFramePr>
        <p:xfrm>
          <a:off x="4786314" y="4429132"/>
          <a:ext cx="3060312" cy="5715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108160" imgH="393480" progId="Equation.3">
                  <p:embed/>
                </p:oleObj>
              </mc:Choice>
              <mc:Fallback>
                <p:oleObj name="Equation" r:id="rId17" imgW="21081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6314" y="4429132"/>
                        <a:ext cx="3060312" cy="5715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17 Metin kutusu"/>
          <p:cNvSpPr txBox="1"/>
          <p:nvPr/>
        </p:nvSpPr>
        <p:spPr>
          <a:xfrm>
            <a:off x="642910" y="5214950"/>
            <a:ext cx="3643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>
                <a:latin typeface="+mn-lt"/>
              </a:rPr>
              <a:t>The</a:t>
            </a:r>
            <a:r>
              <a:rPr lang="tr-TR" dirty="0">
                <a:latin typeface="+mn-lt"/>
              </a:rPr>
              <a:t> </a:t>
            </a:r>
            <a:r>
              <a:rPr lang="tr-TR" dirty="0" err="1">
                <a:latin typeface="+mn-lt"/>
              </a:rPr>
              <a:t>circuit</a:t>
            </a:r>
            <a:r>
              <a:rPr lang="tr-TR" dirty="0">
                <a:latin typeface="+mn-lt"/>
              </a:rPr>
              <a:t> </a:t>
            </a:r>
            <a:r>
              <a:rPr lang="tr-TR" dirty="0" err="1">
                <a:latin typeface="+mn-lt"/>
              </a:rPr>
              <a:t>becomes</a:t>
            </a:r>
            <a:r>
              <a:rPr lang="tr-TR" dirty="0">
                <a:latin typeface="+mn-lt"/>
              </a:rPr>
              <a:t> :</a:t>
            </a:r>
          </a:p>
        </p:txBody>
      </p:sp>
      <p:pic>
        <p:nvPicPr>
          <p:cNvPr id="55307" name="Picture 11"/>
          <p:cNvPicPr>
            <a:picLocks noChangeAspect="1" noChangeArrowheads="1"/>
          </p:cNvPicPr>
          <p:nvPr/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1714480" y="5500702"/>
            <a:ext cx="2971466" cy="13572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5530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4544740"/>
              </p:ext>
            </p:extLst>
          </p:nvPr>
        </p:nvGraphicFramePr>
        <p:xfrm>
          <a:off x="4929190" y="5286388"/>
          <a:ext cx="3797736" cy="5715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616120" imgH="393480" progId="Equation.3">
                  <p:embed/>
                </p:oleObj>
              </mc:Choice>
              <mc:Fallback>
                <p:oleObj name="Equation" r:id="rId20" imgW="26161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9190" y="5286388"/>
                        <a:ext cx="3797736" cy="5715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1722691"/>
              </p:ext>
            </p:extLst>
          </p:nvPr>
        </p:nvGraphicFramePr>
        <p:xfrm>
          <a:off x="4929190" y="5786454"/>
          <a:ext cx="2928958" cy="5857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968480" imgH="393480" progId="Equation.3">
                  <p:embed/>
                </p:oleObj>
              </mc:Choice>
              <mc:Fallback>
                <p:oleObj name="Equation" r:id="rId22" imgW="19684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9190" y="5786454"/>
                        <a:ext cx="2928958" cy="5857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1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0029690"/>
              </p:ext>
            </p:extLst>
          </p:nvPr>
        </p:nvGraphicFramePr>
        <p:xfrm>
          <a:off x="4929190" y="6215082"/>
          <a:ext cx="3268167" cy="6429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323800" imgH="457200" progId="Equation.3">
                  <p:embed/>
                </p:oleObj>
              </mc:Choice>
              <mc:Fallback>
                <p:oleObj name="Equation" r:id="rId24" imgW="23238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9190" y="6215082"/>
                        <a:ext cx="3268167" cy="6429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1 Başlık"/>
          <p:cNvSpPr>
            <a:spLocks noGrp="1"/>
          </p:cNvSpPr>
          <p:nvPr>
            <p:ph type="title"/>
          </p:nvPr>
        </p:nvSpPr>
        <p:spPr>
          <a:xfrm>
            <a:off x="500034" y="214290"/>
            <a:ext cx="8229600" cy="642942"/>
          </a:xfrm>
        </p:spPr>
        <p:txBody>
          <a:bodyPr>
            <a:normAutofit/>
          </a:bodyPr>
          <a:lstStyle/>
          <a:p>
            <a:r>
              <a:rPr lang="tr-TR" sz="3600" dirty="0" err="1"/>
              <a:t>Example</a:t>
            </a:r>
            <a:r>
              <a:rPr lang="tr-TR" sz="3600" dirty="0"/>
              <a:t> 4</a:t>
            </a: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E67AD-EE34-4E0A-BCCB-0D14F4380E44}" type="slidenum">
              <a:rPr lang="tr-TR" smtClean="0"/>
              <a:pPr/>
              <a:t>39</a:t>
            </a:fld>
            <a:endParaRPr lang="tr-TR" dirty="0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Ali Muhtaroglu</a:t>
            </a:r>
          </a:p>
        </p:txBody>
      </p:sp>
    </p:spTree>
    <p:extLst>
      <p:ext uri="{BB962C8B-B14F-4D97-AF65-F5344CB8AC3E}">
        <p14:creationId xmlns:p14="http://schemas.microsoft.com/office/powerpoint/2010/main" val="197641080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24898</TotalTime>
  <Words>2163</Words>
  <Application>Microsoft Office PowerPoint</Application>
  <PresentationFormat>On-screen Show (4:3)</PresentationFormat>
  <Paragraphs>434</Paragraphs>
  <Slides>39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Arial</vt:lpstr>
      <vt:lpstr>Calibri</vt:lpstr>
      <vt:lpstr>Office Theme</vt:lpstr>
      <vt:lpstr>1_Office Theme</vt:lpstr>
      <vt:lpstr>Denklem</vt:lpstr>
      <vt:lpstr>Equation</vt:lpstr>
      <vt:lpstr>PowerPoint Presentation</vt:lpstr>
      <vt:lpstr>Operational Amplifiers  Week 10  Reading: Nilsson &amp; Riedel Chapter 5</vt:lpstr>
      <vt:lpstr>Operational Amplifiers</vt:lpstr>
      <vt:lpstr>Operational Amplifiers</vt:lpstr>
      <vt:lpstr>Operational Amplifiers</vt:lpstr>
      <vt:lpstr>Example 1</vt:lpstr>
      <vt:lpstr>Example 1</vt:lpstr>
      <vt:lpstr>Negative Feedback</vt:lpstr>
      <vt:lpstr>Negative Feedback</vt:lpstr>
      <vt:lpstr>Negative Feedback</vt:lpstr>
      <vt:lpstr>Negative Feedback</vt:lpstr>
      <vt:lpstr>Negative Feedback</vt:lpstr>
      <vt:lpstr>Example 2</vt:lpstr>
      <vt:lpstr>Example 2</vt:lpstr>
      <vt:lpstr>Inverting Amplifier</vt:lpstr>
      <vt:lpstr>Inverting Amplifier</vt:lpstr>
      <vt:lpstr>Inverting Amplifier (example)</vt:lpstr>
      <vt:lpstr>Inverting Amplifier (example)</vt:lpstr>
      <vt:lpstr>Inverting Amplifier (example)</vt:lpstr>
      <vt:lpstr>Noninverting Amplifier</vt:lpstr>
      <vt:lpstr>Noninverting Amplifier</vt:lpstr>
      <vt:lpstr>Noninverting Amplifier(Example)</vt:lpstr>
      <vt:lpstr>Difference Amplifier</vt:lpstr>
      <vt:lpstr>Difference Amplifier</vt:lpstr>
      <vt:lpstr>    Example 3 (Johnson &amp; Johnson P:99)</vt:lpstr>
      <vt:lpstr>    Example 3 (Johnson &amp; Johnson P:99)</vt:lpstr>
      <vt:lpstr>    Example 3 (Johnson &amp; Johnson P:99)</vt:lpstr>
      <vt:lpstr>    Example 3 (Johnson &amp; Johnson P:99)</vt:lpstr>
      <vt:lpstr>    Example 3 (Johnson &amp; Johnson P:99)</vt:lpstr>
      <vt:lpstr>Improved Op-Amp Model</vt:lpstr>
      <vt:lpstr>Example 1 repeated w/ improved model</vt:lpstr>
      <vt:lpstr>Example 1 repeated w/ improved model</vt:lpstr>
      <vt:lpstr>Example 1 repeated w/ improved model</vt:lpstr>
      <vt:lpstr>Example 1 repeated w/ improved model</vt:lpstr>
      <vt:lpstr>Example 1 repeated w/ improved model</vt:lpstr>
      <vt:lpstr>Example 4</vt:lpstr>
      <vt:lpstr>Example 4</vt:lpstr>
      <vt:lpstr>Example 4</vt:lpstr>
      <vt:lpstr>Example 4</vt:lpstr>
    </vt:vector>
  </TitlesOfParts>
  <Company>Muhtaroglu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Signals and Systems I EEE-301 Lecture Notes</dc:title>
  <dc:creator>Ali</dc:creator>
  <cp:lastModifiedBy>Yağmur CAN</cp:lastModifiedBy>
  <cp:revision>555</cp:revision>
  <dcterms:created xsi:type="dcterms:W3CDTF">2007-08-31T13:08:21Z</dcterms:created>
  <dcterms:modified xsi:type="dcterms:W3CDTF">2024-01-19T15:51:12Z</dcterms:modified>
</cp:coreProperties>
</file>