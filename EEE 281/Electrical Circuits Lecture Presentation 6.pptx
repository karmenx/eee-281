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omments/modernComment_1EF_6496A529.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4" r:id="rId2"/>
  </p:sldMasterIdLst>
  <p:notesMasterIdLst>
    <p:notesMasterId r:id="rId55"/>
  </p:notesMasterIdLst>
  <p:handoutMasterIdLst>
    <p:handoutMasterId r:id="rId56"/>
  </p:handoutMasterIdLst>
  <p:sldIdLst>
    <p:sldId id="464" r:id="rId3"/>
    <p:sldId id="291" r:id="rId4"/>
    <p:sldId id="465" r:id="rId5"/>
    <p:sldId id="466" r:id="rId6"/>
    <p:sldId id="516" r:id="rId7"/>
    <p:sldId id="467" r:id="rId8"/>
    <p:sldId id="468" r:id="rId9"/>
    <p:sldId id="469" r:id="rId10"/>
    <p:sldId id="517" r:id="rId11"/>
    <p:sldId id="470" r:id="rId12"/>
    <p:sldId id="471" r:id="rId13"/>
    <p:sldId id="472" r:id="rId14"/>
    <p:sldId id="473" r:id="rId15"/>
    <p:sldId id="474" r:id="rId16"/>
    <p:sldId id="475" r:id="rId17"/>
    <p:sldId id="476" r:id="rId18"/>
    <p:sldId id="477" r:id="rId19"/>
    <p:sldId id="478" r:id="rId20"/>
    <p:sldId id="479" r:id="rId21"/>
    <p:sldId id="480" r:id="rId22"/>
    <p:sldId id="518" r:id="rId23"/>
    <p:sldId id="481" r:id="rId24"/>
    <p:sldId id="482" r:id="rId25"/>
    <p:sldId id="483" r:id="rId26"/>
    <p:sldId id="484" r:id="rId27"/>
    <p:sldId id="485" r:id="rId28"/>
    <p:sldId id="486" r:id="rId29"/>
    <p:sldId id="487" r:id="rId30"/>
    <p:sldId id="488" r:id="rId31"/>
    <p:sldId id="489" r:id="rId32"/>
    <p:sldId id="490" r:id="rId33"/>
    <p:sldId id="491" r:id="rId34"/>
    <p:sldId id="492" r:id="rId35"/>
    <p:sldId id="493" r:id="rId36"/>
    <p:sldId id="494" r:id="rId37"/>
    <p:sldId id="519" r:id="rId38"/>
    <p:sldId id="520" r:id="rId39"/>
    <p:sldId id="495" r:id="rId40"/>
    <p:sldId id="496" r:id="rId41"/>
    <p:sldId id="497" r:id="rId42"/>
    <p:sldId id="498" r:id="rId43"/>
    <p:sldId id="499" r:id="rId44"/>
    <p:sldId id="500" r:id="rId45"/>
    <p:sldId id="501" r:id="rId46"/>
    <p:sldId id="502" r:id="rId47"/>
    <p:sldId id="503" r:id="rId48"/>
    <p:sldId id="510" r:id="rId49"/>
    <p:sldId id="511" r:id="rId50"/>
    <p:sldId id="512" r:id="rId51"/>
    <p:sldId id="513" r:id="rId52"/>
    <p:sldId id="514" r:id="rId53"/>
    <p:sldId id="515" r:id="rId54"/>
  </p:sldIdLst>
  <p:sldSz cx="9144000" cy="6858000" type="screen4x3"/>
  <p:notesSz cx="6791325" cy="9923463"/>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6">
          <p15:clr>
            <a:srgbClr val="A4A3A4"/>
          </p15:clr>
        </p15:guide>
        <p15:guide id="2" pos="214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179FC9B-D91B-7163-829F-830A43F7DB53}" name="Yağmur CAN" initials="YC" userId="S::yagmur.can@metu.edu.tr::a72a0d38-c58c-469d-bbc7-21a460a3a21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82" autoAdjust="0"/>
    <p:restoredTop sz="95297" autoAdjust="0"/>
  </p:normalViewPr>
  <p:slideViewPr>
    <p:cSldViewPr>
      <p:cViewPr varScale="1">
        <p:scale>
          <a:sx n="87" d="100"/>
          <a:sy n="87" d="100"/>
        </p:scale>
        <p:origin x="1334" y="6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6488"/>
    </p:cViewPr>
  </p:sorterViewPr>
  <p:notesViewPr>
    <p:cSldViewPr>
      <p:cViewPr varScale="1">
        <p:scale>
          <a:sx n="58" d="100"/>
          <a:sy n="58" d="100"/>
        </p:scale>
        <p:origin x="-1968" y="-86"/>
      </p:cViewPr>
      <p:guideLst>
        <p:guide orient="horz" pos="3126"/>
        <p:guide pos="2140"/>
      </p:guideLst>
    </p:cSldViewPr>
  </p:notesViewPr>
  <p:gridSpacing cx="38405" cy="38405"/>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viewProps" Target="viewProps.xml"/><Relationship Id="rId5" Type="http://schemas.openxmlformats.org/officeDocument/2006/relationships/slide" Target="slides/slide3.xml"/><Relationship Id="rId61" Type="http://schemas.microsoft.com/office/2018/10/relationships/authors" Target="author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s>
</file>

<file path=ppt/comments/modernComment_1EF_6496A529.xml><?xml version="1.0" encoding="utf-8"?>
<p188:cmLst xmlns:a="http://schemas.openxmlformats.org/drawingml/2006/main" xmlns:r="http://schemas.openxmlformats.org/officeDocument/2006/relationships" xmlns:p188="http://schemas.microsoft.com/office/powerpoint/2018/8/main">
  <p188:cm id="{1ABEFD64-205B-47D3-94CA-AEE5D05EC0A0}" authorId="{7179FC9B-D91B-7163-829F-830A43F7DB53}" created="2024-01-19T19:21:18.969">
    <pc:sldMkLst xmlns:pc="http://schemas.microsoft.com/office/powerpoint/2013/main/command">
      <pc:docMk/>
      <pc:sldMk cId="1687594281" sldId="495"/>
    </pc:sldMkLst>
    <p188:txBody>
      <a:bodyPr/>
      <a:lstStyle/>
      <a:p>
        <a:r>
          <a:rPr lang="en-US"/>
          <a:t>Nasıl 0,5 çıktığını anlamadım</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2907" cy="496173"/>
          </a:xfrm>
          <a:prstGeom prst="rect">
            <a:avLst/>
          </a:prstGeom>
        </p:spPr>
        <p:txBody>
          <a:bodyPr vert="horz" lIns="88720" tIns="44360" rIns="88720" bIns="44360" rtlCol="0"/>
          <a:lstStyle>
            <a:lvl1pPr algn="l">
              <a:defRPr sz="1100"/>
            </a:lvl1pPr>
          </a:lstStyle>
          <a:p>
            <a:endParaRPr lang="en-US"/>
          </a:p>
        </p:txBody>
      </p:sp>
      <p:sp>
        <p:nvSpPr>
          <p:cNvPr id="3" name="Date Placeholder 2"/>
          <p:cNvSpPr>
            <a:spLocks noGrp="1"/>
          </p:cNvSpPr>
          <p:nvPr>
            <p:ph type="dt" sz="quarter" idx="1"/>
          </p:nvPr>
        </p:nvSpPr>
        <p:spPr>
          <a:xfrm>
            <a:off x="3846846" y="1"/>
            <a:ext cx="2942907" cy="496173"/>
          </a:xfrm>
          <a:prstGeom prst="rect">
            <a:avLst/>
          </a:prstGeom>
        </p:spPr>
        <p:txBody>
          <a:bodyPr vert="horz" lIns="88720" tIns="44360" rIns="88720" bIns="44360" rtlCol="0"/>
          <a:lstStyle>
            <a:lvl1pPr algn="r">
              <a:defRPr sz="1100"/>
            </a:lvl1pPr>
          </a:lstStyle>
          <a:p>
            <a:fld id="{88317F73-780A-44BC-8CEB-6A904FAD50C3}" type="datetimeFigureOut">
              <a:rPr lang="en-US" smtClean="0"/>
              <a:pPr/>
              <a:t>1/19/2024</a:t>
            </a:fld>
            <a:endParaRPr lang="en-US"/>
          </a:p>
        </p:txBody>
      </p:sp>
      <p:sp>
        <p:nvSpPr>
          <p:cNvPr id="4" name="Footer Placeholder 3"/>
          <p:cNvSpPr>
            <a:spLocks noGrp="1"/>
          </p:cNvSpPr>
          <p:nvPr>
            <p:ph type="ftr" sz="quarter" idx="2"/>
          </p:nvPr>
        </p:nvSpPr>
        <p:spPr>
          <a:xfrm>
            <a:off x="1" y="9425567"/>
            <a:ext cx="2942907" cy="496173"/>
          </a:xfrm>
          <a:prstGeom prst="rect">
            <a:avLst/>
          </a:prstGeom>
        </p:spPr>
        <p:txBody>
          <a:bodyPr vert="horz" lIns="88720" tIns="44360" rIns="88720" bIns="44360" rtlCol="0" anchor="b"/>
          <a:lstStyle>
            <a:lvl1pPr algn="l">
              <a:defRPr sz="1100"/>
            </a:lvl1pPr>
          </a:lstStyle>
          <a:p>
            <a:r>
              <a:rPr lang="en-US" dirty="0"/>
              <a:t>Ali Muhtaroglu EEE-201 Fall 2008</a:t>
            </a:r>
          </a:p>
        </p:txBody>
      </p:sp>
      <p:sp>
        <p:nvSpPr>
          <p:cNvPr id="5" name="Slide Number Placeholder 4"/>
          <p:cNvSpPr>
            <a:spLocks noGrp="1"/>
          </p:cNvSpPr>
          <p:nvPr>
            <p:ph type="sldNum" sz="quarter" idx="3"/>
          </p:nvPr>
        </p:nvSpPr>
        <p:spPr>
          <a:xfrm>
            <a:off x="3846846" y="9425567"/>
            <a:ext cx="2942907" cy="496173"/>
          </a:xfrm>
          <a:prstGeom prst="rect">
            <a:avLst/>
          </a:prstGeom>
        </p:spPr>
        <p:txBody>
          <a:bodyPr vert="horz" lIns="88720" tIns="44360" rIns="88720" bIns="44360" rtlCol="0" anchor="b"/>
          <a:lstStyle>
            <a:lvl1pPr algn="r">
              <a:defRPr sz="1100"/>
            </a:lvl1pPr>
          </a:lstStyle>
          <a:p>
            <a:fld id="{14CCCDEF-E892-426B-951E-3DF22639A05B}" type="slidenum">
              <a:rPr lang="en-US" smtClean="0"/>
              <a:pPr/>
              <a:t>‹#›</a:t>
            </a:fld>
            <a:endParaRPr lang="en-US"/>
          </a:p>
        </p:txBody>
      </p:sp>
    </p:spTree>
    <p:extLst>
      <p:ext uri="{BB962C8B-B14F-4D97-AF65-F5344CB8AC3E}">
        <p14:creationId xmlns:p14="http://schemas.microsoft.com/office/powerpoint/2010/main" val="18626248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2907" cy="496173"/>
          </a:xfrm>
          <a:prstGeom prst="rect">
            <a:avLst/>
          </a:prstGeom>
        </p:spPr>
        <p:txBody>
          <a:bodyPr vert="horz" lIns="88720" tIns="44360" rIns="88720" bIns="44360" rtlCol="0"/>
          <a:lstStyle>
            <a:lvl1pPr algn="l">
              <a:defRPr sz="1100"/>
            </a:lvl1pPr>
          </a:lstStyle>
          <a:p>
            <a:endParaRPr lang="en-US"/>
          </a:p>
        </p:txBody>
      </p:sp>
      <p:sp>
        <p:nvSpPr>
          <p:cNvPr id="3" name="Date Placeholder 2"/>
          <p:cNvSpPr>
            <a:spLocks noGrp="1"/>
          </p:cNvSpPr>
          <p:nvPr>
            <p:ph type="dt" idx="1"/>
          </p:nvPr>
        </p:nvSpPr>
        <p:spPr>
          <a:xfrm>
            <a:off x="3846846" y="1"/>
            <a:ext cx="2942907" cy="496173"/>
          </a:xfrm>
          <a:prstGeom prst="rect">
            <a:avLst/>
          </a:prstGeom>
        </p:spPr>
        <p:txBody>
          <a:bodyPr vert="horz" lIns="88720" tIns="44360" rIns="88720" bIns="44360" rtlCol="0"/>
          <a:lstStyle>
            <a:lvl1pPr algn="r">
              <a:defRPr sz="1100"/>
            </a:lvl1pPr>
          </a:lstStyle>
          <a:p>
            <a:fld id="{FEE8148B-16E5-4DB6-B21A-06F7282DA7B2}" type="datetimeFigureOut">
              <a:rPr lang="en-US" smtClean="0"/>
              <a:pPr/>
              <a:t>1/19/2024</a:t>
            </a:fld>
            <a:endParaRPr lang="en-US"/>
          </a:p>
        </p:txBody>
      </p:sp>
      <p:sp>
        <p:nvSpPr>
          <p:cNvPr id="4" name="Slide Image Placeholder 3"/>
          <p:cNvSpPr>
            <a:spLocks noGrp="1" noRot="1" noChangeAspect="1"/>
          </p:cNvSpPr>
          <p:nvPr>
            <p:ph type="sldImg" idx="2"/>
          </p:nvPr>
        </p:nvSpPr>
        <p:spPr>
          <a:xfrm>
            <a:off x="915988" y="746125"/>
            <a:ext cx="4959350" cy="3719513"/>
          </a:xfrm>
          <a:prstGeom prst="rect">
            <a:avLst/>
          </a:prstGeom>
          <a:noFill/>
          <a:ln w="12700">
            <a:solidFill>
              <a:prstClr val="black"/>
            </a:solidFill>
          </a:ln>
        </p:spPr>
        <p:txBody>
          <a:bodyPr vert="horz" lIns="88720" tIns="44360" rIns="88720" bIns="44360" rtlCol="0" anchor="ctr"/>
          <a:lstStyle/>
          <a:p>
            <a:endParaRPr lang="en-US"/>
          </a:p>
        </p:txBody>
      </p:sp>
      <p:sp>
        <p:nvSpPr>
          <p:cNvPr id="5" name="Notes Placeholder 4"/>
          <p:cNvSpPr>
            <a:spLocks noGrp="1"/>
          </p:cNvSpPr>
          <p:nvPr>
            <p:ph type="body" sz="quarter" idx="3"/>
          </p:nvPr>
        </p:nvSpPr>
        <p:spPr>
          <a:xfrm>
            <a:off x="679133" y="4713647"/>
            <a:ext cx="5433060" cy="4465558"/>
          </a:xfrm>
          <a:prstGeom prst="rect">
            <a:avLst/>
          </a:prstGeom>
        </p:spPr>
        <p:txBody>
          <a:bodyPr vert="horz" lIns="88720" tIns="44360" rIns="88720" bIns="4436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425567"/>
            <a:ext cx="2942907" cy="496173"/>
          </a:xfrm>
          <a:prstGeom prst="rect">
            <a:avLst/>
          </a:prstGeom>
        </p:spPr>
        <p:txBody>
          <a:bodyPr vert="horz" lIns="88720" tIns="44360" rIns="88720" bIns="44360" rtlCol="0" anchor="b"/>
          <a:lstStyle>
            <a:lvl1pPr algn="l">
              <a:defRPr sz="1100"/>
            </a:lvl1pPr>
          </a:lstStyle>
          <a:p>
            <a:endParaRPr lang="en-US"/>
          </a:p>
        </p:txBody>
      </p:sp>
      <p:sp>
        <p:nvSpPr>
          <p:cNvPr id="7" name="Slide Number Placeholder 6"/>
          <p:cNvSpPr>
            <a:spLocks noGrp="1"/>
          </p:cNvSpPr>
          <p:nvPr>
            <p:ph type="sldNum" sz="quarter" idx="5"/>
          </p:nvPr>
        </p:nvSpPr>
        <p:spPr>
          <a:xfrm>
            <a:off x="3846846" y="9425567"/>
            <a:ext cx="2942907" cy="496173"/>
          </a:xfrm>
          <a:prstGeom prst="rect">
            <a:avLst/>
          </a:prstGeom>
        </p:spPr>
        <p:txBody>
          <a:bodyPr vert="horz" lIns="88720" tIns="44360" rIns="88720" bIns="44360" rtlCol="0" anchor="b"/>
          <a:lstStyle>
            <a:lvl1pPr algn="r">
              <a:defRPr sz="1100"/>
            </a:lvl1pPr>
          </a:lstStyle>
          <a:p>
            <a:fld id="{E15A28F2-8CAD-4F56-A39E-6A4BC478584B}" type="slidenum">
              <a:rPr lang="en-US" smtClean="0"/>
              <a:pPr/>
              <a:t>‹#›</a:t>
            </a:fld>
            <a:endParaRPr lang="en-US"/>
          </a:p>
        </p:txBody>
      </p:sp>
    </p:spTree>
    <p:extLst>
      <p:ext uri="{BB962C8B-B14F-4D97-AF65-F5344CB8AC3E}">
        <p14:creationId xmlns:p14="http://schemas.microsoft.com/office/powerpoint/2010/main" val="1246963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34190488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3"/>
          <p:cNvSpPr>
            <a:spLocks noGrp="1"/>
          </p:cNvSpPr>
          <p:nvPr>
            <p:ph type="dt" sz="half" idx="10"/>
          </p:nvPr>
        </p:nvSpPr>
        <p:spPr/>
        <p:txBody>
          <a:bodyPr/>
          <a:lstStyle>
            <a:lvl1pPr>
              <a:defRPr/>
            </a:lvl1pPr>
          </a:lstStyle>
          <a:p>
            <a:pPr>
              <a:defRPr/>
            </a:pPr>
            <a:fld id="{DF085AD2-EAF9-44D4-9DC0-A904DACFF846}" type="datetimeFigureOut">
              <a:rPr lang="en-US"/>
              <a:pPr>
                <a:defRPr/>
              </a:pPr>
              <a:t>1/19/2024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303159B-6DED-40ED-899A-53891BB365C7}" type="slidenum">
              <a:rPr lang="en-US"/>
              <a:pPr>
                <a:defRPr/>
              </a:pPr>
              <a:t>‹#›</a:t>
            </a:fld>
            <a:endParaRPr lang="en-US"/>
          </a:p>
        </p:txBody>
      </p:sp>
      <p:pic>
        <p:nvPicPr>
          <p:cNvPr id="8" name="Picture 2" descr="C:\Users\ali\Documents\prj\metu\webpage\redar\metuncc_emblem_h500.jpg"/>
          <p:cNvPicPr>
            <a:picLocks noChangeAspect="1" noChangeArrowheads="1"/>
          </p:cNvPicPr>
          <p:nvPr userDrawn="1"/>
        </p:nvPicPr>
        <p:blipFill>
          <a:blip r:embed="rId2" cstate="print"/>
          <a:srcRect/>
          <a:stretch>
            <a:fillRect/>
          </a:stretch>
        </p:blipFill>
        <p:spPr bwMode="auto">
          <a:xfrm>
            <a:off x="7124700" y="0"/>
            <a:ext cx="2019300" cy="782638"/>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28082" y="0"/>
            <a:ext cx="1615918" cy="702245"/>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pPr>
              <a:defRPr/>
            </a:pPr>
            <a:fld id="{571111D4-87A2-4FF9-BF16-4D005677BA2C}" type="datetimeFigureOut">
              <a:rPr lang="en-US" smtClean="0"/>
              <a:pPr>
                <a:defRPr/>
              </a:pPr>
              <a:t>1/19/2024</a:t>
            </a:fld>
            <a:endParaRPr lang="en-US"/>
          </a:p>
        </p:txBody>
      </p:sp>
      <p:sp>
        <p:nvSpPr>
          <p:cNvPr id="9" name="Slide Number Placeholder 8"/>
          <p:cNvSpPr>
            <a:spLocks noGrp="1"/>
          </p:cNvSpPr>
          <p:nvPr>
            <p:ph type="sldNum" sz="quarter" idx="11"/>
          </p:nvPr>
        </p:nvSpPr>
        <p:spPr>
          <a:xfrm>
            <a:off x="6667500" y="6454776"/>
            <a:ext cx="2438400" cy="365125"/>
          </a:xfrm>
        </p:spPr>
        <p:txBody>
          <a:bodyPr/>
          <a:lstStyle/>
          <a:p>
            <a:pPr>
              <a:defRPr/>
            </a:pPr>
            <a:fld id="{A957CEED-90C7-4FD0-AB8C-14085BB9151E}" type="slidenum">
              <a:rPr lang="en-US" smtClean="0"/>
              <a:pPr>
                <a:defRPr/>
              </a:pPr>
              <a:t>‹#›</a:t>
            </a:fld>
            <a:endParaRPr lang="en-US" dirty="0"/>
          </a:p>
        </p:txBody>
      </p:sp>
      <p:sp>
        <p:nvSpPr>
          <p:cNvPr id="10" name="Footer Placeholder 9"/>
          <p:cNvSpPr>
            <a:spLocks noGrp="1"/>
          </p:cNvSpPr>
          <p:nvPr>
            <p:ph type="ftr" sz="quarter" idx="12"/>
          </p:nvPr>
        </p:nvSpPr>
        <p:spPr/>
        <p:txBody>
          <a:bodyPr/>
          <a:lstStyle/>
          <a:p>
            <a:pPr>
              <a:defRPr/>
            </a:pPr>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DA220A69-C4DD-4109-A3ED-37F087A1F132}" type="datetimeFigureOut">
              <a:rPr lang="en-US"/>
              <a:pPr>
                <a:defRPr/>
              </a:pPr>
              <a:t>1/19/2024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434C74F-BF3E-4F24-8B3C-16FB0EDD9D8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B42164C4-958C-45BC-BD54-965BB7070DEB}" type="datetimeFigureOut">
              <a:rPr lang="en-US"/>
              <a:pPr>
                <a:defRPr/>
              </a:pPr>
              <a:t>1/19/2024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79941DC-0B2E-48E2-A6F0-9636F82086E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8B2E9F9-703D-4B2D-9EFE-5A284F223768}" type="datetimeFigureOut">
              <a:rPr lang="en-US"/>
              <a:pPr>
                <a:defRPr/>
              </a:pPr>
              <a:t>1/19/2024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C3915964-DF3F-4834-BE59-592FCDF52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2" descr="C:\Users\ali\Documents\prj\metu\webpage\redar\metuncc_emblem_h500.jpg"/>
          <p:cNvPicPr>
            <a:picLocks noChangeAspect="1" noChangeArrowheads="1"/>
          </p:cNvPicPr>
          <p:nvPr userDrawn="1"/>
        </p:nvPicPr>
        <p:blipFill>
          <a:blip r:embed="rId2" cstate="print"/>
          <a:srcRect/>
          <a:stretch>
            <a:fillRect/>
          </a:stretch>
        </p:blipFill>
        <p:spPr bwMode="auto">
          <a:xfrm>
            <a:off x="7124700" y="0"/>
            <a:ext cx="2019300" cy="782638"/>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A66C235-395A-448E-84C7-3296EFFFA653}" type="datetimeFigureOut">
              <a:rPr lang="en-US"/>
              <a:pPr>
                <a:defRPr/>
              </a:pPr>
              <a:t>1/19/2024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5AA6C548-C3D6-438F-AF28-F918C44420D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82A89FF-37F9-41AE-A1AE-9FE9D4F65210}" type="datetimeFigureOut">
              <a:rPr lang="en-US"/>
              <a:pPr>
                <a:defRPr/>
              </a:pPr>
              <a:t>1/19/2024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2D3E618-5168-46D8-9093-4FFD328E4CA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8C32A4D-DBA8-4AC9-A112-BADF4813838F}" type="datetimeFigureOut">
              <a:rPr lang="en-US"/>
              <a:pPr>
                <a:defRPr/>
              </a:pPr>
              <a:t>1/19/2024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E5CE29A-235E-4102-A7BB-AC1422769E12}"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08830A5-9CDD-4A01-AE6C-B7F774C547D9}" type="datetimeFigureOut">
              <a:rPr lang="en-US"/>
              <a:pPr>
                <a:defRPr/>
              </a:pPr>
              <a:t>1/19/2024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55B51D7-DCE0-49C4-9B0B-0EC664849A6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D180D80-6114-402D-A1C1-7E7B8DEED232}" type="datetimeFigureOut">
              <a:rPr lang="en-US"/>
              <a:pPr>
                <a:defRPr/>
              </a:pPr>
              <a:t>1/19/2024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16750E7-EF53-4816-BA7D-520B91DC7E0B}"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3AFF668-FF27-4A48-BBBC-72969536306B}" type="datetimeFigureOut">
              <a:rPr lang="en-US"/>
              <a:pPr>
                <a:defRPr/>
              </a:pPr>
              <a:t>1/19/2024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BE57CBA-45D2-49F3-AE4F-4082575BC865}"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3"/>
          <p:cNvSpPr>
            <a:spLocks noGrp="1"/>
          </p:cNvSpPr>
          <p:nvPr>
            <p:ph type="dt" sz="half" idx="10"/>
          </p:nvPr>
        </p:nvSpPr>
        <p:spPr/>
        <p:txBody>
          <a:bodyPr/>
          <a:lstStyle>
            <a:lvl1pPr>
              <a:defRPr/>
            </a:lvl1pPr>
          </a:lstStyle>
          <a:p>
            <a:pPr>
              <a:defRPr/>
            </a:pPr>
            <a:fld id="{DF085AD2-EAF9-44D4-9DC0-A904DACFF846}" type="datetimeFigureOut">
              <a:rPr lang="en-US">
                <a:solidFill>
                  <a:prstClr val="black">
                    <a:tint val="75000"/>
                  </a:prstClr>
                </a:solidFill>
              </a:rPr>
              <a:pPr>
                <a:defRPr/>
              </a:pPr>
              <a:t>1/19/2024</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6303159B-6DED-40ED-899A-53891BB365C7}" type="slidenum">
              <a:rPr lang="en-US">
                <a:solidFill>
                  <a:prstClr val="black">
                    <a:tint val="75000"/>
                  </a:prstClr>
                </a:solidFill>
              </a:rPr>
              <a:pPr>
                <a:defRPr/>
              </a:pPr>
              <a:t>‹#›</a:t>
            </a:fld>
            <a:endParaRPr lang="en-US">
              <a:solidFill>
                <a:prstClr val="black">
                  <a:tint val="75000"/>
                </a:prstClr>
              </a:solidFill>
            </a:endParaRP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28082" y="0"/>
            <a:ext cx="1615918" cy="702245"/>
          </a:xfrm>
          <a:prstGeom prst="rect">
            <a:avLst/>
          </a:prstGeom>
        </p:spPr>
      </p:pic>
    </p:spTree>
    <p:extLst>
      <p:ext uri="{BB962C8B-B14F-4D97-AF65-F5344CB8AC3E}">
        <p14:creationId xmlns:p14="http://schemas.microsoft.com/office/powerpoint/2010/main" val="23510885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28082" y="0"/>
            <a:ext cx="1615918" cy="702245"/>
          </a:xfrm>
          <a:prstGeom prst="rect">
            <a:avLst/>
          </a:prstGeom>
        </p:spPr>
      </p:pic>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pPr>
              <a:defRPr/>
            </a:pPr>
            <a:fld id="{571111D4-87A2-4FF9-BF16-4D005677BA2C}" type="datetimeFigureOut">
              <a:rPr lang="en-US">
                <a:solidFill>
                  <a:prstClr val="black">
                    <a:tint val="75000"/>
                  </a:prstClr>
                </a:solidFill>
              </a:rPr>
              <a:pPr>
                <a:defRPr/>
              </a:pPr>
              <a:t>1/19/2024</a:t>
            </a:fld>
            <a:endParaRPr lang="en-US" dirty="0">
              <a:solidFill>
                <a:prstClr val="black">
                  <a:tint val="75000"/>
                </a:prstClr>
              </a:solidFill>
            </a:endParaRPr>
          </a:p>
        </p:txBody>
      </p:sp>
      <p:sp>
        <p:nvSpPr>
          <p:cNvPr id="9" name="Slide Number Placeholder 8"/>
          <p:cNvSpPr>
            <a:spLocks noGrp="1"/>
          </p:cNvSpPr>
          <p:nvPr>
            <p:ph type="sldNum" sz="quarter" idx="11"/>
          </p:nvPr>
        </p:nvSpPr>
        <p:spPr>
          <a:xfrm>
            <a:off x="6667500" y="6454776"/>
            <a:ext cx="2438400" cy="365125"/>
          </a:xfrm>
        </p:spPr>
        <p:txBody>
          <a:bodyPr/>
          <a:lstStyle/>
          <a:p>
            <a:pPr>
              <a:defRPr/>
            </a:pPr>
            <a:fld id="{A957CEED-90C7-4FD0-AB8C-14085BB9151E}" type="slidenum">
              <a:rPr lang="en-US">
                <a:solidFill>
                  <a:prstClr val="black">
                    <a:tint val="75000"/>
                  </a:prstClr>
                </a:solidFill>
              </a:rPr>
              <a:pPr>
                <a:defRPr/>
              </a:pPr>
              <a:t>‹#›</a:t>
            </a:fld>
            <a:endParaRPr lang="en-US" dirty="0">
              <a:solidFill>
                <a:prstClr val="black">
                  <a:tint val="75000"/>
                </a:prstClr>
              </a:solidFill>
            </a:endParaRPr>
          </a:p>
        </p:txBody>
      </p:sp>
      <p:sp>
        <p:nvSpPr>
          <p:cNvPr id="10" name="Footer Placeholder 9"/>
          <p:cNvSpPr>
            <a:spLocks noGrp="1"/>
          </p:cNvSpPr>
          <p:nvPr>
            <p:ph type="ftr" sz="quarter" idx="12"/>
          </p:nvPr>
        </p:nvSpPr>
        <p:spPr/>
        <p:txBody>
          <a:bodyPr/>
          <a:lstStyle/>
          <a:p>
            <a:pPr>
              <a:defRPr/>
            </a:pPr>
            <a:endParaRPr lang="en-US">
              <a:solidFill>
                <a:prstClr val="black">
                  <a:tint val="75000"/>
                </a:prstClr>
              </a:solidFill>
            </a:endParaRPr>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69754078"/>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DA220A69-C4DD-4109-A3ED-37F087A1F132}" type="datetimeFigureOut">
              <a:rPr lang="en-US">
                <a:solidFill>
                  <a:prstClr val="black">
                    <a:tint val="75000"/>
                  </a:prstClr>
                </a:solidFill>
              </a:rPr>
              <a:pPr>
                <a:defRPr/>
              </a:pPr>
              <a:t>1/19/2024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434C74F-BF3E-4F24-8B3C-16FB0EDD9D87}"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4200163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B42164C4-958C-45BC-BD54-965BB7070DEB}" type="datetimeFigureOut">
              <a:rPr lang="en-US">
                <a:solidFill>
                  <a:prstClr val="black">
                    <a:tint val="75000"/>
                  </a:prstClr>
                </a:solidFill>
              </a:rPr>
              <a:pPr>
                <a:defRPr/>
              </a:pPr>
              <a:t>1/19/2024</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79941DC-0B2E-48E2-A6F0-9636F82086E6}"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4486224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8B2E9F9-703D-4B2D-9EFE-5A284F223768}" type="datetimeFigureOut">
              <a:rPr lang="en-US">
                <a:solidFill>
                  <a:prstClr val="black">
                    <a:tint val="75000"/>
                  </a:prstClr>
                </a:solidFill>
              </a:rPr>
              <a:pPr>
                <a:defRPr/>
              </a:pPr>
              <a:t>1/19/2024</a:t>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C3915964-DF3F-4834-BE59-592FCDF52C0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8028427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A66C235-395A-448E-84C7-3296EFFFA653}" type="datetimeFigureOut">
              <a:rPr lang="en-US">
                <a:solidFill>
                  <a:prstClr val="black">
                    <a:tint val="75000"/>
                  </a:prstClr>
                </a:solidFill>
              </a:rPr>
              <a:pPr>
                <a:defRPr/>
              </a:pPr>
              <a:t>1/19/2024</a:t>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5AA6C548-C3D6-438F-AF28-F918C44420D6}"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2149446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82A89FF-37F9-41AE-A1AE-9FE9D4F65210}" type="datetimeFigureOut">
              <a:rPr lang="en-US">
                <a:solidFill>
                  <a:prstClr val="black">
                    <a:tint val="75000"/>
                  </a:prstClr>
                </a:solidFill>
              </a:rPr>
              <a:pPr>
                <a:defRPr/>
              </a:pPr>
              <a:t>1/19/2024</a:t>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B2D3E618-5168-46D8-9093-4FFD328E4CA3}"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1970412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8C32A4D-DBA8-4AC9-A112-BADF4813838F}" type="datetimeFigureOut">
              <a:rPr lang="en-US">
                <a:solidFill>
                  <a:prstClr val="black">
                    <a:tint val="75000"/>
                  </a:prstClr>
                </a:solidFill>
              </a:rPr>
              <a:pPr>
                <a:defRPr/>
              </a:pPr>
              <a:t>1/19/2024</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9E5CE29A-235E-4102-A7BB-AC1422769E12}"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7988896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08830A5-9CDD-4A01-AE6C-B7F774C547D9}" type="datetimeFigureOut">
              <a:rPr lang="en-US">
                <a:solidFill>
                  <a:prstClr val="black">
                    <a:tint val="75000"/>
                  </a:prstClr>
                </a:solidFill>
              </a:rPr>
              <a:pPr>
                <a:defRPr/>
              </a:pPr>
              <a:t>1/19/2024</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955B51D7-DCE0-49C4-9B0B-0EC664849A65}"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83448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D180D80-6114-402D-A1C1-7E7B8DEED232}" type="datetimeFigureOut">
              <a:rPr lang="en-US">
                <a:solidFill>
                  <a:prstClr val="black">
                    <a:tint val="75000"/>
                  </a:prstClr>
                </a:solidFill>
              </a:rPr>
              <a:pPr>
                <a:defRPr/>
              </a:pPr>
              <a:t>1/19/2024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116750E7-EF53-4816-BA7D-520B91DC7E0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2628226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3AFF668-FF27-4A48-BBBC-72969536306B}" type="datetimeFigureOut">
              <a:rPr lang="en-US">
                <a:solidFill>
                  <a:prstClr val="black">
                    <a:tint val="75000"/>
                  </a:prstClr>
                </a:solidFill>
              </a:rPr>
              <a:pPr>
                <a:defRPr/>
              </a:pPr>
              <a:t>1/19/2024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4BE57CBA-45D2-49F3-AE4F-4082575BC865}"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714826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1"/>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571111D4-87A2-4FF9-BF16-4D005677BA2C}" type="datetimeFigureOut">
              <a:rPr lang="en-US"/>
              <a:pPr>
                <a:defRPr/>
              </a:pPr>
              <a:t>1/19/2024</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A957CEED-90C7-4FD0-AB8C-14085BB9151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1"/>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571111D4-87A2-4FF9-BF16-4D005677BA2C}" type="datetimeFigureOut">
              <a:rPr lang="en-US">
                <a:solidFill>
                  <a:prstClr val="black">
                    <a:tint val="75000"/>
                  </a:prstClr>
                </a:solidFill>
              </a:rPr>
              <a:pPr>
                <a:defRPr/>
              </a:pPr>
              <a:t>1/19/2024</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A957CEED-90C7-4FD0-AB8C-14085BB9151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08635076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image" Target="../media/image3.emf"/><Relationship Id="rId5" Type="http://schemas.openxmlformats.org/officeDocument/2006/relationships/image" Target="../media/image6.wmf"/><Relationship Id="rId4"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image" Target="../media/image3.emf"/><Relationship Id="rId5" Type="http://schemas.openxmlformats.org/officeDocument/2006/relationships/image" Target="../media/image7.wmf"/><Relationship Id="rId4"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image" Target="../media/image8.wmf"/><Relationship Id="rId7" Type="http://schemas.openxmlformats.org/officeDocument/2006/relationships/image" Target="../media/image10.wmf"/><Relationship Id="rId12" Type="http://schemas.openxmlformats.org/officeDocument/2006/relationships/image" Target="../media/image3.emf"/><Relationship Id="rId2" Type="http://schemas.openxmlformats.org/officeDocument/2006/relationships/oleObject" Target="../embeddings/oleObject6.bin"/><Relationship Id="rId1" Type="http://schemas.openxmlformats.org/officeDocument/2006/relationships/slideLayout" Target="../slideLayouts/slideLayout2.xml"/><Relationship Id="rId6" Type="http://schemas.openxmlformats.org/officeDocument/2006/relationships/oleObject" Target="../embeddings/oleObject8.bin"/><Relationship Id="rId11" Type="http://schemas.openxmlformats.org/officeDocument/2006/relationships/image" Target="../media/image12.wmf"/><Relationship Id="rId5" Type="http://schemas.openxmlformats.org/officeDocument/2006/relationships/image" Target="../media/image9.wmf"/><Relationship Id="rId10" Type="http://schemas.openxmlformats.org/officeDocument/2006/relationships/oleObject" Target="../embeddings/oleObject10.bin"/><Relationship Id="rId4" Type="http://schemas.openxmlformats.org/officeDocument/2006/relationships/oleObject" Target="../embeddings/oleObject7.bin"/><Relationship Id="rId9" Type="http://schemas.openxmlformats.org/officeDocument/2006/relationships/image" Target="../media/image11.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wmf"/><Relationship Id="rId7" Type="http://schemas.openxmlformats.org/officeDocument/2006/relationships/image" Target="../media/image14.wmf"/><Relationship Id="rId2" Type="http://schemas.openxmlformats.org/officeDocument/2006/relationships/oleObject" Target="../embeddings/oleObject11.bin"/><Relationship Id="rId1" Type="http://schemas.openxmlformats.org/officeDocument/2006/relationships/slideLayout" Target="../slideLayouts/slideLayout2.xml"/><Relationship Id="rId6" Type="http://schemas.openxmlformats.org/officeDocument/2006/relationships/oleObject" Target="../embeddings/oleObject13.bin"/><Relationship Id="rId5" Type="http://schemas.openxmlformats.org/officeDocument/2006/relationships/image" Target="../media/image13.wmf"/><Relationship Id="rId4" Type="http://schemas.openxmlformats.org/officeDocument/2006/relationships/oleObject" Target="../embeddings/oleObject12.bin"/></Relationships>
</file>

<file path=ppt/slides/_rels/slide1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4.bin"/><Relationship Id="rId1" Type="http://schemas.openxmlformats.org/officeDocument/2006/relationships/slideLayout" Target="../slideLayouts/slideLayout2.xml"/><Relationship Id="rId5" Type="http://schemas.openxmlformats.org/officeDocument/2006/relationships/image" Target="../media/image15.wmf"/><Relationship Id="rId4" Type="http://schemas.openxmlformats.org/officeDocument/2006/relationships/oleObject" Target="../embeddings/oleObject15.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image" Target="../media/image16.emf"/><Relationship Id="rId1" Type="http://schemas.openxmlformats.org/officeDocument/2006/relationships/slideLayout" Target="../slideLayouts/slideLayout2.xml"/><Relationship Id="rId4" Type="http://schemas.openxmlformats.org/officeDocument/2006/relationships/image" Target="../media/image15.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image" Target="../media/image11.wmf"/><Relationship Id="rId7" Type="http://schemas.openxmlformats.org/officeDocument/2006/relationships/image" Target="../media/image16.emf"/><Relationship Id="rId2" Type="http://schemas.openxmlformats.org/officeDocument/2006/relationships/oleObject" Target="../embeddings/oleObject17.bin"/><Relationship Id="rId1" Type="http://schemas.openxmlformats.org/officeDocument/2006/relationships/slideLayout" Target="../slideLayouts/slideLayout2.xml"/><Relationship Id="rId6" Type="http://schemas.openxmlformats.org/officeDocument/2006/relationships/image" Target="../media/image18.emf"/><Relationship Id="rId5" Type="http://schemas.openxmlformats.org/officeDocument/2006/relationships/image" Target="../media/image17.wmf"/><Relationship Id="rId4" Type="http://schemas.openxmlformats.org/officeDocument/2006/relationships/oleObject" Target="../embeddings/oleObject18.bin"/><Relationship Id="rId9" Type="http://schemas.openxmlformats.org/officeDocument/2006/relationships/image" Target="../media/image15.wmf"/></Relationships>
</file>

<file path=ppt/slides/_rels/slide13.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image" Target="../media/image11.wmf"/><Relationship Id="rId7" Type="http://schemas.openxmlformats.org/officeDocument/2006/relationships/oleObject" Target="../embeddings/oleObject22.bin"/><Relationship Id="rId12" Type="http://schemas.openxmlformats.org/officeDocument/2006/relationships/image" Target="../media/image15.wmf"/><Relationship Id="rId2" Type="http://schemas.openxmlformats.org/officeDocument/2006/relationships/oleObject" Target="../embeddings/oleObject20.bin"/><Relationship Id="rId1" Type="http://schemas.openxmlformats.org/officeDocument/2006/relationships/slideLayout" Target="../slideLayouts/slideLayout2.xml"/><Relationship Id="rId6" Type="http://schemas.openxmlformats.org/officeDocument/2006/relationships/image" Target="../media/image18.emf"/><Relationship Id="rId11" Type="http://schemas.openxmlformats.org/officeDocument/2006/relationships/oleObject" Target="../embeddings/oleObject23.bin"/><Relationship Id="rId5" Type="http://schemas.openxmlformats.org/officeDocument/2006/relationships/image" Target="../media/image17.wmf"/><Relationship Id="rId10" Type="http://schemas.openxmlformats.org/officeDocument/2006/relationships/image" Target="../media/image16.emf"/><Relationship Id="rId4" Type="http://schemas.openxmlformats.org/officeDocument/2006/relationships/oleObject" Target="../embeddings/oleObject21.bin"/><Relationship Id="rId9" Type="http://schemas.openxmlformats.org/officeDocument/2006/relationships/image" Target="../media/image20.emf"/></Relationships>
</file>

<file path=ppt/slides/_rels/slide14.x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image" Target="../media/image16.emf"/><Relationship Id="rId3" Type="http://schemas.openxmlformats.org/officeDocument/2006/relationships/image" Target="../media/image11.wmf"/><Relationship Id="rId7" Type="http://schemas.openxmlformats.org/officeDocument/2006/relationships/oleObject" Target="../embeddings/oleObject26.bin"/><Relationship Id="rId12" Type="http://schemas.openxmlformats.org/officeDocument/2006/relationships/image" Target="../media/image22.emf"/><Relationship Id="rId2" Type="http://schemas.openxmlformats.org/officeDocument/2006/relationships/oleObject" Target="../embeddings/oleObject24.bin"/><Relationship Id="rId1" Type="http://schemas.openxmlformats.org/officeDocument/2006/relationships/slideLayout" Target="../slideLayouts/slideLayout2.xml"/><Relationship Id="rId6" Type="http://schemas.openxmlformats.org/officeDocument/2006/relationships/image" Target="../media/image18.emf"/><Relationship Id="rId11" Type="http://schemas.openxmlformats.org/officeDocument/2006/relationships/image" Target="../media/image21.wmf"/><Relationship Id="rId5" Type="http://schemas.openxmlformats.org/officeDocument/2006/relationships/image" Target="../media/image17.wmf"/><Relationship Id="rId15" Type="http://schemas.openxmlformats.org/officeDocument/2006/relationships/image" Target="../media/image15.wmf"/><Relationship Id="rId10" Type="http://schemas.openxmlformats.org/officeDocument/2006/relationships/oleObject" Target="../embeddings/oleObject27.bin"/><Relationship Id="rId4" Type="http://schemas.openxmlformats.org/officeDocument/2006/relationships/oleObject" Target="../embeddings/oleObject25.bin"/><Relationship Id="rId9" Type="http://schemas.openxmlformats.org/officeDocument/2006/relationships/image" Target="../media/image20.emf"/><Relationship Id="rId14" Type="http://schemas.openxmlformats.org/officeDocument/2006/relationships/oleObject" Target="../embeddings/oleObject28.bin"/></Relationships>
</file>

<file path=ppt/slides/_rels/slide15.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image" Target="../media/image11.wmf"/><Relationship Id="rId7" Type="http://schemas.openxmlformats.org/officeDocument/2006/relationships/oleObject" Target="../embeddings/oleObject30.bin"/><Relationship Id="rId2" Type="http://schemas.openxmlformats.org/officeDocument/2006/relationships/oleObject" Target="../embeddings/oleObject29.bin"/><Relationship Id="rId1" Type="http://schemas.openxmlformats.org/officeDocument/2006/relationships/slideLayout" Target="../slideLayouts/slideLayout2.xml"/><Relationship Id="rId6" Type="http://schemas.openxmlformats.org/officeDocument/2006/relationships/image" Target="../media/image22.emf"/><Relationship Id="rId5" Type="http://schemas.openxmlformats.org/officeDocument/2006/relationships/image" Target="../media/image20.emf"/><Relationship Id="rId4" Type="http://schemas.openxmlformats.org/officeDocument/2006/relationships/image" Target="../media/image18.emf"/><Relationship Id="rId9" Type="http://schemas.openxmlformats.org/officeDocument/2006/relationships/image" Target="../media/image16.e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image" Target="../media/image11.wmf"/><Relationship Id="rId7" Type="http://schemas.openxmlformats.org/officeDocument/2006/relationships/image" Target="../media/image3.emf"/><Relationship Id="rId2" Type="http://schemas.openxmlformats.org/officeDocument/2006/relationships/oleObject" Target="../embeddings/oleObject31.bin"/><Relationship Id="rId1" Type="http://schemas.openxmlformats.org/officeDocument/2006/relationships/slideLayout" Target="../slideLayouts/slideLayout2.xml"/><Relationship Id="rId6" Type="http://schemas.openxmlformats.org/officeDocument/2006/relationships/image" Target="../media/image22.emf"/><Relationship Id="rId5" Type="http://schemas.openxmlformats.org/officeDocument/2006/relationships/image" Target="../media/image20.emf"/><Relationship Id="rId10" Type="http://schemas.openxmlformats.org/officeDocument/2006/relationships/image" Target="../media/image16.emf"/><Relationship Id="rId4" Type="http://schemas.openxmlformats.org/officeDocument/2006/relationships/image" Target="../media/image18.emf"/><Relationship Id="rId9" Type="http://schemas.openxmlformats.org/officeDocument/2006/relationships/image" Target="../media/image15.wmf"/></Relationships>
</file>

<file path=ppt/slides/_rels/slide17.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image" Target="../media/image11.wmf"/><Relationship Id="rId7" Type="http://schemas.openxmlformats.org/officeDocument/2006/relationships/oleObject" Target="../embeddings/oleObject34.bin"/><Relationship Id="rId2" Type="http://schemas.openxmlformats.org/officeDocument/2006/relationships/oleObject" Target="../embeddings/oleObject33.bin"/><Relationship Id="rId1" Type="http://schemas.openxmlformats.org/officeDocument/2006/relationships/slideLayout" Target="../slideLayouts/slideLayout2.xml"/><Relationship Id="rId6" Type="http://schemas.openxmlformats.org/officeDocument/2006/relationships/image" Target="../media/image22.emf"/><Relationship Id="rId5" Type="http://schemas.openxmlformats.org/officeDocument/2006/relationships/image" Target="../media/image20.emf"/><Relationship Id="rId4" Type="http://schemas.openxmlformats.org/officeDocument/2006/relationships/image" Target="../media/image18.emf"/><Relationship Id="rId9" Type="http://schemas.openxmlformats.org/officeDocument/2006/relationships/image" Target="../media/image16.e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36.bin"/><Relationship Id="rId3" Type="http://schemas.openxmlformats.org/officeDocument/2006/relationships/image" Target="../media/image11.wmf"/><Relationship Id="rId7" Type="http://schemas.openxmlformats.org/officeDocument/2006/relationships/image" Target="../media/image3.emf"/><Relationship Id="rId2" Type="http://schemas.openxmlformats.org/officeDocument/2006/relationships/oleObject" Target="../embeddings/oleObject35.bin"/><Relationship Id="rId1" Type="http://schemas.openxmlformats.org/officeDocument/2006/relationships/slideLayout" Target="../slideLayouts/slideLayout2.xml"/><Relationship Id="rId6" Type="http://schemas.openxmlformats.org/officeDocument/2006/relationships/image" Target="../media/image22.emf"/><Relationship Id="rId5" Type="http://schemas.openxmlformats.org/officeDocument/2006/relationships/image" Target="../media/image20.emf"/><Relationship Id="rId10" Type="http://schemas.openxmlformats.org/officeDocument/2006/relationships/image" Target="../media/image16.emf"/><Relationship Id="rId4" Type="http://schemas.openxmlformats.org/officeDocument/2006/relationships/image" Target="../media/image18.emf"/><Relationship Id="rId9" Type="http://schemas.openxmlformats.org/officeDocument/2006/relationships/image" Target="../media/image15.wmf"/></Relationships>
</file>

<file path=ppt/slides/_rels/slide19.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image" Target="../media/image16.emf"/><Relationship Id="rId3" Type="http://schemas.openxmlformats.org/officeDocument/2006/relationships/image" Target="../media/image11.wmf"/><Relationship Id="rId7" Type="http://schemas.openxmlformats.org/officeDocument/2006/relationships/oleObject" Target="../embeddings/oleObject38.bin"/><Relationship Id="rId12" Type="http://schemas.openxmlformats.org/officeDocument/2006/relationships/image" Target="../media/image15.wmf"/><Relationship Id="rId2" Type="http://schemas.openxmlformats.org/officeDocument/2006/relationships/oleObject" Target="../embeddings/oleObject37.bin"/><Relationship Id="rId1" Type="http://schemas.openxmlformats.org/officeDocument/2006/relationships/slideLayout" Target="../slideLayouts/slideLayout2.xml"/><Relationship Id="rId6" Type="http://schemas.openxmlformats.org/officeDocument/2006/relationships/image" Target="../media/image22.emf"/><Relationship Id="rId11" Type="http://schemas.openxmlformats.org/officeDocument/2006/relationships/oleObject" Target="../embeddings/oleObject40.bin"/><Relationship Id="rId5" Type="http://schemas.openxmlformats.org/officeDocument/2006/relationships/image" Target="../media/image20.emf"/><Relationship Id="rId10" Type="http://schemas.openxmlformats.org/officeDocument/2006/relationships/image" Target="../media/image24.wmf"/><Relationship Id="rId4" Type="http://schemas.openxmlformats.org/officeDocument/2006/relationships/image" Target="../media/image18.emf"/><Relationship Id="rId9" Type="http://schemas.openxmlformats.org/officeDocument/2006/relationships/oleObject" Target="../embeddings/oleObject39.bin"/></Relationships>
</file>

<file path=ppt/slides/_rels/slide20.xml.rels><?xml version="1.0" encoding="UTF-8" standalone="yes"?>
<Relationships xmlns="http://schemas.openxmlformats.org/package/2006/relationships"><Relationship Id="rId8" Type="http://schemas.openxmlformats.org/officeDocument/2006/relationships/image" Target="../media/image25.wmf"/><Relationship Id="rId13" Type="http://schemas.openxmlformats.org/officeDocument/2006/relationships/image" Target="../media/image16.emf"/><Relationship Id="rId3" Type="http://schemas.openxmlformats.org/officeDocument/2006/relationships/image" Target="../media/image11.wmf"/><Relationship Id="rId7" Type="http://schemas.openxmlformats.org/officeDocument/2006/relationships/oleObject" Target="../embeddings/oleObject42.bin"/><Relationship Id="rId12" Type="http://schemas.openxmlformats.org/officeDocument/2006/relationships/image" Target="../media/image15.wmf"/><Relationship Id="rId2" Type="http://schemas.openxmlformats.org/officeDocument/2006/relationships/oleObject" Target="../embeddings/oleObject41.bin"/><Relationship Id="rId1" Type="http://schemas.openxmlformats.org/officeDocument/2006/relationships/slideLayout" Target="../slideLayouts/slideLayout2.xml"/><Relationship Id="rId6" Type="http://schemas.openxmlformats.org/officeDocument/2006/relationships/image" Target="../media/image22.emf"/><Relationship Id="rId11" Type="http://schemas.openxmlformats.org/officeDocument/2006/relationships/oleObject" Target="../embeddings/oleObject44.bin"/><Relationship Id="rId5" Type="http://schemas.openxmlformats.org/officeDocument/2006/relationships/image" Target="../media/image20.emf"/><Relationship Id="rId10" Type="http://schemas.openxmlformats.org/officeDocument/2006/relationships/image" Target="../media/image26.wmf"/><Relationship Id="rId4" Type="http://schemas.openxmlformats.org/officeDocument/2006/relationships/image" Target="../media/image18.emf"/><Relationship Id="rId9" Type="http://schemas.openxmlformats.org/officeDocument/2006/relationships/oleObject" Target="../embeddings/oleObject43.bin"/></Relationships>
</file>

<file path=ppt/slides/_rels/slide21.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48.bin"/><Relationship Id="rId3" Type="http://schemas.openxmlformats.org/officeDocument/2006/relationships/image" Target="../media/image28.wmf"/><Relationship Id="rId7" Type="http://schemas.openxmlformats.org/officeDocument/2006/relationships/image" Target="../media/image30.wmf"/><Relationship Id="rId2" Type="http://schemas.openxmlformats.org/officeDocument/2006/relationships/oleObject" Target="../embeddings/oleObject45.bin"/><Relationship Id="rId1" Type="http://schemas.openxmlformats.org/officeDocument/2006/relationships/slideLayout" Target="../slideLayouts/slideLayout2.xml"/><Relationship Id="rId6" Type="http://schemas.openxmlformats.org/officeDocument/2006/relationships/oleObject" Target="../embeddings/oleObject47.bin"/><Relationship Id="rId5" Type="http://schemas.openxmlformats.org/officeDocument/2006/relationships/image" Target="../media/image29.wmf"/><Relationship Id="rId10" Type="http://schemas.openxmlformats.org/officeDocument/2006/relationships/image" Target="../media/image27.emf"/><Relationship Id="rId4" Type="http://schemas.openxmlformats.org/officeDocument/2006/relationships/oleObject" Target="../embeddings/oleObject46.bin"/><Relationship Id="rId9" Type="http://schemas.openxmlformats.org/officeDocument/2006/relationships/image" Target="../media/image31.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image" Target="../media/image27.emf"/><Relationship Id="rId1" Type="http://schemas.openxmlformats.org/officeDocument/2006/relationships/slideLayout" Target="../slideLayouts/slideLayout2.xml"/><Relationship Id="rId6" Type="http://schemas.openxmlformats.org/officeDocument/2006/relationships/image" Target="../media/image31.wmf"/><Relationship Id="rId5" Type="http://schemas.openxmlformats.org/officeDocument/2006/relationships/oleObject" Target="../embeddings/oleObject50.bin"/><Relationship Id="rId4" Type="http://schemas.openxmlformats.org/officeDocument/2006/relationships/image" Target="../media/image30.wmf"/></Relationships>
</file>

<file path=ppt/slides/_rels/slide24.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image" Target="../media/image11.wmf"/><Relationship Id="rId7" Type="http://schemas.openxmlformats.org/officeDocument/2006/relationships/image" Target="../media/image33.wmf"/><Relationship Id="rId2" Type="http://schemas.openxmlformats.org/officeDocument/2006/relationships/oleObject" Target="../embeddings/oleObject51.bin"/><Relationship Id="rId1" Type="http://schemas.openxmlformats.org/officeDocument/2006/relationships/slideLayout" Target="../slideLayouts/slideLayout2.xml"/><Relationship Id="rId6" Type="http://schemas.openxmlformats.org/officeDocument/2006/relationships/oleObject" Target="../embeddings/oleObject53.bin"/><Relationship Id="rId5" Type="http://schemas.openxmlformats.org/officeDocument/2006/relationships/image" Target="../media/image32.wmf"/><Relationship Id="rId4" Type="http://schemas.openxmlformats.org/officeDocument/2006/relationships/oleObject" Target="../embeddings/oleObject52.bin"/></Relationships>
</file>

<file path=ppt/slides/_rels/slide25.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image" Target="../media/image11.wmf"/><Relationship Id="rId7" Type="http://schemas.openxmlformats.org/officeDocument/2006/relationships/image" Target="../media/image33.wmf"/><Relationship Id="rId2" Type="http://schemas.openxmlformats.org/officeDocument/2006/relationships/oleObject" Target="../embeddings/oleObject54.bin"/><Relationship Id="rId1" Type="http://schemas.openxmlformats.org/officeDocument/2006/relationships/slideLayout" Target="../slideLayouts/slideLayout2.xml"/><Relationship Id="rId6" Type="http://schemas.openxmlformats.org/officeDocument/2006/relationships/oleObject" Target="../embeddings/oleObject56.bin"/><Relationship Id="rId11" Type="http://schemas.openxmlformats.org/officeDocument/2006/relationships/image" Target="../media/image37.emf"/><Relationship Id="rId5" Type="http://schemas.openxmlformats.org/officeDocument/2006/relationships/image" Target="../media/image35.wmf"/><Relationship Id="rId10" Type="http://schemas.openxmlformats.org/officeDocument/2006/relationships/image" Target="../media/image36.wmf"/><Relationship Id="rId4" Type="http://schemas.openxmlformats.org/officeDocument/2006/relationships/oleObject" Target="../embeddings/oleObject55.bin"/><Relationship Id="rId9" Type="http://schemas.openxmlformats.org/officeDocument/2006/relationships/oleObject" Target="../embeddings/oleObject57.bin"/></Relationships>
</file>

<file path=ppt/slides/_rels/slide26.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image" Target="../media/image38.emf"/><Relationship Id="rId1" Type="http://schemas.openxmlformats.org/officeDocument/2006/relationships/slideLayout" Target="../slideLayouts/slideLayout2.xml"/><Relationship Id="rId4" Type="http://schemas.openxmlformats.org/officeDocument/2006/relationships/image" Target="../media/image39.wmf"/></Relationships>
</file>

<file path=ppt/slides/_rels/slide28.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image" Target="../media/image40.emf"/><Relationship Id="rId1" Type="http://schemas.openxmlformats.org/officeDocument/2006/relationships/slideLayout" Target="../slideLayouts/slideLayout2.xml"/><Relationship Id="rId6" Type="http://schemas.openxmlformats.org/officeDocument/2006/relationships/image" Target="../media/image42.wmf"/><Relationship Id="rId5" Type="http://schemas.openxmlformats.org/officeDocument/2006/relationships/oleObject" Target="../embeddings/oleObject60.bin"/><Relationship Id="rId4" Type="http://schemas.openxmlformats.org/officeDocument/2006/relationships/image" Target="../media/image41.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61.bin"/><Relationship Id="rId7" Type="http://schemas.openxmlformats.org/officeDocument/2006/relationships/image" Target="../media/image43.emf"/><Relationship Id="rId2" Type="http://schemas.openxmlformats.org/officeDocument/2006/relationships/image" Target="../media/image40.emf"/><Relationship Id="rId1" Type="http://schemas.openxmlformats.org/officeDocument/2006/relationships/slideLayout" Target="../slideLayouts/slideLayout2.xml"/><Relationship Id="rId6" Type="http://schemas.openxmlformats.org/officeDocument/2006/relationships/image" Target="../media/image42.wmf"/><Relationship Id="rId5" Type="http://schemas.openxmlformats.org/officeDocument/2006/relationships/oleObject" Target="../embeddings/oleObject62.bin"/><Relationship Id="rId4" Type="http://schemas.openxmlformats.org/officeDocument/2006/relationships/image" Target="../media/image41.w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65.bin"/><Relationship Id="rId3" Type="http://schemas.openxmlformats.org/officeDocument/2006/relationships/oleObject" Target="../embeddings/oleObject63.bin"/><Relationship Id="rId7" Type="http://schemas.openxmlformats.org/officeDocument/2006/relationships/image" Target="../media/image43.emf"/><Relationship Id="rId2" Type="http://schemas.openxmlformats.org/officeDocument/2006/relationships/image" Target="../media/image40.emf"/><Relationship Id="rId1" Type="http://schemas.openxmlformats.org/officeDocument/2006/relationships/slideLayout" Target="../slideLayouts/slideLayout2.xml"/><Relationship Id="rId6" Type="http://schemas.openxmlformats.org/officeDocument/2006/relationships/image" Target="../media/image42.wmf"/><Relationship Id="rId11" Type="http://schemas.openxmlformats.org/officeDocument/2006/relationships/image" Target="../media/image45.wmf"/><Relationship Id="rId5" Type="http://schemas.openxmlformats.org/officeDocument/2006/relationships/oleObject" Target="../embeddings/oleObject64.bin"/><Relationship Id="rId10" Type="http://schemas.openxmlformats.org/officeDocument/2006/relationships/oleObject" Target="../embeddings/oleObject66.bin"/><Relationship Id="rId4" Type="http://schemas.openxmlformats.org/officeDocument/2006/relationships/image" Target="../media/image41.wmf"/><Relationship Id="rId9" Type="http://schemas.openxmlformats.org/officeDocument/2006/relationships/image" Target="../media/image44.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70.bin"/><Relationship Id="rId3" Type="http://schemas.openxmlformats.org/officeDocument/2006/relationships/image" Target="../media/image46.wmf"/><Relationship Id="rId7" Type="http://schemas.openxmlformats.org/officeDocument/2006/relationships/image" Target="../media/image48.wmf"/><Relationship Id="rId12" Type="http://schemas.openxmlformats.org/officeDocument/2006/relationships/image" Target="../media/image51.wmf"/><Relationship Id="rId2" Type="http://schemas.openxmlformats.org/officeDocument/2006/relationships/oleObject" Target="../embeddings/oleObject67.bin"/><Relationship Id="rId1" Type="http://schemas.openxmlformats.org/officeDocument/2006/relationships/slideLayout" Target="../slideLayouts/slideLayout2.xml"/><Relationship Id="rId6" Type="http://schemas.openxmlformats.org/officeDocument/2006/relationships/oleObject" Target="../embeddings/oleObject69.bin"/><Relationship Id="rId11" Type="http://schemas.openxmlformats.org/officeDocument/2006/relationships/oleObject" Target="../embeddings/oleObject71.bin"/><Relationship Id="rId5" Type="http://schemas.openxmlformats.org/officeDocument/2006/relationships/image" Target="../media/image47.wmf"/><Relationship Id="rId10" Type="http://schemas.openxmlformats.org/officeDocument/2006/relationships/image" Target="../media/image50.emf"/><Relationship Id="rId4" Type="http://schemas.openxmlformats.org/officeDocument/2006/relationships/oleObject" Target="../embeddings/oleObject68.bin"/><Relationship Id="rId9" Type="http://schemas.openxmlformats.org/officeDocument/2006/relationships/image" Target="../media/image49.wmf"/></Relationships>
</file>

<file path=ppt/slides/_rels/slide33.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72.bin"/><Relationship Id="rId7" Type="http://schemas.openxmlformats.org/officeDocument/2006/relationships/oleObject" Target="../embeddings/oleObject74.bin"/><Relationship Id="rId2" Type="http://schemas.openxmlformats.org/officeDocument/2006/relationships/image" Target="../media/image52.emf"/><Relationship Id="rId1" Type="http://schemas.openxmlformats.org/officeDocument/2006/relationships/slideLayout" Target="../slideLayouts/slideLayout2.xml"/><Relationship Id="rId6" Type="http://schemas.openxmlformats.org/officeDocument/2006/relationships/image" Target="../media/image53.wmf"/><Relationship Id="rId5" Type="http://schemas.openxmlformats.org/officeDocument/2006/relationships/oleObject" Target="../embeddings/oleObject73.bin"/><Relationship Id="rId4" Type="http://schemas.openxmlformats.org/officeDocument/2006/relationships/image" Target="../media/image11.w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78.bin"/><Relationship Id="rId3" Type="http://schemas.openxmlformats.org/officeDocument/2006/relationships/image" Target="../media/image11.wmf"/><Relationship Id="rId7" Type="http://schemas.openxmlformats.org/officeDocument/2006/relationships/image" Target="../media/image56.wmf"/><Relationship Id="rId12" Type="http://schemas.openxmlformats.org/officeDocument/2006/relationships/image" Target="../media/image52.emf"/><Relationship Id="rId2" Type="http://schemas.openxmlformats.org/officeDocument/2006/relationships/oleObject" Target="../embeddings/oleObject75.bin"/><Relationship Id="rId1" Type="http://schemas.openxmlformats.org/officeDocument/2006/relationships/slideLayout" Target="../slideLayouts/slideLayout2.xml"/><Relationship Id="rId6" Type="http://schemas.openxmlformats.org/officeDocument/2006/relationships/oleObject" Target="../embeddings/oleObject77.bin"/><Relationship Id="rId11" Type="http://schemas.openxmlformats.org/officeDocument/2006/relationships/image" Target="../media/image58.wmf"/><Relationship Id="rId5" Type="http://schemas.openxmlformats.org/officeDocument/2006/relationships/image" Target="../media/image55.wmf"/><Relationship Id="rId10" Type="http://schemas.openxmlformats.org/officeDocument/2006/relationships/oleObject" Target="../embeddings/oleObject79.bin"/><Relationship Id="rId4" Type="http://schemas.openxmlformats.org/officeDocument/2006/relationships/oleObject" Target="../embeddings/oleObject76.bin"/><Relationship Id="rId9" Type="http://schemas.openxmlformats.org/officeDocument/2006/relationships/image" Target="../media/image57.wmf"/></Relationships>
</file>

<file path=ppt/slides/_rels/slide35.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80.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81.bin"/><Relationship Id="rId1" Type="http://schemas.openxmlformats.org/officeDocument/2006/relationships/slideLayout" Target="../slideLayouts/slideLayout2.xml"/><Relationship Id="rId5" Type="http://schemas.openxmlformats.org/officeDocument/2006/relationships/image" Target="../media/image59.wmf"/><Relationship Id="rId4" Type="http://schemas.openxmlformats.org/officeDocument/2006/relationships/oleObject" Target="../embeddings/oleObject82.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61.wmf"/><Relationship Id="rId3" Type="http://schemas.openxmlformats.org/officeDocument/2006/relationships/oleObject" Target="../embeddings/oleObject83.bin"/><Relationship Id="rId7" Type="http://schemas.openxmlformats.org/officeDocument/2006/relationships/oleObject" Target="../embeddings/oleObject85.bin"/><Relationship Id="rId2" Type="http://schemas.microsoft.com/office/2018/10/relationships/comments" Target="../comments/modernComment_1EF_6496A529.xml"/><Relationship Id="rId1" Type="http://schemas.openxmlformats.org/officeDocument/2006/relationships/slideLayout" Target="../slideLayouts/slideLayout2.xml"/><Relationship Id="rId6" Type="http://schemas.openxmlformats.org/officeDocument/2006/relationships/image" Target="../media/image11.wmf"/><Relationship Id="rId5" Type="http://schemas.openxmlformats.org/officeDocument/2006/relationships/oleObject" Target="../embeddings/oleObject84.bin"/><Relationship Id="rId4" Type="http://schemas.openxmlformats.org/officeDocument/2006/relationships/image" Target="../media/image60.wmf"/></Relationships>
</file>

<file path=ppt/slides/_rels/slide39.x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oleObject" Target="../embeddings/oleObject86.bin"/><Relationship Id="rId1" Type="http://schemas.openxmlformats.org/officeDocument/2006/relationships/slideLayout" Target="../slideLayouts/slideLayout2.xml"/><Relationship Id="rId4" Type="http://schemas.openxmlformats.org/officeDocument/2006/relationships/image" Target="../media/image63.emf"/></Relationships>
</file>

<file path=ppt/slides/_rels/slide40.xml.rels><?xml version="1.0" encoding="UTF-8" standalone="yes"?>
<Relationships xmlns="http://schemas.openxmlformats.org/package/2006/relationships"><Relationship Id="rId3" Type="http://schemas.openxmlformats.org/officeDocument/2006/relationships/image" Target="../media/image62.wmf"/><Relationship Id="rId7" Type="http://schemas.openxmlformats.org/officeDocument/2006/relationships/image" Target="../media/image65.emf"/><Relationship Id="rId2" Type="http://schemas.openxmlformats.org/officeDocument/2006/relationships/oleObject" Target="../embeddings/oleObject87.bin"/><Relationship Id="rId1" Type="http://schemas.openxmlformats.org/officeDocument/2006/relationships/slideLayout" Target="../slideLayouts/slideLayout2.xml"/><Relationship Id="rId6" Type="http://schemas.openxmlformats.org/officeDocument/2006/relationships/image" Target="../media/image64.wmf"/><Relationship Id="rId5" Type="http://schemas.openxmlformats.org/officeDocument/2006/relationships/oleObject" Target="../embeddings/oleObject88.bin"/><Relationship Id="rId4" Type="http://schemas.openxmlformats.org/officeDocument/2006/relationships/image" Target="../media/image63.emf"/></Relationships>
</file>

<file path=ppt/slides/_rels/slide4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89.bin"/><Relationship Id="rId1" Type="http://schemas.openxmlformats.org/officeDocument/2006/relationships/slideLayout" Target="../slideLayouts/slideLayout2.xml"/><Relationship Id="rId4" Type="http://schemas.openxmlformats.org/officeDocument/2006/relationships/image" Target="../media/image66.emf"/></Relationships>
</file>

<file path=ppt/slides/_rels/slide42.xml.rels><?xml version="1.0" encoding="UTF-8" standalone="yes"?>
<Relationships xmlns="http://schemas.openxmlformats.org/package/2006/relationships"><Relationship Id="rId8" Type="http://schemas.openxmlformats.org/officeDocument/2006/relationships/image" Target="../media/image66.emf"/><Relationship Id="rId3" Type="http://schemas.openxmlformats.org/officeDocument/2006/relationships/image" Target="../media/image67.wmf"/><Relationship Id="rId7" Type="http://schemas.openxmlformats.org/officeDocument/2006/relationships/image" Target="../media/image68.wmf"/><Relationship Id="rId2" Type="http://schemas.openxmlformats.org/officeDocument/2006/relationships/oleObject" Target="../embeddings/oleObject90.bin"/><Relationship Id="rId1" Type="http://schemas.openxmlformats.org/officeDocument/2006/relationships/slideLayout" Target="../slideLayouts/slideLayout2.xml"/><Relationship Id="rId6" Type="http://schemas.openxmlformats.org/officeDocument/2006/relationships/oleObject" Target="../embeddings/oleObject92.bin"/><Relationship Id="rId5" Type="http://schemas.openxmlformats.org/officeDocument/2006/relationships/image" Target="../media/image11.wmf"/><Relationship Id="rId4" Type="http://schemas.openxmlformats.org/officeDocument/2006/relationships/oleObject" Target="../embeddings/oleObject91.bin"/></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image" Target="../media/image69.emf"/><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44.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94.bin"/><Relationship Id="rId7" Type="http://schemas.openxmlformats.org/officeDocument/2006/relationships/oleObject" Target="../embeddings/oleObject96.bin"/><Relationship Id="rId2" Type="http://schemas.openxmlformats.org/officeDocument/2006/relationships/image" Target="../media/image69.emf"/><Relationship Id="rId1" Type="http://schemas.openxmlformats.org/officeDocument/2006/relationships/slideLayout" Target="../slideLayouts/slideLayout2.xml"/><Relationship Id="rId6" Type="http://schemas.openxmlformats.org/officeDocument/2006/relationships/image" Target="../media/image71.wmf"/><Relationship Id="rId5" Type="http://schemas.openxmlformats.org/officeDocument/2006/relationships/oleObject" Target="../embeddings/oleObject95.bin"/><Relationship Id="rId4" Type="http://schemas.openxmlformats.org/officeDocument/2006/relationships/image" Target="../media/image70.w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99.bin"/><Relationship Id="rId3" Type="http://schemas.openxmlformats.org/officeDocument/2006/relationships/oleObject" Target="../embeddings/oleObject97.bin"/><Relationship Id="rId7" Type="http://schemas.openxmlformats.org/officeDocument/2006/relationships/image" Target="../media/image72.emf"/><Relationship Id="rId2" Type="http://schemas.openxmlformats.org/officeDocument/2006/relationships/image" Target="../media/image69.emf"/><Relationship Id="rId1" Type="http://schemas.openxmlformats.org/officeDocument/2006/relationships/slideLayout" Target="../slideLayouts/slideLayout2.xml"/><Relationship Id="rId6" Type="http://schemas.openxmlformats.org/officeDocument/2006/relationships/image" Target="../media/image71.wmf"/><Relationship Id="rId5" Type="http://schemas.openxmlformats.org/officeDocument/2006/relationships/oleObject" Target="../embeddings/oleObject98.bin"/><Relationship Id="rId4" Type="http://schemas.openxmlformats.org/officeDocument/2006/relationships/image" Target="../media/image70.wmf"/><Relationship Id="rId9" Type="http://schemas.openxmlformats.org/officeDocument/2006/relationships/image" Target="../media/image11.wmf"/></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102.bin"/><Relationship Id="rId13" Type="http://schemas.openxmlformats.org/officeDocument/2006/relationships/image" Target="../media/image74.wmf"/><Relationship Id="rId3" Type="http://schemas.openxmlformats.org/officeDocument/2006/relationships/oleObject" Target="../embeddings/oleObject100.bin"/><Relationship Id="rId7" Type="http://schemas.openxmlformats.org/officeDocument/2006/relationships/image" Target="../media/image72.emf"/><Relationship Id="rId12" Type="http://schemas.openxmlformats.org/officeDocument/2006/relationships/oleObject" Target="../embeddings/oleObject104.bin"/><Relationship Id="rId2" Type="http://schemas.openxmlformats.org/officeDocument/2006/relationships/image" Target="../media/image69.emf"/><Relationship Id="rId1" Type="http://schemas.openxmlformats.org/officeDocument/2006/relationships/slideLayout" Target="../slideLayouts/slideLayout2.xml"/><Relationship Id="rId6" Type="http://schemas.openxmlformats.org/officeDocument/2006/relationships/image" Target="../media/image71.wmf"/><Relationship Id="rId11" Type="http://schemas.openxmlformats.org/officeDocument/2006/relationships/image" Target="../media/image73.wmf"/><Relationship Id="rId5" Type="http://schemas.openxmlformats.org/officeDocument/2006/relationships/oleObject" Target="../embeddings/oleObject101.bin"/><Relationship Id="rId10" Type="http://schemas.openxmlformats.org/officeDocument/2006/relationships/oleObject" Target="../embeddings/oleObject103.bin"/><Relationship Id="rId4" Type="http://schemas.openxmlformats.org/officeDocument/2006/relationships/image" Target="../media/image70.wmf"/><Relationship Id="rId9" Type="http://schemas.openxmlformats.org/officeDocument/2006/relationships/image" Target="../media/image11.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05.bin"/><Relationship Id="rId1" Type="http://schemas.openxmlformats.org/officeDocument/2006/relationships/slideLayout" Target="../slideLayouts/slideLayout2.xml"/><Relationship Id="rId4" Type="http://schemas.openxmlformats.org/officeDocument/2006/relationships/image" Target="../media/image75.emf"/></Relationships>
</file>

<file path=ppt/slides/_rels/slide49.xml.rels><?xml version="1.0" encoding="UTF-8" standalone="yes"?>
<Relationships xmlns="http://schemas.openxmlformats.org/package/2006/relationships"><Relationship Id="rId3" Type="http://schemas.openxmlformats.org/officeDocument/2006/relationships/image" Target="../media/image76.wmf"/><Relationship Id="rId7" Type="http://schemas.openxmlformats.org/officeDocument/2006/relationships/image" Target="../media/image78.emf"/><Relationship Id="rId2" Type="http://schemas.openxmlformats.org/officeDocument/2006/relationships/oleObject" Target="../embeddings/oleObject106.bin"/><Relationship Id="rId1" Type="http://schemas.openxmlformats.org/officeDocument/2006/relationships/slideLayout" Target="../slideLayouts/slideLayout2.xml"/><Relationship Id="rId6" Type="http://schemas.openxmlformats.org/officeDocument/2006/relationships/image" Target="../media/image75.emf"/><Relationship Id="rId5" Type="http://schemas.openxmlformats.org/officeDocument/2006/relationships/image" Target="../media/image77.wmf"/><Relationship Id="rId4" Type="http://schemas.openxmlformats.org/officeDocument/2006/relationships/oleObject" Target="../embeddings/oleObject107.bin"/></Relationships>
</file>

<file path=ppt/slides/_rels/slide50.xml.rels><?xml version="1.0" encoding="UTF-8" standalone="yes"?>
<Relationships xmlns="http://schemas.openxmlformats.org/package/2006/relationships"><Relationship Id="rId3" Type="http://schemas.openxmlformats.org/officeDocument/2006/relationships/image" Target="../media/image79.wmf"/><Relationship Id="rId7" Type="http://schemas.openxmlformats.org/officeDocument/2006/relationships/image" Target="../media/image80.emf"/><Relationship Id="rId2" Type="http://schemas.openxmlformats.org/officeDocument/2006/relationships/oleObject" Target="../embeddings/oleObject108.bin"/><Relationship Id="rId1" Type="http://schemas.openxmlformats.org/officeDocument/2006/relationships/slideLayout" Target="../slideLayouts/slideLayout2.xml"/><Relationship Id="rId6" Type="http://schemas.openxmlformats.org/officeDocument/2006/relationships/image" Target="../media/image11.wmf"/><Relationship Id="rId5" Type="http://schemas.openxmlformats.org/officeDocument/2006/relationships/oleObject" Target="../embeddings/oleObject110.bin"/><Relationship Id="rId4" Type="http://schemas.openxmlformats.org/officeDocument/2006/relationships/oleObject" Target="../embeddings/oleObject109.bin"/></Relationships>
</file>

<file path=ppt/slides/_rels/slide51.xml.rels><?xml version="1.0" encoding="UTF-8" standalone="yes"?>
<Relationships xmlns="http://schemas.openxmlformats.org/package/2006/relationships"><Relationship Id="rId3" Type="http://schemas.openxmlformats.org/officeDocument/2006/relationships/image" Target="../media/image81.wmf"/><Relationship Id="rId7" Type="http://schemas.openxmlformats.org/officeDocument/2006/relationships/oleObject" Target="../embeddings/oleObject113.bin"/><Relationship Id="rId2" Type="http://schemas.openxmlformats.org/officeDocument/2006/relationships/oleObject" Target="../embeddings/oleObject111.bin"/><Relationship Id="rId1" Type="http://schemas.openxmlformats.org/officeDocument/2006/relationships/slideLayout" Target="../slideLayouts/slideLayout2.xml"/><Relationship Id="rId6" Type="http://schemas.openxmlformats.org/officeDocument/2006/relationships/image" Target="../media/image79.wmf"/><Relationship Id="rId5" Type="http://schemas.openxmlformats.org/officeDocument/2006/relationships/oleObject" Target="../embeddings/oleObject112.bin"/><Relationship Id="rId4" Type="http://schemas.openxmlformats.org/officeDocument/2006/relationships/image" Target="../media/image80.emf"/></Relationships>
</file>

<file path=ppt/slides/_rels/slide52.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82.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Subtitle 2"/>
          <p:cNvSpPr>
            <a:spLocks noGrp="1"/>
          </p:cNvSpPr>
          <p:nvPr>
            <p:ph type="subTitle" idx="1"/>
          </p:nvPr>
        </p:nvSpPr>
        <p:spPr>
          <a:xfrm>
            <a:off x="1371600" y="2590800"/>
            <a:ext cx="6400800" cy="2209800"/>
          </a:xfrm>
        </p:spPr>
        <p:txBody>
          <a:bodyPr/>
          <a:lstStyle/>
          <a:p>
            <a:r>
              <a:rPr lang="en-US" sz="2000" dirty="0">
                <a:solidFill>
                  <a:schemeClr val="tx1"/>
                </a:solidFill>
              </a:rPr>
              <a:t>Dr. Özçel </a:t>
            </a:r>
            <a:r>
              <a:rPr lang="en-US" sz="2000" dirty="0" err="1">
                <a:solidFill>
                  <a:schemeClr val="tx1"/>
                </a:solidFill>
              </a:rPr>
              <a:t>Cangül</a:t>
            </a:r>
            <a:endParaRPr lang="tr-TR" sz="2000" dirty="0">
              <a:solidFill>
                <a:schemeClr val="tx1"/>
              </a:solidFill>
            </a:endParaRPr>
          </a:p>
          <a:p>
            <a:r>
              <a:rPr lang="tr-TR" sz="2000" dirty="0">
                <a:solidFill>
                  <a:schemeClr val="tx1"/>
                </a:solidFill>
              </a:rPr>
              <a:t>Lecture Notes by </a:t>
            </a:r>
            <a:r>
              <a:rPr lang="en-US" sz="2000" dirty="0">
                <a:solidFill>
                  <a:schemeClr val="tx1"/>
                </a:solidFill>
              </a:rPr>
              <a:t>Dr. Ali </a:t>
            </a:r>
            <a:r>
              <a:rPr lang="en-US" sz="2000" dirty="0" err="1">
                <a:solidFill>
                  <a:schemeClr val="tx1"/>
                </a:solidFill>
              </a:rPr>
              <a:t>Muhtaroğlu</a:t>
            </a:r>
            <a:endParaRPr lang="en-US" sz="2000" dirty="0">
              <a:solidFill>
                <a:schemeClr val="tx1"/>
              </a:solidFill>
            </a:endParaRPr>
          </a:p>
          <a:p>
            <a:r>
              <a:rPr lang="en-US" sz="2000" dirty="0">
                <a:solidFill>
                  <a:schemeClr val="tx1"/>
                </a:solidFill>
              </a:rPr>
              <a:t>Fall 2023</a:t>
            </a:r>
          </a:p>
          <a:p>
            <a:r>
              <a:rPr lang="en-US" sz="2000" dirty="0">
                <a:solidFill>
                  <a:schemeClr val="tx1"/>
                </a:solidFill>
              </a:rPr>
              <a:t>METU Northern Cyprus Campus</a:t>
            </a:r>
          </a:p>
        </p:txBody>
      </p:sp>
      <p:sp>
        <p:nvSpPr>
          <p:cNvPr id="4100" name="TextBox 3"/>
          <p:cNvSpPr txBox="1">
            <a:spLocks noChangeArrowheads="1"/>
          </p:cNvSpPr>
          <p:nvPr/>
        </p:nvSpPr>
        <p:spPr bwMode="auto">
          <a:xfrm>
            <a:off x="1691625" y="4734461"/>
            <a:ext cx="6183206" cy="1354217"/>
          </a:xfrm>
          <a:prstGeom prst="rect">
            <a:avLst/>
          </a:prstGeom>
          <a:noFill/>
          <a:ln w="9525">
            <a:noFill/>
            <a:miter lim="800000"/>
            <a:headEnd/>
            <a:tailEnd/>
          </a:ln>
        </p:spPr>
        <p:txBody>
          <a:bodyPr wrap="square">
            <a:spAutoFit/>
          </a:bodyPr>
          <a:lstStyle/>
          <a:p>
            <a:r>
              <a:rPr lang="en-US" sz="1600" u="sng" dirty="0">
                <a:solidFill>
                  <a:prstClr val="black"/>
                </a:solidFill>
                <a:latin typeface="Calibri" pitchFamily="34" charset="0"/>
              </a:rPr>
              <a:t>References:</a:t>
            </a:r>
          </a:p>
          <a:p>
            <a:r>
              <a:rPr lang="en-US" sz="1600" dirty="0">
                <a:solidFill>
                  <a:prstClr val="black"/>
                </a:solidFill>
                <a:latin typeface="Calibri"/>
              </a:rPr>
              <a:t>Electric Circuits 10</a:t>
            </a:r>
            <a:r>
              <a:rPr lang="en-US" sz="1600" baseline="30000" dirty="0">
                <a:solidFill>
                  <a:prstClr val="black"/>
                </a:solidFill>
                <a:latin typeface="Calibri"/>
              </a:rPr>
              <a:t>th</a:t>
            </a:r>
            <a:r>
              <a:rPr lang="en-US" sz="1600" dirty="0">
                <a:solidFill>
                  <a:prstClr val="black"/>
                </a:solidFill>
                <a:latin typeface="Calibri"/>
              </a:rPr>
              <a:t> Ed. by </a:t>
            </a:r>
            <a:r>
              <a:rPr lang="tr-TR" sz="1600" dirty="0">
                <a:solidFill>
                  <a:prstClr val="black"/>
                </a:solidFill>
                <a:latin typeface="Calibri"/>
              </a:rPr>
              <a:t>Nilsson &amp; Riedel</a:t>
            </a:r>
            <a:endParaRPr lang="en-US" sz="1600" dirty="0">
              <a:solidFill>
                <a:prstClr val="black"/>
              </a:solidFill>
              <a:latin typeface="Calibri"/>
            </a:endParaRPr>
          </a:p>
          <a:p>
            <a:r>
              <a:rPr lang="en-US" sz="1600" dirty="0">
                <a:solidFill>
                  <a:prstClr val="black"/>
                </a:solidFill>
                <a:latin typeface="Calibri"/>
              </a:rPr>
              <a:t>Electrical Circuit Analysis 3</a:t>
            </a:r>
            <a:r>
              <a:rPr lang="en-US" sz="1600" baseline="30000" dirty="0">
                <a:solidFill>
                  <a:prstClr val="black"/>
                </a:solidFill>
                <a:latin typeface="Calibri"/>
              </a:rPr>
              <a:t>rd</a:t>
            </a:r>
            <a:r>
              <a:rPr lang="en-US" sz="1600" dirty="0">
                <a:solidFill>
                  <a:prstClr val="black"/>
                </a:solidFill>
                <a:latin typeface="Calibri"/>
              </a:rPr>
              <a:t> Ed. </a:t>
            </a:r>
            <a:r>
              <a:rPr lang="en-US" sz="1600" i="1" dirty="0">
                <a:solidFill>
                  <a:prstClr val="black"/>
                </a:solidFill>
                <a:latin typeface="Calibri"/>
              </a:rPr>
              <a:t>by Johnson, Johnson, </a:t>
            </a:r>
            <a:r>
              <a:rPr lang="en-US" sz="1600" i="1" dirty="0" err="1">
                <a:solidFill>
                  <a:prstClr val="black"/>
                </a:solidFill>
                <a:latin typeface="Calibri"/>
              </a:rPr>
              <a:t>Hilburn</a:t>
            </a:r>
            <a:r>
              <a:rPr lang="en-US" sz="1600" i="1" dirty="0">
                <a:solidFill>
                  <a:prstClr val="black"/>
                </a:solidFill>
                <a:latin typeface="Calibri"/>
              </a:rPr>
              <a:t>, and Scott</a:t>
            </a:r>
          </a:p>
          <a:p>
            <a:r>
              <a:rPr lang="en-US" sz="1600" dirty="0">
                <a:solidFill>
                  <a:prstClr val="black"/>
                </a:solidFill>
                <a:latin typeface="Calibri"/>
              </a:rPr>
              <a:t>Engineering Circuit Analysis 7</a:t>
            </a:r>
            <a:r>
              <a:rPr lang="en-US" sz="1600" baseline="30000" dirty="0">
                <a:solidFill>
                  <a:prstClr val="black"/>
                </a:solidFill>
                <a:latin typeface="Calibri"/>
              </a:rPr>
              <a:t>th</a:t>
            </a:r>
            <a:r>
              <a:rPr lang="en-US" sz="1600" dirty="0">
                <a:solidFill>
                  <a:prstClr val="black"/>
                </a:solidFill>
                <a:latin typeface="Calibri"/>
              </a:rPr>
              <a:t> Ed. </a:t>
            </a:r>
            <a:r>
              <a:rPr lang="en-US" sz="1600" i="1" dirty="0">
                <a:solidFill>
                  <a:prstClr val="black"/>
                </a:solidFill>
                <a:latin typeface="Calibri"/>
              </a:rPr>
              <a:t>by </a:t>
            </a:r>
            <a:r>
              <a:rPr lang="en-US" sz="1600" i="1" dirty="0" err="1">
                <a:solidFill>
                  <a:prstClr val="black"/>
                </a:solidFill>
                <a:latin typeface="Calibri"/>
              </a:rPr>
              <a:t>Hayt</a:t>
            </a:r>
            <a:r>
              <a:rPr lang="en-US" sz="1600" i="1" dirty="0">
                <a:solidFill>
                  <a:prstClr val="black"/>
                </a:solidFill>
                <a:latin typeface="Calibri"/>
              </a:rPr>
              <a:t>, </a:t>
            </a:r>
            <a:r>
              <a:rPr lang="en-US" sz="1600" i="1" dirty="0" err="1">
                <a:solidFill>
                  <a:prstClr val="black"/>
                </a:solidFill>
                <a:latin typeface="Calibri"/>
              </a:rPr>
              <a:t>Kemmerly</a:t>
            </a:r>
            <a:r>
              <a:rPr lang="en-US" sz="1600" i="1" dirty="0">
                <a:solidFill>
                  <a:prstClr val="black"/>
                </a:solidFill>
                <a:latin typeface="Calibri"/>
              </a:rPr>
              <a:t>, and Durbin</a:t>
            </a:r>
          </a:p>
          <a:p>
            <a:r>
              <a:rPr lang="en-US" sz="1600" dirty="0">
                <a:solidFill>
                  <a:prstClr val="black"/>
                </a:solidFill>
                <a:latin typeface="Calibri"/>
              </a:rPr>
              <a:t>Fundamentals of Electric Circuits </a:t>
            </a:r>
            <a:r>
              <a:rPr lang="en-US" sz="1600" i="1" dirty="0">
                <a:solidFill>
                  <a:prstClr val="black"/>
                </a:solidFill>
                <a:latin typeface="Calibri"/>
              </a:rPr>
              <a:t>3</a:t>
            </a:r>
            <a:r>
              <a:rPr lang="en-US" sz="1600" baseline="30000" dirty="0">
                <a:solidFill>
                  <a:prstClr val="black"/>
                </a:solidFill>
                <a:latin typeface="Calibri"/>
              </a:rPr>
              <a:t>rd</a:t>
            </a:r>
            <a:r>
              <a:rPr lang="en-US" sz="1600" dirty="0">
                <a:solidFill>
                  <a:prstClr val="black"/>
                </a:solidFill>
                <a:latin typeface="Calibri"/>
              </a:rPr>
              <a:t> Ed. </a:t>
            </a:r>
            <a:r>
              <a:rPr lang="en-US" sz="1600" i="1" dirty="0">
                <a:solidFill>
                  <a:prstClr val="black"/>
                </a:solidFill>
                <a:latin typeface="Calibri"/>
              </a:rPr>
              <a:t>by Alexander, and </a:t>
            </a:r>
            <a:r>
              <a:rPr lang="en-US" sz="1600" i="1" dirty="0" err="1">
                <a:solidFill>
                  <a:prstClr val="black"/>
                </a:solidFill>
                <a:latin typeface="Calibri"/>
              </a:rPr>
              <a:t>Sadiku</a:t>
            </a:r>
            <a:endParaRPr lang="en-US" sz="1600" i="1" dirty="0">
              <a:solidFill>
                <a:prstClr val="black"/>
              </a:solidFill>
              <a:latin typeface="Calibri"/>
            </a:endParaRPr>
          </a:p>
        </p:txBody>
      </p:sp>
      <p:sp>
        <p:nvSpPr>
          <p:cNvPr id="6" name="Title 1"/>
          <p:cNvSpPr txBox="1">
            <a:spLocks/>
          </p:cNvSpPr>
          <p:nvPr/>
        </p:nvSpPr>
        <p:spPr bwMode="auto">
          <a:xfrm>
            <a:off x="685800" y="381000"/>
            <a:ext cx="7772400" cy="1752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tr-TR" sz="3200"/>
              <a:t>Electrical Circuits</a:t>
            </a:r>
            <a:br>
              <a:rPr lang="en-US" sz="3200"/>
            </a:br>
            <a:r>
              <a:rPr lang="en-US" sz="3200"/>
              <a:t>EEE-2</a:t>
            </a:r>
            <a:r>
              <a:rPr lang="tr-TR" sz="3200"/>
              <a:t>8</a:t>
            </a:r>
            <a:r>
              <a:rPr lang="en-US" sz="3200"/>
              <a:t>1 Lecture Notes</a:t>
            </a:r>
            <a:endParaRPr lang="en-US" sz="3200" dirty="0"/>
          </a:p>
        </p:txBody>
      </p:sp>
    </p:spTree>
    <p:extLst>
      <p:ext uri="{BB962C8B-B14F-4D97-AF65-F5344CB8AC3E}">
        <p14:creationId xmlns:p14="http://schemas.microsoft.com/office/powerpoint/2010/main" val="3416453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419100" y="1790700"/>
            <a:ext cx="8229600" cy="2819400"/>
          </a:xfrm>
        </p:spPr>
        <p:txBody>
          <a:bodyPr/>
          <a:lstStyle/>
          <a:p>
            <a:r>
              <a:rPr lang="tr-TR" sz="3600" dirty="0" err="1"/>
              <a:t>Energy</a:t>
            </a:r>
            <a:r>
              <a:rPr lang="tr-TR" sz="3600" dirty="0"/>
              <a:t> Storage </a:t>
            </a:r>
            <a:r>
              <a:rPr lang="tr-TR" sz="3600" dirty="0" err="1"/>
              <a:t>Elements</a:t>
            </a:r>
            <a:br>
              <a:rPr lang="en-US" sz="3600" dirty="0"/>
            </a:br>
            <a:br>
              <a:rPr lang="en-US" sz="3600" dirty="0"/>
            </a:br>
            <a:r>
              <a:rPr lang="en-US" sz="3600" i="1" dirty="0"/>
              <a:t>Weeks 11-</a:t>
            </a:r>
            <a:r>
              <a:rPr lang="tr-TR" sz="3600" i="1" dirty="0"/>
              <a:t>1</a:t>
            </a:r>
            <a:r>
              <a:rPr lang="en-US" sz="3600" i="1" dirty="0"/>
              <a:t>2</a:t>
            </a:r>
            <a:br>
              <a:rPr lang="tr-TR" sz="3600" i="1" dirty="0"/>
            </a:br>
            <a:br>
              <a:rPr lang="tr-TR" sz="3600" i="1" dirty="0"/>
            </a:br>
            <a:r>
              <a:rPr lang="tr-TR" sz="3600" i="1" dirty="0">
                <a:solidFill>
                  <a:srgbClr val="0000FF"/>
                </a:solidFill>
              </a:rPr>
              <a:t>Reading: </a:t>
            </a:r>
            <a:r>
              <a:rPr lang="tr-TR" sz="3600" i="1" dirty="0" err="1">
                <a:solidFill>
                  <a:srgbClr val="0000FF"/>
                </a:solidFill>
              </a:rPr>
              <a:t>Nilsson</a:t>
            </a:r>
            <a:r>
              <a:rPr lang="tr-TR" sz="3600" i="1" dirty="0">
                <a:solidFill>
                  <a:srgbClr val="0000FF"/>
                </a:solidFill>
              </a:rPr>
              <a:t> &amp; </a:t>
            </a:r>
            <a:r>
              <a:rPr lang="tr-TR" sz="3600" i="1" dirty="0" err="1">
                <a:solidFill>
                  <a:srgbClr val="0000FF"/>
                </a:solidFill>
              </a:rPr>
              <a:t>Riedel</a:t>
            </a:r>
            <a:r>
              <a:rPr lang="tr-TR" sz="3600" i="1" dirty="0">
                <a:solidFill>
                  <a:srgbClr val="0000FF"/>
                </a:solidFill>
              </a:rPr>
              <a:t> </a:t>
            </a:r>
            <a:r>
              <a:rPr lang="tr-TR" sz="3600" i="1" dirty="0" err="1">
                <a:solidFill>
                  <a:srgbClr val="0000FF"/>
                </a:solidFill>
              </a:rPr>
              <a:t>Chapter</a:t>
            </a:r>
            <a:r>
              <a:rPr lang="tr-TR" sz="3600" i="1" dirty="0">
                <a:solidFill>
                  <a:srgbClr val="0000FF"/>
                </a:solidFill>
              </a:rPr>
              <a:t> 6</a:t>
            </a:r>
            <a:endParaRPr lang="en-US" sz="3600" i="1" dirty="0"/>
          </a:p>
        </p:txBody>
      </p:sp>
      <p:sp>
        <p:nvSpPr>
          <p:cNvPr id="4" name="Slide Number Placeholder 3"/>
          <p:cNvSpPr>
            <a:spLocks noGrp="1"/>
          </p:cNvSpPr>
          <p:nvPr>
            <p:ph type="sldNum" sz="quarter" idx="11"/>
          </p:nvPr>
        </p:nvSpPr>
        <p:spPr/>
        <p:txBody>
          <a:bodyPr/>
          <a:lstStyle/>
          <a:p>
            <a:pPr>
              <a:defRPr/>
            </a:pPr>
            <a:fld id="{A957CEED-90C7-4FD0-AB8C-14085BB9151E}" type="slidenum">
              <a:rPr lang="en-US" smtClean="0"/>
              <a:pPr>
                <a:defRPr/>
              </a:pPr>
              <a:t>2</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142852"/>
            <a:ext cx="6572296" cy="654032"/>
          </a:xfrm>
        </p:spPr>
        <p:txBody>
          <a:bodyPr>
            <a:normAutofit fontScale="90000"/>
          </a:bodyPr>
          <a:lstStyle/>
          <a:p>
            <a:r>
              <a:rPr lang="tr-TR" dirty="0"/>
              <a:t>Introduction</a:t>
            </a:r>
          </a:p>
        </p:txBody>
      </p:sp>
      <p:sp>
        <p:nvSpPr>
          <p:cNvPr id="3" name="Content Placeholder 2"/>
          <p:cNvSpPr>
            <a:spLocks noGrp="1"/>
          </p:cNvSpPr>
          <p:nvPr>
            <p:ph idx="1"/>
          </p:nvPr>
        </p:nvSpPr>
        <p:spPr>
          <a:xfrm>
            <a:off x="428596" y="1142984"/>
            <a:ext cx="8229600" cy="4597401"/>
          </a:xfrm>
        </p:spPr>
        <p:txBody>
          <a:bodyPr>
            <a:normAutofit/>
          </a:bodyPr>
          <a:lstStyle/>
          <a:p>
            <a:r>
              <a:rPr lang="en-US" sz="2000" dirty="0"/>
              <a:t>So far only considered circuits with resistors and sources (and </a:t>
            </a:r>
            <a:r>
              <a:rPr lang="tr-TR" sz="2000" dirty="0"/>
              <a:t>op-amps)</a:t>
            </a:r>
          </a:p>
          <a:p>
            <a:pPr>
              <a:buNone/>
            </a:pPr>
            <a:r>
              <a:rPr lang="en-US" sz="2400" dirty="0"/>
              <a:t>        </a:t>
            </a:r>
            <a:r>
              <a:rPr lang="en-US" sz="1800" dirty="0"/>
              <a:t>– Terminal characteristics are simple algebraic equations</a:t>
            </a:r>
          </a:p>
          <a:p>
            <a:endParaRPr lang="tr-TR" sz="700" dirty="0"/>
          </a:p>
          <a:p>
            <a:r>
              <a:rPr lang="en-US" sz="2000" dirty="0"/>
              <a:t>Next, will study dynamic elements which can store energy to be retrieved at a later time. Hence they are called </a:t>
            </a:r>
            <a:r>
              <a:rPr lang="en-US" sz="2000" b="1" i="1" dirty="0"/>
              <a:t>energy </a:t>
            </a:r>
            <a:r>
              <a:rPr lang="tr-TR" sz="2000" b="1" i="1" dirty="0"/>
              <a:t>storage elements.</a:t>
            </a:r>
          </a:p>
          <a:p>
            <a:pPr>
              <a:buNone/>
            </a:pPr>
            <a:r>
              <a:rPr lang="tr-TR" sz="2000" dirty="0"/>
              <a:t>     </a:t>
            </a:r>
            <a:r>
              <a:rPr lang="tr-TR" sz="2400" dirty="0"/>
              <a:t>	    </a:t>
            </a:r>
            <a:r>
              <a:rPr lang="en-US" sz="1800" dirty="0"/>
              <a:t>– Terminal equations involve derivatives and integrals</a:t>
            </a:r>
          </a:p>
          <a:p>
            <a:pPr>
              <a:buNone/>
            </a:pPr>
            <a:r>
              <a:rPr lang="en-US" sz="1800" dirty="0"/>
              <a:t>	      – Will want to freshen up some of your calculus</a:t>
            </a:r>
          </a:p>
          <a:p>
            <a:endParaRPr lang="tr-TR" sz="2000" dirty="0"/>
          </a:p>
        </p:txBody>
      </p:sp>
      <p:sp>
        <p:nvSpPr>
          <p:cNvPr id="4" name="6 Dikdörtgen"/>
          <p:cNvSpPr/>
          <p:nvPr/>
        </p:nvSpPr>
        <p:spPr>
          <a:xfrm>
            <a:off x="1571604" y="3643314"/>
            <a:ext cx="1141018" cy="369332"/>
          </a:xfrm>
          <a:prstGeom prst="rect">
            <a:avLst/>
          </a:prstGeom>
        </p:spPr>
        <p:txBody>
          <a:bodyPr wrap="none">
            <a:spAutoFit/>
          </a:bodyPr>
          <a:lstStyle/>
          <a:p>
            <a:r>
              <a:rPr lang="tr-TR" u="sng" dirty="0" err="1"/>
              <a:t>Capacitor</a:t>
            </a:r>
            <a:r>
              <a:rPr lang="tr-TR" u="sng" dirty="0"/>
              <a:t>:</a:t>
            </a:r>
          </a:p>
        </p:txBody>
      </p:sp>
      <p:sp>
        <p:nvSpPr>
          <p:cNvPr id="5" name="7 Dikdörtgen"/>
          <p:cNvSpPr/>
          <p:nvPr/>
        </p:nvSpPr>
        <p:spPr>
          <a:xfrm>
            <a:off x="5786446" y="3643314"/>
            <a:ext cx="1044838" cy="369332"/>
          </a:xfrm>
          <a:prstGeom prst="rect">
            <a:avLst/>
          </a:prstGeom>
        </p:spPr>
        <p:txBody>
          <a:bodyPr wrap="none">
            <a:spAutoFit/>
          </a:bodyPr>
          <a:lstStyle/>
          <a:p>
            <a:r>
              <a:rPr lang="tr-TR" u="sng" dirty="0" err="1"/>
              <a:t>Inductor</a:t>
            </a:r>
            <a:r>
              <a:rPr lang="tr-TR" u="sng" dirty="0"/>
              <a:t>:</a:t>
            </a:r>
          </a:p>
        </p:txBody>
      </p:sp>
      <p:pic>
        <p:nvPicPr>
          <p:cNvPr id="54274" name="Picture 2"/>
          <p:cNvPicPr>
            <a:picLocks noChangeAspect="1" noChangeArrowheads="1"/>
          </p:cNvPicPr>
          <p:nvPr/>
        </p:nvPicPr>
        <p:blipFill>
          <a:blip r:embed="rId2" cstate="print"/>
          <a:srcRect/>
          <a:stretch>
            <a:fillRect/>
          </a:stretch>
        </p:blipFill>
        <p:spPr bwMode="auto">
          <a:xfrm>
            <a:off x="1643042" y="4214817"/>
            <a:ext cx="1500198" cy="1943919"/>
          </a:xfrm>
          <a:prstGeom prst="rect">
            <a:avLst/>
          </a:prstGeom>
          <a:noFill/>
          <a:ln w="9525">
            <a:noFill/>
            <a:miter lim="800000"/>
            <a:headEnd/>
            <a:tailEnd/>
          </a:ln>
          <a:effectLst/>
        </p:spPr>
      </p:pic>
      <p:pic>
        <p:nvPicPr>
          <p:cNvPr id="54275" name="Picture 3"/>
          <p:cNvPicPr>
            <a:picLocks noChangeAspect="1" noChangeArrowheads="1"/>
          </p:cNvPicPr>
          <p:nvPr/>
        </p:nvPicPr>
        <p:blipFill>
          <a:blip r:embed="rId3" cstate="print"/>
          <a:srcRect/>
          <a:stretch>
            <a:fillRect/>
          </a:stretch>
        </p:blipFill>
        <p:spPr bwMode="auto">
          <a:xfrm>
            <a:off x="5856437" y="4214819"/>
            <a:ext cx="1358769" cy="1928826"/>
          </a:xfrm>
          <a:prstGeom prst="rect">
            <a:avLst/>
          </a:prstGeom>
          <a:noFill/>
          <a:ln w="9525">
            <a:noFill/>
            <a:miter lim="800000"/>
            <a:headEnd/>
            <a:tailEnd/>
          </a:ln>
          <a:effectLst/>
        </p:spPr>
      </p:pic>
      <p:sp>
        <p:nvSpPr>
          <p:cNvPr id="10" name="Slide Number Placeholder 9"/>
          <p:cNvSpPr>
            <a:spLocks noGrp="1"/>
          </p:cNvSpPr>
          <p:nvPr>
            <p:ph type="sldNum" sz="quarter" idx="12"/>
          </p:nvPr>
        </p:nvSpPr>
        <p:spPr/>
        <p:txBody>
          <a:bodyPr/>
          <a:lstStyle/>
          <a:p>
            <a:fld id="{732390F0-1A5B-4A83-8CFF-11D9A59B5E92}" type="slidenum">
              <a:rPr lang="tr-TR" smtClean="0"/>
              <a:pPr/>
              <a:t>3</a:t>
            </a:fld>
            <a:endParaRPr lang="tr-TR"/>
          </a:p>
        </p:txBody>
      </p:sp>
      <p:sp>
        <p:nvSpPr>
          <p:cNvPr id="11" name="Footer Placeholder 10"/>
          <p:cNvSpPr>
            <a:spLocks noGrp="1"/>
          </p:cNvSpPr>
          <p:nvPr>
            <p:ph type="ftr" sz="quarter" idx="11"/>
          </p:nvPr>
        </p:nvSpPr>
        <p:spPr/>
        <p:txBody>
          <a:bodyPr/>
          <a:lstStyle/>
          <a:p>
            <a:r>
              <a:rPr lang="tr-TR"/>
              <a:t>Ali Muhtaroglu</a:t>
            </a:r>
          </a:p>
        </p:txBody>
      </p:sp>
    </p:spTree>
    <p:extLst>
      <p:ext uri="{BB962C8B-B14F-4D97-AF65-F5344CB8AC3E}">
        <p14:creationId xmlns:p14="http://schemas.microsoft.com/office/powerpoint/2010/main" val="285806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500034" y="857232"/>
            <a:ext cx="8229600" cy="4597401"/>
          </a:xfrm>
        </p:spPr>
        <p:txBody>
          <a:bodyPr>
            <a:normAutofit/>
          </a:bodyPr>
          <a:lstStyle/>
          <a:p>
            <a:pPr algn="just"/>
            <a:r>
              <a:rPr lang="en-US" sz="2000" dirty="0"/>
              <a:t>A capacitor physically consists of two conducting surfaces separated by a thin insulating layer (or dielectric) with a very large resistance. Charge can be stored on the conducting </a:t>
            </a:r>
            <a:r>
              <a:rPr lang="tr-TR" sz="2000" dirty="0"/>
              <a:t>“plates”.</a:t>
            </a:r>
            <a:endParaRPr lang="en-US" sz="2000" dirty="0"/>
          </a:p>
          <a:p>
            <a:pPr algn="just"/>
            <a:endParaRPr lang="tr-TR" sz="2000" dirty="0"/>
          </a:p>
          <a:p>
            <a:pPr algn="just"/>
            <a:r>
              <a:rPr lang="en-US" sz="2000" dirty="0"/>
              <a:t>The potential difference across the capacitor is the net work done in transporting a 1 Coulomb charge between the terminals. The proportionality constant between the charge and the potential difference for a linear capacitor is </a:t>
            </a:r>
            <a:r>
              <a:rPr lang="tr-TR" sz="2000" dirty="0"/>
              <a:t>capacitance, C.</a:t>
            </a:r>
          </a:p>
        </p:txBody>
      </p:sp>
      <p:sp>
        <p:nvSpPr>
          <p:cNvPr id="2" name="1 Başlık"/>
          <p:cNvSpPr>
            <a:spLocks noGrp="1"/>
          </p:cNvSpPr>
          <p:nvPr>
            <p:ph type="title"/>
          </p:nvPr>
        </p:nvSpPr>
        <p:spPr>
          <a:xfrm>
            <a:off x="500034" y="142852"/>
            <a:ext cx="6858048" cy="571504"/>
          </a:xfrm>
        </p:spPr>
        <p:txBody>
          <a:bodyPr>
            <a:normAutofit fontScale="90000"/>
          </a:bodyPr>
          <a:lstStyle/>
          <a:p>
            <a:r>
              <a:rPr lang="tr-TR" dirty="0" err="1"/>
              <a:t>Capacitor</a:t>
            </a:r>
            <a:endParaRPr lang="tr-TR" dirty="0"/>
          </a:p>
        </p:txBody>
      </p:sp>
      <p:graphicFrame>
        <p:nvGraphicFramePr>
          <p:cNvPr id="2051" name="Object 3"/>
          <p:cNvGraphicFramePr>
            <a:graphicFrameLocks noChangeAspect="1"/>
          </p:cNvGraphicFramePr>
          <p:nvPr/>
        </p:nvGraphicFramePr>
        <p:xfrm>
          <a:off x="4714876" y="3643314"/>
          <a:ext cx="1643074" cy="477985"/>
        </p:xfrm>
        <a:graphic>
          <a:graphicData uri="http://schemas.openxmlformats.org/presentationml/2006/ole">
            <mc:AlternateContent xmlns:mc="http://schemas.openxmlformats.org/markup-compatibility/2006">
              <mc:Choice xmlns:v="urn:schemas-microsoft-com:vml" Requires="v">
                <p:oleObj name="Equation" r:id="rId2" imgW="698400" imgH="203040" progId="Equation.3">
                  <p:embed/>
                </p:oleObj>
              </mc:Choice>
              <mc:Fallback>
                <p:oleObj name="Equation" r:id="rId2" imgW="698400" imgH="2030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4876" y="3643314"/>
                        <a:ext cx="1643074" cy="477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8 Dikdörtgen"/>
          <p:cNvSpPr/>
          <p:nvPr/>
        </p:nvSpPr>
        <p:spPr>
          <a:xfrm>
            <a:off x="4143372" y="4286256"/>
            <a:ext cx="3102196" cy="400110"/>
          </a:xfrm>
          <a:prstGeom prst="rect">
            <a:avLst/>
          </a:prstGeom>
        </p:spPr>
        <p:txBody>
          <a:bodyPr wrap="none">
            <a:spAutoFit/>
          </a:bodyPr>
          <a:lstStyle/>
          <a:p>
            <a:r>
              <a:rPr lang="en-US" sz="2000" dirty="0"/>
              <a:t>Units of C:   C/V or </a:t>
            </a:r>
            <a:r>
              <a:rPr lang="en-US" sz="2000" b="1" i="1" dirty="0"/>
              <a:t>Farad (F)</a:t>
            </a:r>
            <a:endParaRPr lang="tr-TR" sz="2000" dirty="0"/>
          </a:p>
        </p:txBody>
      </p:sp>
      <p:pic>
        <p:nvPicPr>
          <p:cNvPr id="12" name="Picture 2"/>
          <p:cNvPicPr>
            <a:picLocks noChangeAspect="1" noChangeArrowheads="1"/>
          </p:cNvPicPr>
          <p:nvPr/>
        </p:nvPicPr>
        <p:blipFill>
          <a:blip r:embed="rId4" cstate="print"/>
          <a:srcRect/>
          <a:stretch>
            <a:fillRect/>
          </a:stretch>
        </p:blipFill>
        <p:spPr bwMode="auto">
          <a:xfrm>
            <a:off x="1214414" y="3929066"/>
            <a:ext cx="1500198" cy="1943919"/>
          </a:xfrm>
          <a:prstGeom prst="rect">
            <a:avLst/>
          </a:prstGeom>
          <a:noFill/>
          <a:ln w="9525">
            <a:noFill/>
            <a:miter lim="800000"/>
            <a:headEnd/>
            <a:tailEnd/>
          </a:ln>
          <a:effectLst/>
        </p:spPr>
      </p:pic>
      <p:sp>
        <p:nvSpPr>
          <p:cNvPr id="13" name="Slide Number Placeholder 12"/>
          <p:cNvSpPr>
            <a:spLocks noGrp="1"/>
          </p:cNvSpPr>
          <p:nvPr>
            <p:ph type="sldNum" sz="quarter" idx="12"/>
          </p:nvPr>
        </p:nvSpPr>
        <p:spPr/>
        <p:txBody>
          <a:bodyPr/>
          <a:lstStyle/>
          <a:p>
            <a:fld id="{732390F0-1A5B-4A83-8CFF-11D9A59B5E92}" type="slidenum">
              <a:rPr lang="tr-TR" smtClean="0"/>
              <a:pPr/>
              <a:t>4</a:t>
            </a:fld>
            <a:endParaRPr lang="tr-TR"/>
          </a:p>
        </p:txBody>
      </p:sp>
      <p:sp>
        <p:nvSpPr>
          <p:cNvPr id="14" name="Footer Placeholder 13"/>
          <p:cNvSpPr>
            <a:spLocks noGrp="1"/>
          </p:cNvSpPr>
          <p:nvPr>
            <p:ph type="ftr" sz="quarter" idx="11"/>
          </p:nvPr>
        </p:nvSpPr>
        <p:spPr/>
        <p:txBody>
          <a:bodyPr/>
          <a:lstStyle/>
          <a:p>
            <a:r>
              <a:rPr lang="tr-TR"/>
              <a:t>Ali Muhtaroglu</a:t>
            </a:r>
          </a:p>
        </p:txBody>
      </p:sp>
    </p:spTree>
    <p:extLst>
      <p:ext uri="{BB962C8B-B14F-4D97-AF65-F5344CB8AC3E}">
        <p14:creationId xmlns:p14="http://schemas.microsoft.com/office/powerpoint/2010/main" val="118605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500034" y="857232"/>
            <a:ext cx="8229600" cy="4597401"/>
          </a:xfrm>
        </p:spPr>
        <p:txBody>
          <a:bodyPr>
            <a:normAutofit/>
          </a:bodyPr>
          <a:lstStyle/>
          <a:p>
            <a:pPr algn="just"/>
            <a:r>
              <a:rPr lang="en-US" sz="2000" dirty="0"/>
              <a:t>A capacitor physically consists of two conducting surfaces separated by a thin insulating layer (or dielectric) with a very large resistance. Charge can be stored on the conducting </a:t>
            </a:r>
            <a:r>
              <a:rPr lang="tr-TR" sz="2000" dirty="0"/>
              <a:t>“plates”.</a:t>
            </a:r>
            <a:endParaRPr lang="en-US" sz="2000" dirty="0"/>
          </a:p>
          <a:p>
            <a:pPr algn="just"/>
            <a:endParaRPr lang="tr-TR" sz="2000" dirty="0"/>
          </a:p>
          <a:p>
            <a:pPr algn="just"/>
            <a:r>
              <a:rPr lang="en-US" sz="2000" dirty="0"/>
              <a:t>The potential difference across the capacitor is the net work done in transporting a 1 Coulomb charge between the terminals. The proportionality constant between the charge and the potential difference for a linear capacitor is </a:t>
            </a:r>
            <a:r>
              <a:rPr lang="tr-TR" sz="2000" dirty="0"/>
              <a:t>capacitance, C.</a:t>
            </a:r>
          </a:p>
        </p:txBody>
      </p:sp>
      <p:sp>
        <p:nvSpPr>
          <p:cNvPr id="2" name="1 Başlık"/>
          <p:cNvSpPr>
            <a:spLocks noGrp="1"/>
          </p:cNvSpPr>
          <p:nvPr>
            <p:ph type="title"/>
          </p:nvPr>
        </p:nvSpPr>
        <p:spPr>
          <a:xfrm>
            <a:off x="500034" y="142852"/>
            <a:ext cx="6858048" cy="571504"/>
          </a:xfrm>
        </p:spPr>
        <p:txBody>
          <a:bodyPr>
            <a:normAutofit fontScale="90000"/>
          </a:bodyPr>
          <a:lstStyle/>
          <a:p>
            <a:r>
              <a:rPr lang="tr-TR" dirty="0" err="1"/>
              <a:t>Capacitor</a:t>
            </a:r>
            <a:endParaRPr lang="tr-TR" dirty="0"/>
          </a:p>
        </p:txBody>
      </p:sp>
      <p:graphicFrame>
        <p:nvGraphicFramePr>
          <p:cNvPr id="2051" name="Object 3"/>
          <p:cNvGraphicFramePr>
            <a:graphicFrameLocks noChangeAspect="1"/>
          </p:cNvGraphicFramePr>
          <p:nvPr/>
        </p:nvGraphicFramePr>
        <p:xfrm>
          <a:off x="4714876" y="3643314"/>
          <a:ext cx="1643074" cy="477985"/>
        </p:xfrm>
        <a:graphic>
          <a:graphicData uri="http://schemas.openxmlformats.org/presentationml/2006/ole">
            <mc:AlternateContent xmlns:mc="http://schemas.openxmlformats.org/markup-compatibility/2006">
              <mc:Choice xmlns:v="urn:schemas-microsoft-com:vml" Requires="v">
                <p:oleObj name="Equation" r:id="rId2" imgW="698400" imgH="203040" progId="Equation.3">
                  <p:embed/>
                </p:oleObj>
              </mc:Choice>
              <mc:Fallback>
                <p:oleObj name="Equation" r:id="rId2" imgW="698400" imgH="203040" progId="Equation.3">
                  <p:embed/>
                  <p:pic>
                    <p:nvPicPr>
                      <p:cNvPr id="2051"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4876" y="3643314"/>
                        <a:ext cx="1643074" cy="477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8 Dikdörtgen"/>
          <p:cNvSpPr/>
          <p:nvPr/>
        </p:nvSpPr>
        <p:spPr>
          <a:xfrm>
            <a:off x="4143372" y="4286256"/>
            <a:ext cx="3102196" cy="400110"/>
          </a:xfrm>
          <a:prstGeom prst="rect">
            <a:avLst/>
          </a:prstGeom>
        </p:spPr>
        <p:txBody>
          <a:bodyPr wrap="none">
            <a:spAutoFit/>
          </a:bodyPr>
          <a:lstStyle/>
          <a:p>
            <a:r>
              <a:rPr lang="en-US" sz="2000" dirty="0"/>
              <a:t>Units of C:   C/V or </a:t>
            </a:r>
            <a:r>
              <a:rPr lang="en-US" sz="2000" b="1" i="1" dirty="0"/>
              <a:t>Farad (F)</a:t>
            </a:r>
            <a:endParaRPr lang="tr-TR" sz="2000" dirty="0"/>
          </a:p>
        </p:txBody>
      </p:sp>
      <p:sp>
        <p:nvSpPr>
          <p:cNvPr id="10" name="9 Dikdörtgen"/>
          <p:cNvSpPr/>
          <p:nvPr/>
        </p:nvSpPr>
        <p:spPr>
          <a:xfrm>
            <a:off x="3500430" y="4854371"/>
            <a:ext cx="4572000" cy="646331"/>
          </a:xfrm>
          <a:prstGeom prst="rect">
            <a:avLst/>
          </a:prstGeom>
        </p:spPr>
        <p:txBody>
          <a:bodyPr>
            <a:spAutoFit/>
          </a:bodyPr>
          <a:lstStyle/>
          <a:p>
            <a:r>
              <a:rPr lang="en-US" dirty="0"/>
              <a:t>Differentiate the above equation </a:t>
            </a:r>
            <a:r>
              <a:rPr lang="en-US" dirty="0" err="1"/>
              <a:t>w.r.t</a:t>
            </a:r>
            <a:r>
              <a:rPr lang="en-US" dirty="0"/>
              <a:t>. </a:t>
            </a:r>
            <a:r>
              <a:rPr lang="en-US" i="1" dirty="0"/>
              <a:t>t to</a:t>
            </a:r>
          </a:p>
          <a:p>
            <a:r>
              <a:rPr lang="en-US" dirty="0"/>
              <a:t>get the </a:t>
            </a:r>
            <a:r>
              <a:rPr lang="en-US" b="1" u="sng" dirty="0"/>
              <a:t>terminal law for a capacitor:</a:t>
            </a:r>
            <a:endParaRPr lang="tr-TR" u="sng" dirty="0"/>
          </a:p>
        </p:txBody>
      </p:sp>
      <p:graphicFrame>
        <p:nvGraphicFramePr>
          <p:cNvPr id="2052" name="Object 4"/>
          <p:cNvGraphicFramePr>
            <a:graphicFrameLocks noChangeAspect="1"/>
          </p:cNvGraphicFramePr>
          <p:nvPr/>
        </p:nvGraphicFramePr>
        <p:xfrm>
          <a:off x="4643438" y="5643578"/>
          <a:ext cx="1857388" cy="928694"/>
        </p:xfrm>
        <a:graphic>
          <a:graphicData uri="http://schemas.openxmlformats.org/presentationml/2006/ole">
            <mc:AlternateContent xmlns:mc="http://schemas.openxmlformats.org/markup-compatibility/2006">
              <mc:Choice xmlns:v="urn:schemas-microsoft-com:vml" Requires="v">
                <p:oleObj name="Equation" r:id="rId4" imgW="787320" imgH="393480" progId="Equation.3">
                  <p:embed/>
                </p:oleObj>
              </mc:Choice>
              <mc:Fallback>
                <p:oleObj name="Equation" r:id="rId4" imgW="787320" imgH="393480" progId="Equation.3">
                  <p:embed/>
                  <p:pic>
                    <p:nvPicPr>
                      <p:cNvPr id="205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3438" y="5643578"/>
                        <a:ext cx="1857388" cy="928694"/>
                      </a:xfrm>
                      <a:prstGeom prst="rect">
                        <a:avLst/>
                      </a:prstGeom>
                      <a:solidFill>
                        <a:srgbClr val="C0C0C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2" name="Picture 2"/>
          <p:cNvPicPr>
            <a:picLocks noChangeAspect="1" noChangeArrowheads="1"/>
          </p:cNvPicPr>
          <p:nvPr/>
        </p:nvPicPr>
        <p:blipFill>
          <a:blip r:embed="rId6" cstate="print"/>
          <a:srcRect/>
          <a:stretch>
            <a:fillRect/>
          </a:stretch>
        </p:blipFill>
        <p:spPr bwMode="auto">
          <a:xfrm>
            <a:off x="1214414" y="3929066"/>
            <a:ext cx="1500198" cy="1943919"/>
          </a:xfrm>
          <a:prstGeom prst="rect">
            <a:avLst/>
          </a:prstGeom>
          <a:noFill/>
          <a:ln w="9525">
            <a:noFill/>
            <a:miter lim="800000"/>
            <a:headEnd/>
            <a:tailEnd/>
          </a:ln>
          <a:effectLst/>
        </p:spPr>
      </p:pic>
      <p:sp>
        <p:nvSpPr>
          <p:cNvPr id="13" name="Slide Number Placeholder 12"/>
          <p:cNvSpPr>
            <a:spLocks noGrp="1"/>
          </p:cNvSpPr>
          <p:nvPr>
            <p:ph type="sldNum" sz="quarter" idx="12"/>
          </p:nvPr>
        </p:nvSpPr>
        <p:spPr/>
        <p:txBody>
          <a:bodyPr/>
          <a:lstStyle/>
          <a:p>
            <a:fld id="{732390F0-1A5B-4A83-8CFF-11D9A59B5E92}" type="slidenum">
              <a:rPr lang="tr-TR" smtClean="0"/>
              <a:pPr/>
              <a:t>5</a:t>
            </a:fld>
            <a:endParaRPr lang="tr-TR"/>
          </a:p>
        </p:txBody>
      </p:sp>
      <p:sp>
        <p:nvSpPr>
          <p:cNvPr id="14" name="Footer Placeholder 13"/>
          <p:cNvSpPr>
            <a:spLocks noGrp="1"/>
          </p:cNvSpPr>
          <p:nvPr>
            <p:ph type="ftr" sz="quarter" idx="11"/>
          </p:nvPr>
        </p:nvSpPr>
        <p:spPr/>
        <p:txBody>
          <a:bodyPr/>
          <a:lstStyle/>
          <a:p>
            <a:r>
              <a:rPr lang="tr-TR"/>
              <a:t>Ali Muhtaroglu</a:t>
            </a:r>
          </a:p>
        </p:txBody>
      </p:sp>
    </p:spTree>
    <p:extLst>
      <p:ext uri="{BB962C8B-B14F-4D97-AF65-F5344CB8AC3E}">
        <p14:creationId xmlns:p14="http://schemas.microsoft.com/office/powerpoint/2010/main" val="1809718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a:xfrm>
            <a:off x="3143240" y="1071546"/>
            <a:ext cx="2898614" cy="369332"/>
          </a:xfrm>
          <a:prstGeom prst="rect">
            <a:avLst/>
          </a:prstGeom>
        </p:spPr>
        <p:txBody>
          <a:bodyPr wrap="none">
            <a:spAutoFit/>
          </a:bodyPr>
          <a:lstStyle/>
          <a:p>
            <a:r>
              <a:rPr lang="en-US" b="1" u="sng" dirty="0"/>
              <a:t>Terminal law for a capacitor:</a:t>
            </a:r>
            <a:endParaRPr lang="tr-TR" u="sng" dirty="0"/>
          </a:p>
        </p:txBody>
      </p:sp>
      <p:graphicFrame>
        <p:nvGraphicFramePr>
          <p:cNvPr id="3074" name="Object 2"/>
          <p:cNvGraphicFramePr>
            <a:graphicFrameLocks noChangeAspect="1"/>
          </p:cNvGraphicFramePr>
          <p:nvPr/>
        </p:nvGraphicFramePr>
        <p:xfrm>
          <a:off x="3786182" y="1500174"/>
          <a:ext cx="1571636" cy="785818"/>
        </p:xfrm>
        <a:graphic>
          <a:graphicData uri="http://schemas.openxmlformats.org/presentationml/2006/ole">
            <mc:AlternateContent xmlns:mc="http://schemas.openxmlformats.org/markup-compatibility/2006">
              <mc:Choice xmlns:v="urn:schemas-microsoft-com:vml" Requires="v">
                <p:oleObj name="Equation" r:id="rId2" imgW="787320" imgH="393480" progId="Equation.3">
                  <p:embed/>
                </p:oleObj>
              </mc:Choice>
              <mc:Fallback>
                <p:oleObj name="Equation" r:id="rId2" imgW="787320" imgH="39348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6182" y="1500174"/>
                        <a:ext cx="1571636" cy="785818"/>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8" name="Object 6"/>
          <p:cNvGraphicFramePr>
            <a:graphicFrameLocks noChangeAspect="1"/>
          </p:cNvGraphicFramePr>
          <p:nvPr>
            <p:extLst>
              <p:ext uri="{D42A27DB-BD31-4B8C-83A1-F6EECF244321}">
                <p14:modId xmlns:p14="http://schemas.microsoft.com/office/powerpoint/2010/main" val="2695305965"/>
              </p:ext>
            </p:extLst>
          </p:nvPr>
        </p:nvGraphicFramePr>
        <p:xfrm>
          <a:off x="1348075" y="5649516"/>
          <a:ext cx="7010139" cy="928694"/>
        </p:xfrm>
        <a:graphic>
          <a:graphicData uri="http://schemas.openxmlformats.org/presentationml/2006/ole">
            <mc:AlternateContent xmlns:mc="http://schemas.openxmlformats.org/markup-compatibility/2006">
              <mc:Choice xmlns:v="urn:schemas-microsoft-com:vml" Requires="v">
                <p:oleObj name="Equation" r:id="rId4" imgW="2971800" imgH="393480" progId="Equation.3">
                  <p:embed/>
                </p:oleObj>
              </mc:Choice>
              <mc:Fallback>
                <p:oleObj name="Equation" r:id="rId4" imgW="2971800" imgH="3934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8075" y="5649516"/>
                        <a:ext cx="7010139" cy="928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1 Başlık"/>
          <p:cNvSpPr>
            <a:spLocks noGrp="1"/>
          </p:cNvSpPr>
          <p:nvPr>
            <p:ph type="title"/>
          </p:nvPr>
        </p:nvSpPr>
        <p:spPr>
          <a:xfrm>
            <a:off x="500034" y="142852"/>
            <a:ext cx="6858048" cy="571504"/>
          </a:xfrm>
        </p:spPr>
        <p:txBody>
          <a:bodyPr>
            <a:normAutofit fontScale="90000"/>
          </a:bodyPr>
          <a:lstStyle/>
          <a:p>
            <a:r>
              <a:rPr lang="tr-TR" dirty="0" err="1"/>
              <a:t>Capacitor</a:t>
            </a:r>
            <a:endParaRPr lang="tr-TR" dirty="0"/>
          </a:p>
        </p:txBody>
      </p:sp>
      <p:sp>
        <p:nvSpPr>
          <p:cNvPr id="15" name="Slide Number Placeholder 14"/>
          <p:cNvSpPr>
            <a:spLocks noGrp="1"/>
          </p:cNvSpPr>
          <p:nvPr>
            <p:ph type="sldNum" sz="quarter" idx="12"/>
          </p:nvPr>
        </p:nvSpPr>
        <p:spPr/>
        <p:txBody>
          <a:bodyPr/>
          <a:lstStyle/>
          <a:p>
            <a:fld id="{732390F0-1A5B-4A83-8CFF-11D9A59B5E92}" type="slidenum">
              <a:rPr lang="tr-TR" smtClean="0"/>
              <a:pPr/>
              <a:t>6</a:t>
            </a:fld>
            <a:endParaRPr lang="tr-TR"/>
          </a:p>
        </p:txBody>
      </p:sp>
      <p:sp>
        <p:nvSpPr>
          <p:cNvPr id="17" name="Footer Placeholder 16"/>
          <p:cNvSpPr>
            <a:spLocks noGrp="1"/>
          </p:cNvSpPr>
          <p:nvPr>
            <p:ph type="ftr" sz="quarter" idx="11"/>
          </p:nvPr>
        </p:nvSpPr>
        <p:spPr/>
        <p:txBody>
          <a:bodyPr/>
          <a:lstStyle/>
          <a:p>
            <a:r>
              <a:rPr lang="tr-TR"/>
              <a:t>Ali Muhtaroglu</a:t>
            </a:r>
          </a:p>
        </p:txBody>
      </p:sp>
      <p:sp>
        <p:nvSpPr>
          <p:cNvPr id="18" name="Content Placeholder 2"/>
          <p:cNvSpPr>
            <a:spLocks noGrp="1"/>
          </p:cNvSpPr>
          <p:nvPr>
            <p:ph idx="1"/>
          </p:nvPr>
        </p:nvSpPr>
        <p:spPr>
          <a:xfrm>
            <a:off x="500034" y="2714620"/>
            <a:ext cx="8229600" cy="3095490"/>
          </a:xfrm>
        </p:spPr>
        <p:txBody>
          <a:bodyPr>
            <a:normAutofit/>
          </a:bodyPr>
          <a:lstStyle/>
          <a:p>
            <a:r>
              <a:rPr lang="en-US" sz="2000" dirty="0"/>
              <a:t>Note as the symbol implies, a capacitor behaves like an open circuit when voltage is constant (DC).</a:t>
            </a:r>
            <a:endParaRPr lang="tr-TR" sz="2000" dirty="0"/>
          </a:p>
          <a:p>
            <a:r>
              <a:rPr lang="en-US" sz="2000" dirty="0"/>
              <a:t>The only time there is current through a capacitor is when the voltage is changing (</a:t>
            </a:r>
            <a:r>
              <a:rPr lang="en-US" sz="2000" dirty="0" err="1"/>
              <a:t>dv</a:t>
            </a:r>
            <a:r>
              <a:rPr lang="en-US" sz="2000" dirty="0"/>
              <a:t>/</a:t>
            </a:r>
            <a:r>
              <a:rPr lang="en-US" sz="2000" dirty="0" err="1"/>
              <a:t>dt</a:t>
            </a:r>
            <a:r>
              <a:rPr lang="en-US" sz="2000" dirty="0"/>
              <a:t> ≠ 0).</a:t>
            </a:r>
            <a:endParaRPr lang="tr-TR" sz="2000" dirty="0"/>
          </a:p>
          <a:p>
            <a:r>
              <a:rPr lang="en-US" sz="2000" i="1" dirty="0"/>
              <a:t>Continuity Principle</a:t>
            </a:r>
            <a:r>
              <a:rPr lang="en-US" sz="2000" dirty="0"/>
              <a:t>: The voltage across a capacitor is always continuous. Total charge cannot change instantaneously</a:t>
            </a:r>
            <a:r>
              <a:rPr lang="tr-TR" sz="2000" dirty="0"/>
              <a:t> </a:t>
            </a:r>
            <a:r>
              <a:rPr lang="en-US" sz="2000" dirty="0"/>
              <a:t>[would require infinite current to change voltage instantaneously.]</a:t>
            </a:r>
            <a:endParaRPr lang="tr-TR" sz="2000" dirty="0"/>
          </a:p>
          <a:p>
            <a:r>
              <a:rPr lang="en-US" sz="2000" dirty="0"/>
              <a:t>Voltage in terms of current can be formulated by integrating both sides in the above equation:</a:t>
            </a:r>
            <a:endParaRPr lang="tr-TR" sz="2000" dirty="0"/>
          </a:p>
          <a:p>
            <a:endParaRPr lang="tr-TR" sz="2000" dirty="0"/>
          </a:p>
          <a:p>
            <a:endParaRPr lang="tr-TR" sz="2000" dirty="0"/>
          </a:p>
        </p:txBody>
      </p:sp>
      <p:pic>
        <p:nvPicPr>
          <p:cNvPr id="19" name="Picture 2"/>
          <p:cNvPicPr>
            <a:picLocks noChangeAspect="1" noChangeArrowheads="1"/>
          </p:cNvPicPr>
          <p:nvPr/>
        </p:nvPicPr>
        <p:blipFill>
          <a:blip r:embed="rId6" cstate="print"/>
          <a:srcRect/>
          <a:stretch>
            <a:fillRect/>
          </a:stretch>
        </p:blipFill>
        <p:spPr bwMode="auto">
          <a:xfrm>
            <a:off x="785786" y="699263"/>
            <a:ext cx="1500198" cy="1943919"/>
          </a:xfrm>
          <a:prstGeom prst="rect">
            <a:avLst/>
          </a:prstGeom>
          <a:noFill/>
          <a:ln w="9525">
            <a:noFill/>
            <a:miter lim="800000"/>
            <a:headEnd/>
            <a:tailEnd/>
          </a:ln>
          <a:effectLst/>
        </p:spPr>
      </p:pic>
    </p:spTree>
    <p:extLst>
      <p:ext uri="{BB962C8B-B14F-4D97-AF65-F5344CB8AC3E}">
        <p14:creationId xmlns:p14="http://schemas.microsoft.com/office/powerpoint/2010/main" val="4154884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1214414" y="142852"/>
            <a:ext cx="6000792" cy="428628"/>
          </a:xfrm>
        </p:spPr>
        <p:txBody>
          <a:bodyPr>
            <a:noAutofit/>
          </a:bodyPr>
          <a:lstStyle/>
          <a:p>
            <a:pPr algn="l"/>
            <a:r>
              <a:rPr lang="tr-TR" sz="3200" dirty="0"/>
              <a:t>   Capacitor Power and Energy</a:t>
            </a:r>
          </a:p>
        </p:txBody>
      </p:sp>
      <p:sp>
        <p:nvSpPr>
          <p:cNvPr id="6" name="5 Dikdörtgen"/>
          <p:cNvSpPr/>
          <p:nvPr/>
        </p:nvSpPr>
        <p:spPr>
          <a:xfrm>
            <a:off x="2786050" y="857232"/>
            <a:ext cx="4690964" cy="400110"/>
          </a:xfrm>
          <a:prstGeom prst="rect">
            <a:avLst/>
          </a:prstGeom>
        </p:spPr>
        <p:txBody>
          <a:bodyPr wrap="none">
            <a:spAutoFit/>
          </a:bodyPr>
          <a:lstStyle/>
          <a:p>
            <a:r>
              <a:rPr lang="en-US" sz="2000" dirty="0"/>
              <a:t>Using the definition of power, if </a:t>
            </a:r>
            <a:r>
              <a:rPr lang="en-US" sz="2000" b="1" i="1" dirty="0"/>
              <a:t>v</a:t>
            </a:r>
            <a:r>
              <a:rPr lang="en-US" sz="2000" i="1" dirty="0"/>
              <a:t> </a:t>
            </a:r>
            <a:r>
              <a:rPr lang="en-US" sz="2000" dirty="0"/>
              <a:t>is known:</a:t>
            </a:r>
            <a:endParaRPr lang="tr-TR" sz="2000" dirty="0"/>
          </a:p>
        </p:txBody>
      </p:sp>
      <p:graphicFrame>
        <p:nvGraphicFramePr>
          <p:cNvPr id="4099" name="Object 3"/>
          <p:cNvGraphicFramePr>
            <a:graphicFrameLocks noChangeAspect="1"/>
          </p:cNvGraphicFramePr>
          <p:nvPr/>
        </p:nvGraphicFramePr>
        <p:xfrm>
          <a:off x="2928926" y="1285860"/>
          <a:ext cx="3357586" cy="712912"/>
        </p:xfrm>
        <a:graphic>
          <a:graphicData uri="http://schemas.openxmlformats.org/presentationml/2006/ole">
            <mc:AlternateContent xmlns:mc="http://schemas.openxmlformats.org/markup-compatibility/2006">
              <mc:Choice xmlns:v="urn:schemas-microsoft-com:vml" Requires="v">
                <p:oleObj name="Equation" r:id="rId2" imgW="1854000" imgH="393480" progId="Equation.3">
                  <p:embed/>
                </p:oleObj>
              </mc:Choice>
              <mc:Fallback>
                <p:oleObj name="Equation" r:id="rId2" imgW="1854000" imgH="39348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926" y="1285860"/>
                        <a:ext cx="3357586" cy="71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9 Dikdörtgen"/>
          <p:cNvSpPr/>
          <p:nvPr/>
        </p:nvSpPr>
        <p:spPr>
          <a:xfrm>
            <a:off x="2857488" y="2000240"/>
            <a:ext cx="2883353" cy="400110"/>
          </a:xfrm>
          <a:prstGeom prst="rect">
            <a:avLst/>
          </a:prstGeom>
        </p:spPr>
        <p:txBody>
          <a:bodyPr wrap="none">
            <a:spAutoFit/>
          </a:bodyPr>
          <a:lstStyle/>
          <a:p>
            <a:r>
              <a:rPr lang="en-US" sz="2000" dirty="0"/>
              <a:t>Alternatively if </a:t>
            </a:r>
            <a:r>
              <a:rPr lang="en-US" sz="2000" b="1" i="1" dirty="0" err="1"/>
              <a:t>i</a:t>
            </a:r>
            <a:r>
              <a:rPr lang="en-US" sz="2000" b="1" i="1" dirty="0"/>
              <a:t> </a:t>
            </a:r>
            <a:r>
              <a:rPr lang="en-US" sz="2000" dirty="0"/>
              <a:t>is known</a:t>
            </a:r>
            <a:r>
              <a:rPr lang="en-US" dirty="0"/>
              <a:t>,</a:t>
            </a:r>
            <a:endParaRPr lang="tr-TR" dirty="0"/>
          </a:p>
        </p:txBody>
      </p:sp>
      <p:graphicFrame>
        <p:nvGraphicFramePr>
          <p:cNvPr id="4102" name="Object 6"/>
          <p:cNvGraphicFramePr>
            <a:graphicFrameLocks noChangeAspect="1"/>
          </p:cNvGraphicFramePr>
          <p:nvPr/>
        </p:nvGraphicFramePr>
        <p:xfrm>
          <a:off x="2846388" y="2498724"/>
          <a:ext cx="3427412" cy="787400"/>
        </p:xfrm>
        <a:graphic>
          <a:graphicData uri="http://schemas.openxmlformats.org/presentationml/2006/ole">
            <mc:AlternateContent xmlns:mc="http://schemas.openxmlformats.org/markup-compatibility/2006">
              <mc:Choice xmlns:v="urn:schemas-microsoft-com:vml" Requires="v">
                <p:oleObj name="Equation" r:id="rId4" imgW="1879560" imgH="431640" progId="Equation.3">
                  <p:embed/>
                </p:oleObj>
              </mc:Choice>
              <mc:Fallback>
                <p:oleObj name="Equation" r:id="rId4" imgW="1879560" imgH="431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6388" y="2498724"/>
                        <a:ext cx="3427412"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13 Dikdörtgen"/>
          <p:cNvSpPr/>
          <p:nvPr/>
        </p:nvSpPr>
        <p:spPr>
          <a:xfrm>
            <a:off x="785786" y="3643314"/>
            <a:ext cx="7143800" cy="400110"/>
          </a:xfrm>
          <a:prstGeom prst="rect">
            <a:avLst/>
          </a:prstGeom>
        </p:spPr>
        <p:txBody>
          <a:bodyPr wrap="square">
            <a:spAutoFit/>
          </a:bodyPr>
          <a:lstStyle/>
          <a:p>
            <a:r>
              <a:rPr lang="en-US" sz="2000" dirty="0"/>
              <a:t>Using the relationship of energy (work) with power:</a:t>
            </a:r>
            <a:endParaRPr lang="tr-TR" sz="2000" dirty="0"/>
          </a:p>
        </p:txBody>
      </p:sp>
      <p:graphicFrame>
        <p:nvGraphicFramePr>
          <p:cNvPr id="4104" name="Object 8"/>
          <p:cNvGraphicFramePr>
            <a:graphicFrameLocks noChangeAspect="1"/>
          </p:cNvGraphicFramePr>
          <p:nvPr/>
        </p:nvGraphicFramePr>
        <p:xfrm>
          <a:off x="1142976" y="4071942"/>
          <a:ext cx="5323283" cy="785818"/>
        </p:xfrm>
        <a:graphic>
          <a:graphicData uri="http://schemas.openxmlformats.org/presentationml/2006/ole">
            <mc:AlternateContent xmlns:mc="http://schemas.openxmlformats.org/markup-compatibility/2006">
              <mc:Choice xmlns:v="urn:schemas-microsoft-com:vml" Requires="v">
                <p:oleObj name="Equation" r:id="rId6" imgW="2666880" imgH="393480" progId="Equation.3">
                  <p:embed/>
                </p:oleObj>
              </mc:Choice>
              <mc:Fallback>
                <p:oleObj name="Equation" r:id="rId6" imgW="2666880" imgH="3934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2976" y="4071942"/>
                        <a:ext cx="5323283" cy="785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16 Dikdörtgen"/>
          <p:cNvSpPr/>
          <p:nvPr/>
        </p:nvSpPr>
        <p:spPr>
          <a:xfrm>
            <a:off x="831192" y="5072074"/>
            <a:ext cx="3955122" cy="400110"/>
          </a:xfrm>
          <a:prstGeom prst="rect">
            <a:avLst/>
          </a:prstGeom>
        </p:spPr>
        <p:txBody>
          <a:bodyPr wrap="none">
            <a:spAutoFit/>
          </a:bodyPr>
          <a:lstStyle/>
          <a:p>
            <a:r>
              <a:rPr lang="en-US" sz="2000" dirty="0"/>
              <a:t>Integrating both sides to get energy:</a:t>
            </a:r>
            <a:endParaRPr lang="tr-TR" sz="2000" dirty="0"/>
          </a:p>
        </p:txBody>
      </p:sp>
      <p:graphicFrame>
        <p:nvGraphicFramePr>
          <p:cNvPr id="18" name="17 Nesne"/>
          <p:cNvGraphicFramePr>
            <a:graphicFrameLocks noChangeAspect="1"/>
          </p:cNvGraphicFramePr>
          <p:nvPr/>
        </p:nvGraphicFramePr>
        <p:xfrm>
          <a:off x="4114800" y="2892422"/>
          <a:ext cx="914400" cy="215900"/>
        </p:xfrm>
        <a:graphic>
          <a:graphicData uri="http://schemas.openxmlformats.org/presentationml/2006/ole">
            <mc:AlternateContent xmlns:mc="http://schemas.openxmlformats.org/markup-compatibility/2006">
              <mc:Choice xmlns:v="urn:schemas-microsoft-com:vml" Requires="v">
                <p:oleObj name="Equation" r:id="rId8" imgW="914400" imgH="215640" progId="Equation.3">
                  <p:embed/>
                </p:oleObj>
              </mc:Choice>
              <mc:Fallback>
                <p:oleObj name="Equation" r:id="rId8" imgW="914400" imgH="2156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14800" y="2892422"/>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6" name="Object 10"/>
          <p:cNvGraphicFramePr>
            <a:graphicFrameLocks noChangeAspect="1"/>
          </p:cNvGraphicFramePr>
          <p:nvPr/>
        </p:nvGraphicFramePr>
        <p:xfrm>
          <a:off x="1500166" y="5572140"/>
          <a:ext cx="1643074" cy="797248"/>
        </p:xfrm>
        <a:graphic>
          <a:graphicData uri="http://schemas.openxmlformats.org/presentationml/2006/ole">
            <mc:AlternateContent xmlns:mc="http://schemas.openxmlformats.org/markup-compatibility/2006">
              <mc:Choice xmlns:v="urn:schemas-microsoft-com:vml" Requires="v">
                <p:oleObj name="Equation" r:id="rId10" imgW="634680" imgH="393480" progId="Equation.3">
                  <p:embed/>
                </p:oleObj>
              </mc:Choice>
              <mc:Fallback>
                <p:oleObj name="Equation" r:id="rId10" imgW="634680" imgH="39348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00166" y="5572140"/>
                        <a:ext cx="1643074" cy="797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19 Dikdörtgen"/>
          <p:cNvSpPr/>
          <p:nvPr/>
        </p:nvSpPr>
        <p:spPr>
          <a:xfrm>
            <a:off x="3571868" y="5572140"/>
            <a:ext cx="4572000" cy="646331"/>
          </a:xfrm>
          <a:prstGeom prst="rect">
            <a:avLst/>
          </a:prstGeom>
        </p:spPr>
        <p:txBody>
          <a:bodyPr>
            <a:spAutoFit/>
          </a:bodyPr>
          <a:lstStyle/>
          <a:p>
            <a:r>
              <a:rPr lang="en-US" dirty="0"/>
              <a:t>[The integration assumes a reference of</a:t>
            </a:r>
          </a:p>
          <a:p>
            <a:r>
              <a:rPr lang="pt-BR" dirty="0"/>
              <a:t>zero energy at zero voltage.]</a:t>
            </a:r>
            <a:endParaRPr lang="tr-TR" dirty="0"/>
          </a:p>
        </p:txBody>
      </p:sp>
      <p:sp>
        <p:nvSpPr>
          <p:cNvPr id="16" name="Slide Number Placeholder 15"/>
          <p:cNvSpPr>
            <a:spLocks noGrp="1"/>
          </p:cNvSpPr>
          <p:nvPr>
            <p:ph type="sldNum" sz="quarter" idx="12"/>
          </p:nvPr>
        </p:nvSpPr>
        <p:spPr/>
        <p:txBody>
          <a:bodyPr/>
          <a:lstStyle/>
          <a:p>
            <a:fld id="{732390F0-1A5B-4A83-8CFF-11D9A59B5E92}" type="slidenum">
              <a:rPr lang="tr-TR" smtClean="0"/>
              <a:pPr/>
              <a:t>7</a:t>
            </a:fld>
            <a:endParaRPr lang="tr-TR"/>
          </a:p>
        </p:txBody>
      </p:sp>
      <p:sp>
        <p:nvSpPr>
          <p:cNvPr id="19" name="Footer Placeholder 18"/>
          <p:cNvSpPr>
            <a:spLocks noGrp="1"/>
          </p:cNvSpPr>
          <p:nvPr>
            <p:ph type="ftr" sz="quarter" idx="11"/>
          </p:nvPr>
        </p:nvSpPr>
        <p:spPr/>
        <p:txBody>
          <a:bodyPr/>
          <a:lstStyle/>
          <a:p>
            <a:r>
              <a:rPr lang="tr-TR"/>
              <a:t>Ali Muhtaroglu</a:t>
            </a:r>
          </a:p>
        </p:txBody>
      </p:sp>
      <p:pic>
        <p:nvPicPr>
          <p:cNvPr id="22" name="Picture 2"/>
          <p:cNvPicPr>
            <a:picLocks noChangeAspect="1" noChangeArrowheads="1"/>
          </p:cNvPicPr>
          <p:nvPr/>
        </p:nvPicPr>
        <p:blipFill>
          <a:blip r:embed="rId12" cstate="print"/>
          <a:srcRect/>
          <a:stretch>
            <a:fillRect/>
          </a:stretch>
        </p:blipFill>
        <p:spPr bwMode="auto">
          <a:xfrm>
            <a:off x="785786" y="699263"/>
            <a:ext cx="1500198" cy="1943919"/>
          </a:xfrm>
          <a:prstGeom prst="rect">
            <a:avLst/>
          </a:prstGeom>
          <a:noFill/>
          <a:ln w="9525">
            <a:noFill/>
            <a:miter lim="800000"/>
            <a:headEnd/>
            <a:tailEnd/>
          </a:ln>
          <a:effectLst/>
        </p:spPr>
      </p:pic>
    </p:spTree>
    <p:extLst>
      <p:ext uri="{BB962C8B-B14F-4D97-AF65-F5344CB8AC3E}">
        <p14:creationId xmlns:p14="http://schemas.microsoft.com/office/powerpoint/2010/main" val="1100394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785786" y="71422"/>
            <a:ext cx="7729534" cy="714372"/>
          </a:xfrm>
        </p:spPr>
        <p:txBody>
          <a:bodyPr>
            <a:normAutofit/>
          </a:bodyPr>
          <a:lstStyle/>
          <a:p>
            <a:pPr algn="l"/>
            <a:r>
              <a:rPr lang="tr-TR" sz="3200" dirty="0"/>
              <a:t>   </a:t>
            </a:r>
            <a:r>
              <a:rPr lang="tr-TR" sz="3200" dirty="0" err="1"/>
              <a:t>Example</a:t>
            </a:r>
            <a:r>
              <a:rPr lang="tr-TR" sz="3200" dirty="0"/>
              <a:t> (Johnson &amp; Johnson)</a:t>
            </a:r>
          </a:p>
        </p:txBody>
      </p:sp>
      <p:sp>
        <p:nvSpPr>
          <p:cNvPr id="6" name="5 Dikdörtgen"/>
          <p:cNvSpPr/>
          <p:nvPr/>
        </p:nvSpPr>
        <p:spPr>
          <a:xfrm>
            <a:off x="1000100" y="928670"/>
            <a:ext cx="7429552" cy="830997"/>
          </a:xfrm>
          <a:prstGeom prst="rect">
            <a:avLst/>
          </a:prstGeom>
        </p:spPr>
        <p:txBody>
          <a:bodyPr wrap="square">
            <a:spAutoFit/>
          </a:bodyPr>
          <a:lstStyle/>
          <a:p>
            <a:r>
              <a:rPr lang="en-US" sz="2400" dirty="0"/>
              <a:t>A 0.2 </a:t>
            </a:r>
            <a:r>
              <a:rPr lang="en-US" sz="2400" dirty="0" err="1"/>
              <a:t>μF</a:t>
            </a:r>
            <a:r>
              <a:rPr lang="en-US" sz="2400" dirty="0"/>
              <a:t> capacitor has a charge of 20 </a:t>
            </a:r>
            <a:r>
              <a:rPr lang="en-US" sz="2400" dirty="0" err="1"/>
              <a:t>μC</a:t>
            </a:r>
            <a:r>
              <a:rPr lang="en-US" sz="2400" dirty="0"/>
              <a:t>. </a:t>
            </a:r>
          </a:p>
          <a:p>
            <a:r>
              <a:rPr lang="en-US" sz="2400" dirty="0"/>
              <a:t>Find its voltage and energy.</a:t>
            </a:r>
            <a:endParaRPr lang="tr-TR" sz="2400" dirty="0"/>
          </a:p>
        </p:txBody>
      </p:sp>
      <p:sp>
        <p:nvSpPr>
          <p:cNvPr id="9" name="Slide Number Placeholder 8"/>
          <p:cNvSpPr>
            <a:spLocks noGrp="1"/>
          </p:cNvSpPr>
          <p:nvPr>
            <p:ph type="sldNum" sz="quarter" idx="12"/>
          </p:nvPr>
        </p:nvSpPr>
        <p:spPr/>
        <p:txBody>
          <a:bodyPr/>
          <a:lstStyle/>
          <a:p>
            <a:fld id="{732390F0-1A5B-4A83-8CFF-11D9A59B5E92}" type="slidenum">
              <a:rPr lang="tr-TR" smtClean="0"/>
              <a:pPr/>
              <a:t>8</a:t>
            </a:fld>
            <a:endParaRPr lang="tr-TR"/>
          </a:p>
        </p:txBody>
      </p:sp>
      <p:sp>
        <p:nvSpPr>
          <p:cNvPr id="10" name="Footer Placeholder 9"/>
          <p:cNvSpPr>
            <a:spLocks noGrp="1"/>
          </p:cNvSpPr>
          <p:nvPr>
            <p:ph type="ftr" sz="quarter" idx="11"/>
          </p:nvPr>
        </p:nvSpPr>
        <p:spPr/>
        <p:txBody>
          <a:bodyPr/>
          <a:lstStyle/>
          <a:p>
            <a:r>
              <a:rPr lang="tr-TR"/>
              <a:t>Ali Muhtaroglu</a:t>
            </a:r>
          </a:p>
        </p:txBody>
      </p:sp>
    </p:spTree>
    <p:extLst>
      <p:ext uri="{BB962C8B-B14F-4D97-AF65-F5344CB8AC3E}">
        <p14:creationId xmlns:p14="http://schemas.microsoft.com/office/powerpoint/2010/main" val="2953443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785786" y="71422"/>
            <a:ext cx="7729534" cy="714372"/>
          </a:xfrm>
        </p:spPr>
        <p:txBody>
          <a:bodyPr>
            <a:normAutofit/>
          </a:bodyPr>
          <a:lstStyle/>
          <a:p>
            <a:pPr algn="l"/>
            <a:r>
              <a:rPr lang="tr-TR" sz="3200" dirty="0"/>
              <a:t>   </a:t>
            </a:r>
            <a:r>
              <a:rPr lang="tr-TR" sz="3200" dirty="0" err="1"/>
              <a:t>Example</a:t>
            </a:r>
            <a:r>
              <a:rPr lang="tr-TR" sz="3200" dirty="0"/>
              <a:t> (Johnson &amp; Johnson)</a:t>
            </a:r>
          </a:p>
        </p:txBody>
      </p:sp>
      <p:sp>
        <p:nvSpPr>
          <p:cNvPr id="6" name="5 Dikdörtgen"/>
          <p:cNvSpPr/>
          <p:nvPr/>
        </p:nvSpPr>
        <p:spPr>
          <a:xfrm>
            <a:off x="1000100" y="928670"/>
            <a:ext cx="7429552" cy="830997"/>
          </a:xfrm>
          <a:prstGeom prst="rect">
            <a:avLst/>
          </a:prstGeom>
        </p:spPr>
        <p:txBody>
          <a:bodyPr wrap="square">
            <a:spAutoFit/>
          </a:bodyPr>
          <a:lstStyle/>
          <a:p>
            <a:r>
              <a:rPr lang="en-US" sz="2400" dirty="0"/>
              <a:t>A 0.2 </a:t>
            </a:r>
            <a:r>
              <a:rPr lang="en-US" sz="2400" dirty="0" err="1"/>
              <a:t>μF</a:t>
            </a:r>
            <a:r>
              <a:rPr lang="en-US" sz="2400" dirty="0"/>
              <a:t> capacitor has a charge of 20 </a:t>
            </a:r>
            <a:r>
              <a:rPr lang="en-US" sz="2400" dirty="0" err="1"/>
              <a:t>μC</a:t>
            </a:r>
            <a:r>
              <a:rPr lang="en-US" sz="2400" dirty="0"/>
              <a:t>. </a:t>
            </a:r>
          </a:p>
          <a:p>
            <a:r>
              <a:rPr lang="en-US" sz="2400" dirty="0"/>
              <a:t>Find its voltage and energy.</a:t>
            </a:r>
            <a:endParaRPr lang="tr-TR" sz="2400" dirty="0"/>
          </a:p>
        </p:txBody>
      </p:sp>
      <p:graphicFrame>
        <p:nvGraphicFramePr>
          <p:cNvPr id="7" name="6 Nesne"/>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2" imgW="914400" imgH="215640" progId="Equation.3">
                  <p:embed/>
                </p:oleObj>
              </mc:Choice>
              <mc:Fallback>
                <p:oleObj name="Equation" r:id="rId2" imgW="914400" imgH="215640" progId="Equation.3">
                  <p:embed/>
                  <p:pic>
                    <p:nvPicPr>
                      <p:cNvPr id="7" name="6 Nes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3" name="Object 3"/>
          <p:cNvGraphicFramePr>
            <a:graphicFrameLocks noChangeAspect="1"/>
          </p:cNvGraphicFramePr>
          <p:nvPr/>
        </p:nvGraphicFramePr>
        <p:xfrm>
          <a:off x="2000232" y="2643182"/>
          <a:ext cx="3857652" cy="905964"/>
        </p:xfrm>
        <a:graphic>
          <a:graphicData uri="http://schemas.openxmlformats.org/presentationml/2006/ole">
            <mc:AlternateContent xmlns:mc="http://schemas.openxmlformats.org/markup-compatibility/2006">
              <mc:Choice xmlns:v="urn:schemas-microsoft-com:vml" Requires="v">
                <p:oleObj name="Equation" r:id="rId4" imgW="1676160" imgH="393480" progId="Equation.3">
                  <p:embed/>
                </p:oleObj>
              </mc:Choice>
              <mc:Fallback>
                <p:oleObj name="Equation" r:id="rId4" imgW="1676160" imgH="393480" progId="Equation.3">
                  <p:embed/>
                  <p:pic>
                    <p:nvPicPr>
                      <p:cNvPr id="5123"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00232" y="2643182"/>
                        <a:ext cx="3857652" cy="90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4" name="Object 4"/>
          <p:cNvGraphicFramePr>
            <a:graphicFrameLocks noChangeAspect="1"/>
          </p:cNvGraphicFramePr>
          <p:nvPr/>
        </p:nvGraphicFramePr>
        <p:xfrm>
          <a:off x="1428728" y="3857628"/>
          <a:ext cx="5637108" cy="1000132"/>
        </p:xfrm>
        <a:graphic>
          <a:graphicData uri="http://schemas.openxmlformats.org/presentationml/2006/ole">
            <mc:AlternateContent xmlns:mc="http://schemas.openxmlformats.org/markup-compatibility/2006">
              <mc:Choice xmlns:v="urn:schemas-microsoft-com:vml" Requires="v">
                <p:oleObj name="Equation" r:id="rId6" imgW="2361960" imgH="419040" progId="Equation.3">
                  <p:embed/>
                </p:oleObj>
              </mc:Choice>
              <mc:Fallback>
                <p:oleObj name="Equation" r:id="rId6" imgW="2361960" imgH="419040" progId="Equation.3">
                  <p:embed/>
                  <p:pic>
                    <p:nvPicPr>
                      <p:cNvPr id="5124"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8728" y="3857628"/>
                        <a:ext cx="5637108" cy="1000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Slide Number Placeholder 8"/>
          <p:cNvSpPr>
            <a:spLocks noGrp="1"/>
          </p:cNvSpPr>
          <p:nvPr>
            <p:ph type="sldNum" sz="quarter" idx="12"/>
          </p:nvPr>
        </p:nvSpPr>
        <p:spPr/>
        <p:txBody>
          <a:bodyPr/>
          <a:lstStyle/>
          <a:p>
            <a:fld id="{732390F0-1A5B-4A83-8CFF-11D9A59B5E92}" type="slidenum">
              <a:rPr lang="tr-TR" smtClean="0"/>
              <a:pPr/>
              <a:t>9</a:t>
            </a:fld>
            <a:endParaRPr lang="tr-TR"/>
          </a:p>
        </p:txBody>
      </p:sp>
      <p:sp>
        <p:nvSpPr>
          <p:cNvPr id="10" name="Footer Placeholder 9"/>
          <p:cNvSpPr>
            <a:spLocks noGrp="1"/>
          </p:cNvSpPr>
          <p:nvPr>
            <p:ph type="ftr" sz="quarter" idx="11"/>
          </p:nvPr>
        </p:nvSpPr>
        <p:spPr/>
        <p:txBody>
          <a:bodyPr/>
          <a:lstStyle/>
          <a:p>
            <a:r>
              <a:rPr lang="tr-TR"/>
              <a:t>Ali Muhtaroglu</a:t>
            </a:r>
          </a:p>
        </p:txBody>
      </p:sp>
    </p:spTree>
    <p:extLst>
      <p:ext uri="{BB962C8B-B14F-4D97-AF65-F5344CB8AC3E}">
        <p14:creationId xmlns:p14="http://schemas.microsoft.com/office/powerpoint/2010/main" val="3309535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a:xfrm>
            <a:off x="357158" y="2631040"/>
            <a:ext cx="8572560" cy="369332"/>
          </a:xfrm>
          <a:prstGeom prst="rect">
            <a:avLst/>
          </a:prstGeom>
        </p:spPr>
        <p:txBody>
          <a:bodyPr wrap="square">
            <a:spAutoFit/>
          </a:bodyPr>
          <a:lstStyle/>
          <a:p>
            <a:r>
              <a:rPr lang="en-US" b="1" i="1" dirty="0" err="1"/>
              <a:t>i</a:t>
            </a:r>
            <a:r>
              <a:rPr lang="en-US" b="1" i="1" dirty="0"/>
              <a:t>) Derive the capacitor current, power and energy. Sketch all as a function of time.</a:t>
            </a:r>
            <a:endParaRPr lang="tr-TR" b="1" i="1" dirty="0"/>
          </a:p>
        </p:txBody>
      </p:sp>
      <p:graphicFrame>
        <p:nvGraphicFramePr>
          <p:cNvPr id="12" name="11 Nesne"/>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2" imgW="914400" imgH="215640" progId="Equation.3">
                  <p:embed/>
                </p:oleObj>
              </mc:Choice>
              <mc:Fallback>
                <p:oleObj name="Equation" r:id="rId2" imgW="914400" imgH="215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Slide Number Placeholder 12"/>
          <p:cNvSpPr>
            <a:spLocks noGrp="1"/>
          </p:cNvSpPr>
          <p:nvPr>
            <p:ph type="sldNum" sz="quarter" idx="12"/>
          </p:nvPr>
        </p:nvSpPr>
        <p:spPr/>
        <p:txBody>
          <a:bodyPr/>
          <a:lstStyle/>
          <a:p>
            <a:fld id="{732390F0-1A5B-4A83-8CFF-11D9A59B5E92}" type="slidenum">
              <a:rPr lang="tr-TR" smtClean="0"/>
              <a:pPr/>
              <a:t>10</a:t>
            </a:fld>
            <a:endParaRPr lang="tr-TR"/>
          </a:p>
        </p:txBody>
      </p:sp>
      <p:sp>
        <p:nvSpPr>
          <p:cNvPr id="14" name="Footer Placeholder 13"/>
          <p:cNvSpPr>
            <a:spLocks noGrp="1"/>
          </p:cNvSpPr>
          <p:nvPr>
            <p:ph type="ftr" sz="quarter" idx="11"/>
          </p:nvPr>
        </p:nvSpPr>
        <p:spPr/>
        <p:txBody>
          <a:bodyPr/>
          <a:lstStyle/>
          <a:p>
            <a:r>
              <a:rPr lang="tr-TR"/>
              <a:t>Ali Muhtaroglu</a:t>
            </a:r>
          </a:p>
        </p:txBody>
      </p:sp>
      <p:sp>
        <p:nvSpPr>
          <p:cNvPr id="16" name="1 Başlık"/>
          <p:cNvSpPr txBox="1">
            <a:spLocks/>
          </p:cNvSpPr>
          <p:nvPr/>
        </p:nvSpPr>
        <p:spPr>
          <a:xfrm>
            <a:off x="142844" y="71414"/>
            <a:ext cx="7000924" cy="571504"/>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3200" b="0" i="0" u="none" strike="noStrike" kern="1200" cap="none" spc="0" normalizeH="0" baseline="0" noProof="0" dirty="0" err="1">
                <a:ln>
                  <a:noFill/>
                </a:ln>
                <a:solidFill>
                  <a:schemeClr val="tx1"/>
                </a:solidFill>
                <a:effectLst/>
                <a:uLnTx/>
                <a:uFillTx/>
                <a:latin typeface="+mj-lt"/>
                <a:ea typeface="+mj-ea"/>
                <a:cs typeface="+mj-cs"/>
              </a:rPr>
              <a:t>Example</a:t>
            </a:r>
            <a:r>
              <a:rPr kumimoji="0" lang="tr-TR" sz="3200" b="0" i="0" u="none" strike="noStrike" kern="1200" cap="none" spc="0" normalizeH="0" baseline="0" noProof="0" dirty="0">
                <a:ln>
                  <a:noFill/>
                </a:ln>
                <a:solidFill>
                  <a:schemeClr val="tx1"/>
                </a:solidFill>
                <a:effectLst/>
                <a:uLnTx/>
                <a:uFillTx/>
                <a:latin typeface="+mj-lt"/>
                <a:ea typeface="+mj-ea"/>
                <a:cs typeface="+mj-cs"/>
              </a:rPr>
              <a:t> (</a:t>
            </a:r>
            <a:r>
              <a:rPr kumimoji="0" lang="tr-TR" sz="3200" b="0" i="0" u="none" strike="noStrike" kern="1200" cap="none" spc="0" normalizeH="0" baseline="0" noProof="0" dirty="0" err="1">
                <a:ln>
                  <a:noFill/>
                </a:ln>
                <a:solidFill>
                  <a:schemeClr val="tx1"/>
                </a:solidFill>
                <a:effectLst/>
                <a:uLnTx/>
                <a:uFillTx/>
                <a:latin typeface="+mj-lt"/>
                <a:ea typeface="+mj-ea"/>
                <a:cs typeface="+mj-cs"/>
              </a:rPr>
              <a:t>Nilsson</a:t>
            </a:r>
            <a:r>
              <a:rPr kumimoji="0" lang="tr-TR" sz="3200" b="0" i="0" u="none" strike="noStrike" kern="1200" cap="none" spc="0" normalizeH="0" baseline="0" noProof="0" dirty="0">
                <a:ln>
                  <a:noFill/>
                </a:ln>
                <a:solidFill>
                  <a:schemeClr val="tx1"/>
                </a:solidFill>
                <a:effectLst/>
                <a:uLnTx/>
                <a:uFillTx/>
                <a:latin typeface="+mj-lt"/>
                <a:ea typeface="+mj-ea"/>
                <a:cs typeface="+mj-cs"/>
              </a:rPr>
              <a:t> &amp; </a:t>
            </a:r>
            <a:r>
              <a:rPr kumimoji="0" lang="tr-TR" sz="3200" b="0" i="0" u="none" strike="noStrike" kern="1200" cap="none" spc="0" normalizeH="0" baseline="0" noProof="0" dirty="0" err="1">
                <a:ln>
                  <a:noFill/>
                </a:ln>
                <a:solidFill>
                  <a:schemeClr val="tx1"/>
                </a:solidFill>
                <a:effectLst/>
                <a:uLnTx/>
                <a:uFillTx/>
                <a:latin typeface="+mj-lt"/>
                <a:ea typeface="+mj-ea"/>
                <a:cs typeface="+mj-cs"/>
              </a:rPr>
              <a:t>Riedel</a:t>
            </a:r>
            <a:r>
              <a:rPr kumimoji="0" lang="tr-TR" sz="3200" b="0" i="0" u="none" strike="noStrike" kern="1200" cap="none" spc="0" normalizeH="0" baseline="0" noProof="0" dirty="0">
                <a:ln>
                  <a:noFill/>
                </a:ln>
                <a:solidFill>
                  <a:schemeClr val="tx1"/>
                </a:solidFill>
                <a:effectLst/>
                <a:uLnTx/>
                <a:uFillTx/>
                <a:latin typeface="+mj-lt"/>
                <a:ea typeface="+mj-ea"/>
                <a:cs typeface="+mj-cs"/>
              </a:rPr>
              <a:t>)</a:t>
            </a:r>
          </a:p>
        </p:txBody>
      </p:sp>
      <p:sp>
        <p:nvSpPr>
          <p:cNvPr id="17" name="6 Dikdörtgen"/>
          <p:cNvSpPr/>
          <p:nvPr/>
        </p:nvSpPr>
        <p:spPr>
          <a:xfrm>
            <a:off x="285720" y="714356"/>
            <a:ext cx="8572560" cy="707886"/>
          </a:xfrm>
          <a:prstGeom prst="rect">
            <a:avLst/>
          </a:prstGeom>
        </p:spPr>
        <p:txBody>
          <a:bodyPr wrap="square">
            <a:spAutoFit/>
          </a:bodyPr>
          <a:lstStyle/>
          <a:p>
            <a:r>
              <a:rPr lang="en-US" sz="2000" dirty="0"/>
              <a:t>The voltage pulse described by the following equations is impressed across the terminals of a 0.5 </a:t>
            </a:r>
            <a:r>
              <a:rPr lang="en-US" sz="2000" dirty="0" err="1"/>
              <a:t>μF</a:t>
            </a:r>
            <a:r>
              <a:rPr lang="en-US" sz="2000" dirty="0"/>
              <a:t> capacitor:</a:t>
            </a:r>
            <a:endParaRPr lang="tr-TR" sz="2000" dirty="0"/>
          </a:p>
        </p:txBody>
      </p:sp>
      <p:graphicFrame>
        <p:nvGraphicFramePr>
          <p:cNvPr id="59398" name="Object 6"/>
          <p:cNvGraphicFramePr>
            <a:graphicFrameLocks noChangeAspect="1"/>
          </p:cNvGraphicFramePr>
          <p:nvPr>
            <p:extLst>
              <p:ext uri="{D42A27DB-BD31-4B8C-83A1-F6EECF244321}">
                <p14:modId xmlns:p14="http://schemas.microsoft.com/office/powerpoint/2010/main" val="1550567456"/>
              </p:ext>
            </p:extLst>
          </p:nvPr>
        </p:nvGraphicFramePr>
        <p:xfrm>
          <a:off x="571500" y="1470345"/>
          <a:ext cx="2714625" cy="1087438"/>
        </p:xfrm>
        <a:graphic>
          <a:graphicData uri="http://schemas.openxmlformats.org/presentationml/2006/ole">
            <mc:AlternateContent xmlns:mc="http://schemas.openxmlformats.org/markup-compatibility/2006">
              <mc:Choice xmlns:v="urn:schemas-microsoft-com:vml" Requires="v">
                <p:oleObj name="Equation" r:id="rId4" imgW="1777680" imgH="711000" progId="Equation.3">
                  <p:embed/>
                </p:oleObj>
              </mc:Choice>
              <mc:Fallback>
                <p:oleObj name="Equation" r:id="rId4" imgW="1777680" imgH="7110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0" y="1470345"/>
                        <a:ext cx="2714625" cy="108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85439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a:xfrm>
            <a:off x="357158" y="2631040"/>
            <a:ext cx="8572560" cy="369332"/>
          </a:xfrm>
          <a:prstGeom prst="rect">
            <a:avLst/>
          </a:prstGeom>
        </p:spPr>
        <p:txBody>
          <a:bodyPr wrap="square">
            <a:spAutoFit/>
          </a:bodyPr>
          <a:lstStyle/>
          <a:p>
            <a:r>
              <a:rPr lang="en-US" b="1" i="1" dirty="0" err="1"/>
              <a:t>i</a:t>
            </a:r>
            <a:r>
              <a:rPr lang="en-US" b="1" i="1" dirty="0"/>
              <a:t>) Derive the capacitor current, power and energy. Sketch all as a function of time.</a:t>
            </a:r>
            <a:endParaRPr lang="tr-TR" b="1" i="1" dirty="0"/>
          </a:p>
        </p:txBody>
      </p:sp>
      <p:sp>
        <p:nvSpPr>
          <p:cNvPr id="13" name="Slide Number Placeholder 12"/>
          <p:cNvSpPr>
            <a:spLocks noGrp="1"/>
          </p:cNvSpPr>
          <p:nvPr>
            <p:ph type="sldNum" sz="quarter" idx="12"/>
          </p:nvPr>
        </p:nvSpPr>
        <p:spPr/>
        <p:txBody>
          <a:bodyPr/>
          <a:lstStyle/>
          <a:p>
            <a:fld id="{732390F0-1A5B-4A83-8CFF-11D9A59B5E92}" type="slidenum">
              <a:rPr lang="tr-TR" smtClean="0"/>
              <a:pPr/>
              <a:t>11</a:t>
            </a:fld>
            <a:endParaRPr lang="tr-TR"/>
          </a:p>
        </p:txBody>
      </p:sp>
      <p:sp>
        <p:nvSpPr>
          <p:cNvPr id="14" name="Footer Placeholder 13"/>
          <p:cNvSpPr>
            <a:spLocks noGrp="1"/>
          </p:cNvSpPr>
          <p:nvPr>
            <p:ph type="ftr" sz="quarter" idx="11"/>
          </p:nvPr>
        </p:nvSpPr>
        <p:spPr/>
        <p:txBody>
          <a:bodyPr/>
          <a:lstStyle/>
          <a:p>
            <a:r>
              <a:rPr lang="tr-TR"/>
              <a:t>Ali Muhtaroglu</a:t>
            </a:r>
          </a:p>
        </p:txBody>
      </p:sp>
      <p:sp>
        <p:nvSpPr>
          <p:cNvPr id="16" name="1 Başlık"/>
          <p:cNvSpPr txBox="1">
            <a:spLocks/>
          </p:cNvSpPr>
          <p:nvPr/>
        </p:nvSpPr>
        <p:spPr>
          <a:xfrm>
            <a:off x="142844" y="71414"/>
            <a:ext cx="7000924" cy="571504"/>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3200" b="0" i="0" u="none" strike="noStrike" kern="1200" cap="none" spc="0" normalizeH="0" baseline="0" noProof="0" dirty="0" err="1">
                <a:ln>
                  <a:noFill/>
                </a:ln>
                <a:solidFill>
                  <a:schemeClr val="tx1"/>
                </a:solidFill>
                <a:effectLst/>
                <a:uLnTx/>
                <a:uFillTx/>
                <a:latin typeface="+mj-lt"/>
                <a:ea typeface="+mj-ea"/>
                <a:cs typeface="+mj-cs"/>
              </a:rPr>
              <a:t>Example</a:t>
            </a:r>
            <a:r>
              <a:rPr kumimoji="0" lang="tr-TR" sz="3200" b="0" i="0" u="none" strike="noStrike" kern="1200" cap="none" spc="0" normalizeH="0" baseline="0" noProof="0" dirty="0">
                <a:ln>
                  <a:noFill/>
                </a:ln>
                <a:solidFill>
                  <a:schemeClr val="tx1"/>
                </a:solidFill>
                <a:effectLst/>
                <a:uLnTx/>
                <a:uFillTx/>
                <a:latin typeface="+mj-lt"/>
                <a:ea typeface="+mj-ea"/>
                <a:cs typeface="+mj-cs"/>
              </a:rPr>
              <a:t> (</a:t>
            </a:r>
            <a:r>
              <a:rPr kumimoji="0" lang="tr-TR" sz="3200" b="0" i="0" u="none" strike="noStrike" kern="1200" cap="none" spc="0" normalizeH="0" baseline="0" noProof="0" dirty="0" err="1">
                <a:ln>
                  <a:noFill/>
                </a:ln>
                <a:solidFill>
                  <a:schemeClr val="tx1"/>
                </a:solidFill>
                <a:effectLst/>
                <a:uLnTx/>
                <a:uFillTx/>
                <a:latin typeface="+mj-lt"/>
                <a:ea typeface="+mj-ea"/>
                <a:cs typeface="+mj-cs"/>
              </a:rPr>
              <a:t>Nilsson</a:t>
            </a:r>
            <a:r>
              <a:rPr kumimoji="0" lang="tr-TR" sz="3200" b="0" i="0" u="none" strike="noStrike" kern="1200" cap="none" spc="0" normalizeH="0" baseline="0" noProof="0" dirty="0">
                <a:ln>
                  <a:noFill/>
                </a:ln>
                <a:solidFill>
                  <a:schemeClr val="tx1"/>
                </a:solidFill>
                <a:effectLst/>
                <a:uLnTx/>
                <a:uFillTx/>
                <a:latin typeface="+mj-lt"/>
                <a:ea typeface="+mj-ea"/>
                <a:cs typeface="+mj-cs"/>
              </a:rPr>
              <a:t> &amp; </a:t>
            </a:r>
            <a:r>
              <a:rPr kumimoji="0" lang="tr-TR" sz="3200" b="0" i="0" u="none" strike="noStrike" kern="1200" cap="none" spc="0" normalizeH="0" baseline="0" noProof="0" dirty="0" err="1">
                <a:ln>
                  <a:noFill/>
                </a:ln>
                <a:solidFill>
                  <a:schemeClr val="tx1"/>
                </a:solidFill>
                <a:effectLst/>
                <a:uLnTx/>
                <a:uFillTx/>
                <a:latin typeface="+mj-lt"/>
                <a:ea typeface="+mj-ea"/>
                <a:cs typeface="+mj-cs"/>
              </a:rPr>
              <a:t>Riedel</a:t>
            </a:r>
            <a:r>
              <a:rPr kumimoji="0" lang="tr-TR" sz="3200" b="0" i="0" u="none" strike="noStrike" kern="1200" cap="none" spc="0" normalizeH="0" baseline="0" noProof="0" dirty="0">
                <a:ln>
                  <a:noFill/>
                </a:ln>
                <a:solidFill>
                  <a:schemeClr val="tx1"/>
                </a:solidFill>
                <a:effectLst/>
                <a:uLnTx/>
                <a:uFillTx/>
                <a:latin typeface="+mj-lt"/>
                <a:ea typeface="+mj-ea"/>
                <a:cs typeface="+mj-cs"/>
              </a:rPr>
              <a:t>)</a:t>
            </a:r>
          </a:p>
        </p:txBody>
      </p:sp>
      <p:sp>
        <p:nvSpPr>
          <p:cNvPr id="17" name="6 Dikdörtgen"/>
          <p:cNvSpPr/>
          <p:nvPr/>
        </p:nvSpPr>
        <p:spPr>
          <a:xfrm>
            <a:off x="285720" y="714356"/>
            <a:ext cx="8572560" cy="707886"/>
          </a:xfrm>
          <a:prstGeom prst="rect">
            <a:avLst/>
          </a:prstGeom>
        </p:spPr>
        <p:txBody>
          <a:bodyPr wrap="square">
            <a:spAutoFit/>
          </a:bodyPr>
          <a:lstStyle/>
          <a:p>
            <a:r>
              <a:rPr lang="en-US" sz="2000" dirty="0"/>
              <a:t>The voltage pulse described by the following equations is impressed across the terminals of a 0.5 </a:t>
            </a:r>
            <a:r>
              <a:rPr lang="en-US" sz="2000" dirty="0" err="1"/>
              <a:t>μF</a:t>
            </a:r>
            <a:r>
              <a:rPr lang="en-US" sz="2000" dirty="0"/>
              <a:t> capacitor:</a:t>
            </a:r>
            <a:endParaRPr lang="tr-TR" sz="2000" dirty="0"/>
          </a:p>
        </p:txBody>
      </p:sp>
      <p:sp>
        <p:nvSpPr>
          <p:cNvPr id="19" name="TextBox 18"/>
          <p:cNvSpPr txBox="1"/>
          <p:nvPr/>
        </p:nvSpPr>
        <p:spPr>
          <a:xfrm>
            <a:off x="3428992" y="1666140"/>
            <a:ext cx="1383136" cy="369332"/>
          </a:xfrm>
          <a:prstGeom prst="rect">
            <a:avLst/>
          </a:prstGeom>
          <a:noFill/>
        </p:spPr>
        <p:txBody>
          <a:bodyPr wrap="none" rtlCol="0">
            <a:spAutoFit/>
          </a:bodyPr>
          <a:lstStyle/>
          <a:p>
            <a:r>
              <a:rPr lang="en-US" dirty="0"/>
              <a:t>First voltage:</a:t>
            </a:r>
            <a:endParaRPr lang="tr-TR" dirty="0"/>
          </a:p>
        </p:txBody>
      </p:sp>
      <p:pic>
        <p:nvPicPr>
          <p:cNvPr id="20" name="Picture 5"/>
          <p:cNvPicPr>
            <a:picLocks noChangeAspect="1" noChangeArrowheads="1"/>
          </p:cNvPicPr>
          <p:nvPr/>
        </p:nvPicPr>
        <p:blipFill>
          <a:blip r:embed="rId2" cstate="print"/>
          <a:srcRect/>
          <a:stretch>
            <a:fillRect/>
          </a:stretch>
        </p:blipFill>
        <p:spPr bwMode="auto">
          <a:xfrm>
            <a:off x="4929191" y="1355130"/>
            <a:ext cx="2992316" cy="1293812"/>
          </a:xfrm>
          <a:prstGeom prst="rect">
            <a:avLst/>
          </a:prstGeom>
          <a:noFill/>
          <a:ln w="9525">
            <a:noFill/>
            <a:miter lim="800000"/>
            <a:headEnd/>
            <a:tailEnd/>
          </a:ln>
          <a:effectLst/>
        </p:spPr>
      </p:pic>
      <p:graphicFrame>
        <p:nvGraphicFramePr>
          <p:cNvPr id="18" name="Object 6"/>
          <p:cNvGraphicFramePr>
            <a:graphicFrameLocks noChangeAspect="1"/>
          </p:cNvGraphicFramePr>
          <p:nvPr>
            <p:extLst>
              <p:ext uri="{D42A27DB-BD31-4B8C-83A1-F6EECF244321}">
                <p14:modId xmlns:p14="http://schemas.microsoft.com/office/powerpoint/2010/main" val="2383823884"/>
              </p:ext>
            </p:extLst>
          </p:nvPr>
        </p:nvGraphicFramePr>
        <p:xfrm>
          <a:off x="571500" y="1470345"/>
          <a:ext cx="2714625" cy="1087438"/>
        </p:xfrm>
        <a:graphic>
          <a:graphicData uri="http://schemas.openxmlformats.org/presentationml/2006/ole">
            <mc:AlternateContent xmlns:mc="http://schemas.openxmlformats.org/markup-compatibility/2006">
              <mc:Choice xmlns:v="urn:schemas-microsoft-com:vml" Requires="v">
                <p:oleObj name="Equation" r:id="rId3" imgW="1777680" imgH="711000" progId="Equation.3">
                  <p:embed/>
                </p:oleObj>
              </mc:Choice>
              <mc:Fallback>
                <p:oleObj name="Equation" r:id="rId3" imgW="1777680" imgH="711000" progId="Equation.3">
                  <p:embed/>
                  <p:pic>
                    <p:nvPicPr>
                      <p:cNvPr id="59398"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 y="1470345"/>
                        <a:ext cx="2714625" cy="108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657655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a:xfrm>
            <a:off x="357158" y="2631040"/>
            <a:ext cx="8572560" cy="369332"/>
          </a:xfrm>
          <a:prstGeom prst="rect">
            <a:avLst/>
          </a:prstGeom>
        </p:spPr>
        <p:txBody>
          <a:bodyPr wrap="square">
            <a:spAutoFit/>
          </a:bodyPr>
          <a:lstStyle/>
          <a:p>
            <a:r>
              <a:rPr lang="en-US" b="1" i="1" dirty="0" err="1"/>
              <a:t>i</a:t>
            </a:r>
            <a:r>
              <a:rPr lang="en-US" b="1" i="1" dirty="0"/>
              <a:t>) Derive the capacitor current, power and energy. Sketch all as a function of time.</a:t>
            </a:r>
            <a:endParaRPr lang="tr-TR" b="1" i="1" dirty="0"/>
          </a:p>
        </p:txBody>
      </p:sp>
      <p:graphicFrame>
        <p:nvGraphicFramePr>
          <p:cNvPr id="12" name="11 Nesne"/>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2" imgW="914400" imgH="215640" progId="Equation.3">
                  <p:embed/>
                </p:oleObj>
              </mc:Choice>
              <mc:Fallback>
                <p:oleObj name="Equation" r:id="rId2" imgW="914400" imgH="215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Slide Number Placeholder 12"/>
          <p:cNvSpPr>
            <a:spLocks noGrp="1"/>
          </p:cNvSpPr>
          <p:nvPr>
            <p:ph type="sldNum" sz="quarter" idx="12"/>
          </p:nvPr>
        </p:nvSpPr>
        <p:spPr/>
        <p:txBody>
          <a:bodyPr/>
          <a:lstStyle/>
          <a:p>
            <a:fld id="{732390F0-1A5B-4A83-8CFF-11D9A59B5E92}" type="slidenum">
              <a:rPr lang="tr-TR" smtClean="0"/>
              <a:pPr/>
              <a:t>12</a:t>
            </a:fld>
            <a:endParaRPr lang="tr-TR"/>
          </a:p>
        </p:txBody>
      </p:sp>
      <p:sp>
        <p:nvSpPr>
          <p:cNvPr id="14" name="Footer Placeholder 13"/>
          <p:cNvSpPr>
            <a:spLocks noGrp="1"/>
          </p:cNvSpPr>
          <p:nvPr>
            <p:ph type="ftr" sz="quarter" idx="11"/>
          </p:nvPr>
        </p:nvSpPr>
        <p:spPr/>
        <p:txBody>
          <a:bodyPr/>
          <a:lstStyle/>
          <a:p>
            <a:r>
              <a:rPr lang="tr-TR"/>
              <a:t>Ali Muhtaroglu</a:t>
            </a:r>
          </a:p>
        </p:txBody>
      </p:sp>
      <p:sp>
        <p:nvSpPr>
          <p:cNvPr id="16" name="1 Başlık"/>
          <p:cNvSpPr txBox="1">
            <a:spLocks/>
          </p:cNvSpPr>
          <p:nvPr/>
        </p:nvSpPr>
        <p:spPr>
          <a:xfrm>
            <a:off x="142844" y="71414"/>
            <a:ext cx="7000924" cy="571504"/>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3200" b="0" i="0" u="none" strike="noStrike" kern="1200" cap="none" spc="0" normalizeH="0" baseline="0" noProof="0" dirty="0" err="1">
                <a:ln>
                  <a:noFill/>
                </a:ln>
                <a:solidFill>
                  <a:schemeClr val="tx1"/>
                </a:solidFill>
                <a:effectLst/>
                <a:uLnTx/>
                <a:uFillTx/>
                <a:latin typeface="+mj-lt"/>
                <a:ea typeface="+mj-ea"/>
                <a:cs typeface="+mj-cs"/>
              </a:rPr>
              <a:t>Example</a:t>
            </a:r>
            <a:r>
              <a:rPr kumimoji="0" lang="tr-TR" sz="3200" b="0" i="0" u="none" strike="noStrike" kern="1200" cap="none" spc="0" normalizeH="0" baseline="0" noProof="0" dirty="0">
                <a:ln>
                  <a:noFill/>
                </a:ln>
                <a:solidFill>
                  <a:schemeClr val="tx1"/>
                </a:solidFill>
                <a:effectLst/>
                <a:uLnTx/>
                <a:uFillTx/>
                <a:latin typeface="+mj-lt"/>
                <a:ea typeface="+mj-ea"/>
                <a:cs typeface="+mj-cs"/>
              </a:rPr>
              <a:t> (</a:t>
            </a:r>
            <a:r>
              <a:rPr kumimoji="0" lang="tr-TR" sz="3200" b="0" i="0" u="none" strike="noStrike" kern="1200" cap="none" spc="0" normalizeH="0" baseline="0" noProof="0" dirty="0" err="1">
                <a:ln>
                  <a:noFill/>
                </a:ln>
                <a:solidFill>
                  <a:schemeClr val="tx1"/>
                </a:solidFill>
                <a:effectLst/>
                <a:uLnTx/>
                <a:uFillTx/>
                <a:latin typeface="+mj-lt"/>
                <a:ea typeface="+mj-ea"/>
                <a:cs typeface="+mj-cs"/>
              </a:rPr>
              <a:t>Nilsson</a:t>
            </a:r>
            <a:r>
              <a:rPr kumimoji="0" lang="tr-TR" sz="3200" b="0" i="0" u="none" strike="noStrike" kern="1200" cap="none" spc="0" normalizeH="0" baseline="0" noProof="0" dirty="0">
                <a:ln>
                  <a:noFill/>
                </a:ln>
                <a:solidFill>
                  <a:schemeClr val="tx1"/>
                </a:solidFill>
                <a:effectLst/>
                <a:uLnTx/>
                <a:uFillTx/>
                <a:latin typeface="+mj-lt"/>
                <a:ea typeface="+mj-ea"/>
                <a:cs typeface="+mj-cs"/>
              </a:rPr>
              <a:t> &amp; </a:t>
            </a:r>
            <a:r>
              <a:rPr kumimoji="0" lang="tr-TR" sz="3200" b="0" i="0" u="none" strike="noStrike" kern="1200" cap="none" spc="0" normalizeH="0" baseline="0" noProof="0" dirty="0" err="1">
                <a:ln>
                  <a:noFill/>
                </a:ln>
                <a:solidFill>
                  <a:schemeClr val="tx1"/>
                </a:solidFill>
                <a:effectLst/>
                <a:uLnTx/>
                <a:uFillTx/>
                <a:latin typeface="+mj-lt"/>
                <a:ea typeface="+mj-ea"/>
                <a:cs typeface="+mj-cs"/>
              </a:rPr>
              <a:t>Riedel</a:t>
            </a:r>
            <a:r>
              <a:rPr kumimoji="0" lang="tr-TR" sz="3200" b="0" i="0" u="none" strike="noStrike" kern="1200" cap="none" spc="0" normalizeH="0" baseline="0" noProof="0" dirty="0">
                <a:ln>
                  <a:noFill/>
                </a:ln>
                <a:solidFill>
                  <a:schemeClr val="tx1"/>
                </a:solidFill>
                <a:effectLst/>
                <a:uLnTx/>
                <a:uFillTx/>
                <a:latin typeface="+mj-lt"/>
                <a:ea typeface="+mj-ea"/>
                <a:cs typeface="+mj-cs"/>
              </a:rPr>
              <a:t>)</a:t>
            </a:r>
          </a:p>
        </p:txBody>
      </p:sp>
      <p:sp>
        <p:nvSpPr>
          <p:cNvPr id="17" name="6 Dikdörtgen"/>
          <p:cNvSpPr/>
          <p:nvPr/>
        </p:nvSpPr>
        <p:spPr>
          <a:xfrm>
            <a:off x="285720" y="714356"/>
            <a:ext cx="8572560" cy="707886"/>
          </a:xfrm>
          <a:prstGeom prst="rect">
            <a:avLst/>
          </a:prstGeom>
        </p:spPr>
        <p:txBody>
          <a:bodyPr wrap="square">
            <a:spAutoFit/>
          </a:bodyPr>
          <a:lstStyle/>
          <a:p>
            <a:r>
              <a:rPr lang="en-US" sz="2000" dirty="0"/>
              <a:t>The voltage pulse described by the following equations is impressed across the terminals of a 0.5 </a:t>
            </a:r>
            <a:r>
              <a:rPr lang="en-US" sz="2000" dirty="0" err="1"/>
              <a:t>μF</a:t>
            </a:r>
            <a:r>
              <a:rPr lang="en-US" sz="2000" dirty="0"/>
              <a:t> capacitor:</a:t>
            </a:r>
            <a:endParaRPr lang="tr-TR" sz="2000" dirty="0"/>
          </a:p>
        </p:txBody>
      </p:sp>
      <p:graphicFrame>
        <p:nvGraphicFramePr>
          <p:cNvPr id="56329" name="Object 9"/>
          <p:cNvGraphicFramePr>
            <a:graphicFrameLocks noChangeAspect="1"/>
          </p:cNvGraphicFramePr>
          <p:nvPr/>
        </p:nvGraphicFramePr>
        <p:xfrm>
          <a:off x="357159" y="3071810"/>
          <a:ext cx="4429156" cy="856571"/>
        </p:xfrm>
        <a:graphic>
          <a:graphicData uri="http://schemas.openxmlformats.org/presentationml/2006/ole">
            <mc:AlternateContent xmlns:mc="http://schemas.openxmlformats.org/markup-compatibility/2006">
              <mc:Choice xmlns:v="urn:schemas-microsoft-com:vml" Requires="v">
                <p:oleObj name="Equation" r:id="rId4" imgW="3682800" imgH="711000" progId="Equation.3">
                  <p:embed/>
                </p:oleObj>
              </mc:Choice>
              <mc:Fallback>
                <p:oleObj name="Equation" r:id="rId4" imgW="3682800" imgH="7110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159" y="3071810"/>
                        <a:ext cx="4429156" cy="856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6330" name="Picture 10"/>
          <p:cNvPicPr>
            <a:picLocks noChangeAspect="1" noChangeArrowheads="1"/>
          </p:cNvPicPr>
          <p:nvPr/>
        </p:nvPicPr>
        <p:blipFill>
          <a:blip r:embed="rId6" cstate="print"/>
          <a:srcRect/>
          <a:stretch>
            <a:fillRect/>
          </a:stretch>
        </p:blipFill>
        <p:spPr bwMode="auto">
          <a:xfrm>
            <a:off x="5286380" y="2922858"/>
            <a:ext cx="2643206" cy="1225706"/>
          </a:xfrm>
          <a:prstGeom prst="rect">
            <a:avLst/>
          </a:prstGeom>
          <a:noFill/>
          <a:ln w="9525">
            <a:noFill/>
            <a:miter lim="800000"/>
            <a:headEnd/>
            <a:tailEnd/>
          </a:ln>
          <a:effectLst/>
        </p:spPr>
      </p:pic>
      <p:pic>
        <p:nvPicPr>
          <p:cNvPr id="26" name="Picture 5"/>
          <p:cNvPicPr>
            <a:picLocks noChangeAspect="1" noChangeArrowheads="1"/>
          </p:cNvPicPr>
          <p:nvPr/>
        </p:nvPicPr>
        <p:blipFill>
          <a:blip r:embed="rId7" cstate="print"/>
          <a:srcRect/>
          <a:stretch>
            <a:fillRect/>
          </a:stretch>
        </p:blipFill>
        <p:spPr bwMode="auto">
          <a:xfrm>
            <a:off x="4929191" y="1355130"/>
            <a:ext cx="2992316" cy="1293812"/>
          </a:xfrm>
          <a:prstGeom prst="rect">
            <a:avLst/>
          </a:prstGeom>
          <a:noFill/>
          <a:ln w="9525">
            <a:noFill/>
            <a:miter lim="800000"/>
            <a:headEnd/>
            <a:tailEnd/>
          </a:ln>
          <a:effectLst/>
        </p:spPr>
      </p:pic>
      <p:graphicFrame>
        <p:nvGraphicFramePr>
          <p:cNvPr id="27" name="Object 6"/>
          <p:cNvGraphicFramePr>
            <a:graphicFrameLocks noChangeAspect="1"/>
          </p:cNvGraphicFramePr>
          <p:nvPr>
            <p:extLst>
              <p:ext uri="{D42A27DB-BD31-4B8C-83A1-F6EECF244321}">
                <p14:modId xmlns:p14="http://schemas.microsoft.com/office/powerpoint/2010/main" val="1303820639"/>
              </p:ext>
            </p:extLst>
          </p:nvPr>
        </p:nvGraphicFramePr>
        <p:xfrm>
          <a:off x="571500" y="1470345"/>
          <a:ext cx="2714625" cy="1087438"/>
        </p:xfrm>
        <a:graphic>
          <a:graphicData uri="http://schemas.openxmlformats.org/presentationml/2006/ole">
            <mc:AlternateContent xmlns:mc="http://schemas.openxmlformats.org/markup-compatibility/2006">
              <mc:Choice xmlns:v="urn:schemas-microsoft-com:vml" Requires="v">
                <p:oleObj name="Equation" r:id="rId8" imgW="1777680" imgH="711000" progId="Equation.3">
                  <p:embed/>
                </p:oleObj>
              </mc:Choice>
              <mc:Fallback>
                <p:oleObj name="Equation" r:id="rId8" imgW="1777680" imgH="711000" progId="Equation.3">
                  <p:embed/>
                  <p:pic>
                    <p:nvPicPr>
                      <p:cNvPr id="18"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1500" y="1470345"/>
                        <a:ext cx="2714625" cy="108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Box 1"/>
          <p:cNvSpPr txBox="1"/>
          <p:nvPr/>
        </p:nvSpPr>
        <p:spPr>
          <a:xfrm>
            <a:off x="1307575" y="3869486"/>
            <a:ext cx="2272225" cy="276999"/>
          </a:xfrm>
          <a:prstGeom prst="rect">
            <a:avLst/>
          </a:prstGeom>
          <a:noFill/>
        </p:spPr>
        <p:txBody>
          <a:bodyPr wrap="none" rtlCol="0">
            <a:spAutoFit/>
          </a:bodyPr>
          <a:lstStyle/>
          <a:p>
            <a:r>
              <a:rPr lang="tr-TR" sz="1200" b="1" i="1" dirty="0">
                <a:solidFill>
                  <a:srgbClr val="0000FF"/>
                </a:solidFill>
              </a:rPr>
              <a:t>(chain rule of differentiation)</a:t>
            </a:r>
            <a:endParaRPr lang="en-US" sz="1200" b="1" i="1" dirty="0">
              <a:solidFill>
                <a:srgbClr val="0000FF"/>
              </a:solidFill>
            </a:endParaRPr>
          </a:p>
        </p:txBody>
      </p:sp>
    </p:spTree>
    <p:extLst>
      <p:ext uri="{BB962C8B-B14F-4D97-AF65-F5344CB8AC3E}">
        <p14:creationId xmlns:p14="http://schemas.microsoft.com/office/powerpoint/2010/main" val="2150376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a:xfrm>
            <a:off x="357158" y="2631040"/>
            <a:ext cx="8572560" cy="369332"/>
          </a:xfrm>
          <a:prstGeom prst="rect">
            <a:avLst/>
          </a:prstGeom>
        </p:spPr>
        <p:txBody>
          <a:bodyPr wrap="square">
            <a:spAutoFit/>
          </a:bodyPr>
          <a:lstStyle/>
          <a:p>
            <a:r>
              <a:rPr lang="en-US" b="1" i="1" dirty="0" err="1"/>
              <a:t>i</a:t>
            </a:r>
            <a:r>
              <a:rPr lang="en-US" b="1" i="1" dirty="0"/>
              <a:t>) Derive the capacitor current, power and energy. Sketch all as a function of time.</a:t>
            </a:r>
            <a:endParaRPr lang="tr-TR" b="1" i="1" dirty="0"/>
          </a:p>
        </p:txBody>
      </p:sp>
      <p:graphicFrame>
        <p:nvGraphicFramePr>
          <p:cNvPr id="12" name="11 Nesne"/>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2" imgW="914400" imgH="215640" progId="Equation.3">
                  <p:embed/>
                </p:oleObj>
              </mc:Choice>
              <mc:Fallback>
                <p:oleObj name="Equation" r:id="rId2" imgW="914400" imgH="215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Slide Number Placeholder 12"/>
          <p:cNvSpPr>
            <a:spLocks noGrp="1"/>
          </p:cNvSpPr>
          <p:nvPr>
            <p:ph type="sldNum" sz="quarter" idx="12"/>
          </p:nvPr>
        </p:nvSpPr>
        <p:spPr/>
        <p:txBody>
          <a:bodyPr/>
          <a:lstStyle/>
          <a:p>
            <a:fld id="{732390F0-1A5B-4A83-8CFF-11D9A59B5E92}" type="slidenum">
              <a:rPr lang="tr-TR" smtClean="0"/>
              <a:pPr/>
              <a:t>13</a:t>
            </a:fld>
            <a:endParaRPr lang="tr-TR"/>
          </a:p>
        </p:txBody>
      </p:sp>
      <p:sp>
        <p:nvSpPr>
          <p:cNvPr id="14" name="Footer Placeholder 13"/>
          <p:cNvSpPr>
            <a:spLocks noGrp="1"/>
          </p:cNvSpPr>
          <p:nvPr>
            <p:ph type="ftr" sz="quarter" idx="11"/>
          </p:nvPr>
        </p:nvSpPr>
        <p:spPr/>
        <p:txBody>
          <a:bodyPr/>
          <a:lstStyle/>
          <a:p>
            <a:r>
              <a:rPr lang="tr-TR"/>
              <a:t>Ali Muhtaroglu</a:t>
            </a:r>
          </a:p>
        </p:txBody>
      </p:sp>
      <p:sp>
        <p:nvSpPr>
          <p:cNvPr id="16" name="1 Başlık"/>
          <p:cNvSpPr txBox="1">
            <a:spLocks/>
          </p:cNvSpPr>
          <p:nvPr/>
        </p:nvSpPr>
        <p:spPr>
          <a:xfrm>
            <a:off x="142844" y="71414"/>
            <a:ext cx="7000924" cy="571504"/>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3200" b="0" i="0" u="none" strike="noStrike" kern="1200" cap="none" spc="0" normalizeH="0" baseline="0" noProof="0" dirty="0" err="1">
                <a:ln>
                  <a:noFill/>
                </a:ln>
                <a:solidFill>
                  <a:schemeClr val="tx1"/>
                </a:solidFill>
                <a:effectLst/>
                <a:uLnTx/>
                <a:uFillTx/>
                <a:latin typeface="+mj-lt"/>
                <a:ea typeface="+mj-ea"/>
                <a:cs typeface="+mj-cs"/>
              </a:rPr>
              <a:t>Example</a:t>
            </a:r>
            <a:r>
              <a:rPr kumimoji="0" lang="tr-TR" sz="3200" b="0" i="0" u="none" strike="noStrike" kern="1200" cap="none" spc="0" normalizeH="0" baseline="0" noProof="0" dirty="0">
                <a:ln>
                  <a:noFill/>
                </a:ln>
                <a:solidFill>
                  <a:schemeClr val="tx1"/>
                </a:solidFill>
                <a:effectLst/>
                <a:uLnTx/>
                <a:uFillTx/>
                <a:latin typeface="+mj-lt"/>
                <a:ea typeface="+mj-ea"/>
                <a:cs typeface="+mj-cs"/>
              </a:rPr>
              <a:t> (</a:t>
            </a:r>
            <a:r>
              <a:rPr kumimoji="0" lang="tr-TR" sz="3200" b="0" i="0" u="none" strike="noStrike" kern="1200" cap="none" spc="0" normalizeH="0" baseline="0" noProof="0" dirty="0" err="1">
                <a:ln>
                  <a:noFill/>
                </a:ln>
                <a:solidFill>
                  <a:schemeClr val="tx1"/>
                </a:solidFill>
                <a:effectLst/>
                <a:uLnTx/>
                <a:uFillTx/>
                <a:latin typeface="+mj-lt"/>
                <a:ea typeface="+mj-ea"/>
                <a:cs typeface="+mj-cs"/>
              </a:rPr>
              <a:t>Nilsson</a:t>
            </a:r>
            <a:r>
              <a:rPr kumimoji="0" lang="tr-TR" sz="3200" b="0" i="0" u="none" strike="noStrike" kern="1200" cap="none" spc="0" normalizeH="0" baseline="0" noProof="0" dirty="0">
                <a:ln>
                  <a:noFill/>
                </a:ln>
                <a:solidFill>
                  <a:schemeClr val="tx1"/>
                </a:solidFill>
                <a:effectLst/>
                <a:uLnTx/>
                <a:uFillTx/>
                <a:latin typeface="+mj-lt"/>
                <a:ea typeface="+mj-ea"/>
                <a:cs typeface="+mj-cs"/>
              </a:rPr>
              <a:t> &amp; </a:t>
            </a:r>
            <a:r>
              <a:rPr kumimoji="0" lang="tr-TR" sz="3200" b="0" i="0" u="none" strike="noStrike" kern="1200" cap="none" spc="0" normalizeH="0" baseline="0" noProof="0" dirty="0" err="1">
                <a:ln>
                  <a:noFill/>
                </a:ln>
                <a:solidFill>
                  <a:schemeClr val="tx1"/>
                </a:solidFill>
                <a:effectLst/>
                <a:uLnTx/>
                <a:uFillTx/>
                <a:latin typeface="+mj-lt"/>
                <a:ea typeface="+mj-ea"/>
                <a:cs typeface="+mj-cs"/>
              </a:rPr>
              <a:t>Riedel</a:t>
            </a:r>
            <a:r>
              <a:rPr kumimoji="0" lang="tr-TR" sz="3200" b="0" i="0" u="none" strike="noStrike" kern="1200" cap="none" spc="0" normalizeH="0" baseline="0" noProof="0" dirty="0">
                <a:ln>
                  <a:noFill/>
                </a:ln>
                <a:solidFill>
                  <a:schemeClr val="tx1"/>
                </a:solidFill>
                <a:effectLst/>
                <a:uLnTx/>
                <a:uFillTx/>
                <a:latin typeface="+mj-lt"/>
                <a:ea typeface="+mj-ea"/>
                <a:cs typeface="+mj-cs"/>
              </a:rPr>
              <a:t>)</a:t>
            </a:r>
          </a:p>
        </p:txBody>
      </p:sp>
      <p:sp>
        <p:nvSpPr>
          <p:cNvPr id="17" name="6 Dikdörtgen"/>
          <p:cNvSpPr/>
          <p:nvPr/>
        </p:nvSpPr>
        <p:spPr>
          <a:xfrm>
            <a:off x="285720" y="714356"/>
            <a:ext cx="8572560" cy="707886"/>
          </a:xfrm>
          <a:prstGeom prst="rect">
            <a:avLst/>
          </a:prstGeom>
        </p:spPr>
        <p:txBody>
          <a:bodyPr wrap="square">
            <a:spAutoFit/>
          </a:bodyPr>
          <a:lstStyle/>
          <a:p>
            <a:r>
              <a:rPr lang="en-US" sz="2000" dirty="0"/>
              <a:t>The voltage pulse described by the following equations is impressed across the terminals of a 0.5 </a:t>
            </a:r>
            <a:r>
              <a:rPr lang="en-US" sz="2000" dirty="0" err="1"/>
              <a:t>μF</a:t>
            </a:r>
            <a:r>
              <a:rPr lang="en-US" sz="2000" dirty="0"/>
              <a:t> capacitor:</a:t>
            </a:r>
            <a:endParaRPr lang="tr-TR" sz="2000" dirty="0"/>
          </a:p>
        </p:txBody>
      </p:sp>
      <p:graphicFrame>
        <p:nvGraphicFramePr>
          <p:cNvPr id="56329" name="Object 9"/>
          <p:cNvGraphicFramePr>
            <a:graphicFrameLocks noChangeAspect="1"/>
          </p:cNvGraphicFramePr>
          <p:nvPr/>
        </p:nvGraphicFramePr>
        <p:xfrm>
          <a:off x="357159" y="3071810"/>
          <a:ext cx="4429156" cy="856571"/>
        </p:xfrm>
        <a:graphic>
          <a:graphicData uri="http://schemas.openxmlformats.org/presentationml/2006/ole">
            <mc:AlternateContent xmlns:mc="http://schemas.openxmlformats.org/markup-compatibility/2006">
              <mc:Choice xmlns:v="urn:schemas-microsoft-com:vml" Requires="v">
                <p:oleObj name="Equation" r:id="rId4" imgW="3682800" imgH="711000" progId="Equation.3">
                  <p:embed/>
                </p:oleObj>
              </mc:Choice>
              <mc:Fallback>
                <p:oleObj name="Equation" r:id="rId4" imgW="3682800" imgH="7110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159" y="3071810"/>
                        <a:ext cx="4429156" cy="856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6330" name="Picture 10"/>
          <p:cNvPicPr>
            <a:picLocks noChangeAspect="1" noChangeArrowheads="1"/>
          </p:cNvPicPr>
          <p:nvPr/>
        </p:nvPicPr>
        <p:blipFill>
          <a:blip r:embed="rId6" cstate="print"/>
          <a:srcRect/>
          <a:stretch>
            <a:fillRect/>
          </a:stretch>
        </p:blipFill>
        <p:spPr bwMode="auto">
          <a:xfrm>
            <a:off x="5286380" y="2922858"/>
            <a:ext cx="2643206" cy="1225706"/>
          </a:xfrm>
          <a:prstGeom prst="rect">
            <a:avLst/>
          </a:prstGeom>
          <a:noFill/>
          <a:ln w="9525">
            <a:noFill/>
            <a:miter lim="800000"/>
            <a:headEnd/>
            <a:tailEnd/>
          </a:ln>
          <a:effectLst/>
        </p:spPr>
      </p:pic>
      <p:graphicFrame>
        <p:nvGraphicFramePr>
          <p:cNvPr id="56331" name="Object 11"/>
          <p:cNvGraphicFramePr>
            <a:graphicFrameLocks noChangeAspect="1"/>
          </p:cNvGraphicFramePr>
          <p:nvPr/>
        </p:nvGraphicFramePr>
        <p:xfrm>
          <a:off x="368300" y="4429132"/>
          <a:ext cx="4551363" cy="857250"/>
        </p:xfrm>
        <a:graphic>
          <a:graphicData uri="http://schemas.openxmlformats.org/presentationml/2006/ole">
            <mc:AlternateContent xmlns:mc="http://schemas.openxmlformats.org/markup-compatibility/2006">
              <mc:Choice xmlns:v="urn:schemas-microsoft-com:vml" Requires="v">
                <p:oleObj name="Equation" r:id="rId7" imgW="3784320" imgH="711000" progId="Equation.3">
                  <p:embed/>
                </p:oleObj>
              </mc:Choice>
              <mc:Fallback>
                <p:oleObj name="Equation" r:id="rId7" imgW="3784320" imgH="7110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8300" y="4429132"/>
                        <a:ext cx="4551363"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6332" name="Picture 12"/>
          <p:cNvPicPr>
            <a:picLocks noChangeAspect="1" noChangeArrowheads="1"/>
          </p:cNvPicPr>
          <p:nvPr/>
        </p:nvPicPr>
        <p:blipFill>
          <a:blip r:embed="rId9" cstate="print"/>
          <a:srcRect/>
          <a:stretch>
            <a:fillRect/>
          </a:stretch>
        </p:blipFill>
        <p:spPr bwMode="auto">
          <a:xfrm>
            <a:off x="5286380" y="4214818"/>
            <a:ext cx="2714644" cy="1326149"/>
          </a:xfrm>
          <a:prstGeom prst="rect">
            <a:avLst/>
          </a:prstGeom>
          <a:noFill/>
          <a:ln w="9525">
            <a:noFill/>
            <a:miter lim="800000"/>
            <a:headEnd/>
            <a:tailEnd/>
          </a:ln>
          <a:effectLst/>
        </p:spPr>
      </p:pic>
      <p:pic>
        <p:nvPicPr>
          <p:cNvPr id="25" name="Picture 5"/>
          <p:cNvPicPr>
            <a:picLocks noChangeAspect="1" noChangeArrowheads="1"/>
          </p:cNvPicPr>
          <p:nvPr/>
        </p:nvPicPr>
        <p:blipFill>
          <a:blip r:embed="rId10" cstate="print"/>
          <a:srcRect/>
          <a:stretch>
            <a:fillRect/>
          </a:stretch>
        </p:blipFill>
        <p:spPr bwMode="auto">
          <a:xfrm>
            <a:off x="4929191" y="1355130"/>
            <a:ext cx="2992316" cy="1293812"/>
          </a:xfrm>
          <a:prstGeom prst="rect">
            <a:avLst/>
          </a:prstGeom>
          <a:noFill/>
          <a:ln w="9525">
            <a:noFill/>
            <a:miter lim="800000"/>
            <a:headEnd/>
            <a:tailEnd/>
          </a:ln>
          <a:effectLst/>
        </p:spPr>
      </p:pic>
      <p:graphicFrame>
        <p:nvGraphicFramePr>
          <p:cNvPr id="26" name="Object 6"/>
          <p:cNvGraphicFramePr>
            <a:graphicFrameLocks noChangeAspect="1"/>
          </p:cNvGraphicFramePr>
          <p:nvPr>
            <p:extLst>
              <p:ext uri="{D42A27DB-BD31-4B8C-83A1-F6EECF244321}">
                <p14:modId xmlns:p14="http://schemas.microsoft.com/office/powerpoint/2010/main" val="1392775038"/>
              </p:ext>
            </p:extLst>
          </p:nvPr>
        </p:nvGraphicFramePr>
        <p:xfrm>
          <a:off x="571500" y="1470345"/>
          <a:ext cx="2714625" cy="1087438"/>
        </p:xfrm>
        <a:graphic>
          <a:graphicData uri="http://schemas.openxmlformats.org/presentationml/2006/ole">
            <mc:AlternateContent xmlns:mc="http://schemas.openxmlformats.org/markup-compatibility/2006">
              <mc:Choice xmlns:v="urn:schemas-microsoft-com:vml" Requires="v">
                <p:oleObj name="Equation" r:id="rId11" imgW="1777680" imgH="711000" progId="Equation.3">
                  <p:embed/>
                </p:oleObj>
              </mc:Choice>
              <mc:Fallback>
                <p:oleObj name="Equation" r:id="rId11" imgW="1777680" imgH="711000" progId="Equation.3">
                  <p:embed/>
                  <p:pic>
                    <p:nvPicPr>
                      <p:cNvPr id="27"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1500" y="1470345"/>
                        <a:ext cx="2714625" cy="108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800080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a:xfrm>
            <a:off x="357158" y="2631040"/>
            <a:ext cx="8572560" cy="369332"/>
          </a:xfrm>
          <a:prstGeom prst="rect">
            <a:avLst/>
          </a:prstGeom>
        </p:spPr>
        <p:txBody>
          <a:bodyPr wrap="square">
            <a:spAutoFit/>
          </a:bodyPr>
          <a:lstStyle/>
          <a:p>
            <a:r>
              <a:rPr lang="en-US" b="1" i="1" dirty="0" err="1"/>
              <a:t>i</a:t>
            </a:r>
            <a:r>
              <a:rPr lang="en-US" b="1" i="1" dirty="0"/>
              <a:t>) Derive the capacitor current, power and energy. Sketch all as a function of time.</a:t>
            </a:r>
            <a:endParaRPr lang="tr-TR" b="1" i="1" dirty="0"/>
          </a:p>
        </p:txBody>
      </p:sp>
      <p:graphicFrame>
        <p:nvGraphicFramePr>
          <p:cNvPr id="12" name="11 Nesne"/>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2" imgW="914400" imgH="215640" progId="Equation.3">
                  <p:embed/>
                </p:oleObj>
              </mc:Choice>
              <mc:Fallback>
                <p:oleObj name="Equation" r:id="rId2" imgW="914400" imgH="215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Slide Number Placeholder 12"/>
          <p:cNvSpPr>
            <a:spLocks noGrp="1"/>
          </p:cNvSpPr>
          <p:nvPr>
            <p:ph type="sldNum" sz="quarter" idx="12"/>
          </p:nvPr>
        </p:nvSpPr>
        <p:spPr/>
        <p:txBody>
          <a:bodyPr/>
          <a:lstStyle/>
          <a:p>
            <a:fld id="{732390F0-1A5B-4A83-8CFF-11D9A59B5E92}" type="slidenum">
              <a:rPr lang="tr-TR" smtClean="0"/>
              <a:pPr/>
              <a:t>14</a:t>
            </a:fld>
            <a:endParaRPr lang="tr-TR"/>
          </a:p>
        </p:txBody>
      </p:sp>
      <p:sp>
        <p:nvSpPr>
          <p:cNvPr id="14" name="Footer Placeholder 13"/>
          <p:cNvSpPr>
            <a:spLocks noGrp="1"/>
          </p:cNvSpPr>
          <p:nvPr>
            <p:ph type="ftr" sz="quarter" idx="11"/>
          </p:nvPr>
        </p:nvSpPr>
        <p:spPr/>
        <p:txBody>
          <a:bodyPr/>
          <a:lstStyle/>
          <a:p>
            <a:r>
              <a:rPr lang="tr-TR"/>
              <a:t>Ali Muhtaroglu</a:t>
            </a:r>
          </a:p>
        </p:txBody>
      </p:sp>
      <p:sp>
        <p:nvSpPr>
          <p:cNvPr id="16" name="1 Başlık"/>
          <p:cNvSpPr txBox="1">
            <a:spLocks/>
          </p:cNvSpPr>
          <p:nvPr/>
        </p:nvSpPr>
        <p:spPr>
          <a:xfrm>
            <a:off x="142844" y="71414"/>
            <a:ext cx="7000924" cy="571504"/>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3200" b="0" i="0" u="none" strike="noStrike" kern="1200" cap="none" spc="0" normalizeH="0" baseline="0" noProof="0" dirty="0" err="1">
                <a:ln>
                  <a:noFill/>
                </a:ln>
                <a:solidFill>
                  <a:schemeClr val="tx1"/>
                </a:solidFill>
                <a:effectLst/>
                <a:uLnTx/>
                <a:uFillTx/>
                <a:latin typeface="+mj-lt"/>
                <a:ea typeface="+mj-ea"/>
                <a:cs typeface="+mj-cs"/>
              </a:rPr>
              <a:t>Example</a:t>
            </a:r>
            <a:r>
              <a:rPr kumimoji="0" lang="tr-TR" sz="3200" b="0" i="0" u="none" strike="noStrike" kern="1200" cap="none" spc="0" normalizeH="0" baseline="0" noProof="0" dirty="0">
                <a:ln>
                  <a:noFill/>
                </a:ln>
                <a:solidFill>
                  <a:schemeClr val="tx1"/>
                </a:solidFill>
                <a:effectLst/>
                <a:uLnTx/>
                <a:uFillTx/>
                <a:latin typeface="+mj-lt"/>
                <a:ea typeface="+mj-ea"/>
                <a:cs typeface="+mj-cs"/>
              </a:rPr>
              <a:t> (</a:t>
            </a:r>
            <a:r>
              <a:rPr kumimoji="0" lang="tr-TR" sz="3200" b="0" i="0" u="none" strike="noStrike" kern="1200" cap="none" spc="0" normalizeH="0" baseline="0" noProof="0" dirty="0" err="1">
                <a:ln>
                  <a:noFill/>
                </a:ln>
                <a:solidFill>
                  <a:schemeClr val="tx1"/>
                </a:solidFill>
                <a:effectLst/>
                <a:uLnTx/>
                <a:uFillTx/>
                <a:latin typeface="+mj-lt"/>
                <a:ea typeface="+mj-ea"/>
                <a:cs typeface="+mj-cs"/>
              </a:rPr>
              <a:t>Nilsson</a:t>
            </a:r>
            <a:r>
              <a:rPr kumimoji="0" lang="tr-TR" sz="3200" b="0" i="0" u="none" strike="noStrike" kern="1200" cap="none" spc="0" normalizeH="0" baseline="0" noProof="0" dirty="0">
                <a:ln>
                  <a:noFill/>
                </a:ln>
                <a:solidFill>
                  <a:schemeClr val="tx1"/>
                </a:solidFill>
                <a:effectLst/>
                <a:uLnTx/>
                <a:uFillTx/>
                <a:latin typeface="+mj-lt"/>
                <a:ea typeface="+mj-ea"/>
                <a:cs typeface="+mj-cs"/>
              </a:rPr>
              <a:t> &amp; </a:t>
            </a:r>
            <a:r>
              <a:rPr kumimoji="0" lang="tr-TR" sz="3200" b="0" i="0" u="none" strike="noStrike" kern="1200" cap="none" spc="0" normalizeH="0" baseline="0" noProof="0" dirty="0" err="1">
                <a:ln>
                  <a:noFill/>
                </a:ln>
                <a:solidFill>
                  <a:schemeClr val="tx1"/>
                </a:solidFill>
                <a:effectLst/>
                <a:uLnTx/>
                <a:uFillTx/>
                <a:latin typeface="+mj-lt"/>
                <a:ea typeface="+mj-ea"/>
                <a:cs typeface="+mj-cs"/>
              </a:rPr>
              <a:t>Riedel</a:t>
            </a:r>
            <a:r>
              <a:rPr kumimoji="0" lang="tr-TR" sz="3200" b="0" i="0" u="none" strike="noStrike" kern="1200" cap="none" spc="0" normalizeH="0" baseline="0" noProof="0" dirty="0">
                <a:ln>
                  <a:noFill/>
                </a:ln>
                <a:solidFill>
                  <a:schemeClr val="tx1"/>
                </a:solidFill>
                <a:effectLst/>
                <a:uLnTx/>
                <a:uFillTx/>
                <a:latin typeface="+mj-lt"/>
                <a:ea typeface="+mj-ea"/>
                <a:cs typeface="+mj-cs"/>
              </a:rPr>
              <a:t>)</a:t>
            </a:r>
          </a:p>
        </p:txBody>
      </p:sp>
      <p:sp>
        <p:nvSpPr>
          <p:cNvPr id="17" name="6 Dikdörtgen"/>
          <p:cNvSpPr/>
          <p:nvPr/>
        </p:nvSpPr>
        <p:spPr>
          <a:xfrm>
            <a:off x="285720" y="714356"/>
            <a:ext cx="8572560" cy="707886"/>
          </a:xfrm>
          <a:prstGeom prst="rect">
            <a:avLst/>
          </a:prstGeom>
        </p:spPr>
        <p:txBody>
          <a:bodyPr wrap="square">
            <a:spAutoFit/>
          </a:bodyPr>
          <a:lstStyle/>
          <a:p>
            <a:r>
              <a:rPr lang="en-US" sz="2000" dirty="0"/>
              <a:t>The voltage pulse described by the following equations is impressed across the terminals of a 0.5 </a:t>
            </a:r>
            <a:r>
              <a:rPr lang="en-US" sz="2000" dirty="0" err="1"/>
              <a:t>μF</a:t>
            </a:r>
            <a:r>
              <a:rPr lang="en-US" sz="2000" dirty="0"/>
              <a:t> capacitor:</a:t>
            </a:r>
            <a:endParaRPr lang="tr-TR" sz="2000" dirty="0"/>
          </a:p>
        </p:txBody>
      </p:sp>
      <p:graphicFrame>
        <p:nvGraphicFramePr>
          <p:cNvPr id="56329" name="Object 9"/>
          <p:cNvGraphicFramePr>
            <a:graphicFrameLocks noChangeAspect="1"/>
          </p:cNvGraphicFramePr>
          <p:nvPr/>
        </p:nvGraphicFramePr>
        <p:xfrm>
          <a:off x="357159" y="3071810"/>
          <a:ext cx="4429156" cy="856571"/>
        </p:xfrm>
        <a:graphic>
          <a:graphicData uri="http://schemas.openxmlformats.org/presentationml/2006/ole">
            <mc:AlternateContent xmlns:mc="http://schemas.openxmlformats.org/markup-compatibility/2006">
              <mc:Choice xmlns:v="urn:schemas-microsoft-com:vml" Requires="v">
                <p:oleObj name="Equation" r:id="rId4" imgW="3682800" imgH="711000" progId="Equation.3">
                  <p:embed/>
                </p:oleObj>
              </mc:Choice>
              <mc:Fallback>
                <p:oleObj name="Equation" r:id="rId4" imgW="3682800" imgH="7110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159" y="3071810"/>
                        <a:ext cx="4429156" cy="856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6330" name="Picture 10"/>
          <p:cNvPicPr>
            <a:picLocks noChangeAspect="1" noChangeArrowheads="1"/>
          </p:cNvPicPr>
          <p:nvPr/>
        </p:nvPicPr>
        <p:blipFill>
          <a:blip r:embed="rId6" cstate="print"/>
          <a:srcRect/>
          <a:stretch>
            <a:fillRect/>
          </a:stretch>
        </p:blipFill>
        <p:spPr bwMode="auto">
          <a:xfrm>
            <a:off x="5286380" y="2922858"/>
            <a:ext cx="2643206" cy="1225706"/>
          </a:xfrm>
          <a:prstGeom prst="rect">
            <a:avLst/>
          </a:prstGeom>
          <a:noFill/>
          <a:ln w="9525">
            <a:noFill/>
            <a:miter lim="800000"/>
            <a:headEnd/>
            <a:tailEnd/>
          </a:ln>
          <a:effectLst/>
        </p:spPr>
      </p:pic>
      <p:graphicFrame>
        <p:nvGraphicFramePr>
          <p:cNvPr id="56331" name="Object 11"/>
          <p:cNvGraphicFramePr>
            <a:graphicFrameLocks noChangeAspect="1"/>
          </p:cNvGraphicFramePr>
          <p:nvPr/>
        </p:nvGraphicFramePr>
        <p:xfrm>
          <a:off x="368300" y="4429132"/>
          <a:ext cx="4551363" cy="857250"/>
        </p:xfrm>
        <a:graphic>
          <a:graphicData uri="http://schemas.openxmlformats.org/presentationml/2006/ole">
            <mc:AlternateContent xmlns:mc="http://schemas.openxmlformats.org/markup-compatibility/2006">
              <mc:Choice xmlns:v="urn:schemas-microsoft-com:vml" Requires="v">
                <p:oleObj name="Equation" r:id="rId7" imgW="3784320" imgH="711000" progId="Equation.3">
                  <p:embed/>
                </p:oleObj>
              </mc:Choice>
              <mc:Fallback>
                <p:oleObj name="Equation" r:id="rId7" imgW="3784320" imgH="7110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8300" y="4429132"/>
                        <a:ext cx="4551363"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6332" name="Picture 12"/>
          <p:cNvPicPr>
            <a:picLocks noChangeAspect="1" noChangeArrowheads="1"/>
          </p:cNvPicPr>
          <p:nvPr/>
        </p:nvPicPr>
        <p:blipFill>
          <a:blip r:embed="rId9" cstate="print"/>
          <a:srcRect/>
          <a:stretch>
            <a:fillRect/>
          </a:stretch>
        </p:blipFill>
        <p:spPr bwMode="auto">
          <a:xfrm>
            <a:off x="5286380" y="4214818"/>
            <a:ext cx="2714644" cy="1326149"/>
          </a:xfrm>
          <a:prstGeom prst="rect">
            <a:avLst/>
          </a:prstGeom>
          <a:noFill/>
          <a:ln w="9525">
            <a:noFill/>
            <a:miter lim="800000"/>
            <a:headEnd/>
            <a:tailEnd/>
          </a:ln>
          <a:effectLst/>
        </p:spPr>
      </p:pic>
      <p:graphicFrame>
        <p:nvGraphicFramePr>
          <p:cNvPr id="56333" name="Object 13"/>
          <p:cNvGraphicFramePr>
            <a:graphicFrameLocks noChangeAspect="1"/>
          </p:cNvGraphicFramePr>
          <p:nvPr/>
        </p:nvGraphicFramePr>
        <p:xfrm>
          <a:off x="214282" y="5440386"/>
          <a:ext cx="4627563" cy="1346200"/>
        </p:xfrm>
        <a:graphic>
          <a:graphicData uri="http://schemas.openxmlformats.org/presentationml/2006/ole">
            <mc:AlternateContent xmlns:mc="http://schemas.openxmlformats.org/markup-compatibility/2006">
              <mc:Choice xmlns:v="urn:schemas-microsoft-com:vml" Requires="v">
                <p:oleObj name="Equation" r:id="rId10" imgW="3848040" imgH="1117440" progId="Equation.3">
                  <p:embed/>
                </p:oleObj>
              </mc:Choice>
              <mc:Fallback>
                <p:oleObj name="Equation" r:id="rId10" imgW="3848040" imgH="11174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4282" y="5440386"/>
                        <a:ext cx="4627563" cy="134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6335" name="Picture 15"/>
          <p:cNvPicPr>
            <a:picLocks noChangeAspect="1" noChangeArrowheads="1"/>
          </p:cNvPicPr>
          <p:nvPr/>
        </p:nvPicPr>
        <p:blipFill>
          <a:blip r:embed="rId12" cstate="print"/>
          <a:srcRect/>
          <a:stretch>
            <a:fillRect/>
          </a:stretch>
        </p:blipFill>
        <p:spPr bwMode="auto">
          <a:xfrm>
            <a:off x="5286380" y="5580064"/>
            <a:ext cx="3000395" cy="1160095"/>
          </a:xfrm>
          <a:prstGeom prst="rect">
            <a:avLst/>
          </a:prstGeom>
          <a:noFill/>
          <a:ln w="9525">
            <a:noFill/>
            <a:miter lim="800000"/>
            <a:headEnd/>
            <a:tailEnd/>
          </a:ln>
          <a:effectLst/>
        </p:spPr>
      </p:pic>
      <p:pic>
        <p:nvPicPr>
          <p:cNvPr id="28" name="Picture 5"/>
          <p:cNvPicPr>
            <a:picLocks noChangeAspect="1" noChangeArrowheads="1"/>
          </p:cNvPicPr>
          <p:nvPr/>
        </p:nvPicPr>
        <p:blipFill>
          <a:blip r:embed="rId13" cstate="print"/>
          <a:srcRect/>
          <a:stretch>
            <a:fillRect/>
          </a:stretch>
        </p:blipFill>
        <p:spPr bwMode="auto">
          <a:xfrm>
            <a:off x="4929191" y="1355130"/>
            <a:ext cx="2992316" cy="1293812"/>
          </a:xfrm>
          <a:prstGeom prst="rect">
            <a:avLst/>
          </a:prstGeom>
          <a:noFill/>
          <a:ln w="9525">
            <a:noFill/>
            <a:miter lim="800000"/>
            <a:headEnd/>
            <a:tailEnd/>
          </a:ln>
          <a:effectLst/>
        </p:spPr>
      </p:pic>
      <p:graphicFrame>
        <p:nvGraphicFramePr>
          <p:cNvPr id="29" name="Object 6"/>
          <p:cNvGraphicFramePr>
            <a:graphicFrameLocks noChangeAspect="1"/>
          </p:cNvGraphicFramePr>
          <p:nvPr>
            <p:extLst>
              <p:ext uri="{D42A27DB-BD31-4B8C-83A1-F6EECF244321}">
                <p14:modId xmlns:p14="http://schemas.microsoft.com/office/powerpoint/2010/main" val="1392775038"/>
              </p:ext>
            </p:extLst>
          </p:nvPr>
        </p:nvGraphicFramePr>
        <p:xfrm>
          <a:off x="571500" y="1470345"/>
          <a:ext cx="2714625" cy="1087438"/>
        </p:xfrm>
        <a:graphic>
          <a:graphicData uri="http://schemas.openxmlformats.org/presentationml/2006/ole">
            <mc:AlternateContent xmlns:mc="http://schemas.openxmlformats.org/markup-compatibility/2006">
              <mc:Choice xmlns:v="urn:schemas-microsoft-com:vml" Requires="v">
                <p:oleObj name="Equation" r:id="rId14" imgW="1777680" imgH="711000" progId="Equation.3">
                  <p:embed/>
                </p:oleObj>
              </mc:Choice>
              <mc:Fallback>
                <p:oleObj name="Equation" r:id="rId14" imgW="1777680" imgH="711000" progId="Equation.3">
                  <p:embed/>
                  <p:pic>
                    <p:nvPicPr>
                      <p:cNvPr id="27" name="Object 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1500" y="1470345"/>
                        <a:ext cx="2714625" cy="108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149662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a:xfrm>
            <a:off x="357158" y="2560403"/>
            <a:ext cx="8572560" cy="369332"/>
          </a:xfrm>
          <a:prstGeom prst="rect">
            <a:avLst/>
          </a:prstGeom>
        </p:spPr>
        <p:txBody>
          <a:bodyPr wrap="square">
            <a:spAutoFit/>
          </a:bodyPr>
          <a:lstStyle/>
          <a:p>
            <a:r>
              <a:rPr lang="en-US" b="1" i="1" dirty="0"/>
              <a:t>ii) Interval of time when energy is being stored in the capacitor ?</a:t>
            </a:r>
            <a:endParaRPr lang="tr-TR" b="1" i="1" dirty="0"/>
          </a:p>
        </p:txBody>
      </p:sp>
      <p:graphicFrame>
        <p:nvGraphicFramePr>
          <p:cNvPr id="12" name="11 Nesne"/>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2" imgW="914400" imgH="215640" progId="Equation.3">
                  <p:embed/>
                </p:oleObj>
              </mc:Choice>
              <mc:Fallback>
                <p:oleObj name="Equation" r:id="rId2" imgW="914400" imgH="215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Slide Number Placeholder 12"/>
          <p:cNvSpPr>
            <a:spLocks noGrp="1"/>
          </p:cNvSpPr>
          <p:nvPr>
            <p:ph type="sldNum" sz="quarter" idx="12"/>
          </p:nvPr>
        </p:nvSpPr>
        <p:spPr/>
        <p:txBody>
          <a:bodyPr/>
          <a:lstStyle/>
          <a:p>
            <a:fld id="{732390F0-1A5B-4A83-8CFF-11D9A59B5E92}" type="slidenum">
              <a:rPr lang="tr-TR" smtClean="0"/>
              <a:pPr/>
              <a:t>15</a:t>
            </a:fld>
            <a:endParaRPr lang="tr-TR"/>
          </a:p>
        </p:txBody>
      </p:sp>
      <p:sp>
        <p:nvSpPr>
          <p:cNvPr id="14" name="Footer Placeholder 13"/>
          <p:cNvSpPr>
            <a:spLocks noGrp="1"/>
          </p:cNvSpPr>
          <p:nvPr>
            <p:ph type="ftr" sz="quarter" idx="11"/>
          </p:nvPr>
        </p:nvSpPr>
        <p:spPr/>
        <p:txBody>
          <a:bodyPr/>
          <a:lstStyle/>
          <a:p>
            <a:r>
              <a:rPr lang="tr-TR"/>
              <a:t>Ali Muhtaroglu</a:t>
            </a:r>
          </a:p>
        </p:txBody>
      </p:sp>
      <p:sp>
        <p:nvSpPr>
          <p:cNvPr id="16" name="1 Başlık"/>
          <p:cNvSpPr txBox="1">
            <a:spLocks/>
          </p:cNvSpPr>
          <p:nvPr/>
        </p:nvSpPr>
        <p:spPr>
          <a:xfrm>
            <a:off x="142844" y="71414"/>
            <a:ext cx="7000924" cy="571504"/>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3200" b="0" i="0" u="none" strike="noStrike" kern="1200" cap="none" spc="0" normalizeH="0" baseline="0" noProof="0" dirty="0" err="1">
                <a:ln>
                  <a:noFill/>
                </a:ln>
                <a:solidFill>
                  <a:schemeClr val="tx1"/>
                </a:solidFill>
                <a:effectLst/>
                <a:uLnTx/>
                <a:uFillTx/>
                <a:latin typeface="+mj-lt"/>
                <a:ea typeface="+mj-ea"/>
                <a:cs typeface="+mj-cs"/>
              </a:rPr>
              <a:t>Example</a:t>
            </a:r>
            <a:r>
              <a:rPr kumimoji="0" lang="tr-TR" sz="3200" b="0" i="0" u="none" strike="noStrike" kern="1200" cap="none" spc="0" normalizeH="0" baseline="0" noProof="0" dirty="0">
                <a:ln>
                  <a:noFill/>
                </a:ln>
                <a:solidFill>
                  <a:schemeClr val="tx1"/>
                </a:solidFill>
                <a:effectLst/>
                <a:uLnTx/>
                <a:uFillTx/>
                <a:latin typeface="+mj-lt"/>
                <a:ea typeface="+mj-ea"/>
                <a:cs typeface="+mj-cs"/>
              </a:rPr>
              <a:t> (</a:t>
            </a:r>
            <a:r>
              <a:rPr kumimoji="0" lang="tr-TR" sz="3200" b="0" i="0" u="none" strike="noStrike" kern="1200" cap="none" spc="0" normalizeH="0" baseline="0" noProof="0" dirty="0" err="1">
                <a:ln>
                  <a:noFill/>
                </a:ln>
                <a:solidFill>
                  <a:schemeClr val="tx1"/>
                </a:solidFill>
                <a:effectLst/>
                <a:uLnTx/>
                <a:uFillTx/>
                <a:latin typeface="+mj-lt"/>
                <a:ea typeface="+mj-ea"/>
                <a:cs typeface="+mj-cs"/>
              </a:rPr>
              <a:t>Nilsson</a:t>
            </a:r>
            <a:r>
              <a:rPr kumimoji="0" lang="tr-TR" sz="3200" b="0" i="0" u="none" strike="noStrike" kern="1200" cap="none" spc="0" normalizeH="0" baseline="0" noProof="0" dirty="0">
                <a:ln>
                  <a:noFill/>
                </a:ln>
                <a:solidFill>
                  <a:schemeClr val="tx1"/>
                </a:solidFill>
                <a:effectLst/>
                <a:uLnTx/>
                <a:uFillTx/>
                <a:latin typeface="+mj-lt"/>
                <a:ea typeface="+mj-ea"/>
                <a:cs typeface="+mj-cs"/>
              </a:rPr>
              <a:t> &amp; </a:t>
            </a:r>
            <a:r>
              <a:rPr kumimoji="0" lang="tr-TR" sz="3200" b="0" i="0" u="none" strike="noStrike" kern="1200" cap="none" spc="0" normalizeH="0" baseline="0" noProof="0" dirty="0" err="1">
                <a:ln>
                  <a:noFill/>
                </a:ln>
                <a:solidFill>
                  <a:schemeClr val="tx1"/>
                </a:solidFill>
                <a:effectLst/>
                <a:uLnTx/>
                <a:uFillTx/>
                <a:latin typeface="+mj-lt"/>
                <a:ea typeface="+mj-ea"/>
                <a:cs typeface="+mj-cs"/>
              </a:rPr>
              <a:t>Riedel</a:t>
            </a:r>
            <a:r>
              <a:rPr kumimoji="0" lang="tr-TR" sz="3200" b="0" i="0" u="none" strike="noStrike" kern="1200" cap="none" spc="0" normalizeH="0" baseline="0" noProof="0" dirty="0">
                <a:ln>
                  <a:noFill/>
                </a:ln>
                <a:solidFill>
                  <a:schemeClr val="tx1"/>
                </a:solidFill>
                <a:effectLst/>
                <a:uLnTx/>
                <a:uFillTx/>
                <a:latin typeface="+mj-lt"/>
                <a:ea typeface="+mj-ea"/>
                <a:cs typeface="+mj-cs"/>
              </a:rPr>
              <a:t>)</a:t>
            </a:r>
          </a:p>
        </p:txBody>
      </p:sp>
      <p:sp>
        <p:nvSpPr>
          <p:cNvPr id="17" name="6 Dikdörtgen"/>
          <p:cNvSpPr/>
          <p:nvPr/>
        </p:nvSpPr>
        <p:spPr>
          <a:xfrm>
            <a:off x="285720" y="714356"/>
            <a:ext cx="8572560" cy="707886"/>
          </a:xfrm>
          <a:prstGeom prst="rect">
            <a:avLst/>
          </a:prstGeom>
        </p:spPr>
        <p:txBody>
          <a:bodyPr wrap="square">
            <a:spAutoFit/>
          </a:bodyPr>
          <a:lstStyle/>
          <a:p>
            <a:r>
              <a:rPr lang="en-US" sz="2000" dirty="0"/>
              <a:t>The voltage pulse described by the following equations is impressed across the terminals of a 0.5 </a:t>
            </a:r>
            <a:r>
              <a:rPr lang="en-US" sz="2000" dirty="0" err="1"/>
              <a:t>μF</a:t>
            </a:r>
            <a:r>
              <a:rPr lang="en-US" sz="2000" dirty="0"/>
              <a:t> capacitor:</a:t>
            </a:r>
            <a:endParaRPr lang="tr-TR" sz="2000" dirty="0"/>
          </a:p>
        </p:txBody>
      </p:sp>
      <p:pic>
        <p:nvPicPr>
          <p:cNvPr id="15" name="Picture 10"/>
          <p:cNvPicPr>
            <a:picLocks noChangeAspect="1" noChangeArrowheads="1"/>
          </p:cNvPicPr>
          <p:nvPr/>
        </p:nvPicPr>
        <p:blipFill>
          <a:blip r:embed="rId4" cstate="print"/>
          <a:srcRect/>
          <a:stretch>
            <a:fillRect/>
          </a:stretch>
        </p:blipFill>
        <p:spPr bwMode="auto">
          <a:xfrm>
            <a:off x="5286380" y="2922858"/>
            <a:ext cx="2643206" cy="1225706"/>
          </a:xfrm>
          <a:prstGeom prst="rect">
            <a:avLst/>
          </a:prstGeom>
          <a:noFill/>
          <a:ln w="9525">
            <a:noFill/>
            <a:miter lim="800000"/>
            <a:headEnd/>
            <a:tailEnd/>
          </a:ln>
          <a:effectLst/>
        </p:spPr>
      </p:pic>
      <p:pic>
        <p:nvPicPr>
          <p:cNvPr id="18" name="Picture 12"/>
          <p:cNvPicPr>
            <a:picLocks noChangeAspect="1" noChangeArrowheads="1"/>
          </p:cNvPicPr>
          <p:nvPr/>
        </p:nvPicPr>
        <p:blipFill>
          <a:blip r:embed="rId5" cstate="print"/>
          <a:srcRect/>
          <a:stretch>
            <a:fillRect/>
          </a:stretch>
        </p:blipFill>
        <p:spPr bwMode="auto">
          <a:xfrm>
            <a:off x="5286380" y="4214818"/>
            <a:ext cx="2714644" cy="1326149"/>
          </a:xfrm>
          <a:prstGeom prst="rect">
            <a:avLst/>
          </a:prstGeom>
          <a:noFill/>
          <a:ln w="9525">
            <a:noFill/>
            <a:miter lim="800000"/>
            <a:headEnd/>
            <a:tailEnd/>
          </a:ln>
          <a:effectLst/>
        </p:spPr>
      </p:pic>
      <p:pic>
        <p:nvPicPr>
          <p:cNvPr id="19" name="Picture 15"/>
          <p:cNvPicPr>
            <a:picLocks noChangeAspect="1" noChangeArrowheads="1"/>
          </p:cNvPicPr>
          <p:nvPr/>
        </p:nvPicPr>
        <p:blipFill>
          <a:blip r:embed="rId6" cstate="print"/>
          <a:srcRect/>
          <a:stretch>
            <a:fillRect/>
          </a:stretch>
        </p:blipFill>
        <p:spPr bwMode="auto">
          <a:xfrm>
            <a:off x="5286380" y="5580064"/>
            <a:ext cx="3000395" cy="1160095"/>
          </a:xfrm>
          <a:prstGeom prst="rect">
            <a:avLst/>
          </a:prstGeom>
          <a:noFill/>
          <a:ln w="9525">
            <a:noFill/>
            <a:miter lim="800000"/>
            <a:headEnd/>
            <a:tailEnd/>
          </a:ln>
          <a:effectLst/>
        </p:spPr>
      </p:pic>
      <p:graphicFrame>
        <p:nvGraphicFramePr>
          <p:cNvPr id="28" name="Object 6"/>
          <p:cNvGraphicFramePr>
            <a:graphicFrameLocks noChangeAspect="1"/>
          </p:cNvGraphicFramePr>
          <p:nvPr>
            <p:extLst>
              <p:ext uri="{D42A27DB-BD31-4B8C-83A1-F6EECF244321}">
                <p14:modId xmlns:p14="http://schemas.microsoft.com/office/powerpoint/2010/main" val="2842061387"/>
              </p:ext>
            </p:extLst>
          </p:nvPr>
        </p:nvGraphicFramePr>
        <p:xfrm>
          <a:off x="571500" y="1470345"/>
          <a:ext cx="2714625" cy="1087438"/>
        </p:xfrm>
        <a:graphic>
          <a:graphicData uri="http://schemas.openxmlformats.org/presentationml/2006/ole">
            <mc:AlternateContent xmlns:mc="http://schemas.openxmlformats.org/markup-compatibility/2006">
              <mc:Choice xmlns:v="urn:schemas-microsoft-com:vml" Requires="v">
                <p:oleObj name="Equation" r:id="rId7" imgW="1777680" imgH="711000" progId="Equation.3">
                  <p:embed/>
                </p:oleObj>
              </mc:Choice>
              <mc:Fallback>
                <p:oleObj name="Equation" r:id="rId7" imgW="1777680" imgH="711000" progId="Equation.3">
                  <p:embed/>
                  <p:pic>
                    <p:nvPicPr>
                      <p:cNvPr id="27"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1500" y="1470345"/>
                        <a:ext cx="2714625" cy="108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9" name="Picture 5"/>
          <p:cNvPicPr>
            <a:picLocks noChangeAspect="1" noChangeArrowheads="1"/>
          </p:cNvPicPr>
          <p:nvPr/>
        </p:nvPicPr>
        <p:blipFill>
          <a:blip r:embed="rId9" cstate="print"/>
          <a:srcRect/>
          <a:stretch>
            <a:fillRect/>
          </a:stretch>
        </p:blipFill>
        <p:spPr bwMode="auto">
          <a:xfrm>
            <a:off x="4929191" y="1355130"/>
            <a:ext cx="2992316" cy="1293812"/>
          </a:xfrm>
          <a:prstGeom prst="rect">
            <a:avLst/>
          </a:prstGeom>
          <a:noFill/>
          <a:ln w="9525">
            <a:noFill/>
            <a:miter lim="800000"/>
            <a:headEnd/>
            <a:tailEnd/>
          </a:ln>
          <a:effectLst/>
        </p:spPr>
      </p:pic>
    </p:spTree>
    <p:extLst>
      <p:ext uri="{BB962C8B-B14F-4D97-AF65-F5344CB8AC3E}">
        <p14:creationId xmlns:p14="http://schemas.microsoft.com/office/powerpoint/2010/main" val="574907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a:xfrm>
            <a:off x="357158" y="2560403"/>
            <a:ext cx="8572560" cy="369332"/>
          </a:xfrm>
          <a:prstGeom prst="rect">
            <a:avLst/>
          </a:prstGeom>
        </p:spPr>
        <p:txBody>
          <a:bodyPr wrap="square">
            <a:spAutoFit/>
          </a:bodyPr>
          <a:lstStyle/>
          <a:p>
            <a:r>
              <a:rPr lang="en-US" b="1" i="1" dirty="0"/>
              <a:t>ii) Interval of time when energy is being stored in the capacitor ?</a:t>
            </a:r>
            <a:endParaRPr lang="tr-TR" b="1" i="1" dirty="0"/>
          </a:p>
        </p:txBody>
      </p:sp>
      <p:graphicFrame>
        <p:nvGraphicFramePr>
          <p:cNvPr id="12" name="11 Nesne"/>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2" imgW="914400" imgH="215640" progId="Equation.3">
                  <p:embed/>
                </p:oleObj>
              </mc:Choice>
              <mc:Fallback>
                <p:oleObj name="Equation" r:id="rId2" imgW="914400" imgH="215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Slide Number Placeholder 12"/>
          <p:cNvSpPr>
            <a:spLocks noGrp="1"/>
          </p:cNvSpPr>
          <p:nvPr>
            <p:ph type="sldNum" sz="quarter" idx="12"/>
          </p:nvPr>
        </p:nvSpPr>
        <p:spPr/>
        <p:txBody>
          <a:bodyPr/>
          <a:lstStyle/>
          <a:p>
            <a:fld id="{732390F0-1A5B-4A83-8CFF-11D9A59B5E92}" type="slidenum">
              <a:rPr lang="tr-TR" smtClean="0"/>
              <a:pPr/>
              <a:t>16</a:t>
            </a:fld>
            <a:endParaRPr lang="tr-TR"/>
          </a:p>
        </p:txBody>
      </p:sp>
      <p:sp>
        <p:nvSpPr>
          <p:cNvPr id="14" name="Footer Placeholder 13"/>
          <p:cNvSpPr>
            <a:spLocks noGrp="1"/>
          </p:cNvSpPr>
          <p:nvPr>
            <p:ph type="ftr" sz="quarter" idx="11"/>
          </p:nvPr>
        </p:nvSpPr>
        <p:spPr/>
        <p:txBody>
          <a:bodyPr/>
          <a:lstStyle/>
          <a:p>
            <a:r>
              <a:rPr lang="tr-TR"/>
              <a:t>Ali Muhtaroglu</a:t>
            </a:r>
          </a:p>
        </p:txBody>
      </p:sp>
      <p:sp>
        <p:nvSpPr>
          <p:cNvPr id="16" name="1 Başlık"/>
          <p:cNvSpPr txBox="1">
            <a:spLocks/>
          </p:cNvSpPr>
          <p:nvPr/>
        </p:nvSpPr>
        <p:spPr>
          <a:xfrm>
            <a:off x="142844" y="71414"/>
            <a:ext cx="7000924" cy="571504"/>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3200" b="0" i="0" u="none" strike="noStrike" kern="1200" cap="none" spc="0" normalizeH="0" baseline="0" noProof="0" dirty="0" err="1">
                <a:ln>
                  <a:noFill/>
                </a:ln>
                <a:solidFill>
                  <a:schemeClr val="tx1"/>
                </a:solidFill>
                <a:effectLst/>
                <a:uLnTx/>
                <a:uFillTx/>
                <a:latin typeface="+mj-lt"/>
                <a:ea typeface="+mj-ea"/>
                <a:cs typeface="+mj-cs"/>
              </a:rPr>
              <a:t>Example</a:t>
            </a:r>
            <a:r>
              <a:rPr kumimoji="0" lang="tr-TR" sz="3200" b="0" i="0" u="none" strike="noStrike" kern="1200" cap="none" spc="0" normalizeH="0" baseline="0" noProof="0" dirty="0">
                <a:ln>
                  <a:noFill/>
                </a:ln>
                <a:solidFill>
                  <a:schemeClr val="tx1"/>
                </a:solidFill>
                <a:effectLst/>
                <a:uLnTx/>
                <a:uFillTx/>
                <a:latin typeface="+mj-lt"/>
                <a:ea typeface="+mj-ea"/>
                <a:cs typeface="+mj-cs"/>
              </a:rPr>
              <a:t> (</a:t>
            </a:r>
            <a:r>
              <a:rPr kumimoji="0" lang="tr-TR" sz="3200" b="0" i="0" u="none" strike="noStrike" kern="1200" cap="none" spc="0" normalizeH="0" baseline="0" noProof="0" dirty="0" err="1">
                <a:ln>
                  <a:noFill/>
                </a:ln>
                <a:solidFill>
                  <a:schemeClr val="tx1"/>
                </a:solidFill>
                <a:effectLst/>
                <a:uLnTx/>
                <a:uFillTx/>
                <a:latin typeface="+mj-lt"/>
                <a:ea typeface="+mj-ea"/>
                <a:cs typeface="+mj-cs"/>
              </a:rPr>
              <a:t>Nilsson</a:t>
            </a:r>
            <a:r>
              <a:rPr kumimoji="0" lang="tr-TR" sz="3200" b="0" i="0" u="none" strike="noStrike" kern="1200" cap="none" spc="0" normalizeH="0" baseline="0" noProof="0" dirty="0">
                <a:ln>
                  <a:noFill/>
                </a:ln>
                <a:solidFill>
                  <a:schemeClr val="tx1"/>
                </a:solidFill>
                <a:effectLst/>
                <a:uLnTx/>
                <a:uFillTx/>
                <a:latin typeface="+mj-lt"/>
                <a:ea typeface="+mj-ea"/>
                <a:cs typeface="+mj-cs"/>
              </a:rPr>
              <a:t> &amp; </a:t>
            </a:r>
            <a:r>
              <a:rPr kumimoji="0" lang="tr-TR" sz="3200" b="0" i="0" u="none" strike="noStrike" kern="1200" cap="none" spc="0" normalizeH="0" baseline="0" noProof="0" dirty="0" err="1">
                <a:ln>
                  <a:noFill/>
                </a:ln>
                <a:solidFill>
                  <a:schemeClr val="tx1"/>
                </a:solidFill>
                <a:effectLst/>
                <a:uLnTx/>
                <a:uFillTx/>
                <a:latin typeface="+mj-lt"/>
                <a:ea typeface="+mj-ea"/>
                <a:cs typeface="+mj-cs"/>
              </a:rPr>
              <a:t>Riedel</a:t>
            </a:r>
            <a:r>
              <a:rPr kumimoji="0" lang="tr-TR" sz="3200" b="0" i="0" u="none" strike="noStrike" kern="1200" cap="none" spc="0" normalizeH="0" baseline="0" noProof="0" dirty="0">
                <a:ln>
                  <a:noFill/>
                </a:ln>
                <a:solidFill>
                  <a:schemeClr val="tx1"/>
                </a:solidFill>
                <a:effectLst/>
                <a:uLnTx/>
                <a:uFillTx/>
                <a:latin typeface="+mj-lt"/>
                <a:ea typeface="+mj-ea"/>
                <a:cs typeface="+mj-cs"/>
              </a:rPr>
              <a:t>)</a:t>
            </a:r>
          </a:p>
        </p:txBody>
      </p:sp>
      <p:sp>
        <p:nvSpPr>
          <p:cNvPr id="17" name="6 Dikdörtgen"/>
          <p:cNvSpPr/>
          <p:nvPr/>
        </p:nvSpPr>
        <p:spPr>
          <a:xfrm>
            <a:off x="285720" y="714356"/>
            <a:ext cx="8572560" cy="707886"/>
          </a:xfrm>
          <a:prstGeom prst="rect">
            <a:avLst/>
          </a:prstGeom>
        </p:spPr>
        <p:txBody>
          <a:bodyPr wrap="square">
            <a:spAutoFit/>
          </a:bodyPr>
          <a:lstStyle/>
          <a:p>
            <a:r>
              <a:rPr lang="en-US" sz="2000" dirty="0"/>
              <a:t>The voltage pulse described by the following equations is impressed across the terminals of a 0.5 </a:t>
            </a:r>
            <a:r>
              <a:rPr lang="en-US" sz="2000" dirty="0" err="1"/>
              <a:t>μF</a:t>
            </a:r>
            <a:r>
              <a:rPr lang="en-US" sz="2000" dirty="0"/>
              <a:t> capacitor:</a:t>
            </a:r>
            <a:endParaRPr lang="tr-TR" sz="2000" dirty="0"/>
          </a:p>
        </p:txBody>
      </p:sp>
      <p:pic>
        <p:nvPicPr>
          <p:cNvPr id="15" name="Picture 10"/>
          <p:cNvPicPr>
            <a:picLocks noChangeAspect="1" noChangeArrowheads="1"/>
          </p:cNvPicPr>
          <p:nvPr/>
        </p:nvPicPr>
        <p:blipFill>
          <a:blip r:embed="rId4" cstate="print"/>
          <a:srcRect/>
          <a:stretch>
            <a:fillRect/>
          </a:stretch>
        </p:blipFill>
        <p:spPr bwMode="auto">
          <a:xfrm>
            <a:off x="5286380" y="2922858"/>
            <a:ext cx="2643206" cy="1225706"/>
          </a:xfrm>
          <a:prstGeom prst="rect">
            <a:avLst/>
          </a:prstGeom>
          <a:noFill/>
          <a:ln w="9525">
            <a:noFill/>
            <a:miter lim="800000"/>
            <a:headEnd/>
            <a:tailEnd/>
          </a:ln>
          <a:effectLst/>
        </p:spPr>
      </p:pic>
      <p:pic>
        <p:nvPicPr>
          <p:cNvPr id="18" name="Picture 12"/>
          <p:cNvPicPr>
            <a:picLocks noChangeAspect="1" noChangeArrowheads="1"/>
          </p:cNvPicPr>
          <p:nvPr/>
        </p:nvPicPr>
        <p:blipFill>
          <a:blip r:embed="rId5" cstate="print"/>
          <a:srcRect/>
          <a:stretch>
            <a:fillRect/>
          </a:stretch>
        </p:blipFill>
        <p:spPr bwMode="auto">
          <a:xfrm>
            <a:off x="5286380" y="4214818"/>
            <a:ext cx="2714644" cy="1326149"/>
          </a:xfrm>
          <a:prstGeom prst="rect">
            <a:avLst/>
          </a:prstGeom>
          <a:noFill/>
          <a:ln w="9525">
            <a:noFill/>
            <a:miter lim="800000"/>
            <a:headEnd/>
            <a:tailEnd/>
          </a:ln>
          <a:effectLst/>
        </p:spPr>
      </p:pic>
      <p:pic>
        <p:nvPicPr>
          <p:cNvPr id="19" name="Picture 15"/>
          <p:cNvPicPr>
            <a:picLocks noChangeAspect="1" noChangeArrowheads="1"/>
          </p:cNvPicPr>
          <p:nvPr/>
        </p:nvPicPr>
        <p:blipFill>
          <a:blip r:embed="rId6" cstate="print"/>
          <a:srcRect/>
          <a:stretch>
            <a:fillRect/>
          </a:stretch>
        </p:blipFill>
        <p:spPr bwMode="auto">
          <a:xfrm>
            <a:off x="5286380" y="5580064"/>
            <a:ext cx="3000395" cy="1160095"/>
          </a:xfrm>
          <a:prstGeom prst="rect">
            <a:avLst/>
          </a:prstGeom>
          <a:noFill/>
          <a:ln w="9525">
            <a:noFill/>
            <a:miter lim="800000"/>
            <a:headEnd/>
            <a:tailEnd/>
          </a:ln>
          <a:effectLst/>
        </p:spPr>
      </p:pic>
      <p:sp>
        <p:nvSpPr>
          <p:cNvPr id="20" name="14 Dikdörtgen"/>
          <p:cNvSpPr/>
          <p:nvPr/>
        </p:nvSpPr>
        <p:spPr>
          <a:xfrm>
            <a:off x="642910" y="3786190"/>
            <a:ext cx="4572000" cy="1323439"/>
          </a:xfrm>
          <a:prstGeom prst="rect">
            <a:avLst/>
          </a:prstGeom>
        </p:spPr>
        <p:txBody>
          <a:bodyPr>
            <a:spAutoFit/>
          </a:bodyPr>
          <a:lstStyle/>
          <a:p>
            <a:r>
              <a:rPr lang="en-US" sz="2000" dirty="0"/>
              <a:t>Energy is being stored when the power is p</a:t>
            </a:r>
            <a:r>
              <a:rPr lang="tr-TR" sz="2000" dirty="0"/>
              <a:t>ositive</a:t>
            </a:r>
            <a:r>
              <a:rPr lang="en-US" sz="2000" dirty="0"/>
              <a:t> (based on original assumptions)</a:t>
            </a:r>
            <a:r>
              <a:rPr lang="tr-TR" sz="2000" dirty="0"/>
              <a:t>:</a:t>
            </a:r>
          </a:p>
          <a:p>
            <a:r>
              <a:rPr lang="tr-TR" sz="2000" b="1" dirty="0"/>
              <a:t>0s &lt; t &lt; 1s</a:t>
            </a:r>
            <a:endParaRPr lang="tr-TR" sz="2000" dirty="0"/>
          </a:p>
        </p:txBody>
      </p:sp>
      <p:pic>
        <p:nvPicPr>
          <p:cNvPr id="21" name="Picture 2"/>
          <p:cNvPicPr>
            <a:picLocks noChangeAspect="1" noChangeArrowheads="1"/>
          </p:cNvPicPr>
          <p:nvPr/>
        </p:nvPicPr>
        <p:blipFill>
          <a:blip r:embed="rId7" cstate="print"/>
          <a:srcRect/>
          <a:stretch>
            <a:fillRect/>
          </a:stretch>
        </p:blipFill>
        <p:spPr bwMode="auto">
          <a:xfrm>
            <a:off x="2357422" y="4500570"/>
            <a:ext cx="1500198" cy="1943919"/>
          </a:xfrm>
          <a:prstGeom prst="rect">
            <a:avLst/>
          </a:prstGeom>
          <a:noFill/>
          <a:ln w="9525">
            <a:noFill/>
            <a:miter lim="800000"/>
            <a:headEnd/>
            <a:tailEnd/>
          </a:ln>
          <a:effectLst/>
        </p:spPr>
      </p:pic>
      <p:graphicFrame>
        <p:nvGraphicFramePr>
          <p:cNvPr id="23" name="Object 6"/>
          <p:cNvGraphicFramePr>
            <a:graphicFrameLocks noChangeAspect="1"/>
          </p:cNvGraphicFramePr>
          <p:nvPr>
            <p:extLst>
              <p:ext uri="{D42A27DB-BD31-4B8C-83A1-F6EECF244321}">
                <p14:modId xmlns:p14="http://schemas.microsoft.com/office/powerpoint/2010/main" val="4056795910"/>
              </p:ext>
            </p:extLst>
          </p:nvPr>
        </p:nvGraphicFramePr>
        <p:xfrm>
          <a:off x="571500" y="1470345"/>
          <a:ext cx="2714625" cy="1087438"/>
        </p:xfrm>
        <a:graphic>
          <a:graphicData uri="http://schemas.openxmlformats.org/presentationml/2006/ole">
            <mc:AlternateContent xmlns:mc="http://schemas.openxmlformats.org/markup-compatibility/2006">
              <mc:Choice xmlns:v="urn:schemas-microsoft-com:vml" Requires="v">
                <p:oleObj name="Equation" r:id="rId8" imgW="1777680" imgH="711000" progId="Equation.3">
                  <p:embed/>
                </p:oleObj>
              </mc:Choice>
              <mc:Fallback>
                <p:oleObj name="Equation" r:id="rId8" imgW="1777680" imgH="711000" progId="Equation.3">
                  <p:embed/>
                  <p:pic>
                    <p:nvPicPr>
                      <p:cNvPr id="28"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1500" y="1470345"/>
                        <a:ext cx="2714625" cy="108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4" name="Picture 5"/>
          <p:cNvPicPr>
            <a:picLocks noChangeAspect="1" noChangeArrowheads="1"/>
          </p:cNvPicPr>
          <p:nvPr/>
        </p:nvPicPr>
        <p:blipFill>
          <a:blip r:embed="rId10" cstate="print"/>
          <a:srcRect/>
          <a:stretch>
            <a:fillRect/>
          </a:stretch>
        </p:blipFill>
        <p:spPr bwMode="auto">
          <a:xfrm>
            <a:off x="4929191" y="1355130"/>
            <a:ext cx="2992316" cy="1293812"/>
          </a:xfrm>
          <a:prstGeom prst="rect">
            <a:avLst/>
          </a:prstGeom>
          <a:noFill/>
          <a:ln w="9525">
            <a:noFill/>
            <a:miter lim="800000"/>
            <a:headEnd/>
            <a:tailEnd/>
          </a:ln>
          <a:effectLst/>
        </p:spPr>
      </p:pic>
    </p:spTree>
    <p:extLst>
      <p:ext uri="{BB962C8B-B14F-4D97-AF65-F5344CB8AC3E}">
        <p14:creationId xmlns:p14="http://schemas.microsoft.com/office/powerpoint/2010/main" val="2719619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a:xfrm>
            <a:off x="357158" y="2560403"/>
            <a:ext cx="8572560" cy="369332"/>
          </a:xfrm>
          <a:prstGeom prst="rect">
            <a:avLst/>
          </a:prstGeom>
        </p:spPr>
        <p:txBody>
          <a:bodyPr wrap="square">
            <a:spAutoFit/>
          </a:bodyPr>
          <a:lstStyle/>
          <a:p>
            <a:r>
              <a:rPr lang="en-US" b="1" i="1" dirty="0"/>
              <a:t>iii) Interval of time when energy is being delivered by the capacitor ?</a:t>
            </a:r>
            <a:endParaRPr lang="tr-TR" b="1" i="1" dirty="0"/>
          </a:p>
        </p:txBody>
      </p:sp>
      <p:graphicFrame>
        <p:nvGraphicFramePr>
          <p:cNvPr id="12" name="11 Nesne"/>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2" imgW="914400" imgH="215640" progId="Equation.3">
                  <p:embed/>
                </p:oleObj>
              </mc:Choice>
              <mc:Fallback>
                <p:oleObj name="Equation" r:id="rId2" imgW="914400" imgH="215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Slide Number Placeholder 12"/>
          <p:cNvSpPr>
            <a:spLocks noGrp="1"/>
          </p:cNvSpPr>
          <p:nvPr>
            <p:ph type="sldNum" sz="quarter" idx="12"/>
          </p:nvPr>
        </p:nvSpPr>
        <p:spPr/>
        <p:txBody>
          <a:bodyPr/>
          <a:lstStyle/>
          <a:p>
            <a:fld id="{732390F0-1A5B-4A83-8CFF-11D9A59B5E92}" type="slidenum">
              <a:rPr lang="tr-TR" smtClean="0"/>
              <a:pPr/>
              <a:t>17</a:t>
            </a:fld>
            <a:endParaRPr lang="tr-TR"/>
          </a:p>
        </p:txBody>
      </p:sp>
      <p:sp>
        <p:nvSpPr>
          <p:cNvPr id="14" name="Footer Placeholder 13"/>
          <p:cNvSpPr>
            <a:spLocks noGrp="1"/>
          </p:cNvSpPr>
          <p:nvPr>
            <p:ph type="ftr" sz="quarter" idx="11"/>
          </p:nvPr>
        </p:nvSpPr>
        <p:spPr/>
        <p:txBody>
          <a:bodyPr/>
          <a:lstStyle/>
          <a:p>
            <a:r>
              <a:rPr lang="tr-TR"/>
              <a:t>Ali Muhtaroglu</a:t>
            </a:r>
          </a:p>
        </p:txBody>
      </p:sp>
      <p:sp>
        <p:nvSpPr>
          <p:cNvPr id="16" name="1 Başlık"/>
          <p:cNvSpPr txBox="1">
            <a:spLocks/>
          </p:cNvSpPr>
          <p:nvPr/>
        </p:nvSpPr>
        <p:spPr>
          <a:xfrm>
            <a:off x="142844" y="71414"/>
            <a:ext cx="7000924" cy="571504"/>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3200" b="0" i="0" u="none" strike="noStrike" kern="1200" cap="none" spc="0" normalizeH="0" baseline="0" noProof="0" dirty="0" err="1">
                <a:ln>
                  <a:noFill/>
                </a:ln>
                <a:solidFill>
                  <a:schemeClr val="tx1"/>
                </a:solidFill>
                <a:effectLst/>
                <a:uLnTx/>
                <a:uFillTx/>
                <a:latin typeface="+mj-lt"/>
                <a:ea typeface="+mj-ea"/>
                <a:cs typeface="+mj-cs"/>
              </a:rPr>
              <a:t>Example</a:t>
            </a:r>
            <a:r>
              <a:rPr kumimoji="0" lang="tr-TR" sz="3200" b="0" i="0" u="none" strike="noStrike" kern="1200" cap="none" spc="0" normalizeH="0" baseline="0" noProof="0" dirty="0">
                <a:ln>
                  <a:noFill/>
                </a:ln>
                <a:solidFill>
                  <a:schemeClr val="tx1"/>
                </a:solidFill>
                <a:effectLst/>
                <a:uLnTx/>
                <a:uFillTx/>
                <a:latin typeface="+mj-lt"/>
                <a:ea typeface="+mj-ea"/>
                <a:cs typeface="+mj-cs"/>
              </a:rPr>
              <a:t> (</a:t>
            </a:r>
            <a:r>
              <a:rPr kumimoji="0" lang="tr-TR" sz="3200" b="0" i="0" u="none" strike="noStrike" kern="1200" cap="none" spc="0" normalizeH="0" baseline="0" noProof="0" dirty="0" err="1">
                <a:ln>
                  <a:noFill/>
                </a:ln>
                <a:solidFill>
                  <a:schemeClr val="tx1"/>
                </a:solidFill>
                <a:effectLst/>
                <a:uLnTx/>
                <a:uFillTx/>
                <a:latin typeface="+mj-lt"/>
                <a:ea typeface="+mj-ea"/>
                <a:cs typeface="+mj-cs"/>
              </a:rPr>
              <a:t>Nilsson</a:t>
            </a:r>
            <a:r>
              <a:rPr kumimoji="0" lang="tr-TR" sz="3200" b="0" i="0" u="none" strike="noStrike" kern="1200" cap="none" spc="0" normalizeH="0" baseline="0" noProof="0" dirty="0">
                <a:ln>
                  <a:noFill/>
                </a:ln>
                <a:solidFill>
                  <a:schemeClr val="tx1"/>
                </a:solidFill>
                <a:effectLst/>
                <a:uLnTx/>
                <a:uFillTx/>
                <a:latin typeface="+mj-lt"/>
                <a:ea typeface="+mj-ea"/>
                <a:cs typeface="+mj-cs"/>
              </a:rPr>
              <a:t> &amp; </a:t>
            </a:r>
            <a:r>
              <a:rPr kumimoji="0" lang="tr-TR" sz="3200" b="0" i="0" u="none" strike="noStrike" kern="1200" cap="none" spc="0" normalizeH="0" baseline="0" noProof="0" dirty="0" err="1">
                <a:ln>
                  <a:noFill/>
                </a:ln>
                <a:solidFill>
                  <a:schemeClr val="tx1"/>
                </a:solidFill>
                <a:effectLst/>
                <a:uLnTx/>
                <a:uFillTx/>
                <a:latin typeface="+mj-lt"/>
                <a:ea typeface="+mj-ea"/>
                <a:cs typeface="+mj-cs"/>
              </a:rPr>
              <a:t>Riedel</a:t>
            </a:r>
            <a:r>
              <a:rPr kumimoji="0" lang="tr-TR" sz="3200" b="0" i="0" u="none" strike="noStrike" kern="1200" cap="none" spc="0" normalizeH="0" baseline="0" noProof="0" dirty="0">
                <a:ln>
                  <a:noFill/>
                </a:ln>
                <a:solidFill>
                  <a:schemeClr val="tx1"/>
                </a:solidFill>
                <a:effectLst/>
                <a:uLnTx/>
                <a:uFillTx/>
                <a:latin typeface="+mj-lt"/>
                <a:ea typeface="+mj-ea"/>
                <a:cs typeface="+mj-cs"/>
              </a:rPr>
              <a:t>)</a:t>
            </a:r>
          </a:p>
        </p:txBody>
      </p:sp>
      <p:sp>
        <p:nvSpPr>
          <p:cNvPr id="17" name="6 Dikdörtgen"/>
          <p:cNvSpPr/>
          <p:nvPr/>
        </p:nvSpPr>
        <p:spPr>
          <a:xfrm>
            <a:off x="285720" y="714356"/>
            <a:ext cx="8572560" cy="707886"/>
          </a:xfrm>
          <a:prstGeom prst="rect">
            <a:avLst/>
          </a:prstGeom>
        </p:spPr>
        <p:txBody>
          <a:bodyPr wrap="square">
            <a:spAutoFit/>
          </a:bodyPr>
          <a:lstStyle/>
          <a:p>
            <a:r>
              <a:rPr lang="en-US" sz="2000" dirty="0"/>
              <a:t>The voltage pulse described by the following equations is impressed across the terminals of a 0.5 </a:t>
            </a:r>
            <a:r>
              <a:rPr lang="en-US" sz="2000" dirty="0" err="1"/>
              <a:t>μF</a:t>
            </a:r>
            <a:r>
              <a:rPr lang="en-US" sz="2000" dirty="0"/>
              <a:t> capacitor:</a:t>
            </a:r>
            <a:endParaRPr lang="tr-TR" sz="2000" dirty="0"/>
          </a:p>
        </p:txBody>
      </p:sp>
      <p:pic>
        <p:nvPicPr>
          <p:cNvPr id="15" name="Picture 10"/>
          <p:cNvPicPr>
            <a:picLocks noChangeAspect="1" noChangeArrowheads="1"/>
          </p:cNvPicPr>
          <p:nvPr/>
        </p:nvPicPr>
        <p:blipFill>
          <a:blip r:embed="rId4" cstate="print"/>
          <a:srcRect/>
          <a:stretch>
            <a:fillRect/>
          </a:stretch>
        </p:blipFill>
        <p:spPr bwMode="auto">
          <a:xfrm>
            <a:off x="5286380" y="2922858"/>
            <a:ext cx="2643206" cy="1225706"/>
          </a:xfrm>
          <a:prstGeom prst="rect">
            <a:avLst/>
          </a:prstGeom>
          <a:noFill/>
          <a:ln w="9525">
            <a:noFill/>
            <a:miter lim="800000"/>
            <a:headEnd/>
            <a:tailEnd/>
          </a:ln>
          <a:effectLst/>
        </p:spPr>
      </p:pic>
      <p:pic>
        <p:nvPicPr>
          <p:cNvPr id="18" name="Picture 12"/>
          <p:cNvPicPr>
            <a:picLocks noChangeAspect="1" noChangeArrowheads="1"/>
          </p:cNvPicPr>
          <p:nvPr/>
        </p:nvPicPr>
        <p:blipFill>
          <a:blip r:embed="rId5" cstate="print"/>
          <a:srcRect/>
          <a:stretch>
            <a:fillRect/>
          </a:stretch>
        </p:blipFill>
        <p:spPr bwMode="auto">
          <a:xfrm>
            <a:off x="5286380" y="4214818"/>
            <a:ext cx="2714644" cy="1326149"/>
          </a:xfrm>
          <a:prstGeom prst="rect">
            <a:avLst/>
          </a:prstGeom>
          <a:noFill/>
          <a:ln w="9525">
            <a:noFill/>
            <a:miter lim="800000"/>
            <a:headEnd/>
            <a:tailEnd/>
          </a:ln>
          <a:effectLst/>
        </p:spPr>
      </p:pic>
      <p:pic>
        <p:nvPicPr>
          <p:cNvPr id="19" name="Picture 15"/>
          <p:cNvPicPr>
            <a:picLocks noChangeAspect="1" noChangeArrowheads="1"/>
          </p:cNvPicPr>
          <p:nvPr/>
        </p:nvPicPr>
        <p:blipFill>
          <a:blip r:embed="rId6" cstate="print"/>
          <a:srcRect/>
          <a:stretch>
            <a:fillRect/>
          </a:stretch>
        </p:blipFill>
        <p:spPr bwMode="auto">
          <a:xfrm>
            <a:off x="5286380" y="5580064"/>
            <a:ext cx="3000395" cy="1160095"/>
          </a:xfrm>
          <a:prstGeom prst="rect">
            <a:avLst/>
          </a:prstGeom>
          <a:noFill/>
          <a:ln w="9525">
            <a:noFill/>
            <a:miter lim="800000"/>
            <a:headEnd/>
            <a:tailEnd/>
          </a:ln>
          <a:effectLst/>
        </p:spPr>
      </p:pic>
      <p:graphicFrame>
        <p:nvGraphicFramePr>
          <p:cNvPr id="21" name="Object 6"/>
          <p:cNvGraphicFramePr>
            <a:graphicFrameLocks noChangeAspect="1"/>
          </p:cNvGraphicFramePr>
          <p:nvPr>
            <p:extLst>
              <p:ext uri="{D42A27DB-BD31-4B8C-83A1-F6EECF244321}">
                <p14:modId xmlns:p14="http://schemas.microsoft.com/office/powerpoint/2010/main" val="4056795910"/>
              </p:ext>
            </p:extLst>
          </p:nvPr>
        </p:nvGraphicFramePr>
        <p:xfrm>
          <a:off x="571500" y="1470345"/>
          <a:ext cx="2714625" cy="1087438"/>
        </p:xfrm>
        <a:graphic>
          <a:graphicData uri="http://schemas.openxmlformats.org/presentationml/2006/ole">
            <mc:AlternateContent xmlns:mc="http://schemas.openxmlformats.org/markup-compatibility/2006">
              <mc:Choice xmlns:v="urn:schemas-microsoft-com:vml" Requires="v">
                <p:oleObj name="Equation" r:id="rId7" imgW="1777680" imgH="711000" progId="Equation.3">
                  <p:embed/>
                </p:oleObj>
              </mc:Choice>
              <mc:Fallback>
                <p:oleObj name="Equation" r:id="rId7" imgW="1777680" imgH="711000" progId="Equation.3">
                  <p:embed/>
                  <p:pic>
                    <p:nvPicPr>
                      <p:cNvPr id="28"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1500" y="1470345"/>
                        <a:ext cx="2714625" cy="108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2" name="Picture 5"/>
          <p:cNvPicPr>
            <a:picLocks noChangeAspect="1" noChangeArrowheads="1"/>
          </p:cNvPicPr>
          <p:nvPr/>
        </p:nvPicPr>
        <p:blipFill>
          <a:blip r:embed="rId9" cstate="print"/>
          <a:srcRect/>
          <a:stretch>
            <a:fillRect/>
          </a:stretch>
        </p:blipFill>
        <p:spPr bwMode="auto">
          <a:xfrm>
            <a:off x="4929191" y="1355130"/>
            <a:ext cx="2992316" cy="1293812"/>
          </a:xfrm>
          <a:prstGeom prst="rect">
            <a:avLst/>
          </a:prstGeom>
          <a:noFill/>
          <a:ln w="9525">
            <a:noFill/>
            <a:miter lim="800000"/>
            <a:headEnd/>
            <a:tailEnd/>
          </a:ln>
          <a:effectLst/>
        </p:spPr>
      </p:pic>
    </p:spTree>
    <p:extLst>
      <p:ext uri="{BB962C8B-B14F-4D97-AF65-F5344CB8AC3E}">
        <p14:creationId xmlns:p14="http://schemas.microsoft.com/office/powerpoint/2010/main" val="2755706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a:xfrm>
            <a:off x="357158" y="2560403"/>
            <a:ext cx="8572560" cy="369332"/>
          </a:xfrm>
          <a:prstGeom prst="rect">
            <a:avLst/>
          </a:prstGeom>
        </p:spPr>
        <p:txBody>
          <a:bodyPr wrap="square">
            <a:spAutoFit/>
          </a:bodyPr>
          <a:lstStyle/>
          <a:p>
            <a:r>
              <a:rPr lang="en-US" b="1" i="1" dirty="0"/>
              <a:t>iii) Interval of time when energy is being delivered by the capacitor ?</a:t>
            </a:r>
            <a:endParaRPr lang="tr-TR" b="1" i="1" dirty="0"/>
          </a:p>
        </p:txBody>
      </p:sp>
      <p:graphicFrame>
        <p:nvGraphicFramePr>
          <p:cNvPr id="12" name="11 Nesne"/>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2" imgW="914400" imgH="215640" progId="Equation.3">
                  <p:embed/>
                </p:oleObj>
              </mc:Choice>
              <mc:Fallback>
                <p:oleObj name="Equation" r:id="rId2" imgW="914400" imgH="215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Slide Number Placeholder 12"/>
          <p:cNvSpPr>
            <a:spLocks noGrp="1"/>
          </p:cNvSpPr>
          <p:nvPr>
            <p:ph type="sldNum" sz="quarter" idx="12"/>
          </p:nvPr>
        </p:nvSpPr>
        <p:spPr/>
        <p:txBody>
          <a:bodyPr/>
          <a:lstStyle/>
          <a:p>
            <a:fld id="{732390F0-1A5B-4A83-8CFF-11D9A59B5E92}" type="slidenum">
              <a:rPr lang="tr-TR" smtClean="0"/>
              <a:pPr/>
              <a:t>18</a:t>
            </a:fld>
            <a:endParaRPr lang="tr-TR"/>
          </a:p>
        </p:txBody>
      </p:sp>
      <p:sp>
        <p:nvSpPr>
          <p:cNvPr id="14" name="Footer Placeholder 13"/>
          <p:cNvSpPr>
            <a:spLocks noGrp="1"/>
          </p:cNvSpPr>
          <p:nvPr>
            <p:ph type="ftr" sz="quarter" idx="11"/>
          </p:nvPr>
        </p:nvSpPr>
        <p:spPr/>
        <p:txBody>
          <a:bodyPr/>
          <a:lstStyle/>
          <a:p>
            <a:r>
              <a:rPr lang="tr-TR"/>
              <a:t>Ali Muhtaroglu</a:t>
            </a:r>
          </a:p>
        </p:txBody>
      </p:sp>
      <p:sp>
        <p:nvSpPr>
          <p:cNvPr id="16" name="1 Başlık"/>
          <p:cNvSpPr txBox="1">
            <a:spLocks/>
          </p:cNvSpPr>
          <p:nvPr/>
        </p:nvSpPr>
        <p:spPr>
          <a:xfrm>
            <a:off x="142844" y="71414"/>
            <a:ext cx="7000924" cy="571504"/>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3200" b="0" i="0" u="none" strike="noStrike" kern="1200" cap="none" spc="0" normalizeH="0" baseline="0" noProof="0" dirty="0" err="1">
                <a:ln>
                  <a:noFill/>
                </a:ln>
                <a:solidFill>
                  <a:schemeClr val="tx1"/>
                </a:solidFill>
                <a:effectLst/>
                <a:uLnTx/>
                <a:uFillTx/>
                <a:latin typeface="+mj-lt"/>
                <a:ea typeface="+mj-ea"/>
                <a:cs typeface="+mj-cs"/>
              </a:rPr>
              <a:t>Example</a:t>
            </a:r>
            <a:r>
              <a:rPr kumimoji="0" lang="tr-TR" sz="3200" b="0" i="0" u="none" strike="noStrike" kern="1200" cap="none" spc="0" normalizeH="0" baseline="0" noProof="0" dirty="0">
                <a:ln>
                  <a:noFill/>
                </a:ln>
                <a:solidFill>
                  <a:schemeClr val="tx1"/>
                </a:solidFill>
                <a:effectLst/>
                <a:uLnTx/>
                <a:uFillTx/>
                <a:latin typeface="+mj-lt"/>
                <a:ea typeface="+mj-ea"/>
                <a:cs typeface="+mj-cs"/>
              </a:rPr>
              <a:t> (</a:t>
            </a:r>
            <a:r>
              <a:rPr kumimoji="0" lang="tr-TR" sz="3200" b="0" i="0" u="none" strike="noStrike" kern="1200" cap="none" spc="0" normalizeH="0" baseline="0" noProof="0" dirty="0" err="1">
                <a:ln>
                  <a:noFill/>
                </a:ln>
                <a:solidFill>
                  <a:schemeClr val="tx1"/>
                </a:solidFill>
                <a:effectLst/>
                <a:uLnTx/>
                <a:uFillTx/>
                <a:latin typeface="+mj-lt"/>
                <a:ea typeface="+mj-ea"/>
                <a:cs typeface="+mj-cs"/>
              </a:rPr>
              <a:t>Nilsson</a:t>
            </a:r>
            <a:r>
              <a:rPr kumimoji="0" lang="tr-TR" sz="3200" b="0" i="0" u="none" strike="noStrike" kern="1200" cap="none" spc="0" normalizeH="0" baseline="0" noProof="0" dirty="0">
                <a:ln>
                  <a:noFill/>
                </a:ln>
                <a:solidFill>
                  <a:schemeClr val="tx1"/>
                </a:solidFill>
                <a:effectLst/>
                <a:uLnTx/>
                <a:uFillTx/>
                <a:latin typeface="+mj-lt"/>
                <a:ea typeface="+mj-ea"/>
                <a:cs typeface="+mj-cs"/>
              </a:rPr>
              <a:t> &amp; </a:t>
            </a:r>
            <a:r>
              <a:rPr kumimoji="0" lang="tr-TR" sz="3200" b="0" i="0" u="none" strike="noStrike" kern="1200" cap="none" spc="0" normalizeH="0" baseline="0" noProof="0" dirty="0" err="1">
                <a:ln>
                  <a:noFill/>
                </a:ln>
                <a:solidFill>
                  <a:schemeClr val="tx1"/>
                </a:solidFill>
                <a:effectLst/>
                <a:uLnTx/>
                <a:uFillTx/>
                <a:latin typeface="+mj-lt"/>
                <a:ea typeface="+mj-ea"/>
                <a:cs typeface="+mj-cs"/>
              </a:rPr>
              <a:t>Riedel</a:t>
            </a:r>
            <a:r>
              <a:rPr kumimoji="0" lang="tr-TR" sz="3200" b="0" i="0" u="none" strike="noStrike" kern="1200" cap="none" spc="0" normalizeH="0" baseline="0" noProof="0" dirty="0">
                <a:ln>
                  <a:noFill/>
                </a:ln>
                <a:solidFill>
                  <a:schemeClr val="tx1"/>
                </a:solidFill>
                <a:effectLst/>
                <a:uLnTx/>
                <a:uFillTx/>
                <a:latin typeface="+mj-lt"/>
                <a:ea typeface="+mj-ea"/>
                <a:cs typeface="+mj-cs"/>
              </a:rPr>
              <a:t>)</a:t>
            </a:r>
          </a:p>
        </p:txBody>
      </p:sp>
      <p:sp>
        <p:nvSpPr>
          <p:cNvPr id="17" name="6 Dikdörtgen"/>
          <p:cNvSpPr/>
          <p:nvPr/>
        </p:nvSpPr>
        <p:spPr>
          <a:xfrm>
            <a:off x="285720" y="714356"/>
            <a:ext cx="8572560" cy="707886"/>
          </a:xfrm>
          <a:prstGeom prst="rect">
            <a:avLst/>
          </a:prstGeom>
        </p:spPr>
        <p:txBody>
          <a:bodyPr wrap="square">
            <a:spAutoFit/>
          </a:bodyPr>
          <a:lstStyle/>
          <a:p>
            <a:r>
              <a:rPr lang="en-US" sz="2000" dirty="0"/>
              <a:t>The voltage pulse described by the following equations is impressed across the terminals of a 0.5 </a:t>
            </a:r>
            <a:r>
              <a:rPr lang="en-US" sz="2000" dirty="0" err="1"/>
              <a:t>μF</a:t>
            </a:r>
            <a:r>
              <a:rPr lang="en-US" sz="2000" dirty="0"/>
              <a:t> capacitor:</a:t>
            </a:r>
            <a:endParaRPr lang="tr-TR" sz="2000" dirty="0"/>
          </a:p>
        </p:txBody>
      </p:sp>
      <p:pic>
        <p:nvPicPr>
          <p:cNvPr id="15" name="Picture 10"/>
          <p:cNvPicPr>
            <a:picLocks noChangeAspect="1" noChangeArrowheads="1"/>
          </p:cNvPicPr>
          <p:nvPr/>
        </p:nvPicPr>
        <p:blipFill>
          <a:blip r:embed="rId4" cstate="print"/>
          <a:srcRect/>
          <a:stretch>
            <a:fillRect/>
          </a:stretch>
        </p:blipFill>
        <p:spPr bwMode="auto">
          <a:xfrm>
            <a:off x="5286380" y="2922858"/>
            <a:ext cx="2643206" cy="1225706"/>
          </a:xfrm>
          <a:prstGeom prst="rect">
            <a:avLst/>
          </a:prstGeom>
          <a:noFill/>
          <a:ln w="9525">
            <a:noFill/>
            <a:miter lim="800000"/>
            <a:headEnd/>
            <a:tailEnd/>
          </a:ln>
          <a:effectLst/>
        </p:spPr>
      </p:pic>
      <p:pic>
        <p:nvPicPr>
          <p:cNvPr id="18" name="Picture 12"/>
          <p:cNvPicPr>
            <a:picLocks noChangeAspect="1" noChangeArrowheads="1"/>
          </p:cNvPicPr>
          <p:nvPr/>
        </p:nvPicPr>
        <p:blipFill>
          <a:blip r:embed="rId5" cstate="print"/>
          <a:srcRect/>
          <a:stretch>
            <a:fillRect/>
          </a:stretch>
        </p:blipFill>
        <p:spPr bwMode="auto">
          <a:xfrm>
            <a:off x="5286380" y="4214818"/>
            <a:ext cx="2714644" cy="1326149"/>
          </a:xfrm>
          <a:prstGeom prst="rect">
            <a:avLst/>
          </a:prstGeom>
          <a:noFill/>
          <a:ln w="9525">
            <a:noFill/>
            <a:miter lim="800000"/>
            <a:headEnd/>
            <a:tailEnd/>
          </a:ln>
          <a:effectLst/>
        </p:spPr>
      </p:pic>
      <p:pic>
        <p:nvPicPr>
          <p:cNvPr id="19" name="Picture 15"/>
          <p:cNvPicPr>
            <a:picLocks noChangeAspect="1" noChangeArrowheads="1"/>
          </p:cNvPicPr>
          <p:nvPr/>
        </p:nvPicPr>
        <p:blipFill>
          <a:blip r:embed="rId6" cstate="print"/>
          <a:srcRect/>
          <a:stretch>
            <a:fillRect/>
          </a:stretch>
        </p:blipFill>
        <p:spPr bwMode="auto">
          <a:xfrm>
            <a:off x="5286380" y="5580064"/>
            <a:ext cx="3000395" cy="1160095"/>
          </a:xfrm>
          <a:prstGeom prst="rect">
            <a:avLst/>
          </a:prstGeom>
          <a:noFill/>
          <a:ln w="9525">
            <a:noFill/>
            <a:miter lim="800000"/>
            <a:headEnd/>
            <a:tailEnd/>
          </a:ln>
          <a:effectLst/>
        </p:spPr>
      </p:pic>
      <p:sp>
        <p:nvSpPr>
          <p:cNvPr id="20" name="14 Dikdörtgen"/>
          <p:cNvSpPr/>
          <p:nvPr/>
        </p:nvSpPr>
        <p:spPr>
          <a:xfrm>
            <a:off x="428596" y="3714752"/>
            <a:ext cx="4714876" cy="1015663"/>
          </a:xfrm>
          <a:prstGeom prst="rect">
            <a:avLst/>
          </a:prstGeom>
        </p:spPr>
        <p:txBody>
          <a:bodyPr wrap="square">
            <a:spAutoFit/>
          </a:bodyPr>
          <a:lstStyle/>
          <a:p>
            <a:r>
              <a:rPr lang="en-US" sz="2000" dirty="0"/>
              <a:t>Energy is being delivered when the </a:t>
            </a:r>
            <a:r>
              <a:rPr lang="tr-TR" sz="2000" dirty="0"/>
              <a:t>power is negative</a:t>
            </a:r>
            <a:r>
              <a:rPr lang="en-US" sz="2000" dirty="0"/>
              <a:t> (based on original assumptions)</a:t>
            </a:r>
            <a:r>
              <a:rPr lang="tr-TR" sz="2000" dirty="0"/>
              <a:t>:</a:t>
            </a:r>
          </a:p>
          <a:p>
            <a:r>
              <a:rPr lang="tr-TR" sz="2000" b="1" dirty="0"/>
              <a:t>t &gt; 1s</a:t>
            </a:r>
          </a:p>
        </p:txBody>
      </p:sp>
      <p:pic>
        <p:nvPicPr>
          <p:cNvPr id="21" name="Picture 2"/>
          <p:cNvPicPr>
            <a:picLocks noChangeAspect="1" noChangeArrowheads="1"/>
          </p:cNvPicPr>
          <p:nvPr/>
        </p:nvPicPr>
        <p:blipFill>
          <a:blip r:embed="rId7" cstate="print"/>
          <a:srcRect/>
          <a:stretch>
            <a:fillRect/>
          </a:stretch>
        </p:blipFill>
        <p:spPr bwMode="auto">
          <a:xfrm>
            <a:off x="2214546" y="4572008"/>
            <a:ext cx="1500198" cy="1943919"/>
          </a:xfrm>
          <a:prstGeom prst="rect">
            <a:avLst/>
          </a:prstGeom>
          <a:noFill/>
          <a:ln w="9525">
            <a:noFill/>
            <a:miter lim="800000"/>
            <a:headEnd/>
            <a:tailEnd/>
          </a:ln>
          <a:effectLst/>
        </p:spPr>
      </p:pic>
      <p:graphicFrame>
        <p:nvGraphicFramePr>
          <p:cNvPr id="23" name="Object 6"/>
          <p:cNvGraphicFramePr>
            <a:graphicFrameLocks noChangeAspect="1"/>
          </p:cNvGraphicFramePr>
          <p:nvPr>
            <p:extLst>
              <p:ext uri="{D42A27DB-BD31-4B8C-83A1-F6EECF244321}">
                <p14:modId xmlns:p14="http://schemas.microsoft.com/office/powerpoint/2010/main" val="4056795910"/>
              </p:ext>
            </p:extLst>
          </p:nvPr>
        </p:nvGraphicFramePr>
        <p:xfrm>
          <a:off x="571500" y="1470345"/>
          <a:ext cx="2714625" cy="1087438"/>
        </p:xfrm>
        <a:graphic>
          <a:graphicData uri="http://schemas.openxmlformats.org/presentationml/2006/ole">
            <mc:AlternateContent xmlns:mc="http://schemas.openxmlformats.org/markup-compatibility/2006">
              <mc:Choice xmlns:v="urn:schemas-microsoft-com:vml" Requires="v">
                <p:oleObj name="Equation" r:id="rId8" imgW="1777680" imgH="711000" progId="Equation.3">
                  <p:embed/>
                </p:oleObj>
              </mc:Choice>
              <mc:Fallback>
                <p:oleObj name="Equation" r:id="rId8" imgW="1777680" imgH="711000" progId="Equation.3">
                  <p:embed/>
                  <p:pic>
                    <p:nvPicPr>
                      <p:cNvPr id="28"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1500" y="1470345"/>
                        <a:ext cx="2714625" cy="108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4" name="Picture 5"/>
          <p:cNvPicPr>
            <a:picLocks noChangeAspect="1" noChangeArrowheads="1"/>
          </p:cNvPicPr>
          <p:nvPr/>
        </p:nvPicPr>
        <p:blipFill>
          <a:blip r:embed="rId10" cstate="print"/>
          <a:srcRect/>
          <a:stretch>
            <a:fillRect/>
          </a:stretch>
        </p:blipFill>
        <p:spPr bwMode="auto">
          <a:xfrm>
            <a:off x="4929191" y="1355130"/>
            <a:ext cx="2992316" cy="1293812"/>
          </a:xfrm>
          <a:prstGeom prst="rect">
            <a:avLst/>
          </a:prstGeom>
          <a:noFill/>
          <a:ln w="9525">
            <a:noFill/>
            <a:miter lim="800000"/>
            <a:headEnd/>
            <a:tailEnd/>
          </a:ln>
          <a:effectLst/>
        </p:spPr>
      </p:pic>
    </p:spTree>
    <p:extLst>
      <p:ext uri="{BB962C8B-B14F-4D97-AF65-F5344CB8AC3E}">
        <p14:creationId xmlns:p14="http://schemas.microsoft.com/office/powerpoint/2010/main" val="2055204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a:xfrm>
            <a:off x="357158" y="2560403"/>
            <a:ext cx="8572560" cy="369332"/>
          </a:xfrm>
          <a:prstGeom prst="rect">
            <a:avLst/>
          </a:prstGeom>
        </p:spPr>
        <p:txBody>
          <a:bodyPr wrap="square">
            <a:spAutoFit/>
          </a:bodyPr>
          <a:lstStyle/>
          <a:p>
            <a:r>
              <a:rPr lang="en-US" b="1" i="1" dirty="0"/>
              <a:t>iv) Evaluate the following integrals and comment on their significance:</a:t>
            </a:r>
            <a:endParaRPr lang="tr-TR" b="1" i="1" dirty="0"/>
          </a:p>
        </p:txBody>
      </p:sp>
      <p:graphicFrame>
        <p:nvGraphicFramePr>
          <p:cNvPr id="12" name="11 Nesne"/>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2" imgW="914400" imgH="215640" progId="Equation.3">
                  <p:embed/>
                </p:oleObj>
              </mc:Choice>
              <mc:Fallback>
                <p:oleObj name="Equation" r:id="rId2" imgW="914400" imgH="215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Slide Number Placeholder 12"/>
          <p:cNvSpPr>
            <a:spLocks noGrp="1"/>
          </p:cNvSpPr>
          <p:nvPr>
            <p:ph type="sldNum" sz="quarter" idx="12"/>
          </p:nvPr>
        </p:nvSpPr>
        <p:spPr/>
        <p:txBody>
          <a:bodyPr/>
          <a:lstStyle/>
          <a:p>
            <a:fld id="{732390F0-1A5B-4A83-8CFF-11D9A59B5E92}" type="slidenum">
              <a:rPr lang="tr-TR" smtClean="0"/>
              <a:pPr/>
              <a:t>19</a:t>
            </a:fld>
            <a:endParaRPr lang="tr-TR"/>
          </a:p>
        </p:txBody>
      </p:sp>
      <p:sp>
        <p:nvSpPr>
          <p:cNvPr id="14" name="Footer Placeholder 13"/>
          <p:cNvSpPr>
            <a:spLocks noGrp="1"/>
          </p:cNvSpPr>
          <p:nvPr>
            <p:ph type="ftr" sz="quarter" idx="11"/>
          </p:nvPr>
        </p:nvSpPr>
        <p:spPr/>
        <p:txBody>
          <a:bodyPr/>
          <a:lstStyle/>
          <a:p>
            <a:r>
              <a:rPr lang="tr-TR"/>
              <a:t>Ali Muhtaroglu</a:t>
            </a:r>
          </a:p>
        </p:txBody>
      </p:sp>
      <p:sp>
        <p:nvSpPr>
          <p:cNvPr id="16" name="1 Başlık"/>
          <p:cNvSpPr txBox="1">
            <a:spLocks/>
          </p:cNvSpPr>
          <p:nvPr/>
        </p:nvSpPr>
        <p:spPr>
          <a:xfrm>
            <a:off x="142844" y="71414"/>
            <a:ext cx="7000924" cy="571504"/>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3200" b="0" i="0" u="none" strike="noStrike" kern="1200" cap="none" spc="0" normalizeH="0" baseline="0" noProof="0" dirty="0" err="1">
                <a:ln>
                  <a:noFill/>
                </a:ln>
                <a:solidFill>
                  <a:schemeClr val="tx1"/>
                </a:solidFill>
                <a:effectLst/>
                <a:uLnTx/>
                <a:uFillTx/>
                <a:latin typeface="+mj-lt"/>
                <a:ea typeface="+mj-ea"/>
                <a:cs typeface="+mj-cs"/>
              </a:rPr>
              <a:t>Example</a:t>
            </a:r>
            <a:r>
              <a:rPr kumimoji="0" lang="tr-TR" sz="3200" b="0" i="0" u="none" strike="noStrike" kern="1200" cap="none" spc="0" normalizeH="0" baseline="0" noProof="0" dirty="0">
                <a:ln>
                  <a:noFill/>
                </a:ln>
                <a:solidFill>
                  <a:schemeClr val="tx1"/>
                </a:solidFill>
                <a:effectLst/>
                <a:uLnTx/>
                <a:uFillTx/>
                <a:latin typeface="+mj-lt"/>
                <a:ea typeface="+mj-ea"/>
                <a:cs typeface="+mj-cs"/>
              </a:rPr>
              <a:t> (</a:t>
            </a:r>
            <a:r>
              <a:rPr kumimoji="0" lang="tr-TR" sz="3200" b="0" i="0" u="none" strike="noStrike" kern="1200" cap="none" spc="0" normalizeH="0" baseline="0" noProof="0" dirty="0" err="1">
                <a:ln>
                  <a:noFill/>
                </a:ln>
                <a:solidFill>
                  <a:schemeClr val="tx1"/>
                </a:solidFill>
                <a:effectLst/>
                <a:uLnTx/>
                <a:uFillTx/>
                <a:latin typeface="+mj-lt"/>
                <a:ea typeface="+mj-ea"/>
                <a:cs typeface="+mj-cs"/>
              </a:rPr>
              <a:t>Nilsson</a:t>
            </a:r>
            <a:r>
              <a:rPr kumimoji="0" lang="tr-TR" sz="3200" b="0" i="0" u="none" strike="noStrike" kern="1200" cap="none" spc="0" normalizeH="0" baseline="0" noProof="0" dirty="0">
                <a:ln>
                  <a:noFill/>
                </a:ln>
                <a:solidFill>
                  <a:schemeClr val="tx1"/>
                </a:solidFill>
                <a:effectLst/>
                <a:uLnTx/>
                <a:uFillTx/>
                <a:latin typeface="+mj-lt"/>
                <a:ea typeface="+mj-ea"/>
                <a:cs typeface="+mj-cs"/>
              </a:rPr>
              <a:t> &amp; </a:t>
            </a:r>
            <a:r>
              <a:rPr kumimoji="0" lang="tr-TR" sz="3200" b="0" i="0" u="none" strike="noStrike" kern="1200" cap="none" spc="0" normalizeH="0" baseline="0" noProof="0" dirty="0" err="1">
                <a:ln>
                  <a:noFill/>
                </a:ln>
                <a:solidFill>
                  <a:schemeClr val="tx1"/>
                </a:solidFill>
                <a:effectLst/>
                <a:uLnTx/>
                <a:uFillTx/>
                <a:latin typeface="+mj-lt"/>
                <a:ea typeface="+mj-ea"/>
                <a:cs typeface="+mj-cs"/>
              </a:rPr>
              <a:t>Riedel</a:t>
            </a:r>
            <a:r>
              <a:rPr kumimoji="0" lang="tr-TR" sz="3200" b="0" i="0" u="none" strike="noStrike" kern="1200" cap="none" spc="0" normalizeH="0" baseline="0" noProof="0" dirty="0">
                <a:ln>
                  <a:noFill/>
                </a:ln>
                <a:solidFill>
                  <a:schemeClr val="tx1"/>
                </a:solidFill>
                <a:effectLst/>
                <a:uLnTx/>
                <a:uFillTx/>
                <a:latin typeface="+mj-lt"/>
                <a:ea typeface="+mj-ea"/>
                <a:cs typeface="+mj-cs"/>
              </a:rPr>
              <a:t>)</a:t>
            </a:r>
          </a:p>
        </p:txBody>
      </p:sp>
      <p:sp>
        <p:nvSpPr>
          <p:cNvPr id="17" name="6 Dikdörtgen"/>
          <p:cNvSpPr/>
          <p:nvPr/>
        </p:nvSpPr>
        <p:spPr>
          <a:xfrm>
            <a:off x="285720" y="714356"/>
            <a:ext cx="8572560" cy="707886"/>
          </a:xfrm>
          <a:prstGeom prst="rect">
            <a:avLst/>
          </a:prstGeom>
        </p:spPr>
        <p:txBody>
          <a:bodyPr wrap="square">
            <a:spAutoFit/>
          </a:bodyPr>
          <a:lstStyle/>
          <a:p>
            <a:r>
              <a:rPr lang="en-US" sz="2000" dirty="0"/>
              <a:t>The voltage pulse described by the following equations is impressed across the terminals of a 0.5 </a:t>
            </a:r>
            <a:r>
              <a:rPr lang="en-US" sz="2000" dirty="0" err="1"/>
              <a:t>μF</a:t>
            </a:r>
            <a:r>
              <a:rPr lang="en-US" sz="2000" dirty="0"/>
              <a:t> capacitor:</a:t>
            </a:r>
            <a:endParaRPr lang="tr-TR" sz="2000" dirty="0"/>
          </a:p>
        </p:txBody>
      </p:sp>
      <p:pic>
        <p:nvPicPr>
          <p:cNvPr id="15" name="Picture 10"/>
          <p:cNvPicPr>
            <a:picLocks noChangeAspect="1" noChangeArrowheads="1"/>
          </p:cNvPicPr>
          <p:nvPr/>
        </p:nvPicPr>
        <p:blipFill>
          <a:blip r:embed="rId4" cstate="print"/>
          <a:srcRect/>
          <a:stretch>
            <a:fillRect/>
          </a:stretch>
        </p:blipFill>
        <p:spPr bwMode="auto">
          <a:xfrm>
            <a:off x="5286380" y="2922858"/>
            <a:ext cx="2643206" cy="1225706"/>
          </a:xfrm>
          <a:prstGeom prst="rect">
            <a:avLst/>
          </a:prstGeom>
          <a:noFill/>
          <a:ln w="9525">
            <a:noFill/>
            <a:miter lim="800000"/>
            <a:headEnd/>
            <a:tailEnd/>
          </a:ln>
          <a:effectLst/>
        </p:spPr>
      </p:pic>
      <p:pic>
        <p:nvPicPr>
          <p:cNvPr id="18" name="Picture 12"/>
          <p:cNvPicPr>
            <a:picLocks noChangeAspect="1" noChangeArrowheads="1"/>
          </p:cNvPicPr>
          <p:nvPr/>
        </p:nvPicPr>
        <p:blipFill>
          <a:blip r:embed="rId5" cstate="print"/>
          <a:srcRect/>
          <a:stretch>
            <a:fillRect/>
          </a:stretch>
        </p:blipFill>
        <p:spPr bwMode="auto">
          <a:xfrm>
            <a:off x="5286380" y="4214818"/>
            <a:ext cx="2714644" cy="1326149"/>
          </a:xfrm>
          <a:prstGeom prst="rect">
            <a:avLst/>
          </a:prstGeom>
          <a:noFill/>
          <a:ln w="9525">
            <a:noFill/>
            <a:miter lim="800000"/>
            <a:headEnd/>
            <a:tailEnd/>
          </a:ln>
          <a:effectLst/>
        </p:spPr>
      </p:pic>
      <p:pic>
        <p:nvPicPr>
          <p:cNvPr id="19" name="Picture 15"/>
          <p:cNvPicPr>
            <a:picLocks noChangeAspect="1" noChangeArrowheads="1"/>
          </p:cNvPicPr>
          <p:nvPr/>
        </p:nvPicPr>
        <p:blipFill>
          <a:blip r:embed="rId6" cstate="print"/>
          <a:srcRect/>
          <a:stretch>
            <a:fillRect/>
          </a:stretch>
        </p:blipFill>
        <p:spPr bwMode="auto">
          <a:xfrm>
            <a:off x="5286380" y="5580064"/>
            <a:ext cx="3000395" cy="1160095"/>
          </a:xfrm>
          <a:prstGeom prst="rect">
            <a:avLst/>
          </a:prstGeom>
          <a:noFill/>
          <a:ln w="9525">
            <a:noFill/>
            <a:miter lim="800000"/>
            <a:headEnd/>
            <a:tailEnd/>
          </a:ln>
          <a:effectLst/>
        </p:spPr>
      </p:pic>
      <p:graphicFrame>
        <p:nvGraphicFramePr>
          <p:cNvPr id="68614" name="Object 6"/>
          <p:cNvGraphicFramePr>
            <a:graphicFrameLocks noChangeAspect="1"/>
          </p:cNvGraphicFramePr>
          <p:nvPr/>
        </p:nvGraphicFramePr>
        <p:xfrm>
          <a:off x="785786" y="3214686"/>
          <a:ext cx="1227137" cy="665163"/>
        </p:xfrm>
        <a:graphic>
          <a:graphicData uri="http://schemas.openxmlformats.org/presentationml/2006/ole">
            <mc:AlternateContent xmlns:mc="http://schemas.openxmlformats.org/markup-compatibility/2006">
              <mc:Choice xmlns:v="urn:schemas-microsoft-com:vml" Requires="v">
                <p:oleObj name="Equation" r:id="rId7" imgW="609480" imgH="330120" progId="Equation.3">
                  <p:embed/>
                </p:oleObj>
              </mc:Choice>
              <mc:Fallback>
                <p:oleObj name="Equation" r:id="rId7" imgW="609480" imgH="33012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5786" y="3214686"/>
                        <a:ext cx="1227137" cy="665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8615" name="Object 7"/>
          <p:cNvGraphicFramePr>
            <a:graphicFrameLocks noChangeAspect="1"/>
          </p:cNvGraphicFramePr>
          <p:nvPr/>
        </p:nvGraphicFramePr>
        <p:xfrm>
          <a:off x="785786" y="4571999"/>
          <a:ext cx="1304925" cy="665162"/>
        </p:xfrm>
        <a:graphic>
          <a:graphicData uri="http://schemas.openxmlformats.org/presentationml/2006/ole">
            <mc:AlternateContent xmlns:mc="http://schemas.openxmlformats.org/markup-compatibility/2006">
              <mc:Choice xmlns:v="urn:schemas-microsoft-com:vml" Requires="v">
                <p:oleObj name="Equation" r:id="rId9" imgW="647640" imgH="330120" progId="Equation.3">
                  <p:embed/>
                </p:oleObj>
              </mc:Choice>
              <mc:Fallback>
                <p:oleObj name="Equation" r:id="rId9" imgW="647640" imgH="33012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5786" y="4571999"/>
                        <a:ext cx="1304925" cy="665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 name="Object 6"/>
          <p:cNvGraphicFramePr>
            <a:graphicFrameLocks noChangeAspect="1"/>
          </p:cNvGraphicFramePr>
          <p:nvPr>
            <p:extLst>
              <p:ext uri="{D42A27DB-BD31-4B8C-83A1-F6EECF244321}">
                <p14:modId xmlns:p14="http://schemas.microsoft.com/office/powerpoint/2010/main" val="4056795910"/>
              </p:ext>
            </p:extLst>
          </p:nvPr>
        </p:nvGraphicFramePr>
        <p:xfrm>
          <a:off x="571500" y="1470345"/>
          <a:ext cx="2714625" cy="1087438"/>
        </p:xfrm>
        <a:graphic>
          <a:graphicData uri="http://schemas.openxmlformats.org/presentationml/2006/ole">
            <mc:AlternateContent xmlns:mc="http://schemas.openxmlformats.org/markup-compatibility/2006">
              <mc:Choice xmlns:v="urn:schemas-microsoft-com:vml" Requires="v">
                <p:oleObj name="Equation" r:id="rId11" imgW="1777680" imgH="711000" progId="Equation.3">
                  <p:embed/>
                </p:oleObj>
              </mc:Choice>
              <mc:Fallback>
                <p:oleObj name="Equation" r:id="rId11" imgW="1777680" imgH="711000" progId="Equation.3">
                  <p:embed/>
                  <p:pic>
                    <p:nvPicPr>
                      <p:cNvPr id="28"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1500" y="1470345"/>
                        <a:ext cx="2714625" cy="108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2" name="Picture 5"/>
          <p:cNvPicPr>
            <a:picLocks noChangeAspect="1" noChangeArrowheads="1"/>
          </p:cNvPicPr>
          <p:nvPr/>
        </p:nvPicPr>
        <p:blipFill>
          <a:blip r:embed="rId13" cstate="print"/>
          <a:srcRect/>
          <a:stretch>
            <a:fillRect/>
          </a:stretch>
        </p:blipFill>
        <p:spPr bwMode="auto">
          <a:xfrm>
            <a:off x="4929191" y="1355130"/>
            <a:ext cx="2992316" cy="1293812"/>
          </a:xfrm>
          <a:prstGeom prst="rect">
            <a:avLst/>
          </a:prstGeom>
          <a:noFill/>
          <a:ln w="9525">
            <a:noFill/>
            <a:miter lim="800000"/>
            <a:headEnd/>
            <a:tailEnd/>
          </a:ln>
          <a:effectLst/>
        </p:spPr>
      </p:pic>
    </p:spTree>
    <p:extLst>
      <p:ext uri="{BB962C8B-B14F-4D97-AF65-F5344CB8AC3E}">
        <p14:creationId xmlns:p14="http://schemas.microsoft.com/office/powerpoint/2010/main" val="3571900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a:xfrm>
            <a:off x="357158" y="2560403"/>
            <a:ext cx="8572560" cy="369332"/>
          </a:xfrm>
          <a:prstGeom prst="rect">
            <a:avLst/>
          </a:prstGeom>
        </p:spPr>
        <p:txBody>
          <a:bodyPr wrap="square">
            <a:spAutoFit/>
          </a:bodyPr>
          <a:lstStyle/>
          <a:p>
            <a:r>
              <a:rPr lang="en-US" b="1" i="1" dirty="0"/>
              <a:t>iv) Evaluate the following integrals and comment on their significance:</a:t>
            </a:r>
            <a:endParaRPr lang="tr-TR" b="1" i="1" dirty="0"/>
          </a:p>
        </p:txBody>
      </p:sp>
      <p:graphicFrame>
        <p:nvGraphicFramePr>
          <p:cNvPr id="12" name="11 Nesne"/>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2" imgW="914400" imgH="215640" progId="Equation.3">
                  <p:embed/>
                </p:oleObj>
              </mc:Choice>
              <mc:Fallback>
                <p:oleObj name="Equation" r:id="rId2" imgW="914400" imgH="215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Slide Number Placeholder 12"/>
          <p:cNvSpPr>
            <a:spLocks noGrp="1"/>
          </p:cNvSpPr>
          <p:nvPr>
            <p:ph type="sldNum" sz="quarter" idx="12"/>
          </p:nvPr>
        </p:nvSpPr>
        <p:spPr/>
        <p:txBody>
          <a:bodyPr/>
          <a:lstStyle/>
          <a:p>
            <a:fld id="{732390F0-1A5B-4A83-8CFF-11D9A59B5E92}" type="slidenum">
              <a:rPr lang="tr-TR" smtClean="0"/>
              <a:pPr/>
              <a:t>20</a:t>
            </a:fld>
            <a:endParaRPr lang="tr-TR"/>
          </a:p>
        </p:txBody>
      </p:sp>
      <p:sp>
        <p:nvSpPr>
          <p:cNvPr id="14" name="Footer Placeholder 13"/>
          <p:cNvSpPr>
            <a:spLocks noGrp="1"/>
          </p:cNvSpPr>
          <p:nvPr>
            <p:ph type="ftr" sz="quarter" idx="11"/>
          </p:nvPr>
        </p:nvSpPr>
        <p:spPr/>
        <p:txBody>
          <a:bodyPr/>
          <a:lstStyle/>
          <a:p>
            <a:r>
              <a:rPr lang="tr-TR"/>
              <a:t>Ali Muhtaroglu</a:t>
            </a:r>
          </a:p>
        </p:txBody>
      </p:sp>
      <p:sp>
        <p:nvSpPr>
          <p:cNvPr id="16" name="1 Başlık"/>
          <p:cNvSpPr txBox="1">
            <a:spLocks/>
          </p:cNvSpPr>
          <p:nvPr/>
        </p:nvSpPr>
        <p:spPr>
          <a:xfrm>
            <a:off x="142844" y="71414"/>
            <a:ext cx="7000924" cy="571504"/>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3200" b="0" i="0" u="none" strike="noStrike" kern="1200" cap="none" spc="0" normalizeH="0" baseline="0" noProof="0" dirty="0" err="1">
                <a:ln>
                  <a:noFill/>
                </a:ln>
                <a:solidFill>
                  <a:schemeClr val="tx1"/>
                </a:solidFill>
                <a:effectLst/>
                <a:uLnTx/>
                <a:uFillTx/>
                <a:latin typeface="+mj-lt"/>
                <a:ea typeface="+mj-ea"/>
                <a:cs typeface="+mj-cs"/>
              </a:rPr>
              <a:t>Example</a:t>
            </a:r>
            <a:r>
              <a:rPr kumimoji="0" lang="tr-TR" sz="3200" b="0" i="0" u="none" strike="noStrike" kern="1200" cap="none" spc="0" normalizeH="0" baseline="0" noProof="0" dirty="0">
                <a:ln>
                  <a:noFill/>
                </a:ln>
                <a:solidFill>
                  <a:schemeClr val="tx1"/>
                </a:solidFill>
                <a:effectLst/>
                <a:uLnTx/>
                <a:uFillTx/>
                <a:latin typeface="+mj-lt"/>
                <a:ea typeface="+mj-ea"/>
                <a:cs typeface="+mj-cs"/>
              </a:rPr>
              <a:t> (</a:t>
            </a:r>
            <a:r>
              <a:rPr kumimoji="0" lang="tr-TR" sz="3200" b="0" i="0" u="none" strike="noStrike" kern="1200" cap="none" spc="0" normalizeH="0" baseline="0" noProof="0" dirty="0" err="1">
                <a:ln>
                  <a:noFill/>
                </a:ln>
                <a:solidFill>
                  <a:schemeClr val="tx1"/>
                </a:solidFill>
                <a:effectLst/>
                <a:uLnTx/>
                <a:uFillTx/>
                <a:latin typeface="+mj-lt"/>
                <a:ea typeface="+mj-ea"/>
                <a:cs typeface="+mj-cs"/>
              </a:rPr>
              <a:t>Nilsson</a:t>
            </a:r>
            <a:r>
              <a:rPr kumimoji="0" lang="tr-TR" sz="3200" b="0" i="0" u="none" strike="noStrike" kern="1200" cap="none" spc="0" normalizeH="0" baseline="0" noProof="0" dirty="0">
                <a:ln>
                  <a:noFill/>
                </a:ln>
                <a:solidFill>
                  <a:schemeClr val="tx1"/>
                </a:solidFill>
                <a:effectLst/>
                <a:uLnTx/>
                <a:uFillTx/>
                <a:latin typeface="+mj-lt"/>
                <a:ea typeface="+mj-ea"/>
                <a:cs typeface="+mj-cs"/>
              </a:rPr>
              <a:t> &amp; </a:t>
            </a:r>
            <a:r>
              <a:rPr kumimoji="0" lang="tr-TR" sz="3200" b="0" i="0" u="none" strike="noStrike" kern="1200" cap="none" spc="0" normalizeH="0" baseline="0" noProof="0" dirty="0" err="1">
                <a:ln>
                  <a:noFill/>
                </a:ln>
                <a:solidFill>
                  <a:schemeClr val="tx1"/>
                </a:solidFill>
                <a:effectLst/>
                <a:uLnTx/>
                <a:uFillTx/>
                <a:latin typeface="+mj-lt"/>
                <a:ea typeface="+mj-ea"/>
                <a:cs typeface="+mj-cs"/>
              </a:rPr>
              <a:t>Riedel</a:t>
            </a:r>
            <a:r>
              <a:rPr kumimoji="0" lang="tr-TR" sz="3200" b="0" i="0" u="none" strike="noStrike" kern="1200" cap="none" spc="0" normalizeH="0" baseline="0" noProof="0" dirty="0">
                <a:ln>
                  <a:noFill/>
                </a:ln>
                <a:solidFill>
                  <a:schemeClr val="tx1"/>
                </a:solidFill>
                <a:effectLst/>
                <a:uLnTx/>
                <a:uFillTx/>
                <a:latin typeface="+mj-lt"/>
                <a:ea typeface="+mj-ea"/>
                <a:cs typeface="+mj-cs"/>
              </a:rPr>
              <a:t>)</a:t>
            </a:r>
          </a:p>
        </p:txBody>
      </p:sp>
      <p:sp>
        <p:nvSpPr>
          <p:cNvPr id="17" name="6 Dikdörtgen"/>
          <p:cNvSpPr/>
          <p:nvPr/>
        </p:nvSpPr>
        <p:spPr>
          <a:xfrm>
            <a:off x="285720" y="714356"/>
            <a:ext cx="8572560" cy="707886"/>
          </a:xfrm>
          <a:prstGeom prst="rect">
            <a:avLst/>
          </a:prstGeom>
        </p:spPr>
        <p:txBody>
          <a:bodyPr wrap="square">
            <a:spAutoFit/>
          </a:bodyPr>
          <a:lstStyle/>
          <a:p>
            <a:r>
              <a:rPr lang="en-US" sz="2000" dirty="0"/>
              <a:t>The voltage pulse described by the following equations is impressed across the terminals of a 0.5 </a:t>
            </a:r>
            <a:r>
              <a:rPr lang="en-US" sz="2000" dirty="0" err="1"/>
              <a:t>μF</a:t>
            </a:r>
            <a:r>
              <a:rPr lang="en-US" sz="2000" dirty="0"/>
              <a:t> capacitor:</a:t>
            </a:r>
            <a:endParaRPr lang="tr-TR" sz="2000" dirty="0"/>
          </a:p>
        </p:txBody>
      </p:sp>
      <p:pic>
        <p:nvPicPr>
          <p:cNvPr id="15" name="Picture 10"/>
          <p:cNvPicPr>
            <a:picLocks noChangeAspect="1" noChangeArrowheads="1"/>
          </p:cNvPicPr>
          <p:nvPr/>
        </p:nvPicPr>
        <p:blipFill>
          <a:blip r:embed="rId4" cstate="print"/>
          <a:srcRect/>
          <a:stretch>
            <a:fillRect/>
          </a:stretch>
        </p:blipFill>
        <p:spPr bwMode="auto">
          <a:xfrm>
            <a:off x="5286380" y="2922858"/>
            <a:ext cx="2643206" cy="1225706"/>
          </a:xfrm>
          <a:prstGeom prst="rect">
            <a:avLst/>
          </a:prstGeom>
          <a:noFill/>
          <a:ln w="9525">
            <a:noFill/>
            <a:miter lim="800000"/>
            <a:headEnd/>
            <a:tailEnd/>
          </a:ln>
          <a:effectLst/>
        </p:spPr>
      </p:pic>
      <p:pic>
        <p:nvPicPr>
          <p:cNvPr id="18" name="Picture 12"/>
          <p:cNvPicPr>
            <a:picLocks noChangeAspect="1" noChangeArrowheads="1"/>
          </p:cNvPicPr>
          <p:nvPr/>
        </p:nvPicPr>
        <p:blipFill>
          <a:blip r:embed="rId5" cstate="print"/>
          <a:srcRect/>
          <a:stretch>
            <a:fillRect/>
          </a:stretch>
        </p:blipFill>
        <p:spPr bwMode="auto">
          <a:xfrm>
            <a:off x="5286380" y="4214818"/>
            <a:ext cx="2714644" cy="1326149"/>
          </a:xfrm>
          <a:prstGeom prst="rect">
            <a:avLst/>
          </a:prstGeom>
          <a:noFill/>
          <a:ln w="9525">
            <a:noFill/>
            <a:miter lim="800000"/>
            <a:headEnd/>
            <a:tailEnd/>
          </a:ln>
          <a:effectLst/>
        </p:spPr>
      </p:pic>
      <p:pic>
        <p:nvPicPr>
          <p:cNvPr id="19" name="Picture 15"/>
          <p:cNvPicPr>
            <a:picLocks noChangeAspect="1" noChangeArrowheads="1"/>
          </p:cNvPicPr>
          <p:nvPr/>
        </p:nvPicPr>
        <p:blipFill>
          <a:blip r:embed="rId6" cstate="print"/>
          <a:srcRect/>
          <a:stretch>
            <a:fillRect/>
          </a:stretch>
        </p:blipFill>
        <p:spPr bwMode="auto">
          <a:xfrm>
            <a:off x="5286380" y="5580064"/>
            <a:ext cx="3000395" cy="1160095"/>
          </a:xfrm>
          <a:prstGeom prst="rect">
            <a:avLst/>
          </a:prstGeom>
          <a:noFill/>
          <a:ln w="9525">
            <a:noFill/>
            <a:miter lim="800000"/>
            <a:headEnd/>
            <a:tailEnd/>
          </a:ln>
          <a:effectLst/>
        </p:spPr>
      </p:pic>
      <p:graphicFrame>
        <p:nvGraphicFramePr>
          <p:cNvPr id="20" name="Object 2"/>
          <p:cNvGraphicFramePr>
            <a:graphicFrameLocks noChangeAspect="1"/>
          </p:cNvGraphicFramePr>
          <p:nvPr/>
        </p:nvGraphicFramePr>
        <p:xfrm>
          <a:off x="177798" y="2903544"/>
          <a:ext cx="4108450" cy="1454150"/>
        </p:xfrm>
        <a:graphic>
          <a:graphicData uri="http://schemas.openxmlformats.org/presentationml/2006/ole">
            <mc:AlternateContent xmlns:mc="http://schemas.openxmlformats.org/markup-compatibility/2006">
              <mc:Choice xmlns:v="urn:schemas-microsoft-com:vml" Requires="v">
                <p:oleObj name="Equation" r:id="rId7" imgW="2222280" imgH="787320" progId="Equation.3">
                  <p:embed/>
                </p:oleObj>
              </mc:Choice>
              <mc:Fallback>
                <p:oleObj name="Equation" r:id="rId7" imgW="2222280" imgH="78732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7798" y="2903544"/>
                        <a:ext cx="4108450" cy="145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 name="15 Dikdörtgen"/>
          <p:cNvSpPr/>
          <p:nvPr/>
        </p:nvSpPr>
        <p:spPr>
          <a:xfrm>
            <a:off x="1714479" y="3854239"/>
            <a:ext cx="3322627" cy="646331"/>
          </a:xfrm>
          <a:prstGeom prst="rect">
            <a:avLst/>
          </a:prstGeom>
        </p:spPr>
        <p:txBody>
          <a:bodyPr wrap="square">
            <a:spAutoFit/>
          </a:bodyPr>
          <a:lstStyle/>
          <a:p>
            <a:r>
              <a:rPr lang="en-US" dirty="0"/>
              <a:t>This is the energy stored in the capacitor during </a:t>
            </a:r>
            <a:r>
              <a:rPr lang="tr-TR" b="1" dirty="0"/>
              <a:t>0s &lt; t &lt; 1s.</a:t>
            </a:r>
            <a:endParaRPr lang="tr-TR" dirty="0"/>
          </a:p>
        </p:txBody>
      </p:sp>
      <p:graphicFrame>
        <p:nvGraphicFramePr>
          <p:cNvPr id="22" name="Object 3"/>
          <p:cNvGraphicFramePr>
            <a:graphicFrameLocks noChangeAspect="1"/>
          </p:cNvGraphicFramePr>
          <p:nvPr/>
        </p:nvGraphicFramePr>
        <p:xfrm>
          <a:off x="142844" y="4600592"/>
          <a:ext cx="4822825" cy="1328738"/>
        </p:xfrm>
        <a:graphic>
          <a:graphicData uri="http://schemas.openxmlformats.org/presentationml/2006/ole">
            <mc:AlternateContent xmlns:mc="http://schemas.openxmlformats.org/markup-compatibility/2006">
              <mc:Choice xmlns:v="urn:schemas-microsoft-com:vml" Requires="v">
                <p:oleObj name="Equation" r:id="rId9" imgW="2857320" imgH="787320" progId="Equation.3">
                  <p:embed/>
                </p:oleObj>
              </mc:Choice>
              <mc:Fallback>
                <p:oleObj name="Equation" r:id="rId9" imgW="2857320" imgH="78732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2844" y="4600592"/>
                        <a:ext cx="4822825" cy="132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 name="17 Dikdörtgen"/>
          <p:cNvSpPr/>
          <p:nvPr/>
        </p:nvSpPr>
        <p:spPr>
          <a:xfrm>
            <a:off x="1785918" y="5497313"/>
            <a:ext cx="3429024" cy="646331"/>
          </a:xfrm>
          <a:prstGeom prst="rect">
            <a:avLst/>
          </a:prstGeom>
        </p:spPr>
        <p:txBody>
          <a:bodyPr wrap="square">
            <a:spAutoFit/>
          </a:bodyPr>
          <a:lstStyle/>
          <a:p>
            <a:r>
              <a:rPr lang="en-US" dirty="0"/>
              <a:t>This is the energy delivered by the capacitor </a:t>
            </a:r>
            <a:r>
              <a:rPr lang="tr-TR" dirty="0"/>
              <a:t>during  </a:t>
            </a:r>
            <a:r>
              <a:rPr lang="tr-TR" b="1" dirty="0"/>
              <a:t>t &gt; 1s.</a:t>
            </a:r>
            <a:endParaRPr lang="tr-TR" dirty="0"/>
          </a:p>
        </p:txBody>
      </p:sp>
      <p:graphicFrame>
        <p:nvGraphicFramePr>
          <p:cNvPr id="25" name="Object 6"/>
          <p:cNvGraphicFramePr>
            <a:graphicFrameLocks noChangeAspect="1"/>
          </p:cNvGraphicFramePr>
          <p:nvPr>
            <p:extLst>
              <p:ext uri="{D42A27DB-BD31-4B8C-83A1-F6EECF244321}">
                <p14:modId xmlns:p14="http://schemas.microsoft.com/office/powerpoint/2010/main" val="4056795910"/>
              </p:ext>
            </p:extLst>
          </p:nvPr>
        </p:nvGraphicFramePr>
        <p:xfrm>
          <a:off x="571500" y="1470345"/>
          <a:ext cx="2714625" cy="1087438"/>
        </p:xfrm>
        <a:graphic>
          <a:graphicData uri="http://schemas.openxmlformats.org/presentationml/2006/ole">
            <mc:AlternateContent xmlns:mc="http://schemas.openxmlformats.org/markup-compatibility/2006">
              <mc:Choice xmlns:v="urn:schemas-microsoft-com:vml" Requires="v">
                <p:oleObj name="Equation" r:id="rId11" imgW="1777680" imgH="711000" progId="Equation.3">
                  <p:embed/>
                </p:oleObj>
              </mc:Choice>
              <mc:Fallback>
                <p:oleObj name="Equation" r:id="rId11" imgW="1777680" imgH="711000" progId="Equation.3">
                  <p:embed/>
                  <p:pic>
                    <p:nvPicPr>
                      <p:cNvPr id="28"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1500" y="1470345"/>
                        <a:ext cx="2714625" cy="108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6" name="Picture 5"/>
          <p:cNvPicPr>
            <a:picLocks noChangeAspect="1" noChangeArrowheads="1"/>
          </p:cNvPicPr>
          <p:nvPr/>
        </p:nvPicPr>
        <p:blipFill>
          <a:blip r:embed="rId13" cstate="print"/>
          <a:srcRect/>
          <a:stretch>
            <a:fillRect/>
          </a:stretch>
        </p:blipFill>
        <p:spPr bwMode="auto">
          <a:xfrm>
            <a:off x="4929191" y="1355130"/>
            <a:ext cx="2992316" cy="1293812"/>
          </a:xfrm>
          <a:prstGeom prst="rect">
            <a:avLst/>
          </a:prstGeom>
          <a:noFill/>
          <a:ln w="9525">
            <a:noFill/>
            <a:miter lim="800000"/>
            <a:headEnd/>
            <a:tailEnd/>
          </a:ln>
          <a:effectLst/>
        </p:spPr>
      </p:pic>
    </p:spTree>
    <p:extLst>
      <p:ext uri="{BB962C8B-B14F-4D97-AF65-F5344CB8AC3E}">
        <p14:creationId xmlns:p14="http://schemas.microsoft.com/office/powerpoint/2010/main" val="2974545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14282" y="71422"/>
            <a:ext cx="6572296" cy="642934"/>
          </a:xfrm>
        </p:spPr>
        <p:txBody>
          <a:bodyPr>
            <a:normAutofit/>
          </a:bodyPr>
          <a:lstStyle/>
          <a:p>
            <a:r>
              <a:rPr lang="tr-TR" sz="3200" dirty="0" err="1"/>
              <a:t>Example</a:t>
            </a:r>
            <a:endParaRPr lang="tr-TR" sz="3200" dirty="0"/>
          </a:p>
        </p:txBody>
      </p:sp>
      <p:sp>
        <p:nvSpPr>
          <p:cNvPr id="10" name="9 Dikdörtgen"/>
          <p:cNvSpPr/>
          <p:nvPr/>
        </p:nvSpPr>
        <p:spPr>
          <a:xfrm>
            <a:off x="714348" y="2571744"/>
            <a:ext cx="6000776" cy="369332"/>
          </a:xfrm>
          <a:prstGeom prst="rect">
            <a:avLst/>
          </a:prstGeom>
        </p:spPr>
        <p:txBody>
          <a:bodyPr wrap="square">
            <a:spAutoFit/>
          </a:bodyPr>
          <a:lstStyle/>
          <a:p>
            <a:r>
              <a:rPr lang="en-US" dirty="0" err="1"/>
              <a:t>i</a:t>
            </a:r>
            <a:r>
              <a:rPr lang="en-US" dirty="0"/>
              <a:t>) Find the current through the resistor and the capacitor</a:t>
            </a:r>
            <a:endParaRPr lang="tr-TR" dirty="0"/>
          </a:p>
        </p:txBody>
      </p:sp>
      <p:sp>
        <p:nvSpPr>
          <p:cNvPr id="14" name="13 Dikdörtgen"/>
          <p:cNvSpPr/>
          <p:nvPr/>
        </p:nvSpPr>
        <p:spPr>
          <a:xfrm>
            <a:off x="714347" y="4214818"/>
            <a:ext cx="7275697" cy="369332"/>
          </a:xfrm>
          <a:prstGeom prst="rect">
            <a:avLst/>
          </a:prstGeom>
        </p:spPr>
        <p:txBody>
          <a:bodyPr wrap="square">
            <a:spAutoFit/>
          </a:bodyPr>
          <a:lstStyle/>
          <a:p>
            <a:r>
              <a:rPr lang="en-US" dirty="0"/>
              <a:t>ii) Find  the energy stored in the capacitor as a function of time</a:t>
            </a:r>
            <a:endParaRPr lang="tr-TR" dirty="0"/>
          </a:p>
        </p:txBody>
      </p:sp>
      <p:sp>
        <p:nvSpPr>
          <p:cNvPr id="16" name="15 Dikdörtgen"/>
          <p:cNvSpPr/>
          <p:nvPr/>
        </p:nvSpPr>
        <p:spPr>
          <a:xfrm>
            <a:off x="714348" y="5429264"/>
            <a:ext cx="6776432" cy="369332"/>
          </a:xfrm>
          <a:prstGeom prst="rect">
            <a:avLst/>
          </a:prstGeom>
        </p:spPr>
        <p:txBody>
          <a:bodyPr wrap="square">
            <a:spAutoFit/>
          </a:bodyPr>
          <a:lstStyle/>
          <a:p>
            <a:r>
              <a:rPr lang="en-US" dirty="0"/>
              <a:t>iii) Find the energy dissipated in the resistor as a function of time</a:t>
            </a:r>
            <a:endParaRPr lang="tr-TR" dirty="0"/>
          </a:p>
        </p:txBody>
      </p:sp>
      <p:sp>
        <p:nvSpPr>
          <p:cNvPr id="13" name="Slide Number Placeholder 12"/>
          <p:cNvSpPr>
            <a:spLocks noGrp="1"/>
          </p:cNvSpPr>
          <p:nvPr>
            <p:ph type="sldNum" sz="quarter" idx="12"/>
          </p:nvPr>
        </p:nvSpPr>
        <p:spPr/>
        <p:txBody>
          <a:bodyPr/>
          <a:lstStyle/>
          <a:p>
            <a:fld id="{732390F0-1A5B-4A83-8CFF-11D9A59B5E92}" type="slidenum">
              <a:rPr lang="tr-TR" smtClean="0"/>
              <a:pPr/>
              <a:t>21</a:t>
            </a:fld>
            <a:endParaRPr lang="tr-TR"/>
          </a:p>
        </p:txBody>
      </p:sp>
      <p:sp>
        <p:nvSpPr>
          <p:cNvPr id="15" name="Footer Placeholder 14"/>
          <p:cNvSpPr>
            <a:spLocks noGrp="1"/>
          </p:cNvSpPr>
          <p:nvPr>
            <p:ph type="ftr" sz="quarter" idx="11"/>
          </p:nvPr>
        </p:nvSpPr>
        <p:spPr/>
        <p:txBody>
          <a:bodyPr/>
          <a:lstStyle/>
          <a:p>
            <a:r>
              <a:rPr lang="tr-TR" dirty="0"/>
              <a:t>Ali Muhtaroglu</a:t>
            </a:r>
          </a:p>
        </p:txBody>
      </p:sp>
      <p:pic>
        <p:nvPicPr>
          <p:cNvPr id="27659" name="Picture 11"/>
          <p:cNvPicPr>
            <a:picLocks noChangeAspect="1" noChangeArrowheads="1"/>
          </p:cNvPicPr>
          <p:nvPr/>
        </p:nvPicPr>
        <p:blipFill>
          <a:blip r:embed="rId2" cstate="print"/>
          <a:srcRect/>
          <a:stretch>
            <a:fillRect/>
          </a:stretch>
        </p:blipFill>
        <p:spPr bwMode="auto">
          <a:xfrm>
            <a:off x="1571604" y="857232"/>
            <a:ext cx="3643338" cy="1591768"/>
          </a:xfrm>
          <a:prstGeom prst="rect">
            <a:avLst/>
          </a:prstGeom>
          <a:noFill/>
          <a:ln w="9525">
            <a:noFill/>
            <a:miter lim="800000"/>
            <a:headEnd/>
            <a:tailEnd/>
          </a:ln>
          <a:effectLst/>
        </p:spPr>
      </p:pic>
    </p:spTree>
    <p:extLst>
      <p:ext uri="{BB962C8B-B14F-4D97-AF65-F5344CB8AC3E}">
        <p14:creationId xmlns:p14="http://schemas.microsoft.com/office/powerpoint/2010/main" val="24368959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14282" y="71422"/>
            <a:ext cx="6572296" cy="642934"/>
          </a:xfrm>
        </p:spPr>
        <p:txBody>
          <a:bodyPr>
            <a:normAutofit/>
          </a:bodyPr>
          <a:lstStyle/>
          <a:p>
            <a:r>
              <a:rPr lang="tr-TR" sz="3200" dirty="0" err="1"/>
              <a:t>Example</a:t>
            </a:r>
            <a:endParaRPr lang="tr-TR" sz="3200" dirty="0"/>
          </a:p>
        </p:txBody>
      </p:sp>
      <p:graphicFrame>
        <p:nvGraphicFramePr>
          <p:cNvPr id="27655" name="Object 7"/>
          <p:cNvGraphicFramePr>
            <a:graphicFrameLocks noChangeAspect="1"/>
          </p:cNvGraphicFramePr>
          <p:nvPr/>
        </p:nvGraphicFramePr>
        <p:xfrm>
          <a:off x="3143240" y="2857496"/>
          <a:ext cx="2765341" cy="714380"/>
        </p:xfrm>
        <a:graphic>
          <a:graphicData uri="http://schemas.openxmlformats.org/presentationml/2006/ole">
            <mc:AlternateContent xmlns:mc="http://schemas.openxmlformats.org/markup-compatibility/2006">
              <mc:Choice xmlns:v="urn:schemas-microsoft-com:vml" Requires="v">
                <p:oleObj name="Equation" r:id="rId2" imgW="1523880" imgH="393480" progId="Equation.3">
                  <p:embed/>
                </p:oleObj>
              </mc:Choice>
              <mc:Fallback>
                <p:oleObj name="Equation" r:id="rId2" imgW="1523880" imgH="39348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3240" y="2857496"/>
                        <a:ext cx="2765341" cy="714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56" name="Object 8"/>
          <p:cNvGraphicFramePr>
            <a:graphicFrameLocks noChangeAspect="1"/>
          </p:cNvGraphicFramePr>
          <p:nvPr/>
        </p:nvGraphicFramePr>
        <p:xfrm>
          <a:off x="1285852" y="3500438"/>
          <a:ext cx="6659865" cy="714380"/>
        </p:xfrm>
        <a:graphic>
          <a:graphicData uri="http://schemas.openxmlformats.org/presentationml/2006/ole">
            <mc:AlternateContent xmlns:mc="http://schemas.openxmlformats.org/markup-compatibility/2006">
              <mc:Choice xmlns:v="urn:schemas-microsoft-com:vml" Requires="v">
                <p:oleObj name="Equation" r:id="rId4" imgW="3670200" imgH="393480" progId="Equation.3">
                  <p:embed/>
                </p:oleObj>
              </mc:Choice>
              <mc:Fallback>
                <p:oleObj name="Equation" r:id="rId4" imgW="3670200" imgH="3934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5852" y="3500438"/>
                        <a:ext cx="6659865" cy="714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57" name="Object 9"/>
          <p:cNvGraphicFramePr>
            <a:graphicFrameLocks noChangeAspect="1"/>
          </p:cNvGraphicFramePr>
          <p:nvPr/>
        </p:nvGraphicFramePr>
        <p:xfrm>
          <a:off x="1500166" y="4572008"/>
          <a:ext cx="5881729" cy="785818"/>
        </p:xfrm>
        <a:graphic>
          <a:graphicData uri="http://schemas.openxmlformats.org/presentationml/2006/ole">
            <mc:AlternateContent xmlns:mc="http://schemas.openxmlformats.org/markup-compatibility/2006">
              <mc:Choice xmlns:v="urn:schemas-microsoft-com:vml" Requires="v">
                <p:oleObj name="Equation" r:id="rId6" imgW="3136680" imgH="419040" progId="Equation.3">
                  <p:embed/>
                </p:oleObj>
              </mc:Choice>
              <mc:Fallback>
                <p:oleObj name="Equation" r:id="rId6" imgW="3136680" imgH="4190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00166" y="4572008"/>
                        <a:ext cx="5881729" cy="785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58" name="Object 10"/>
          <p:cNvGraphicFramePr>
            <a:graphicFrameLocks noChangeAspect="1"/>
          </p:cNvGraphicFramePr>
          <p:nvPr/>
        </p:nvGraphicFramePr>
        <p:xfrm>
          <a:off x="192088" y="5786438"/>
          <a:ext cx="8710612" cy="785812"/>
        </p:xfrm>
        <a:graphic>
          <a:graphicData uri="http://schemas.openxmlformats.org/presentationml/2006/ole">
            <mc:AlternateContent xmlns:mc="http://schemas.openxmlformats.org/markup-compatibility/2006">
              <mc:Choice xmlns:v="urn:schemas-microsoft-com:vml" Requires="v">
                <p:oleObj name="Equation" r:id="rId8" imgW="4927320" imgH="444240" progId="Equation.3">
                  <p:embed/>
                </p:oleObj>
              </mc:Choice>
              <mc:Fallback>
                <p:oleObj name="Equation" r:id="rId8" imgW="4927320" imgH="4442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2088" y="5786438"/>
                        <a:ext cx="8710612" cy="785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Slide Number Placeholder 12"/>
          <p:cNvSpPr>
            <a:spLocks noGrp="1"/>
          </p:cNvSpPr>
          <p:nvPr>
            <p:ph type="sldNum" sz="quarter" idx="12"/>
          </p:nvPr>
        </p:nvSpPr>
        <p:spPr/>
        <p:txBody>
          <a:bodyPr/>
          <a:lstStyle/>
          <a:p>
            <a:fld id="{732390F0-1A5B-4A83-8CFF-11D9A59B5E92}" type="slidenum">
              <a:rPr lang="tr-TR" smtClean="0"/>
              <a:pPr/>
              <a:t>22</a:t>
            </a:fld>
            <a:endParaRPr lang="tr-TR"/>
          </a:p>
        </p:txBody>
      </p:sp>
      <p:sp>
        <p:nvSpPr>
          <p:cNvPr id="15" name="Footer Placeholder 14"/>
          <p:cNvSpPr>
            <a:spLocks noGrp="1"/>
          </p:cNvSpPr>
          <p:nvPr>
            <p:ph type="ftr" sz="quarter" idx="11"/>
          </p:nvPr>
        </p:nvSpPr>
        <p:spPr/>
        <p:txBody>
          <a:bodyPr/>
          <a:lstStyle/>
          <a:p>
            <a:r>
              <a:rPr lang="tr-TR" dirty="0"/>
              <a:t>Ali Muhtaroglu</a:t>
            </a:r>
          </a:p>
        </p:txBody>
      </p:sp>
      <p:pic>
        <p:nvPicPr>
          <p:cNvPr id="27659" name="Picture 11"/>
          <p:cNvPicPr>
            <a:picLocks noChangeAspect="1" noChangeArrowheads="1"/>
          </p:cNvPicPr>
          <p:nvPr/>
        </p:nvPicPr>
        <p:blipFill>
          <a:blip r:embed="rId10" cstate="print"/>
          <a:srcRect/>
          <a:stretch>
            <a:fillRect/>
          </a:stretch>
        </p:blipFill>
        <p:spPr bwMode="auto">
          <a:xfrm>
            <a:off x="1571604" y="857232"/>
            <a:ext cx="3643338" cy="1591768"/>
          </a:xfrm>
          <a:prstGeom prst="rect">
            <a:avLst/>
          </a:prstGeom>
          <a:noFill/>
          <a:ln w="9525">
            <a:noFill/>
            <a:miter lim="800000"/>
            <a:headEnd/>
            <a:tailEnd/>
          </a:ln>
          <a:effectLst/>
        </p:spPr>
      </p:pic>
      <p:sp>
        <p:nvSpPr>
          <p:cNvPr id="17" name="9 Dikdörtgen"/>
          <p:cNvSpPr/>
          <p:nvPr/>
        </p:nvSpPr>
        <p:spPr>
          <a:xfrm>
            <a:off x="714348" y="2571744"/>
            <a:ext cx="6000776" cy="369332"/>
          </a:xfrm>
          <a:prstGeom prst="rect">
            <a:avLst/>
          </a:prstGeom>
        </p:spPr>
        <p:txBody>
          <a:bodyPr wrap="square">
            <a:spAutoFit/>
          </a:bodyPr>
          <a:lstStyle/>
          <a:p>
            <a:r>
              <a:rPr lang="en-US" dirty="0" err="1"/>
              <a:t>i</a:t>
            </a:r>
            <a:r>
              <a:rPr lang="en-US" dirty="0"/>
              <a:t>) Find the current through the resistor and the capacitor</a:t>
            </a:r>
            <a:endParaRPr lang="tr-TR" dirty="0"/>
          </a:p>
        </p:txBody>
      </p:sp>
      <p:sp>
        <p:nvSpPr>
          <p:cNvPr id="18" name="13 Dikdörtgen"/>
          <p:cNvSpPr/>
          <p:nvPr/>
        </p:nvSpPr>
        <p:spPr>
          <a:xfrm>
            <a:off x="714347" y="4214818"/>
            <a:ext cx="7275697" cy="369332"/>
          </a:xfrm>
          <a:prstGeom prst="rect">
            <a:avLst/>
          </a:prstGeom>
        </p:spPr>
        <p:txBody>
          <a:bodyPr wrap="square">
            <a:spAutoFit/>
          </a:bodyPr>
          <a:lstStyle/>
          <a:p>
            <a:r>
              <a:rPr lang="en-US" dirty="0"/>
              <a:t>ii) Find  the energy stored in the capacitor as a function of time</a:t>
            </a:r>
            <a:endParaRPr lang="tr-TR" dirty="0"/>
          </a:p>
        </p:txBody>
      </p:sp>
      <p:sp>
        <p:nvSpPr>
          <p:cNvPr id="19" name="15 Dikdörtgen"/>
          <p:cNvSpPr/>
          <p:nvPr/>
        </p:nvSpPr>
        <p:spPr>
          <a:xfrm>
            <a:off x="714348" y="5429264"/>
            <a:ext cx="6776432" cy="369332"/>
          </a:xfrm>
          <a:prstGeom prst="rect">
            <a:avLst/>
          </a:prstGeom>
        </p:spPr>
        <p:txBody>
          <a:bodyPr wrap="square">
            <a:spAutoFit/>
          </a:bodyPr>
          <a:lstStyle/>
          <a:p>
            <a:r>
              <a:rPr lang="en-US" dirty="0"/>
              <a:t>iii) Find the energy dissipated in the resistor as a function of time</a:t>
            </a:r>
            <a:endParaRPr lang="tr-TR" dirty="0"/>
          </a:p>
        </p:txBody>
      </p:sp>
      <p:sp>
        <p:nvSpPr>
          <p:cNvPr id="14" name="TextBox 13"/>
          <p:cNvSpPr txBox="1"/>
          <p:nvPr/>
        </p:nvSpPr>
        <p:spPr>
          <a:xfrm>
            <a:off x="3381073" y="3958561"/>
            <a:ext cx="2272225" cy="276999"/>
          </a:xfrm>
          <a:prstGeom prst="rect">
            <a:avLst/>
          </a:prstGeom>
          <a:noFill/>
        </p:spPr>
        <p:txBody>
          <a:bodyPr wrap="none" rtlCol="0">
            <a:spAutoFit/>
          </a:bodyPr>
          <a:lstStyle/>
          <a:p>
            <a:r>
              <a:rPr lang="tr-TR" sz="1200" b="1" i="1" dirty="0">
                <a:solidFill>
                  <a:srgbClr val="0000FF"/>
                </a:solidFill>
              </a:rPr>
              <a:t>(chain rule of differentiation)</a:t>
            </a:r>
            <a:endParaRPr lang="en-US" sz="1200" b="1" i="1" dirty="0">
              <a:solidFill>
                <a:srgbClr val="0000FF"/>
              </a:solidFill>
            </a:endParaRPr>
          </a:p>
        </p:txBody>
      </p:sp>
      <p:sp>
        <p:nvSpPr>
          <p:cNvPr id="16" name="TextBox 15"/>
          <p:cNvSpPr txBox="1"/>
          <p:nvPr/>
        </p:nvSpPr>
        <p:spPr>
          <a:xfrm>
            <a:off x="4687215" y="6356312"/>
            <a:ext cx="1846980" cy="276999"/>
          </a:xfrm>
          <a:prstGeom prst="rect">
            <a:avLst/>
          </a:prstGeom>
          <a:noFill/>
        </p:spPr>
        <p:txBody>
          <a:bodyPr wrap="none" rtlCol="0">
            <a:spAutoFit/>
          </a:bodyPr>
          <a:lstStyle/>
          <a:p>
            <a:r>
              <a:rPr lang="tr-TR" sz="1200" b="1" i="1" dirty="0">
                <a:solidFill>
                  <a:srgbClr val="0000FF"/>
                </a:solidFill>
              </a:rPr>
              <a:t>(double angle formula)</a:t>
            </a:r>
            <a:endParaRPr lang="en-US" sz="1200" b="1" i="1" dirty="0">
              <a:solidFill>
                <a:srgbClr val="0000FF"/>
              </a:solidFill>
            </a:endParaRPr>
          </a:p>
        </p:txBody>
      </p:sp>
    </p:spTree>
    <p:extLst>
      <p:ext uri="{BB962C8B-B14F-4D97-AF65-F5344CB8AC3E}">
        <p14:creationId xmlns:p14="http://schemas.microsoft.com/office/powerpoint/2010/main" val="33824373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Dikdörtgen"/>
          <p:cNvSpPr/>
          <p:nvPr/>
        </p:nvSpPr>
        <p:spPr>
          <a:xfrm>
            <a:off x="142860" y="2432557"/>
            <a:ext cx="1071570" cy="461665"/>
          </a:xfrm>
          <a:prstGeom prst="rect">
            <a:avLst/>
          </a:prstGeom>
        </p:spPr>
        <p:txBody>
          <a:bodyPr wrap="square">
            <a:spAutoFit/>
          </a:bodyPr>
          <a:lstStyle/>
          <a:p>
            <a:r>
              <a:rPr lang="tr-TR" sz="2400" dirty="0" err="1"/>
              <a:t>Notes</a:t>
            </a:r>
            <a:r>
              <a:rPr lang="tr-TR" sz="2400" dirty="0"/>
              <a:t>:</a:t>
            </a:r>
          </a:p>
        </p:txBody>
      </p:sp>
      <p:sp>
        <p:nvSpPr>
          <p:cNvPr id="10" name="9 Dikdörtgen"/>
          <p:cNvSpPr/>
          <p:nvPr/>
        </p:nvSpPr>
        <p:spPr>
          <a:xfrm>
            <a:off x="192088" y="2857496"/>
            <a:ext cx="8666192" cy="923330"/>
          </a:xfrm>
          <a:prstGeom prst="rect">
            <a:avLst/>
          </a:prstGeom>
        </p:spPr>
        <p:txBody>
          <a:bodyPr wrap="square">
            <a:spAutoFit/>
          </a:bodyPr>
          <a:lstStyle/>
          <a:p>
            <a:r>
              <a:rPr lang="en-US" dirty="0"/>
              <a:t>• </a:t>
            </a:r>
            <a:r>
              <a:rPr lang="tr-TR" dirty="0"/>
              <a:t>     </a:t>
            </a:r>
            <a:r>
              <a:rPr lang="en-US" dirty="0"/>
              <a:t>The energy stored at the capacitor increases to maximum at t=0.25s and then </a:t>
            </a:r>
          </a:p>
          <a:p>
            <a:r>
              <a:rPr lang="en-US" dirty="0"/>
              <a:t>        decreases back to zero at t=0.5s (energy is never consumed for the ideal </a:t>
            </a:r>
          </a:p>
          <a:p>
            <a:r>
              <a:rPr lang="en-US" dirty="0"/>
              <a:t>        capacitor.)</a:t>
            </a:r>
            <a:endParaRPr lang="tr-TR" dirty="0"/>
          </a:p>
        </p:txBody>
      </p:sp>
      <p:sp>
        <p:nvSpPr>
          <p:cNvPr id="11" name="10 Dikdörtgen"/>
          <p:cNvSpPr/>
          <p:nvPr/>
        </p:nvSpPr>
        <p:spPr>
          <a:xfrm>
            <a:off x="270640" y="3857628"/>
            <a:ext cx="8230450" cy="369332"/>
          </a:xfrm>
          <a:prstGeom prst="rect">
            <a:avLst/>
          </a:prstGeom>
        </p:spPr>
        <p:txBody>
          <a:bodyPr wrap="square">
            <a:spAutoFit/>
          </a:bodyPr>
          <a:lstStyle/>
          <a:p>
            <a:r>
              <a:rPr lang="en-US" dirty="0"/>
              <a:t>• </a:t>
            </a:r>
            <a:r>
              <a:rPr lang="tr-TR" dirty="0"/>
              <a:t>     </a:t>
            </a:r>
            <a:r>
              <a:rPr lang="en-US" dirty="0"/>
              <a:t>During the same 0.5s interval, the resistor consumes 2.5 </a:t>
            </a:r>
            <a:r>
              <a:rPr lang="en-US" dirty="0" err="1"/>
              <a:t>mJ</a:t>
            </a:r>
            <a:r>
              <a:rPr lang="en-US" dirty="0"/>
              <a:t> of </a:t>
            </a:r>
            <a:r>
              <a:rPr lang="tr-TR" dirty="0"/>
              <a:t>energy.</a:t>
            </a:r>
          </a:p>
        </p:txBody>
      </p:sp>
      <p:sp>
        <p:nvSpPr>
          <p:cNvPr id="13" name="Slide Number Placeholder 12"/>
          <p:cNvSpPr>
            <a:spLocks noGrp="1"/>
          </p:cNvSpPr>
          <p:nvPr>
            <p:ph type="sldNum" sz="quarter" idx="12"/>
          </p:nvPr>
        </p:nvSpPr>
        <p:spPr/>
        <p:txBody>
          <a:bodyPr/>
          <a:lstStyle/>
          <a:p>
            <a:fld id="{732390F0-1A5B-4A83-8CFF-11D9A59B5E92}" type="slidenum">
              <a:rPr lang="tr-TR" smtClean="0"/>
              <a:pPr/>
              <a:t>23</a:t>
            </a:fld>
            <a:endParaRPr lang="tr-TR"/>
          </a:p>
        </p:txBody>
      </p:sp>
      <p:sp>
        <p:nvSpPr>
          <p:cNvPr id="17" name="1 Başlık"/>
          <p:cNvSpPr>
            <a:spLocks noGrp="1"/>
          </p:cNvSpPr>
          <p:nvPr>
            <p:ph type="title"/>
          </p:nvPr>
        </p:nvSpPr>
        <p:spPr>
          <a:xfrm>
            <a:off x="214282" y="71422"/>
            <a:ext cx="6572296" cy="642934"/>
          </a:xfrm>
        </p:spPr>
        <p:txBody>
          <a:bodyPr>
            <a:normAutofit/>
          </a:bodyPr>
          <a:lstStyle/>
          <a:p>
            <a:r>
              <a:rPr lang="tr-TR" sz="3200" dirty="0" err="1"/>
              <a:t>Example</a:t>
            </a:r>
            <a:endParaRPr lang="tr-TR" sz="3200" dirty="0"/>
          </a:p>
        </p:txBody>
      </p:sp>
      <p:pic>
        <p:nvPicPr>
          <p:cNvPr id="18" name="Picture 11"/>
          <p:cNvPicPr>
            <a:picLocks noChangeAspect="1" noChangeArrowheads="1"/>
          </p:cNvPicPr>
          <p:nvPr/>
        </p:nvPicPr>
        <p:blipFill>
          <a:blip r:embed="rId2" cstate="print"/>
          <a:srcRect/>
          <a:stretch>
            <a:fillRect/>
          </a:stretch>
        </p:blipFill>
        <p:spPr bwMode="auto">
          <a:xfrm>
            <a:off x="1571604" y="857232"/>
            <a:ext cx="3643338" cy="1591768"/>
          </a:xfrm>
          <a:prstGeom prst="rect">
            <a:avLst/>
          </a:prstGeom>
          <a:noFill/>
          <a:ln w="9525">
            <a:noFill/>
            <a:miter lim="800000"/>
            <a:headEnd/>
            <a:tailEnd/>
          </a:ln>
          <a:effectLst/>
        </p:spPr>
      </p:pic>
      <p:graphicFrame>
        <p:nvGraphicFramePr>
          <p:cNvPr id="20" name="Object 9"/>
          <p:cNvGraphicFramePr>
            <a:graphicFrameLocks noChangeAspect="1"/>
          </p:cNvGraphicFramePr>
          <p:nvPr/>
        </p:nvGraphicFramePr>
        <p:xfrm>
          <a:off x="1500166" y="4572008"/>
          <a:ext cx="5881729" cy="785818"/>
        </p:xfrm>
        <a:graphic>
          <a:graphicData uri="http://schemas.openxmlformats.org/presentationml/2006/ole">
            <mc:AlternateContent xmlns:mc="http://schemas.openxmlformats.org/markup-compatibility/2006">
              <mc:Choice xmlns:v="urn:schemas-microsoft-com:vml" Requires="v">
                <p:oleObj name="Equation" r:id="rId3" imgW="3136680" imgH="419040" progId="Equation.3">
                  <p:embed/>
                </p:oleObj>
              </mc:Choice>
              <mc:Fallback>
                <p:oleObj name="Equation" r:id="rId3" imgW="3136680" imgH="4190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0166" y="4572008"/>
                        <a:ext cx="5881729" cy="785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 name="Object 10"/>
          <p:cNvGraphicFramePr>
            <a:graphicFrameLocks noChangeAspect="1"/>
          </p:cNvGraphicFramePr>
          <p:nvPr/>
        </p:nvGraphicFramePr>
        <p:xfrm>
          <a:off x="192088" y="5786438"/>
          <a:ext cx="8710612" cy="785812"/>
        </p:xfrm>
        <a:graphic>
          <a:graphicData uri="http://schemas.openxmlformats.org/presentationml/2006/ole">
            <mc:AlternateContent xmlns:mc="http://schemas.openxmlformats.org/markup-compatibility/2006">
              <mc:Choice xmlns:v="urn:schemas-microsoft-com:vml" Requires="v">
                <p:oleObj name="Equation" r:id="rId5" imgW="4927320" imgH="444240" progId="Equation.3">
                  <p:embed/>
                </p:oleObj>
              </mc:Choice>
              <mc:Fallback>
                <p:oleObj name="Equation" r:id="rId5" imgW="4927320" imgH="4442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088" y="5786438"/>
                        <a:ext cx="8710612" cy="785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13 Dikdörtgen"/>
          <p:cNvSpPr/>
          <p:nvPr/>
        </p:nvSpPr>
        <p:spPr>
          <a:xfrm>
            <a:off x="714347" y="4214818"/>
            <a:ext cx="7275697" cy="369332"/>
          </a:xfrm>
          <a:prstGeom prst="rect">
            <a:avLst/>
          </a:prstGeom>
        </p:spPr>
        <p:txBody>
          <a:bodyPr wrap="square">
            <a:spAutoFit/>
          </a:bodyPr>
          <a:lstStyle/>
          <a:p>
            <a:r>
              <a:rPr lang="en-US" dirty="0"/>
              <a:t>ii) Find  the energy stored in the capacitor as a function of time</a:t>
            </a:r>
            <a:endParaRPr lang="tr-TR" dirty="0"/>
          </a:p>
        </p:txBody>
      </p:sp>
      <p:sp>
        <p:nvSpPr>
          <p:cNvPr id="16" name="15 Dikdörtgen"/>
          <p:cNvSpPr/>
          <p:nvPr/>
        </p:nvSpPr>
        <p:spPr>
          <a:xfrm>
            <a:off x="714348" y="5429264"/>
            <a:ext cx="6776432" cy="369332"/>
          </a:xfrm>
          <a:prstGeom prst="rect">
            <a:avLst/>
          </a:prstGeom>
        </p:spPr>
        <p:txBody>
          <a:bodyPr wrap="square">
            <a:spAutoFit/>
          </a:bodyPr>
          <a:lstStyle/>
          <a:p>
            <a:r>
              <a:rPr lang="en-US" dirty="0"/>
              <a:t>iii) Find the energy dissipated in the resistor as a function of time</a:t>
            </a:r>
            <a:endParaRPr lang="tr-TR" dirty="0"/>
          </a:p>
        </p:txBody>
      </p:sp>
      <p:sp>
        <p:nvSpPr>
          <p:cNvPr id="24" name="Footer Placeholder 14"/>
          <p:cNvSpPr txBox="1">
            <a:spLocks/>
          </p:cNvSpPr>
          <p:nvPr/>
        </p:nvSpPr>
        <p:spPr>
          <a:xfrm>
            <a:off x="6667500" y="6454776"/>
            <a:ext cx="2438400" cy="365125"/>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smtClean="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tr-TR"/>
              <a:t>Ali Muhtaroglu</a:t>
            </a:r>
            <a:endParaRPr lang="tr-TR" dirty="0"/>
          </a:p>
        </p:txBody>
      </p:sp>
    </p:spTree>
    <p:extLst>
      <p:ext uri="{BB962C8B-B14F-4D97-AF65-F5344CB8AC3E}">
        <p14:creationId xmlns:p14="http://schemas.microsoft.com/office/powerpoint/2010/main" val="28585591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357158" y="142852"/>
            <a:ext cx="6929486" cy="500066"/>
          </a:xfrm>
        </p:spPr>
        <p:txBody>
          <a:bodyPr>
            <a:noAutofit/>
          </a:bodyPr>
          <a:lstStyle/>
          <a:p>
            <a:r>
              <a:rPr lang="tr-TR" sz="3200" dirty="0" err="1"/>
              <a:t>Series</a:t>
            </a:r>
            <a:r>
              <a:rPr lang="tr-TR" sz="3200" dirty="0"/>
              <a:t> </a:t>
            </a:r>
            <a:r>
              <a:rPr lang="tr-TR" sz="3200" dirty="0" err="1"/>
              <a:t>and</a:t>
            </a:r>
            <a:r>
              <a:rPr lang="tr-TR" sz="3200" dirty="0"/>
              <a:t> </a:t>
            </a:r>
            <a:r>
              <a:rPr lang="tr-TR" sz="3200" dirty="0" err="1"/>
              <a:t>Parallel</a:t>
            </a:r>
            <a:r>
              <a:rPr lang="tr-TR" sz="3200" dirty="0"/>
              <a:t> </a:t>
            </a:r>
            <a:r>
              <a:rPr lang="tr-TR" sz="3200" dirty="0" err="1"/>
              <a:t>Capacitors</a:t>
            </a:r>
            <a:endParaRPr lang="tr-TR" sz="3200" dirty="0"/>
          </a:p>
        </p:txBody>
      </p:sp>
      <p:sp>
        <p:nvSpPr>
          <p:cNvPr id="8" name="7 Dikdörtgen"/>
          <p:cNvSpPr/>
          <p:nvPr/>
        </p:nvSpPr>
        <p:spPr>
          <a:xfrm>
            <a:off x="4286248" y="1000108"/>
            <a:ext cx="4857752" cy="1200329"/>
          </a:xfrm>
          <a:prstGeom prst="rect">
            <a:avLst/>
          </a:prstGeom>
        </p:spPr>
        <p:txBody>
          <a:bodyPr wrap="square">
            <a:spAutoFit/>
          </a:bodyPr>
          <a:lstStyle/>
          <a:p>
            <a:r>
              <a:rPr lang="en-US" dirty="0"/>
              <a:t>The equivalent of a chain of series-connected</a:t>
            </a:r>
          </a:p>
          <a:p>
            <a:r>
              <a:rPr lang="en-US" dirty="0"/>
              <a:t>capacitors is a single capacitor whose inverse</a:t>
            </a:r>
          </a:p>
          <a:p>
            <a:r>
              <a:rPr lang="en-US" dirty="0"/>
              <a:t>capacitance is the sum of inverses of the</a:t>
            </a:r>
          </a:p>
          <a:p>
            <a:r>
              <a:rPr lang="tr-TR" dirty="0" err="1"/>
              <a:t>series</a:t>
            </a:r>
            <a:r>
              <a:rPr lang="tr-TR" dirty="0"/>
              <a:t> </a:t>
            </a:r>
            <a:r>
              <a:rPr lang="tr-TR" dirty="0" err="1"/>
              <a:t>capacitances</a:t>
            </a:r>
            <a:r>
              <a:rPr lang="tr-TR" dirty="0"/>
              <a:t>:</a:t>
            </a:r>
          </a:p>
        </p:txBody>
      </p:sp>
      <p:graphicFrame>
        <p:nvGraphicFramePr>
          <p:cNvPr id="9" name="8 Nesne"/>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2" imgW="914400" imgH="215640" progId="Equation.3">
                  <p:embed/>
                </p:oleObj>
              </mc:Choice>
              <mc:Fallback>
                <p:oleObj name="Equation" r:id="rId2" imgW="914400" imgH="215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7" name="Object 5"/>
          <p:cNvGraphicFramePr>
            <a:graphicFrameLocks noChangeAspect="1"/>
          </p:cNvGraphicFramePr>
          <p:nvPr/>
        </p:nvGraphicFramePr>
        <p:xfrm>
          <a:off x="5657850" y="2214563"/>
          <a:ext cx="1755775" cy="1023937"/>
        </p:xfrm>
        <a:graphic>
          <a:graphicData uri="http://schemas.openxmlformats.org/presentationml/2006/ole">
            <mc:AlternateContent xmlns:mc="http://schemas.openxmlformats.org/markup-compatibility/2006">
              <mc:Choice xmlns:v="urn:schemas-microsoft-com:vml" Requires="v">
                <p:oleObj name="Equation" r:id="rId4" imgW="761760" imgH="444240" progId="Equation.3">
                  <p:embed/>
                </p:oleObj>
              </mc:Choice>
              <mc:Fallback>
                <p:oleObj name="Equation" r:id="rId4" imgW="761760" imgH="4442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7850" y="2214563"/>
                        <a:ext cx="1755775" cy="1023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10 Dikdörtgen"/>
          <p:cNvSpPr/>
          <p:nvPr/>
        </p:nvSpPr>
        <p:spPr>
          <a:xfrm>
            <a:off x="4071934" y="3429000"/>
            <a:ext cx="4572000" cy="646331"/>
          </a:xfrm>
          <a:prstGeom prst="rect">
            <a:avLst/>
          </a:prstGeom>
        </p:spPr>
        <p:txBody>
          <a:bodyPr>
            <a:spAutoFit/>
          </a:bodyPr>
          <a:lstStyle/>
          <a:p>
            <a:r>
              <a:rPr lang="en-US" dirty="0"/>
              <a:t>In the case of 2 series</a:t>
            </a:r>
          </a:p>
          <a:p>
            <a:r>
              <a:rPr lang="tr-TR" dirty="0"/>
              <a:t>capacitances:</a:t>
            </a:r>
          </a:p>
        </p:txBody>
      </p:sp>
      <p:graphicFrame>
        <p:nvGraphicFramePr>
          <p:cNvPr id="33798" name="Object 6"/>
          <p:cNvGraphicFramePr>
            <a:graphicFrameLocks noChangeAspect="1"/>
          </p:cNvGraphicFramePr>
          <p:nvPr/>
        </p:nvGraphicFramePr>
        <p:xfrm>
          <a:off x="6500826" y="3286124"/>
          <a:ext cx="1857388" cy="942555"/>
        </p:xfrm>
        <a:graphic>
          <a:graphicData uri="http://schemas.openxmlformats.org/presentationml/2006/ole">
            <mc:AlternateContent xmlns:mc="http://schemas.openxmlformats.org/markup-compatibility/2006">
              <mc:Choice xmlns:v="urn:schemas-microsoft-com:vml" Requires="v">
                <p:oleObj name="Equation" r:id="rId6" imgW="850680" imgH="431640" progId="Equation.3">
                  <p:embed/>
                </p:oleObj>
              </mc:Choice>
              <mc:Fallback>
                <p:oleObj name="Equation" r:id="rId6" imgW="850680" imgH="4316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00826" y="3286124"/>
                        <a:ext cx="1857388" cy="942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 name="Slide Number Placeholder 11"/>
          <p:cNvSpPr>
            <a:spLocks noGrp="1"/>
          </p:cNvSpPr>
          <p:nvPr>
            <p:ph type="sldNum" sz="quarter" idx="12"/>
          </p:nvPr>
        </p:nvSpPr>
        <p:spPr/>
        <p:txBody>
          <a:bodyPr/>
          <a:lstStyle/>
          <a:p>
            <a:fld id="{732390F0-1A5B-4A83-8CFF-11D9A59B5E92}" type="slidenum">
              <a:rPr lang="tr-TR" smtClean="0"/>
              <a:pPr/>
              <a:t>24</a:t>
            </a:fld>
            <a:endParaRPr lang="tr-TR"/>
          </a:p>
        </p:txBody>
      </p:sp>
      <p:sp>
        <p:nvSpPr>
          <p:cNvPr id="13" name="Footer Placeholder 12"/>
          <p:cNvSpPr>
            <a:spLocks noGrp="1"/>
          </p:cNvSpPr>
          <p:nvPr>
            <p:ph type="ftr" sz="quarter" idx="11"/>
          </p:nvPr>
        </p:nvSpPr>
        <p:spPr/>
        <p:txBody>
          <a:bodyPr/>
          <a:lstStyle/>
          <a:p>
            <a:r>
              <a:rPr lang="tr-TR"/>
              <a:t>Ali Muhtaroglu</a:t>
            </a:r>
          </a:p>
        </p:txBody>
      </p:sp>
      <p:pic>
        <p:nvPicPr>
          <p:cNvPr id="33800" name="Picture 8"/>
          <p:cNvPicPr>
            <a:picLocks noChangeAspect="1" noChangeArrowheads="1"/>
          </p:cNvPicPr>
          <p:nvPr/>
        </p:nvPicPr>
        <p:blipFill>
          <a:blip r:embed="rId8" cstate="print"/>
          <a:srcRect/>
          <a:stretch>
            <a:fillRect/>
          </a:stretch>
        </p:blipFill>
        <p:spPr bwMode="auto">
          <a:xfrm>
            <a:off x="428596" y="857232"/>
            <a:ext cx="3828678" cy="2928958"/>
          </a:xfrm>
          <a:prstGeom prst="rect">
            <a:avLst/>
          </a:prstGeom>
          <a:noFill/>
          <a:ln w="9525">
            <a:noFill/>
            <a:miter lim="800000"/>
            <a:headEnd/>
            <a:tailEnd/>
          </a:ln>
          <a:effectLst/>
        </p:spPr>
      </p:pic>
    </p:spTree>
    <p:extLst>
      <p:ext uri="{BB962C8B-B14F-4D97-AF65-F5344CB8AC3E}">
        <p14:creationId xmlns:p14="http://schemas.microsoft.com/office/powerpoint/2010/main" val="14529045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357158" y="142852"/>
            <a:ext cx="6929486" cy="500066"/>
          </a:xfrm>
        </p:spPr>
        <p:txBody>
          <a:bodyPr>
            <a:noAutofit/>
          </a:bodyPr>
          <a:lstStyle/>
          <a:p>
            <a:r>
              <a:rPr lang="tr-TR" sz="3200" dirty="0" err="1"/>
              <a:t>Series</a:t>
            </a:r>
            <a:r>
              <a:rPr lang="tr-TR" sz="3200" dirty="0"/>
              <a:t> </a:t>
            </a:r>
            <a:r>
              <a:rPr lang="tr-TR" sz="3200" dirty="0" err="1"/>
              <a:t>and</a:t>
            </a:r>
            <a:r>
              <a:rPr lang="tr-TR" sz="3200" dirty="0"/>
              <a:t> </a:t>
            </a:r>
            <a:r>
              <a:rPr lang="tr-TR" sz="3200" dirty="0" err="1"/>
              <a:t>Parallel</a:t>
            </a:r>
            <a:r>
              <a:rPr lang="tr-TR" sz="3200" dirty="0"/>
              <a:t> </a:t>
            </a:r>
            <a:r>
              <a:rPr lang="tr-TR" sz="3200" dirty="0" err="1"/>
              <a:t>Capacitors</a:t>
            </a:r>
            <a:endParaRPr lang="tr-TR" sz="3200" dirty="0"/>
          </a:p>
        </p:txBody>
      </p:sp>
      <p:graphicFrame>
        <p:nvGraphicFramePr>
          <p:cNvPr id="9" name="8 Nesne"/>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2" imgW="914400" imgH="215640" progId="Equation.3">
                  <p:embed/>
                </p:oleObj>
              </mc:Choice>
              <mc:Fallback>
                <p:oleObj name="Equation" r:id="rId2" imgW="914400" imgH="215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7" name="Object 5"/>
          <p:cNvGraphicFramePr>
            <a:graphicFrameLocks noChangeAspect="1"/>
          </p:cNvGraphicFramePr>
          <p:nvPr/>
        </p:nvGraphicFramePr>
        <p:xfrm>
          <a:off x="5657850" y="2214563"/>
          <a:ext cx="1755775" cy="1023937"/>
        </p:xfrm>
        <a:graphic>
          <a:graphicData uri="http://schemas.openxmlformats.org/presentationml/2006/ole">
            <mc:AlternateContent xmlns:mc="http://schemas.openxmlformats.org/markup-compatibility/2006">
              <mc:Choice xmlns:v="urn:schemas-microsoft-com:vml" Requires="v">
                <p:oleObj name="Equation" r:id="rId4" imgW="761760" imgH="444240" progId="Equation.3">
                  <p:embed/>
                </p:oleObj>
              </mc:Choice>
              <mc:Fallback>
                <p:oleObj name="Equation" r:id="rId4" imgW="761760" imgH="4442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7850" y="2214563"/>
                        <a:ext cx="1755775" cy="1023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798" name="Object 6"/>
          <p:cNvGraphicFramePr>
            <a:graphicFrameLocks noChangeAspect="1"/>
          </p:cNvGraphicFramePr>
          <p:nvPr/>
        </p:nvGraphicFramePr>
        <p:xfrm>
          <a:off x="6500826" y="3286124"/>
          <a:ext cx="1857388" cy="942555"/>
        </p:xfrm>
        <a:graphic>
          <a:graphicData uri="http://schemas.openxmlformats.org/presentationml/2006/ole">
            <mc:AlternateContent xmlns:mc="http://schemas.openxmlformats.org/markup-compatibility/2006">
              <mc:Choice xmlns:v="urn:schemas-microsoft-com:vml" Requires="v">
                <p:oleObj name="Equation" r:id="rId6" imgW="850680" imgH="431640" progId="Equation.3">
                  <p:embed/>
                </p:oleObj>
              </mc:Choice>
              <mc:Fallback>
                <p:oleObj name="Equation" r:id="rId6" imgW="850680" imgH="4316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00826" y="3286124"/>
                        <a:ext cx="1857388" cy="942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 name="Slide Number Placeholder 11"/>
          <p:cNvSpPr>
            <a:spLocks noGrp="1"/>
          </p:cNvSpPr>
          <p:nvPr>
            <p:ph type="sldNum" sz="quarter" idx="12"/>
          </p:nvPr>
        </p:nvSpPr>
        <p:spPr/>
        <p:txBody>
          <a:bodyPr/>
          <a:lstStyle/>
          <a:p>
            <a:fld id="{732390F0-1A5B-4A83-8CFF-11D9A59B5E92}" type="slidenum">
              <a:rPr lang="tr-TR" smtClean="0"/>
              <a:pPr/>
              <a:t>25</a:t>
            </a:fld>
            <a:endParaRPr lang="tr-TR"/>
          </a:p>
        </p:txBody>
      </p:sp>
      <p:sp>
        <p:nvSpPr>
          <p:cNvPr id="13" name="Footer Placeholder 12"/>
          <p:cNvSpPr>
            <a:spLocks noGrp="1"/>
          </p:cNvSpPr>
          <p:nvPr>
            <p:ph type="ftr" sz="quarter" idx="11"/>
          </p:nvPr>
        </p:nvSpPr>
        <p:spPr/>
        <p:txBody>
          <a:bodyPr/>
          <a:lstStyle/>
          <a:p>
            <a:r>
              <a:rPr lang="tr-TR"/>
              <a:t>Ali Muhtaroglu</a:t>
            </a:r>
          </a:p>
        </p:txBody>
      </p:sp>
      <p:pic>
        <p:nvPicPr>
          <p:cNvPr id="33800" name="Picture 8"/>
          <p:cNvPicPr>
            <a:picLocks noChangeAspect="1" noChangeArrowheads="1"/>
          </p:cNvPicPr>
          <p:nvPr/>
        </p:nvPicPr>
        <p:blipFill>
          <a:blip r:embed="rId8" cstate="print"/>
          <a:srcRect/>
          <a:stretch>
            <a:fillRect/>
          </a:stretch>
        </p:blipFill>
        <p:spPr bwMode="auto">
          <a:xfrm>
            <a:off x="428596" y="857232"/>
            <a:ext cx="3828678" cy="2928958"/>
          </a:xfrm>
          <a:prstGeom prst="rect">
            <a:avLst/>
          </a:prstGeom>
          <a:noFill/>
          <a:ln w="9525">
            <a:noFill/>
            <a:miter lim="800000"/>
            <a:headEnd/>
            <a:tailEnd/>
          </a:ln>
          <a:effectLst/>
        </p:spPr>
      </p:pic>
      <p:sp>
        <p:nvSpPr>
          <p:cNvPr id="14" name="15 Dikdörtgen"/>
          <p:cNvSpPr/>
          <p:nvPr/>
        </p:nvSpPr>
        <p:spPr>
          <a:xfrm>
            <a:off x="285720" y="5572140"/>
            <a:ext cx="5515240" cy="923330"/>
          </a:xfrm>
          <a:prstGeom prst="rect">
            <a:avLst/>
          </a:prstGeom>
        </p:spPr>
        <p:txBody>
          <a:bodyPr wrap="square">
            <a:spAutoFit/>
          </a:bodyPr>
          <a:lstStyle/>
          <a:p>
            <a:r>
              <a:rPr lang="en-US" dirty="0"/>
              <a:t>The equivalent of a parallel capacitors is a single</a:t>
            </a:r>
          </a:p>
          <a:p>
            <a:r>
              <a:rPr lang="en-US" dirty="0"/>
              <a:t>capacitor whose capacitance is the sum of capacitances </a:t>
            </a:r>
            <a:r>
              <a:rPr lang="tr-TR" dirty="0"/>
              <a:t>of the parallel capacitors:</a:t>
            </a:r>
          </a:p>
        </p:txBody>
      </p:sp>
      <p:graphicFrame>
        <p:nvGraphicFramePr>
          <p:cNvPr id="15" name="Object 7"/>
          <p:cNvGraphicFramePr>
            <a:graphicFrameLocks noChangeAspect="1"/>
          </p:cNvGraphicFramePr>
          <p:nvPr/>
        </p:nvGraphicFramePr>
        <p:xfrm>
          <a:off x="6000760" y="5572140"/>
          <a:ext cx="1785950" cy="1065304"/>
        </p:xfrm>
        <a:graphic>
          <a:graphicData uri="http://schemas.openxmlformats.org/presentationml/2006/ole">
            <mc:AlternateContent xmlns:mc="http://schemas.openxmlformats.org/markup-compatibility/2006">
              <mc:Choice xmlns:v="urn:schemas-microsoft-com:vml" Requires="v">
                <p:oleObj name="Equation" r:id="rId9" imgW="723600" imgH="431640" progId="Equation.3">
                  <p:embed/>
                </p:oleObj>
              </mc:Choice>
              <mc:Fallback>
                <p:oleObj name="Equation" r:id="rId9" imgW="723600" imgH="4316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00760" y="5572140"/>
                        <a:ext cx="1785950" cy="1065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70662" name="Picture 6"/>
          <p:cNvPicPr>
            <a:picLocks noChangeAspect="1" noChangeArrowheads="1"/>
          </p:cNvPicPr>
          <p:nvPr/>
        </p:nvPicPr>
        <p:blipFill>
          <a:blip r:embed="rId11" cstate="print"/>
          <a:srcRect/>
          <a:stretch>
            <a:fillRect/>
          </a:stretch>
        </p:blipFill>
        <p:spPr bwMode="auto">
          <a:xfrm>
            <a:off x="1428728" y="4286256"/>
            <a:ext cx="5357850" cy="1428760"/>
          </a:xfrm>
          <a:prstGeom prst="rect">
            <a:avLst/>
          </a:prstGeom>
          <a:noFill/>
          <a:ln w="9525">
            <a:noFill/>
            <a:miter lim="800000"/>
            <a:headEnd/>
            <a:tailEnd/>
          </a:ln>
          <a:effectLst/>
        </p:spPr>
      </p:pic>
      <p:sp>
        <p:nvSpPr>
          <p:cNvPr id="16" name="7 Dikdörtgen"/>
          <p:cNvSpPr/>
          <p:nvPr/>
        </p:nvSpPr>
        <p:spPr>
          <a:xfrm>
            <a:off x="4286248" y="1000108"/>
            <a:ext cx="4857752" cy="1200329"/>
          </a:xfrm>
          <a:prstGeom prst="rect">
            <a:avLst/>
          </a:prstGeom>
        </p:spPr>
        <p:txBody>
          <a:bodyPr wrap="square">
            <a:spAutoFit/>
          </a:bodyPr>
          <a:lstStyle/>
          <a:p>
            <a:r>
              <a:rPr lang="en-US" dirty="0"/>
              <a:t>The equivalent of a chain of series-connected</a:t>
            </a:r>
          </a:p>
          <a:p>
            <a:r>
              <a:rPr lang="en-US" dirty="0"/>
              <a:t>capacitors is a single capacitor whose inverse</a:t>
            </a:r>
          </a:p>
          <a:p>
            <a:r>
              <a:rPr lang="en-US" dirty="0"/>
              <a:t>capacitance is the sum of inverses of the</a:t>
            </a:r>
          </a:p>
          <a:p>
            <a:r>
              <a:rPr lang="tr-TR" dirty="0" err="1"/>
              <a:t>series</a:t>
            </a:r>
            <a:r>
              <a:rPr lang="tr-TR" dirty="0"/>
              <a:t> </a:t>
            </a:r>
            <a:r>
              <a:rPr lang="tr-TR" dirty="0" err="1"/>
              <a:t>capacitances</a:t>
            </a:r>
            <a:r>
              <a:rPr lang="tr-TR" dirty="0"/>
              <a:t>:</a:t>
            </a:r>
          </a:p>
        </p:txBody>
      </p:sp>
      <p:sp>
        <p:nvSpPr>
          <p:cNvPr id="17" name="10 Dikdörtgen"/>
          <p:cNvSpPr/>
          <p:nvPr/>
        </p:nvSpPr>
        <p:spPr>
          <a:xfrm>
            <a:off x="4071934" y="3429000"/>
            <a:ext cx="4572000" cy="646331"/>
          </a:xfrm>
          <a:prstGeom prst="rect">
            <a:avLst/>
          </a:prstGeom>
        </p:spPr>
        <p:txBody>
          <a:bodyPr>
            <a:spAutoFit/>
          </a:bodyPr>
          <a:lstStyle/>
          <a:p>
            <a:r>
              <a:rPr lang="en-US" dirty="0"/>
              <a:t>In the case of 2 series</a:t>
            </a:r>
          </a:p>
          <a:p>
            <a:r>
              <a:rPr lang="tr-TR" dirty="0"/>
              <a:t>capacitances:</a:t>
            </a:r>
          </a:p>
        </p:txBody>
      </p:sp>
    </p:spTree>
    <p:extLst>
      <p:ext uri="{BB962C8B-B14F-4D97-AF65-F5344CB8AC3E}">
        <p14:creationId xmlns:p14="http://schemas.microsoft.com/office/powerpoint/2010/main" val="37343904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500034" y="142852"/>
            <a:ext cx="7143800" cy="571504"/>
          </a:xfrm>
        </p:spPr>
        <p:txBody>
          <a:bodyPr>
            <a:normAutofit fontScale="90000"/>
          </a:bodyPr>
          <a:lstStyle/>
          <a:p>
            <a:r>
              <a:rPr lang="tr-TR" sz="3600" dirty="0" err="1"/>
              <a:t>Example</a:t>
            </a:r>
            <a:endParaRPr lang="tr-TR" sz="3600" dirty="0"/>
          </a:p>
        </p:txBody>
      </p:sp>
      <p:sp>
        <p:nvSpPr>
          <p:cNvPr id="6" name="5 Dikdörtgen"/>
          <p:cNvSpPr/>
          <p:nvPr/>
        </p:nvSpPr>
        <p:spPr>
          <a:xfrm>
            <a:off x="428596" y="1071546"/>
            <a:ext cx="6072214" cy="369332"/>
          </a:xfrm>
          <a:prstGeom prst="rect">
            <a:avLst/>
          </a:prstGeom>
        </p:spPr>
        <p:txBody>
          <a:bodyPr wrap="square">
            <a:spAutoFit/>
          </a:bodyPr>
          <a:lstStyle/>
          <a:p>
            <a:r>
              <a:rPr lang="en-US" dirty="0"/>
              <a:t>Find the equivalent capacitance for the following circuit:</a:t>
            </a:r>
            <a:endParaRPr lang="tr-TR" dirty="0"/>
          </a:p>
        </p:txBody>
      </p:sp>
      <p:pic>
        <p:nvPicPr>
          <p:cNvPr id="35843" name="Picture 3"/>
          <p:cNvPicPr>
            <a:picLocks noChangeAspect="1" noChangeArrowheads="1"/>
          </p:cNvPicPr>
          <p:nvPr/>
        </p:nvPicPr>
        <p:blipFill>
          <a:blip r:embed="rId2" cstate="print"/>
          <a:srcRect/>
          <a:stretch>
            <a:fillRect/>
          </a:stretch>
        </p:blipFill>
        <p:spPr bwMode="auto">
          <a:xfrm>
            <a:off x="357158" y="1571612"/>
            <a:ext cx="4899844" cy="4429156"/>
          </a:xfrm>
          <a:prstGeom prst="rect">
            <a:avLst/>
          </a:prstGeom>
          <a:noFill/>
          <a:ln w="9525">
            <a:noFill/>
            <a:miter lim="800000"/>
            <a:headEnd/>
            <a:tailEnd/>
          </a:ln>
          <a:effectLst/>
        </p:spPr>
      </p:pic>
      <p:sp>
        <p:nvSpPr>
          <p:cNvPr id="7" name="Slide Number Placeholder 6"/>
          <p:cNvSpPr>
            <a:spLocks noGrp="1"/>
          </p:cNvSpPr>
          <p:nvPr>
            <p:ph type="sldNum" sz="quarter" idx="12"/>
          </p:nvPr>
        </p:nvSpPr>
        <p:spPr/>
        <p:txBody>
          <a:bodyPr/>
          <a:lstStyle/>
          <a:p>
            <a:fld id="{732390F0-1A5B-4A83-8CFF-11D9A59B5E92}" type="slidenum">
              <a:rPr lang="tr-TR" smtClean="0"/>
              <a:pPr/>
              <a:t>26</a:t>
            </a:fld>
            <a:endParaRPr lang="tr-TR"/>
          </a:p>
        </p:txBody>
      </p:sp>
      <p:sp>
        <p:nvSpPr>
          <p:cNvPr id="8" name="Footer Placeholder 7"/>
          <p:cNvSpPr>
            <a:spLocks noGrp="1"/>
          </p:cNvSpPr>
          <p:nvPr>
            <p:ph type="ftr" sz="quarter" idx="11"/>
          </p:nvPr>
        </p:nvSpPr>
        <p:spPr/>
        <p:txBody>
          <a:bodyPr/>
          <a:lstStyle/>
          <a:p>
            <a:r>
              <a:rPr lang="tr-TR"/>
              <a:t>Ali Muhtaroglu</a:t>
            </a:r>
          </a:p>
        </p:txBody>
      </p:sp>
    </p:spTree>
    <p:extLst>
      <p:ext uri="{BB962C8B-B14F-4D97-AF65-F5344CB8AC3E}">
        <p14:creationId xmlns:p14="http://schemas.microsoft.com/office/powerpoint/2010/main" val="13043627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Dikdörtgen"/>
          <p:cNvSpPr/>
          <p:nvPr/>
        </p:nvSpPr>
        <p:spPr>
          <a:xfrm>
            <a:off x="428596" y="1071546"/>
            <a:ext cx="6072214" cy="369332"/>
          </a:xfrm>
          <a:prstGeom prst="rect">
            <a:avLst/>
          </a:prstGeom>
        </p:spPr>
        <p:txBody>
          <a:bodyPr wrap="square">
            <a:spAutoFit/>
          </a:bodyPr>
          <a:lstStyle/>
          <a:p>
            <a:r>
              <a:rPr lang="en-US" dirty="0"/>
              <a:t>Find the equivalent capacitance for the following circuit:</a:t>
            </a:r>
            <a:endParaRPr lang="tr-TR" dirty="0"/>
          </a:p>
        </p:txBody>
      </p:sp>
      <p:pic>
        <p:nvPicPr>
          <p:cNvPr id="8" name="Picture 3"/>
          <p:cNvPicPr>
            <a:picLocks noChangeAspect="1" noChangeArrowheads="1"/>
          </p:cNvPicPr>
          <p:nvPr/>
        </p:nvPicPr>
        <p:blipFill>
          <a:blip r:embed="rId2" cstate="print"/>
          <a:srcRect/>
          <a:stretch>
            <a:fillRect/>
          </a:stretch>
        </p:blipFill>
        <p:spPr bwMode="auto">
          <a:xfrm>
            <a:off x="357158" y="1571612"/>
            <a:ext cx="4899844" cy="4429156"/>
          </a:xfrm>
          <a:prstGeom prst="rect">
            <a:avLst/>
          </a:prstGeom>
          <a:noFill/>
          <a:ln w="9525">
            <a:noFill/>
            <a:miter lim="800000"/>
            <a:headEnd/>
            <a:tailEnd/>
          </a:ln>
          <a:effectLst/>
        </p:spPr>
      </p:pic>
      <p:graphicFrame>
        <p:nvGraphicFramePr>
          <p:cNvPr id="36867" name="Object 3"/>
          <p:cNvGraphicFramePr>
            <a:graphicFrameLocks noChangeAspect="1"/>
          </p:cNvGraphicFramePr>
          <p:nvPr/>
        </p:nvGraphicFramePr>
        <p:xfrm>
          <a:off x="5500694" y="2071678"/>
          <a:ext cx="2952750" cy="1903412"/>
        </p:xfrm>
        <a:graphic>
          <a:graphicData uri="http://schemas.openxmlformats.org/presentationml/2006/ole">
            <mc:AlternateContent xmlns:mc="http://schemas.openxmlformats.org/markup-compatibility/2006">
              <mc:Choice xmlns:v="urn:schemas-microsoft-com:vml" Requires="v">
                <p:oleObj name="Equation" r:id="rId3" imgW="1536480" imgH="990360" progId="Equation.3">
                  <p:embed/>
                </p:oleObj>
              </mc:Choice>
              <mc:Fallback>
                <p:oleObj name="Equation" r:id="rId3" imgW="1536480" imgH="99036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0694" y="2071678"/>
                        <a:ext cx="2952750" cy="1903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Slide Number Placeholder 8"/>
          <p:cNvSpPr>
            <a:spLocks noGrp="1"/>
          </p:cNvSpPr>
          <p:nvPr>
            <p:ph type="sldNum" sz="quarter" idx="12"/>
          </p:nvPr>
        </p:nvSpPr>
        <p:spPr/>
        <p:txBody>
          <a:bodyPr/>
          <a:lstStyle/>
          <a:p>
            <a:fld id="{732390F0-1A5B-4A83-8CFF-11D9A59B5E92}" type="slidenum">
              <a:rPr lang="tr-TR" smtClean="0"/>
              <a:pPr/>
              <a:t>27</a:t>
            </a:fld>
            <a:endParaRPr lang="tr-TR"/>
          </a:p>
        </p:txBody>
      </p:sp>
      <p:sp>
        <p:nvSpPr>
          <p:cNvPr id="10" name="Footer Placeholder 9"/>
          <p:cNvSpPr>
            <a:spLocks noGrp="1"/>
          </p:cNvSpPr>
          <p:nvPr>
            <p:ph type="ftr" sz="quarter" idx="11"/>
          </p:nvPr>
        </p:nvSpPr>
        <p:spPr/>
        <p:txBody>
          <a:bodyPr/>
          <a:lstStyle/>
          <a:p>
            <a:r>
              <a:rPr lang="tr-TR"/>
              <a:t>Ali Muhtaroglu</a:t>
            </a:r>
          </a:p>
        </p:txBody>
      </p:sp>
      <p:sp>
        <p:nvSpPr>
          <p:cNvPr id="13" name="1 Başlık"/>
          <p:cNvSpPr>
            <a:spLocks noGrp="1"/>
          </p:cNvSpPr>
          <p:nvPr>
            <p:ph type="title"/>
          </p:nvPr>
        </p:nvSpPr>
        <p:spPr>
          <a:xfrm>
            <a:off x="500034" y="142852"/>
            <a:ext cx="7143800" cy="571504"/>
          </a:xfrm>
        </p:spPr>
        <p:txBody>
          <a:bodyPr>
            <a:normAutofit fontScale="90000"/>
          </a:bodyPr>
          <a:lstStyle/>
          <a:p>
            <a:r>
              <a:rPr lang="tr-TR" sz="3600" dirty="0" err="1"/>
              <a:t>Example</a:t>
            </a:r>
            <a:endParaRPr lang="tr-TR" sz="3600" dirty="0"/>
          </a:p>
        </p:txBody>
      </p:sp>
    </p:spTree>
    <p:extLst>
      <p:ext uri="{BB962C8B-B14F-4D97-AF65-F5344CB8AC3E}">
        <p14:creationId xmlns:p14="http://schemas.microsoft.com/office/powerpoint/2010/main" val="27998254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14282" y="142852"/>
            <a:ext cx="6858048" cy="642942"/>
          </a:xfrm>
        </p:spPr>
        <p:txBody>
          <a:bodyPr>
            <a:noAutofit/>
          </a:bodyPr>
          <a:lstStyle/>
          <a:p>
            <a:r>
              <a:rPr lang="tr-TR" sz="2800" dirty="0" err="1"/>
              <a:t>Example</a:t>
            </a:r>
            <a:r>
              <a:rPr lang="tr-TR" sz="2800" dirty="0"/>
              <a:t> : </a:t>
            </a:r>
            <a:r>
              <a:rPr lang="tr-TR" sz="2800" dirty="0" err="1"/>
              <a:t>Capacitor</a:t>
            </a:r>
            <a:r>
              <a:rPr lang="tr-TR" sz="2800" dirty="0"/>
              <a:t> </a:t>
            </a:r>
            <a:r>
              <a:rPr lang="tr-TR" sz="2800" dirty="0" err="1"/>
              <a:t>Voltage</a:t>
            </a:r>
            <a:r>
              <a:rPr lang="tr-TR" sz="2800" dirty="0"/>
              <a:t>/</a:t>
            </a:r>
            <a:r>
              <a:rPr lang="tr-TR" sz="2800" dirty="0" err="1"/>
              <a:t>Current</a:t>
            </a:r>
            <a:r>
              <a:rPr lang="tr-TR" sz="2800" dirty="0"/>
              <a:t> </a:t>
            </a:r>
            <a:r>
              <a:rPr lang="tr-TR" sz="2800" dirty="0" err="1"/>
              <a:t>Division</a:t>
            </a:r>
            <a:endParaRPr lang="tr-TR" sz="2800" dirty="0"/>
          </a:p>
        </p:txBody>
      </p:sp>
      <p:pic>
        <p:nvPicPr>
          <p:cNvPr id="38915" name="Picture 3"/>
          <p:cNvPicPr>
            <a:picLocks noChangeAspect="1" noChangeArrowheads="1"/>
          </p:cNvPicPr>
          <p:nvPr/>
        </p:nvPicPr>
        <p:blipFill>
          <a:blip r:embed="rId2" cstate="print"/>
          <a:srcRect/>
          <a:stretch>
            <a:fillRect/>
          </a:stretch>
        </p:blipFill>
        <p:spPr bwMode="auto">
          <a:xfrm>
            <a:off x="214283" y="928670"/>
            <a:ext cx="1836962" cy="1643073"/>
          </a:xfrm>
          <a:prstGeom prst="rect">
            <a:avLst/>
          </a:prstGeom>
          <a:noFill/>
          <a:ln w="9525">
            <a:noFill/>
            <a:miter lim="800000"/>
            <a:headEnd/>
            <a:tailEnd/>
          </a:ln>
          <a:effectLst/>
        </p:spPr>
      </p:pic>
      <p:sp>
        <p:nvSpPr>
          <p:cNvPr id="8" name="7 Dikdörtgen"/>
          <p:cNvSpPr/>
          <p:nvPr/>
        </p:nvSpPr>
        <p:spPr>
          <a:xfrm>
            <a:off x="2214546" y="928670"/>
            <a:ext cx="6072214" cy="646331"/>
          </a:xfrm>
          <a:prstGeom prst="rect">
            <a:avLst/>
          </a:prstGeom>
        </p:spPr>
        <p:txBody>
          <a:bodyPr wrap="square">
            <a:spAutoFit/>
          </a:bodyPr>
          <a:lstStyle/>
          <a:p>
            <a:r>
              <a:rPr lang="en-US" dirty="0"/>
              <a:t>Derive the equation for voltage division, assuming the</a:t>
            </a:r>
          </a:p>
          <a:p>
            <a:r>
              <a:rPr lang="tr-TR" dirty="0" err="1"/>
              <a:t>capacitors</a:t>
            </a:r>
            <a:r>
              <a:rPr lang="tr-TR" dirty="0"/>
              <a:t> </a:t>
            </a:r>
            <a:r>
              <a:rPr lang="tr-TR" dirty="0" err="1"/>
              <a:t>are</a:t>
            </a:r>
            <a:r>
              <a:rPr lang="tr-TR" dirty="0"/>
              <a:t> </a:t>
            </a:r>
            <a:r>
              <a:rPr lang="tr-TR" dirty="0" err="1"/>
              <a:t>initially</a:t>
            </a:r>
            <a:r>
              <a:rPr lang="tr-TR" dirty="0"/>
              <a:t> </a:t>
            </a:r>
            <a:r>
              <a:rPr lang="tr-TR" dirty="0" err="1"/>
              <a:t>uncharged</a:t>
            </a:r>
            <a:r>
              <a:rPr lang="tr-TR" dirty="0"/>
              <a:t>:</a:t>
            </a:r>
          </a:p>
        </p:txBody>
      </p:sp>
      <p:sp>
        <p:nvSpPr>
          <p:cNvPr id="14" name="Slide Number Placeholder 13"/>
          <p:cNvSpPr>
            <a:spLocks noGrp="1"/>
          </p:cNvSpPr>
          <p:nvPr>
            <p:ph type="sldNum" sz="quarter" idx="12"/>
          </p:nvPr>
        </p:nvSpPr>
        <p:spPr/>
        <p:txBody>
          <a:bodyPr/>
          <a:lstStyle/>
          <a:p>
            <a:fld id="{732390F0-1A5B-4A83-8CFF-11D9A59B5E92}" type="slidenum">
              <a:rPr lang="tr-TR" smtClean="0"/>
              <a:pPr/>
              <a:t>28</a:t>
            </a:fld>
            <a:endParaRPr lang="tr-TR"/>
          </a:p>
        </p:txBody>
      </p:sp>
      <p:sp>
        <p:nvSpPr>
          <p:cNvPr id="15" name="Footer Placeholder 14"/>
          <p:cNvSpPr>
            <a:spLocks noGrp="1"/>
          </p:cNvSpPr>
          <p:nvPr>
            <p:ph type="ftr" sz="quarter" idx="11"/>
          </p:nvPr>
        </p:nvSpPr>
        <p:spPr/>
        <p:txBody>
          <a:bodyPr/>
          <a:lstStyle/>
          <a:p>
            <a:r>
              <a:rPr lang="tr-TR"/>
              <a:t>Ali Muhtaroglu</a:t>
            </a:r>
          </a:p>
        </p:txBody>
      </p:sp>
    </p:spTree>
    <p:extLst>
      <p:ext uri="{BB962C8B-B14F-4D97-AF65-F5344CB8AC3E}">
        <p14:creationId xmlns:p14="http://schemas.microsoft.com/office/powerpoint/2010/main" val="25410395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14282" y="142852"/>
            <a:ext cx="6858048" cy="642942"/>
          </a:xfrm>
        </p:spPr>
        <p:txBody>
          <a:bodyPr>
            <a:noAutofit/>
          </a:bodyPr>
          <a:lstStyle/>
          <a:p>
            <a:r>
              <a:rPr lang="tr-TR" sz="2800" dirty="0" err="1"/>
              <a:t>Example</a:t>
            </a:r>
            <a:r>
              <a:rPr lang="tr-TR" sz="2800" dirty="0"/>
              <a:t> : </a:t>
            </a:r>
            <a:r>
              <a:rPr lang="tr-TR" sz="2800" dirty="0" err="1"/>
              <a:t>Capacitor</a:t>
            </a:r>
            <a:r>
              <a:rPr lang="tr-TR" sz="2800" dirty="0"/>
              <a:t> </a:t>
            </a:r>
            <a:r>
              <a:rPr lang="tr-TR" sz="2800" dirty="0" err="1"/>
              <a:t>Voltage</a:t>
            </a:r>
            <a:r>
              <a:rPr lang="tr-TR" sz="2800" dirty="0"/>
              <a:t>/</a:t>
            </a:r>
            <a:r>
              <a:rPr lang="tr-TR" sz="2800" dirty="0" err="1"/>
              <a:t>Current</a:t>
            </a:r>
            <a:r>
              <a:rPr lang="tr-TR" sz="2800" dirty="0"/>
              <a:t> </a:t>
            </a:r>
            <a:r>
              <a:rPr lang="tr-TR" sz="2800" dirty="0" err="1"/>
              <a:t>Division</a:t>
            </a:r>
            <a:endParaRPr lang="tr-TR" sz="2800" dirty="0"/>
          </a:p>
        </p:txBody>
      </p:sp>
      <p:pic>
        <p:nvPicPr>
          <p:cNvPr id="38915" name="Picture 3"/>
          <p:cNvPicPr>
            <a:picLocks noChangeAspect="1" noChangeArrowheads="1"/>
          </p:cNvPicPr>
          <p:nvPr/>
        </p:nvPicPr>
        <p:blipFill>
          <a:blip r:embed="rId2" cstate="print"/>
          <a:srcRect/>
          <a:stretch>
            <a:fillRect/>
          </a:stretch>
        </p:blipFill>
        <p:spPr bwMode="auto">
          <a:xfrm>
            <a:off x="214283" y="928670"/>
            <a:ext cx="1836962" cy="1643073"/>
          </a:xfrm>
          <a:prstGeom prst="rect">
            <a:avLst/>
          </a:prstGeom>
          <a:noFill/>
          <a:ln w="9525">
            <a:noFill/>
            <a:miter lim="800000"/>
            <a:headEnd/>
            <a:tailEnd/>
          </a:ln>
          <a:effectLst/>
        </p:spPr>
      </p:pic>
      <p:sp>
        <p:nvSpPr>
          <p:cNvPr id="8" name="7 Dikdörtgen"/>
          <p:cNvSpPr/>
          <p:nvPr/>
        </p:nvSpPr>
        <p:spPr>
          <a:xfrm>
            <a:off x="2214546" y="928670"/>
            <a:ext cx="6072214" cy="646331"/>
          </a:xfrm>
          <a:prstGeom prst="rect">
            <a:avLst/>
          </a:prstGeom>
        </p:spPr>
        <p:txBody>
          <a:bodyPr wrap="square">
            <a:spAutoFit/>
          </a:bodyPr>
          <a:lstStyle/>
          <a:p>
            <a:r>
              <a:rPr lang="en-US" dirty="0"/>
              <a:t>Derive the equation for voltage division, assuming the</a:t>
            </a:r>
          </a:p>
          <a:p>
            <a:r>
              <a:rPr lang="tr-TR" dirty="0" err="1"/>
              <a:t>capacitors</a:t>
            </a:r>
            <a:r>
              <a:rPr lang="tr-TR" dirty="0"/>
              <a:t> </a:t>
            </a:r>
            <a:r>
              <a:rPr lang="tr-TR" dirty="0" err="1"/>
              <a:t>are</a:t>
            </a:r>
            <a:r>
              <a:rPr lang="tr-TR" dirty="0"/>
              <a:t> </a:t>
            </a:r>
            <a:r>
              <a:rPr lang="tr-TR" dirty="0" err="1"/>
              <a:t>initially</a:t>
            </a:r>
            <a:r>
              <a:rPr lang="tr-TR" dirty="0"/>
              <a:t> </a:t>
            </a:r>
            <a:r>
              <a:rPr lang="tr-TR" dirty="0" err="1"/>
              <a:t>uncharged</a:t>
            </a:r>
            <a:r>
              <a:rPr lang="tr-TR" dirty="0"/>
              <a:t>:</a:t>
            </a:r>
          </a:p>
        </p:txBody>
      </p:sp>
      <p:graphicFrame>
        <p:nvGraphicFramePr>
          <p:cNvPr id="38917" name="Object 5"/>
          <p:cNvGraphicFramePr>
            <a:graphicFrameLocks noChangeAspect="1"/>
          </p:cNvGraphicFramePr>
          <p:nvPr/>
        </p:nvGraphicFramePr>
        <p:xfrm>
          <a:off x="2225675" y="1643063"/>
          <a:ext cx="6721475" cy="714375"/>
        </p:xfrm>
        <a:graphic>
          <a:graphicData uri="http://schemas.openxmlformats.org/presentationml/2006/ole">
            <mc:AlternateContent xmlns:mc="http://schemas.openxmlformats.org/markup-compatibility/2006">
              <mc:Choice xmlns:v="urn:schemas-microsoft-com:vml" Requires="v">
                <p:oleObj name="Equation" r:id="rId3" imgW="4063680" imgH="431640" progId="Equation.3">
                  <p:embed/>
                </p:oleObj>
              </mc:Choice>
              <mc:Fallback>
                <p:oleObj name="Equation" r:id="rId3" imgW="406368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5675" y="1643063"/>
                        <a:ext cx="672147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19" name="Object 7"/>
          <p:cNvGraphicFramePr>
            <a:graphicFrameLocks noChangeAspect="1"/>
          </p:cNvGraphicFramePr>
          <p:nvPr/>
        </p:nvGraphicFramePr>
        <p:xfrm>
          <a:off x="152400" y="2643188"/>
          <a:ext cx="8761413" cy="714375"/>
        </p:xfrm>
        <a:graphic>
          <a:graphicData uri="http://schemas.openxmlformats.org/presentationml/2006/ole">
            <mc:AlternateContent xmlns:mc="http://schemas.openxmlformats.org/markup-compatibility/2006">
              <mc:Choice xmlns:v="urn:schemas-microsoft-com:vml" Requires="v">
                <p:oleObj name="Equation" r:id="rId5" imgW="5295600" imgH="431640" progId="Equation.3">
                  <p:embed/>
                </p:oleObj>
              </mc:Choice>
              <mc:Fallback>
                <p:oleObj name="Equation" r:id="rId5" imgW="5295600" imgH="431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2643188"/>
                        <a:ext cx="8761413"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732390F0-1A5B-4A83-8CFF-11D9A59B5E92}" type="slidenum">
              <a:rPr lang="tr-TR" smtClean="0"/>
              <a:pPr/>
              <a:t>29</a:t>
            </a:fld>
            <a:endParaRPr lang="tr-TR"/>
          </a:p>
        </p:txBody>
      </p:sp>
      <p:sp>
        <p:nvSpPr>
          <p:cNvPr id="15" name="Footer Placeholder 14"/>
          <p:cNvSpPr>
            <a:spLocks noGrp="1"/>
          </p:cNvSpPr>
          <p:nvPr>
            <p:ph type="ftr" sz="quarter" idx="11"/>
          </p:nvPr>
        </p:nvSpPr>
        <p:spPr/>
        <p:txBody>
          <a:bodyPr/>
          <a:lstStyle/>
          <a:p>
            <a:r>
              <a:rPr lang="tr-TR"/>
              <a:t>Ali Muhtaroglu</a:t>
            </a:r>
          </a:p>
        </p:txBody>
      </p:sp>
    </p:spTree>
    <p:extLst>
      <p:ext uri="{BB962C8B-B14F-4D97-AF65-F5344CB8AC3E}">
        <p14:creationId xmlns:p14="http://schemas.microsoft.com/office/powerpoint/2010/main" val="8728406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14282" y="142852"/>
            <a:ext cx="6858048" cy="642942"/>
          </a:xfrm>
        </p:spPr>
        <p:txBody>
          <a:bodyPr>
            <a:noAutofit/>
          </a:bodyPr>
          <a:lstStyle/>
          <a:p>
            <a:r>
              <a:rPr lang="tr-TR" sz="2800" dirty="0" err="1"/>
              <a:t>Example</a:t>
            </a:r>
            <a:r>
              <a:rPr lang="tr-TR" sz="2800" dirty="0"/>
              <a:t> : </a:t>
            </a:r>
            <a:r>
              <a:rPr lang="tr-TR" sz="2800" dirty="0" err="1"/>
              <a:t>Capacitor</a:t>
            </a:r>
            <a:r>
              <a:rPr lang="tr-TR" sz="2800" dirty="0"/>
              <a:t> </a:t>
            </a:r>
            <a:r>
              <a:rPr lang="tr-TR" sz="2800" dirty="0" err="1"/>
              <a:t>Voltage</a:t>
            </a:r>
            <a:r>
              <a:rPr lang="tr-TR" sz="2800" dirty="0"/>
              <a:t>/</a:t>
            </a:r>
            <a:r>
              <a:rPr lang="tr-TR" sz="2800" dirty="0" err="1"/>
              <a:t>Current</a:t>
            </a:r>
            <a:r>
              <a:rPr lang="tr-TR" sz="2800" dirty="0"/>
              <a:t> </a:t>
            </a:r>
            <a:r>
              <a:rPr lang="tr-TR" sz="2800" dirty="0" err="1"/>
              <a:t>Division</a:t>
            </a:r>
            <a:endParaRPr lang="tr-TR" sz="2800" dirty="0"/>
          </a:p>
        </p:txBody>
      </p:sp>
      <p:pic>
        <p:nvPicPr>
          <p:cNvPr id="38915" name="Picture 3"/>
          <p:cNvPicPr>
            <a:picLocks noChangeAspect="1" noChangeArrowheads="1"/>
          </p:cNvPicPr>
          <p:nvPr/>
        </p:nvPicPr>
        <p:blipFill>
          <a:blip r:embed="rId2" cstate="print"/>
          <a:srcRect/>
          <a:stretch>
            <a:fillRect/>
          </a:stretch>
        </p:blipFill>
        <p:spPr bwMode="auto">
          <a:xfrm>
            <a:off x="214283" y="928670"/>
            <a:ext cx="1836962" cy="1643073"/>
          </a:xfrm>
          <a:prstGeom prst="rect">
            <a:avLst/>
          </a:prstGeom>
          <a:noFill/>
          <a:ln w="9525">
            <a:noFill/>
            <a:miter lim="800000"/>
            <a:headEnd/>
            <a:tailEnd/>
          </a:ln>
          <a:effectLst/>
        </p:spPr>
      </p:pic>
      <p:sp>
        <p:nvSpPr>
          <p:cNvPr id="8" name="7 Dikdörtgen"/>
          <p:cNvSpPr/>
          <p:nvPr/>
        </p:nvSpPr>
        <p:spPr>
          <a:xfrm>
            <a:off x="2214546" y="928670"/>
            <a:ext cx="6072214" cy="646331"/>
          </a:xfrm>
          <a:prstGeom prst="rect">
            <a:avLst/>
          </a:prstGeom>
        </p:spPr>
        <p:txBody>
          <a:bodyPr wrap="square">
            <a:spAutoFit/>
          </a:bodyPr>
          <a:lstStyle/>
          <a:p>
            <a:r>
              <a:rPr lang="en-US" dirty="0"/>
              <a:t>Derive the equation for voltage division, assuming the</a:t>
            </a:r>
          </a:p>
          <a:p>
            <a:r>
              <a:rPr lang="tr-TR" dirty="0" err="1"/>
              <a:t>capacitors</a:t>
            </a:r>
            <a:r>
              <a:rPr lang="tr-TR" dirty="0"/>
              <a:t> </a:t>
            </a:r>
            <a:r>
              <a:rPr lang="tr-TR" dirty="0" err="1"/>
              <a:t>are</a:t>
            </a:r>
            <a:r>
              <a:rPr lang="tr-TR" dirty="0"/>
              <a:t> </a:t>
            </a:r>
            <a:r>
              <a:rPr lang="tr-TR" dirty="0" err="1"/>
              <a:t>initially</a:t>
            </a:r>
            <a:r>
              <a:rPr lang="tr-TR" dirty="0"/>
              <a:t> </a:t>
            </a:r>
            <a:r>
              <a:rPr lang="tr-TR" dirty="0" err="1"/>
              <a:t>uncharged</a:t>
            </a:r>
            <a:r>
              <a:rPr lang="tr-TR" dirty="0"/>
              <a:t>:</a:t>
            </a:r>
          </a:p>
        </p:txBody>
      </p:sp>
      <p:graphicFrame>
        <p:nvGraphicFramePr>
          <p:cNvPr id="38917" name="Object 5"/>
          <p:cNvGraphicFramePr>
            <a:graphicFrameLocks noChangeAspect="1"/>
          </p:cNvGraphicFramePr>
          <p:nvPr/>
        </p:nvGraphicFramePr>
        <p:xfrm>
          <a:off x="2225675" y="1643063"/>
          <a:ext cx="6721475" cy="714375"/>
        </p:xfrm>
        <a:graphic>
          <a:graphicData uri="http://schemas.openxmlformats.org/presentationml/2006/ole">
            <mc:AlternateContent xmlns:mc="http://schemas.openxmlformats.org/markup-compatibility/2006">
              <mc:Choice xmlns:v="urn:schemas-microsoft-com:vml" Requires="v">
                <p:oleObj name="Equation" r:id="rId3" imgW="4063680" imgH="431640" progId="Equation.3">
                  <p:embed/>
                </p:oleObj>
              </mc:Choice>
              <mc:Fallback>
                <p:oleObj name="Equation" r:id="rId3" imgW="406368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5675" y="1643063"/>
                        <a:ext cx="672147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19" name="Object 7"/>
          <p:cNvGraphicFramePr>
            <a:graphicFrameLocks noChangeAspect="1"/>
          </p:cNvGraphicFramePr>
          <p:nvPr/>
        </p:nvGraphicFramePr>
        <p:xfrm>
          <a:off x="152400" y="2643188"/>
          <a:ext cx="8761413" cy="714375"/>
        </p:xfrm>
        <a:graphic>
          <a:graphicData uri="http://schemas.openxmlformats.org/presentationml/2006/ole">
            <mc:AlternateContent xmlns:mc="http://schemas.openxmlformats.org/markup-compatibility/2006">
              <mc:Choice xmlns:v="urn:schemas-microsoft-com:vml" Requires="v">
                <p:oleObj name="Equation" r:id="rId5" imgW="5295600" imgH="431640" progId="Equation.3">
                  <p:embed/>
                </p:oleObj>
              </mc:Choice>
              <mc:Fallback>
                <p:oleObj name="Equation" r:id="rId5" imgW="5295600" imgH="431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2643188"/>
                        <a:ext cx="8761413"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12 Dikdörtgen"/>
          <p:cNvSpPr/>
          <p:nvPr/>
        </p:nvSpPr>
        <p:spPr>
          <a:xfrm>
            <a:off x="2693518" y="3714752"/>
            <a:ext cx="3950184" cy="369332"/>
          </a:xfrm>
          <a:prstGeom prst="rect">
            <a:avLst/>
          </a:prstGeom>
        </p:spPr>
        <p:txBody>
          <a:bodyPr wrap="none">
            <a:spAutoFit/>
          </a:bodyPr>
          <a:lstStyle/>
          <a:p>
            <a:r>
              <a:rPr lang="en-US" dirty="0"/>
              <a:t>Derive the equation for current division:</a:t>
            </a:r>
            <a:endParaRPr lang="tr-TR" dirty="0"/>
          </a:p>
        </p:txBody>
      </p:sp>
      <p:pic>
        <p:nvPicPr>
          <p:cNvPr id="38920" name="Picture 8"/>
          <p:cNvPicPr>
            <a:picLocks noChangeAspect="1" noChangeArrowheads="1"/>
          </p:cNvPicPr>
          <p:nvPr/>
        </p:nvPicPr>
        <p:blipFill>
          <a:blip r:embed="rId7" cstate="print"/>
          <a:srcRect/>
          <a:stretch>
            <a:fillRect/>
          </a:stretch>
        </p:blipFill>
        <p:spPr bwMode="auto">
          <a:xfrm>
            <a:off x="142844" y="3714752"/>
            <a:ext cx="2493199" cy="1285884"/>
          </a:xfrm>
          <a:prstGeom prst="rect">
            <a:avLst/>
          </a:prstGeom>
          <a:noFill/>
          <a:ln w="9525">
            <a:noFill/>
            <a:miter lim="800000"/>
            <a:headEnd/>
            <a:tailEnd/>
          </a:ln>
          <a:effectLst/>
        </p:spPr>
      </p:pic>
      <p:sp>
        <p:nvSpPr>
          <p:cNvPr id="14" name="Slide Number Placeholder 13"/>
          <p:cNvSpPr>
            <a:spLocks noGrp="1"/>
          </p:cNvSpPr>
          <p:nvPr>
            <p:ph type="sldNum" sz="quarter" idx="12"/>
          </p:nvPr>
        </p:nvSpPr>
        <p:spPr/>
        <p:txBody>
          <a:bodyPr/>
          <a:lstStyle/>
          <a:p>
            <a:fld id="{732390F0-1A5B-4A83-8CFF-11D9A59B5E92}" type="slidenum">
              <a:rPr lang="tr-TR" smtClean="0"/>
              <a:pPr/>
              <a:t>30</a:t>
            </a:fld>
            <a:endParaRPr lang="tr-TR"/>
          </a:p>
        </p:txBody>
      </p:sp>
      <p:sp>
        <p:nvSpPr>
          <p:cNvPr id="15" name="Footer Placeholder 14"/>
          <p:cNvSpPr>
            <a:spLocks noGrp="1"/>
          </p:cNvSpPr>
          <p:nvPr>
            <p:ph type="ftr" sz="quarter" idx="11"/>
          </p:nvPr>
        </p:nvSpPr>
        <p:spPr/>
        <p:txBody>
          <a:bodyPr/>
          <a:lstStyle/>
          <a:p>
            <a:r>
              <a:rPr lang="tr-TR"/>
              <a:t>Ali Muhtaroglu</a:t>
            </a:r>
          </a:p>
        </p:txBody>
      </p:sp>
    </p:spTree>
    <p:extLst>
      <p:ext uri="{BB962C8B-B14F-4D97-AF65-F5344CB8AC3E}">
        <p14:creationId xmlns:p14="http://schemas.microsoft.com/office/powerpoint/2010/main" val="21780385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14282" y="142852"/>
            <a:ext cx="6858048" cy="642942"/>
          </a:xfrm>
        </p:spPr>
        <p:txBody>
          <a:bodyPr>
            <a:noAutofit/>
          </a:bodyPr>
          <a:lstStyle/>
          <a:p>
            <a:r>
              <a:rPr lang="tr-TR" sz="2800" dirty="0" err="1"/>
              <a:t>Example</a:t>
            </a:r>
            <a:r>
              <a:rPr lang="tr-TR" sz="2800" dirty="0"/>
              <a:t> : </a:t>
            </a:r>
            <a:r>
              <a:rPr lang="tr-TR" sz="2800" dirty="0" err="1"/>
              <a:t>Capacitor</a:t>
            </a:r>
            <a:r>
              <a:rPr lang="tr-TR" sz="2800" dirty="0"/>
              <a:t> </a:t>
            </a:r>
            <a:r>
              <a:rPr lang="tr-TR" sz="2800" dirty="0" err="1"/>
              <a:t>Voltage</a:t>
            </a:r>
            <a:r>
              <a:rPr lang="tr-TR" sz="2800" dirty="0"/>
              <a:t>/</a:t>
            </a:r>
            <a:r>
              <a:rPr lang="tr-TR" sz="2800" dirty="0" err="1"/>
              <a:t>Current</a:t>
            </a:r>
            <a:r>
              <a:rPr lang="tr-TR" sz="2800" dirty="0"/>
              <a:t> </a:t>
            </a:r>
            <a:r>
              <a:rPr lang="tr-TR" sz="2800" dirty="0" err="1"/>
              <a:t>Division</a:t>
            </a:r>
            <a:endParaRPr lang="tr-TR" sz="2800" dirty="0"/>
          </a:p>
        </p:txBody>
      </p:sp>
      <p:pic>
        <p:nvPicPr>
          <p:cNvPr id="38915" name="Picture 3"/>
          <p:cNvPicPr>
            <a:picLocks noChangeAspect="1" noChangeArrowheads="1"/>
          </p:cNvPicPr>
          <p:nvPr/>
        </p:nvPicPr>
        <p:blipFill>
          <a:blip r:embed="rId2" cstate="print"/>
          <a:srcRect/>
          <a:stretch>
            <a:fillRect/>
          </a:stretch>
        </p:blipFill>
        <p:spPr bwMode="auto">
          <a:xfrm>
            <a:off x="214283" y="928670"/>
            <a:ext cx="1836962" cy="1643073"/>
          </a:xfrm>
          <a:prstGeom prst="rect">
            <a:avLst/>
          </a:prstGeom>
          <a:noFill/>
          <a:ln w="9525">
            <a:noFill/>
            <a:miter lim="800000"/>
            <a:headEnd/>
            <a:tailEnd/>
          </a:ln>
          <a:effectLst/>
        </p:spPr>
      </p:pic>
      <p:sp>
        <p:nvSpPr>
          <p:cNvPr id="8" name="7 Dikdörtgen"/>
          <p:cNvSpPr/>
          <p:nvPr/>
        </p:nvSpPr>
        <p:spPr>
          <a:xfrm>
            <a:off x="2214546" y="928670"/>
            <a:ext cx="6072214" cy="646331"/>
          </a:xfrm>
          <a:prstGeom prst="rect">
            <a:avLst/>
          </a:prstGeom>
        </p:spPr>
        <p:txBody>
          <a:bodyPr wrap="square">
            <a:spAutoFit/>
          </a:bodyPr>
          <a:lstStyle/>
          <a:p>
            <a:r>
              <a:rPr lang="en-US" dirty="0"/>
              <a:t>Derive the equation for voltage division, assuming the</a:t>
            </a:r>
          </a:p>
          <a:p>
            <a:r>
              <a:rPr lang="tr-TR" dirty="0" err="1"/>
              <a:t>capacitors</a:t>
            </a:r>
            <a:r>
              <a:rPr lang="tr-TR" dirty="0"/>
              <a:t> </a:t>
            </a:r>
            <a:r>
              <a:rPr lang="tr-TR" dirty="0" err="1"/>
              <a:t>are</a:t>
            </a:r>
            <a:r>
              <a:rPr lang="tr-TR" dirty="0"/>
              <a:t> </a:t>
            </a:r>
            <a:r>
              <a:rPr lang="tr-TR" dirty="0" err="1"/>
              <a:t>initially</a:t>
            </a:r>
            <a:r>
              <a:rPr lang="tr-TR" dirty="0"/>
              <a:t> </a:t>
            </a:r>
            <a:r>
              <a:rPr lang="tr-TR" dirty="0" err="1"/>
              <a:t>uncharged</a:t>
            </a:r>
            <a:r>
              <a:rPr lang="tr-TR" dirty="0"/>
              <a:t>:</a:t>
            </a:r>
          </a:p>
        </p:txBody>
      </p:sp>
      <p:graphicFrame>
        <p:nvGraphicFramePr>
          <p:cNvPr id="38917" name="Object 5"/>
          <p:cNvGraphicFramePr>
            <a:graphicFrameLocks noChangeAspect="1"/>
          </p:cNvGraphicFramePr>
          <p:nvPr/>
        </p:nvGraphicFramePr>
        <p:xfrm>
          <a:off x="2225675" y="1643063"/>
          <a:ext cx="6721475" cy="714375"/>
        </p:xfrm>
        <a:graphic>
          <a:graphicData uri="http://schemas.openxmlformats.org/presentationml/2006/ole">
            <mc:AlternateContent xmlns:mc="http://schemas.openxmlformats.org/markup-compatibility/2006">
              <mc:Choice xmlns:v="urn:schemas-microsoft-com:vml" Requires="v">
                <p:oleObj name="Equation" r:id="rId3" imgW="4063680" imgH="431640" progId="Equation.3">
                  <p:embed/>
                </p:oleObj>
              </mc:Choice>
              <mc:Fallback>
                <p:oleObj name="Equation" r:id="rId3" imgW="406368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5675" y="1643063"/>
                        <a:ext cx="672147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19" name="Object 7"/>
          <p:cNvGraphicFramePr>
            <a:graphicFrameLocks noChangeAspect="1"/>
          </p:cNvGraphicFramePr>
          <p:nvPr/>
        </p:nvGraphicFramePr>
        <p:xfrm>
          <a:off x="152400" y="2643188"/>
          <a:ext cx="8761413" cy="714375"/>
        </p:xfrm>
        <a:graphic>
          <a:graphicData uri="http://schemas.openxmlformats.org/presentationml/2006/ole">
            <mc:AlternateContent xmlns:mc="http://schemas.openxmlformats.org/markup-compatibility/2006">
              <mc:Choice xmlns:v="urn:schemas-microsoft-com:vml" Requires="v">
                <p:oleObj name="Equation" r:id="rId5" imgW="5295600" imgH="431640" progId="Equation.3">
                  <p:embed/>
                </p:oleObj>
              </mc:Choice>
              <mc:Fallback>
                <p:oleObj name="Equation" r:id="rId5" imgW="5295600" imgH="431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2643188"/>
                        <a:ext cx="8761413"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12 Dikdörtgen"/>
          <p:cNvSpPr/>
          <p:nvPr/>
        </p:nvSpPr>
        <p:spPr>
          <a:xfrm>
            <a:off x="2693518" y="3714752"/>
            <a:ext cx="3950184" cy="369332"/>
          </a:xfrm>
          <a:prstGeom prst="rect">
            <a:avLst/>
          </a:prstGeom>
        </p:spPr>
        <p:txBody>
          <a:bodyPr wrap="none">
            <a:spAutoFit/>
          </a:bodyPr>
          <a:lstStyle/>
          <a:p>
            <a:r>
              <a:rPr lang="en-US" dirty="0"/>
              <a:t>Derive the equation for current division:</a:t>
            </a:r>
            <a:endParaRPr lang="tr-TR" dirty="0"/>
          </a:p>
        </p:txBody>
      </p:sp>
      <p:pic>
        <p:nvPicPr>
          <p:cNvPr id="38920" name="Picture 8"/>
          <p:cNvPicPr>
            <a:picLocks noChangeAspect="1" noChangeArrowheads="1"/>
          </p:cNvPicPr>
          <p:nvPr/>
        </p:nvPicPr>
        <p:blipFill>
          <a:blip r:embed="rId7" cstate="print"/>
          <a:srcRect/>
          <a:stretch>
            <a:fillRect/>
          </a:stretch>
        </p:blipFill>
        <p:spPr bwMode="auto">
          <a:xfrm>
            <a:off x="142844" y="3714752"/>
            <a:ext cx="2493199" cy="1285884"/>
          </a:xfrm>
          <a:prstGeom prst="rect">
            <a:avLst/>
          </a:prstGeom>
          <a:noFill/>
          <a:ln w="9525">
            <a:noFill/>
            <a:miter lim="800000"/>
            <a:headEnd/>
            <a:tailEnd/>
          </a:ln>
          <a:effectLst/>
        </p:spPr>
      </p:pic>
      <p:graphicFrame>
        <p:nvGraphicFramePr>
          <p:cNvPr id="38922" name="Object 10"/>
          <p:cNvGraphicFramePr>
            <a:graphicFrameLocks noChangeAspect="1"/>
          </p:cNvGraphicFramePr>
          <p:nvPr/>
        </p:nvGraphicFramePr>
        <p:xfrm>
          <a:off x="2928926" y="4214818"/>
          <a:ext cx="5715040" cy="762005"/>
        </p:xfrm>
        <a:graphic>
          <a:graphicData uri="http://schemas.openxmlformats.org/presentationml/2006/ole">
            <mc:AlternateContent xmlns:mc="http://schemas.openxmlformats.org/markup-compatibility/2006">
              <mc:Choice xmlns:v="urn:schemas-microsoft-com:vml" Requires="v">
                <p:oleObj name="Equation" r:id="rId8" imgW="3238200" imgH="431640" progId="Equation.3">
                  <p:embed/>
                </p:oleObj>
              </mc:Choice>
              <mc:Fallback>
                <p:oleObj name="Equation" r:id="rId8" imgW="3238200" imgH="4316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28926" y="4214818"/>
                        <a:ext cx="5715040" cy="762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23" name="Object 11"/>
          <p:cNvGraphicFramePr>
            <a:graphicFrameLocks noChangeAspect="1"/>
          </p:cNvGraphicFramePr>
          <p:nvPr/>
        </p:nvGraphicFramePr>
        <p:xfrm>
          <a:off x="714348" y="5286388"/>
          <a:ext cx="7286676" cy="796614"/>
        </p:xfrm>
        <a:graphic>
          <a:graphicData uri="http://schemas.openxmlformats.org/presentationml/2006/ole">
            <mc:AlternateContent xmlns:mc="http://schemas.openxmlformats.org/markup-compatibility/2006">
              <mc:Choice xmlns:v="urn:schemas-microsoft-com:vml" Requires="v">
                <p:oleObj name="Equation" r:id="rId10" imgW="3949560" imgH="431640" progId="Equation.3">
                  <p:embed/>
                </p:oleObj>
              </mc:Choice>
              <mc:Fallback>
                <p:oleObj name="Equation" r:id="rId10" imgW="3949560" imgH="4316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4348" y="5286388"/>
                        <a:ext cx="7286676" cy="796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732390F0-1A5B-4A83-8CFF-11D9A59B5E92}" type="slidenum">
              <a:rPr lang="tr-TR" smtClean="0"/>
              <a:pPr/>
              <a:t>31</a:t>
            </a:fld>
            <a:endParaRPr lang="tr-TR"/>
          </a:p>
        </p:txBody>
      </p:sp>
      <p:sp>
        <p:nvSpPr>
          <p:cNvPr id="15" name="Footer Placeholder 14"/>
          <p:cNvSpPr>
            <a:spLocks noGrp="1"/>
          </p:cNvSpPr>
          <p:nvPr>
            <p:ph type="ftr" sz="quarter" idx="11"/>
          </p:nvPr>
        </p:nvSpPr>
        <p:spPr/>
        <p:txBody>
          <a:bodyPr/>
          <a:lstStyle/>
          <a:p>
            <a:r>
              <a:rPr lang="tr-TR"/>
              <a:t>Ali Muhtaroglu</a:t>
            </a:r>
          </a:p>
        </p:txBody>
      </p:sp>
    </p:spTree>
    <p:extLst>
      <p:ext uri="{BB962C8B-B14F-4D97-AF65-F5344CB8AC3E}">
        <p14:creationId xmlns:p14="http://schemas.microsoft.com/office/powerpoint/2010/main" val="9925769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85720" y="71422"/>
            <a:ext cx="6643734" cy="571496"/>
          </a:xfrm>
        </p:spPr>
        <p:txBody>
          <a:bodyPr>
            <a:noAutofit/>
          </a:bodyPr>
          <a:lstStyle/>
          <a:p>
            <a:r>
              <a:rPr lang="tr-TR" sz="3600" dirty="0" err="1"/>
              <a:t>Inductor</a:t>
            </a:r>
            <a:endParaRPr lang="tr-TR" sz="3600" dirty="0"/>
          </a:p>
        </p:txBody>
      </p:sp>
      <p:sp>
        <p:nvSpPr>
          <p:cNvPr id="6" name="5 Dikdörtgen"/>
          <p:cNvSpPr/>
          <p:nvPr/>
        </p:nvSpPr>
        <p:spPr>
          <a:xfrm>
            <a:off x="155425" y="785794"/>
            <a:ext cx="8988575" cy="1200329"/>
          </a:xfrm>
          <a:prstGeom prst="rect">
            <a:avLst/>
          </a:prstGeom>
        </p:spPr>
        <p:txBody>
          <a:bodyPr wrap="square">
            <a:spAutoFit/>
          </a:bodyPr>
          <a:lstStyle/>
          <a:p>
            <a:pPr>
              <a:buFont typeface="Arial" pitchFamily="34" charset="0"/>
              <a:buChar char="•"/>
            </a:pPr>
            <a:r>
              <a:rPr lang="en-US" dirty="0"/>
              <a:t>   An inductor is a two-terminal device that consists of a coiled conducting wire wound </a:t>
            </a:r>
          </a:p>
          <a:p>
            <a:r>
              <a:rPr lang="en-US" dirty="0"/>
              <a:t>     around a core.</a:t>
            </a:r>
          </a:p>
          <a:p>
            <a:pPr>
              <a:buFont typeface="Arial" pitchFamily="34" charset="0"/>
              <a:buChar char="•"/>
            </a:pPr>
            <a:r>
              <a:rPr lang="en-US" dirty="0"/>
              <a:t>   Current flowing through an inductor produces magnetic flux φ.  If the coil that makes </a:t>
            </a:r>
          </a:p>
          <a:p>
            <a:r>
              <a:rPr lang="en-US" dirty="0"/>
              <a:t>     up the inductor contains N turns, the total flux linked by the N turns of the coil is:</a:t>
            </a:r>
            <a:endParaRPr lang="tr-TR" dirty="0"/>
          </a:p>
        </p:txBody>
      </p:sp>
      <p:graphicFrame>
        <p:nvGraphicFramePr>
          <p:cNvPr id="39939" name="Object 3"/>
          <p:cNvGraphicFramePr>
            <a:graphicFrameLocks noChangeAspect="1"/>
          </p:cNvGraphicFramePr>
          <p:nvPr>
            <p:extLst>
              <p:ext uri="{D42A27DB-BD31-4B8C-83A1-F6EECF244321}">
                <p14:modId xmlns:p14="http://schemas.microsoft.com/office/powerpoint/2010/main" val="2276058577"/>
              </p:ext>
            </p:extLst>
          </p:nvPr>
        </p:nvGraphicFramePr>
        <p:xfrm>
          <a:off x="2814638" y="2205038"/>
          <a:ext cx="4443412" cy="317500"/>
        </p:xfrm>
        <a:graphic>
          <a:graphicData uri="http://schemas.openxmlformats.org/presentationml/2006/ole">
            <mc:AlternateContent xmlns:mc="http://schemas.openxmlformats.org/markup-compatibility/2006">
              <mc:Choice xmlns:v="urn:schemas-microsoft-com:vml" Requires="v">
                <p:oleObj name="Equation" r:id="rId2" imgW="2831760" imgH="203040" progId="Equation.3">
                  <p:embed/>
                </p:oleObj>
              </mc:Choice>
              <mc:Fallback>
                <p:oleObj name="Equation" r:id="rId2" imgW="2831760" imgH="203040" progId="Equation.3">
                  <p:embed/>
                  <p:pic>
                    <p:nvPicPr>
                      <p:cNvPr id="0" name=""/>
                      <p:cNvPicPr>
                        <a:picLocks noChangeAspect="1" noChangeArrowheads="1"/>
                      </p:cNvPicPr>
                      <p:nvPr/>
                    </p:nvPicPr>
                    <p:blipFill>
                      <a:blip r:embed="rId3"/>
                      <a:srcRect/>
                      <a:stretch>
                        <a:fillRect/>
                      </a:stretch>
                    </p:blipFill>
                    <p:spPr bwMode="auto">
                      <a:xfrm>
                        <a:off x="2814638" y="2205038"/>
                        <a:ext cx="4443412"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8 Dikdörtgen"/>
          <p:cNvSpPr/>
          <p:nvPr/>
        </p:nvSpPr>
        <p:spPr>
          <a:xfrm>
            <a:off x="2714612" y="2594614"/>
            <a:ext cx="6286544" cy="1477328"/>
          </a:xfrm>
          <a:prstGeom prst="rect">
            <a:avLst/>
          </a:prstGeom>
        </p:spPr>
        <p:txBody>
          <a:bodyPr wrap="square">
            <a:spAutoFit/>
          </a:bodyPr>
          <a:lstStyle/>
          <a:p>
            <a:pPr algn="just"/>
            <a:r>
              <a:rPr lang="en-US" dirty="0"/>
              <a:t>The magnitudes of the flux and the coil current are related by</a:t>
            </a:r>
            <a:r>
              <a:rPr lang="tr-TR" dirty="0"/>
              <a:t>:</a:t>
            </a:r>
            <a:endParaRPr lang="en-US" dirty="0"/>
          </a:p>
          <a:p>
            <a:pPr algn="just"/>
            <a:endParaRPr lang="en-US" dirty="0"/>
          </a:p>
          <a:p>
            <a:pPr algn="just"/>
            <a:r>
              <a:rPr lang="en-US" dirty="0"/>
              <a:t>Where N is the number of turns on the coil and P is the </a:t>
            </a:r>
            <a:r>
              <a:rPr lang="en-US" dirty="0" err="1"/>
              <a:t>permeance</a:t>
            </a:r>
            <a:r>
              <a:rPr lang="en-US" dirty="0"/>
              <a:t> of space occupied by the flux (magnetic property of this space.)</a:t>
            </a:r>
            <a:r>
              <a:rPr lang="tr-TR" dirty="0"/>
              <a:t> </a:t>
            </a:r>
          </a:p>
        </p:txBody>
      </p:sp>
      <p:graphicFrame>
        <p:nvGraphicFramePr>
          <p:cNvPr id="39941" name="Object 5"/>
          <p:cNvGraphicFramePr>
            <a:graphicFrameLocks noChangeAspect="1"/>
          </p:cNvGraphicFramePr>
          <p:nvPr>
            <p:extLst>
              <p:ext uri="{D42A27DB-BD31-4B8C-83A1-F6EECF244321}">
                <p14:modId xmlns:p14="http://schemas.microsoft.com/office/powerpoint/2010/main" val="2654015626"/>
              </p:ext>
            </p:extLst>
          </p:nvPr>
        </p:nvGraphicFramePr>
        <p:xfrm>
          <a:off x="4276725" y="2924175"/>
          <a:ext cx="1020763" cy="347663"/>
        </p:xfrm>
        <a:graphic>
          <a:graphicData uri="http://schemas.openxmlformats.org/presentationml/2006/ole">
            <mc:AlternateContent xmlns:mc="http://schemas.openxmlformats.org/markup-compatibility/2006">
              <mc:Choice xmlns:v="urn:schemas-microsoft-com:vml" Requires="v">
                <p:oleObj name="Equation" r:id="rId4" imgW="596880" imgH="203040" progId="Equation.3">
                  <p:embed/>
                </p:oleObj>
              </mc:Choice>
              <mc:Fallback>
                <p:oleObj name="Equation" r:id="rId4" imgW="596880" imgH="203040" progId="Equation.3">
                  <p:embed/>
                  <p:pic>
                    <p:nvPicPr>
                      <p:cNvPr id="0" name=""/>
                      <p:cNvPicPr>
                        <a:picLocks noChangeAspect="1" noChangeArrowheads="1"/>
                      </p:cNvPicPr>
                      <p:nvPr/>
                    </p:nvPicPr>
                    <p:blipFill>
                      <a:blip r:embed="rId5"/>
                      <a:srcRect/>
                      <a:stretch>
                        <a:fillRect/>
                      </a:stretch>
                    </p:blipFill>
                    <p:spPr bwMode="auto">
                      <a:xfrm>
                        <a:off x="4276725" y="2924175"/>
                        <a:ext cx="1020763"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12 Dikdörtgen"/>
          <p:cNvSpPr/>
          <p:nvPr/>
        </p:nvSpPr>
        <p:spPr>
          <a:xfrm>
            <a:off x="285720" y="4314775"/>
            <a:ext cx="8715404" cy="2031325"/>
          </a:xfrm>
          <a:prstGeom prst="rect">
            <a:avLst/>
          </a:prstGeom>
        </p:spPr>
        <p:txBody>
          <a:bodyPr wrap="square">
            <a:spAutoFit/>
          </a:bodyPr>
          <a:lstStyle/>
          <a:p>
            <a:r>
              <a:rPr lang="en-US" dirty="0"/>
              <a:t>The law of electromagnetic induction: The induced voltage is equal to the time rate</a:t>
            </a:r>
          </a:p>
          <a:p>
            <a:r>
              <a:rPr lang="en-US" dirty="0"/>
              <a:t>of change of the total magnetic flux:</a:t>
            </a:r>
          </a:p>
          <a:p>
            <a:endParaRPr lang="en-US" dirty="0"/>
          </a:p>
          <a:p>
            <a:endParaRPr lang="en-US" dirty="0"/>
          </a:p>
          <a:p>
            <a:endParaRPr lang="en-US" dirty="0"/>
          </a:p>
          <a:p>
            <a:endParaRPr lang="en-US" dirty="0"/>
          </a:p>
          <a:p>
            <a:r>
              <a:rPr lang="en-US" dirty="0"/>
              <a:t>Also                      for a linear inductor.</a:t>
            </a:r>
          </a:p>
        </p:txBody>
      </p:sp>
      <p:graphicFrame>
        <p:nvGraphicFramePr>
          <p:cNvPr id="39944" name="Object 8"/>
          <p:cNvGraphicFramePr>
            <a:graphicFrameLocks noChangeAspect="1"/>
          </p:cNvGraphicFramePr>
          <p:nvPr/>
        </p:nvGraphicFramePr>
        <p:xfrm>
          <a:off x="357158" y="4957708"/>
          <a:ext cx="6513513" cy="785812"/>
        </p:xfrm>
        <a:graphic>
          <a:graphicData uri="http://schemas.openxmlformats.org/presentationml/2006/ole">
            <mc:AlternateContent xmlns:mc="http://schemas.openxmlformats.org/markup-compatibility/2006">
              <mc:Choice xmlns:v="urn:schemas-microsoft-com:vml" Requires="v">
                <p:oleObj name="Equation" r:id="rId6" imgW="3263760" imgH="393480" progId="Equation.3">
                  <p:embed/>
                </p:oleObj>
              </mc:Choice>
              <mc:Fallback>
                <p:oleObj name="Equation" r:id="rId6" imgW="3263760" imgH="3934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7158" y="4957708"/>
                        <a:ext cx="6513513" cy="785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17 Nesne"/>
          <p:cNvGraphicFramePr>
            <a:graphicFrameLocks noChangeAspect="1"/>
          </p:cNvGraphicFramePr>
          <p:nvPr/>
        </p:nvGraphicFramePr>
        <p:xfrm>
          <a:off x="7000892" y="4957716"/>
          <a:ext cx="1941512" cy="825500"/>
        </p:xfrm>
        <a:graphic>
          <a:graphicData uri="http://schemas.openxmlformats.org/presentationml/2006/ole">
            <mc:AlternateContent xmlns:mc="http://schemas.openxmlformats.org/markup-compatibility/2006">
              <mc:Choice xmlns:v="urn:schemas-microsoft-com:vml" Requires="v">
                <p:oleObj name="Equation" r:id="rId8" imgW="838080" imgH="393480" progId="Equation.3">
                  <p:embed/>
                </p:oleObj>
              </mc:Choice>
              <mc:Fallback>
                <p:oleObj name="Equation" r:id="rId8" imgW="838080" imgH="3934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00892" y="4957716"/>
                        <a:ext cx="1941512" cy="825500"/>
                      </a:xfrm>
                      <a:prstGeom prst="rect">
                        <a:avLst/>
                      </a:prstGeom>
                      <a:solidFill>
                        <a:srgbClr val="969696"/>
                      </a:solidFill>
                      <a:ln w="9525">
                        <a:solidFill>
                          <a:schemeClr val="tx1"/>
                        </a:solidFill>
                        <a:miter lim="800000"/>
                        <a:headEnd/>
                        <a:tailEnd/>
                      </a:ln>
                    </p:spPr>
                  </p:pic>
                </p:oleObj>
              </mc:Fallback>
            </mc:AlternateContent>
          </a:graphicData>
        </a:graphic>
      </p:graphicFrame>
      <p:sp>
        <p:nvSpPr>
          <p:cNvPr id="20" name="19 Dikdörtgen"/>
          <p:cNvSpPr/>
          <p:nvPr/>
        </p:nvSpPr>
        <p:spPr>
          <a:xfrm>
            <a:off x="5109670" y="5886410"/>
            <a:ext cx="3866334" cy="400110"/>
          </a:xfrm>
          <a:prstGeom prst="rect">
            <a:avLst/>
          </a:prstGeom>
        </p:spPr>
        <p:txBody>
          <a:bodyPr wrap="square">
            <a:spAutoFit/>
          </a:bodyPr>
          <a:lstStyle/>
          <a:p>
            <a:r>
              <a:rPr lang="en-US" sz="2000" dirty="0"/>
              <a:t>The </a:t>
            </a:r>
            <a:r>
              <a:rPr lang="en-US" sz="2000" b="1" u="sng" dirty="0"/>
              <a:t>terminal law for a inductor</a:t>
            </a:r>
            <a:endParaRPr lang="tr-TR" sz="2000" u="sng" dirty="0"/>
          </a:p>
        </p:txBody>
      </p:sp>
      <p:sp>
        <p:nvSpPr>
          <p:cNvPr id="19" name="Slide Number Placeholder 18"/>
          <p:cNvSpPr>
            <a:spLocks noGrp="1"/>
          </p:cNvSpPr>
          <p:nvPr>
            <p:ph type="sldNum" sz="quarter" idx="12"/>
          </p:nvPr>
        </p:nvSpPr>
        <p:spPr/>
        <p:txBody>
          <a:bodyPr/>
          <a:lstStyle/>
          <a:p>
            <a:fld id="{732390F0-1A5B-4A83-8CFF-11D9A59B5E92}" type="slidenum">
              <a:rPr lang="tr-TR" smtClean="0"/>
              <a:pPr/>
              <a:t>32</a:t>
            </a:fld>
            <a:endParaRPr lang="tr-TR"/>
          </a:p>
        </p:txBody>
      </p:sp>
      <p:sp>
        <p:nvSpPr>
          <p:cNvPr id="21" name="Footer Placeholder 20"/>
          <p:cNvSpPr>
            <a:spLocks noGrp="1"/>
          </p:cNvSpPr>
          <p:nvPr>
            <p:ph type="ftr" sz="quarter" idx="11"/>
          </p:nvPr>
        </p:nvSpPr>
        <p:spPr/>
        <p:txBody>
          <a:bodyPr/>
          <a:lstStyle/>
          <a:p>
            <a:r>
              <a:rPr lang="tr-TR"/>
              <a:t>Ali Muhtaroglu</a:t>
            </a:r>
          </a:p>
        </p:txBody>
      </p:sp>
      <p:pic>
        <p:nvPicPr>
          <p:cNvPr id="39947" name="Picture 11"/>
          <p:cNvPicPr>
            <a:picLocks noChangeAspect="1" noChangeArrowheads="1"/>
          </p:cNvPicPr>
          <p:nvPr/>
        </p:nvPicPr>
        <p:blipFill>
          <a:blip r:embed="rId10" cstate="print"/>
          <a:srcRect/>
          <a:stretch>
            <a:fillRect/>
          </a:stretch>
        </p:blipFill>
        <p:spPr bwMode="auto">
          <a:xfrm>
            <a:off x="500034" y="2308862"/>
            <a:ext cx="2191161" cy="1714512"/>
          </a:xfrm>
          <a:prstGeom prst="rect">
            <a:avLst/>
          </a:prstGeom>
          <a:noFill/>
          <a:ln w="9525">
            <a:noFill/>
            <a:miter lim="800000"/>
            <a:headEnd/>
            <a:tailEnd/>
          </a:ln>
          <a:effectLst/>
        </p:spPr>
      </p:pic>
      <p:graphicFrame>
        <p:nvGraphicFramePr>
          <p:cNvPr id="3" name="Object 11"/>
          <p:cNvGraphicFramePr>
            <a:graphicFrameLocks noChangeAspect="1"/>
          </p:cNvGraphicFramePr>
          <p:nvPr/>
        </p:nvGraphicFramePr>
        <p:xfrm>
          <a:off x="928662" y="5973782"/>
          <a:ext cx="847725" cy="312738"/>
        </p:xfrm>
        <a:graphic>
          <a:graphicData uri="http://schemas.openxmlformats.org/presentationml/2006/ole">
            <mc:AlternateContent xmlns:mc="http://schemas.openxmlformats.org/markup-compatibility/2006">
              <mc:Choice xmlns:v="urn:schemas-microsoft-com:vml" Requires="v">
                <p:oleObj name="Equation" r:id="rId11" imgW="495000" imgH="177480" progId="Equation.3">
                  <p:embed/>
                </p:oleObj>
              </mc:Choice>
              <mc:Fallback>
                <p:oleObj name="Equation" r:id="rId11" imgW="495000" imgH="17748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28662" y="5973782"/>
                        <a:ext cx="847725"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11 Dikdörtgen"/>
          <p:cNvSpPr/>
          <p:nvPr/>
        </p:nvSpPr>
        <p:spPr>
          <a:xfrm>
            <a:off x="5286380" y="6243600"/>
            <a:ext cx="3643338" cy="400110"/>
          </a:xfrm>
          <a:prstGeom prst="rect">
            <a:avLst/>
          </a:prstGeom>
        </p:spPr>
        <p:txBody>
          <a:bodyPr wrap="square">
            <a:spAutoFit/>
          </a:bodyPr>
          <a:lstStyle/>
          <a:p>
            <a:r>
              <a:rPr lang="en-US" sz="2000" dirty="0"/>
              <a:t>Units of L:  </a:t>
            </a:r>
            <a:r>
              <a:rPr lang="en-US" sz="2000" dirty="0" err="1"/>
              <a:t>Wb</a:t>
            </a:r>
            <a:r>
              <a:rPr lang="en-US" sz="2000" dirty="0"/>
              <a:t>/A or </a:t>
            </a:r>
            <a:r>
              <a:rPr lang="en-US" sz="2000" b="1" i="1" dirty="0"/>
              <a:t>Henry (H)</a:t>
            </a:r>
            <a:endParaRPr lang="tr-TR" sz="2000" dirty="0"/>
          </a:p>
        </p:txBody>
      </p:sp>
    </p:spTree>
    <p:extLst>
      <p:ext uri="{BB962C8B-B14F-4D97-AF65-F5344CB8AC3E}">
        <p14:creationId xmlns:p14="http://schemas.microsoft.com/office/powerpoint/2010/main" val="516983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2" cstate="print"/>
          <a:srcRect/>
          <a:stretch>
            <a:fillRect/>
          </a:stretch>
        </p:blipFill>
        <p:spPr bwMode="auto">
          <a:xfrm>
            <a:off x="1000100" y="787558"/>
            <a:ext cx="1199328" cy="1784186"/>
          </a:xfrm>
          <a:prstGeom prst="rect">
            <a:avLst/>
          </a:prstGeom>
          <a:noFill/>
          <a:ln w="9525">
            <a:noFill/>
            <a:miter lim="800000"/>
            <a:headEnd/>
            <a:tailEnd/>
          </a:ln>
          <a:effectLst/>
        </p:spPr>
      </p:pic>
      <p:sp>
        <p:nvSpPr>
          <p:cNvPr id="8" name="7 Dikdörtgen"/>
          <p:cNvSpPr/>
          <p:nvPr/>
        </p:nvSpPr>
        <p:spPr>
          <a:xfrm>
            <a:off x="3571868" y="1142984"/>
            <a:ext cx="3870098" cy="461665"/>
          </a:xfrm>
          <a:prstGeom prst="rect">
            <a:avLst/>
          </a:prstGeom>
        </p:spPr>
        <p:txBody>
          <a:bodyPr wrap="none">
            <a:spAutoFit/>
          </a:bodyPr>
          <a:lstStyle/>
          <a:p>
            <a:r>
              <a:rPr lang="en-US" sz="2400" b="1" u="sng" dirty="0"/>
              <a:t>Terminal law for an inductor:</a:t>
            </a:r>
            <a:endParaRPr lang="tr-TR" sz="2400" u="sng" dirty="0"/>
          </a:p>
        </p:txBody>
      </p:sp>
      <p:graphicFrame>
        <p:nvGraphicFramePr>
          <p:cNvPr id="9" name="8 Nesne"/>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3" imgW="914400" imgH="215640" progId="Equation.3">
                  <p:embed/>
                </p:oleObj>
              </mc:Choice>
              <mc:Fallback>
                <p:oleObj name="Equation" r:id="rId3" imgW="914400" imgH="215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64" name="Object 4"/>
          <p:cNvGraphicFramePr>
            <a:graphicFrameLocks noChangeAspect="1"/>
          </p:cNvGraphicFramePr>
          <p:nvPr/>
        </p:nvGraphicFramePr>
        <p:xfrm>
          <a:off x="4494213" y="1643063"/>
          <a:ext cx="1724025" cy="838200"/>
        </p:xfrm>
        <a:graphic>
          <a:graphicData uri="http://schemas.openxmlformats.org/presentationml/2006/ole">
            <mc:AlternateContent xmlns:mc="http://schemas.openxmlformats.org/markup-compatibility/2006">
              <mc:Choice xmlns:v="urn:schemas-microsoft-com:vml" Requires="v">
                <p:oleObj name="Equation" r:id="rId5" imgW="596880" imgH="393480" progId="Equation.3">
                  <p:embed/>
                </p:oleObj>
              </mc:Choice>
              <mc:Fallback>
                <p:oleObj name="Equation" r:id="rId5" imgW="596880" imgH="3934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4213" y="1643063"/>
                        <a:ext cx="1724025"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65" name="Object 5"/>
          <p:cNvGraphicFramePr>
            <a:graphicFrameLocks noChangeAspect="1"/>
          </p:cNvGraphicFramePr>
          <p:nvPr/>
        </p:nvGraphicFramePr>
        <p:xfrm>
          <a:off x="1571604" y="5357826"/>
          <a:ext cx="6215107" cy="928694"/>
        </p:xfrm>
        <a:graphic>
          <a:graphicData uri="http://schemas.openxmlformats.org/presentationml/2006/ole">
            <mc:AlternateContent xmlns:mc="http://schemas.openxmlformats.org/markup-compatibility/2006">
              <mc:Choice xmlns:v="urn:schemas-microsoft-com:vml" Requires="v">
                <p:oleObj name="Equation" r:id="rId7" imgW="2222280" imgH="393480" progId="Equation.3">
                  <p:embed/>
                </p:oleObj>
              </mc:Choice>
              <mc:Fallback>
                <p:oleObj name="Equation" r:id="rId7" imgW="2222280" imgH="3934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71604" y="5357826"/>
                        <a:ext cx="6215107" cy="928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Slide Number Placeholder 10"/>
          <p:cNvSpPr>
            <a:spLocks noGrp="1"/>
          </p:cNvSpPr>
          <p:nvPr>
            <p:ph type="sldNum" sz="quarter" idx="12"/>
          </p:nvPr>
        </p:nvSpPr>
        <p:spPr/>
        <p:txBody>
          <a:bodyPr/>
          <a:lstStyle/>
          <a:p>
            <a:fld id="{732390F0-1A5B-4A83-8CFF-11D9A59B5E92}" type="slidenum">
              <a:rPr lang="tr-TR" smtClean="0"/>
              <a:pPr/>
              <a:t>33</a:t>
            </a:fld>
            <a:endParaRPr lang="tr-TR"/>
          </a:p>
        </p:txBody>
      </p:sp>
      <p:sp>
        <p:nvSpPr>
          <p:cNvPr id="13" name="Footer Placeholder 12"/>
          <p:cNvSpPr>
            <a:spLocks noGrp="1"/>
          </p:cNvSpPr>
          <p:nvPr>
            <p:ph type="ftr" sz="quarter" idx="11"/>
          </p:nvPr>
        </p:nvSpPr>
        <p:spPr/>
        <p:txBody>
          <a:bodyPr/>
          <a:lstStyle/>
          <a:p>
            <a:r>
              <a:rPr lang="tr-TR"/>
              <a:t>Ali Muhtaroglu</a:t>
            </a:r>
          </a:p>
        </p:txBody>
      </p:sp>
      <p:sp>
        <p:nvSpPr>
          <p:cNvPr id="15" name="1 Başlık"/>
          <p:cNvSpPr>
            <a:spLocks noGrp="1"/>
          </p:cNvSpPr>
          <p:nvPr>
            <p:ph type="title"/>
          </p:nvPr>
        </p:nvSpPr>
        <p:spPr>
          <a:xfrm>
            <a:off x="285720" y="71422"/>
            <a:ext cx="6643734" cy="571496"/>
          </a:xfrm>
        </p:spPr>
        <p:txBody>
          <a:bodyPr>
            <a:noAutofit/>
          </a:bodyPr>
          <a:lstStyle/>
          <a:p>
            <a:r>
              <a:rPr lang="tr-TR" sz="3600" dirty="0" err="1"/>
              <a:t>Inductor</a:t>
            </a:r>
            <a:endParaRPr lang="tr-TR" sz="3600" dirty="0"/>
          </a:p>
        </p:txBody>
      </p:sp>
      <p:sp>
        <p:nvSpPr>
          <p:cNvPr id="16" name="Content Placeholder 2"/>
          <p:cNvSpPr>
            <a:spLocks noGrp="1"/>
          </p:cNvSpPr>
          <p:nvPr>
            <p:ph idx="1"/>
          </p:nvPr>
        </p:nvSpPr>
        <p:spPr>
          <a:xfrm>
            <a:off x="500034" y="2760689"/>
            <a:ext cx="8229600" cy="2740013"/>
          </a:xfrm>
        </p:spPr>
        <p:txBody>
          <a:bodyPr>
            <a:normAutofit lnSpcReduction="10000"/>
          </a:bodyPr>
          <a:lstStyle/>
          <a:p>
            <a:pPr>
              <a:spcBef>
                <a:spcPts val="600"/>
              </a:spcBef>
            </a:pPr>
            <a:r>
              <a:rPr lang="en-US" sz="2000" dirty="0"/>
              <a:t>Note as the symbol implies, an inductor behaves like a short circuit when current is constant (DC) (i.e. it is nothing but a wire).</a:t>
            </a:r>
            <a:endParaRPr lang="tr-TR" sz="2000" dirty="0"/>
          </a:p>
          <a:p>
            <a:pPr>
              <a:spcBef>
                <a:spcPts val="600"/>
              </a:spcBef>
            </a:pPr>
            <a:r>
              <a:rPr lang="en-US" sz="2000" dirty="0"/>
              <a:t>The only time there is voltage across an inductor is when the current is changing (</a:t>
            </a:r>
            <a:r>
              <a:rPr lang="en-US" sz="2000" dirty="0" err="1"/>
              <a:t>di</a:t>
            </a:r>
            <a:r>
              <a:rPr lang="en-US" sz="2000" dirty="0"/>
              <a:t>/</a:t>
            </a:r>
            <a:r>
              <a:rPr lang="en-US" sz="2000" dirty="0" err="1"/>
              <a:t>dt</a:t>
            </a:r>
            <a:r>
              <a:rPr lang="en-US" sz="2000" dirty="0"/>
              <a:t> ≠ 0).</a:t>
            </a:r>
            <a:endParaRPr lang="tr-TR" sz="2000" dirty="0"/>
          </a:p>
          <a:p>
            <a:pPr>
              <a:spcBef>
                <a:spcPts val="600"/>
              </a:spcBef>
            </a:pPr>
            <a:r>
              <a:rPr lang="en-US" sz="2000" i="1" dirty="0"/>
              <a:t>Continuity Principle</a:t>
            </a:r>
            <a:r>
              <a:rPr lang="en-US" sz="2000" dirty="0"/>
              <a:t>: The current through an inductor is always </a:t>
            </a:r>
            <a:r>
              <a:rPr lang="tr-TR" sz="2000" dirty="0"/>
              <a:t>continuous </a:t>
            </a:r>
            <a:r>
              <a:rPr lang="en-US" sz="2000" dirty="0"/>
              <a:t>[would require infinite </a:t>
            </a:r>
            <a:r>
              <a:rPr lang="tr-TR" sz="2000" dirty="0"/>
              <a:t>voltage</a:t>
            </a:r>
            <a:r>
              <a:rPr lang="en-US" sz="2000" dirty="0"/>
              <a:t> to change </a:t>
            </a:r>
            <a:r>
              <a:rPr lang="tr-TR" sz="2000" dirty="0"/>
              <a:t>current</a:t>
            </a:r>
            <a:r>
              <a:rPr lang="en-US" sz="2000" dirty="0"/>
              <a:t> instantaneously.]</a:t>
            </a:r>
            <a:endParaRPr lang="tr-TR" sz="2000" dirty="0"/>
          </a:p>
          <a:p>
            <a:pPr>
              <a:spcBef>
                <a:spcPts val="600"/>
              </a:spcBef>
            </a:pPr>
            <a:r>
              <a:rPr lang="en-US" sz="2000" dirty="0"/>
              <a:t>Current in terms of voltage can be formulated by integrating both sides in the above equation:</a:t>
            </a:r>
            <a:endParaRPr lang="tr-TR" sz="2000" dirty="0"/>
          </a:p>
          <a:p>
            <a:endParaRPr lang="tr-TR" sz="2000" dirty="0"/>
          </a:p>
          <a:p>
            <a:endParaRPr lang="tr-TR" sz="2000" dirty="0"/>
          </a:p>
        </p:txBody>
      </p:sp>
    </p:spTree>
    <p:extLst>
      <p:ext uri="{BB962C8B-B14F-4D97-AF65-F5344CB8AC3E}">
        <p14:creationId xmlns:p14="http://schemas.microsoft.com/office/powerpoint/2010/main" val="16857666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85720" y="71414"/>
            <a:ext cx="7000924" cy="571504"/>
          </a:xfrm>
        </p:spPr>
        <p:txBody>
          <a:bodyPr>
            <a:noAutofit/>
          </a:bodyPr>
          <a:lstStyle/>
          <a:p>
            <a:r>
              <a:rPr lang="tr-TR" sz="3200" dirty="0" err="1"/>
              <a:t>Inductor</a:t>
            </a:r>
            <a:r>
              <a:rPr lang="tr-TR" sz="3200" dirty="0"/>
              <a:t> </a:t>
            </a:r>
            <a:r>
              <a:rPr lang="tr-TR" sz="3200" dirty="0" err="1"/>
              <a:t>Power</a:t>
            </a:r>
            <a:r>
              <a:rPr lang="tr-TR" sz="3200" dirty="0"/>
              <a:t> </a:t>
            </a:r>
            <a:r>
              <a:rPr lang="tr-TR" sz="3200" dirty="0" err="1"/>
              <a:t>and</a:t>
            </a:r>
            <a:r>
              <a:rPr lang="tr-TR" sz="3200" dirty="0"/>
              <a:t> </a:t>
            </a:r>
            <a:r>
              <a:rPr lang="tr-TR" sz="3200" dirty="0" err="1"/>
              <a:t>Energy</a:t>
            </a:r>
            <a:endParaRPr lang="tr-TR" sz="3200" dirty="0"/>
          </a:p>
        </p:txBody>
      </p:sp>
      <p:sp>
        <p:nvSpPr>
          <p:cNvPr id="6" name="5 Dikdörtgen"/>
          <p:cNvSpPr/>
          <p:nvPr/>
        </p:nvSpPr>
        <p:spPr>
          <a:xfrm>
            <a:off x="2857488" y="857232"/>
            <a:ext cx="5074466" cy="430887"/>
          </a:xfrm>
          <a:prstGeom prst="rect">
            <a:avLst/>
          </a:prstGeom>
        </p:spPr>
        <p:txBody>
          <a:bodyPr wrap="none">
            <a:spAutoFit/>
          </a:bodyPr>
          <a:lstStyle/>
          <a:p>
            <a:r>
              <a:rPr lang="en-US" sz="2200" dirty="0"/>
              <a:t>Using the definition of power, if</a:t>
            </a:r>
            <a:r>
              <a:rPr lang="en-US" sz="2200" b="1" i="1" dirty="0"/>
              <a:t> </a:t>
            </a:r>
            <a:r>
              <a:rPr lang="en-US" sz="2200" b="1" i="1" dirty="0" err="1"/>
              <a:t>i</a:t>
            </a:r>
            <a:r>
              <a:rPr lang="en-US" sz="2200" b="1" i="1" dirty="0"/>
              <a:t> </a:t>
            </a:r>
            <a:r>
              <a:rPr lang="en-US" sz="2200" dirty="0"/>
              <a:t>is known:</a:t>
            </a:r>
            <a:endParaRPr lang="tr-TR" sz="2200" dirty="0"/>
          </a:p>
        </p:txBody>
      </p:sp>
      <p:graphicFrame>
        <p:nvGraphicFramePr>
          <p:cNvPr id="8" name="7 Nesne"/>
          <p:cNvGraphicFramePr>
            <a:graphicFrameLocks noChangeAspect="1"/>
          </p:cNvGraphicFramePr>
          <p:nvPr/>
        </p:nvGraphicFramePr>
        <p:xfrm>
          <a:off x="4114800" y="2963860"/>
          <a:ext cx="914400" cy="215900"/>
        </p:xfrm>
        <a:graphic>
          <a:graphicData uri="http://schemas.openxmlformats.org/presentationml/2006/ole">
            <mc:AlternateContent xmlns:mc="http://schemas.openxmlformats.org/markup-compatibility/2006">
              <mc:Choice xmlns:v="urn:schemas-microsoft-com:vml" Requires="v">
                <p:oleObj name="Equation" r:id="rId2" imgW="914400" imgH="215640" progId="Equation.3">
                  <p:embed/>
                </p:oleObj>
              </mc:Choice>
              <mc:Fallback>
                <p:oleObj name="Equation" r:id="rId2" imgW="914400" imgH="215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296386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987" name="Object 3"/>
          <p:cNvGraphicFramePr>
            <a:graphicFrameLocks noChangeAspect="1"/>
          </p:cNvGraphicFramePr>
          <p:nvPr/>
        </p:nvGraphicFramePr>
        <p:xfrm>
          <a:off x="3286116" y="1285860"/>
          <a:ext cx="2889782" cy="785818"/>
        </p:xfrm>
        <a:graphic>
          <a:graphicData uri="http://schemas.openxmlformats.org/presentationml/2006/ole">
            <mc:AlternateContent xmlns:mc="http://schemas.openxmlformats.org/markup-compatibility/2006">
              <mc:Choice xmlns:v="urn:schemas-microsoft-com:vml" Requires="v">
                <p:oleObj name="Equation" r:id="rId4" imgW="952200" imgH="393480" progId="Equation.3">
                  <p:embed/>
                </p:oleObj>
              </mc:Choice>
              <mc:Fallback>
                <p:oleObj name="Equation" r:id="rId4" imgW="952200" imgH="3934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6116" y="1285860"/>
                        <a:ext cx="2889782" cy="785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9 Dikdörtgen"/>
          <p:cNvSpPr/>
          <p:nvPr/>
        </p:nvSpPr>
        <p:spPr>
          <a:xfrm>
            <a:off x="2928926" y="2212295"/>
            <a:ext cx="3196837" cy="430887"/>
          </a:xfrm>
          <a:prstGeom prst="rect">
            <a:avLst/>
          </a:prstGeom>
        </p:spPr>
        <p:txBody>
          <a:bodyPr wrap="none">
            <a:spAutoFit/>
          </a:bodyPr>
          <a:lstStyle/>
          <a:p>
            <a:r>
              <a:rPr lang="en-US" sz="2200" dirty="0"/>
              <a:t>Alternatively if </a:t>
            </a:r>
            <a:r>
              <a:rPr lang="en-US" sz="2200" b="1" i="1" dirty="0"/>
              <a:t>v </a:t>
            </a:r>
            <a:r>
              <a:rPr lang="en-US" sz="2200" dirty="0"/>
              <a:t>is known,</a:t>
            </a:r>
            <a:endParaRPr lang="tr-TR" sz="2200" dirty="0"/>
          </a:p>
        </p:txBody>
      </p:sp>
      <p:graphicFrame>
        <p:nvGraphicFramePr>
          <p:cNvPr id="41988" name="Object 4"/>
          <p:cNvGraphicFramePr>
            <a:graphicFrameLocks noChangeAspect="1"/>
          </p:cNvGraphicFramePr>
          <p:nvPr/>
        </p:nvGraphicFramePr>
        <p:xfrm>
          <a:off x="3286116" y="2678851"/>
          <a:ext cx="4500594" cy="893025"/>
        </p:xfrm>
        <a:graphic>
          <a:graphicData uri="http://schemas.openxmlformats.org/presentationml/2006/ole">
            <mc:AlternateContent xmlns:mc="http://schemas.openxmlformats.org/markup-compatibility/2006">
              <mc:Choice xmlns:v="urn:schemas-microsoft-com:vml" Requires="v">
                <p:oleObj name="Equation" r:id="rId6" imgW="1650960" imgH="431640" progId="Equation.3">
                  <p:embed/>
                </p:oleObj>
              </mc:Choice>
              <mc:Fallback>
                <p:oleObj name="Equation" r:id="rId6" imgW="1650960" imgH="4316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86116" y="2678851"/>
                        <a:ext cx="4500594" cy="89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 name="11 Dikdörtgen"/>
          <p:cNvSpPr/>
          <p:nvPr/>
        </p:nvSpPr>
        <p:spPr>
          <a:xfrm>
            <a:off x="500034" y="3786190"/>
            <a:ext cx="7286676" cy="430887"/>
          </a:xfrm>
          <a:prstGeom prst="rect">
            <a:avLst/>
          </a:prstGeom>
        </p:spPr>
        <p:txBody>
          <a:bodyPr wrap="square">
            <a:spAutoFit/>
          </a:bodyPr>
          <a:lstStyle/>
          <a:p>
            <a:r>
              <a:rPr lang="en-US" sz="2200" dirty="0"/>
              <a:t>Using the relationship of energy (work) with power:</a:t>
            </a:r>
            <a:endParaRPr lang="tr-TR" sz="2200" dirty="0"/>
          </a:p>
        </p:txBody>
      </p:sp>
      <p:graphicFrame>
        <p:nvGraphicFramePr>
          <p:cNvPr id="41989" name="Object 5"/>
          <p:cNvGraphicFramePr>
            <a:graphicFrameLocks noChangeAspect="1"/>
          </p:cNvGraphicFramePr>
          <p:nvPr/>
        </p:nvGraphicFramePr>
        <p:xfrm>
          <a:off x="1000100" y="4286256"/>
          <a:ext cx="4786346" cy="785818"/>
        </p:xfrm>
        <a:graphic>
          <a:graphicData uri="http://schemas.openxmlformats.org/presentationml/2006/ole">
            <mc:AlternateContent xmlns:mc="http://schemas.openxmlformats.org/markup-compatibility/2006">
              <mc:Choice xmlns:v="urn:schemas-microsoft-com:vml" Requires="v">
                <p:oleObj name="Equation" r:id="rId8" imgW="1841400" imgH="393480" progId="Equation.3">
                  <p:embed/>
                </p:oleObj>
              </mc:Choice>
              <mc:Fallback>
                <p:oleObj name="Equation" r:id="rId8" imgW="1841400" imgH="3934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00100" y="4286256"/>
                        <a:ext cx="4786346" cy="785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13 Dikdörtgen"/>
          <p:cNvSpPr/>
          <p:nvPr/>
        </p:nvSpPr>
        <p:spPr>
          <a:xfrm>
            <a:off x="571472" y="5286388"/>
            <a:ext cx="4327916" cy="430887"/>
          </a:xfrm>
          <a:prstGeom prst="rect">
            <a:avLst/>
          </a:prstGeom>
        </p:spPr>
        <p:txBody>
          <a:bodyPr wrap="none">
            <a:spAutoFit/>
          </a:bodyPr>
          <a:lstStyle/>
          <a:p>
            <a:r>
              <a:rPr lang="en-US" sz="2200" dirty="0"/>
              <a:t>Integrating both sides to get energy:</a:t>
            </a:r>
            <a:endParaRPr lang="tr-TR" sz="2200" dirty="0"/>
          </a:p>
        </p:txBody>
      </p:sp>
      <p:graphicFrame>
        <p:nvGraphicFramePr>
          <p:cNvPr id="41990" name="Object 6"/>
          <p:cNvGraphicFramePr>
            <a:graphicFrameLocks noChangeAspect="1"/>
          </p:cNvGraphicFramePr>
          <p:nvPr/>
        </p:nvGraphicFramePr>
        <p:xfrm>
          <a:off x="2071670" y="5715016"/>
          <a:ext cx="1500198" cy="968878"/>
        </p:xfrm>
        <a:graphic>
          <a:graphicData uri="http://schemas.openxmlformats.org/presentationml/2006/ole">
            <mc:AlternateContent xmlns:mc="http://schemas.openxmlformats.org/markup-compatibility/2006">
              <mc:Choice xmlns:v="urn:schemas-microsoft-com:vml" Requires="v">
                <p:oleObj name="Equation" r:id="rId10" imgW="609480" imgH="393480" progId="Equation.3">
                  <p:embed/>
                </p:oleObj>
              </mc:Choice>
              <mc:Fallback>
                <p:oleObj name="Equation" r:id="rId10" imgW="609480" imgH="39348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71670" y="5715016"/>
                        <a:ext cx="1500198" cy="968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15 Dikdörtgen"/>
          <p:cNvSpPr/>
          <p:nvPr/>
        </p:nvSpPr>
        <p:spPr>
          <a:xfrm>
            <a:off x="3929058" y="5857892"/>
            <a:ext cx="4572000" cy="646331"/>
          </a:xfrm>
          <a:prstGeom prst="rect">
            <a:avLst/>
          </a:prstGeom>
        </p:spPr>
        <p:txBody>
          <a:bodyPr>
            <a:spAutoFit/>
          </a:bodyPr>
          <a:lstStyle/>
          <a:p>
            <a:r>
              <a:rPr lang="en-US" dirty="0"/>
              <a:t>[The integration assumes a reference of</a:t>
            </a:r>
          </a:p>
          <a:p>
            <a:r>
              <a:rPr lang="pt-BR" dirty="0"/>
              <a:t>zero energy at zero current.]</a:t>
            </a:r>
            <a:endParaRPr lang="tr-TR" dirty="0"/>
          </a:p>
        </p:txBody>
      </p:sp>
      <p:sp>
        <p:nvSpPr>
          <p:cNvPr id="17" name="Slide Number Placeholder 16"/>
          <p:cNvSpPr>
            <a:spLocks noGrp="1"/>
          </p:cNvSpPr>
          <p:nvPr>
            <p:ph type="sldNum" sz="quarter" idx="12"/>
          </p:nvPr>
        </p:nvSpPr>
        <p:spPr/>
        <p:txBody>
          <a:bodyPr/>
          <a:lstStyle/>
          <a:p>
            <a:fld id="{732390F0-1A5B-4A83-8CFF-11D9A59B5E92}" type="slidenum">
              <a:rPr lang="tr-TR" smtClean="0"/>
              <a:pPr/>
              <a:t>34</a:t>
            </a:fld>
            <a:endParaRPr lang="tr-TR"/>
          </a:p>
        </p:txBody>
      </p:sp>
      <p:sp>
        <p:nvSpPr>
          <p:cNvPr id="18" name="Footer Placeholder 17"/>
          <p:cNvSpPr>
            <a:spLocks noGrp="1"/>
          </p:cNvSpPr>
          <p:nvPr>
            <p:ph type="ftr" sz="quarter" idx="11"/>
          </p:nvPr>
        </p:nvSpPr>
        <p:spPr/>
        <p:txBody>
          <a:bodyPr/>
          <a:lstStyle/>
          <a:p>
            <a:r>
              <a:rPr lang="tr-TR"/>
              <a:t>Ali Muhtaroglu</a:t>
            </a:r>
          </a:p>
        </p:txBody>
      </p:sp>
      <p:pic>
        <p:nvPicPr>
          <p:cNvPr id="19" name="Picture 2"/>
          <p:cNvPicPr>
            <a:picLocks noChangeAspect="1" noChangeArrowheads="1"/>
          </p:cNvPicPr>
          <p:nvPr/>
        </p:nvPicPr>
        <p:blipFill>
          <a:blip r:embed="rId12" cstate="print"/>
          <a:srcRect/>
          <a:stretch>
            <a:fillRect/>
          </a:stretch>
        </p:blipFill>
        <p:spPr bwMode="auto">
          <a:xfrm>
            <a:off x="1000100" y="787558"/>
            <a:ext cx="1199328" cy="1784186"/>
          </a:xfrm>
          <a:prstGeom prst="rect">
            <a:avLst/>
          </a:prstGeom>
          <a:noFill/>
          <a:ln w="9525">
            <a:noFill/>
            <a:miter lim="800000"/>
            <a:headEnd/>
            <a:tailEnd/>
          </a:ln>
          <a:effectLst/>
        </p:spPr>
      </p:pic>
    </p:spTree>
    <p:extLst>
      <p:ext uri="{BB962C8B-B14F-4D97-AF65-F5344CB8AC3E}">
        <p14:creationId xmlns:p14="http://schemas.microsoft.com/office/powerpoint/2010/main" val="35608303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28596" y="142852"/>
            <a:ext cx="7072362" cy="642942"/>
          </a:xfrm>
        </p:spPr>
        <p:txBody>
          <a:bodyPr>
            <a:normAutofit/>
          </a:bodyPr>
          <a:lstStyle/>
          <a:p>
            <a:r>
              <a:rPr lang="tr-TR" sz="3200" dirty="0" err="1"/>
              <a:t>Example</a:t>
            </a:r>
            <a:r>
              <a:rPr lang="tr-TR" sz="3200" dirty="0"/>
              <a:t> (Johnson&amp;Johnson)</a:t>
            </a:r>
          </a:p>
        </p:txBody>
      </p:sp>
      <p:sp>
        <p:nvSpPr>
          <p:cNvPr id="7" name="6 Dikdörtgen"/>
          <p:cNvSpPr/>
          <p:nvPr/>
        </p:nvSpPr>
        <p:spPr>
          <a:xfrm>
            <a:off x="928662" y="1142984"/>
            <a:ext cx="7143800" cy="1107996"/>
          </a:xfrm>
          <a:prstGeom prst="rect">
            <a:avLst/>
          </a:prstGeom>
        </p:spPr>
        <p:txBody>
          <a:bodyPr wrap="square">
            <a:spAutoFit/>
          </a:bodyPr>
          <a:lstStyle/>
          <a:p>
            <a:pPr algn="just"/>
            <a:r>
              <a:rPr lang="en-US" sz="2200" dirty="0"/>
              <a:t>Derive an expression for the energy stored in an inductor in terms of the flux linkage </a:t>
            </a:r>
            <a:r>
              <a:rPr lang="el-GR" sz="2200" dirty="0"/>
              <a:t>λ</a:t>
            </a:r>
            <a:r>
              <a:rPr lang="en-US" sz="2200" dirty="0"/>
              <a:t> and the inductance L.</a:t>
            </a:r>
            <a:endParaRPr lang="tr-TR" sz="2200" dirty="0"/>
          </a:p>
        </p:txBody>
      </p:sp>
      <p:graphicFrame>
        <p:nvGraphicFramePr>
          <p:cNvPr id="8" name="7 Nesne"/>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2" imgW="914400" imgH="215640" progId="Equation.3">
                  <p:embed/>
                </p:oleObj>
              </mc:Choice>
              <mc:Fallback>
                <p:oleObj name="Equation" r:id="rId2" imgW="914400" imgH="215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Slide Number Placeholder 8"/>
          <p:cNvSpPr>
            <a:spLocks noGrp="1"/>
          </p:cNvSpPr>
          <p:nvPr>
            <p:ph type="sldNum" sz="quarter" idx="12"/>
          </p:nvPr>
        </p:nvSpPr>
        <p:spPr/>
        <p:txBody>
          <a:bodyPr/>
          <a:lstStyle/>
          <a:p>
            <a:fld id="{732390F0-1A5B-4A83-8CFF-11D9A59B5E92}" type="slidenum">
              <a:rPr lang="tr-TR" smtClean="0"/>
              <a:pPr/>
              <a:t>35</a:t>
            </a:fld>
            <a:endParaRPr lang="tr-TR"/>
          </a:p>
        </p:txBody>
      </p:sp>
      <p:sp>
        <p:nvSpPr>
          <p:cNvPr id="10" name="Footer Placeholder 9"/>
          <p:cNvSpPr>
            <a:spLocks noGrp="1"/>
          </p:cNvSpPr>
          <p:nvPr>
            <p:ph type="ftr" sz="quarter" idx="11"/>
          </p:nvPr>
        </p:nvSpPr>
        <p:spPr/>
        <p:txBody>
          <a:bodyPr/>
          <a:lstStyle/>
          <a:p>
            <a:r>
              <a:rPr lang="tr-TR"/>
              <a:t>Ali Muhtaroglu</a:t>
            </a:r>
          </a:p>
        </p:txBody>
      </p:sp>
    </p:spTree>
    <p:extLst>
      <p:ext uri="{BB962C8B-B14F-4D97-AF65-F5344CB8AC3E}">
        <p14:creationId xmlns:p14="http://schemas.microsoft.com/office/powerpoint/2010/main" val="17695982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28596" y="142852"/>
            <a:ext cx="7072362" cy="642942"/>
          </a:xfrm>
        </p:spPr>
        <p:txBody>
          <a:bodyPr>
            <a:normAutofit/>
          </a:bodyPr>
          <a:lstStyle/>
          <a:p>
            <a:r>
              <a:rPr lang="tr-TR" sz="3200" dirty="0" err="1"/>
              <a:t>Example</a:t>
            </a:r>
            <a:r>
              <a:rPr lang="tr-TR" sz="3200" dirty="0"/>
              <a:t> (Johnson&amp;Johnson)</a:t>
            </a:r>
          </a:p>
        </p:txBody>
      </p:sp>
      <p:sp>
        <p:nvSpPr>
          <p:cNvPr id="7" name="6 Dikdörtgen"/>
          <p:cNvSpPr/>
          <p:nvPr/>
        </p:nvSpPr>
        <p:spPr>
          <a:xfrm>
            <a:off x="928662" y="1142984"/>
            <a:ext cx="7143800" cy="1107996"/>
          </a:xfrm>
          <a:prstGeom prst="rect">
            <a:avLst/>
          </a:prstGeom>
        </p:spPr>
        <p:txBody>
          <a:bodyPr wrap="square">
            <a:spAutoFit/>
          </a:bodyPr>
          <a:lstStyle/>
          <a:p>
            <a:pPr algn="just"/>
            <a:r>
              <a:rPr lang="en-US" sz="2200" dirty="0"/>
              <a:t>Derive an expression for the energy stored in an inductor in terms of the flux linkage </a:t>
            </a:r>
            <a:r>
              <a:rPr lang="el-GR" sz="2200" dirty="0"/>
              <a:t>λ</a:t>
            </a:r>
            <a:r>
              <a:rPr lang="en-US" sz="2200" dirty="0"/>
              <a:t> and the inductance L.</a:t>
            </a:r>
            <a:endParaRPr lang="tr-TR" sz="2200" dirty="0"/>
          </a:p>
        </p:txBody>
      </p:sp>
      <p:graphicFrame>
        <p:nvGraphicFramePr>
          <p:cNvPr id="8" name="7 Nesne"/>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2" imgW="914400" imgH="215640" progId="Equation.3">
                  <p:embed/>
                </p:oleObj>
              </mc:Choice>
              <mc:Fallback>
                <p:oleObj name="Equation" r:id="rId2" imgW="914400" imgH="215640" progId="Equation.3">
                  <p:embed/>
                  <p:pic>
                    <p:nvPicPr>
                      <p:cNvPr id="8" name="7 Nes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11" name="Object 3"/>
          <p:cNvGraphicFramePr>
            <a:graphicFrameLocks noChangeAspect="1"/>
          </p:cNvGraphicFramePr>
          <p:nvPr/>
        </p:nvGraphicFramePr>
        <p:xfrm>
          <a:off x="2143108" y="2357430"/>
          <a:ext cx="4857784" cy="1041263"/>
        </p:xfrm>
        <a:graphic>
          <a:graphicData uri="http://schemas.openxmlformats.org/presentationml/2006/ole">
            <mc:AlternateContent xmlns:mc="http://schemas.openxmlformats.org/markup-compatibility/2006">
              <mc:Choice xmlns:v="urn:schemas-microsoft-com:vml" Requires="v">
                <p:oleObj name="Equation" r:id="rId4" imgW="1676160" imgH="469800" progId="Equation.3">
                  <p:embed/>
                </p:oleObj>
              </mc:Choice>
              <mc:Fallback>
                <p:oleObj name="Equation" r:id="rId4" imgW="1676160" imgH="469800" progId="Equation.3">
                  <p:embed/>
                  <p:pic>
                    <p:nvPicPr>
                      <p:cNvPr id="4301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3108" y="2357430"/>
                        <a:ext cx="4857784" cy="104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Slide Number Placeholder 8"/>
          <p:cNvSpPr>
            <a:spLocks noGrp="1"/>
          </p:cNvSpPr>
          <p:nvPr>
            <p:ph type="sldNum" sz="quarter" idx="12"/>
          </p:nvPr>
        </p:nvSpPr>
        <p:spPr/>
        <p:txBody>
          <a:bodyPr/>
          <a:lstStyle/>
          <a:p>
            <a:fld id="{732390F0-1A5B-4A83-8CFF-11D9A59B5E92}" type="slidenum">
              <a:rPr lang="tr-TR" smtClean="0"/>
              <a:pPr/>
              <a:t>36</a:t>
            </a:fld>
            <a:endParaRPr lang="tr-TR"/>
          </a:p>
        </p:txBody>
      </p:sp>
      <p:sp>
        <p:nvSpPr>
          <p:cNvPr id="10" name="Footer Placeholder 9"/>
          <p:cNvSpPr>
            <a:spLocks noGrp="1"/>
          </p:cNvSpPr>
          <p:nvPr>
            <p:ph type="ftr" sz="quarter" idx="11"/>
          </p:nvPr>
        </p:nvSpPr>
        <p:spPr/>
        <p:txBody>
          <a:bodyPr/>
          <a:lstStyle/>
          <a:p>
            <a:r>
              <a:rPr lang="tr-TR"/>
              <a:t>Ali Muhtaroglu</a:t>
            </a:r>
          </a:p>
        </p:txBody>
      </p:sp>
    </p:spTree>
    <p:extLst>
      <p:ext uri="{BB962C8B-B14F-4D97-AF65-F5344CB8AC3E}">
        <p14:creationId xmlns:p14="http://schemas.microsoft.com/office/powerpoint/2010/main" val="5618188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Başlık"/>
          <p:cNvSpPr>
            <a:spLocks noGrp="1"/>
          </p:cNvSpPr>
          <p:nvPr>
            <p:ph type="title"/>
          </p:nvPr>
        </p:nvSpPr>
        <p:spPr>
          <a:xfrm>
            <a:off x="357158" y="142852"/>
            <a:ext cx="7143800" cy="571504"/>
          </a:xfrm>
        </p:spPr>
        <p:txBody>
          <a:bodyPr>
            <a:noAutofit/>
          </a:bodyPr>
          <a:lstStyle/>
          <a:p>
            <a:r>
              <a:rPr lang="tr-TR" sz="3200" dirty="0" err="1"/>
              <a:t>Example</a:t>
            </a:r>
            <a:r>
              <a:rPr lang="tr-TR" sz="3200" dirty="0"/>
              <a:t> (Johnson&amp;Johnson)</a:t>
            </a:r>
          </a:p>
        </p:txBody>
      </p:sp>
      <p:sp>
        <p:nvSpPr>
          <p:cNvPr id="7" name="6 Dikdörtgen"/>
          <p:cNvSpPr/>
          <p:nvPr/>
        </p:nvSpPr>
        <p:spPr>
          <a:xfrm>
            <a:off x="714348" y="928670"/>
            <a:ext cx="7928582" cy="1107996"/>
          </a:xfrm>
          <a:prstGeom prst="rect">
            <a:avLst/>
          </a:prstGeom>
        </p:spPr>
        <p:txBody>
          <a:bodyPr wrap="square">
            <a:spAutoFit/>
          </a:bodyPr>
          <a:lstStyle/>
          <a:p>
            <a:r>
              <a:rPr lang="en-US" sz="2200" dirty="0"/>
              <a:t>A 2mH inductor has a voltage v=2cos(1000t) V with </a:t>
            </a:r>
            <a:r>
              <a:rPr lang="en-US" sz="2200" dirty="0" err="1"/>
              <a:t>i</a:t>
            </a:r>
            <a:r>
              <a:rPr lang="en-US" sz="2200" dirty="0"/>
              <a:t>(0)=1.5 A.</a:t>
            </a:r>
          </a:p>
          <a:p>
            <a:endParaRPr lang="tr-TR" sz="2200" dirty="0"/>
          </a:p>
          <a:p>
            <a:r>
              <a:rPr lang="en-US" sz="2200" dirty="0"/>
              <a:t>Find the energy stored in the inductor at </a:t>
            </a:r>
            <a:r>
              <a:rPr lang="tr-TR" sz="2200" dirty="0"/>
              <a:t> </a:t>
            </a:r>
            <a:r>
              <a:rPr lang="en-US" sz="2200" dirty="0"/>
              <a:t>t=</a:t>
            </a:r>
            <a:r>
              <a:rPr lang="el-GR" sz="2200" dirty="0">
                <a:latin typeface="Arial"/>
                <a:cs typeface="Arial"/>
              </a:rPr>
              <a:t>π</a:t>
            </a:r>
            <a:r>
              <a:rPr lang="en-US" sz="2200" dirty="0"/>
              <a:t>/6  </a:t>
            </a:r>
            <a:r>
              <a:rPr lang="en-US" sz="2200" dirty="0" err="1"/>
              <a:t>ms.</a:t>
            </a:r>
            <a:endParaRPr lang="tr-TR" sz="2200" dirty="0"/>
          </a:p>
        </p:txBody>
      </p:sp>
      <p:sp>
        <p:nvSpPr>
          <p:cNvPr id="10" name="Slide Number Placeholder 9"/>
          <p:cNvSpPr>
            <a:spLocks noGrp="1"/>
          </p:cNvSpPr>
          <p:nvPr>
            <p:ph type="sldNum" sz="quarter" idx="12"/>
          </p:nvPr>
        </p:nvSpPr>
        <p:spPr/>
        <p:txBody>
          <a:bodyPr/>
          <a:lstStyle/>
          <a:p>
            <a:fld id="{732390F0-1A5B-4A83-8CFF-11D9A59B5E92}" type="slidenum">
              <a:rPr lang="tr-TR" smtClean="0"/>
              <a:pPr/>
              <a:t>37</a:t>
            </a:fld>
            <a:endParaRPr lang="tr-TR"/>
          </a:p>
        </p:txBody>
      </p:sp>
      <p:sp>
        <p:nvSpPr>
          <p:cNvPr id="12" name="Footer Placeholder 11"/>
          <p:cNvSpPr>
            <a:spLocks noGrp="1"/>
          </p:cNvSpPr>
          <p:nvPr>
            <p:ph type="ftr" sz="quarter" idx="11"/>
          </p:nvPr>
        </p:nvSpPr>
        <p:spPr/>
        <p:txBody>
          <a:bodyPr/>
          <a:lstStyle/>
          <a:p>
            <a:r>
              <a:rPr lang="tr-TR"/>
              <a:t>Ali Muhtaroglu</a:t>
            </a:r>
          </a:p>
        </p:txBody>
      </p:sp>
    </p:spTree>
    <p:extLst>
      <p:ext uri="{BB962C8B-B14F-4D97-AF65-F5344CB8AC3E}">
        <p14:creationId xmlns:p14="http://schemas.microsoft.com/office/powerpoint/2010/main" val="3286804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Başlık"/>
          <p:cNvSpPr>
            <a:spLocks noGrp="1"/>
          </p:cNvSpPr>
          <p:nvPr>
            <p:ph type="title"/>
          </p:nvPr>
        </p:nvSpPr>
        <p:spPr>
          <a:xfrm>
            <a:off x="357158" y="142852"/>
            <a:ext cx="7143800" cy="571504"/>
          </a:xfrm>
        </p:spPr>
        <p:txBody>
          <a:bodyPr>
            <a:noAutofit/>
          </a:bodyPr>
          <a:lstStyle/>
          <a:p>
            <a:r>
              <a:rPr lang="tr-TR" sz="3200" dirty="0" err="1"/>
              <a:t>Example</a:t>
            </a:r>
            <a:r>
              <a:rPr lang="tr-TR" sz="3200" dirty="0"/>
              <a:t> (Johnson&amp;Johnson)</a:t>
            </a:r>
          </a:p>
        </p:txBody>
      </p:sp>
      <p:sp>
        <p:nvSpPr>
          <p:cNvPr id="7" name="6 Dikdörtgen"/>
          <p:cNvSpPr/>
          <p:nvPr/>
        </p:nvSpPr>
        <p:spPr>
          <a:xfrm>
            <a:off x="714348" y="928670"/>
            <a:ext cx="7928582" cy="1107996"/>
          </a:xfrm>
          <a:prstGeom prst="rect">
            <a:avLst/>
          </a:prstGeom>
        </p:spPr>
        <p:txBody>
          <a:bodyPr wrap="square">
            <a:spAutoFit/>
          </a:bodyPr>
          <a:lstStyle/>
          <a:p>
            <a:r>
              <a:rPr lang="en-US" sz="2200" dirty="0"/>
              <a:t>A 2mH inductor has a voltage v=2cos(1000t) V with </a:t>
            </a:r>
            <a:r>
              <a:rPr lang="en-US" sz="2200" dirty="0" err="1"/>
              <a:t>i</a:t>
            </a:r>
            <a:r>
              <a:rPr lang="en-US" sz="2200" dirty="0"/>
              <a:t>(0)=1.5 A.</a:t>
            </a:r>
          </a:p>
          <a:p>
            <a:endParaRPr lang="tr-TR" sz="2200" dirty="0"/>
          </a:p>
          <a:p>
            <a:r>
              <a:rPr lang="en-US" sz="2200" dirty="0"/>
              <a:t>Find the energy stored in the inductor at </a:t>
            </a:r>
            <a:r>
              <a:rPr lang="tr-TR" sz="2200" dirty="0"/>
              <a:t> </a:t>
            </a:r>
            <a:r>
              <a:rPr lang="en-US" sz="2200" dirty="0"/>
              <a:t>t=</a:t>
            </a:r>
            <a:r>
              <a:rPr lang="el-GR" sz="2200" dirty="0">
                <a:latin typeface="Arial"/>
                <a:cs typeface="Arial"/>
              </a:rPr>
              <a:t>π</a:t>
            </a:r>
            <a:r>
              <a:rPr lang="en-US" sz="2200" dirty="0"/>
              <a:t>/6  </a:t>
            </a:r>
            <a:r>
              <a:rPr lang="en-US" sz="2200" dirty="0" err="1"/>
              <a:t>ms.</a:t>
            </a:r>
            <a:endParaRPr lang="tr-TR" sz="2200" dirty="0"/>
          </a:p>
        </p:txBody>
      </p:sp>
      <p:graphicFrame>
        <p:nvGraphicFramePr>
          <p:cNvPr id="44036" name="Object 4"/>
          <p:cNvGraphicFramePr>
            <a:graphicFrameLocks noChangeAspect="1"/>
          </p:cNvGraphicFramePr>
          <p:nvPr>
            <p:extLst>
              <p:ext uri="{D42A27DB-BD31-4B8C-83A1-F6EECF244321}">
                <p14:modId xmlns:p14="http://schemas.microsoft.com/office/powerpoint/2010/main" val="1486470833"/>
              </p:ext>
            </p:extLst>
          </p:nvPr>
        </p:nvGraphicFramePr>
        <p:xfrm>
          <a:off x="817563" y="2357438"/>
          <a:ext cx="7032625" cy="1589087"/>
        </p:xfrm>
        <a:graphic>
          <a:graphicData uri="http://schemas.openxmlformats.org/presentationml/2006/ole">
            <mc:AlternateContent xmlns:mc="http://schemas.openxmlformats.org/markup-compatibility/2006">
              <mc:Choice xmlns:v="urn:schemas-microsoft-com:vml" Requires="v">
                <p:oleObj name="Equation" r:id="rId3" imgW="3555720" imgH="888840" progId="Equation.3">
                  <p:embed/>
                </p:oleObj>
              </mc:Choice>
              <mc:Fallback>
                <p:oleObj name="Equation" r:id="rId3" imgW="3555720" imgH="888840" progId="Equation.3">
                  <p:embed/>
                  <p:pic>
                    <p:nvPicPr>
                      <p:cNvPr id="0" name=""/>
                      <p:cNvPicPr>
                        <a:picLocks noChangeAspect="1" noChangeArrowheads="1"/>
                      </p:cNvPicPr>
                      <p:nvPr/>
                    </p:nvPicPr>
                    <p:blipFill>
                      <a:blip r:embed="rId4"/>
                      <a:srcRect/>
                      <a:stretch>
                        <a:fillRect/>
                      </a:stretch>
                    </p:blipFill>
                    <p:spPr bwMode="auto">
                      <a:xfrm>
                        <a:off x="817563" y="2357438"/>
                        <a:ext cx="7032625" cy="1589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10 Nesne"/>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5" imgW="914400" imgH="215640" progId="Equation.3">
                  <p:embed/>
                </p:oleObj>
              </mc:Choice>
              <mc:Fallback>
                <p:oleObj name="Equation" r:id="rId5" imgW="914400" imgH="215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038" name="Object 6"/>
          <p:cNvGraphicFramePr>
            <a:graphicFrameLocks noChangeAspect="1"/>
          </p:cNvGraphicFramePr>
          <p:nvPr>
            <p:extLst>
              <p:ext uri="{D42A27DB-BD31-4B8C-83A1-F6EECF244321}">
                <p14:modId xmlns:p14="http://schemas.microsoft.com/office/powerpoint/2010/main" val="2233586162"/>
              </p:ext>
            </p:extLst>
          </p:nvPr>
        </p:nvGraphicFramePr>
        <p:xfrm>
          <a:off x="1165225" y="4357688"/>
          <a:ext cx="3836988" cy="735012"/>
        </p:xfrm>
        <a:graphic>
          <a:graphicData uri="http://schemas.openxmlformats.org/presentationml/2006/ole">
            <mc:AlternateContent xmlns:mc="http://schemas.openxmlformats.org/markup-compatibility/2006">
              <mc:Choice xmlns:v="urn:schemas-microsoft-com:vml" Requires="v">
                <p:oleObj name="Equation" r:id="rId7" imgW="2057400" imgH="393480" progId="Equation.3">
                  <p:embed/>
                </p:oleObj>
              </mc:Choice>
              <mc:Fallback>
                <p:oleObj name="Equation" r:id="rId7" imgW="2057400" imgH="393480" progId="Equation.3">
                  <p:embed/>
                  <p:pic>
                    <p:nvPicPr>
                      <p:cNvPr id="0" name=""/>
                      <p:cNvPicPr>
                        <a:picLocks noChangeAspect="1" noChangeArrowheads="1"/>
                      </p:cNvPicPr>
                      <p:nvPr/>
                    </p:nvPicPr>
                    <p:blipFill>
                      <a:blip r:embed="rId8"/>
                      <a:srcRect/>
                      <a:stretch>
                        <a:fillRect/>
                      </a:stretch>
                    </p:blipFill>
                    <p:spPr bwMode="auto">
                      <a:xfrm>
                        <a:off x="1165225" y="4357688"/>
                        <a:ext cx="3836988" cy="735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Slide Number Placeholder 9"/>
          <p:cNvSpPr>
            <a:spLocks noGrp="1"/>
          </p:cNvSpPr>
          <p:nvPr>
            <p:ph type="sldNum" sz="quarter" idx="12"/>
          </p:nvPr>
        </p:nvSpPr>
        <p:spPr/>
        <p:txBody>
          <a:bodyPr/>
          <a:lstStyle/>
          <a:p>
            <a:fld id="{732390F0-1A5B-4A83-8CFF-11D9A59B5E92}" type="slidenum">
              <a:rPr lang="tr-TR" smtClean="0"/>
              <a:pPr/>
              <a:t>38</a:t>
            </a:fld>
            <a:endParaRPr lang="tr-TR"/>
          </a:p>
        </p:txBody>
      </p:sp>
      <p:sp>
        <p:nvSpPr>
          <p:cNvPr id="12" name="Footer Placeholder 11"/>
          <p:cNvSpPr>
            <a:spLocks noGrp="1"/>
          </p:cNvSpPr>
          <p:nvPr>
            <p:ph type="ftr" sz="quarter" idx="11"/>
          </p:nvPr>
        </p:nvSpPr>
        <p:spPr/>
        <p:txBody>
          <a:bodyPr/>
          <a:lstStyle/>
          <a:p>
            <a:r>
              <a:rPr lang="tr-TR"/>
              <a:t>Ali Muhtaroglu</a:t>
            </a:r>
          </a:p>
        </p:txBody>
      </p:sp>
      <p:sp>
        <p:nvSpPr>
          <p:cNvPr id="9" name="TextBox 8"/>
          <p:cNvSpPr txBox="1"/>
          <p:nvPr/>
        </p:nvSpPr>
        <p:spPr>
          <a:xfrm>
            <a:off x="1192360" y="3946186"/>
            <a:ext cx="2799164" cy="276999"/>
          </a:xfrm>
          <a:prstGeom prst="rect">
            <a:avLst/>
          </a:prstGeom>
          <a:noFill/>
        </p:spPr>
        <p:txBody>
          <a:bodyPr wrap="none" rtlCol="0">
            <a:spAutoFit/>
          </a:bodyPr>
          <a:lstStyle/>
          <a:p>
            <a:r>
              <a:rPr lang="tr-TR" sz="1200" b="1" i="1" dirty="0">
                <a:solidFill>
                  <a:srgbClr val="0000FF"/>
                </a:solidFill>
              </a:rPr>
              <a:t>(substitution method of integration)</a:t>
            </a:r>
            <a:endParaRPr lang="en-US" sz="1200" b="1" i="1" dirty="0">
              <a:solidFill>
                <a:srgbClr val="0000FF"/>
              </a:solidFill>
            </a:endParaRPr>
          </a:p>
        </p:txBody>
      </p:sp>
    </p:spTree>
    <p:extLst>
      <p:ext uri="{BB962C8B-B14F-4D97-AF65-F5344CB8AC3E}">
        <p14:creationId xmlns:p14="http://schemas.microsoft.com/office/powerpoint/2010/main" val="1687594281"/>
      </p:ext>
    </p:extLst>
  </p:cSld>
  <p:clrMapOvr>
    <a:masterClrMapping/>
  </p:clrMapOvr>
  <p:extLst>
    <p:ext uri="{6950BFC3-D8DA-4A85-94F7-54DA5524770B}">
      <p188:commentRel xmlns:p188="http://schemas.microsoft.com/office/powerpoint/2018/8/main" r:id="rId2"/>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28596" y="142852"/>
            <a:ext cx="6786610" cy="571504"/>
          </a:xfrm>
        </p:spPr>
        <p:txBody>
          <a:bodyPr>
            <a:noAutofit/>
          </a:bodyPr>
          <a:lstStyle/>
          <a:p>
            <a:r>
              <a:rPr lang="tr-TR" sz="3600" dirty="0" err="1"/>
              <a:t>Series</a:t>
            </a:r>
            <a:r>
              <a:rPr lang="tr-TR" sz="3600" dirty="0"/>
              <a:t> </a:t>
            </a:r>
            <a:r>
              <a:rPr lang="tr-TR" sz="3600" dirty="0" err="1"/>
              <a:t>and</a:t>
            </a:r>
            <a:r>
              <a:rPr lang="tr-TR" sz="3600" dirty="0"/>
              <a:t> </a:t>
            </a:r>
            <a:r>
              <a:rPr lang="tr-TR" sz="3600" dirty="0" err="1"/>
              <a:t>Parallel</a:t>
            </a:r>
            <a:r>
              <a:rPr lang="tr-TR" sz="3600" dirty="0"/>
              <a:t> </a:t>
            </a:r>
            <a:r>
              <a:rPr lang="tr-TR" sz="3600" dirty="0" err="1"/>
              <a:t>Inductors</a:t>
            </a:r>
            <a:endParaRPr lang="tr-TR" sz="3600" dirty="0"/>
          </a:p>
        </p:txBody>
      </p:sp>
      <p:graphicFrame>
        <p:nvGraphicFramePr>
          <p:cNvPr id="45064" name="Object 8"/>
          <p:cNvGraphicFramePr>
            <a:graphicFrameLocks noChangeAspect="1"/>
          </p:cNvGraphicFramePr>
          <p:nvPr/>
        </p:nvGraphicFramePr>
        <p:xfrm>
          <a:off x="4714876" y="2143116"/>
          <a:ext cx="1357322" cy="854610"/>
        </p:xfrm>
        <a:graphic>
          <a:graphicData uri="http://schemas.openxmlformats.org/presentationml/2006/ole">
            <mc:AlternateContent xmlns:mc="http://schemas.openxmlformats.org/markup-compatibility/2006">
              <mc:Choice xmlns:v="urn:schemas-microsoft-com:vml" Requires="v">
                <p:oleObj name="Equation" r:id="rId2" imgW="685800" imgH="431640" progId="Equation.3">
                  <p:embed/>
                </p:oleObj>
              </mc:Choice>
              <mc:Fallback>
                <p:oleObj name="Equation" r:id="rId2" imgW="685800" imgH="431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4876" y="2143116"/>
                        <a:ext cx="1357322" cy="854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Slide Number Placeholder 7"/>
          <p:cNvSpPr>
            <a:spLocks noGrp="1"/>
          </p:cNvSpPr>
          <p:nvPr>
            <p:ph type="sldNum" sz="quarter" idx="12"/>
          </p:nvPr>
        </p:nvSpPr>
        <p:spPr/>
        <p:txBody>
          <a:bodyPr/>
          <a:lstStyle/>
          <a:p>
            <a:fld id="{732390F0-1A5B-4A83-8CFF-11D9A59B5E92}" type="slidenum">
              <a:rPr lang="tr-TR" smtClean="0"/>
              <a:pPr/>
              <a:t>39</a:t>
            </a:fld>
            <a:endParaRPr lang="tr-TR"/>
          </a:p>
        </p:txBody>
      </p:sp>
      <p:sp>
        <p:nvSpPr>
          <p:cNvPr id="9" name="Footer Placeholder 8"/>
          <p:cNvSpPr>
            <a:spLocks noGrp="1"/>
          </p:cNvSpPr>
          <p:nvPr>
            <p:ph type="ftr" sz="quarter" idx="11"/>
          </p:nvPr>
        </p:nvSpPr>
        <p:spPr/>
        <p:txBody>
          <a:bodyPr/>
          <a:lstStyle/>
          <a:p>
            <a:r>
              <a:rPr lang="tr-TR"/>
              <a:t>Ali Muhtaroglu</a:t>
            </a:r>
          </a:p>
        </p:txBody>
      </p:sp>
      <p:pic>
        <p:nvPicPr>
          <p:cNvPr id="45065" name="Picture 9"/>
          <p:cNvPicPr>
            <a:picLocks noChangeAspect="1" noChangeArrowheads="1"/>
          </p:cNvPicPr>
          <p:nvPr/>
        </p:nvPicPr>
        <p:blipFill>
          <a:blip r:embed="rId4" cstate="print"/>
          <a:srcRect/>
          <a:stretch>
            <a:fillRect/>
          </a:stretch>
        </p:blipFill>
        <p:spPr bwMode="auto">
          <a:xfrm>
            <a:off x="500034" y="857232"/>
            <a:ext cx="2786082" cy="3080181"/>
          </a:xfrm>
          <a:prstGeom prst="rect">
            <a:avLst/>
          </a:prstGeom>
          <a:noFill/>
          <a:ln w="9525">
            <a:noFill/>
            <a:miter lim="800000"/>
            <a:headEnd/>
            <a:tailEnd/>
          </a:ln>
          <a:effectLst/>
        </p:spPr>
      </p:pic>
      <p:sp>
        <p:nvSpPr>
          <p:cNvPr id="10" name="10 Dikdörtgen"/>
          <p:cNvSpPr/>
          <p:nvPr/>
        </p:nvSpPr>
        <p:spPr>
          <a:xfrm>
            <a:off x="3500429" y="1071546"/>
            <a:ext cx="5180905" cy="923330"/>
          </a:xfrm>
          <a:prstGeom prst="rect">
            <a:avLst/>
          </a:prstGeom>
        </p:spPr>
        <p:txBody>
          <a:bodyPr wrap="square">
            <a:spAutoFit/>
          </a:bodyPr>
          <a:lstStyle/>
          <a:p>
            <a:r>
              <a:rPr lang="en-US" dirty="0"/>
              <a:t>The equivalent of a chain of series-connected</a:t>
            </a:r>
          </a:p>
          <a:p>
            <a:r>
              <a:rPr lang="en-US" dirty="0"/>
              <a:t>inductors is a single inductor whose inductance is the sum of the individual </a:t>
            </a:r>
            <a:r>
              <a:rPr lang="tr-TR" dirty="0"/>
              <a:t>inductances.</a:t>
            </a:r>
          </a:p>
        </p:txBody>
      </p:sp>
    </p:spTree>
    <p:extLst>
      <p:ext uri="{BB962C8B-B14F-4D97-AF65-F5344CB8AC3E}">
        <p14:creationId xmlns:p14="http://schemas.microsoft.com/office/powerpoint/2010/main" val="6299432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28596" y="142852"/>
            <a:ext cx="6786610" cy="571504"/>
          </a:xfrm>
        </p:spPr>
        <p:txBody>
          <a:bodyPr>
            <a:noAutofit/>
          </a:bodyPr>
          <a:lstStyle/>
          <a:p>
            <a:r>
              <a:rPr lang="tr-TR" sz="3600" dirty="0" err="1"/>
              <a:t>Series</a:t>
            </a:r>
            <a:r>
              <a:rPr lang="tr-TR" sz="3600" dirty="0"/>
              <a:t> </a:t>
            </a:r>
            <a:r>
              <a:rPr lang="tr-TR" sz="3600" dirty="0" err="1"/>
              <a:t>and</a:t>
            </a:r>
            <a:r>
              <a:rPr lang="tr-TR" sz="3600" dirty="0"/>
              <a:t> </a:t>
            </a:r>
            <a:r>
              <a:rPr lang="tr-TR" sz="3600" dirty="0" err="1"/>
              <a:t>Parallel</a:t>
            </a:r>
            <a:r>
              <a:rPr lang="tr-TR" sz="3600" dirty="0"/>
              <a:t> </a:t>
            </a:r>
            <a:r>
              <a:rPr lang="tr-TR" sz="3600" dirty="0" err="1"/>
              <a:t>Inductors</a:t>
            </a:r>
            <a:endParaRPr lang="tr-TR" sz="3600" dirty="0"/>
          </a:p>
        </p:txBody>
      </p:sp>
      <p:sp>
        <p:nvSpPr>
          <p:cNvPr id="11" name="10 Dikdörtgen"/>
          <p:cNvSpPr/>
          <p:nvPr/>
        </p:nvSpPr>
        <p:spPr>
          <a:xfrm>
            <a:off x="3500429" y="1071546"/>
            <a:ext cx="5180905" cy="923330"/>
          </a:xfrm>
          <a:prstGeom prst="rect">
            <a:avLst/>
          </a:prstGeom>
        </p:spPr>
        <p:txBody>
          <a:bodyPr wrap="square">
            <a:spAutoFit/>
          </a:bodyPr>
          <a:lstStyle/>
          <a:p>
            <a:r>
              <a:rPr lang="en-US" dirty="0"/>
              <a:t>The equivalent of a chain of series-connected</a:t>
            </a:r>
          </a:p>
          <a:p>
            <a:r>
              <a:rPr lang="en-US" dirty="0"/>
              <a:t>inductors is a single inductor whose inductance is the sum of the individual </a:t>
            </a:r>
            <a:r>
              <a:rPr lang="tr-TR" dirty="0"/>
              <a:t>inductances.</a:t>
            </a:r>
          </a:p>
        </p:txBody>
      </p:sp>
      <p:graphicFrame>
        <p:nvGraphicFramePr>
          <p:cNvPr id="45064" name="Object 8"/>
          <p:cNvGraphicFramePr>
            <a:graphicFrameLocks noChangeAspect="1"/>
          </p:cNvGraphicFramePr>
          <p:nvPr/>
        </p:nvGraphicFramePr>
        <p:xfrm>
          <a:off x="4714876" y="2143116"/>
          <a:ext cx="1357322" cy="854610"/>
        </p:xfrm>
        <a:graphic>
          <a:graphicData uri="http://schemas.openxmlformats.org/presentationml/2006/ole">
            <mc:AlternateContent xmlns:mc="http://schemas.openxmlformats.org/markup-compatibility/2006">
              <mc:Choice xmlns:v="urn:schemas-microsoft-com:vml" Requires="v">
                <p:oleObj name="Equation" r:id="rId2" imgW="685800" imgH="431640" progId="Equation.3">
                  <p:embed/>
                </p:oleObj>
              </mc:Choice>
              <mc:Fallback>
                <p:oleObj name="Equation" r:id="rId2" imgW="685800" imgH="431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4876" y="2143116"/>
                        <a:ext cx="1357322" cy="854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Slide Number Placeholder 7"/>
          <p:cNvSpPr>
            <a:spLocks noGrp="1"/>
          </p:cNvSpPr>
          <p:nvPr>
            <p:ph type="sldNum" sz="quarter" idx="12"/>
          </p:nvPr>
        </p:nvSpPr>
        <p:spPr/>
        <p:txBody>
          <a:bodyPr/>
          <a:lstStyle/>
          <a:p>
            <a:fld id="{732390F0-1A5B-4A83-8CFF-11D9A59B5E92}" type="slidenum">
              <a:rPr lang="tr-TR" smtClean="0"/>
              <a:pPr/>
              <a:t>40</a:t>
            </a:fld>
            <a:endParaRPr lang="tr-TR"/>
          </a:p>
        </p:txBody>
      </p:sp>
      <p:sp>
        <p:nvSpPr>
          <p:cNvPr id="9" name="Footer Placeholder 8"/>
          <p:cNvSpPr>
            <a:spLocks noGrp="1"/>
          </p:cNvSpPr>
          <p:nvPr>
            <p:ph type="ftr" sz="quarter" idx="11"/>
          </p:nvPr>
        </p:nvSpPr>
        <p:spPr/>
        <p:txBody>
          <a:bodyPr/>
          <a:lstStyle/>
          <a:p>
            <a:r>
              <a:rPr lang="tr-TR"/>
              <a:t>Ali Muhtaroglu</a:t>
            </a:r>
          </a:p>
        </p:txBody>
      </p:sp>
      <p:pic>
        <p:nvPicPr>
          <p:cNvPr id="45065" name="Picture 9"/>
          <p:cNvPicPr>
            <a:picLocks noChangeAspect="1" noChangeArrowheads="1"/>
          </p:cNvPicPr>
          <p:nvPr/>
        </p:nvPicPr>
        <p:blipFill>
          <a:blip r:embed="rId4" cstate="print"/>
          <a:srcRect/>
          <a:stretch>
            <a:fillRect/>
          </a:stretch>
        </p:blipFill>
        <p:spPr bwMode="auto">
          <a:xfrm>
            <a:off x="500034" y="857232"/>
            <a:ext cx="2786082" cy="3080181"/>
          </a:xfrm>
          <a:prstGeom prst="rect">
            <a:avLst/>
          </a:prstGeom>
          <a:noFill/>
          <a:ln w="9525">
            <a:noFill/>
            <a:miter lim="800000"/>
            <a:headEnd/>
            <a:tailEnd/>
          </a:ln>
          <a:effectLst/>
        </p:spPr>
      </p:pic>
      <p:sp>
        <p:nvSpPr>
          <p:cNvPr id="12" name="10 Dikdörtgen"/>
          <p:cNvSpPr/>
          <p:nvPr/>
        </p:nvSpPr>
        <p:spPr>
          <a:xfrm>
            <a:off x="413877" y="5395423"/>
            <a:ext cx="5812302" cy="923330"/>
          </a:xfrm>
          <a:prstGeom prst="rect">
            <a:avLst/>
          </a:prstGeom>
        </p:spPr>
        <p:txBody>
          <a:bodyPr wrap="square">
            <a:spAutoFit/>
          </a:bodyPr>
          <a:lstStyle/>
          <a:p>
            <a:r>
              <a:rPr lang="en-US" dirty="0"/>
              <a:t>The equivalent of parallel inductors is a single inductor</a:t>
            </a:r>
          </a:p>
          <a:p>
            <a:r>
              <a:rPr lang="en-US" dirty="0"/>
              <a:t>whose inverse inductance is the sum of inverses of the</a:t>
            </a:r>
          </a:p>
          <a:p>
            <a:r>
              <a:rPr lang="tr-TR" dirty="0" err="1"/>
              <a:t>parallel</a:t>
            </a:r>
            <a:r>
              <a:rPr lang="tr-TR" dirty="0"/>
              <a:t> </a:t>
            </a:r>
            <a:r>
              <a:rPr lang="tr-TR" dirty="0" err="1"/>
              <a:t>inductances</a:t>
            </a:r>
            <a:r>
              <a:rPr lang="tr-TR" dirty="0"/>
              <a:t>:</a:t>
            </a:r>
          </a:p>
        </p:txBody>
      </p:sp>
      <p:graphicFrame>
        <p:nvGraphicFramePr>
          <p:cNvPr id="13" name="Object 5"/>
          <p:cNvGraphicFramePr>
            <a:graphicFrameLocks noChangeAspect="1"/>
          </p:cNvGraphicFramePr>
          <p:nvPr/>
        </p:nvGraphicFramePr>
        <p:xfrm>
          <a:off x="6357950" y="5572140"/>
          <a:ext cx="1643074" cy="974705"/>
        </p:xfrm>
        <a:graphic>
          <a:graphicData uri="http://schemas.openxmlformats.org/presentationml/2006/ole">
            <mc:AlternateContent xmlns:mc="http://schemas.openxmlformats.org/markup-compatibility/2006">
              <mc:Choice xmlns:v="urn:schemas-microsoft-com:vml" Requires="v">
                <p:oleObj name="Equation" r:id="rId5" imgW="749160" imgH="444240" progId="Equation.3">
                  <p:embed/>
                </p:oleObj>
              </mc:Choice>
              <mc:Fallback>
                <p:oleObj name="Equation" r:id="rId5" imgW="749160" imgH="4442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57950" y="5572140"/>
                        <a:ext cx="1643074" cy="974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74756" name="Picture 4"/>
          <p:cNvPicPr>
            <a:picLocks noChangeAspect="1" noChangeArrowheads="1"/>
          </p:cNvPicPr>
          <p:nvPr/>
        </p:nvPicPr>
        <p:blipFill>
          <a:blip r:embed="rId7" cstate="print"/>
          <a:srcRect/>
          <a:stretch>
            <a:fillRect/>
          </a:stretch>
        </p:blipFill>
        <p:spPr bwMode="auto">
          <a:xfrm>
            <a:off x="1430477" y="4081885"/>
            <a:ext cx="5941776" cy="1143008"/>
          </a:xfrm>
          <a:prstGeom prst="rect">
            <a:avLst/>
          </a:prstGeom>
          <a:noFill/>
          <a:ln w="9525">
            <a:noFill/>
            <a:miter lim="800000"/>
            <a:headEnd/>
            <a:tailEnd/>
          </a:ln>
          <a:effectLst/>
        </p:spPr>
      </p:pic>
    </p:spTree>
    <p:extLst>
      <p:ext uri="{BB962C8B-B14F-4D97-AF65-F5344CB8AC3E}">
        <p14:creationId xmlns:p14="http://schemas.microsoft.com/office/powerpoint/2010/main" val="13372021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500034" y="142852"/>
            <a:ext cx="6572296" cy="500066"/>
          </a:xfrm>
        </p:spPr>
        <p:txBody>
          <a:bodyPr>
            <a:normAutofit fontScale="90000"/>
          </a:bodyPr>
          <a:lstStyle/>
          <a:p>
            <a:r>
              <a:rPr lang="tr-TR" dirty="0" err="1"/>
              <a:t>Example</a:t>
            </a:r>
            <a:endParaRPr lang="tr-TR" dirty="0"/>
          </a:p>
        </p:txBody>
      </p:sp>
      <p:sp>
        <p:nvSpPr>
          <p:cNvPr id="8" name="7 Dikdörtgen"/>
          <p:cNvSpPr/>
          <p:nvPr/>
        </p:nvSpPr>
        <p:spPr>
          <a:xfrm>
            <a:off x="642910" y="1000108"/>
            <a:ext cx="8001024" cy="430887"/>
          </a:xfrm>
          <a:prstGeom prst="rect">
            <a:avLst/>
          </a:prstGeom>
        </p:spPr>
        <p:txBody>
          <a:bodyPr wrap="square">
            <a:spAutoFit/>
          </a:bodyPr>
          <a:lstStyle/>
          <a:p>
            <a:r>
              <a:rPr lang="en-US" sz="2200" dirty="0"/>
              <a:t>Find the equivalent inductance for the following circuit. Then find </a:t>
            </a:r>
            <a:r>
              <a:rPr lang="en-US" sz="2200" b="1" i="1" dirty="0"/>
              <a:t>v.</a:t>
            </a:r>
            <a:endParaRPr lang="tr-TR" sz="2200" dirty="0"/>
          </a:p>
        </p:txBody>
      </p:sp>
      <p:graphicFrame>
        <p:nvGraphicFramePr>
          <p:cNvPr id="10" name="9 Nesne"/>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2" imgW="914400" imgH="215640" progId="Equation.3">
                  <p:embed/>
                </p:oleObj>
              </mc:Choice>
              <mc:Fallback>
                <p:oleObj name="Equation" r:id="rId2" imgW="914400" imgH="215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Slide Number Placeholder 10"/>
          <p:cNvSpPr>
            <a:spLocks noGrp="1"/>
          </p:cNvSpPr>
          <p:nvPr>
            <p:ph type="sldNum" sz="quarter" idx="12"/>
          </p:nvPr>
        </p:nvSpPr>
        <p:spPr/>
        <p:txBody>
          <a:bodyPr/>
          <a:lstStyle/>
          <a:p>
            <a:fld id="{732390F0-1A5B-4A83-8CFF-11D9A59B5E92}" type="slidenum">
              <a:rPr lang="tr-TR" smtClean="0"/>
              <a:pPr/>
              <a:t>41</a:t>
            </a:fld>
            <a:endParaRPr lang="tr-TR"/>
          </a:p>
        </p:txBody>
      </p:sp>
      <p:sp>
        <p:nvSpPr>
          <p:cNvPr id="12" name="Footer Placeholder 11"/>
          <p:cNvSpPr>
            <a:spLocks noGrp="1"/>
          </p:cNvSpPr>
          <p:nvPr>
            <p:ph type="ftr" sz="quarter" idx="11"/>
          </p:nvPr>
        </p:nvSpPr>
        <p:spPr/>
        <p:txBody>
          <a:bodyPr/>
          <a:lstStyle/>
          <a:p>
            <a:r>
              <a:rPr lang="tr-TR"/>
              <a:t>Ali Muhtaroglu</a:t>
            </a:r>
          </a:p>
        </p:txBody>
      </p:sp>
      <p:pic>
        <p:nvPicPr>
          <p:cNvPr id="14" name="Picture 5"/>
          <p:cNvPicPr>
            <a:picLocks noChangeAspect="1" noChangeArrowheads="1"/>
          </p:cNvPicPr>
          <p:nvPr/>
        </p:nvPicPr>
        <p:blipFill>
          <a:blip r:embed="rId4" cstate="print"/>
          <a:srcRect/>
          <a:stretch>
            <a:fillRect/>
          </a:stretch>
        </p:blipFill>
        <p:spPr bwMode="auto">
          <a:xfrm>
            <a:off x="2143107" y="1571612"/>
            <a:ext cx="4301667" cy="1357322"/>
          </a:xfrm>
          <a:prstGeom prst="rect">
            <a:avLst/>
          </a:prstGeom>
          <a:noFill/>
          <a:ln w="9525">
            <a:noFill/>
            <a:miter lim="800000"/>
            <a:headEnd/>
            <a:tailEnd/>
          </a:ln>
          <a:effectLst/>
        </p:spPr>
      </p:pic>
    </p:spTree>
    <p:extLst>
      <p:ext uri="{BB962C8B-B14F-4D97-AF65-F5344CB8AC3E}">
        <p14:creationId xmlns:p14="http://schemas.microsoft.com/office/powerpoint/2010/main" val="35753290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500034" y="142852"/>
            <a:ext cx="6572296" cy="500066"/>
          </a:xfrm>
        </p:spPr>
        <p:txBody>
          <a:bodyPr>
            <a:normAutofit fontScale="90000"/>
          </a:bodyPr>
          <a:lstStyle/>
          <a:p>
            <a:r>
              <a:rPr lang="tr-TR" dirty="0" err="1"/>
              <a:t>Example</a:t>
            </a:r>
            <a:endParaRPr lang="tr-TR" dirty="0"/>
          </a:p>
        </p:txBody>
      </p:sp>
      <p:sp>
        <p:nvSpPr>
          <p:cNvPr id="8" name="7 Dikdörtgen"/>
          <p:cNvSpPr/>
          <p:nvPr/>
        </p:nvSpPr>
        <p:spPr>
          <a:xfrm>
            <a:off x="642910" y="1000108"/>
            <a:ext cx="8001024" cy="430887"/>
          </a:xfrm>
          <a:prstGeom prst="rect">
            <a:avLst/>
          </a:prstGeom>
        </p:spPr>
        <p:txBody>
          <a:bodyPr wrap="square">
            <a:spAutoFit/>
          </a:bodyPr>
          <a:lstStyle/>
          <a:p>
            <a:r>
              <a:rPr lang="en-US" sz="2200" dirty="0"/>
              <a:t>Find the equivalent inductance for the following circuit. Then find </a:t>
            </a:r>
            <a:r>
              <a:rPr lang="en-US" sz="2200" b="1" i="1" dirty="0"/>
              <a:t>v.</a:t>
            </a:r>
            <a:endParaRPr lang="tr-TR" sz="2200" dirty="0"/>
          </a:p>
        </p:txBody>
      </p:sp>
      <p:graphicFrame>
        <p:nvGraphicFramePr>
          <p:cNvPr id="47108" name="Object 4"/>
          <p:cNvGraphicFramePr>
            <a:graphicFrameLocks noChangeAspect="1"/>
          </p:cNvGraphicFramePr>
          <p:nvPr/>
        </p:nvGraphicFramePr>
        <p:xfrm>
          <a:off x="2163763" y="3214688"/>
          <a:ext cx="4032250" cy="1928812"/>
        </p:xfrm>
        <a:graphic>
          <a:graphicData uri="http://schemas.openxmlformats.org/presentationml/2006/ole">
            <mc:AlternateContent xmlns:mc="http://schemas.openxmlformats.org/markup-compatibility/2006">
              <mc:Choice xmlns:v="urn:schemas-microsoft-com:vml" Requires="v">
                <p:oleObj name="Equation" r:id="rId2" imgW="1841400" imgH="990360" progId="Equation.3">
                  <p:embed/>
                </p:oleObj>
              </mc:Choice>
              <mc:Fallback>
                <p:oleObj name="Equation" r:id="rId2" imgW="1841400" imgH="99036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3763" y="3214688"/>
                        <a:ext cx="4032250" cy="1928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9 Nesne"/>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4" imgW="914400" imgH="215640" progId="Equation.3">
                  <p:embed/>
                </p:oleObj>
              </mc:Choice>
              <mc:Fallback>
                <p:oleObj name="Equation" r:id="rId4" imgW="914400" imgH="215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10" name="Object 6"/>
          <p:cNvGraphicFramePr>
            <a:graphicFrameLocks noChangeAspect="1"/>
          </p:cNvGraphicFramePr>
          <p:nvPr/>
        </p:nvGraphicFramePr>
        <p:xfrm>
          <a:off x="2571751" y="5429251"/>
          <a:ext cx="3143257" cy="779528"/>
        </p:xfrm>
        <a:graphic>
          <a:graphicData uri="http://schemas.openxmlformats.org/presentationml/2006/ole">
            <mc:AlternateContent xmlns:mc="http://schemas.openxmlformats.org/markup-compatibility/2006">
              <mc:Choice xmlns:v="urn:schemas-microsoft-com:vml" Requires="v">
                <p:oleObj name="Equation" r:id="rId6" imgW="1587240" imgH="393480" progId="Equation.3">
                  <p:embed/>
                </p:oleObj>
              </mc:Choice>
              <mc:Fallback>
                <p:oleObj name="Equation" r:id="rId6" imgW="1587240" imgH="3934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71751" y="5429251"/>
                        <a:ext cx="3143257" cy="779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Slide Number Placeholder 10"/>
          <p:cNvSpPr>
            <a:spLocks noGrp="1"/>
          </p:cNvSpPr>
          <p:nvPr>
            <p:ph type="sldNum" sz="quarter" idx="12"/>
          </p:nvPr>
        </p:nvSpPr>
        <p:spPr/>
        <p:txBody>
          <a:bodyPr/>
          <a:lstStyle/>
          <a:p>
            <a:fld id="{732390F0-1A5B-4A83-8CFF-11D9A59B5E92}" type="slidenum">
              <a:rPr lang="tr-TR" smtClean="0"/>
              <a:pPr/>
              <a:t>42</a:t>
            </a:fld>
            <a:endParaRPr lang="tr-TR"/>
          </a:p>
        </p:txBody>
      </p:sp>
      <p:sp>
        <p:nvSpPr>
          <p:cNvPr id="12" name="Footer Placeholder 11"/>
          <p:cNvSpPr>
            <a:spLocks noGrp="1"/>
          </p:cNvSpPr>
          <p:nvPr>
            <p:ph type="ftr" sz="quarter" idx="11"/>
          </p:nvPr>
        </p:nvSpPr>
        <p:spPr/>
        <p:txBody>
          <a:bodyPr/>
          <a:lstStyle/>
          <a:p>
            <a:r>
              <a:rPr lang="tr-TR"/>
              <a:t>Ali Muhtaroglu</a:t>
            </a:r>
          </a:p>
        </p:txBody>
      </p:sp>
      <p:pic>
        <p:nvPicPr>
          <p:cNvPr id="75781" name="Picture 5"/>
          <p:cNvPicPr>
            <a:picLocks noChangeAspect="1" noChangeArrowheads="1"/>
          </p:cNvPicPr>
          <p:nvPr/>
        </p:nvPicPr>
        <p:blipFill>
          <a:blip r:embed="rId8" cstate="print"/>
          <a:srcRect/>
          <a:stretch>
            <a:fillRect/>
          </a:stretch>
        </p:blipFill>
        <p:spPr bwMode="auto">
          <a:xfrm>
            <a:off x="2143107" y="1571612"/>
            <a:ext cx="4301667" cy="1357322"/>
          </a:xfrm>
          <a:prstGeom prst="rect">
            <a:avLst/>
          </a:prstGeom>
          <a:noFill/>
          <a:ln w="9525">
            <a:noFill/>
            <a:miter lim="800000"/>
            <a:headEnd/>
            <a:tailEnd/>
          </a:ln>
          <a:effectLst/>
        </p:spPr>
      </p:pic>
    </p:spTree>
    <p:extLst>
      <p:ext uri="{BB962C8B-B14F-4D97-AF65-F5344CB8AC3E}">
        <p14:creationId xmlns:p14="http://schemas.microsoft.com/office/powerpoint/2010/main" val="2348219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00052" y="142852"/>
            <a:ext cx="6872278" cy="714380"/>
          </a:xfrm>
        </p:spPr>
        <p:txBody>
          <a:bodyPr>
            <a:noAutofit/>
          </a:bodyPr>
          <a:lstStyle/>
          <a:p>
            <a:r>
              <a:rPr lang="tr-TR" sz="2800" dirty="0" err="1"/>
              <a:t>Example</a:t>
            </a:r>
            <a:r>
              <a:rPr lang="tr-TR" sz="2800" dirty="0"/>
              <a:t> : </a:t>
            </a:r>
            <a:r>
              <a:rPr lang="tr-TR" sz="2800" dirty="0" err="1"/>
              <a:t>Inductor</a:t>
            </a:r>
            <a:r>
              <a:rPr lang="tr-TR" sz="2800" dirty="0"/>
              <a:t> </a:t>
            </a:r>
            <a:r>
              <a:rPr lang="tr-TR" sz="2800" dirty="0" err="1"/>
              <a:t>Voltage</a:t>
            </a:r>
            <a:r>
              <a:rPr lang="tr-TR" sz="2800" dirty="0"/>
              <a:t>/</a:t>
            </a:r>
            <a:r>
              <a:rPr lang="tr-TR" sz="2800" dirty="0" err="1"/>
              <a:t>Current</a:t>
            </a:r>
            <a:r>
              <a:rPr lang="tr-TR" sz="2800" dirty="0"/>
              <a:t> </a:t>
            </a:r>
            <a:r>
              <a:rPr lang="tr-TR" sz="2800" dirty="0" err="1"/>
              <a:t>Division</a:t>
            </a:r>
            <a:endParaRPr lang="tr-TR" sz="2800" dirty="0"/>
          </a:p>
        </p:txBody>
      </p:sp>
      <p:pic>
        <p:nvPicPr>
          <p:cNvPr id="48130" name="Picture 2"/>
          <p:cNvPicPr>
            <a:picLocks noChangeAspect="1" noChangeArrowheads="1"/>
          </p:cNvPicPr>
          <p:nvPr/>
        </p:nvPicPr>
        <p:blipFill>
          <a:blip r:embed="rId2" cstate="print"/>
          <a:srcRect/>
          <a:stretch>
            <a:fillRect/>
          </a:stretch>
        </p:blipFill>
        <p:spPr bwMode="auto">
          <a:xfrm>
            <a:off x="428595" y="857232"/>
            <a:ext cx="2448715" cy="1928826"/>
          </a:xfrm>
          <a:prstGeom prst="rect">
            <a:avLst/>
          </a:prstGeom>
          <a:noFill/>
          <a:ln w="9525">
            <a:noFill/>
            <a:miter lim="800000"/>
            <a:headEnd/>
            <a:tailEnd/>
          </a:ln>
          <a:effectLst/>
        </p:spPr>
      </p:pic>
      <p:sp>
        <p:nvSpPr>
          <p:cNvPr id="7" name="6 Dikdörtgen"/>
          <p:cNvSpPr/>
          <p:nvPr/>
        </p:nvSpPr>
        <p:spPr>
          <a:xfrm>
            <a:off x="3000364" y="1000108"/>
            <a:ext cx="4357027" cy="400110"/>
          </a:xfrm>
          <a:prstGeom prst="rect">
            <a:avLst/>
          </a:prstGeom>
        </p:spPr>
        <p:txBody>
          <a:bodyPr wrap="none">
            <a:spAutoFit/>
          </a:bodyPr>
          <a:lstStyle/>
          <a:p>
            <a:r>
              <a:rPr lang="en-US" sz="2000" dirty="0"/>
              <a:t>Derive the equation for voltage division:</a:t>
            </a:r>
            <a:endParaRPr lang="tr-TR" sz="2000" dirty="0"/>
          </a:p>
        </p:txBody>
      </p:sp>
      <p:graphicFrame>
        <p:nvGraphicFramePr>
          <p:cNvPr id="14" name="13 Nesne"/>
          <p:cNvGraphicFramePr>
            <a:graphicFrameLocks noChangeAspect="1"/>
          </p:cNvGraphicFramePr>
          <p:nvPr/>
        </p:nvGraphicFramePr>
        <p:xfrm>
          <a:off x="4114800" y="2892422"/>
          <a:ext cx="914400" cy="215900"/>
        </p:xfrm>
        <a:graphic>
          <a:graphicData uri="http://schemas.openxmlformats.org/presentationml/2006/ole">
            <mc:AlternateContent xmlns:mc="http://schemas.openxmlformats.org/markup-compatibility/2006">
              <mc:Choice xmlns:v="urn:schemas-microsoft-com:vml" Requires="v">
                <p:oleObj name="Equation" r:id="rId3" imgW="914400" imgH="215640" progId="Equation.3">
                  <p:embed/>
                </p:oleObj>
              </mc:Choice>
              <mc:Fallback>
                <p:oleObj name="Equation" r:id="rId3" imgW="914400" imgH="215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2892422"/>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Slide Number Placeholder 14"/>
          <p:cNvSpPr>
            <a:spLocks noGrp="1"/>
          </p:cNvSpPr>
          <p:nvPr>
            <p:ph type="sldNum" sz="quarter" idx="12"/>
          </p:nvPr>
        </p:nvSpPr>
        <p:spPr/>
        <p:txBody>
          <a:bodyPr/>
          <a:lstStyle/>
          <a:p>
            <a:fld id="{732390F0-1A5B-4A83-8CFF-11D9A59B5E92}" type="slidenum">
              <a:rPr lang="tr-TR" smtClean="0"/>
              <a:pPr/>
              <a:t>43</a:t>
            </a:fld>
            <a:endParaRPr lang="tr-TR"/>
          </a:p>
        </p:txBody>
      </p:sp>
      <p:sp>
        <p:nvSpPr>
          <p:cNvPr id="16" name="Footer Placeholder 15"/>
          <p:cNvSpPr>
            <a:spLocks noGrp="1"/>
          </p:cNvSpPr>
          <p:nvPr>
            <p:ph type="ftr" sz="quarter" idx="11"/>
          </p:nvPr>
        </p:nvSpPr>
        <p:spPr/>
        <p:txBody>
          <a:bodyPr/>
          <a:lstStyle/>
          <a:p>
            <a:r>
              <a:rPr lang="tr-TR"/>
              <a:t>Ali Muhtaroglu</a:t>
            </a:r>
          </a:p>
        </p:txBody>
      </p:sp>
    </p:spTree>
    <p:extLst>
      <p:ext uri="{BB962C8B-B14F-4D97-AF65-F5344CB8AC3E}">
        <p14:creationId xmlns:p14="http://schemas.microsoft.com/office/powerpoint/2010/main" val="18316118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00052" y="142852"/>
            <a:ext cx="6872278" cy="714380"/>
          </a:xfrm>
        </p:spPr>
        <p:txBody>
          <a:bodyPr>
            <a:noAutofit/>
          </a:bodyPr>
          <a:lstStyle/>
          <a:p>
            <a:r>
              <a:rPr lang="tr-TR" sz="2800" dirty="0" err="1"/>
              <a:t>Example</a:t>
            </a:r>
            <a:r>
              <a:rPr lang="tr-TR" sz="2800" dirty="0"/>
              <a:t> : </a:t>
            </a:r>
            <a:r>
              <a:rPr lang="tr-TR" sz="2800" dirty="0" err="1"/>
              <a:t>Inductor</a:t>
            </a:r>
            <a:r>
              <a:rPr lang="tr-TR" sz="2800" dirty="0"/>
              <a:t> </a:t>
            </a:r>
            <a:r>
              <a:rPr lang="tr-TR" sz="2800" dirty="0" err="1"/>
              <a:t>Voltage</a:t>
            </a:r>
            <a:r>
              <a:rPr lang="tr-TR" sz="2800" dirty="0"/>
              <a:t>/</a:t>
            </a:r>
            <a:r>
              <a:rPr lang="tr-TR" sz="2800" dirty="0" err="1"/>
              <a:t>Current</a:t>
            </a:r>
            <a:r>
              <a:rPr lang="tr-TR" sz="2800" dirty="0"/>
              <a:t> </a:t>
            </a:r>
            <a:r>
              <a:rPr lang="tr-TR" sz="2800" dirty="0" err="1"/>
              <a:t>Division</a:t>
            </a:r>
            <a:endParaRPr lang="tr-TR" sz="2800" dirty="0"/>
          </a:p>
        </p:txBody>
      </p:sp>
      <p:pic>
        <p:nvPicPr>
          <p:cNvPr id="48130" name="Picture 2"/>
          <p:cNvPicPr>
            <a:picLocks noChangeAspect="1" noChangeArrowheads="1"/>
          </p:cNvPicPr>
          <p:nvPr/>
        </p:nvPicPr>
        <p:blipFill>
          <a:blip r:embed="rId2" cstate="print"/>
          <a:srcRect/>
          <a:stretch>
            <a:fillRect/>
          </a:stretch>
        </p:blipFill>
        <p:spPr bwMode="auto">
          <a:xfrm>
            <a:off x="428595" y="857232"/>
            <a:ext cx="2448715" cy="1928826"/>
          </a:xfrm>
          <a:prstGeom prst="rect">
            <a:avLst/>
          </a:prstGeom>
          <a:noFill/>
          <a:ln w="9525">
            <a:noFill/>
            <a:miter lim="800000"/>
            <a:headEnd/>
            <a:tailEnd/>
          </a:ln>
          <a:effectLst/>
        </p:spPr>
      </p:pic>
      <p:sp>
        <p:nvSpPr>
          <p:cNvPr id="7" name="6 Dikdörtgen"/>
          <p:cNvSpPr/>
          <p:nvPr/>
        </p:nvSpPr>
        <p:spPr>
          <a:xfrm>
            <a:off x="3000364" y="1000108"/>
            <a:ext cx="4357027" cy="400110"/>
          </a:xfrm>
          <a:prstGeom prst="rect">
            <a:avLst/>
          </a:prstGeom>
        </p:spPr>
        <p:txBody>
          <a:bodyPr wrap="none">
            <a:spAutoFit/>
          </a:bodyPr>
          <a:lstStyle/>
          <a:p>
            <a:r>
              <a:rPr lang="en-US" sz="2000" dirty="0"/>
              <a:t>Derive the equation for voltage division:</a:t>
            </a:r>
            <a:endParaRPr lang="tr-TR" sz="2000" dirty="0"/>
          </a:p>
        </p:txBody>
      </p:sp>
      <p:graphicFrame>
        <p:nvGraphicFramePr>
          <p:cNvPr id="48132" name="Object 4"/>
          <p:cNvGraphicFramePr>
            <a:graphicFrameLocks noChangeAspect="1"/>
          </p:cNvGraphicFramePr>
          <p:nvPr/>
        </p:nvGraphicFramePr>
        <p:xfrm>
          <a:off x="3071802" y="1643050"/>
          <a:ext cx="5820096" cy="714380"/>
        </p:xfrm>
        <a:graphic>
          <a:graphicData uri="http://schemas.openxmlformats.org/presentationml/2006/ole">
            <mc:AlternateContent xmlns:mc="http://schemas.openxmlformats.org/markup-compatibility/2006">
              <mc:Choice xmlns:v="urn:schemas-microsoft-com:vml" Requires="v">
                <p:oleObj name="Equation" r:id="rId3" imgW="3517560" imgH="431640" progId="Equation.3">
                  <p:embed/>
                </p:oleObj>
              </mc:Choice>
              <mc:Fallback>
                <p:oleObj name="Equation" r:id="rId3" imgW="351756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1802" y="1643050"/>
                        <a:ext cx="5820096" cy="714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33" name="Object 5"/>
          <p:cNvGraphicFramePr>
            <a:graphicFrameLocks noChangeAspect="1"/>
          </p:cNvGraphicFramePr>
          <p:nvPr/>
        </p:nvGraphicFramePr>
        <p:xfrm>
          <a:off x="1428728" y="2786058"/>
          <a:ext cx="7215238" cy="715966"/>
        </p:xfrm>
        <a:graphic>
          <a:graphicData uri="http://schemas.openxmlformats.org/presentationml/2006/ole">
            <mc:AlternateContent xmlns:mc="http://schemas.openxmlformats.org/markup-compatibility/2006">
              <mc:Choice xmlns:v="urn:schemas-microsoft-com:vml" Requires="v">
                <p:oleObj name="Equation" r:id="rId5" imgW="4051080" imgH="431640" progId="Equation.3">
                  <p:embed/>
                </p:oleObj>
              </mc:Choice>
              <mc:Fallback>
                <p:oleObj name="Equation" r:id="rId5" imgW="4051080" imgH="431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8728" y="2786058"/>
                        <a:ext cx="7215238" cy="715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13 Nesne"/>
          <p:cNvGraphicFramePr>
            <a:graphicFrameLocks noChangeAspect="1"/>
          </p:cNvGraphicFramePr>
          <p:nvPr/>
        </p:nvGraphicFramePr>
        <p:xfrm>
          <a:off x="4114800" y="2892422"/>
          <a:ext cx="914400" cy="215900"/>
        </p:xfrm>
        <a:graphic>
          <a:graphicData uri="http://schemas.openxmlformats.org/presentationml/2006/ole">
            <mc:AlternateContent xmlns:mc="http://schemas.openxmlformats.org/markup-compatibility/2006">
              <mc:Choice xmlns:v="urn:schemas-microsoft-com:vml" Requires="v">
                <p:oleObj name="Equation" r:id="rId7" imgW="914400" imgH="215640" progId="Equation.3">
                  <p:embed/>
                </p:oleObj>
              </mc:Choice>
              <mc:Fallback>
                <p:oleObj name="Equation" r:id="rId7" imgW="914400" imgH="2156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14800" y="2892422"/>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Slide Number Placeholder 14"/>
          <p:cNvSpPr>
            <a:spLocks noGrp="1"/>
          </p:cNvSpPr>
          <p:nvPr>
            <p:ph type="sldNum" sz="quarter" idx="12"/>
          </p:nvPr>
        </p:nvSpPr>
        <p:spPr/>
        <p:txBody>
          <a:bodyPr/>
          <a:lstStyle/>
          <a:p>
            <a:fld id="{732390F0-1A5B-4A83-8CFF-11D9A59B5E92}" type="slidenum">
              <a:rPr lang="tr-TR" smtClean="0"/>
              <a:pPr/>
              <a:t>44</a:t>
            </a:fld>
            <a:endParaRPr lang="tr-TR"/>
          </a:p>
        </p:txBody>
      </p:sp>
      <p:sp>
        <p:nvSpPr>
          <p:cNvPr id="16" name="Footer Placeholder 15"/>
          <p:cNvSpPr>
            <a:spLocks noGrp="1"/>
          </p:cNvSpPr>
          <p:nvPr>
            <p:ph type="ftr" sz="quarter" idx="11"/>
          </p:nvPr>
        </p:nvSpPr>
        <p:spPr/>
        <p:txBody>
          <a:bodyPr/>
          <a:lstStyle/>
          <a:p>
            <a:r>
              <a:rPr lang="tr-TR"/>
              <a:t>Ali Muhtaroglu</a:t>
            </a:r>
          </a:p>
        </p:txBody>
      </p:sp>
    </p:spTree>
    <p:extLst>
      <p:ext uri="{BB962C8B-B14F-4D97-AF65-F5344CB8AC3E}">
        <p14:creationId xmlns:p14="http://schemas.microsoft.com/office/powerpoint/2010/main" val="42740207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00052" y="142852"/>
            <a:ext cx="6872278" cy="714380"/>
          </a:xfrm>
        </p:spPr>
        <p:txBody>
          <a:bodyPr>
            <a:noAutofit/>
          </a:bodyPr>
          <a:lstStyle/>
          <a:p>
            <a:r>
              <a:rPr lang="tr-TR" sz="2800" dirty="0" err="1"/>
              <a:t>Example</a:t>
            </a:r>
            <a:r>
              <a:rPr lang="tr-TR" sz="2800" dirty="0"/>
              <a:t> : </a:t>
            </a:r>
            <a:r>
              <a:rPr lang="tr-TR" sz="2800" dirty="0" err="1"/>
              <a:t>Inductor</a:t>
            </a:r>
            <a:r>
              <a:rPr lang="tr-TR" sz="2800" dirty="0"/>
              <a:t> </a:t>
            </a:r>
            <a:r>
              <a:rPr lang="tr-TR" sz="2800" dirty="0" err="1"/>
              <a:t>Voltage</a:t>
            </a:r>
            <a:r>
              <a:rPr lang="tr-TR" sz="2800" dirty="0"/>
              <a:t>/</a:t>
            </a:r>
            <a:r>
              <a:rPr lang="tr-TR" sz="2800" dirty="0" err="1"/>
              <a:t>Current</a:t>
            </a:r>
            <a:r>
              <a:rPr lang="tr-TR" sz="2800" dirty="0"/>
              <a:t> </a:t>
            </a:r>
            <a:r>
              <a:rPr lang="tr-TR" sz="2800" dirty="0" err="1"/>
              <a:t>Division</a:t>
            </a:r>
            <a:endParaRPr lang="tr-TR" sz="2800" dirty="0"/>
          </a:p>
        </p:txBody>
      </p:sp>
      <p:pic>
        <p:nvPicPr>
          <p:cNvPr id="48130" name="Picture 2"/>
          <p:cNvPicPr>
            <a:picLocks noChangeAspect="1" noChangeArrowheads="1"/>
          </p:cNvPicPr>
          <p:nvPr/>
        </p:nvPicPr>
        <p:blipFill>
          <a:blip r:embed="rId2" cstate="print"/>
          <a:srcRect/>
          <a:stretch>
            <a:fillRect/>
          </a:stretch>
        </p:blipFill>
        <p:spPr bwMode="auto">
          <a:xfrm>
            <a:off x="428595" y="857232"/>
            <a:ext cx="2448715" cy="1928826"/>
          </a:xfrm>
          <a:prstGeom prst="rect">
            <a:avLst/>
          </a:prstGeom>
          <a:noFill/>
          <a:ln w="9525">
            <a:noFill/>
            <a:miter lim="800000"/>
            <a:headEnd/>
            <a:tailEnd/>
          </a:ln>
          <a:effectLst/>
        </p:spPr>
      </p:pic>
      <p:sp>
        <p:nvSpPr>
          <p:cNvPr id="7" name="6 Dikdörtgen"/>
          <p:cNvSpPr/>
          <p:nvPr/>
        </p:nvSpPr>
        <p:spPr>
          <a:xfrm>
            <a:off x="3000364" y="1000108"/>
            <a:ext cx="4357027" cy="400110"/>
          </a:xfrm>
          <a:prstGeom prst="rect">
            <a:avLst/>
          </a:prstGeom>
        </p:spPr>
        <p:txBody>
          <a:bodyPr wrap="none">
            <a:spAutoFit/>
          </a:bodyPr>
          <a:lstStyle/>
          <a:p>
            <a:r>
              <a:rPr lang="en-US" sz="2000" dirty="0"/>
              <a:t>Derive the equation for voltage division:</a:t>
            </a:r>
            <a:endParaRPr lang="tr-TR" sz="2000" dirty="0"/>
          </a:p>
        </p:txBody>
      </p:sp>
      <p:graphicFrame>
        <p:nvGraphicFramePr>
          <p:cNvPr id="48132" name="Object 4"/>
          <p:cNvGraphicFramePr>
            <a:graphicFrameLocks noChangeAspect="1"/>
          </p:cNvGraphicFramePr>
          <p:nvPr/>
        </p:nvGraphicFramePr>
        <p:xfrm>
          <a:off x="3071802" y="1643050"/>
          <a:ext cx="5820096" cy="714380"/>
        </p:xfrm>
        <a:graphic>
          <a:graphicData uri="http://schemas.openxmlformats.org/presentationml/2006/ole">
            <mc:AlternateContent xmlns:mc="http://schemas.openxmlformats.org/markup-compatibility/2006">
              <mc:Choice xmlns:v="urn:schemas-microsoft-com:vml" Requires="v">
                <p:oleObj name="Equation" r:id="rId3" imgW="3517560" imgH="431640" progId="Equation.3">
                  <p:embed/>
                </p:oleObj>
              </mc:Choice>
              <mc:Fallback>
                <p:oleObj name="Equation" r:id="rId3" imgW="351756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1802" y="1643050"/>
                        <a:ext cx="5820096" cy="714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33" name="Object 5"/>
          <p:cNvGraphicFramePr>
            <a:graphicFrameLocks noChangeAspect="1"/>
          </p:cNvGraphicFramePr>
          <p:nvPr/>
        </p:nvGraphicFramePr>
        <p:xfrm>
          <a:off x="1428728" y="2786058"/>
          <a:ext cx="7215238" cy="715966"/>
        </p:xfrm>
        <a:graphic>
          <a:graphicData uri="http://schemas.openxmlformats.org/presentationml/2006/ole">
            <mc:AlternateContent xmlns:mc="http://schemas.openxmlformats.org/markup-compatibility/2006">
              <mc:Choice xmlns:v="urn:schemas-microsoft-com:vml" Requires="v">
                <p:oleObj name="Equation" r:id="rId5" imgW="4051080" imgH="431640" progId="Equation.3">
                  <p:embed/>
                </p:oleObj>
              </mc:Choice>
              <mc:Fallback>
                <p:oleObj name="Equation" r:id="rId5" imgW="4051080" imgH="431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8728" y="2786058"/>
                        <a:ext cx="7215238" cy="715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48135" name="Picture 7"/>
          <p:cNvPicPr>
            <a:picLocks noChangeAspect="1" noChangeArrowheads="1"/>
          </p:cNvPicPr>
          <p:nvPr/>
        </p:nvPicPr>
        <p:blipFill>
          <a:blip r:embed="rId7" cstate="print"/>
          <a:srcRect/>
          <a:stretch>
            <a:fillRect/>
          </a:stretch>
        </p:blipFill>
        <p:spPr bwMode="auto">
          <a:xfrm>
            <a:off x="142844" y="3714752"/>
            <a:ext cx="2672690" cy="1428760"/>
          </a:xfrm>
          <a:prstGeom prst="rect">
            <a:avLst/>
          </a:prstGeom>
          <a:noFill/>
          <a:ln w="9525">
            <a:noFill/>
            <a:miter lim="800000"/>
            <a:headEnd/>
            <a:tailEnd/>
          </a:ln>
          <a:effectLst/>
        </p:spPr>
      </p:pic>
      <p:sp>
        <p:nvSpPr>
          <p:cNvPr id="13" name="12 Dikdörtgen"/>
          <p:cNvSpPr/>
          <p:nvPr/>
        </p:nvSpPr>
        <p:spPr>
          <a:xfrm>
            <a:off x="3143272" y="3935560"/>
            <a:ext cx="5786446" cy="707886"/>
          </a:xfrm>
          <a:prstGeom prst="rect">
            <a:avLst/>
          </a:prstGeom>
        </p:spPr>
        <p:txBody>
          <a:bodyPr wrap="square">
            <a:spAutoFit/>
          </a:bodyPr>
          <a:lstStyle/>
          <a:p>
            <a:r>
              <a:rPr lang="en-US" sz="2000" dirty="0"/>
              <a:t>Derive the equation for current division, given no initial </a:t>
            </a:r>
            <a:r>
              <a:rPr lang="tr-TR" sz="2000" dirty="0"/>
              <a:t>current:</a:t>
            </a:r>
          </a:p>
        </p:txBody>
      </p:sp>
      <p:graphicFrame>
        <p:nvGraphicFramePr>
          <p:cNvPr id="14" name="13 Nesne"/>
          <p:cNvGraphicFramePr>
            <a:graphicFrameLocks noChangeAspect="1"/>
          </p:cNvGraphicFramePr>
          <p:nvPr/>
        </p:nvGraphicFramePr>
        <p:xfrm>
          <a:off x="4114800" y="2892422"/>
          <a:ext cx="914400" cy="215900"/>
        </p:xfrm>
        <a:graphic>
          <a:graphicData uri="http://schemas.openxmlformats.org/presentationml/2006/ole">
            <mc:AlternateContent xmlns:mc="http://schemas.openxmlformats.org/markup-compatibility/2006">
              <mc:Choice xmlns:v="urn:schemas-microsoft-com:vml" Requires="v">
                <p:oleObj name="Equation" r:id="rId8" imgW="914400" imgH="215640" progId="Equation.3">
                  <p:embed/>
                </p:oleObj>
              </mc:Choice>
              <mc:Fallback>
                <p:oleObj name="Equation" r:id="rId8" imgW="914400" imgH="2156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14800" y="2892422"/>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Slide Number Placeholder 14"/>
          <p:cNvSpPr>
            <a:spLocks noGrp="1"/>
          </p:cNvSpPr>
          <p:nvPr>
            <p:ph type="sldNum" sz="quarter" idx="12"/>
          </p:nvPr>
        </p:nvSpPr>
        <p:spPr/>
        <p:txBody>
          <a:bodyPr/>
          <a:lstStyle/>
          <a:p>
            <a:fld id="{732390F0-1A5B-4A83-8CFF-11D9A59B5E92}" type="slidenum">
              <a:rPr lang="tr-TR" smtClean="0"/>
              <a:pPr/>
              <a:t>45</a:t>
            </a:fld>
            <a:endParaRPr lang="tr-TR"/>
          </a:p>
        </p:txBody>
      </p:sp>
      <p:sp>
        <p:nvSpPr>
          <p:cNvPr id="16" name="Footer Placeholder 15"/>
          <p:cNvSpPr>
            <a:spLocks noGrp="1"/>
          </p:cNvSpPr>
          <p:nvPr>
            <p:ph type="ftr" sz="quarter" idx="11"/>
          </p:nvPr>
        </p:nvSpPr>
        <p:spPr/>
        <p:txBody>
          <a:bodyPr/>
          <a:lstStyle/>
          <a:p>
            <a:r>
              <a:rPr lang="tr-TR"/>
              <a:t>Ali Muhtaroglu</a:t>
            </a:r>
          </a:p>
        </p:txBody>
      </p:sp>
    </p:spTree>
    <p:extLst>
      <p:ext uri="{BB962C8B-B14F-4D97-AF65-F5344CB8AC3E}">
        <p14:creationId xmlns:p14="http://schemas.microsoft.com/office/powerpoint/2010/main" val="27026875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00052" y="142852"/>
            <a:ext cx="6872278" cy="714380"/>
          </a:xfrm>
        </p:spPr>
        <p:txBody>
          <a:bodyPr>
            <a:noAutofit/>
          </a:bodyPr>
          <a:lstStyle/>
          <a:p>
            <a:r>
              <a:rPr lang="tr-TR" sz="2800" dirty="0" err="1"/>
              <a:t>Example</a:t>
            </a:r>
            <a:r>
              <a:rPr lang="tr-TR" sz="2800" dirty="0"/>
              <a:t> : </a:t>
            </a:r>
            <a:r>
              <a:rPr lang="tr-TR" sz="2800" dirty="0" err="1"/>
              <a:t>Inductor</a:t>
            </a:r>
            <a:r>
              <a:rPr lang="tr-TR" sz="2800" dirty="0"/>
              <a:t> </a:t>
            </a:r>
            <a:r>
              <a:rPr lang="tr-TR" sz="2800" dirty="0" err="1"/>
              <a:t>Voltage</a:t>
            </a:r>
            <a:r>
              <a:rPr lang="tr-TR" sz="2800" dirty="0"/>
              <a:t>/</a:t>
            </a:r>
            <a:r>
              <a:rPr lang="tr-TR" sz="2800" dirty="0" err="1"/>
              <a:t>Current</a:t>
            </a:r>
            <a:r>
              <a:rPr lang="tr-TR" sz="2800" dirty="0"/>
              <a:t> </a:t>
            </a:r>
            <a:r>
              <a:rPr lang="tr-TR" sz="2800" dirty="0" err="1"/>
              <a:t>Division</a:t>
            </a:r>
            <a:endParaRPr lang="tr-TR" sz="2800" dirty="0"/>
          </a:p>
        </p:txBody>
      </p:sp>
      <p:pic>
        <p:nvPicPr>
          <p:cNvPr id="48130" name="Picture 2"/>
          <p:cNvPicPr>
            <a:picLocks noChangeAspect="1" noChangeArrowheads="1"/>
          </p:cNvPicPr>
          <p:nvPr/>
        </p:nvPicPr>
        <p:blipFill>
          <a:blip r:embed="rId2" cstate="print"/>
          <a:srcRect/>
          <a:stretch>
            <a:fillRect/>
          </a:stretch>
        </p:blipFill>
        <p:spPr bwMode="auto">
          <a:xfrm>
            <a:off x="428595" y="857232"/>
            <a:ext cx="2448715" cy="1928826"/>
          </a:xfrm>
          <a:prstGeom prst="rect">
            <a:avLst/>
          </a:prstGeom>
          <a:noFill/>
          <a:ln w="9525">
            <a:noFill/>
            <a:miter lim="800000"/>
            <a:headEnd/>
            <a:tailEnd/>
          </a:ln>
          <a:effectLst/>
        </p:spPr>
      </p:pic>
      <p:sp>
        <p:nvSpPr>
          <p:cNvPr id="7" name="6 Dikdörtgen"/>
          <p:cNvSpPr/>
          <p:nvPr/>
        </p:nvSpPr>
        <p:spPr>
          <a:xfrm>
            <a:off x="3000364" y="1000108"/>
            <a:ext cx="4357027" cy="400110"/>
          </a:xfrm>
          <a:prstGeom prst="rect">
            <a:avLst/>
          </a:prstGeom>
        </p:spPr>
        <p:txBody>
          <a:bodyPr wrap="none">
            <a:spAutoFit/>
          </a:bodyPr>
          <a:lstStyle/>
          <a:p>
            <a:r>
              <a:rPr lang="en-US" sz="2000" dirty="0"/>
              <a:t>Derive the equation for voltage division:</a:t>
            </a:r>
            <a:endParaRPr lang="tr-TR" sz="2000" dirty="0"/>
          </a:p>
        </p:txBody>
      </p:sp>
      <p:graphicFrame>
        <p:nvGraphicFramePr>
          <p:cNvPr id="48132" name="Object 4"/>
          <p:cNvGraphicFramePr>
            <a:graphicFrameLocks noChangeAspect="1"/>
          </p:cNvGraphicFramePr>
          <p:nvPr/>
        </p:nvGraphicFramePr>
        <p:xfrm>
          <a:off x="3071802" y="1643050"/>
          <a:ext cx="5820096" cy="714380"/>
        </p:xfrm>
        <a:graphic>
          <a:graphicData uri="http://schemas.openxmlformats.org/presentationml/2006/ole">
            <mc:AlternateContent xmlns:mc="http://schemas.openxmlformats.org/markup-compatibility/2006">
              <mc:Choice xmlns:v="urn:schemas-microsoft-com:vml" Requires="v">
                <p:oleObj name="Equation" r:id="rId3" imgW="3517560" imgH="431640" progId="Equation.3">
                  <p:embed/>
                </p:oleObj>
              </mc:Choice>
              <mc:Fallback>
                <p:oleObj name="Equation" r:id="rId3" imgW="351756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1802" y="1643050"/>
                        <a:ext cx="5820096" cy="714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33" name="Object 5"/>
          <p:cNvGraphicFramePr>
            <a:graphicFrameLocks noChangeAspect="1"/>
          </p:cNvGraphicFramePr>
          <p:nvPr/>
        </p:nvGraphicFramePr>
        <p:xfrm>
          <a:off x="1428728" y="2786058"/>
          <a:ext cx="7215238" cy="715966"/>
        </p:xfrm>
        <a:graphic>
          <a:graphicData uri="http://schemas.openxmlformats.org/presentationml/2006/ole">
            <mc:AlternateContent xmlns:mc="http://schemas.openxmlformats.org/markup-compatibility/2006">
              <mc:Choice xmlns:v="urn:schemas-microsoft-com:vml" Requires="v">
                <p:oleObj name="Equation" r:id="rId5" imgW="4051080" imgH="431640" progId="Equation.3">
                  <p:embed/>
                </p:oleObj>
              </mc:Choice>
              <mc:Fallback>
                <p:oleObj name="Equation" r:id="rId5" imgW="4051080" imgH="431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8728" y="2786058"/>
                        <a:ext cx="7215238" cy="715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48135" name="Picture 7"/>
          <p:cNvPicPr>
            <a:picLocks noChangeAspect="1" noChangeArrowheads="1"/>
          </p:cNvPicPr>
          <p:nvPr/>
        </p:nvPicPr>
        <p:blipFill>
          <a:blip r:embed="rId7" cstate="print"/>
          <a:srcRect/>
          <a:stretch>
            <a:fillRect/>
          </a:stretch>
        </p:blipFill>
        <p:spPr bwMode="auto">
          <a:xfrm>
            <a:off x="142844" y="3714752"/>
            <a:ext cx="2672690" cy="1428760"/>
          </a:xfrm>
          <a:prstGeom prst="rect">
            <a:avLst/>
          </a:prstGeom>
          <a:noFill/>
          <a:ln w="9525">
            <a:noFill/>
            <a:miter lim="800000"/>
            <a:headEnd/>
            <a:tailEnd/>
          </a:ln>
          <a:effectLst/>
        </p:spPr>
      </p:pic>
      <p:sp>
        <p:nvSpPr>
          <p:cNvPr id="13" name="12 Dikdörtgen"/>
          <p:cNvSpPr/>
          <p:nvPr/>
        </p:nvSpPr>
        <p:spPr>
          <a:xfrm>
            <a:off x="3143272" y="3935560"/>
            <a:ext cx="5786446" cy="707886"/>
          </a:xfrm>
          <a:prstGeom prst="rect">
            <a:avLst/>
          </a:prstGeom>
        </p:spPr>
        <p:txBody>
          <a:bodyPr wrap="square">
            <a:spAutoFit/>
          </a:bodyPr>
          <a:lstStyle/>
          <a:p>
            <a:r>
              <a:rPr lang="en-US" sz="2000" dirty="0"/>
              <a:t>Derive the equation for current division, given no initial </a:t>
            </a:r>
            <a:r>
              <a:rPr lang="tr-TR" sz="2000" dirty="0"/>
              <a:t>current:</a:t>
            </a:r>
          </a:p>
        </p:txBody>
      </p:sp>
      <p:graphicFrame>
        <p:nvGraphicFramePr>
          <p:cNvPr id="14" name="13 Nesne"/>
          <p:cNvGraphicFramePr>
            <a:graphicFrameLocks noChangeAspect="1"/>
          </p:cNvGraphicFramePr>
          <p:nvPr/>
        </p:nvGraphicFramePr>
        <p:xfrm>
          <a:off x="4114800" y="2892422"/>
          <a:ext cx="914400" cy="215900"/>
        </p:xfrm>
        <a:graphic>
          <a:graphicData uri="http://schemas.openxmlformats.org/presentationml/2006/ole">
            <mc:AlternateContent xmlns:mc="http://schemas.openxmlformats.org/markup-compatibility/2006">
              <mc:Choice xmlns:v="urn:schemas-microsoft-com:vml" Requires="v">
                <p:oleObj name="Equation" r:id="rId8" imgW="914400" imgH="215640" progId="Equation.3">
                  <p:embed/>
                </p:oleObj>
              </mc:Choice>
              <mc:Fallback>
                <p:oleObj name="Equation" r:id="rId8" imgW="914400" imgH="2156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14800" y="2892422"/>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137" name="Object 9"/>
          <p:cNvGraphicFramePr>
            <a:graphicFrameLocks noChangeAspect="1"/>
          </p:cNvGraphicFramePr>
          <p:nvPr/>
        </p:nvGraphicFramePr>
        <p:xfrm>
          <a:off x="2786050" y="4714884"/>
          <a:ext cx="6164679" cy="642942"/>
        </p:xfrm>
        <a:graphic>
          <a:graphicData uri="http://schemas.openxmlformats.org/presentationml/2006/ole">
            <mc:AlternateContent xmlns:mc="http://schemas.openxmlformats.org/markup-compatibility/2006">
              <mc:Choice xmlns:v="urn:schemas-microsoft-com:vml" Requires="v">
                <p:oleObj name="Equation" r:id="rId10" imgW="4140000" imgH="431640" progId="Equation.3">
                  <p:embed/>
                </p:oleObj>
              </mc:Choice>
              <mc:Fallback>
                <p:oleObj name="Equation" r:id="rId10" imgW="4140000" imgH="4316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86050" y="4714884"/>
                        <a:ext cx="6164679" cy="642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39" name="Object 11"/>
          <p:cNvGraphicFramePr>
            <a:graphicFrameLocks noChangeAspect="1"/>
          </p:cNvGraphicFramePr>
          <p:nvPr/>
        </p:nvGraphicFramePr>
        <p:xfrm>
          <a:off x="142844" y="5500702"/>
          <a:ext cx="8782672" cy="714380"/>
        </p:xfrm>
        <a:graphic>
          <a:graphicData uri="http://schemas.openxmlformats.org/presentationml/2006/ole">
            <mc:AlternateContent xmlns:mc="http://schemas.openxmlformats.org/markup-compatibility/2006">
              <mc:Choice xmlns:v="urn:schemas-microsoft-com:vml" Requires="v">
                <p:oleObj name="Equation" r:id="rId12" imgW="5308560" imgH="431640" progId="Equation.3">
                  <p:embed/>
                </p:oleObj>
              </mc:Choice>
              <mc:Fallback>
                <p:oleObj name="Equation" r:id="rId12" imgW="5308560" imgH="43164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2844" y="5500702"/>
                        <a:ext cx="8782672" cy="714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Slide Number Placeholder 14"/>
          <p:cNvSpPr>
            <a:spLocks noGrp="1"/>
          </p:cNvSpPr>
          <p:nvPr>
            <p:ph type="sldNum" sz="quarter" idx="12"/>
          </p:nvPr>
        </p:nvSpPr>
        <p:spPr/>
        <p:txBody>
          <a:bodyPr/>
          <a:lstStyle/>
          <a:p>
            <a:fld id="{732390F0-1A5B-4A83-8CFF-11D9A59B5E92}" type="slidenum">
              <a:rPr lang="tr-TR" smtClean="0"/>
              <a:pPr/>
              <a:t>46</a:t>
            </a:fld>
            <a:endParaRPr lang="tr-TR"/>
          </a:p>
        </p:txBody>
      </p:sp>
      <p:sp>
        <p:nvSpPr>
          <p:cNvPr id="16" name="Footer Placeholder 15"/>
          <p:cNvSpPr>
            <a:spLocks noGrp="1"/>
          </p:cNvSpPr>
          <p:nvPr>
            <p:ph type="ftr" sz="quarter" idx="11"/>
          </p:nvPr>
        </p:nvSpPr>
        <p:spPr/>
        <p:txBody>
          <a:bodyPr/>
          <a:lstStyle/>
          <a:p>
            <a:r>
              <a:rPr lang="tr-TR"/>
              <a:t>Ali Muhtaroglu</a:t>
            </a:r>
          </a:p>
        </p:txBody>
      </p:sp>
    </p:spTree>
    <p:extLst>
      <p:ext uri="{BB962C8B-B14F-4D97-AF65-F5344CB8AC3E}">
        <p14:creationId xmlns:p14="http://schemas.microsoft.com/office/powerpoint/2010/main" val="11085710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500034" y="142852"/>
            <a:ext cx="6357982" cy="785818"/>
          </a:xfrm>
        </p:spPr>
        <p:txBody>
          <a:bodyPr>
            <a:normAutofit/>
          </a:bodyPr>
          <a:lstStyle/>
          <a:p>
            <a:r>
              <a:rPr lang="tr-TR" sz="3200" dirty="0"/>
              <a:t>DC </a:t>
            </a:r>
            <a:r>
              <a:rPr lang="tr-TR" sz="3200" dirty="0" err="1"/>
              <a:t>Steady</a:t>
            </a:r>
            <a:r>
              <a:rPr lang="tr-TR" sz="3200" dirty="0"/>
              <a:t> </a:t>
            </a:r>
            <a:r>
              <a:rPr lang="tr-TR" sz="3200" dirty="0" err="1"/>
              <a:t>State</a:t>
            </a:r>
            <a:endParaRPr lang="tr-TR" sz="3200" dirty="0"/>
          </a:p>
        </p:txBody>
      </p:sp>
      <p:sp>
        <p:nvSpPr>
          <p:cNvPr id="6" name="5 Dikdörtgen"/>
          <p:cNvSpPr/>
          <p:nvPr/>
        </p:nvSpPr>
        <p:spPr>
          <a:xfrm>
            <a:off x="214282" y="1428736"/>
            <a:ext cx="8786842" cy="2308324"/>
          </a:xfrm>
          <a:prstGeom prst="rect">
            <a:avLst/>
          </a:prstGeom>
        </p:spPr>
        <p:txBody>
          <a:bodyPr wrap="square">
            <a:spAutoFit/>
          </a:bodyPr>
          <a:lstStyle/>
          <a:p>
            <a:r>
              <a:rPr lang="en-US" sz="2400" dirty="0"/>
              <a:t>• </a:t>
            </a:r>
            <a:r>
              <a:rPr lang="tr-TR" sz="2400" dirty="0"/>
              <a:t>       </a:t>
            </a:r>
            <a:r>
              <a:rPr lang="en-US" sz="2400" dirty="0"/>
              <a:t>A circuit is in </a:t>
            </a:r>
            <a:r>
              <a:rPr lang="en-US" sz="2400" b="1" i="1" dirty="0"/>
              <a:t>dc steady state </a:t>
            </a:r>
            <a:r>
              <a:rPr lang="en-US" sz="2400" dirty="0"/>
              <a:t>if currents and voltages are all</a:t>
            </a:r>
          </a:p>
          <a:p>
            <a:r>
              <a:rPr lang="tr-TR" sz="2400" dirty="0"/>
              <a:t>          </a:t>
            </a:r>
            <a:r>
              <a:rPr lang="tr-TR" sz="2400" dirty="0" err="1"/>
              <a:t>constant</a:t>
            </a:r>
            <a:r>
              <a:rPr lang="tr-TR" sz="2400" dirty="0"/>
              <a:t> in </a:t>
            </a:r>
            <a:r>
              <a:rPr lang="tr-TR" sz="2400" dirty="0" err="1"/>
              <a:t>the</a:t>
            </a:r>
            <a:r>
              <a:rPr lang="tr-TR" sz="2400" dirty="0"/>
              <a:t> </a:t>
            </a:r>
            <a:r>
              <a:rPr lang="tr-TR" sz="2400" dirty="0" err="1"/>
              <a:t>circuit</a:t>
            </a:r>
            <a:r>
              <a:rPr lang="tr-TR" sz="2400" dirty="0"/>
              <a:t>.</a:t>
            </a:r>
          </a:p>
          <a:p>
            <a:endParaRPr lang="tr-TR" sz="2400" dirty="0"/>
          </a:p>
          <a:p>
            <a:r>
              <a:rPr lang="en-US" sz="2400" dirty="0"/>
              <a:t>• </a:t>
            </a:r>
            <a:r>
              <a:rPr lang="tr-TR" sz="2400" dirty="0"/>
              <a:t>      </a:t>
            </a:r>
            <a:r>
              <a:rPr lang="en-US" sz="2400" dirty="0"/>
              <a:t>Circuits with inductors and capacitors in dc steady state can</a:t>
            </a:r>
          </a:p>
          <a:p>
            <a:r>
              <a:rPr lang="tr-TR" sz="2400" dirty="0"/>
              <a:t>          </a:t>
            </a:r>
            <a:r>
              <a:rPr lang="en-US" sz="2400" dirty="0"/>
              <a:t>be analyzed using previous techniques by replacing inductors</a:t>
            </a:r>
          </a:p>
          <a:p>
            <a:r>
              <a:rPr lang="tr-TR" sz="2400" dirty="0"/>
              <a:t>          </a:t>
            </a:r>
            <a:r>
              <a:rPr lang="en-US" sz="2400" b="1" i="1" dirty="0"/>
              <a:t>with short circuits </a:t>
            </a:r>
            <a:r>
              <a:rPr lang="en-US" sz="2400" dirty="0"/>
              <a:t>and </a:t>
            </a:r>
            <a:r>
              <a:rPr lang="en-US" sz="2400" b="1" i="1" dirty="0"/>
              <a:t>capacitors with open circuits.</a:t>
            </a:r>
            <a:endParaRPr lang="tr-TR" sz="2400" b="1" i="1" dirty="0"/>
          </a:p>
        </p:txBody>
      </p:sp>
      <p:sp>
        <p:nvSpPr>
          <p:cNvPr id="7" name="Slide Number Placeholder 6"/>
          <p:cNvSpPr>
            <a:spLocks noGrp="1"/>
          </p:cNvSpPr>
          <p:nvPr>
            <p:ph type="sldNum" sz="quarter" idx="12"/>
          </p:nvPr>
        </p:nvSpPr>
        <p:spPr/>
        <p:txBody>
          <a:bodyPr/>
          <a:lstStyle/>
          <a:p>
            <a:fld id="{732390F0-1A5B-4A83-8CFF-11D9A59B5E92}" type="slidenum">
              <a:rPr lang="tr-TR" smtClean="0"/>
              <a:pPr/>
              <a:t>47</a:t>
            </a:fld>
            <a:endParaRPr lang="tr-TR"/>
          </a:p>
        </p:txBody>
      </p:sp>
      <p:sp>
        <p:nvSpPr>
          <p:cNvPr id="8" name="Footer Placeholder 7"/>
          <p:cNvSpPr>
            <a:spLocks noGrp="1"/>
          </p:cNvSpPr>
          <p:nvPr>
            <p:ph type="ftr" sz="quarter" idx="11"/>
          </p:nvPr>
        </p:nvSpPr>
        <p:spPr/>
        <p:txBody>
          <a:bodyPr/>
          <a:lstStyle/>
          <a:p>
            <a:r>
              <a:rPr lang="tr-TR"/>
              <a:t>Ali Muhtaroglu</a:t>
            </a:r>
          </a:p>
        </p:txBody>
      </p:sp>
    </p:spTree>
    <p:extLst>
      <p:ext uri="{BB962C8B-B14F-4D97-AF65-F5344CB8AC3E}">
        <p14:creationId xmlns:p14="http://schemas.microsoft.com/office/powerpoint/2010/main" val="30152708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500034" y="142852"/>
            <a:ext cx="6215106" cy="571504"/>
          </a:xfrm>
        </p:spPr>
        <p:txBody>
          <a:bodyPr>
            <a:noAutofit/>
          </a:bodyPr>
          <a:lstStyle/>
          <a:p>
            <a:r>
              <a:rPr lang="tr-TR" sz="3200" dirty="0" err="1"/>
              <a:t>Example</a:t>
            </a:r>
            <a:endParaRPr lang="tr-TR" sz="3200" dirty="0"/>
          </a:p>
        </p:txBody>
      </p:sp>
      <p:graphicFrame>
        <p:nvGraphicFramePr>
          <p:cNvPr id="6" name="5 Nesne"/>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2" imgW="914400" imgH="215640" progId="Equation.3">
                  <p:embed/>
                </p:oleObj>
              </mc:Choice>
              <mc:Fallback>
                <p:oleObj name="Equation" r:id="rId2" imgW="914400" imgH="215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7 Dikdörtgen"/>
          <p:cNvSpPr/>
          <p:nvPr/>
        </p:nvSpPr>
        <p:spPr>
          <a:xfrm>
            <a:off x="571472" y="857232"/>
            <a:ext cx="7786742" cy="430887"/>
          </a:xfrm>
          <a:prstGeom prst="rect">
            <a:avLst/>
          </a:prstGeom>
        </p:spPr>
        <p:txBody>
          <a:bodyPr wrap="square">
            <a:spAutoFit/>
          </a:bodyPr>
          <a:lstStyle/>
          <a:p>
            <a:r>
              <a:rPr lang="en-US" sz="2200" dirty="0"/>
              <a:t>Assume the below circuit is in dc steady state. Find </a:t>
            </a:r>
            <a:r>
              <a:rPr lang="en-US" sz="2200" b="1" i="1" dirty="0" err="1"/>
              <a:t>i</a:t>
            </a:r>
            <a:r>
              <a:rPr lang="en-US" sz="2200" dirty="0"/>
              <a:t> and </a:t>
            </a:r>
            <a:r>
              <a:rPr lang="en-US" sz="2200" b="1" i="1" dirty="0"/>
              <a:t>v</a:t>
            </a:r>
            <a:r>
              <a:rPr lang="en-US" sz="2200" dirty="0"/>
              <a:t>.</a:t>
            </a:r>
            <a:endParaRPr lang="tr-TR" sz="2200" dirty="0"/>
          </a:p>
        </p:txBody>
      </p:sp>
      <p:pic>
        <p:nvPicPr>
          <p:cNvPr id="9" name="Picture 8"/>
          <p:cNvPicPr>
            <a:picLocks noChangeAspect="1" noChangeArrowheads="1"/>
          </p:cNvPicPr>
          <p:nvPr/>
        </p:nvPicPr>
        <p:blipFill>
          <a:blip r:embed="rId4" cstate="print"/>
          <a:srcRect/>
          <a:stretch>
            <a:fillRect/>
          </a:stretch>
        </p:blipFill>
        <p:spPr bwMode="auto">
          <a:xfrm>
            <a:off x="285720" y="1428736"/>
            <a:ext cx="5228094" cy="1714512"/>
          </a:xfrm>
          <a:prstGeom prst="rect">
            <a:avLst/>
          </a:prstGeom>
          <a:noFill/>
          <a:ln w="9525">
            <a:noFill/>
            <a:miter lim="800000"/>
            <a:headEnd/>
            <a:tailEnd/>
          </a:ln>
          <a:effectLst/>
        </p:spPr>
      </p:pic>
      <p:sp>
        <p:nvSpPr>
          <p:cNvPr id="10" name="Slide Number Placeholder 9"/>
          <p:cNvSpPr>
            <a:spLocks noGrp="1"/>
          </p:cNvSpPr>
          <p:nvPr>
            <p:ph type="sldNum" sz="quarter" idx="12"/>
          </p:nvPr>
        </p:nvSpPr>
        <p:spPr/>
        <p:txBody>
          <a:bodyPr/>
          <a:lstStyle/>
          <a:p>
            <a:fld id="{732390F0-1A5B-4A83-8CFF-11D9A59B5E92}" type="slidenum">
              <a:rPr lang="tr-TR" smtClean="0"/>
              <a:pPr/>
              <a:t>48</a:t>
            </a:fld>
            <a:endParaRPr lang="tr-TR"/>
          </a:p>
        </p:txBody>
      </p:sp>
      <p:sp>
        <p:nvSpPr>
          <p:cNvPr id="11" name="Footer Placeholder 10"/>
          <p:cNvSpPr>
            <a:spLocks noGrp="1"/>
          </p:cNvSpPr>
          <p:nvPr>
            <p:ph type="ftr" sz="quarter" idx="11"/>
          </p:nvPr>
        </p:nvSpPr>
        <p:spPr/>
        <p:txBody>
          <a:bodyPr/>
          <a:lstStyle/>
          <a:p>
            <a:r>
              <a:rPr lang="tr-TR"/>
              <a:t>Ali Muhtaroglu</a:t>
            </a:r>
          </a:p>
        </p:txBody>
      </p:sp>
    </p:spTree>
    <p:extLst>
      <p:ext uri="{BB962C8B-B14F-4D97-AF65-F5344CB8AC3E}">
        <p14:creationId xmlns:p14="http://schemas.microsoft.com/office/powerpoint/2010/main" val="33276664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10 Dikdörtgen"/>
          <p:cNvSpPr/>
          <p:nvPr/>
        </p:nvSpPr>
        <p:spPr>
          <a:xfrm>
            <a:off x="714348" y="3500438"/>
            <a:ext cx="2751331" cy="369332"/>
          </a:xfrm>
          <a:prstGeom prst="rect">
            <a:avLst/>
          </a:prstGeom>
        </p:spPr>
        <p:txBody>
          <a:bodyPr wrap="none">
            <a:spAutoFit/>
          </a:bodyPr>
          <a:lstStyle/>
          <a:p>
            <a:r>
              <a:rPr lang="tr-TR" dirty="0"/>
              <a:t>DC </a:t>
            </a:r>
            <a:r>
              <a:rPr lang="tr-TR" dirty="0" err="1"/>
              <a:t>steady</a:t>
            </a:r>
            <a:r>
              <a:rPr lang="tr-TR" dirty="0"/>
              <a:t>-</a:t>
            </a:r>
            <a:r>
              <a:rPr lang="tr-TR" dirty="0" err="1"/>
              <a:t>state</a:t>
            </a:r>
            <a:r>
              <a:rPr lang="tr-TR" dirty="0"/>
              <a:t> </a:t>
            </a:r>
            <a:r>
              <a:rPr lang="tr-TR" dirty="0" err="1"/>
              <a:t>equivalent</a:t>
            </a:r>
            <a:r>
              <a:rPr lang="tr-TR" dirty="0"/>
              <a:t>:</a:t>
            </a:r>
          </a:p>
        </p:txBody>
      </p:sp>
      <p:sp>
        <p:nvSpPr>
          <p:cNvPr id="12" name="11 Dikdörtgen"/>
          <p:cNvSpPr/>
          <p:nvPr/>
        </p:nvSpPr>
        <p:spPr>
          <a:xfrm>
            <a:off x="5500694" y="3929066"/>
            <a:ext cx="1850891" cy="369332"/>
          </a:xfrm>
          <a:prstGeom prst="rect">
            <a:avLst/>
          </a:prstGeom>
        </p:spPr>
        <p:txBody>
          <a:bodyPr wrap="none">
            <a:spAutoFit/>
          </a:bodyPr>
          <a:lstStyle/>
          <a:p>
            <a:r>
              <a:rPr lang="tr-TR" dirty="0"/>
              <a:t>KVL (</a:t>
            </a:r>
            <a:r>
              <a:rPr lang="tr-TR" dirty="0" err="1"/>
              <a:t>Outer</a:t>
            </a:r>
            <a:r>
              <a:rPr lang="tr-TR" dirty="0"/>
              <a:t> </a:t>
            </a:r>
            <a:r>
              <a:rPr lang="tr-TR" dirty="0" err="1"/>
              <a:t>Loop</a:t>
            </a:r>
            <a:r>
              <a:rPr lang="tr-TR" dirty="0"/>
              <a:t>):</a:t>
            </a:r>
          </a:p>
        </p:txBody>
      </p:sp>
      <p:graphicFrame>
        <p:nvGraphicFramePr>
          <p:cNvPr id="50181" name="Object 5"/>
          <p:cNvGraphicFramePr>
            <a:graphicFrameLocks noChangeAspect="1"/>
          </p:cNvGraphicFramePr>
          <p:nvPr/>
        </p:nvGraphicFramePr>
        <p:xfrm>
          <a:off x="5572131" y="4357694"/>
          <a:ext cx="3413149" cy="1071570"/>
        </p:xfrm>
        <a:graphic>
          <a:graphicData uri="http://schemas.openxmlformats.org/presentationml/2006/ole">
            <mc:AlternateContent xmlns:mc="http://schemas.openxmlformats.org/markup-compatibility/2006">
              <mc:Choice xmlns:v="urn:schemas-microsoft-com:vml" Requires="v">
                <p:oleObj name="Equation" r:id="rId2" imgW="2184120" imgH="685800" progId="Equation.3">
                  <p:embed/>
                </p:oleObj>
              </mc:Choice>
              <mc:Fallback>
                <p:oleObj name="Equation" r:id="rId2" imgW="2184120" imgH="6858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2131" y="4357694"/>
                        <a:ext cx="3413149" cy="1071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14 Dikdörtgen"/>
          <p:cNvSpPr/>
          <p:nvPr/>
        </p:nvSpPr>
        <p:spPr>
          <a:xfrm>
            <a:off x="857224" y="5500702"/>
            <a:ext cx="2215222" cy="369332"/>
          </a:xfrm>
          <a:prstGeom prst="rect">
            <a:avLst/>
          </a:prstGeom>
        </p:spPr>
        <p:txBody>
          <a:bodyPr wrap="none">
            <a:spAutoFit/>
          </a:bodyPr>
          <a:lstStyle/>
          <a:p>
            <a:r>
              <a:rPr lang="tr-TR" dirty="0"/>
              <a:t>KVL (</a:t>
            </a:r>
            <a:r>
              <a:rPr lang="tr-TR" dirty="0" err="1"/>
              <a:t>Left</a:t>
            </a:r>
            <a:r>
              <a:rPr lang="tr-TR" dirty="0"/>
              <a:t> </a:t>
            </a:r>
            <a:r>
              <a:rPr lang="tr-TR" dirty="0" err="1"/>
              <a:t>Inner</a:t>
            </a:r>
            <a:r>
              <a:rPr lang="tr-TR" dirty="0"/>
              <a:t> </a:t>
            </a:r>
            <a:r>
              <a:rPr lang="tr-TR" dirty="0" err="1"/>
              <a:t>Loop</a:t>
            </a:r>
            <a:r>
              <a:rPr lang="tr-TR" dirty="0"/>
              <a:t>):</a:t>
            </a:r>
          </a:p>
        </p:txBody>
      </p:sp>
      <p:graphicFrame>
        <p:nvGraphicFramePr>
          <p:cNvPr id="50182" name="Object 6"/>
          <p:cNvGraphicFramePr>
            <a:graphicFrameLocks noChangeAspect="1"/>
          </p:cNvGraphicFramePr>
          <p:nvPr/>
        </p:nvGraphicFramePr>
        <p:xfrm>
          <a:off x="2214546" y="5929330"/>
          <a:ext cx="3496702" cy="428628"/>
        </p:xfrm>
        <a:graphic>
          <a:graphicData uri="http://schemas.openxmlformats.org/presentationml/2006/ole">
            <mc:AlternateContent xmlns:mc="http://schemas.openxmlformats.org/markup-compatibility/2006">
              <mc:Choice xmlns:v="urn:schemas-microsoft-com:vml" Requires="v">
                <p:oleObj name="Equation" r:id="rId4" imgW="1968480" imgH="241200" progId="Equation.3">
                  <p:embed/>
                </p:oleObj>
              </mc:Choice>
              <mc:Fallback>
                <p:oleObj name="Equation" r:id="rId4" imgW="1968480" imgH="241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14546" y="5929330"/>
                        <a:ext cx="3496702" cy="42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0184" name="Picture 8"/>
          <p:cNvPicPr>
            <a:picLocks noChangeAspect="1" noChangeArrowheads="1"/>
          </p:cNvPicPr>
          <p:nvPr/>
        </p:nvPicPr>
        <p:blipFill>
          <a:blip r:embed="rId6" cstate="print"/>
          <a:srcRect/>
          <a:stretch>
            <a:fillRect/>
          </a:stretch>
        </p:blipFill>
        <p:spPr bwMode="auto">
          <a:xfrm>
            <a:off x="285720" y="1428736"/>
            <a:ext cx="5228094" cy="1714512"/>
          </a:xfrm>
          <a:prstGeom prst="rect">
            <a:avLst/>
          </a:prstGeom>
          <a:noFill/>
          <a:ln w="9525">
            <a:noFill/>
            <a:miter lim="800000"/>
            <a:headEnd/>
            <a:tailEnd/>
          </a:ln>
          <a:effectLst/>
        </p:spPr>
      </p:pic>
      <p:pic>
        <p:nvPicPr>
          <p:cNvPr id="2" name="Picture 8"/>
          <p:cNvPicPr>
            <a:picLocks noChangeAspect="1" noChangeArrowheads="1"/>
          </p:cNvPicPr>
          <p:nvPr/>
        </p:nvPicPr>
        <p:blipFill>
          <a:blip r:embed="rId7" cstate="print"/>
          <a:srcRect/>
          <a:stretch>
            <a:fillRect/>
          </a:stretch>
        </p:blipFill>
        <p:spPr bwMode="auto">
          <a:xfrm>
            <a:off x="357158" y="3857628"/>
            <a:ext cx="4962646" cy="1677996"/>
          </a:xfrm>
          <a:prstGeom prst="rect">
            <a:avLst/>
          </a:prstGeom>
          <a:noFill/>
          <a:ln w="9525">
            <a:noFill/>
            <a:miter lim="800000"/>
            <a:headEnd/>
            <a:tailEnd/>
          </a:ln>
          <a:effectLst/>
        </p:spPr>
      </p:pic>
      <p:sp>
        <p:nvSpPr>
          <p:cNvPr id="14" name="Slide Number Placeholder 13"/>
          <p:cNvSpPr>
            <a:spLocks noGrp="1"/>
          </p:cNvSpPr>
          <p:nvPr>
            <p:ph type="sldNum" sz="quarter" idx="12"/>
          </p:nvPr>
        </p:nvSpPr>
        <p:spPr/>
        <p:txBody>
          <a:bodyPr/>
          <a:lstStyle/>
          <a:p>
            <a:fld id="{732390F0-1A5B-4A83-8CFF-11D9A59B5E92}" type="slidenum">
              <a:rPr lang="tr-TR" smtClean="0"/>
              <a:pPr/>
              <a:t>49</a:t>
            </a:fld>
            <a:endParaRPr lang="tr-TR"/>
          </a:p>
        </p:txBody>
      </p:sp>
      <p:sp>
        <p:nvSpPr>
          <p:cNvPr id="16" name="Footer Placeholder 15"/>
          <p:cNvSpPr>
            <a:spLocks noGrp="1"/>
          </p:cNvSpPr>
          <p:nvPr>
            <p:ph type="ftr" sz="quarter" idx="11"/>
          </p:nvPr>
        </p:nvSpPr>
        <p:spPr/>
        <p:txBody>
          <a:bodyPr/>
          <a:lstStyle/>
          <a:p>
            <a:r>
              <a:rPr lang="tr-TR"/>
              <a:t>Ali Muhtaroglu</a:t>
            </a:r>
          </a:p>
        </p:txBody>
      </p:sp>
      <p:sp>
        <p:nvSpPr>
          <p:cNvPr id="18" name="1 Başlık"/>
          <p:cNvSpPr>
            <a:spLocks noGrp="1"/>
          </p:cNvSpPr>
          <p:nvPr>
            <p:ph type="title"/>
          </p:nvPr>
        </p:nvSpPr>
        <p:spPr>
          <a:xfrm>
            <a:off x="500034" y="142852"/>
            <a:ext cx="6215106" cy="571504"/>
          </a:xfrm>
        </p:spPr>
        <p:txBody>
          <a:bodyPr>
            <a:noAutofit/>
          </a:bodyPr>
          <a:lstStyle/>
          <a:p>
            <a:r>
              <a:rPr lang="tr-TR" sz="3200" dirty="0" err="1"/>
              <a:t>Example</a:t>
            </a:r>
            <a:endParaRPr lang="tr-TR" sz="3200" dirty="0"/>
          </a:p>
        </p:txBody>
      </p:sp>
      <p:sp>
        <p:nvSpPr>
          <p:cNvPr id="19" name="7 Dikdörtgen"/>
          <p:cNvSpPr/>
          <p:nvPr/>
        </p:nvSpPr>
        <p:spPr>
          <a:xfrm>
            <a:off x="571472" y="857232"/>
            <a:ext cx="7786742" cy="430887"/>
          </a:xfrm>
          <a:prstGeom prst="rect">
            <a:avLst/>
          </a:prstGeom>
        </p:spPr>
        <p:txBody>
          <a:bodyPr wrap="square">
            <a:spAutoFit/>
          </a:bodyPr>
          <a:lstStyle/>
          <a:p>
            <a:r>
              <a:rPr lang="en-US" sz="2200" dirty="0"/>
              <a:t>Assume the below circuit is in dc steady state. Find </a:t>
            </a:r>
            <a:r>
              <a:rPr lang="en-US" sz="2200" b="1" i="1" dirty="0" err="1"/>
              <a:t>i</a:t>
            </a:r>
            <a:r>
              <a:rPr lang="en-US" sz="2200" dirty="0"/>
              <a:t> and </a:t>
            </a:r>
            <a:r>
              <a:rPr lang="en-US" sz="2200" b="1" i="1" dirty="0"/>
              <a:t>v</a:t>
            </a:r>
            <a:r>
              <a:rPr lang="en-US" sz="2200" dirty="0"/>
              <a:t>.</a:t>
            </a:r>
            <a:endParaRPr lang="tr-TR" sz="2200" dirty="0"/>
          </a:p>
        </p:txBody>
      </p:sp>
    </p:spTree>
    <p:extLst>
      <p:ext uri="{BB962C8B-B14F-4D97-AF65-F5344CB8AC3E}">
        <p14:creationId xmlns:p14="http://schemas.microsoft.com/office/powerpoint/2010/main" val="20653736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Dikdörtgen"/>
          <p:cNvSpPr/>
          <p:nvPr/>
        </p:nvSpPr>
        <p:spPr>
          <a:xfrm>
            <a:off x="500035" y="714356"/>
            <a:ext cx="8411730" cy="1631216"/>
          </a:xfrm>
          <a:prstGeom prst="rect">
            <a:avLst/>
          </a:prstGeom>
        </p:spPr>
        <p:txBody>
          <a:bodyPr wrap="square">
            <a:spAutoFit/>
          </a:bodyPr>
          <a:lstStyle/>
          <a:p>
            <a:r>
              <a:rPr lang="en-US" sz="2000" dirty="0"/>
              <a:t>Assume the switch in the below circuit has been closed “for a long time”.</a:t>
            </a:r>
          </a:p>
          <a:p>
            <a:r>
              <a:rPr lang="en-US" sz="2000" dirty="0"/>
              <a:t>It was opened at time 0. Times 0- and 0+ refer to the instants before and after opening the switch respectively.</a:t>
            </a:r>
          </a:p>
          <a:p>
            <a:r>
              <a:rPr lang="en-US" sz="2000" dirty="0"/>
              <a:t>- Find a value for the source function </a:t>
            </a:r>
            <a:r>
              <a:rPr lang="tr-TR" sz="2000" dirty="0"/>
              <a:t>    </a:t>
            </a:r>
            <a:r>
              <a:rPr lang="en-US" sz="2000" dirty="0"/>
              <a:t>  so that </a:t>
            </a:r>
            <a:r>
              <a:rPr lang="en-US" sz="2000" dirty="0" err="1"/>
              <a:t>i</a:t>
            </a:r>
            <a:r>
              <a:rPr lang="en-US" sz="2000" dirty="0"/>
              <a:t>(0+)=2 A. </a:t>
            </a:r>
          </a:p>
          <a:p>
            <a:r>
              <a:rPr lang="en-US" sz="2000" dirty="0"/>
              <a:t>- For this      , find v(0-) and v(0+).</a:t>
            </a:r>
            <a:endParaRPr lang="tr-TR" sz="2000" dirty="0"/>
          </a:p>
        </p:txBody>
      </p:sp>
      <p:graphicFrame>
        <p:nvGraphicFramePr>
          <p:cNvPr id="51203" name="Object 3"/>
          <p:cNvGraphicFramePr>
            <a:graphicFrameLocks noChangeAspect="1"/>
          </p:cNvGraphicFramePr>
          <p:nvPr/>
        </p:nvGraphicFramePr>
        <p:xfrm>
          <a:off x="1697018" y="1928802"/>
          <a:ext cx="303214" cy="411505"/>
        </p:xfrm>
        <a:graphic>
          <a:graphicData uri="http://schemas.openxmlformats.org/presentationml/2006/ole">
            <mc:AlternateContent xmlns:mc="http://schemas.openxmlformats.org/markup-compatibility/2006">
              <mc:Choice xmlns:v="urn:schemas-microsoft-com:vml" Requires="v">
                <p:oleObj name="Equation" r:id="rId2" imgW="177480" imgH="241200" progId="Equation.3">
                  <p:embed/>
                </p:oleObj>
              </mc:Choice>
              <mc:Fallback>
                <p:oleObj name="Equation" r:id="rId2" imgW="177480" imgH="241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7018" y="1928802"/>
                        <a:ext cx="303214" cy="411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04" name="Object 4"/>
          <p:cNvGraphicFramePr>
            <a:graphicFrameLocks noChangeAspect="1"/>
          </p:cNvGraphicFramePr>
          <p:nvPr>
            <p:extLst>
              <p:ext uri="{D42A27DB-BD31-4B8C-83A1-F6EECF244321}">
                <p14:modId xmlns:p14="http://schemas.microsoft.com/office/powerpoint/2010/main" val="1198596410"/>
              </p:ext>
            </p:extLst>
          </p:nvPr>
        </p:nvGraphicFramePr>
        <p:xfrm>
          <a:off x="4802430" y="1643050"/>
          <a:ext cx="304508" cy="412919"/>
        </p:xfrm>
        <a:graphic>
          <a:graphicData uri="http://schemas.openxmlformats.org/presentationml/2006/ole">
            <mc:AlternateContent xmlns:mc="http://schemas.openxmlformats.org/markup-compatibility/2006">
              <mc:Choice xmlns:v="urn:schemas-microsoft-com:vml" Requires="v">
                <p:oleObj name="Equation" r:id="rId4" imgW="177480" imgH="241200" progId="Equation.3">
                  <p:embed/>
                </p:oleObj>
              </mc:Choice>
              <mc:Fallback>
                <p:oleObj name="Equation" r:id="rId4" imgW="177480" imgH="241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2430" y="1643050"/>
                        <a:ext cx="304508" cy="412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9 Nesne"/>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5" imgW="914400" imgH="215640" progId="Equation.3">
                  <p:embed/>
                </p:oleObj>
              </mc:Choice>
              <mc:Fallback>
                <p:oleObj name="Equation" r:id="rId5" imgW="914400" imgH="215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Slide Number Placeholder 10"/>
          <p:cNvSpPr>
            <a:spLocks noGrp="1"/>
          </p:cNvSpPr>
          <p:nvPr>
            <p:ph type="sldNum" sz="quarter" idx="12"/>
          </p:nvPr>
        </p:nvSpPr>
        <p:spPr/>
        <p:txBody>
          <a:bodyPr/>
          <a:lstStyle/>
          <a:p>
            <a:fld id="{732390F0-1A5B-4A83-8CFF-11D9A59B5E92}" type="slidenum">
              <a:rPr lang="tr-TR" smtClean="0"/>
              <a:pPr/>
              <a:t>50</a:t>
            </a:fld>
            <a:endParaRPr lang="tr-TR"/>
          </a:p>
        </p:txBody>
      </p:sp>
      <p:sp>
        <p:nvSpPr>
          <p:cNvPr id="12" name="Footer Placeholder 11"/>
          <p:cNvSpPr>
            <a:spLocks noGrp="1"/>
          </p:cNvSpPr>
          <p:nvPr>
            <p:ph type="ftr" sz="quarter" idx="11"/>
          </p:nvPr>
        </p:nvSpPr>
        <p:spPr/>
        <p:txBody>
          <a:bodyPr/>
          <a:lstStyle/>
          <a:p>
            <a:r>
              <a:rPr lang="tr-TR"/>
              <a:t>Ali Muhtaroglu</a:t>
            </a:r>
          </a:p>
        </p:txBody>
      </p:sp>
      <p:sp>
        <p:nvSpPr>
          <p:cNvPr id="14" name="1 Başlık"/>
          <p:cNvSpPr>
            <a:spLocks noGrp="1"/>
          </p:cNvSpPr>
          <p:nvPr>
            <p:ph type="title"/>
          </p:nvPr>
        </p:nvSpPr>
        <p:spPr>
          <a:xfrm>
            <a:off x="500034" y="142852"/>
            <a:ext cx="6215106" cy="571504"/>
          </a:xfrm>
        </p:spPr>
        <p:txBody>
          <a:bodyPr>
            <a:noAutofit/>
          </a:bodyPr>
          <a:lstStyle/>
          <a:p>
            <a:r>
              <a:rPr lang="tr-TR" sz="3200" dirty="0" err="1"/>
              <a:t>Example</a:t>
            </a:r>
            <a:endParaRPr lang="tr-TR" sz="3200" dirty="0"/>
          </a:p>
        </p:txBody>
      </p:sp>
      <p:pic>
        <p:nvPicPr>
          <p:cNvPr id="13" name="Picture 6"/>
          <p:cNvPicPr>
            <a:picLocks noChangeAspect="1" noChangeArrowheads="1"/>
          </p:cNvPicPr>
          <p:nvPr/>
        </p:nvPicPr>
        <p:blipFill>
          <a:blip r:embed="rId7" cstate="print"/>
          <a:srcRect/>
          <a:stretch>
            <a:fillRect/>
          </a:stretch>
        </p:blipFill>
        <p:spPr bwMode="auto">
          <a:xfrm>
            <a:off x="285720" y="2500306"/>
            <a:ext cx="3700810" cy="2143140"/>
          </a:xfrm>
          <a:prstGeom prst="rect">
            <a:avLst/>
          </a:prstGeom>
          <a:noFill/>
          <a:ln w="9525">
            <a:noFill/>
            <a:miter lim="800000"/>
            <a:headEnd/>
            <a:tailEnd/>
          </a:ln>
          <a:effectLst/>
        </p:spPr>
      </p:pic>
    </p:spTree>
    <p:extLst>
      <p:ext uri="{BB962C8B-B14F-4D97-AF65-F5344CB8AC3E}">
        <p14:creationId xmlns:p14="http://schemas.microsoft.com/office/powerpoint/2010/main" val="10732918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10 Dikdörtgen"/>
          <p:cNvSpPr/>
          <p:nvPr/>
        </p:nvSpPr>
        <p:spPr>
          <a:xfrm>
            <a:off x="4143372" y="2428868"/>
            <a:ext cx="4962528" cy="1754326"/>
          </a:xfrm>
          <a:prstGeom prst="rect">
            <a:avLst/>
          </a:prstGeom>
        </p:spPr>
        <p:txBody>
          <a:bodyPr wrap="square">
            <a:spAutoFit/>
          </a:bodyPr>
          <a:lstStyle/>
          <a:p>
            <a:r>
              <a:rPr lang="en-US" u="sng" dirty="0"/>
              <a:t>Answer:</a:t>
            </a:r>
          </a:p>
          <a:p>
            <a:r>
              <a:rPr lang="en-US" dirty="0"/>
              <a:t>First note that current through an inductor and</a:t>
            </a:r>
          </a:p>
          <a:p>
            <a:r>
              <a:rPr lang="en-US" dirty="0"/>
              <a:t>voltage across a capacitor CANNOT change</a:t>
            </a:r>
          </a:p>
          <a:p>
            <a:r>
              <a:rPr lang="en-US" dirty="0"/>
              <a:t>instantaneously i.e. current through an inductor</a:t>
            </a:r>
          </a:p>
          <a:p>
            <a:r>
              <a:rPr lang="en-US" dirty="0"/>
              <a:t>and voltage across a capacitor have to be</a:t>
            </a:r>
          </a:p>
          <a:p>
            <a:r>
              <a:rPr lang="en-US" dirty="0"/>
              <a:t>continuous</a:t>
            </a:r>
            <a:r>
              <a:rPr lang="tr-TR" dirty="0"/>
              <a:t>.</a:t>
            </a:r>
          </a:p>
        </p:txBody>
      </p:sp>
      <p:sp>
        <p:nvSpPr>
          <p:cNvPr id="12" name="11 Dikdörtgen"/>
          <p:cNvSpPr/>
          <p:nvPr/>
        </p:nvSpPr>
        <p:spPr>
          <a:xfrm>
            <a:off x="5072066" y="4131238"/>
            <a:ext cx="3286148" cy="369332"/>
          </a:xfrm>
          <a:prstGeom prst="rect">
            <a:avLst/>
          </a:prstGeom>
        </p:spPr>
        <p:txBody>
          <a:bodyPr wrap="square">
            <a:spAutoFit/>
          </a:bodyPr>
          <a:lstStyle/>
          <a:p>
            <a:r>
              <a:rPr lang="nn-NO" dirty="0"/>
              <a:t>i(0+) = i(0-)  and  v(0+) = v(0-)</a:t>
            </a:r>
            <a:endParaRPr lang="tr-TR" dirty="0"/>
          </a:p>
        </p:txBody>
      </p:sp>
      <p:sp>
        <p:nvSpPr>
          <p:cNvPr id="13" name="12 Dikdörtgen"/>
          <p:cNvSpPr/>
          <p:nvPr/>
        </p:nvSpPr>
        <p:spPr>
          <a:xfrm>
            <a:off x="642910" y="4786322"/>
            <a:ext cx="8215370" cy="646331"/>
          </a:xfrm>
          <a:prstGeom prst="rect">
            <a:avLst/>
          </a:prstGeom>
        </p:spPr>
        <p:txBody>
          <a:bodyPr wrap="square">
            <a:spAutoFit/>
          </a:bodyPr>
          <a:lstStyle/>
          <a:p>
            <a:r>
              <a:rPr lang="en-US" dirty="0"/>
              <a:t>In addition, assume the circuit has been in dc steady state (capacitor open circuit, inductor short circuit) before the switch is opened at t=0 :</a:t>
            </a:r>
            <a:endParaRPr lang="tr-TR" dirty="0"/>
          </a:p>
        </p:txBody>
      </p:sp>
      <p:sp>
        <p:nvSpPr>
          <p:cNvPr id="14" name="13 Dikdörtgen"/>
          <p:cNvSpPr/>
          <p:nvPr/>
        </p:nvSpPr>
        <p:spPr>
          <a:xfrm>
            <a:off x="714348" y="5643578"/>
            <a:ext cx="1894558" cy="369332"/>
          </a:xfrm>
          <a:prstGeom prst="rect">
            <a:avLst/>
          </a:prstGeom>
        </p:spPr>
        <p:txBody>
          <a:bodyPr wrap="none">
            <a:spAutoFit/>
          </a:bodyPr>
          <a:lstStyle/>
          <a:p>
            <a:r>
              <a:rPr lang="tr-TR" dirty="0" err="1"/>
              <a:t>Using</a:t>
            </a:r>
            <a:r>
              <a:rPr lang="tr-TR" dirty="0"/>
              <a:t> KVL at t=0- :</a:t>
            </a:r>
          </a:p>
        </p:txBody>
      </p:sp>
      <p:graphicFrame>
        <p:nvGraphicFramePr>
          <p:cNvPr id="15" name="14 Nesne"/>
          <p:cNvGraphicFramePr>
            <a:graphicFrameLocks noChangeAspect="1"/>
          </p:cNvGraphicFramePr>
          <p:nvPr/>
        </p:nvGraphicFramePr>
        <p:xfrm>
          <a:off x="1711329" y="6072206"/>
          <a:ext cx="5646753" cy="411076"/>
        </p:xfrm>
        <a:graphic>
          <a:graphicData uri="http://schemas.openxmlformats.org/presentationml/2006/ole">
            <mc:AlternateContent xmlns:mc="http://schemas.openxmlformats.org/markup-compatibility/2006">
              <mc:Choice xmlns:v="urn:schemas-microsoft-com:vml" Requires="v">
                <p:oleObj name="Equation" r:id="rId2" imgW="3314520" imgH="241200" progId="Equation.3">
                  <p:embed/>
                </p:oleObj>
              </mc:Choice>
              <mc:Fallback>
                <p:oleObj name="Equation" r:id="rId2" imgW="3314520" imgH="241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1329" y="6072206"/>
                        <a:ext cx="5646753" cy="4110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Slide Number Placeholder 15"/>
          <p:cNvSpPr>
            <a:spLocks noGrp="1"/>
          </p:cNvSpPr>
          <p:nvPr>
            <p:ph type="sldNum" sz="quarter" idx="12"/>
          </p:nvPr>
        </p:nvSpPr>
        <p:spPr/>
        <p:txBody>
          <a:bodyPr/>
          <a:lstStyle/>
          <a:p>
            <a:fld id="{732390F0-1A5B-4A83-8CFF-11D9A59B5E92}" type="slidenum">
              <a:rPr lang="tr-TR" smtClean="0"/>
              <a:pPr/>
              <a:t>51</a:t>
            </a:fld>
            <a:endParaRPr lang="tr-TR"/>
          </a:p>
        </p:txBody>
      </p:sp>
      <p:sp>
        <p:nvSpPr>
          <p:cNvPr id="17" name="Footer Placeholder 16"/>
          <p:cNvSpPr>
            <a:spLocks noGrp="1"/>
          </p:cNvSpPr>
          <p:nvPr>
            <p:ph type="ftr" sz="quarter" idx="11"/>
          </p:nvPr>
        </p:nvSpPr>
        <p:spPr/>
        <p:txBody>
          <a:bodyPr/>
          <a:lstStyle/>
          <a:p>
            <a:r>
              <a:rPr lang="tr-TR"/>
              <a:t>Ali Muhtaroglu</a:t>
            </a:r>
          </a:p>
        </p:txBody>
      </p:sp>
      <p:sp>
        <p:nvSpPr>
          <p:cNvPr id="22" name="1 Başlık"/>
          <p:cNvSpPr>
            <a:spLocks noGrp="1"/>
          </p:cNvSpPr>
          <p:nvPr>
            <p:ph type="title"/>
          </p:nvPr>
        </p:nvSpPr>
        <p:spPr>
          <a:xfrm>
            <a:off x="500034" y="142852"/>
            <a:ext cx="6215106" cy="571504"/>
          </a:xfrm>
        </p:spPr>
        <p:txBody>
          <a:bodyPr>
            <a:noAutofit/>
          </a:bodyPr>
          <a:lstStyle/>
          <a:p>
            <a:r>
              <a:rPr lang="tr-TR" sz="3200" dirty="0" err="1"/>
              <a:t>Example</a:t>
            </a:r>
            <a:endParaRPr lang="tr-TR" sz="3200" dirty="0"/>
          </a:p>
        </p:txBody>
      </p:sp>
      <p:pic>
        <p:nvPicPr>
          <p:cNvPr id="26" name="Picture 6"/>
          <p:cNvPicPr>
            <a:picLocks noChangeAspect="1" noChangeArrowheads="1"/>
          </p:cNvPicPr>
          <p:nvPr/>
        </p:nvPicPr>
        <p:blipFill>
          <a:blip r:embed="rId4" cstate="print"/>
          <a:srcRect/>
          <a:stretch>
            <a:fillRect/>
          </a:stretch>
        </p:blipFill>
        <p:spPr bwMode="auto">
          <a:xfrm>
            <a:off x="285720" y="2500306"/>
            <a:ext cx="3700810" cy="2143140"/>
          </a:xfrm>
          <a:prstGeom prst="rect">
            <a:avLst/>
          </a:prstGeom>
          <a:noFill/>
          <a:ln w="9525">
            <a:noFill/>
            <a:miter lim="800000"/>
            <a:headEnd/>
            <a:tailEnd/>
          </a:ln>
          <a:effectLst/>
        </p:spPr>
      </p:pic>
      <p:sp>
        <p:nvSpPr>
          <p:cNvPr id="18" name="5 Dikdörtgen"/>
          <p:cNvSpPr/>
          <p:nvPr/>
        </p:nvSpPr>
        <p:spPr>
          <a:xfrm>
            <a:off x="500035" y="714356"/>
            <a:ext cx="8411730" cy="1631216"/>
          </a:xfrm>
          <a:prstGeom prst="rect">
            <a:avLst/>
          </a:prstGeom>
        </p:spPr>
        <p:txBody>
          <a:bodyPr wrap="square">
            <a:spAutoFit/>
          </a:bodyPr>
          <a:lstStyle/>
          <a:p>
            <a:r>
              <a:rPr lang="en-US" sz="2000" dirty="0"/>
              <a:t>Assume the switch in the below circuit has been closed “for a long time”.</a:t>
            </a:r>
          </a:p>
          <a:p>
            <a:r>
              <a:rPr lang="en-US" sz="2000" dirty="0"/>
              <a:t>It was opened at time 0. Times 0- and 0+ refer to the instants before and after opening the switch respectively.</a:t>
            </a:r>
          </a:p>
          <a:p>
            <a:r>
              <a:rPr lang="en-US" sz="2000" dirty="0"/>
              <a:t>- Find a value for the source function </a:t>
            </a:r>
            <a:r>
              <a:rPr lang="tr-TR" sz="2000" dirty="0"/>
              <a:t>    </a:t>
            </a:r>
            <a:r>
              <a:rPr lang="en-US" sz="2000" dirty="0"/>
              <a:t>  so that </a:t>
            </a:r>
            <a:r>
              <a:rPr lang="en-US" sz="2000" dirty="0" err="1"/>
              <a:t>i</a:t>
            </a:r>
            <a:r>
              <a:rPr lang="en-US" sz="2000" dirty="0"/>
              <a:t>(0+)=2 A. </a:t>
            </a:r>
          </a:p>
          <a:p>
            <a:r>
              <a:rPr lang="en-US" sz="2000" dirty="0"/>
              <a:t>- For this      , find v(0-) and v(0+).</a:t>
            </a:r>
            <a:endParaRPr lang="tr-TR" sz="2000" dirty="0"/>
          </a:p>
        </p:txBody>
      </p:sp>
      <p:graphicFrame>
        <p:nvGraphicFramePr>
          <p:cNvPr id="19" name="Object 3"/>
          <p:cNvGraphicFramePr>
            <a:graphicFrameLocks noChangeAspect="1"/>
          </p:cNvGraphicFramePr>
          <p:nvPr/>
        </p:nvGraphicFramePr>
        <p:xfrm>
          <a:off x="1697018" y="1928802"/>
          <a:ext cx="303214" cy="411505"/>
        </p:xfrm>
        <a:graphic>
          <a:graphicData uri="http://schemas.openxmlformats.org/presentationml/2006/ole">
            <mc:AlternateContent xmlns:mc="http://schemas.openxmlformats.org/markup-compatibility/2006">
              <mc:Choice xmlns:v="urn:schemas-microsoft-com:vml" Requires="v">
                <p:oleObj name="Equation" r:id="rId5" imgW="177480" imgH="241200" progId="Equation.3">
                  <p:embed/>
                </p:oleObj>
              </mc:Choice>
              <mc:Fallback>
                <p:oleObj name="Equation" r:id="rId5" imgW="177480" imgH="241200" progId="Equation.3">
                  <p:embed/>
                  <p:pic>
                    <p:nvPicPr>
                      <p:cNvPr id="5120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7018" y="1928802"/>
                        <a:ext cx="303214" cy="411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4"/>
          <p:cNvGraphicFramePr>
            <a:graphicFrameLocks noChangeAspect="1"/>
          </p:cNvGraphicFramePr>
          <p:nvPr>
            <p:extLst>
              <p:ext uri="{D42A27DB-BD31-4B8C-83A1-F6EECF244321}">
                <p14:modId xmlns:p14="http://schemas.microsoft.com/office/powerpoint/2010/main" val="1882462236"/>
              </p:ext>
            </p:extLst>
          </p:nvPr>
        </p:nvGraphicFramePr>
        <p:xfrm>
          <a:off x="4802430" y="1643050"/>
          <a:ext cx="304508" cy="412919"/>
        </p:xfrm>
        <a:graphic>
          <a:graphicData uri="http://schemas.openxmlformats.org/presentationml/2006/ole">
            <mc:AlternateContent xmlns:mc="http://schemas.openxmlformats.org/markup-compatibility/2006">
              <mc:Choice xmlns:v="urn:schemas-microsoft-com:vml" Requires="v">
                <p:oleObj name="Equation" r:id="rId7" imgW="177480" imgH="241200" progId="Equation.3">
                  <p:embed/>
                </p:oleObj>
              </mc:Choice>
              <mc:Fallback>
                <p:oleObj name="Equation" r:id="rId7" imgW="177480" imgH="241200" progId="Equation.3">
                  <p:embed/>
                  <p:pic>
                    <p:nvPicPr>
                      <p:cNvPr id="51204"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2430" y="1643050"/>
                        <a:ext cx="304508" cy="412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6702645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28596" y="142852"/>
            <a:ext cx="6786610" cy="571504"/>
          </a:xfrm>
        </p:spPr>
        <p:txBody>
          <a:bodyPr>
            <a:noAutofit/>
          </a:bodyPr>
          <a:lstStyle/>
          <a:p>
            <a:r>
              <a:rPr lang="tr-TR" sz="3600" dirty="0"/>
              <a:t> </a:t>
            </a:r>
            <a:r>
              <a:rPr lang="tr-TR" sz="3600" dirty="0" err="1"/>
              <a:t>Practical</a:t>
            </a:r>
            <a:r>
              <a:rPr lang="tr-TR" sz="3600" dirty="0"/>
              <a:t> </a:t>
            </a:r>
            <a:r>
              <a:rPr lang="tr-TR" sz="3600" dirty="0" err="1"/>
              <a:t>Capacitors</a:t>
            </a:r>
            <a:r>
              <a:rPr lang="tr-TR" sz="3600" dirty="0"/>
              <a:t> </a:t>
            </a:r>
            <a:r>
              <a:rPr lang="tr-TR" sz="3600" dirty="0" err="1"/>
              <a:t>and</a:t>
            </a:r>
            <a:r>
              <a:rPr lang="tr-TR" sz="3600" dirty="0"/>
              <a:t> </a:t>
            </a:r>
            <a:r>
              <a:rPr lang="tr-TR" sz="3600" dirty="0" err="1"/>
              <a:t>Inductors</a:t>
            </a:r>
            <a:endParaRPr lang="tr-TR" sz="3600" dirty="0"/>
          </a:p>
        </p:txBody>
      </p:sp>
      <p:sp>
        <p:nvSpPr>
          <p:cNvPr id="6" name="5 Dikdörtgen"/>
          <p:cNvSpPr/>
          <p:nvPr/>
        </p:nvSpPr>
        <p:spPr>
          <a:xfrm>
            <a:off x="232235" y="1142984"/>
            <a:ext cx="8717936" cy="707886"/>
          </a:xfrm>
          <a:prstGeom prst="rect">
            <a:avLst/>
          </a:prstGeom>
        </p:spPr>
        <p:txBody>
          <a:bodyPr wrap="square">
            <a:spAutoFit/>
          </a:bodyPr>
          <a:lstStyle/>
          <a:p>
            <a:pPr marL="461963" indent="-461963"/>
            <a:r>
              <a:rPr lang="en-US" sz="2000" dirty="0"/>
              <a:t>• </a:t>
            </a:r>
            <a:r>
              <a:rPr lang="tr-TR" sz="2000" dirty="0"/>
              <a:t>     </a:t>
            </a:r>
            <a:r>
              <a:rPr lang="en-US" sz="2000" dirty="0"/>
              <a:t>A practical (real) capacitor has leakage through the dielectric, which can be modeled using a parallel resistance.</a:t>
            </a:r>
            <a:endParaRPr lang="tr-TR" sz="2000" dirty="0"/>
          </a:p>
        </p:txBody>
      </p:sp>
      <p:pic>
        <p:nvPicPr>
          <p:cNvPr id="53251" name="Picture 3"/>
          <p:cNvPicPr>
            <a:picLocks noChangeAspect="1" noChangeArrowheads="1"/>
          </p:cNvPicPr>
          <p:nvPr/>
        </p:nvPicPr>
        <p:blipFill>
          <a:blip r:embed="rId2" cstate="print"/>
          <a:srcRect/>
          <a:stretch>
            <a:fillRect/>
          </a:stretch>
        </p:blipFill>
        <p:spPr bwMode="auto">
          <a:xfrm>
            <a:off x="3000364" y="1714488"/>
            <a:ext cx="2514855" cy="1643074"/>
          </a:xfrm>
          <a:prstGeom prst="rect">
            <a:avLst/>
          </a:prstGeom>
          <a:noFill/>
          <a:ln w="9525">
            <a:noFill/>
            <a:miter lim="800000"/>
            <a:headEnd/>
            <a:tailEnd/>
          </a:ln>
          <a:effectLst/>
        </p:spPr>
      </p:pic>
      <p:sp>
        <p:nvSpPr>
          <p:cNvPr id="9" name="8 Dikdörtgen"/>
          <p:cNvSpPr/>
          <p:nvPr/>
        </p:nvSpPr>
        <p:spPr>
          <a:xfrm>
            <a:off x="232235" y="3357562"/>
            <a:ext cx="8717935" cy="1631216"/>
          </a:xfrm>
          <a:prstGeom prst="rect">
            <a:avLst/>
          </a:prstGeom>
        </p:spPr>
        <p:txBody>
          <a:bodyPr wrap="square">
            <a:spAutoFit/>
          </a:bodyPr>
          <a:lstStyle/>
          <a:p>
            <a:pPr marL="514350" indent="-514350"/>
            <a:r>
              <a:rPr lang="en-US" sz="2000" dirty="0"/>
              <a:t>• </a:t>
            </a:r>
            <a:r>
              <a:rPr lang="tr-TR" sz="2000" dirty="0"/>
              <a:t>     </a:t>
            </a:r>
            <a:r>
              <a:rPr lang="en-US" sz="2000" dirty="0"/>
              <a:t>A practical inductor has significant resistance due to the fact that the wire in the coil that makes up the inductor is significantly long. In addition there are core losses due to currents induced in the core by the magnetic field. The overall loss can be modeled by adding a series resistance.</a:t>
            </a:r>
            <a:endParaRPr lang="tr-TR" sz="2000" dirty="0"/>
          </a:p>
        </p:txBody>
      </p:sp>
      <p:pic>
        <p:nvPicPr>
          <p:cNvPr id="53253" name="Picture 5"/>
          <p:cNvPicPr>
            <a:picLocks noChangeAspect="1" noChangeArrowheads="1"/>
          </p:cNvPicPr>
          <p:nvPr/>
        </p:nvPicPr>
        <p:blipFill>
          <a:blip r:embed="rId3" cstate="print"/>
          <a:srcRect/>
          <a:stretch>
            <a:fillRect/>
          </a:stretch>
        </p:blipFill>
        <p:spPr bwMode="auto">
          <a:xfrm>
            <a:off x="3071802" y="4714884"/>
            <a:ext cx="2464126" cy="1785950"/>
          </a:xfrm>
          <a:prstGeom prst="rect">
            <a:avLst/>
          </a:prstGeom>
          <a:noFill/>
          <a:ln w="9525">
            <a:noFill/>
            <a:miter lim="800000"/>
            <a:headEnd/>
            <a:tailEnd/>
          </a:ln>
          <a:effectLst/>
        </p:spPr>
      </p:pic>
      <p:sp>
        <p:nvSpPr>
          <p:cNvPr id="10" name="Slide Number Placeholder 9"/>
          <p:cNvSpPr>
            <a:spLocks noGrp="1"/>
          </p:cNvSpPr>
          <p:nvPr>
            <p:ph type="sldNum" sz="quarter" idx="12"/>
          </p:nvPr>
        </p:nvSpPr>
        <p:spPr/>
        <p:txBody>
          <a:bodyPr/>
          <a:lstStyle/>
          <a:p>
            <a:fld id="{732390F0-1A5B-4A83-8CFF-11D9A59B5E92}" type="slidenum">
              <a:rPr lang="tr-TR" smtClean="0"/>
              <a:pPr/>
              <a:t>52</a:t>
            </a:fld>
            <a:endParaRPr lang="tr-TR"/>
          </a:p>
        </p:txBody>
      </p:sp>
      <p:sp>
        <p:nvSpPr>
          <p:cNvPr id="11" name="Footer Placeholder 10"/>
          <p:cNvSpPr>
            <a:spLocks noGrp="1"/>
          </p:cNvSpPr>
          <p:nvPr>
            <p:ph type="ftr" sz="quarter" idx="11"/>
          </p:nvPr>
        </p:nvSpPr>
        <p:spPr/>
        <p:txBody>
          <a:bodyPr/>
          <a:lstStyle/>
          <a:p>
            <a:r>
              <a:rPr lang="tr-TR"/>
              <a:t>Ali Muhtaroglu</a:t>
            </a:r>
          </a:p>
        </p:txBody>
      </p:sp>
    </p:spTree>
    <p:extLst>
      <p:ext uri="{BB962C8B-B14F-4D97-AF65-F5344CB8AC3E}">
        <p14:creationId xmlns:p14="http://schemas.microsoft.com/office/powerpoint/2010/main" val="23246676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25152</TotalTime>
  <Words>2669</Words>
  <Application>Microsoft Office PowerPoint</Application>
  <PresentationFormat>On-screen Show (4:3)</PresentationFormat>
  <Paragraphs>349</Paragraphs>
  <Slides>52</Slides>
  <Notes>1</Notes>
  <HiddenSlides>0</HiddenSlides>
  <MMClips>0</MMClips>
  <ScaleCrop>false</ScaleCrop>
  <HeadingPairs>
    <vt:vector size="8" baseType="variant">
      <vt:variant>
        <vt:lpstr>Fonts Used</vt:lpstr>
      </vt:variant>
      <vt:variant>
        <vt:i4>2</vt:i4>
      </vt:variant>
      <vt:variant>
        <vt:lpstr>Theme</vt:lpstr>
      </vt:variant>
      <vt:variant>
        <vt:i4>2</vt:i4>
      </vt:variant>
      <vt:variant>
        <vt:lpstr>Embedded OLE Servers</vt:lpstr>
      </vt:variant>
      <vt:variant>
        <vt:i4>1</vt:i4>
      </vt:variant>
      <vt:variant>
        <vt:lpstr>Slide Titles</vt:lpstr>
      </vt:variant>
      <vt:variant>
        <vt:i4>52</vt:i4>
      </vt:variant>
    </vt:vector>
  </HeadingPairs>
  <TitlesOfParts>
    <vt:vector size="57" baseType="lpstr">
      <vt:lpstr>Arial</vt:lpstr>
      <vt:lpstr>Calibri</vt:lpstr>
      <vt:lpstr>Office Theme</vt:lpstr>
      <vt:lpstr>1_Office Theme</vt:lpstr>
      <vt:lpstr>Equation</vt:lpstr>
      <vt:lpstr>PowerPoint Presentation</vt:lpstr>
      <vt:lpstr>Energy Storage Elements  Weeks 11-12  Reading: Nilsson &amp; Riedel Chapter 6</vt:lpstr>
      <vt:lpstr>Introduction</vt:lpstr>
      <vt:lpstr>Capacitor</vt:lpstr>
      <vt:lpstr>Capacitor</vt:lpstr>
      <vt:lpstr>Capacitor</vt:lpstr>
      <vt:lpstr>   Capacitor Power and Energy</vt:lpstr>
      <vt:lpstr>   Example (Johnson &amp; Johnson)</vt:lpstr>
      <vt:lpstr>   Example (Johnson &amp; Johnson)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vt:lpstr>
      <vt:lpstr>Example</vt:lpstr>
      <vt:lpstr>Example</vt:lpstr>
      <vt:lpstr>Series and Parallel Capacitors</vt:lpstr>
      <vt:lpstr>Series and Parallel Capacitors</vt:lpstr>
      <vt:lpstr>Example</vt:lpstr>
      <vt:lpstr>Example</vt:lpstr>
      <vt:lpstr>Example : Capacitor Voltage/Current Division</vt:lpstr>
      <vt:lpstr>Example : Capacitor Voltage/Current Division</vt:lpstr>
      <vt:lpstr>Example : Capacitor Voltage/Current Division</vt:lpstr>
      <vt:lpstr>Example : Capacitor Voltage/Current Division</vt:lpstr>
      <vt:lpstr>Inductor</vt:lpstr>
      <vt:lpstr>Inductor</vt:lpstr>
      <vt:lpstr>Inductor Power and Energy</vt:lpstr>
      <vt:lpstr>Example (Johnson&amp;Johnson)</vt:lpstr>
      <vt:lpstr>Example (Johnson&amp;Johnson)</vt:lpstr>
      <vt:lpstr>Example (Johnson&amp;Johnson)</vt:lpstr>
      <vt:lpstr>Example (Johnson&amp;Johnson)</vt:lpstr>
      <vt:lpstr>Series and Parallel Inductors</vt:lpstr>
      <vt:lpstr>Series and Parallel Inductors</vt:lpstr>
      <vt:lpstr>Example</vt:lpstr>
      <vt:lpstr>Example</vt:lpstr>
      <vt:lpstr>Example : Inductor Voltage/Current Division</vt:lpstr>
      <vt:lpstr>Example : Inductor Voltage/Current Division</vt:lpstr>
      <vt:lpstr>Example : Inductor Voltage/Current Division</vt:lpstr>
      <vt:lpstr>Example : Inductor Voltage/Current Division</vt:lpstr>
      <vt:lpstr>DC Steady State</vt:lpstr>
      <vt:lpstr>Example</vt:lpstr>
      <vt:lpstr>Example</vt:lpstr>
      <vt:lpstr>Example</vt:lpstr>
      <vt:lpstr>Example</vt:lpstr>
      <vt:lpstr> Practical Capacitors and Inductors</vt:lpstr>
    </vt:vector>
  </TitlesOfParts>
  <Company>Muhtaroglu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Signals and Systems I EEE-301 Lecture Notes</dc:title>
  <dc:creator>Ali</dc:creator>
  <cp:lastModifiedBy>Yağmur CAN</cp:lastModifiedBy>
  <cp:revision>568</cp:revision>
  <dcterms:created xsi:type="dcterms:W3CDTF">2007-08-31T13:08:21Z</dcterms:created>
  <dcterms:modified xsi:type="dcterms:W3CDTF">2024-01-19T20:16:58Z</dcterms:modified>
</cp:coreProperties>
</file>