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  <p:sldMasterId id="2147483686" r:id="rId3"/>
  </p:sldMasterIdLst>
  <p:notesMasterIdLst>
    <p:notesMasterId r:id="rId48"/>
  </p:notesMasterIdLst>
  <p:handoutMasterIdLst>
    <p:handoutMasterId r:id="rId49"/>
  </p:handoutMasterIdLst>
  <p:sldIdLst>
    <p:sldId id="464" r:id="rId4"/>
    <p:sldId id="291" r:id="rId5"/>
    <p:sldId id="465" r:id="rId6"/>
    <p:sldId id="466" r:id="rId7"/>
    <p:sldId id="467" r:id="rId8"/>
    <p:sldId id="468" r:id="rId9"/>
    <p:sldId id="469" r:id="rId10"/>
    <p:sldId id="470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90" r:id="rId27"/>
    <p:sldId id="491" r:id="rId28"/>
    <p:sldId id="492" r:id="rId29"/>
    <p:sldId id="493" r:id="rId30"/>
    <p:sldId id="494" r:id="rId31"/>
    <p:sldId id="495" r:id="rId32"/>
    <p:sldId id="507" r:id="rId33"/>
    <p:sldId id="508" r:id="rId34"/>
    <p:sldId id="509" r:id="rId35"/>
    <p:sldId id="510" r:id="rId36"/>
    <p:sldId id="511" r:id="rId37"/>
    <p:sldId id="512" r:id="rId38"/>
    <p:sldId id="513" r:id="rId39"/>
    <p:sldId id="514" r:id="rId40"/>
    <p:sldId id="515" r:id="rId41"/>
    <p:sldId id="516" r:id="rId42"/>
    <p:sldId id="517" r:id="rId43"/>
    <p:sldId id="518" r:id="rId44"/>
    <p:sldId id="519" r:id="rId45"/>
    <p:sldId id="520" r:id="rId46"/>
    <p:sldId id="521" r:id="rId47"/>
  </p:sldIdLst>
  <p:sldSz cx="9144000" cy="6858000" type="screen4x3"/>
  <p:notesSz cx="6791325" cy="99234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 autoAdjust="0"/>
    <p:restoredTop sz="94604" autoAdjust="0"/>
  </p:normalViewPr>
  <p:slideViewPr>
    <p:cSldViewPr>
      <p:cViewPr varScale="1">
        <p:scale>
          <a:sx n="82" d="100"/>
          <a:sy n="82" d="100"/>
        </p:scale>
        <p:origin x="14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88"/>
    </p:cViewPr>
  </p:sorterViewPr>
  <p:notesViewPr>
    <p:cSldViewPr>
      <p:cViewPr varScale="1">
        <p:scale>
          <a:sx n="58" d="100"/>
          <a:sy n="58" d="100"/>
        </p:scale>
        <p:origin x="-1968" y="-86"/>
      </p:cViewPr>
      <p:guideLst>
        <p:guide orient="horz" pos="3126"/>
        <p:guide pos="214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88317F73-780A-44BC-8CEB-6A904FAD50C3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r>
              <a:rPr lang="en-US" dirty="0"/>
              <a:t>Ali Muhtaroglu EEE-201 Fall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14CCCDEF-E892-426B-951E-3DF22639A0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4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FEE8148B-16E5-4DB6-B21A-06F7282DA7B2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6125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720" tIns="44360" rIns="88720" bIns="4436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33" y="4713647"/>
            <a:ext cx="5433060" cy="4465558"/>
          </a:xfrm>
          <a:prstGeom prst="rect">
            <a:avLst/>
          </a:prstGeom>
        </p:spPr>
        <p:txBody>
          <a:bodyPr vert="horz" lIns="88720" tIns="44360" rIns="88720" bIns="4436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E15A28F2-8CAD-4F56-A39E-6A4BC478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6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A28F2-8CAD-4F56-A39E-6A4BC478584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04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57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405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5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701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6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454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7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3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8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901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9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255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10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245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11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973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12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0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13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534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14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867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15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08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16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41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17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2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18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869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19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25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20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550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21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829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22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253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23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9641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24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02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25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268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26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065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27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5296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28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612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29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309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30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9340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31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1621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32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051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33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465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34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4399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35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86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36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4129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37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0051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38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141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39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4724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40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4783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41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2669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42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1125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43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6738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>
                <a:solidFill>
                  <a:prstClr val="black"/>
                </a:solidFill>
              </a:rPr>
              <a:pPr/>
              <a:t>44</a:t>
            </a:fld>
            <a:endParaRPr lang="tr-T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75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 smtClean="0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88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97540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16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22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42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44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4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89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4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822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26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8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214414" cy="365125"/>
          </a:xfrm>
        </p:spPr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9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429652" y="6492875"/>
            <a:ext cx="714348" cy="365125"/>
          </a:xfrm>
        </p:spPr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84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1173-E228-4747-BEA6-E232A25715D8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0389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8F1F0-6D18-49D5-81B0-C1917FED9A0F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518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FEF7D-8D63-48EE-B08D-B8C8DBB01AB1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057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08C5-AE9B-46A6-B775-BA722938FA12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049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75DB0-25EB-4FC3-B696-29D893B2D8C3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5683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9C49-5176-4AAB-8181-8BDCD1C486D8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53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B2E4-7841-4A2F-9D71-29B58FA5181C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51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61FDA-5F4B-466F-8871-3641DFF2BAC1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86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9FEBE-6618-4554-8ACF-5C1712825581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81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D48A-6C47-4F4B-87C8-69592B8C46F3}" type="datetime1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18.01.2024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7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/>
              <a:pPr>
                <a:defRPr/>
              </a:pPr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35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3B820E-BA69-4924-999E-39A996BC335B}" type="datetime1">
              <a:rPr lang="tr-TR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18.01.2024</a:t>
            </a:fld>
            <a:endParaRPr lang="tr-TR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>
                <a:solidFill>
                  <a:prstClr val="black">
                    <a:tint val="75000"/>
                  </a:prstClr>
                </a:solidFill>
                <a:latin typeface="Calibri"/>
              </a:rPr>
              <a:t>Ali Muhtaroglu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183E94-C876-4765-A45A-C465A5CB908C}" type="slidenum">
              <a:rPr lang="tr-TR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tr-TR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223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6.wmf"/><Relationship Id="rId3" Type="http://schemas.openxmlformats.org/officeDocument/2006/relationships/image" Target="../media/image9.e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2.w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7.emf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4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19" Type="http://schemas.openxmlformats.org/officeDocument/2006/relationships/image" Target="../media/image30.e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5.wmf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30.bin"/><Relationship Id="rId17" Type="http://schemas.openxmlformats.org/officeDocument/2006/relationships/oleObject" Target="../embeddings/oleObject33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6.w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2.wmf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2.bin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8.bin"/><Relationship Id="rId14" Type="http://schemas.openxmlformats.org/officeDocument/2006/relationships/oleObject" Target="../embeddings/oleObject3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8.emf"/><Relationship Id="rId7" Type="http://schemas.openxmlformats.org/officeDocument/2006/relationships/image" Target="../media/image4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2.emf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6.w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45.bin"/><Relationship Id="rId3" Type="http://schemas.openxmlformats.org/officeDocument/2006/relationships/image" Target="../media/image42.emf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7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6.w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4.e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0.wmf"/><Relationship Id="rId11" Type="http://schemas.openxmlformats.org/officeDocument/2006/relationships/image" Target="../media/image53.wmf"/><Relationship Id="rId5" Type="http://schemas.openxmlformats.org/officeDocument/2006/relationships/oleObject" Target="../embeddings/oleObject47.bin"/><Relationship Id="rId10" Type="http://schemas.openxmlformats.org/officeDocument/2006/relationships/oleObject" Target="../embeddings/oleObject49.bin"/><Relationship Id="rId4" Type="http://schemas.openxmlformats.org/officeDocument/2006/relationships/image" Target="../media/image28.wmf"/><Relationship Id="rId9" Type="http://schemas.openxmlformats.org/officeDocument/2006/relationships/image" Target="../media/image5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7.bin"/><Relationship Id="rId18" Type="http://schemas.openxmlformats.org/officeDocument/2006/relationships/oleObject" Target="../embeddings/oleObject59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1.wmf"/><Relationship Id="rId17" Type="http://schemas.openxmlformats.org/officeDocument/2006/relationships/image" Target="../media/image56.wmf"/><Relationship Id="rId2" Type="http://schemas.openxmlformats.org/officeDocument/2006/relationships/notesSlide" Target="../notesSlides/notesSlide16.xml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image" Target="../media/image55.emf"/><Relationship Id="rId10" Type="http://schemas.openxmlformats.org/officeDocument/2006/relationships/image" Target="../media/image28.wmf"/><Relationship Id="rId19" Type="http://schemas.openxmlformats.org/officeDocument/2006/relationships/image" Target="../media/image57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5.emf"/><Relationship Id="rId5" Type="http://schemas.openxmlformats.org/officeDocument/2006/relationships/image" Target="../media/image63.emf"/><Relationship Id="rId4" Type="http://schemas.openxmlformats.org/officeDocument/2006/relationships/image" Target="../media/image6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2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7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1.wmf"/><Relationship Id="rId3" Type="http://schemas.openxmlformats.org/officeDocument/2006/relationships/image" Target="../media/image72.e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7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28.wmf"/><Relationship Id="rId9" Type="http://schemas.openxmlformats.org/officeDocument/2006/relationships/image" Target="../media/image76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28.wmf"/><Relationship Id="rId9" Type="http://schemas.openxmlformats.org/officeDocument/2006/relationships/image" Target="../media/image7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4.wmf"/><Relationship Id="rId3" Type="http://schemas.openxmlformats.org/officeDocument/2006/relationships/image" Target="../media/image76.e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9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76.emf"/><Relationship Id="rId21" Type="http://schemas.openxmlformats.org/officeDocument/2006/relationships/image" Target="../media/image74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2.wmf"/><Relationship Id="rId2" Type="http://schemas.openxmlformats.org/officeDocument/2006/relationships/notesSlide" Target="../notesSlides/notesSlide26.xml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79.wmf"/><Relationship Id="rId5" Type="http://schemas.openxmlformats.org/officeDocument/2006/relationships/image" Target="../media/image75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76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7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9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2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9.emf"/><Relationship Id="rId7" Type="http://schemas.openxmlformats.org/officeDocument/2006/relationships/oleObject" Target="../embeddings/oleObject100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0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5.wmf"/><Relationship Id="rId3" Type="http://schemas.openxmlformats.org/officeDocument/2006/relationships/image" Target="../media/image89.emf"/><Relationship Id="rId7" Type="http://schemas.openxmlformats.org/officeDocument/2006/relationships/oleObject" Target="../embeddings/oleObject102.bin"/><Relationship Id="rId12" Type="http://schemas.openxmlformats.org/officeDocument/2006/relationships/oleObject" Target="../embeddings/oleObject104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1.wmf"/><Relationship Id="rId11" Type="http://schemas.openxmlformats.org/officeDocument/2006/relationships/image" Target="../media/image94.wmf"/><Relationship Id="rId5" Type="http://schemas.openxmlformats.org/officeDocument/2006/relationships/oleObject" Target="../embeddings/oleObject101.bin"/><Relationship Id="rId10" Type="http://schemas.openxmlformats.org/officeDocument/2006/relationships/oleObject" Target="../embeddings/oleObject103.bin"/><Relationship Id="rId4" Type="http://schemas.openxmlformats.org/officeDocument/2006/relationships/image" Target="../media/image90.emf"/><Relationship Id="rId9" Type="http://schemas.openxmlformats.org/officeDocument/2006/relationships/image" Target="../media/image93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5.wmf"/><Relationship Id="rId18" Type="http://schemas.openxmlformats.org/officeDocument/2006/relationships/image" Target="../media/image98.wmf"/><Relationship Id="rId3" Type="http://schemas.openxmlformats.org/officeDocument/2006/relationships/image" Target="../media/image89.emf"/><Relationship Id="rId7" Type="http://schemas.openxmlformats.org/officeDocument/2006/relationships/oleObject" Target="../embeddings/oleObject106.bin"/><Relationship Id="rId12" Type="http://schemas.openxmlformats.org/officeDocument/2006/relationships/oleObject" Target="../embeddings/oleObject108.bin"/><Relationship Id="rId17" Type="http://schemas.openxmlformats.org/officeDocument/2006/relationships/oleObject" Target="../embeddings/oleObject110.bin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97.w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1.wmf"/><Relationship Id="rId11" Type="http://schemas.openxmlformats.org/officeDocument/2006/relationships/image" Target="../media/image94.w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09.bin"/><Relationship Id="rId10" Type="http://schemas.openxmlformats.org/officeDocument/2006/relationships/oleObject" Target="../embeddings/oleObject107.bin"/><Relationship Id="rId4" Type="http://schemas.openxmlformats.org/officeDocument/2006/relationships/image" Target="../media/image90.emf"/><Relationship Id="rId9" Type="http://schemas.openxmlformats.org/officeDocument/2006/relationships/image" Target="../media/image93.emf"/><Relationship Id="rId14" Type="http://schemas.openxmlformats.org/officeDocument/2006/relationships/image" Target="../media/image96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89.emf"/><Relationship Id="rId7" Type="http://schemas.openxmlformats.org/officeDocument/2006/relationships/oleObject" Target="../embeddings/oleObject112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99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89.emf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03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02.w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115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1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7" Type="http://schemas.openxmlformats.org/officeDocument/2006/relationships/image" Target="../media/image10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04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06.emf"/><Relationship Id="rId3" Type="http://schemas.openxmlformats.org/officeDocument/2006/relationships/image" Target="../media/image107.emf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05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04.emf"/><Relationship Id="rId4" Type="http://schemas.openxmlformats.org/officeDocument/2006/relationships/image" Target="../media/image108.emf"/><Relationship Id="rId9" Type="http://schemas.openxmlformats.org/officeDocument/2006/relationships/oleObject" Target="../embeddings/oleObject12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0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16.wmf"/><Relationship Id="rId3" Type="http://schemas.openxmlformats.org/officeDocument/2006/relationships/image" Target="../media/image111.e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127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15.wmf"/><Relationship Id="rId5" Type="http://schemas.openxmlformats.org/officeDocument/2006/relationships/image" Target="../media/image113.e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126.bin"/><Relationship Id="rId4" Type="http://schemas.openxmlformats.org/officeDocument/2006/relationships/image" Target="../media/image112.emf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2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1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7" Type="http://schemas.openxmlformats.org/officeDocument/2006/relationships/image" Target="../media/image121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1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oleObject" Target="../embeddings/oleObject133.bin"/><Relationship Id="rId7" Type="http://schemas.openxmlformats.org/officeDocument/2006/relationships/image" Target="../media/image121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2209800"/>
          </a:xfrm>
        </p:spPr>
        <p:txBody>
          <a:bodyPr/>
          <a:lstStyle/>
          <a:p>
            <a:r>
              <a:rPr lang="tr-TR" sz="2000" dirty="0">
                <a:solidFill>
                  <a:schemeClr val="tx1"/>
                </a:solidFill>
              </a:rPr>
              <a:t>Dr. </a:t>
            </a:r>
            <a:r>
              <a:rPr lang="en-US" sz="2000" dirty="0">
                <a:solidFill>
                  <a:schemeClr val="tx1"/>
                </a:solidFill>
              </a:rPr>
              <a:t>Özçel </a:t>
            </a:r>
            <a:r>
              <a:rPr lang="en-US" sz="2000" dirty="0" err="1">
                <a:solidFill>
                  <a:schemeClr val="tx1"/>
                </a:solidFill>
              </a:rPr>
              <a:t>Cangül</a:t>
            </a:r>
            <a:endParaRPr lang="tr-TR" sz="2000" dirty="0">
              <a:solidFill>
                <a:schemeClr val="tx1"/>
              </a:solidFill>
            </a:endParaRPr>
          </a:p>
          <a:p>
            <a:r>
              <a:rPr lang="tr-TR" sz="2000" dirty="0">
                <a:solidFill>
                  <a:schemeClr val="tx1"/>
                </a:solidFill>
              </a:rPr>
              <a:t>Lecture Notes by: </a:t>
            </a:r>
            <a:r>
              <a:rPr lang="en-US" sz="2000" dirty="0">
                <a:solidFill>
                  <a:schemeClr val="tx1"/>
                </a:solidFill>
              </a:rPr>
              <a:t>Dr. Ali </a:t>
            </a:r>
            <a:r>
              <a:rPr lang="en-US" sz="2000" dirty="0" err="1">
                <a:solidFill>
                  <a:schemeClr val="tx1"/>
                </a:solidFill>
              </a:rPr>
              <a:t>Muhtaroğlu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Fall 2023</a:t>
            </a:r>
          </a:p>
          <a:p>
            <a:r>
              <a:rPr lang="en-US" sz="2000" dirty="0">
                <a:solidFill>
                  <a:schemeClr val="tx1"/>
                </a:solidFill>
              </a:rPr>
              <a:t>METU Northern Cyprus Campus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691625" y="4734461"/>
            <a:ext cx="6183206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u="sng" dirty="0">
                <a:solidFill>
                  <a:prstClr val="black"/>
                </a:solidFill>
                <a:latin typeface="Calibri" pitchFamily="34" charset="0"/>
              </a:rPr>
              <a:t>References: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 Circuits 10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by </a:t>
            </a:r>
            <a:r>
              <a:rPr lang="tr-TR" sz="1600" dirty="0">
                <a:solidFill>
                  <a:prstClr val="black"/>
                </a:solidFill>
                <a:latin typeface="Calibri"/>
              </a:rPr>
              <a:t>Nilsson &amp; Riedel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Electrical Circuit Analysis 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Johnson, Johnson,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Hilburn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Scott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Engineering Circuit Analysis 7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Hayt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Kemmerly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Durbin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Fundamentals of Electric Circuits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Alexander, and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Sadiku</a:t>
            </a:r>
            <a:endParaRPr lang="en-US" sz="16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85800" y="381000"/>
            <a:ext cx="777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tr-TR" sz="3200"/>
              <a:t>Electrical Circuits</a:t>
            </a:r>
            <a:br>
              <a:rPr lang="en-US" sz="3200"/>
            </a:br>
            <a:r>
              <a:rPr lang="en-US" sz="3200"/>
              <a:t>EEE-2</a:t>
            </a:r>
            <a:r>
              <a:rPr lang="tr-TR" sz="3200"/>
              <a:t>8</a:t>
            </a:r>
            <a:r>
              <a:rPr lang="en-US" sz="3200"/>
              <a:t>1 Lecture Notes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645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790700"/>
            <a:ext cx="8229600" cy="2819400"/>
          </a:xfrm>
        </p:spPr>
        <p:txBody>
          <a:bodyPr/>
          <a:lstStyle/>
          <a:p>
            <a:r>
              <a:rPr lang="tr-TR" sz="3600" dirty="0"/>
              <a:t>First </a:t>
            </a:r>
            <a:r>
              <a:rPr lang="tr-TR" sz="3600" dirty="0" err="1"/>
              <a:t>Order</a:t>
            </a:r>
            <a:r>
              <a:rPr lang="tr-TR" sz="3600" dirty="0"/>
              <a:t> </a:t>
            </a:r>
            <a:r>
              <a:rPr lang="tr-TR" sz="3600" dirty="0" err="1"/>
              <a:t>Circuits</a:t>
            </a:r>
            <a:br>
              <a:rPr lang="en-US" sz="3600" dirty="0"/>
            </a:br>
            <a:br>
              <a:rPr lang="en-US" sz="3600" dirty="0"/>
            </a:br>
            <a:r>
              <a:rPr lang="en-US" sz="3600" i="1" dirty="0"/>
              <a:t>Weeks </a:t>
            </a:r>
            <a:r>
              <a:rPr lang="tr-TR" sz="3600" i="1" dirty="0"/>
              <a:t>1</a:t>
            </a:r>
            <a:r>
              <a:rPr lang="en-US" sz="3600" i="1" dirty="0"/>
              <a:t>3-14</a:t>
            </a:r>
            <a:br>
              <a:rPr lang="tr-TR" sz="3600" i="1" dirty="0"/>
            </a:br>
            <a:br>
              <a:rPr lang="tr-TR" sz="3600" i="1" dirty="0"/>
            </a:br>
            <a:r>
              <a:rPr lang="tr-TR" sz="3600" i="1" dirty="0">
                <a:solidFill>
                  <a:srgbClr val="0000FF"/>
                </a:solidFill>
              </a:rPr>
              <a:t>Reading: </a:t>
            </a:r>
            <a:r>
              <a:rPr lang="tr-TR" sz="3600" i="1" dirty="0" err="1">
                <a:solidFill>
                  <a:srgbClr val="0000FF"/>
                </a:solidFill>
              </a:rPr>
              <a:t>Nilsson</a:t>
            </a:r>
            <a:r>
              <a:rPr lang="tr-TR" sz="3600" i="1" dirty="0">
                <a:solidFill>
                  <a:srgbClr val="0000FF"/>
                </a:solidFill>
              </a:rPr>
              <a:t> &amp; </a:t>
            </a:r>
            <a:r>
              <a:rPr lang="tr-TR" sz="3600" i="1" dirty="0" err="1">
                <a:solidFill>
                  <a:srgbClr val="0000FF"/>
                </a:solidFill>
              </a:rPr>
              <a:t>Riedel</a:t>
            </a:r>
            <a:r>
              <a:rPr lang="tr-TR" sz="3600" i="1" dirty="0">
                <a:solidFill>
                  <a:srgbClr val="0000FF"/>
                </a:solidFill>
              </a:rPr>
              <a:t> </a:t>
            </a:r>
            <a:r>
              <a:rPr lang="tr-TR" sz="3600" i="1" dirty="0" err="1">
                <a:solidFill>
                  <a:srgbClr val="0000FF"/>
                </a:solidFill>
              </a:rPr>
              <a:t>Chapter</a:t>
            </a:r>
            <a:r>
              <a:rPr lang="tr-TR" sz="3600" i="1" dirty="0">
                <a:solidFill>
                  <a:srgbClr val="0000FF"/>
                </a:solidFill>
              </a:rPr>
              <a:t> 7</a:t>
            </a:r>
            <a:endParaRPr lang="en-US" sz="3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ctrTitle"/>
          </p:nvPr>
        </p:nvSpPr>
        <p:spPr>
          <a:xfrm>
            <a:off x="785786" y="0"/>
            <a:ext cx="6500858" cy="1112835"/>
          </a:xfrm>
        </p:spPr>
        <p:txBody>
          <a:bodyPr>
            <a:normAutofit/>
          </a:bodyPr>
          <a:lstStyle/>
          <a:p>
            <a:r>
              <a:rPr lang="tr-TR" sz="3200" dirty="0" err="1"/>
              <a:t>Introduction</a:t>
            </a:r>
            <a:endParaRPr lang="tr-TR" sz="4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00034" y="1142984"/>
            <a:ext cx="8229600" cy="49117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Calibri"/>
              </a:rPr>
              <a:t>When we add resistive circuits to a </a:t>
            </a:r>
            <a:r>
              <a:rPr lang="en-US" sz="2600" b="1" i="1" dirty="0">
                <a:solidFill>
                  <a:prstClr val="black"/>
                </a:solidFill>
                <a:latin typeface="Calibri"/>
              </a:rPr>
              <a:t>single</a:t>
            </a:r>
            <a:r>
              <a:rPr lang="en-US" sz="2600" dirty="0">
                <a:solidFill>
                  <a:prstClr val="black"/>
                </a:solidFill>
                <a:latin typeface="Calibri"/>
              </a:rPr>
              <a:t> storage element, the resulting circuit is called a </a:t>
            </a:r>
            <a:r>
              <a:rPr lang="en-US" sz="2600" b="1" i="1" dirty="0">
                <a:solidFill>
                  <a:prstClr val="black"/>
                </a:solidFill>
                <a:latin typeface="Calibri"/>
              </a:rPr>
              <a:t>first-order circuit</a:t>
            </a:r>
            <a:r>
              <a:rPr lang="en-US" sz="2600" dirty="0">
                <a:solidFill>
                  <a:prstClr val="black"/>
                </a:solidFill>
                <a:latin typeface="Calibri"/>
              </a:rPr>
              <a:t>, because the</a:t>
            </a:r>
            <a:r>
              <a:rPr lang="tr-TR" sz="2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/>
              </a:rPr>
              <a:t>circuit is characterized by a first-order differential equation.</a:t>
            </a: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sz="2600" dirty="0">
              <a:solidFill>
                <a:prstClr val="black"/>
              </a:solidFill>
              <a:latin typeface="Calibri"/>
            </a:endParaRPr>
          </a:p>
          <a:p>
            <a:pPr marL="514350" indent="-5143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tr-TR" sz="2600" dirty="0">
                <a:solidFill>
                  <a:prstClr val="black"/>
                </a:solidFill>
                <a:latin typeface="Calibri"/>
              </a:rPr>
              <a:t>Will next study:</a:t>
            </a:r>
            <a:endParaRPr lang="en-US" sz="2600" dirty="0">
              <a:solidFill>
                <a:prstClr val="black"/>
              </a:solidFill>
              <a:latin typeface="Calibri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Circuits without independent sources :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Natural response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due to initial energy stored</a:t>
            </a: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Circuits with DC sources : Two additive responses apply –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natural response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, and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forced response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due to the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independent sources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971550" lvl="1" indent="-514350" algn="just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Circuits with non-DC sources: Responses to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step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pulse 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sources.</a:t>
            </a:r>
          </a:p>
        </p:txBody>
      </p:sp>
    </p:spTree>
    <p:extLst>
      <p:ext uri="{BB962C8B-B14F-4D97-AF65-F5344CB8AC3E}">
        <p14:creationId xmlns:p14="http://schemas.microsoft.com/office/powerpoint/2010/main" val="302868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ctrTitle"/>
          </p:nvPr>
        </p:nvSpPr>
        <p:spPr>
          <a:xfrm>
            <a:off x="142844" y="71438"/>
            <a:ext cx="7286676" cy="1142984"/>
          </a:xfrm>
        </p:spPr>
        <p:txBody>
          <a:bodyPr>
            <a:normAutofit/>
          </a:bodyPr>
          <a:lstStyle/>
          <a:p>
            <a:r>
              <a:rPr lang="en-US" sz="3200" dirty="0"/>
              <a:t>Natural Response of a Simple RC Circuit </a:t>
            </a:r>
            <a:br>
              <a:rPr lang="en-US" sz="3200" dirty="0"/>
            </a:br>
            <a:r>
              <a:rPr lang="en-US" sz="3200" dirty="0"/>
              <a:t>(without sources)</a:t>
            </a:r>
            <a:endParaRPr lang="tr-TR" sz="3200" dirty="0"/>
          </a:p>
        </p:txBody>
      </p:sp>
      <p:sp>
        <p:nvSpPr>
          <p:cNvPr id="8" name="7 Dikdörtgen"/>
          <p:cNvSpPr/>
          <p:nvPr/>
        </p:nvSpPr>
        <p:spPr>
          <a:xfrm>
            <a:off x="357158" y="1285860"/>
            <a:ext cx="84296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Assumption: The capacitor is already charged (by whatever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means) to voltage V</a:t>
            </a:r>
            <a:r>
              <a:rPr lang="en-US" sz="24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at the initial time, or </a:t>
            </a:r>
            <a:r>
              <a:rPr lang="en-US" sz="2400" i="1" dirty="0">
                <a:solidFill>
                  <a:prstClr val="black"/>
                </a:solidFill>
                <a:latin typeface="Calibri"/>
              </a:rPr>
              <a:t>t=0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.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2714612" y="3000372"/>
            <a:ext cx="27126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KCL at the top node: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2714612" y="2285992"/>
            <a:ext cx="4044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Need to determine v(t) for t&gt;0: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5429256" y="2857496"/>
          <a:ext cx="3214710" cy="73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393480" progId="Equation.3">
                  <p:embed/>
                </p:oleObj>
              </mc:Choice>
              <mc:Fallback>
                <p:oleObj name="Equation" r:id="rId3" imgW="1714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6" y="2857496"/>
                        <a:ext cx="3214710" cy="738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12 Dikdörtgen"/>
          <p:cNvSpPr/>
          <p:nvPr/>
        </p:nvSpPr>
        <p:spPr>
          <a:xfrm>
            <a:off x="428596" y="3896029"/>
            <a:ext cx="66206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which results in the first-order differential equation: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7192161" y="3786190"/>
          <a:ext cx="1451805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393480" progId="Equation.3">
                  <p:embed/>
                </p:oleObj>
              </mc:Choice>
              <mc:Fallback>
                <p:oleObj name="Equation" r:id="rId5" imgW="799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161" y="3786190"/>
                        <a:ext cx="1451805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Dikdörtgen"/>
          <p:cNvSpPr/>
          <p:nvPr/>
        </p:nvSpPr>
        <p:spPr>
          <a:xfrm>
            <a:off x="428596" y="4714884"/>
            <a:ext cx="1156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400" dirty="0" err="1">
                <a:solidFill>
                  <a:prstClr val="black"/>
                </a:solidFill>
                <a:latin typeface="Calibri"/>
              </a:rPr>
              <a:t>Solving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1685925" y="4686300"/>
          <a:ext cx="73437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13200" imgH="393480" progId="Equation.3">
                  <p:embed/>
                </p:oleObj>
              </mc:Choice>
              <mc:Fallback>
                <p:oleObj name="Equation" r:id="rId7" imgW="4813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4686300"/>
                        <a:ext cx="73437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17525" y="5643563"/>
          <a:ext cx="55372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76360" imgH="241200" progId="Equation.3">
                  <p:embed/>
                </p:oleObj>
              </mc:Choice>
              <mc:Fallback>
                <p:oleObj name="Equation" r:id="rId9" imgW="3276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5643563"/>
                        <a:ext cx="55372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6429388" y="5786454"/>
          <a:ext cx="2255937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52200" imgH="241200" progId="Equation.3">
                  <p:embed/>
                </p:oleObj>
              </mc:Choice>
              <mc:Fallback>
                <p:oleObj name="Equation" r:id="rId11" imgW="952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8" y="5786454"/>
                        <a:ext cx="2255937" cy="571504"/>
                      </a:xfrm>
                      <a:prstGeom prst="rect">
                        <a:avLst/>
                      </a:prstGeom>
                      <a:solidFill>
                        <a:srgbClr val="C0C0C0">
                          <a:alpha val="85001"/>
                        </a:srgbClr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00034" y="2129056"/>
            <a:ext cx="1643074" cy="172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6185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142984"/>
            <a:ext cx="1857389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143636" y="3071810"/>
          <a:ext cx="1692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393480" progId="Equation.3">
                  <p:embed/>
                </p:oleObj>
              </mc:Choice>
              <mc:Fallback>
                <p:oleObj name="Equation" r:id="rId4" imgW="952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6" y="3071810"/>
                        <a:ext cx="16922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9696">
                                <a:alpha val="85001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57488" y="1487978"/>
            <a:ext cx="281287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Dikdörtgen"/>
          <p:cNvSpPr/>
          <p:nvPr/>
        </p:nvSpPr>
        <p:spPr>
          <a:xfrm>
            <a:off x="357158" y="2928934"/>
            <a:ext cx="6000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Conservation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of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Energy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 energy at initial time (t=0) stored in the capacitor: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2571736" y="1071546"/>
          <a:ext cx="16922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200" imgH="241200" progId="Equation.3">
                  <p:embed/>
                </p:oleObj>
              </mc:Choice>
              <mc:Fallback>
                <p:oleObj name="Equation" r:id="rId7" imgW="952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1071546"/>
                        <a:ext cx="16922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9696">
                                <a:alpha val="85001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13 Dikdörtgen"/>
          <p:cNvSpPr/>
          <p:nvPr/>
        </p:nvSpPr>
        <p:spPr>
          <a:xfrm>
            <a:off x="4429124" y="1142984"/>
            <a:ext cx="34499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Natural response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of the circuit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14 Dikdörtgen"/>
          <p:cNvSpPr/>
          <p:nvPr/>
        </p:nvSpPr>
        <p:spPr>
          <a:xfrm>
            <a:off x="428596" y="3714752"/>
            <a:ext cx="16481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At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any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time t :</a:t>
            </a:r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2108200" y="3571875"/>
          <a:ext cx="528478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69920" imgH="634680" progId="Equation.3">
                  <p:embed/>
                </p:oleObj>
              </mc:Choice>
              <mc:Fallback>
                <p:oleObj name="Equation" r:id="rId9" imgW="286992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3571875"/>
                        <a:ext cx="5284788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17 Dikdörtgen"/>
          <p:cNvSpPr/>
          <p:nvPr/>
        </p:nvSpPr>
        <p:spPr>
          <a:xfrm>
            <a:off x="214282" y="4572008"/>
            <a:ext cx="8643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As t 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the stored energy in the capacitor decays to 0. Through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conservation of energy, the lost energy has to go somewhere in the system: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642910" y="4696363"/>
          <a:ext cx="571504" cy="2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20" imgH="139680" progId="Equation.3">
                  <p:embed/>
                </p:oleObj>
              </mc:Choice>
              <mc:Fallback>
                <p:oleObj name="Equation" r:id="rId11" imgW="3427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4696363"/>
                        <a:ext cx="571504" cy="232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285720" y="5214950"/>
          <a:ext cx="8072494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194080" imgH="507960" progId="Equation.3">
                  <p:embed/>
                </p:oleObj>
              </mc:Choice>
              <mc:Fallback>
                <p:oleObj name="Equation" r:id="rId13" imgW="51940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5214950"/>
                        <a:ext cx="8072494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0" name="Object 12"/>
          <p:cNvGraphicFramePr>
            <a:graphicFrameLocks noChangeAspect="1"/>
          </p:cNvGraphicFramePr>
          <p:nvPr/>
        </p:nvGraphicFramePr>
        <p:xfrm>
          <a:off x="768350" y="5786438"/>
          <a:ext cx="57324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49560" imgH="393480" progId="Equation.3">
                  <p:embed/>
                </p:oleObj>
              </mc:Choice>
              <mc:Fallback>
                <p:oleObj name="Equation" r:id="rId15" imgW="3949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5786438"/>
                        <a:ext cx="57324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1960563" y="6357938"/>
          <a:ext cx="35718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0" imgH="228600" progId="Equation.3">
                  <p:embed/>
                </p:oleObj>
              </mc:Choice>
              <mc:Fallback>
                <p:oleObj name="Equation" r:id="rId17" imgW="228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6357938"/>
                        <a:ext cx="35718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1" name="5 Başlık"/>
          <p:cNvSpPr>
            <a:spLocks noGrp="1"/>
          </p:cNvSpPr>
          <p:nvPr>
            <p:ph type="ctrTitle"/>
          </p:nvPr>
        </p:nvSpPr>
        <p:spPr>
          <a:xfrm>
            <a:off x="142844" y="71438"/>
            <a:ext cx="7286676" cy="1142984"/>
          </a:xfrm>
        </p:spPr>
        <p:txBody>
          <a:bodyPr>
            <a:normAutofit/>
          </a:bodyPr>
          <a:lstStyle/>
          <a:p>
            <a:r>
              <a:rPr lang="en-US" sz="3200" dirty="0"/>
              <a:t>Natural Response of a Simple RC Circuit </a:t>
            </a:r>
            <a:br>
              <a:rPr lang="en-US" sz="3200" dirty="0"/>
            </a:br>
            <a:r>
              <a:rPr lang="en-US" sz="3200" dirty="0"/>
              <a:t>(without sources)</a:t>
            </a:r>
            <a:endParaRPr lang="tr-TR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4560781" y="1442853"/>
            <a:ext cx="45118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is also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transient response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response of the circuit after “a long time”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is called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steady-state response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 as covered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earlier.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93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357158" y="71414"/>
            <a:ext cx="6929486" cy="785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4" y="714356"/>
            <a:ext cx="254813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3571868" y="1142984"/>
            <a:ext cx="55721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v(0) = 5 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 sz="20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Find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	i) i(t)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ii) max power dissipated by the resistor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39168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357158" y="71414"/>
            <a:ext cx="6929486" cy="785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4" y="714356"/>
            <a:ext cx="254813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3571868" y="1142984"/>
            <a:ext cx="55721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v(0) = 5 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 sz="20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Find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	i) i(t)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ii) max power dissipated by the resistor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306513" y="3095625"/>
          <a:ext cx="555150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266400" progId="Equation.3">
                  <p:embed/>
                </p:oleObj>
              </mc:Choice>
              <mc:Fallback>
                <p:oleObj name="Equation" r:id="rId4" imgW="24001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3095625"/>
                        <a:ext cx="555150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0 Dikdörtgen"/>
          <p:cNvSpPr/>
          <p:nvPr/>
        </p:nvSpPr>
        <p:spPr>
          <a:xfrm>
            <a:off x="1214414" y="3857628"/>
            <a:ext cx="67151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Using KVL, this is also the voltage across the resistor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6715140" y="3857628"/>
          <a:ext cx="93481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28600" progId="Equation.3">
                  <p:embed/>
                </p:oleObj>
              </mc:Choice>
              <mc:Fallback>
                <p:oleObj name="Equation" r:id="rId6" imgW="596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0" y="3857628"/>
                        <a:ext cx="934818" cy="35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1366838" y="4357688"/>
          <a:ext cx="342106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393480" progId="Equation.3">
                  <p:embed/>
                </p:oleObj>
              </mc:Choice>
              <mc:Fallback>
                <p:oleObj name="Equation" r:id="rId8" imgW="1714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4357688"/>
                        <a:ext cx="342106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1142976" y="5143500"/>
          <a:ext cx="383381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419040" progId="Equation.3">
                  <p:embed/>
                </p:oleObj>
              </mc:Choice>
              <mc:Fallback>
                <p:oleObj name="Equation" r:id="rId10" imgW="1866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5143500"/>
                        <a:ext cx="383381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15 Dikdörtgen"/>
          <p:cNvSpPr/>
          <p:nvPr/>
        </p:nvSpPr>
        <p:spPr>
          <a:xfrm>
            <a:off x="1285852" y="5935824"/>
            <a:ext cx="69294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Therefore, the maximum power dissipated is 25mW at the time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when capacitor starts discharging (t=0).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181" y="271462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u="sng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87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ikdörtgen"/>
          <p:cNvSpPr/>
          <p:nvPr/>
        </p:nvSpPr>
        <p:spPr>
          <a:xfrm>
            <a:off x="428596" y="1026367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Assumption: The inductor is already “magnetized” (by whatever means) to current 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at the initial time, or t=0.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2428860" y="200024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400" dirty="0" err="1">
                <a:solidFill>
                  <a:prstClr val="black"/>
                </a:solidFill>
                <a:latin typeface="Calibri"/>
              </a:rPr>
              <a:t>Need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400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400" dirty="0" err="1">
                <a:solidFill>
                  <a:prstClr val="black"/>
                </a:solidFill>
                <a:latin typeface="Calibri"/>
              </a:rPr>
              <a:t>determine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i(t) </a:t>
            </a:r>
            <a:r>
              <a:rPr lang="tr-TR" sz="2400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sz="2400" dirty="0">
                <a:solidFill>
                  <a:prstClr val="black"/>
                </a:solidFill>
                <a:latin typeface="Calibri"/>
              </a:rPr>
              <a:t> t&gt;0:</a:t>
            </a: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214678" y="2500306"/>
          <a:ext cx="1588445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215640" progId="Equation.3">
                  <p:embed/>
                </p:oleObj>
              </mc:Choice>
              <mc:Fallback>
                <p:oleObj name="Equation" r:id="rId3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2500306"/>
                        <a:ext cx="1588445" cy="50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1 Dikdörtgen"/>
          <p:cNvSpPr/>
          <p:nvPr/>
        </p:nvSpPr>
        <p:spPr>
          <a:xfrm>
            <a:off x="2500298" y="257174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KVL :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2571736" y="3000372"/>
          <a:ext cx="5621366" cy="71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393480" progId="Equation.3">
                  <p:embed/>
                </p:oleObj>
              </mc:Choice>
              <mc:Fallback>
                <p:oleObj name="Equation" r:id="rId5" imgW="3098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3000372"/>
                        <a:ext cx="5621366" cy="714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1571604" y="3786190"/>
          <a:ext cx="6818872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16040" imgH="393480" progId="Equation.3">
                  <p:embed/>
                </p:oleObj>
              </mc:Choice>
              <mc:Fallback>
                <p:oleObj name="Equation" r:id="rId7" imgW="3416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3786190"/>
                        <a:ext cx="6818872" cy="785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Dikdörtgen"/>
          <p:cNvSpPr/>
          <p:nvPr/>
        </p:nvSpPr>
        <p:spPr>
          <a:xfrm>
            <a:off x="500034" y="4714884"/>
            <a:ext cx="4530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Take the exponential of both sides: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5316996" y="4500570"/>
          <a:ext cx="1683896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355320" progId="Equation.3">
                  <p:embed/>
                </p:oleObj>
              </mc:Choice>
              <mc:Fallback>
                <p:oleObj name="Equation" r:id="rId9" imgW="8380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996" y="4500570"/>
                        <a:ext cx="1683896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6 Dikdörtgen"/>
          <p:cNvSpPr/>
          <p:nvPr/>
        </p:nvSpPr>
        <p:spPr>
          <a:xfrm>
            <a:off x="500034" y="5214950"/>
            <a:ext cx="5151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But, using the principle of discontinuity: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5643570" y="5295169"/>
          <a:ext cx="3286148" cy="120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5080" imgH="647640" progId="Equation.3">
                  <p:embed/>
                </p:oleObj>
              </mc:Choice>
              <mc:Fallback>
                <p:oleObj name="Equation" r:id="rId11" imgW="176508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5295169"/>
                        <a:ext cx="3286148" cy="1205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6072198" y="5929330"/>
          <a:ext cx="1650409" cy="71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50680" imgH="368280" progId="Equation.3">
                  <p:embed/>
                </p:oleObj>
              </mc:Choice>
              <mc:Fallback>
                <p:oleObj name="Equation" r:id="rId13" imgW="8506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98" y="5929330"/>
                        <a:ext cx="1650409" cy="714356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19 Nesne"/>
          <p:cNvGraphicFramePr>
            <a:graphicFrameLocks noChangeAspect="1"/>
          </p:cNvGraphicFramePr>
          <p:nvPr/>
        </p:nvGraphicFramePr>
        <p:xfrm>
          <a:off x="4114800" y="3463926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215640" progId="Equation.3">
                  <p:embed/>
                </p:oleObj>
              </mc:Choice>
              <mc:Fallback>
                <p:oleObj name="Equation" r:id="rId15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63926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2833675" y="1428736"/>
          <a:ext cx="309565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3">
                  <p:embed/>
                </p:oleObj>
              </mc:Choice>
              <mc:Fallback>
                <p:oleObj name="Equation" r:id="rId17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75" y="1428736"/>
                        <a:ext cx="309565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2" name="5 Başlık"/>
          <p:cNvSpPr>
            <a:spLocks noGrp="1"/>
          </p:cNvSpPr>
          <p:nvPr>
            <p:ph type="ctrTitle"/>
          </p:nvPr>
        </p:nvSpPr>
        <p:spPr>
          <a:xfrm>
            <a:off x="142844" y="71438"/>
            <a:ext cx="7286676" cy="1142984"/>
          </a:xfrm>
        </p:spPr>
        <p:txBody>
          <a:bodyPr>
            <a:normAutofit/>
          </a:bodyPr>
          <a:lstStyle/>
          <a:p>
            <a:r>
              <a:rPr lang="en-US" sz="3200" dirty="0"/>
              <a:t>Natural Response of a Simple RL Circuit </a:t>
            </a:r>
            <a:br>
              <a:rPr lang="en-US" sz="3200" dirty="0"/>
            </a:br>
            <a:r>
              <a:rPr lang="en-US" sz="3200" dirty="0"/>
              <a:t>(without sources)</a:t>
            </a:r>
            <a:endParaRPr lang="tr-TR" sz="3200" dirty="0"/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571472" y="2000240"/>
            <a:ext cx="1214446" cy="156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049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Dikdörtgen"/>
          <p:cNvSpPr/>
          <p:nvPr/>
        </p:nvSpPr>
        <p:spPr>
          <a:xfrm>
            <a:off x="428596" y="1214422"/>
            <a:ext cx="73581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There is an alternate way to solve this using characteristic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equations.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 sz="20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1) Assume a trial solution: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2) Substitute into the original first-order differential equation: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0" name="9 Nesne"/>
          <p:cNvGraphicFramePr>
            <a:graphicFrameLocks noChangeAspect="1"/>
          </p:cNvGraphicFramePr>
          <p:nvPr/>
        </p:nvGraphicFramePr>
        <p:xfrm>
          <a:off x="5929322" y="5572140"/>
          <a:ext cx="1500198" cy="649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368280" progId="Equation.3">
                  <p:embed/>
                </p:oleObj>
              </mc:Choice>
              <mc:Fallback>
                <p:oleObj name="Equation" r:id="rId3" imgW="8506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22" y="5572140"/>
                        <a:ext cx="1500198" cy="649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3286116" y="1785926"/>
          <a:ext cx="642942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560" imgH="203040" progId="Equation.3">
                  <p:embed/>
                </p:oleObj>
              </mc:Choice>
              <mc:Fallback>
                <p:oleObj name="Equation" r:id="rId5" imgW="304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785926"/>
                        <a:ext cx="642942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500034" y="2857496"/>
          <a:ext cx="5643602" cy="70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49280" imgH="393480" progId="Equation.3">
                  <p:embed/>
                </p:oleObj>
              </mc:Choice>
              <mc:Fallback>
                <p:oleObj name="Equation" r:id="rId7" imgW="3149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857496"/>
                        <a:ext cx="5643602" cy="70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0 Dikdörtgen"/>
          <p:cNvSpPr/>
          <p:nvPr/>
        </p:nvSpPr>
        <p:spPr>
          <a:xfrm>
            <a:off x="500034" y="3643314"/>
            <a:ext cx="4798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But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cannot be zero because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        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1000100" y="3571876"/>
          <a:ext cx="642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4560" imgH="203040" progId="Equation.3">
                  <p:embed/>
                </p:oleObj>
              </mc:Choice>
              <mc:Fallback>
                <p:oleObj name="Equation" r:id="rId9" imgW="304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3571876"/>
                        <a:ext cx="6429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4071934" y="3643314"/>
          <a:ext cx="1044780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00" imgH="203040" progId="Equation.3">
                  <p:embed/>
                </p:oleObj>
              </mc:Choice>
              <mc:Fallback>
                <p:oleObj name="Equation" r:id="rId10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3643314"/>
                        <a:ext cx="1044780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13 Dikdörtgen"/>
          <p:cNvSpPr/>
          <p:nvPr/>
        </p:nvSpPr>
        <p:spPr>
          <a:xfrm>
            <a:off x="500034" y="4071942"/>
            <a:ext cx="84296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Therefore, it must be that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          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if this equation is to hold.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3357554" y="3929066"/>
          <a:ext cx="1106136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480" imgH="393480" progId="Equation.3">
                  <p:embed/>
                </p:oleObj>
              </mc:Choice>
              <mc:Fallback>
                <p:oleObj name="Equation" r:id="rId12" imgW="609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3929066"/>
                        <a:ext cx="1106136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15 Dikdörtgen"/>
          <p:cNvSpPr/>
          <p:nvPr/>
        </p:nvSpPr>
        <p:spPr>
          <a:xfrm>
            <a:off x="1643042" y="4572008"/>
            <a:ext cx="63579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is the characteristic equation for the differential equation.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571472" y="4429132"/>
          <a:ext cx="11064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09480" imgH="393480" progId="Equation.3">
                  <p:embed/>
                </p:oleObj>
              </mc:Choice>
              <mc:Fallback>
                <p:oleObj name="Equation" r:id="rId14" imgW="609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4429132"/>
                        <a:ext cx="11064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18 Dikdörtgen"/>
          <p:cNvSpPr/>
          <p:nvPr/>
        </p:nvSpPr>
        <p:spPr>
          <a:xfrm>
            <a:off x="571472" y="5143512"/>
            <a:ext cx="2039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Solving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,                .</a:t>
            </a:r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1500166" y="5000636"/>
          <a:ext cx="898737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95000" imgH="393480" progId="Equation.3">
                  <p:embed/>
                </p:oleObj>
              </mc:Choice>
              <mc:Fallback>
                <p:oleObj name="Equation" r:id="rId15" imgW="495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5000636"/>
                        <a:ext cx="898737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20 Dikdörtgen"/>
          <p:cNvSpPr/>
          <p:nvPr/>
        </p:nvSpPr>
        <p:spPr>
          <a:xfrm>
            <a:off x="2714612" y="5143512"/>
            <a:ext cx="12715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Therefore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,</a:t>
            </a:r>
          </a:p>
        </p:txBody>
      </p:sp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4000495" y="4857760"/>
          <a:ext cx="1683895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355320" progId="Equation.3">
                  <p:embed/>
                </p:oleObj>
              </mc:Choice>
              <mc:Fallback>
                <p:oleObj name="Equation" r:id="rId17" imgW="8380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5" y="4857760"/>
                        <a:ext cx="1683895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Dikdörtgen"/>
          <p:cNvSpPr/>
          <p:nvPr/>
        </p:nvSpPr>
        <p:spPr>
          <a:xfrm>
            <a:off x="500034" y="5786454"/>
            <a:ext cx="5643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Using the initial condition as in the previous page: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5" name="5 Başlık"/>
          <p:cNvSpPr>
            <a:spLocks noGrp="1"/>
          </p:cNvSpPr>
          <p:nvPr>
            <p:ph type="ctrTitle"/>
          </p:nvPr>
        </p:nvSpPr>
        <p:spPr>
          <a:xfrm>
            <a:off x="142844" y="71438"/>
            <a:ext cx="7286676" cy="1142984"/>
          </a:xfrm>
        </p:spPr>
        <p:txBody>
          <a:bodyPr>
            <a:normAutofit/>
          </a:bodyPr>
          <a:lstStyle/>
          <a:p>
            <a:r>
              <a:rPr lang="en-US" sz="3200" dirty="0"/>
              <a:t>Natural Response of a Simple RL Circuit </a:t>
            </a:r>
            <a:br>
              <a:rPr lang="en-US" sz="3200" dirty="0"/>
            </a:br>
            <a:r>
              <a:rPr lang="en-US" sz="3200" dirty="0"/>
              <a:t>(without sources)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46463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500034" y="142853"/>
            <a:ext cx="6143668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642918"/>
            <a:ext cx="2429942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286116" y="935164"/>
          <a:ext cx="2986103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28600" progId="Equation.3">
                  <p:embed/>
                </p:oleObj>
              </mc:Choice>
              <mc:Fallback>
                <p:oleObj name="Equation" r:id="rId4" imgW="1447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935164"/>
                        <a:ext cx="2986103" cy="471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9 Dikdörtgen"/>
          <p:cNvSpPr/>
          <p:nvPr/>
        </p:nvSpPr>
        <p:spPr>
          <a:xfrm>
            <a:off x="3286116" y="150666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Find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	i) 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	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ii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)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Initial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current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i(0)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2799847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500034" y="142853"/>
            <a:ext cx="6143668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642918"/>
            <a:ext cx="2429942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286116" y="935164"/>
          <a:ext cx="2986103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28600" progId="Equation.3">
                  <p:embed/>
                </p:oleObj>
              </mc:Choice>
              <mc:Fallback>
                <p:oleObj name="Equation" r:id="rId4" imgW="1447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935164"/>
                        <a:ext cx="2986103" cy="471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9 Dikdörtgen"/>
          <p:cNvSpPr/>
          <p:nvPr/>
        </p:nvSpPr>
        <p:spPr>
          <a:xfrm>
            <a:off x="3286116" y="150666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Find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	i) 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	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ii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)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Initial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current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i(0)</a:t>
            </a: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2786051" y="2610146"/>
          <a:ext cx="5072097" cy="161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52400" imgH="812520" progId="Equation.3">
                  <p:embed/>
                </p:oleObj>
              </mc:Choice>
              <mc:Fallback>
                <p:oleObj name="Equation" r:id="rId6" imgW="25524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1" y="2610146"/>
                        <a:ext cx="5072097" cy="1614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2857487" y="4538971"/>
          <a:ext cx="4857785" cy="875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3800" imgH="419040" progId="Equation.3">
                  <p:embed/>
                </p:oleObj>
              </mc:Choice>
              <mc:Fallback>
                <p:oleObj name="Equation" r:id="rId8" imgW="2323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7" y="4538971"/>
                        <a:ext cx="4857785" cy="875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13 Dikdörtgen"/>
          <p:cNvSpPr/>
          <p:nvPr/>
        </p:nvSpPr>
        <p:spPr>
          <a:xfrm>
            <a:off x="2786050" y="5896293"/>
            <a:ext cx="5139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Therefore, L=5 H, and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(0)=1/100=10mA</a:t>
            </a:r>
            <a:endParaRPr lang="tr-TR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4612" y="235743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u="sng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516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ctrTitle"/>
          </p:nvPr>
        </p:nvSpPr>
        <p:spPr>
          <a:xfrm>
            <a:off x="285720" y="142853"/>
            <a:ext cx="6643734" cy="571503"/>
          </a:xfrm>
        </p:spPr>
        <p:txBody>
          <a:bodyPr>
            <a:noAutofit/>
          </a:bodyPr>
          <a:lstStyle/>
          <a:p>
            <a:r>
              <a:rPr lang="tr-TR" sz="3200" dirty="0"/>
              <a:t>Time </a:t>
            </a:r>
            <a:r>
              <a:rPr lang="tr-TR" sz="3200" dirty="0" err="1"/>
              <a:t>Constants</a:t>
            </a:r>
            <a:endParaRPr lang="tr-TR" sz="3200" dirty="0"/>
          </a:p>
        </p:txBody>
      </p:sp>
      <p:sp>
        <p:nvSpPr>
          <p:cNvPr id="8" name="7 Dikdörtgen"/>
          <p:cNvSpPr/>
          <p:nvPr/>
        </p:nvSpPr>
        <p:spPr>
          <a:xfrm>
            <a:off x="285720" y="857232"/>
            <a:ext cx="850112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 time constant, τ, characterizes the rate of decay for the natural response. It is defined as the time required for a natural response to decay by a factor of 1/e (0.37). All currents and voltages (responses) of the first order circuits decay with the same time constant, τ.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2285992"/>
            <a:ext cx="3429024" cy="19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4876" y="2357430"/>
            <a:ext cx="3214710" cy="1889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0" y="4429132"/>
            <a:ext cx="14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definition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1357290" y="4500570"/>
          <a:ext cx="2928958" cy="1928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1168200" progId="Equation.3">
                  <p:embed/>
                </p:oleObj>
              </mc:Choice>
              <mc:Fallback>
                <p:oleObj name="Equation" r:id="rId5" imgW="147312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4500570"/>
                        <a:ext cx="2928958" cy="1928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1 Dikdörtgen"/>
          <p:cNvSpPr/>
          <p:nvPr/>
        </p:nvSpPr>
        <p:spPr>
          <a:xfrm>
            <a:off x="4429124" y="4429132"/>
            <a:ext cx="14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definition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6357950" y="4429132"/>
          <a:ext cx="1285884" cy="74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419040" progId="Equation.3">
                  <p:embed/>
                </p:oleObj>
              </mc:Choice>
              <mc:Fallback>
                <p:oleObj name="Equation" r:id="rId7" imgW="723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50" y="4429132"/>
                        <a:ext cx="1285884" cy="744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4857752" y="5286388"/>
          <a:ext cx="3145113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609480" progId="Equation.3">
                  <p:embed/>
                </p:oleObj>
              </mc:Choice>
              <mc:Fallback>
                <p:oleObj name="Equation" r:id="rId9" imgW="144756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2" y="5286388"/>
                        <a:ext cx="3145113" cy="1143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85852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ctrTitle"/>
          </p:nvPr>
        </p:nvSpPr>
        <p:spPr>
          <a:xfrm>
            <a:off x="285720" y="142853"/>
            <a:ext cx="6643734" cy="571503"/>
          </a:xfrm>
        </p:spPr>
        <p:txBody>
          <a:bodyPr>
            <a:noAutofit/>
          </a:bodyPr>
          <a:lstStyle/>
          <a:p>
            <a:r>
              <a:rPr lang="tr-TR" sz="3200" dirty="0"/>
              <a:t>Time </a:t>
            </a:r>
            <a:r>
              <a:rPr lang="tr-TR" sz="3200" dirty="0" err="1"/>
              <a:t>Constants</a:t>
            </a:r>
            <a:endParaRPr lang="tr-TR" sz="3200" dirty="0"/>
          </a:p>
        </p:txBody>
      </p:sp>
      <p:sp>
        <p:nvSpPr>
          <p:cNvPr id="8" name="7 Dikdörtgen"/>
          <p:cNvSpPr/>
          <p:nvPr/>
        </p:nvSpPr>
        <p:spPr>
          <a:xfrm>
            <a:off x="285720" y="857232"/>
            <a:ext cx="850112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 time constant, τ, characterizes the rate of decay for the natural response. It is defined as the time required for a natural response to decay by a factor of 1/e (0.37). All currents and voltages (responses) of the first order circuits decay with the same time constant, τ.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2285992"/>
            <a:ext cx="3429024" cy="19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4876" y="2357430"/>
            <a:ext cx="3214710" cy="1889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0" y="4429132"/>
            <a:ext cx="14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definition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1357290" y="4500570"/>
          <a:ext cx="2928958" cy="1928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1168200" progId="Equation.3">
                  <p:embed/>
                </p:oleObj>
              </mc:Choice>
              <mc:Fallback>
                <p:oleObj name="Equation" r:id="rId5" imgW="147312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4500570"/>
                        <a:ext cx="2928958" cy="1928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1 Dikdörtgen"/>
          <p:cNvSpPr/>
          <p:nvPr/>
        </p:nvSpPr>
        <p:spPr>
          <a:xfrm>
            <a:off x="4429124" y="4429132"/>
            <a:ext cx="14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By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definition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6357950" y="4429132"/>
          <a:ext cx="1285884" cy="74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419040" progId="Equation.3">
                  <p:embed/>
                </p:oleObj>
              </mc:Choice>
              <mc:Fallback>
                <p:oleObj name="Equation" r:id="rId7" imgW="723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50" y="4429132"/>
                        <a:ext cx="1285884" cy="744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4857752" y="5286388"/>
          <a:ext cx="3145113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609480" progId="Equation.3">
                  <p:embed/>
                </p:oleObj>
              </mc:Choice>
              <mc:Fallback>
                <p:oleObj name="Equation" r:id="rId9" imgW="144756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2" y="5286388"/>
                        <a:ext cx="3145113" cy="1143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964381" y="3250405"/>
            <a:ext cx="928694" cy="428628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H="1">
            <a:off x="4964909" y="3250405"/>
            <a:ext cx="928695" cy="428628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1357290" y="2714620"/>
            <a:ext cx="785818" cy="642942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2107389" y="3321843"/>
            <a:ext cx="357190" cy="285752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4933" name="Object 5"/>
          <p:cNvGraphicFramePr>
            <a:graphicFrameLocks noChangeAspect="1"/>
          </p:cNvGraphicFramePr>
          <p:nvPr/>
        </p:nvGraphicFramePr>
        <p:xfrm>
          <a:off x="2071670" y="2214554"/>
          <a:ext cx="1514475" cy="646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760" imgH="393480" progId="Equation.3">
                  <p:embed/>
                </p:oleObj>
              </mc:Choice>
              <mc:Fallback>
                <p:oleObj name="Equation" r:id="rId11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2214554"/>
                        <a:ext cx="1514475" cy="646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Arrow Connector 25"/>
          <p:cNvCxnSpPr/>
          <p:nvPr/>
        </p:nvCxnSpPr>
        <p:spPr>
          <a:xfrm rot="5400000" flipH="1" flipV="1">
            <a:off x="5322099" y="2678901"/>
            <a:ext cx="857256" cy="642942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5824538" y="2000250"/>
          <a:ext cx="14382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23600" imgH="393480" progId="Equation.3">
                  <p:embed/>
                </p:oleObj>
              </mc:Choice>
              <mc:Fallback>
                <p:oleObj name="Equation" r:id="rId13" imgW="723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000250"/>
                        <a:ext cx="1438275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rot="5400000" flipH="1" flipV="1">
            <a:off x="6036479" y="3321843"/>
            <a:ext cx="357190" cy="285752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001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9" name="5 Başlık"/>
          <p:cNvSpPr txBox="1">
            <a:spLocks/>
          </p:cNvSpPr>
          <p:nvPr/>
        </p:nvSpPr>
        <p:spPr>
          <a:xfrm>
            <a:off x="500034" y="142853"/>
            <a:ext cx="6143668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857232"/>
            <a:ext cx="3612083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643438" y="1142984"/>
            <a:ext cx="4428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Calculate time constant, </a:t>
            </a:r>
            <a:r>
              <a:rPr lang="el-GR" sz="2000" dirty="0">
                <a:solidFill>
                  <a:prstClr val="black"/>
                </a:solidFill>
                <a:latin typeface="Calibri"/>
                <a:cs typeface="Arial"/>
              </a:rPr>
              <a:t>τ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for this circuit.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Use it to find voltage v for t&gt;0.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343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214282" y="2928934"/>
            <a:ext cx="3089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Steady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-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state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model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before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t=0:</a:t>
            </a:r>
          </a:p>
        </p:txBody>
      </p:sp>
      <p:graphicFrame>
        <p:nvGraphicFramePr>
          <p:cNvPr id="11" name="10 Nesne"/>
          <p:cNvGraphicFramePr>
            <a:graphicFrameLocks noChangeAspect="1"/>
          </p:cNvGraphicFramePr>
          <p:nvPr/>
        </p:nvGraphicFramePr>
        <p:xfrm>
          <a:off x="4514850" y="3535364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15640" progId="Equation.3">
                  <p:embed/>
                </p:oleObj>
              </mc:Choice>
              <mc:Fallback>
                <p:oleObj name="Equation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535364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3428992" y="3357562"/>
          <a:ext cx="2837075" cy="1335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812520" progId="Equation.3">
                  <p:embed/>
                </p:oleObj>
              </mc:Choice>
              <mc:Fallback>
                <p:oleObj name="Equation" r:id="rId5" imgW="172692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3357562"/>
                        <a:ext cx="2837075" cy="1335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1 Dikdörtgen"/>
          <p:cNvSpPr/>
          <p:nvPr/>
        </p:nvSpPr>
        <p:spPr>
          <a:xfrm>
            <a:off x="6399210" y="3714752"/>
            <a:ext cx="2744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Due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continuity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principle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6572264" y="4071942"/>
          <a:ext cx="2333637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228600" progId="Equation.3">
                  <p:embed/>
                </p:oleObj>
              </mc:Choice>
              <mc:Fallback>
                <p:oleObj name="Equation" r:id="rId7" imgW="1333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64" y="4071942"/>
                        <a:ext cx="2333637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034" y="5214950"/>
            <a:ext cx="181109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15 Dikdörtgen"/>
          <p:cNvSpPr/>
          <p:nvPr/>
        </p:nvSpPr>
        <p:spPr>
          <a:xfrm>
            <a:off x="214282" y="4786322"/>
            <a:ext cx="2511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Simple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RC model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t&gt;0:</a:t>
            </a:r>
          </a:p>
        </p:txBody>
      </p: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3071802" y="5500702"/>
          <a:ext cx="4071966" cy="816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70000" imgH="482400" progId="Equation.3">
                  <p:embed/>
                </p:oleObj>
              </mc:Choice>
              <mc:Fallback>
                <p:oleObj name="Equation" r:id="rId10" imgW="20700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5500702"/>
                        <a:ext cx="4071966" cy="816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14348" y="857232"/>
            <a:ext cx="3612083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5 Başlık"/>
          <p:cNvSpPr txBox="1">
            <a:spLocks/>
          </p:cNvSpPr>
          <p:nvPr/>
        </p:nvSpPr>
        <p:spPr>
          <a:xfrm>
            <a:off x="500034" y="142853"/>
            <a:ext cx="6143668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3438" y="1142984"/>
            <a:ext cx="4428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Calculate time constant, </a:t>
            </a:r>
            <a:r>
              <a:rPr lang="el-GR" sz="2000" dirty="0">
                <a:solidFill>
                  <a:prstClr val="black"/>
                </a:solidFill>
                <a:latin typeface="Calibri"/>
                <a:cs typeface="Arial"/>
              </a:rPr>
              <a:t>τ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for this circuit.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Use it to find voltage v for t&gt;0.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282" y="250030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u="sng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49452" y="3357562"/>
            <a:ext cx="2722350" cy="1291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52224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500034" y="142851"/>
            <a:ext cx="6858048" cy="714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: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Simple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RL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785794"/>
            <a:ext cx="164307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286116" y="1000108"/>
          <a:ext cx="3857652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457200" progId="Equation.3">
                  <p:embed/>
                </p:oleObj>
              </mc:Choice>
              <mc:Fallback>
                <p:oleObj name="Equation" r:id="rId4" imgW="1803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000108"/>
                        <a:ext cx="3857652" cy="85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3214678" y="1928802"/>
          <a:ext cx="3786214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228600" progId="Equation.3">
                  <p:embed/>
                </p:oleObj>
              </mc:Choice>
              <mc:Fallback>
                <p:oleObj name="Equation" r:id="rId6" imgW="1790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1928802"/>
                        <a:ext cx="3786214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2770287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571471" y="2857496"/>
          <a:ext cx="2980689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368280" progId="Equation.3">
                  <p:embed/>
                </p:oleObj>
              </mc:Choice>
              <mc:Fallback>
                <p:oleObj name="Equation" r:id="rId3" imgW="15364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1" y="2857496"/>
                        <a:ext cx="2980689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500034" y="3500438"/>
          <a:ext cx="7786743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89160" imgH="482400" progId="Equation.3">
                  <p:embed/>
                </p:oleObj>
              </mc:Choice>
              <mc:Fallback>
                <p:oleObj name="Equation" r:id="rId5" imgW="4889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3500438"/>
                        <a:ext cx="7786743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500034" y="4214818"/>
          <a:ext cx="7782982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57800" imgH="482400" progId="Equation.3">
                  <p:embed/>
                </p:oleObj>
              </mc:Choice>
              <mc:Fallback>
                <p:oleObj name="Equation" r:id="rId7" imgW="5257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4214818"/>
                        <a:ext cx="7782982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13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215640" progId="Equation.3">
                  <p:embed/>
                </p:oleObj>
              </mc:Choice>
              <mc:Fallback>
                <p:oleObj name="Equation" r:id="rId9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500034" y="4857760"/>
          <a:ext cx="7715304" cy="100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95680" imgH="660240" progId="Equation.3">
                  <p:embed/>
                </p:oleObj>
              </mc:Choice>
              <mc:Fallback>
                <p:oleObj name="Equation" r:id="rId11" imgW="449568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4857760"/>
                        <a:ext cx="7715304" cy="1000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6 Dikdörtgen"/>
          <p:cNvSpPr/>
          <p:nvPr/>
        </p:nvSpPr>
        <p:spPr>
          <a:xfrm>
            <a:off x="428596" y="5929330"/>
            <a:ext cx="14334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ii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)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Using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(1):</a:t>
            </a:r>
          </a:p>
        </p:txBody>
      </p:sp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2071669" y="5929330"/>
          <a:ext cx="5475378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52680" imgH="393480" progId="Equation.3">
                  <p:embed/>
                </p:oleObj>
              </mc:Choice>
              <mc:Fallback>
                <p:oleObj name="Equation" r:id="rId13" imgW="3352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69" y="5929330"/>
                        <a:ext cx="5475378" cy="64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8" name="5 Başlık"/>
          <p:cNvSpPr txBox="1">
            <a:spLocks/>
          </p:cNvSpPr>
          <p:nvPr/>
        </p:nvSpPr>
        <p:spPr>
          <a:xfrm>
            <a:off x="500034" y="142851"/>
            <a:ext cx="6858048" cy="714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: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Simple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RL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85786" y="785794"/>
            <a:ext cx="164307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3286116" y="1000108"/>
          <a:ext cx="3857652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03240" imgH="457200" progId="Equation.3">
                  <p:embed/>
                </p:oleObj>
              </mc:Choice>
              <mc:Fallback>
                <p:oleObj name="Equation" r:id="rId16" imgW="1803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1000108"/>
                        <a:ext cx="3857652" cy="85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/>
        </p:nvGraphicFramePr>
        <p:xfrm>
          <a:off x="3214678" y="1928802"/>
          <a:ext cx="3786214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640" imgH="228600" progId="Equation.3">
                  <p:embed/>
                </p:oleObj>
              </mc:Choice>
              <mc:Fallback>
                <p:oleObj name="Equation" r:id="rId18" imgW="1790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1928802"/>
                        <a:ext cx="3786214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14282" y="250030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u="sng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563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-214346" y="0"/>
            <a:ext cx="8458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tr-TR" sz="4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5 Başlık"/>
          <p:cNvSpPr txBox="1">
            <a:spLocks/>
          </p:cNvSpPr>
          <p:nvPr/>
        </p:nvSpPr>
        <p:spPr>
          <a:xfrm>
            <a:off x="142844" y="71438"/>
            <a:ext cx="7286676" cy="107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General First Order Circuits </a:t>
            </a:r>
          </a:p>
          <a:p>
            <a:pPr algn="ctr" fontAlgn="auto">
              <a:spcAft>
                <a:spcPts val="0"/>
              </a:spcAft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without 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428596" y="1357298"/>
            <a:ext cx="62150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can apply the previous techniques to circuits that can be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reduced to simple RL or RC.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11 Dikdörtgen"/>
          <p:cNvSpPr/>
          <p:nvPr/>
        </p:nvSpPr>
        <p:spPr>
          <a:xfrm>
            <a:off x="500034" y="2357430"/>
            <a:ext cx="6000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Example: Find the time constant of the below circuit: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000372"/>
            <a:ext cx="2632882" cy="143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54738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ikdörtgen"/>
          <p:cNvSpPr/>
          <p:nvPr/>
        </p:nvSpPr>
        <p:spPr>
          <a:xfrm>
            <a:off x="428596" y="1357298"/>
            <a:ext cx="62150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can apply the previous techniques to circuits that can be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reduced to simple RL or RC.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500034" y="2357430"/>
            <a:ext cx="6000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Example: Find the time constant of the below circuit: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928688" y="4714875"/>
          <a:ext cx="4929187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720" imgH="876240" progId="Equation.3">
                  <p:embed/>
                </p:oleObj>
              </mc:Choice>
              <mc:Fallback>
                <p:oleObj name="Equation" r:id="rId3" imgW="262872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714875"/>
                        <a:ext cx="4929187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3" name="5 Başlık"/>
          <p:cNvSpPr txBox="1">
            <a:spLocks/>
          </p:cNvSpPr>
          <p:nvPr/>
        </p:nvSpPr>
        <p:spPr>
          <a:xfrm>
            <a:off x="142844" y="71438"/>
            <a:ext cx="7286676" cy="107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General First Order Circuits </a:t>
            </a:r>
          </a:p>
          <a:p>
            <a:pPr algn="ctr" fontAlgn="auto">
              <a:spcAft>
                <a:spcPts val="0"/>
              </a:spcAft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without 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034" y="3000372"/>
            <a:ext cx="2632882" cy="143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7553" y="3071810"/>
            <a:ext cx="2804761" cy="1289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85283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857224" y="71438"/>
            <a:ext cx="517205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214422"/>
            <a:ext cx="3503418" cy="1649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8 Dikdörtgen"/>
          <p:cNvSpPr/>
          <p:nvPr/>
        </p:nvSpPr>
        <p:spPr>
          <a:xfrm>
            <a:off x="500034" y="714356"/>
            <a:ext cx="4997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Find the time constant of the following circuit: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7554" y="2357430"/>
            <a:ext cx="35719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2 </a:t>
            </a:r>
            <a:r>
              <a:rPr lang="el-GR" dirty="0">
                <a:solidFill>
                  <a:prstClr val="black"/>
                </a:solidFill>
                <a:latin typeface="Calibri"/>
              </a:rPr>
              <a:t>Ω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026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8" name="5 Başlık"/>
          <p:cNvSpPr txBox="1">
            <a:spLocks/>
          </p:cNvSpPr>
          <p:nvPr/>
        </p:nvSpPr>
        <p:spPr>
          <a:xfrm>
            <a:off x="857224" y="71438"/>
            <a:ext cx="517205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8 Dikdörtgen"/>
          <p:cNvSpPr/>
          <p:nvPr/>
        </p:nvSpPr>
        <p:spPr>
          <a:xfrm>
            <a:off x="500034" y="714356"/>
            <a:ext cx="4997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Find the time constant of the following circuit: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208075"/>
            <a:ext cx="3503418" cy="1649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3786182" y="1028626"/>
            <a:ext cx="1035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sz="2000" u="sng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10 Dikdörtgen"/>
          <p:cNvSpPr/>
          <p:nvPr/>
        </p:nvSpPr>
        <p:spPr>
          <a:xfrm>
            <a:off x="3786182" y="1396545"/>
            <a:ext cx="528638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First find the equivalent resistance connected to the terminals of the inductor. Since the resistors are neither in parallel nor in series, cannot directly calculate R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eq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  Instead, can find the ratio between a test voltage and test current.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7554" y="2357430"/>
            <a:ext cx="35719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2 </a:t>
            </a:r>
            <a:r>
              <a:rPr lang="el-GR" dirty="0">
                <a:solidFill>
                  <a:prstClr val="black"/>
                </a:solidFill>
                <a:latin typeface="Calibri"/>
              </a:rPr>
              <a:t>Ω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1859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4" name="5 Başlık"/>
          <p:cNvSpPr txBox="1">
            <a:spLocks/>
          </p:cNvSpPr>
          <p:nvPr/>
        </p:nvSpPr>
        <p:spPr>
          <a:xfrm>
            <a:off x="857224" y="71438"/>
            <a:ext cx="517205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86182" y="1028626"/>
            <a:ext cx="1035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sz="2000" u="sng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8 Dikdörtgen"/>
          <p:cNvSpPr/>
          <p:nvPr/>
        </p:nvSpPr>
        <p:spPr>
          <a:xfrm>
            <a:off x="500034" y="714356"/>
            <a:ext cx="4997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Find the time constant of the following circuit: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11 Dikdörtgen"/>
          <p:cNvSpPr/>
          <p:nvPr/>
        </p:nvSpPr>
        <p:spPr>
          <a:xfrm>
            <a:off x="3803490" y="1500174"/>
            <a:ext cx="1625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(Mesh 1):</a:t>
            </a: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3786182" y="1928802"/>
          <a:ext cx="5214974" cy="39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215640" progId="Equation.3">
                  <p:embed/>
                </p:oleObj>
              </mc:Choice>
              <mc:Fallback>
                <p:oleObj name="Equation" r:id="rId3" imgW="285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1928802"/>
                        <a:ext cx="5214974" cy="394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13 Dikdörtgen"/>
          <p:cNvSpPr/>
          <p:nvPr/>
        </p:nvSpPr>
        <p:spPr>
          <a:xfrm>
            <a:off x="3714744" y="2428868"/>
            <a:ext cx="1625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(Mesh 2):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3699720" y="2857496"/>
          <a:ext cx="5372874" cy="393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46240" imgH="215640" progId="Equation.3">
                  <p:embed/>
                </p:oleObj>
              </mc:Choice>
              <mc:Fallback>
                <p:oleObj name="Equation" r:id="rId5" imgW="2946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720" y="2857496"/>
                        <a:ext cx="5372874" cy="393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15 Dikdörtgen"/>
          <p:cNvSpPr/>
          <p:nvPr/>
        </p:nvSpPr>
        <p:spPr>
          <a:xfrm>
            <a:off x="642910" y="3429000"/>
            <a:ext cx="1811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Add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(1)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and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(2):</a:t>
            </a:r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2470154" y="3286124"/>
          <a:ext cx="26733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393480" progId="Equation.3">
                  <p:embed/>
                </p:oleObj>
              </mc:Choice>
              <mc:Fallback>
                <p:oleObj name="Equation" r:id="rId7" imgW="1473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4" y="3286124"/>
                        <a:ext cx="26733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17 Dikdörtgen"/>
          <p:cNvSpPr/>
          <p:nvPr/>
        </p:nvSpPr>
        <p:spPr>
          <a:xfrm>
            <a:off x="714348" y="4286256"/>
            <a:ext cx="2732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Substitute for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US" sz="2000" i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into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(1):</a:t>
            </a:r>
          </a:p>
        </p:txBody>
      </p:sp>
      <p:graphicFrame>
        <p:nvGraphicFramePr>
          <p:cNvPr id="29" name="Object 7"/>
          <p:cNvGraphicFramePr>
            <a:graphicFrameLocks noChangeAspect="1"/>
          </p:cNvGraphicFramePr>
          <p:nvPr/>
        </p:nvGraphicFramePr>
        <p:xfrm>
          <a:off x="3454411" y="4143375"/>
          <a:ext cx="26892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431640" progId="Equation.3">
                  <p:embed/>
                </p:oleObj>
              </mc:Choice>
              <mc:Fallback>
                <p:oleObj name="Equation" r:id="rId9" imgW="1625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11" y="4143375"/>
                        <a:ext cx="26892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19 Dikdörtgen"/>
          <p:cNvSpPr/>
          <p:nvPr/>
        </p:nvSpPr>
        <p:spPr>
          <a:xfrm>
            <a:off x="785785" y="4902166"/>
            <a:ext cx="2653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Around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Left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Loop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):</a:t>
            </a:r>
          </a:p>
        </p:txBody>
      </p:sp>
      <p:graphicFrame>
        <p:nvGraphicFramePr>
          <p:cNvPr id="32" name="Object 9"/>
          <p:cNvGraphicFramePr>
            <a:graphicFrameLocks noChangeAspect="1"/>
          </p:cNvGraphicFramePr>
          <p:nvPr/>
        </p:nvGraphicFramePr>
        <p:xfrm>
          <a:off x="3428992" y="4830729"/>
          <a:ext cx="4857784" cy="131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000" imgH="812520" progId="Equation.3">
                  <p:embed/>
                </p:oleObj>
              </mc:Choice>
              <mc:Fallback>
                <p:oleObj name="Equation" r:id="rId11" imgW="2781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4830729"/>
                        <a:ext cx="4857784" cy="1312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357290" y="1571612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i="1" dirty="0" err="1">
                <a:solidFill>
                  <a:prstClr val="black"/>
                </a:solidFill>
                <a:latin typeface="Calibri"/>
              </a:rPr>
              <a:t>i</a:t>
            </a:r>
            <a:endParaRPr lang="tr-TR" i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85720" y="1214422"/>
            <a:ext cx="3429024" cy="165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TextBox 35"/>
          <p:cNvSpPr txBox="1"/>
          <p:nvPr/>
        </p:nvSpPr>
        <p:spPr>
          <a:xfrm>
            <a:off x="3286116" y="2428868"/>
            <a:ext cx="35719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2 </a:t>
            </a:r>
            <a:r>
              <a:rPr lang="el-GR" dirty="0">
                <a:solidFill>
                  <a:prstClr val="black"/>
                </a:solidFill>
                <a:latin typeface="Calibri"/>
              </a:rPr>
              <a:t>Ω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19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214422"/>
            <a:ext cx="3429024" cy="165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4" name="5 Başlık"/>
          <p:cNvSpPr txBox="1">
            <a:spLocks/>
          </p:cNvSpPr>
          <p:nvPr/>
        </p:nvSpPr>
        <p:spPr>
          <a:xfrm>
            <a:off x="857224" y="71438"/>
            <a:ext cx="5172052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Example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86182" y="1028626"/>
            <a:ext cx="1035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u="sng" dirty="0">
                <a:solidFill>
                  <a:prstClr val="black"/>
                </a:solidFill>
                <a:latin typeface="Calibri"/>
              </a:rPr>
              <a:t>Answer:</a:t>
            </a:r>
            <a:endParaRPr lang="tr-TR" sz="2000" u="sng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8 Dikdörtgen"/>
          <p:cNvSpPr/>
          <p:nvPr/>
        </p:nvSpPr>
        <p:spPr>
          <a:xfrm>
            <a:off x="500034" y="714356"/>
            <a:ext cx="4997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Find the time constant of the following circuit: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11 Dikdörtgen"/>
          <p:cNvSpPr/>
          <p:nvPr/>
        </p:nvSpPr>
        <p:spPr>
          <a:xfrm>
            <a:off x="3803490" y="1500174"/>
            <a:ext cx="1625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(Mesh 1):</a:t>
            </a: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3786182" y="1928802"/>
          <a:ext cx="5214974" cy="39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320" imgH="215640" progId="Equation.3">
                  <p:embed/>
                </p:oleObj>
              </mc:Choice>
              <mc:Fallback>
                <p:oleObj name="Equation" r:id="rId4" imgW="285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1928802"/>
                        <a:ext cx="5214974" cy="394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13 Dikdörtgen"/>
          <p:cNvSpPr/>
          <p:nvPr/>
        </p:nvSpPr>
        <p:spPr>
          <a:xfrm>
            <a:off x="3714744" y="2428868"/>
            <a:ext cx="1625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(Mesh 2):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3699720" y="2857496"/>
          <a:ext cx="5372874" cy="393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6240" imgH="215640" progId="Equation.3">
                  <p:embed/>
                </p:oleObj>
              </mc:Choice>
              <mc:Fallback>
                <p:oleObj name="Equation" r:id="rId6" imgW="2946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720" y="2857496"/>
                        <a:ext cx="5372874" cy="393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15 Dikdörtgen"/>
          <p:cNvSpPr/>
          <p:nvPr/>
        </p:nvSpPr>
        <p:spPr>
          <a:xfrm>
            <a:off x="642910" y="3429000"/>
            <a:ext cx="1811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 err="1">
                <a:solidFill>
                  <a:prstClr val="black"/>
                </a:solidFill>
                <a:latin typeface="Calibri"/>
              </a:rPr>
              <a:t>Add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(1) </a:t>
            </a:r>
            <a:r>
              <a:rPr lang="tr-TR" sz="2000" dirty="0" err="1">
                <a:solidFill>
                  <a:prstClr val="black"/>
                </a:solidFill>
                <a:latin typeface="Calibri"/>
              </a:rPr>
              <a:t>and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(2):</a:t>
            </a:r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2470154" y="3286124"/>
          <a:ext cx="26733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393480" progId="Equation.3">
                  <p:embed/>
                </p:oleObj>
              </mc:Choice>
              <mc:Fallback>
                <p:oleObj name="Equation" r:id="rId8" imgW="1473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4" y="3286124"/>
                        <a:ext cx="26733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17 Dikdörtgen"/>
          <p:cNvSpPr/>
          <p:nvPr/>
        </p:nvSpPr>
        <p:spPr>
          <a:xfrm>
            <a:off x="714348" y="4286256"/>
            <a:ext cx="2732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Substitute for </a:t>
            </a:r>
            <a:r>
              <a:rPr lang="en-US" sz="2000" i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US" sz="2000" i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into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(1):</a:t>
            </a:r>
          </a:p>
        </p:txBody>
      </p:sp>
      <p:graphicFrame>
        <p:nvGraphicFramePr>
          <p:cNvPr id="29" name="Object 7"/>
          <p:cNvGraphicFramePr>
            <a:graphicFrameLocks noChangeAspect="1"/>
          </p:cNvGraphicFramePr>
          <p:nvPr/>
        </p:nvGraphicFramePr>
        <p:xfrm>
          <a:off x="3454411" y="4143375"/>
          <a:ext cx="26892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400" imgH="431640" progId="Equation.3">
                  <p:embed/>
                </p:oleObj>
              </mc:Choice>
              <mc:Fallback>
                <p:oleObj name="Equation" r:id="rId10" imgW="1625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11" y="4143375"/>
                        <a:ext cx="26892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19 Dikdörtgen"/>
          <p:cNvSpPr/>
          <p:nvPr/>
        </p:nvSpPr>
        <p:spPr>
          <a:xfrm>
            <a:off x="785785" y="4902166"/>
            <a:ext cx="2653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u="sng" dirty="0">
                <a:solidFill>
                  <a:prstClr val="black"/>
                </a:solidFill>
                <a:latin typeface="Calibri"/>
              </a:rPr>
              <a:t>KVL (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Around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Left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2000" u="sng" dirty="0" err="1">
                <a:solidFill>
                  <a:prstClr val="black"/>
                </a:solidFill>
                <a:latin typeface="Calibri"/>
              </a:rPr>
              <a:t>Loop</a:t>
            </a:r>
            <a:r>
              <a:rPr lang="tr-TR" sz="2000" u="sng" dirty="0">
                <a:solidFill>
                  <a:prstClr val="black"/>
                </a:solidFill>
                <a:latin typeface="Calibri"/>
              </a:rPr>
              <a:t>):</a:t>
            </a:r>
          </a:p>
        </p:txBody>
      </p:sp>
      <p:graphicFrame>
        <p:nvGraphicFramePr>
          <p:cNvPr id="32" name="Object 9"/>
          <p:cNvGraphicFramePr>
            <a:graphicFrameLocks noChangeAspect="1"/>
          </p:cNvGraphicFramePr>
          <p:nvPr/>
        </p:nvGraphicFramePr>
        <p:xfrm>
          <a:off x="3428992" y="4830729"/>
          <a:ext cx="4857784" cy="131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81000" imgH="812520" progId="Equation.3">
                  <p:embed/>
                </p:oleObj>
              </mc:Choice>
              <mc:Fallback>
                <p:oleObj name="Equation" r:id="rId12" imgW="2781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4830729"/>
                        <a:ext cx="4857784" cy="1312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3714754" y="6147776"/>
          <a:ext cx="3214700" cy="63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393480" progId="Equation.3">
                  <p:embed/>
                </p:oleObj>
              </mc:Choice>
              <mc:Fallback>
                <p:oleObj name="Equation" r:id="rId14" imgW="1981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4" y="6147776"/>
                        <a:ext cx="3214700" cy="638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357290" y="1571612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i="1" dirty="0" err="1">
                <a:solidFill>
                  <a:prstClr val="black"/>
                </a:solidFill>
                <a:latin typeface="Calibri"/>
              </a:rPr>
              <a:t>i</a:t>
            </a:r>
            <a:endParaRPr lang="tr-TR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86116" y="2428868"/>
            <a:ext cx="35719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2 </a:t>
            </a:r>
            <a:r>
              <a:rPr lang="el-GR" dirty="0">
                <a:solidFill>
                  <a:prstClr val="black"/>
                </a:solidFill>
                <a:latin typeface="Calibri"/>
              </a:rPr>
              <a:t>Ω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5559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8 Dikdörtgen"/>
          <p:cNvSpPr/>
          <p:nvPr/>
        </p:nvSpPr>
        <p:spPr>
          <a:xfrm>
            <a:off x="428596" y="857232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Circuits driven by constant (dc) independent current or voltage sources 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addition to having initial stored energies.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0" name="9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15640" progId="Equation.3">
                  <p:embed/>
                </p:oleObj>
              </mc:Choice>
              <mc:Fallback>
                <p:oleObj name="Equation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3571900" y="1714488"/>
          <a:ext cx="5500694" cy="38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38200" imgH="241200" progId="Equation.3">
                  <p:embed/>
                </p:oleObj>
              </mc:Choice>
              <mc:Fallback>
                <p:oleObj name="Equation" r:id="rId5" imgW="3238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900" y="1714488"/>
                        <a:ext cx="5500694" cy="387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0 Dikdörtgen"/>
          <p:cNvSpPr/>
          <p:nvPr/>
        </p:nvSpPr>
        <p:spPr>
          <a:xfrm>
            <a:off x="3571868" y="2214554"/>
            <a:ext cx="2659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t &gt; 0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KCL at top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node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3643306" y="2714620"/>
          <a:ext cx="47926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393480" progId="Equation.3">
                  <p:embed/>
                </p:oleObj>
              </mc:Choice>
              <mc:Fallback>
                <p:oleObj name="Equation" r:id="rId7" imgW="246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06" y="2714620"/>
                        <a:ext cx="47926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8138" y="1571612"/>
            <a:ext cx="335085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692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8 Dikdörtgen"/>
          <p:cNvSpPr/>
          <p:nvPr/>
        </p:nvSpPr>
        <p:spPr>
          <a:xfrm>
            <a:off x="428596" y="857232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Circuits driven by constant (dc) independent current or voltage sources 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addition to having initial stored energies.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0" name="9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15640" progId="Equation.3">
                  <p:embed/>
                </p:oleObj>
              </mc:Choice>
              <mc:Fallback>
                <p:oleObj name="Equation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3571900" y="1714488"/>
          <a:ext cx="5500694" cy="38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38200" imgH="241200" progId="Equation.3">
                  <p:embed/>
                </p:oleObj>
              </mc:Choice>
              <mc:Fallback>
                <p:oleObj name="Equation" r:id="rId5" imgW="3238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900" y="1714488"/>
                        <a:ext cx="5500694" cy="387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0 Dikdörtgen"/>
          <p:cNvSpPr/>
          <p:nvPr/>
        </p:nvSpPr>
        <p:spPr>
          <a:xfrm>
            <a:off x="3571868" y="2214554"/>
            <a:ext cx="2659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t &gt; 0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KCL at top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node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sp>
        <p:nvSpPr>
          <p:cNvPr id="13" name="12 Dikdörtgen"/>
          <p:cNvSpPr/>
          <p:nvPr/>
        </p:nvSpPr>
        <p:spPr>
          <a:xfrm>
            <a:off x="4572000" y="364331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Forcing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term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independent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of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the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unknown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time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functions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14 Oval"/>
          <p:cNvSpPr/>
          <p:nvPr/>
        </p:nvSpPr>
        <p:spPr>
          <a:xfrm>
            <a:off x="8001024" y="2571744"/>
            <a:ext cx="500066" cy="11430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white"/>
              </a:solidFill>
            </a:endParaRP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3643306" y="2714620"/>
          <a:ext cx="47926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393480" progId="Equation.3">
                  <p:embed/>
                </p:oleObj>
              </mc:Choice>
              <mc:Fallback>
                <p:oleObj name="Equation" r:id="rId7" imgW="246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06" y="2714620"/>
                        <a:ext cx="47926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21 Eğri Bağlayıcı"/>
          <p:cNvCxnSpPr/>
          <p:nvPr/>
        </p:nvCxnSpPr>
        <p:spPr>
          <a:xfrm flipV="1">
            <a:off x="7358082" y="3500438"/>
            <a:ext cx="571504" cy="3571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8138" y="1571612"/>
            <a:ext cx="335085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622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138" y="1571612"/>
            <a:ext cx="335085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Oval"/>
          <p:cNvSpPr/>
          <p:nvPr/>
        </p:nvSpPr>
        <p:spPr>
          <a:xfrm>
            <a:off x="8001024" y="2571744"/>
            <a:ext cx="500066" cy="11430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white"/>
              </a:solidFill>
            </a:endParaRP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3643313" y="2714625"/>
          <a:ext cx="47926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393480" progId="Equation.3">
                  <p:embed/>
                </p:oleObj>
              </mc:Choice>
              <mc:Fallback>
                <p:oleObj name="Equation" r:id="rId4" imgW="246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2714625"/>
                        <a:ext cx="47926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Dikdörtgen"/>
          <p:cNvSpPr/>
          <p:nvPr/>
        </p:nvSpPr>
        <p:spPr>
          <a:xfrm>
            <a:off x="4572000" y="364331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Forcing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term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independent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of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the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unknown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time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functions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6" name="15 Eğri Bağlayıcı"/>
          <p:cNvCxnSpPr/>
          <p:nvPr/>
        </p:nvCxnSpPr>
        <p:spPr>
          <a:xfrm flipV="1">
            <a:off x="7358082" y="3500438"/>
            <a:ext cx="571504" cy="3571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Dikdörtgen"/>
          <p:cNvSpPr/>
          <p:nvPr/>
        </p:nvSpPr>
        <p:spPr>
          <a:xfrm>
            <a:off x="357158" y="4286256"/>
            <a:ext cx="8643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Need a trial v where a linear combination of v and its derivative is constant for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all t&gt;0. Try trial forced solution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                 :</a:t>
            </a:r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3286116" y="4572008"/>
          <a:ext cx="1000132" cy="380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241200" progId="Equation.3">
                  <p:embed/>
                </p:oleObj>
              </mc:Choice>
              <mc:Fallback>
                <p:oleObj name="Equation" r:id="rId6" imgW="634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4572008"/>
                        <a:ext cx="1000132" cy="380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428596" y="4929198"/>
          <a:ext cx="3071834" cy="61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55520" imgH="393480" progId="Equation.3">
                  <p:embed/>
                </p:oleObj>
              </mc:Choice>
              <mc:Fallback>
                <p:oleObj name="Equation" r:id="rId8" imgW="1955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4929198"/>
                        <a:ext cx="3071834" cy="618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4286248" y="5072074"/>
          <a:ext cx="3857652" cy="380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11200" imgH="241200" progId="Equation.3">
                  <p:embed/>
                </p:oleObj>
              </mc:Choice>
              <mc:Fallback>
                <p:oleObj name="Equation" r:id="rId10" imgW="2311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5072074"/>
                        <a:ext cx="3857652" cy="380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0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8 Dikdörtgen"/>
          <p:cNvSpPr/>
          <p:nvPr/>
        </p:nvSpPr>
        <p:spPr>
          <a:xfrm>
            <a:off x="428596" y="857232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Circuits driven by constant (dc) independent current or voltage sources 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addition to having initial stored energies.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3571900" y="1714488"/>
          <a:ext cx="5500694" cy="38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38200" imgH="241200" progId="Equation.3">
                  <p:embed/>
                </p:oleObj>
              </mc:Choice>
              <mc:Fallback>
                <p:oleObj name="Equation" r:id="rId12" imgW="3238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900" y="1714488"/>
                        <a:ext cx="5500694" cy="387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10 Dikdörtgen"/>
          <p:cNvSpPr/>
          <p:nvPr/>
        </p:nvSpPr>
        <p:spPr>
          <a:xfrm>
            <a:off x="3571868" y="2214554"/>
            <a:ext cx="2659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t &gt; 0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KCL at top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node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21554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138" y="1571612"/>
            <a:ext cx="335085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Oval"/>
          <p:cNvSpPr/>
          <p:nvPr/>
        </p:nvSpPr>
        <p:spPr>
          <a:xfrm>
            <a:off x="8001024" y="2571744"/>
            <a:ext cx="500066" cy="11430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white"/>
              </a:solidFill>
            </a:endParaRPr>
          </a:p>
        </p:txBody>
      </p:sp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3643313" y="2714625"/>
          <a:ext cx="47926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393480" progId="Equation.3">
                  <p:embed/>
                </p:oleObj>
              </mc:Choice>
              <mc:Fallback>
                <p:oleObj name="Equation" r:id="rId4" imgW="246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2714625"/>
                        <a:ext cx="47926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12 Dikdörtgen"/>
          <p:cNvSpPr/>
          <p:nvPr/>
        </p:nvSpPr>
        <p:spPr>
          <a:xfrm>
            <a:off x="4572000" y="364331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Forcing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term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independent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of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the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unknown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time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functions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" name="13 Eğri Bağlayıcı"/>
          <p:cNvCxnSpPr/>
          <p:nvPr/>
        </p:nvCxnSpPr>
        <p:spPr>
          <a:xfrm flipV="1">
            <a:off x="7358082" y="3500438"/>
            <a:ext cx="571504" cy="3571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Dikdörtgen"/>
          <p:cNvSpPr/>
          <p:nvPr/>
        </p:nvSpPr>
        <p:spPr>
          <a:xfrm>
            <a:off x="357158" y="4286256"/>
            <a:ext cx="8643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Need a trial v where a linear combination of v and its derivative is constant for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all t&gt;0. Try trial forced solution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                 :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3286125" y="4572000"/>
          <a:ext cx="10001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241200" progId="Equation.3">
                  <p:embed/>
                </p:oleObj>
              </mc:Choice>
              <mc:Fallback>
                <p:oleObj name="Equation" r:id="rId6" imgW="634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572000"/>
                        <a:ext cx="10001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18 Dikdörtgen"/>
          <p:cNvSpPr/>
          <p:nvPr/>
        </p:nvSpPr>
        <p:spPr>
          <a:xfrm>
            <a:off x="357158" y="5500702"/>
            <a:ext cx="4443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A valid differential equation must also satisfy: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428625" y="4929188"/>
          <a:ext cx="30718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55520" imgH="393480" progId="Equation.3">
                  <p:embed/>
                </p:oleObj>
              </mc:Choice>
              <mc:Fallback>
                <p:oleObj name="Equation" r:id="rId8" imgW="1955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4929188"/>
                        <a:ext cx="30718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4286250" y="5072063"/>
          <a:ext cx="3857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11200" imgH="241200" progId="Equation.3">
                  <p:embed/>
                </p:oleObj>
              </mc:Choice>
              <mc:Fallback>
                <p:oleObj name="Equation" r:id="rId10" imgW="2311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072063"/>
                        <a:ext cx="38576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4786313" y="5500688"/>
          <a:ext cx="19859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41200" progId="Equation.3">
                  <p:embed/>
                </p:oleObj>
              </mc:Choice>
              <mc:Fallback>
                <p:oleObj name="Equation" r:id="rId12" imgW="1117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5500688"/>
                        <a:ext cx="198596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Dikdörtgen"/>
          <p:cNvSpPr/>
          <p:nvPr/>
        </p:nvSpPr>
        <p:spPr>
          <a:xfrm>
            <a:off x="357158" y="5857892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Let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         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denote any solution to the </a:t>
            </a:r>
            <a:r>
              <a:rPr lang="en-US" u="sng" dirty="0">
                <a:solidFill>
                  <a:prstClr val="black"/>
                </a:solidFill>
                <a:latin typeface="Calibri"/>
              </a:rPr>
              <a:t>unforced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differential equation: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785813" y="5857875"/>
          <a:ext cx="571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20" imgH="228600" progId="Equation.3">
                  <p:embed/>
                </p:oleObj>
              </mc:Choice>
              <mc:Fallback>
                <p:oleObj name="Equation" r:id="rId14" imgW="33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857875"/>
                        <a:ext cx="5715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1714500" y="6143644"/>
          <a:ext cx="143033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393480" progId="Equation.3">
                  <p:embed/>
                </p:oleObj>
              </mc:Choice>
              <mc:Fallback>
                <p:oleObj name="Equation" r:id="rId16" imgW="876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6143644"/>
                        <a:ext cx="1430338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25 Dikdörtgen"/>
          <p:cNvSpPr/>
          <p:nvPr/>
        </p:nvSpPr>
        <p:spPr>
          <a:xfrm>
            <a:off x="3214678" y="6286539"/>
            <a:ext cx="2641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But we know from before: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5929313" y="6215081"/>
          <a:ext cx="157956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760" imgH="241200" progId="Equation.3">
                  <p:embed/>
                </p:oleObj>
              </mc:Choice>
              <mc:Fallback>
                <p:oleObj name="Equation" r:id="rId18" imgW="761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6215081"/>
                        <a:ext cx="157956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7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8 Dikdörtgen"/>
          <p:cNvSpPr/>
          <p:nvPr/>
        </p:nvSpPr>
        <p:spPr>
          <a:xfrm>
            <a:off x="428596" y="857232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Circuits driven by constant (dc) independent current or voltage sources 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addition to having initial stored energies.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3571900" y="1714488"/>
          <a:ext cx="5500694" cy="38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38200" imgH="241200" progId="Equation.3">
                  <p:embed/>
                </p:oleObj>
              </mc:Choice>
              <mc:Fallback>
                <p:oleObj name="Equation" r:id="rId20" imgW="3238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900" y="1714488"/>
                        <a:ext cx="5500694" cy="387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10 Dikdörtgen"/>
          <p:cNvSpPr/>
          <p:nvPr/>
        </p:nvSpPr>
        <p:spPr>
          <a:xfrm>
            <a:off x="3571868" y="2214554"/>
            <a:ext cx="2659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t &gt; 0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KCL at top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node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02912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3428992" y="4202676"/>
          <a:ext cx="4522853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253800" progId="Equation.3">
                  <p:embed/>
                </p:oleObj>
              </mc:Choice>
              <mc:Fallback>
                <p:oleObj name="Equation" r:id="rId3" imgW="2361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4202676"/>
                        <a:ext cx="4522853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12 Dikdörtgen"/>
          <p:cNvSpPr/>
          <p:nvPr/>
        </p:nvSpPr>
        <p:spPr>
          <a:xfrm>
            <a:off x="428596" y="4559866"/>
            <a:ext cx="6143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Evaluating at t=0, the initial condition is matched if: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3428992" y="4845618"/>
          <a:ext cx="4500594" cy="41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720" imgH="241200" progId="Equation.3">
                  <p:embed/>
                </p:oleObj>
              </mc:Choice>
              <mc:Fallback>
                <p:oleObj name="Equation" r:id="rId5" imgW="2412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4845618"/>
                        <a:ext cx="4500594" cy="414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Dikdörtgen"/>
          <p:cNvSpPr/>
          <p:nvPr/>
        </p:nvSpPr>
        <p:spPr>
          <a:xfrm>
            <a:off x="500034" y="5345684"/>
            <a:ext cx="3208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Substitute back into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v(t)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eqn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i="1" dirty="0">
                <a:solidFill>
                  <a:prstClr val="black"/>
                </a:solidFill>
                <a:latin typeface="Calibri"/>
              </a:rPr>
              <a:t>(1):</a:t>
            </a:r>
            <a:endParaRPr lang="tr-TR" i="1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3714743" y="5417122"/>
          <a:ext cx="3143273" cy="44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241200" progId="Equation.3">
                  <p:embed/>
                </p:oleObj>
              </mc:Choice>
              <mc:Fallback>
                <p:oleObj name="Equation" r:id="rId7" imgW="1701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43" y="5417122"/>
                        <a:ext cx="3143273" cy="445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6 Dikdörtgen"/>
          <p:cNvSpPr/>
          <p:nvPr/>
        </p:nvSpPr>
        <p:spPr>
          <a:xfrm>
            <a:off x="500034" y="6131502"/>
            <a:ext cx="3278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Note at t=0,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             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as needed.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714480" y="6131502"/>
          <a:ext cx="857256" cy="358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228600" progId="Equation.3">
                  <p:embed/>
                </p:oleObj>
              </mc:Choice>
              <mc:Fallback>
                <p:oleObj name="Equation" r:id="rId9" imgW="545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6131502"/>
                        <a:ext cx="857256" cy="358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18 Dikdörtgen"/>
          <p:cNvSpPr/>
          <p:nvPr/>
        </p:nvSpPr>
        <p:spPr>
          <a:xfrm>
            <a:off x="428596" y="3845486"/>
            <a:ext cx="7643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Since both forced differential 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q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n and initial condition needs to be satisfied: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0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8 Dikdörtgen"/>
          <p:cNvSpPr/>
          <p:nvPr/>
        </p:nvSpPr>
        <p:spPr>
          <a:xfrm>
            <a:off x="428596" y="857232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Circuits driven by constant (dc) independent current or voltage sources in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addition to having initial stored energies.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3571900" y="1714488"/>
          <a:ext cx="5500694" cy="38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38200" imgH="241200" progId="Equation.3">
                  <p:embed/>
                </p:oleObj>
              </mc:Choice>
              <mc:Fallback>
                <p:oleObj name="Equation" r:id="rId11" imgW="3238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900" y="1714488"/>
                        <a:ext cx="5500694" cy="387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10 Dikdörtgen"/>
          <p:cNvSpPr/>
          <p:nvPr/>
        </p:nvSpPr>
        <p:spPr>
          <a:xfrm>
            <a:off x="3571868" y="2214554"/>
            <a:ext cx="2659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dirty="0" err="1">
                <a:solidFill>
                  <a:prstClr val="black"/>
                </a:solidFill>
                <a:latin typeface="Calibri"/>
              </a:rPr>
              <a:t>For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 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t &gt; 0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KCL at top </a:t>
            </a:r>
            <a:r>
              <a:rPr lang="tr-TR" dirty="0" err="1">
                <a:solidFill>
                  <a:prstClr val="black"/>
                </a:solidFill>
                <a:latin typeface="Calibri"/>
              </a:rPr>
              <a:t>node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138" y="1571612"/>
            <a:ext cx="335085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8745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ikdörtgen"/>
          <p:cNvSpPr/>
          <p:nvPr/>
        </p:nvSpPr>
        <p:spPr>
          <a:xfrm>
            <a:off x="785786" y="1142984"/>
            <a:ext cx="76438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Summary of the method to solve the forced first order differential equation with constant forcing term and initial conditions: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857224" y="1928802"/>
            <a:ext cx="771530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Find the forced solution by using a trial forced solution = A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2.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Find the natural solution by using a trial natural solution =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    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2000" dirty="0">
                <a:solidFill>
                  <a:prstClr val="black"/>
                </a:solidFill>
                <a:latin typeface="Calibri"/>
              </a:rPr>
              <a:t> 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solving the characteristic equation for s.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alibri"/>
            </a:endParaRP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 startAt="3"/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The total solution is the sum (superposition) of natural and forced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	solutions. </a:t>
            </a:r>
            <a:r>
              <a:rPr lang="tr-TR" sz="2000" dirty="0">
                <a:solidFill>
                  <a:prstClr val="black"/>
                </a:solidFill>
                <a:latin typeface="Calibri"/>
              </a:rPr>
              <a:t>Evaluate at the initial time to find </a:t>
            </a:r>
            <a:r>
              <a:rPr lang="tr-TR" sz="2000" i="1" dirty="0">
                <a:solidFill>
                  <a:prstClr val="black"/>
                </a:solidFill>
                <a:latin typeface="Calibri"/>
              </a:rPr>
              <a:t>K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1" name="10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15640" progId="Equation.3">
                  <p:embed/>
                </p:oleObj>
              </mc:Choice>
              <mc:Fallback>
                <p:oleObj name="Equation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7429520" y="2500306"/>
          <a:ext cx="642942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560" imgH="203040" progId="Equation.3">
                  <p:embed/>
                </p:oleObj>
              </mc:Choice>
              <mc:Fallback>
                <p:oleObj name="Equation" r:id="rId5" imgW="304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20" y="2500306"/>
                        <a:ext cx="642942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4" name="5 Başlık"/>
          <p:cNvSpPr txBox="1">
            <a:spLocks/>
          </p:cNvSpPr>
          <p:nvPr/>
        </p:nvSpPr>
        <p:spPr>
          <a:xfrm>
            <a:off x="285720" y="30149"/>
            <a:ext cx="7958134" cy="684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Circuits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with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DC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Sources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3470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934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131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83660" name="Picture 13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214817"/>
            <a:ext cx="2143140" cy="1502407"/>
          </a:xfrm>
          <a:prstGeom prst="rect">
            <a:avLst/>
          </a:prstGeom>
          <a:noFill/>
        </p:spPr>
      </p:pic>
      <p:graphicFrame>
        <p:nvGraphicFramePr>
          <p:cNvPr id="283659" name="Object 11"/>
          <p:cNvGraphicFramePr>
            <a:graphicFrameLocks noChangeAspect="1"/>
          </p:cNvGraphicFramePr>
          <p:nvPr/>
        </p:nvGraphicFramePr>
        <p:xfrm>
          <a:off x="1496131" y="5786454"/>
          <a:ext cx="504101" cy="30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131" y="5786454"/>
                        <a:ext cx="504101" cy="3048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8" name="Object 10"/>
          <p:cNvGraphicFramePr>
            <a:graphicFrameLocks noChangeAspect="1"/>
          </p:cNvGraphicFramePr>
          <p:nvPr/>
        </p:nvGraphicFramePr>
        <p:xfrm>
          <a:off x="1142976" y="6162697"/>
          <a:ext cx="1208126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254" imgH="393529" progId="Equation.3">
                  <p:embed/>
                </p:oleObj>
              </mc:Choice>
              <mc:Fallback>
                <p:oleObj name="Equation" r:id="rId7" imgW="102825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6162697"/>
                        <a:ext cx="1208126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1" name="Rectangle 13"/>
          <p:cNvSpPr>
            <a:spLocks noChangeArrowheads="1"/>
          </p:cNvSpPr>
          <p:nvPr/>
        </p:nvSpPr>
        <p:spPr bwMode="auto">
          <a:xfrm>
            <a:off x="428596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100 V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696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83660" name="Picture 13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214817"/>
            <a:ext cx="2143140" cy="1502407"/>
          </a:xfrm>
          <a:prstGeom prst="rect">
            <a:avLst/>
          </a:prstGeom>
          <a:noFill/>
        </p:spPr>
      </p:pic>
      <p:graphicFrame>
        <p:nvGraphicFramePr>
          <p:cNvPr id="283659" name="Object 11"/>
          <p:cNvGraphicFramePr>
            <a:graphicFrameLocks noChangeAspect="1"/>
          </p:cNvGraphicFramePr>
          <p:nvPr/>
        </p:nvGraphicFramePr>
        <p:xfrm>
          <a:off x="1496131" y="5786454"/>
          <a:ext cx="504101" cy="30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131" y="5786454"/>
                        <a:ext cx="504101" cy="3048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8" name="Object 10"/>
          <p:cNvGraphicFramePr>
            <a:graphicFrameLocks noChangeAspect="1"/>
          </p:cNvGraphicFramePr>
          <p:nvPr/>
        </p:nvGraphicFramePr>
        <p:xfrm>
          <a:off x="1142976" y="6162697"/>
          <a:ext cx="1208126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254" imgH="393529" progId="Equation.3">
                  <p:embed/>
                </p:oleObj>
              </mc:Choice>
              <mc:Fallback>
                <p:oleObj name="Equation" r:id="rId7" imgW="102825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6162697"/>
                        <a:ext cx="1208126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1" name="Rectangle 13"/>
          <p:cNvSpPr>
            <a:spLocks noChangeArrowheads="1"/>
          </p:cNvSpPr>
          <p:nvPr/>
        </p:nvSpPr>
        <p:spPr bwMode="auto">
          <a:xfrm>
            <a:off x="428596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100 V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3071802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V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6" name="Picture 35"/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00364" y="4214818"/>
            <a:ext cx="221457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3667" name="Object 19"/>
          <p:cNvGraphicFramePr>
            <a:graphicFrameLocks noChangeAspect="1"/>
          </p:cNvGraphicFramePr>
          <p:nvPr/>
        </p:nvGraphicFramePr>
        <p:xfrm>
          <a:off x="3786182" y="5798083"/>
          <a:ext cx="571504" cy="345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241195" progId="Equation.3">
                  <p:embed/>
                </p:oleObj>
              </mc:Choice>
              <mc:Fallback>
                <p:oleObj name="Equation" r:id="rId10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5798083"/>
                        <a:ext cx="571504" cy="3455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6" name="Object 18"/>
          <p:cNvGraphicFramePr>
            <a:graphicFrameLocks noChangeAspect="1"/>
          </p:cNvGraphicFramePr>
          <p:nvPr/>
        </p:nvGraphicFramePr>
        <p:xfrm>
          <a:off x="3428992" y="6143644"/>
          <a:ext cx="1523457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6755" imgH="393529" progId="Equation.3">
                  <p:embed/>
                </p:oleObj>
              </mc:Choice>
              <mc:Fallback>
                <p:oleObj name="Equation" r:id="rId12" imgW="125675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6143644"/>
                        <a:ext cx="1523457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727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83660" name="Picture 13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214817"/>
            <a:ext cx="2143140" cy="1502407"/>
          </a:xfrm>
          <a:prstGeom prst="rect">
            <a:avLst/>
          </a:prstGeom>
          <a:noFill/>
        </p:spPr>
      </p:pic>
      <p:graphicFrame>
        <p:nvGraphicFramePr>
          <p:cNvPr id="283659" name="Object 11"/>
          <p:cNvGraphicFramePr>
            <a:graphicFrameLocks noChangeAspect="1"/>
          </p:cNvGraphicFramePr>
          <p:nvPr/>
        </p:nvGraphicFramePr>
        <p:xfrm>
          <a:off x="1496131" y="5786454"/>
          <a:ext cx="504101" cy="30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131" y="5786454"/>
                        <a:ext cx="504101" cy="3048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8" name="Object 10"/>
          <p:cNvGraphicFramePr>
            <a:graphicFrameLocks noChangeAspect="1"/>
          </p:cNvGraphicFramePr>
          <p:nvPr/>
        </p:nvGraphicFramePr>
        <p:xfrm>
          <a:off x="1142976" y="6162697"/>
          <a:ext cx="1208126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254" imgH="393529" progId="Equation.3">
                  <p:embed/>
                </p:oleObj>
              </mc:Choice>
              <mc:Fallback>
                <p:oleObj name="Equation" r:id="rId7" imgW="102825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6162697"/>
                        <a:ext cx="1208126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1" name="Rectangle 13"/>
          <p:cNvSpPr>
            <a:spLocks noChangeArrowheads="1"/>
          </p:cNvSpPr>
          <p:nvPr/>
        </p:nvSpPr>
        <p:spPr bwMode="auto">
          <a:xfrm>
            <a:off x="428596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100 V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3071802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V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6" name="Picture 35"/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00364" y="4214818"/>
            <a:ext cx="221457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3667" name="Object 19"/>
          <p:cNvGraphicFramePr>
            <a:graphicFrameLocks noChangeAspect="1"/>
          </p:cNvGraphicFramePr>
          <p:nvPr/>
        </p:nvGraphicFramePr>
        <p:xfrm>
          <a:off x="3786182" y="5798083"/>
          <a:ext cx="571504" cy="345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241195" progId="Equation.3">
                  <p:embed/>
                </p:oleObj>
              </mc:Choice>
              <mc:Fallback>
                <p:oleObj name="Equation" r:id="rId10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5798083"/>
                        <a:ext cx="571504" cy="3455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6" name="Object 18"/>
          <p:cNvGraphicFramePr>
            <a:graphicFrameLocks noChangeAspect="1"/>
          </p:cNvGraphicFramePr>
          <p:nvPr/>
        </p:nvGraphicFramePr>
        <p:xfrm>
          <a:off x="3428992" y="6143644"/>
          <a:ext cx="1523457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6755" imgH="393529" progId="Equation.3">
                  <p:embed/>
                </p:oleObj>
              </mc:Choice>
              <mc:Fallback>
                <p:oleObj name="Equation" r:id="rId12" imgW="125675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6143644"/>
                        <a:ext cx="1523457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5572132" y="3857628"/>
            <a:ext cx="25717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3.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source 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2" name="Picture 41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643570" y="4214818"/>
            <a:ext cx="2286016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3671" name="Object 23"/>
          <p:cNvGraphicFramePr>
            <a:graphicFrameLocks noChangeAspect="1"/>
          </p:cNvGraphicFramePr>
          <p:nvPr/>
        </p:nvGraphicFramePr>
        <p:xfrm>
          <a:off x="6500826" y="5786454"/>
          <a:ext cx="571504" cy="345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529" imgH="241195" progId="Equation.3">
                  <p:embed/>
                </p:oleObj>
              </mc:Choice>
              <mc:Fallback>
                <p:oleObj name="Equation" r:id="rId1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26" y="5786454"/>
                        <a:ext cx="571504" cy="3455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70" name="Object 22"/>
          <p:cNvGraphicFramePr>
            <a:graphicFrameLocks noChangeAspect="1"/>
          </p:cNvGraphicFramePr>
          <p:nvPr/>
        </p:nvGraphicFramePr>
        <p:xfrm>
          <a:off x="6143636" y="6143644"/>
          <a:ext cx="1453680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93800" imgH="393700" progId="Equation.3">
                  <p:embed/>
                </p:oleObj>
              </mc:Choice>
              <mc:Fallback>
                <p:oleObj name="Equation" r:id="rId17" imgW="1193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6" y="6143644"/>
                        <a:ext cx="1453680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04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6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 (continued)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61" name="Rectangle 13"/>
          <p:cNvSpPr>
            <a:spLocks noChangeArrowheads="1"/>
          </p:cNvSpPr>
          <p:nvPr/>
        </p:nvSpPr>
        <p:spPr bwMode="auto">
          <a:xfrm>
            <a:off x="428596" y="3905912"/>
            <a:ext cx="2571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0975" indent="-180975"/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4.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the sinusoidal voltage source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4500570"/>
            <a:ext cx="2643206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775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4" name="Object 8"/>
          <p:cNvGraphicFramePr>
            <a:graphicFrameLocks noChangeAspect="1"/>
          </p:cNvGraphicFramePr>
          <p:nvPr/>
        </p:nvGraphicFramePr>
        <p:xfrm>
          <a:off x="3324220" y="4214818"/>
          <a:ext cx="676276" cy="301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9" imgH="228501" progId="Equation.3">
                  <p:embed/>
                </p:oleObj>
              </mc:Choice>
              <mc:Fallback>
                <p:oleObj name="Equation" r:id="rId5" imgW="53316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0" y="4214818"/>
                        <a:ext cx="676276" cy="3019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3429056" y="4214818"/>
            <a:ext cx="528634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    </a:t>
            </a:r>
            <a:r>
              <a:rPr lang="tr-TR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since there is no energy originally stored in the inductor, and all of the current from the sinusoidal source goes through the short-circuit across the resistors and the inductor.</a:t>
            </a:r>
            <a:endParaRPr lang="tr-TR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8" name="Object 11"/>
          <p:cNvGraphicFramePr>
            <a:graphicFrameLocks noChangeAspect="1"/>
          </p:cNvGraphicFramePr>
          <p:nvPr/>
        </p:nvGraphicFramePr>
        <p:xfrm>
          <a:off x="3357554" y="5000636"/>
          <a:ext cx="4572032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89300" imgH="393700" progId="Equation.3">
                  <p:embed/>
                </p:oleObj>
              </mc:Choice>
              <mc:Fallback>
                <p:oleObj name="Equation" r:id="rId7" imgW="328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5000636"/>
                        <a:ext cx="4572032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762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ikdörtgen"/>
          <p:cNvSpPr/>
          <p:nvPr/>
        </p:nvSpPr>
        <p:spPr>
          <a:xfrm>
            <a:off x="357159" y="785794"/>
            <a:ext cx="8429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inductor,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 current through the capacitor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,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as shown, after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all the sources have been turned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30" name="Picture 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314327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3428992" y="1428736"/>
            <a:ext cx="5572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u="sng" dirty="0">
                <a:solidFill>
                  <a:prstClr val="black"/>
                </a:solidFill>
                <a:latin typeface="Calibri"/>
              </a:rPr>
              <a:t>Solution: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tr-TR" dirty="0">
                <a:solidFill>
                  <a:prstClr val="black"/>
                </a:solidFill>
                <a:latin typeface="Calibri"/>
              </a:rPr>
              <a:t>Since the analysis is done after all the sources have been turned on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for a long time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, there is </a:t>
            </a:r>
            <a:r>
              <a:rPr lang="tr-TR" b="1" i="1" dirty="0">
                <a:solidFill>
                  <a:prstClr val="black"/>
                </a:solidFill>
                <a:latin typeface="Calibri"/>
              </a:rPr>
              <a:t>no energy initially stored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in inductors and capacitors. The component of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L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tr-TR" b="1" dirty="0">
                <a:solidFill>
                  <a:prstClr val="black"/>
                </a:solidFill>
                <a:latin typeface="Calibri"/>
              </a:rPr>
              <a:t>i</a:t>
            </a:r>
            <a:r>
              <a:rPr lang="tr-TR" b="1" baseline="-25000" dirty="0">
                <a:solidFill>
                  <a:prstClr val="black"/>
                </a:solidFill>
                <a:latin typeface="Calibri"/>
              </a:rPr>
              <a:t>c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coming from each source has to be calculated independently </a:t>
            </a:r>
            <a:r>
              <a:rPr lang="tr-TR" i="1" dirty="0">
                <a:solidFill>
                  <a:prstClr val="black"/>
                </a:solidFill>
                <a:latin typeface="Calibri"/>
              </a:rPr>
              <a:t>under steady-state conditions</a:t>
            </a:r>
            <a:r>
              <a:rPr lang="tr-TR" dirty="0">
                <a:solidFill>
                  <a:prstClr val="black"/>
                </a:solidFill>
                <a:latin typeface="Calibri"/>
              </a:rPr>
              <a:t> based on the basic principle of superposition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(no need to include the response to initial conditions to the superposition).</a:t>
            </a:r>
            <a:endParaRPr lang="tr-TR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61" name="Rectangle 13"/>
          <p:cNvSpPr>
            <a:spLocks noChangeArrowheads="1"/>
          </p:cNvSpPr>
          <p:nvPr/>
        </p:nvSpPr>
        <p:spPr bwMode="auto">
          <a:xfrm>
            <a:off x="428596" y="3905912"/>
            <a:ext cx="2571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0975" indent="-180975"/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4.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Turn on 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the sinusoidal voltage source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only:</a:t>
            </a:r>
            <a:endParaRPr lang="tr-TR" sz="105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2" name="Rectangle 14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10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</a:t>
            </a: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366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3674" name="Rectangle 26"/>
          <p:cNvSpPr>
            <a:spLocks noChangeArrowheads="1"/>
          </p:cNvSpPr>
          <p:nvPr/>
        </p:nvSpPr>
        <p:spPr bwMode="auto">
          <a:xfrm>
            <a:off x="0" y="1571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tr-TR" sz="1100" b="1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4500570"/>
            <a:ext cx="2643206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7752" name="Object 8"/>
          <p:cNvGraphicFramePr>
            <a:graphicFrameLocks noChangeAspect="1"/>
          </p:cNvGraphicFramePr>
          <p:nvPr/>
        </p:nvGraphicFramePr>
        <p:xfrm>
          <a:off x="3324220" y="4214818"/>
          <a:ext cx="676276" cy="301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9" imgH="228501" progId="Equation.3">
                  <p:embed/>
                </p:oleObj>
              </mc:Choice>
              <mc:Fallback>
                <p:oleObj name="Equation" r:id="rId5" imgW="53316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0" y="4214818"/>
                        <a:ext cx="676276" cy="3019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Rectangle 10"/>
          <p:cNvSpPr>
            <a:spLocks noChangeArrowheads="1"/>
          </p:cNvSpPr>
          <p:nvPr/>
        </p:nvSpPr>
        <p:spPr bwMode="auto">
          <a:xfrm>
            <a:off x="3429056" y="4214818"/>
            <a:ext cx="528634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    </a:t>
            </a:r>
            <a:r>
              <a:rPr lang="tr-TR" sz="1400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since there is no energy originally stored in the inductor, and all of the current from the sinusoidal source goes through the short-circuit across the resistors and the inductor.</a:t>
            </a:r>
            <a:endParaRPr lang="tr-TR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775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tr-TR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87755" name="Object 11"/>
          <p:cNvGraphicFramePr>
            <a:graphicFrameLocks noChangeAspect="1"/>
          </p:cNvGraphicFramePr>
          <p:nvPr/>
        </p:nvGraphicFramePr>
        <p:xfrm>
          <a:off x="3357554" y="5000636"/>
          <a:ext cx="4572032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89300" imgH="393700" progId="Equation.3">
                  <p:embed/>
                </p:oleObj>
              </mc:Choice>
              <mc:Fallback>
                <p:oleObj name="Equation" r:id="rId7" imgW="328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5000636"/>
                        <a:ext cx="4572032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8" name="Object 14"/>
          <p:cNvGraphicFramePr>
            <a:graphicFrameLocks noChangeAspect="1"/>
          </p:cNvGraphicFramePr>
          <p:nvPr/>
        </p:nvGraphicFramePr>
        <p:xfrm>
          <a:off x="5643570" y="5715016"/>
          <a:ext cx="322844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22500" imgH="254000" progId="Equation.3">
                  <p:embed/>
                </p:oleObj>
              </mc:Choice>
              <mc:Fallback>
                <p:oleObj name="Equation" r:id="rId9" imgW="22225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5715016"/>
                        <a:ext cx="3228448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7" name="Object 13"/>
          <p:cNvGraphicFramePr>
            <a:graphicFrameLocks noChangeAspect="1"/>
          </p:cNvGraphicFramePr>
          <p:nvPr/>
        </p:nvGraphicFramePr>
        <p:xfrm>
          <a:off x="5643570" y="6143644"/>
          <a:ext cx="258275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90700" imgH="254000" progId="Equation.3">
                  <p:embed/>
                </p:oleObj>
              </mc:Choice>
              <mc:Fallback>
                <p:oleObj name="Equation" r:id="rId11" imgW="17907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6143644"/>
                        <a:ext cx="2582758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9" name="Rectangle 15"/>
          <p:cNvSpPr>
            <a:spLocks noChangeArrowheads="1"/>
          </p:cNvSpPr>
          <p:nvPr/>
        </p:nvSpPr>
        <p:spPr bwMode="auto">
          <a:xfrm>
            <a:off x="3143272" y="5715016"/>
            <a:ext cx="25002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5. </a:t>
            </a:r>
            <a:r>
              <a:rPr lang="tr-TR" sz="1400" u="sng" dirty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Summing up components:  </a:t>
            </a:r>
            <a:endParaRPr lang="tr-TR" sz="240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5 Başlık"/>
          <p:cNvSpPr txBox="1">
            <a:spLocks/>
          </p:cNvSpPr>
          <p:nvPr/>
        </p:nvSpPr>
        <p:spPr>
          <a:xfrm>
            <a:off x="214282" y="142853"/>
            <a:ext cx="7358114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dirty="0">
                <a:solidFill>
                  <a:prstClr val="black"/>
                </a:solidFill>
                <a:latin typeface="Calibri"/>
              </a:rPr>
              <a:t>Superposition Example 2 (continued)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7031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15" y="1071546"/>
            <a:ext cx="2259026" cy="132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4786329" y="1357312"/>
          <a:ext cx="20716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57200" progId="Equation.3">
                  <p:embed/>
                </p:oleObj>
              </mc:Choice>
              <mc:Fallback>
                <p:oleObj name="Equation" r:id="rId4" imgW="1054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29" y="1357312"/>
                        <a:ext cx="207168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8027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3" y="2857496"/>
            <a:ext cx="2655193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1615" y="1071546"/>
            <a:ext cx="2259026" cy="132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4786329" y="1357312"/>
          <a:ext cx="20716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457200" progId="Equation.3">
                  <p:embed/>
                </p:oleObj>
              </mc:Choice>
              <mc:Fallback>
                <p:oleObj name="Equation" r:id="rId5" imgW="1054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29" y="1357312"/>
                        <a:ext cx="207168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9 Dikdörtgen"/>
          <p:cNvSpPr/>
          <p:nvPr/>
        </p:nvSpPr>
        <p:spPr>
          <a:xfrm>
            <a:off x="1285852" y="2500306"/>
            <a:ext cx="2078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Voltage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source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29190" y="2857496"/>
            <a:ext cx="2951178" cy="1709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Dikdörtgen"/>
          <p:cNvSpPr/>
          <p:nvPr/>
        </p:nvSpPr>
        <p:spPr>
          <a:xfrm>
            <a:off x="5357818" y="2500306"/>
            <a:ext cx="2089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Current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source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4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734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2857496"/>
            <a:ext cx="2951178" cy="1709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28926" y="4857760"/>
            <a:ext cx="2643206" cy="158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14 Dikdörtgen"/>
          <p:cNvSpPr/>
          <p:nvPr/>
        </p:nvSpPr>
        <p:spPr>
          <a:xfrm>
            <a:off x="1285852" y="4857760"/>
            <a:ext cx="2174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The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shifted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step:</a:t>
            </a:r>
          </a:p>
        </p:txBody>
      </p:sp>
      <p:graphicFrame>
        <p:nvGraphicFramePr>
          <p:cNvPr id="16" name="15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15640" progId="Equation.3">
                  <p:embed/>
                </p:oleObj>
              </mc:Choice>
              <mc:Fallback>
                <p:oleObj name="Equation" r:id="rId5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5786445" y="5214950"/>
          <a:ext cx="2981597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080" imgH="482400" progId="Equation.3">
                  <p:embed/>
                </p:oleObj>
              </mc:Choice>
              <mc:Fallback>
                <p:oleObj name="Equation" r:id="rId7" imgW="15490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45" y="5214950"/>
                        <a:ext cx="2981597" cy="92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16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215640" progId="Equation.3">
                  <p:embed/>
                </p:oleObj>
              </mc:Choice>
              <mc:Fallback>
                <p:oleObj name="Equation" r:id="rId9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20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571615" y="1071546"/>
            <a:ext cx="2259026" cy="132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4786329" y="1357312"/>
          <a:ext cx="20716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54080" imgH="457200" progId="Equation.3">
                  <p:embed/>
                </p:oleObj>
              </mc:Choice>
              <mc:Fallback>
                <p:oleObj name="Equation" r:id="rId11" imgW="1054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29" y="1357312"/>
                        <a:ext cx="207168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9 Dikdörtgen"/>
          <p:cNvSpPr/>
          <p:nvPr/>
        </p:nvSpPr>
        <p:spPr>
          <a:xfrm>
            <a:off x="1285852" y="2500306"/>
            <a:ext cx="2078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Voltage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source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sp>
        <p:nvSpPr>
          <p:cNvPr id="24" name="11 Dikdörtgen"/>
          <p:cNvSpPr/>
          <p:nvPr/>
        </p:nvSpPr>
        <p:spPr>
          <a:xfrm>
            <a:off x="5357818" y="2500306"/>
            <a:ext cx="2089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u="sng" dirty="0" err="1">
                <a:solidFill>
                  <a:prstClr val="black"/>
                </a:solidFill>
                <a:latin typeface="Calibri"/>
              </a:rPr>
              <a:t>Current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u="sng" dirty="0" err="1">
                <a:solidFill>
                  <a:prstClr val="black"/>
                </a:solidFill>
                <a:latin typeface="Calibri"/>
              </a:rPr>
              <a:t>source</a:t>
            </a:r>
            <a:r>
              <a:rPr lang="tr-TR" u="sng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8663" y="2857496"/>
            <a:ext cx="2655193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289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8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765175" y="1000125"/>
          <a:ext cx="77358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13200" imgH="228600" progId="Equation.3">
                  <p:embed/>
                </p:oleObj>
              </mc:Choice>
              <mc:Fallback>
                <p:oleObj name="Equation" r:id="rId3" imgW="4813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000125"/>
                        <a:ext cx="77358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0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500174"/>
            <a:ext cx="2187588" cy="153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3214686"/>
            <a:ext cx="221457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21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2910" y="4786322"/>
            <a:ext cx="2383280" cy="1581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Dikdörtgen"/>
          <p:cNvSpPr/>
          <p:nvPr/>
        </p:nvSpPr>
        <p:spPr>
          <a:xfrm>
            <a:off x="285720" y="2643182"/>
            <a:ext cx="4395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+</a:t>
            </a:r>
          </a:p>
        </p:txBody>
      </p:sp>
      <p:sp>
        <p:nvSpPr>
          <p:cNvPr id="14" name="13 Dikdörtgen"/>
          <p:cNvSpPr/>
          <p:nvPr/>
        </p:nvSpPr>
        <p:spPr>
          <a:xfrm>
            <a:off x="285720" y="4500570"/>
            <a:ext cx="4395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tr-TR" sz="4000" dirty="0">
                <a:solidFill>
                  <a:prstClr val="black"/>
                </a:solidFill>
                <a:latin typeface="Calibri"/>
              </a:rPr>
              <a:t>=</a:t>
            </a:r>
          </a:p>
        </p:txBody>
      </p:sp>
      <p:graphicFrame>
        <p:nvGraphicFramePr>
          <p:cNvPr id="15" name="14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3">
                  <p:embed/>
                </p:oleObj>
              </mc:Choice>
              <mc:Fallback>
                <p:oleObj name="Equation" r:id="rId6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4040188" y="1857375"/>
          <a:ext cx="2565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482400" progId="Equation.3">
                  <p:embed/>
                </p:oleObj>
              </mc:Choice>
              <mc:Fallback>
                <p:oleObj name="Equation" r:id="rId8" imgW="15238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857375"/>
                        <a:ext cx="2565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4000496" y="3429000"/>
          <a:ext cx="29781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482400" progId="Equation.3">
                  <p:embed/>
                </p:oleObj>
              </mc:Choice>
              <mc:Fallback>
                <p:oleObj name="Equation" r:id="rId10" imgW="1828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3429000"/>
                        <a:ext cx="297815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4071934" y="4786322"/>
          <a:ext cx="3191748" cy="128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65080" imgH="711000" progId="Equation.3">
                  <p:embed/>
                </p:oleObj>
              </mc:Choice>
              <mc:Fallback>
                <p:oleObj name="Equation" r:id="rId12" imgW="17650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4786322"/>
                        <a:ext cx="3191748" cy="1285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8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94220" name="Object 12"/>
          <p:cNvGraphicFramePr>
            <a:graphicFrameLocks noChangeAspect="1"/>
          </p:cNvGraphicFramePr>
          <p:nvPr/>
        </p:nvGraphicFramePr>
        <p:xfrm>
          <a:off x="765175" y="1000108"/>
          <a:ext cx="77358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13200" imgH="228600" progId="Equation.3">
                  <p:embed/>
                </p:oleObj>
              </mc:Choice>
              <mc:Fallback>
                <p:oleObj name="Equation" r:id="rId14" imgW="4813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000108"/>
                        <a:ext cx="77358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3833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857224" y="1285860"/>
          <a:ext cx="2282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203040" progId="Equation.3">
                  <p:embed/>
                </p:oleObj>
              </mc:Choice>
              <mc:Fallback>
                <p:oleObj name="Equation" r:id="rId3" imgW="1460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285860"/>
                        <a:ext cx="22828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785786" y="3500438"/>
          <a:ext cx="31369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228600" progId="Equation.3">
                  <p:embed/>
                </p:oleObj>
              </mc:Choice>
              <mc:Fallback>
                <p:oleObj name="Equation" r:id="rId5" imgW="2006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3500438"/>
                        <a:ext cx="31369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1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7004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857224" y="1285860"/>
          <a:ext cx="2282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203040" progId="Equation.3">
                  <p:embed/>
                </p:oleObj>
              </mc:Choice>
              <mc:Fallback>
                <p:oleObj name="Equation" r:id="rId3" imgW="1460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285860"/>
                        <a:ext cx="22828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785786" y="3500438"/>
          <a:ext cx="31369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228600" progId="Equation.3">
                  <p:embed/>
                </p:oleObj>
              </mc:Choice>
              <mc:Fallback>
                <p:oleObj name="Equation" r:id="rId5" imgW="2006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3500438"/>
                        <a:ext cx="31369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6261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7224" y="1714488"/>
            <a:ext cx="2724165" cy="1663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3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7034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857224" y="1285860"/>
          <a:ext cx="22828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203040" progId="Equation.3">
                  <p:embed/>
                </p:oleObj>
              </mc:Choice>
              <mc:Fallback>
                <p:oleObj name="Equation" r:id="rId3" imgW="1460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285860"/>
                        <a:ext cx="22828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785786" y="3500438"/>
          <a:ext cx="31369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228600" progId="Equation.3">
                  <p:embed/>
                </p:oleObj>
              </mc:Choice>
              <mc:Fallback>
                <p:oleObj name="Equation" r:id="rId5" imgW="2006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3500438"/>
                        <a:ext cx="31369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7224" y="1714488"/>
            <a:ext cx="2724165" cy="1663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2910" y="4143380"/>
            <a:ext cx="332984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Dikdörtgen"/>
          <p:cNvSpPr/>
          <p:nvPr/>
        </p:nvSpPr>
        <p:spPr>
          <a:xfrm>
            <a:off x="4357686" y="4500570"/>
            <a:ext cx="26244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This is a </a:t>
            </a:r>
            <a:r>
              <a:rPr lang="en-US" sz="2000" b="1" i="1" dirty="0">
                <a:solidFill>
                  <a:prstClr val="black"/>
                </a:solidFill>
                <a:latin typeface="Calibri"/>
              </a:rPr>
              <a:t>pulse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function.</a:t>
            </a:r>
            <a:endParaRPr lang="tr-TR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90F0-1A5B-4A83-8CFF-11D9A59B5E92}" type="slidenum">
              <a:rPr lang="tr-TR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>
                <a:solidFill>
                  <a:prstClr val="black">
                    <a:tint val="75000"/>
                  </a:prstClr>
                </a:solidFill>
              </a:rPr>
              <a:t>Ali Muhtaroglu</a:t>
            </a:r>
          </a:p>
        </p:txBody>
      </p:sp>
      <p:sp>
        <p:nvSpPr>
          <p:cNvPr id="15" name="5 Başlık"/>
          <p:cNvSpPr txBox="1">
            <a:spLocks/>
          </p:cNvSpPr>
          <p:nvPr/>
        </p:nvSpPr>
        <p:spPr>
          <a:xfrm>
            <a:off x="357158" y="30149"/>
            <a:ext cx="7000924" cy="75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tr-TR" sz="3200" dirty="0" err="1">
                <a:solidFill>
                  <a:prstClr val="black"/>
                </a:solidFill>
                <a:latin typeface="Calibri"/>
              </a:rPr>
              <a:t>Unit</a:t>
            </a:r>
            <a:r>
              <a:rPr lang="tr-TR" sz="3200" dirty="0">
                <a:solidFill>
                  <a:prstClr val="black"/>
                </a:solidFill>
                <a:latin typeface="Calibri"/>
              </a:rPr>
              <a:t> Step </a:t>
            </a:r>
            <a:r>
              <a:rPr lang="tr-TR" sz="3200" dirty="0" err="1">
                <a:solidFill>
                  <a:prstClr val="black"/>
                </a:solidFill>
                <a:latin typeface="Calibri"/>
              </a:rPr>
              <a:t>Function</a:t>
            </a:r>
            <a:endParaRPr lang="tr-TR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60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24537</TotalTime>
  <Words>2556</Words>
  <Application>Microsoft Office PowerPoint</Application>
  <PresentationFormat>On-screen Show (4:3)</PresentationFormat>
  <Paragraphs>377</Paragraphs>
  <Slides>44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Office Theme</vt:lpstr>
      <vt:lpstr>1_Office Theme</vt:lpstr>
      <vt:lpstr>Ofis Teması</vt:lpstr>
      <vt:lpstr>Equation</vt:lpstr>
      <vt:lpstr>PowerPoint Presentation</vt:lpstr>
      <vt:lpstr>First Order Circuits  Weeks 13-14  Reading: Nilsson &amp; Riedel Chapter 7</vt:lpstr>
      <vt:lpstr>Introduction</vt:lpstr>
      <vt:lpstr>Natural Response of a Simple RC Circuit  (without sources)</vt:lpstr>
      <vt:lpstr>Natural Response of a Simple RC Circuit  (without sources)</vt:lpstr>
      <vt:lpstr>PowerPoint Presentation</vt:lpstr>
      <vt:lpstr>PowerPoint Presentation</vt:lpstr>
      <vt:lpstr>Natural Response of a Simple RL Circuit  (without sources)</vt:lpstr>
      <vt:lpstr>Natural Response of a Simple RL Circuit  (without sources)</vt:lpstr>
      <vt:lpstr>PowerPoint Presentation</vt:lpstr>
      <vt:lpstr>PowerPoint Presentation</vt:lpstr>
      <vt:lpstr>Time Constants</vt:lpstr>
      <vt:lpstr>Time Constants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Muhtaroglu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Systems I EEE-301 Lecture Notes</dc:title>
  <dc:creator>Ali</dc:creator>
  <cp:lastModifiedBy>Yağmur CAN</cp:lastModifiedBy>
  <cp:revision>548</cp:revision>
  <dcterms:created xsi:type="dcterms:W3CDTF">2007-08-31T13:08:21Z</dcterms:created>
  <dcterms:modified xsi:type="dcterms:W3CDTF">2024-01-18T21:02:05Z</dcterms:modified>
</cp:coreProperties>
</file>